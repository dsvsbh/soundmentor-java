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6"/>
  </p:notesMasterIdLst>
  <p:sldIdLst>
    <p:sldId id="502" r:id="rId4"/>
    <p:sldId id="443" r:id="rId5"/>
    <p:sldId id="483" r:id="rId7"/>
    <p:sldId id="484" r:id="rId8"/>
    <p:sldId id="485" r:id="rId9"/>
    <p:sldId id="486" r:id="rId10"/>
    <p:sldId id="446" r:id="rId11"/>
    <p:sldId id="448" r:id="rId12"/>
    <p:sldId id="447" r:id="rId13"/>
    <p:sldId id="508" r:id="rId14"/>
    <p:sldId id="449" r:id="rId15"/>
    <p:sldId id="507" r:id="rId16"/>
    <p:sldId id="450" r:id="rId17"/>
    <p:sldId id="451" r:id="rId18"/>
    <p:sldId id="452" r:id="rId19"/>
    <p:sldId id="503" r:id="rId20"/>
    <p:sldId id="487" r:id="rId21"/>
    <p:sldId id="488" r:id="rId22"/>
    <p:sldId id="454" r:id="rId23"/>
    <p:sldId id="489" r:id="rId24"/>
    <p:sldId id="490" r:id="rId25"/>
    <p:sldId id="492" r:id="rId26"/>
    <p:sldId id="519" r:id="rId27"/>
    <p:sldId id="461" r:id="rId28"/>
    <p:sldId id="462" r:id="rId29"/>
    <p:sldId id="463" r:id="rId30"/>
    <p:sldId id="514" r:id="rId31"/>
    <p:sldId id="464" r:id="rId32"/>
    <p:sldId id="465" r:id="rId33"/>
    <p:sldId id="466" r:id="rId34"/>
    <p:sldId id="524" r:id="rId35"/>
    <p:sldId id="467" r:id="rId36"/>
    <p:sldId id="468" r:id="rId37"/>
    <p:sldId id="515" r:id="rId38"/>
    <p:sldId id="481" r:id="rId39"/>
    <p:sldId id="593" r:id="rId40"/>
    <p:sldId id="523" r:id="rId41"/>
    <p:sldId id="469" r:id="rId42"/>
    <p:sldId id="500" r:id="rId43"/>
    <p:sldId id="470" r:id="rId44"/>
    <p:sldId id="493" r:id="rId45"/>
    <p:sldId id="266" r:id="rId46"/>
    <p:sldId id="270" r:id="rId47"/>
    <p:sldId id="267" r:id="rId48"/>
    <p:sldId id="516" r:id="rId49"/>
    <p:sldId id="569" r:id="rId50"/>
    <p:sldId id="521" r:id="rId51"/>
    <p:sldId id="287" r:id="rId52"/>
    <p:sldId id="300" r:id="rId53"/>
    <p:sldId id="288" r:id="rId54"/>
    <p:sldId id="289" r:id="rId55"/>
    <p:sldId id="290" r:id="rId56"/>
    <p:sldId id="505" r:id="rId57"/>
    <p:sldId id="509" r:id="rId58"/>
    <p:sldId id="510" r:id="rId59"/>
    <p:sldId id="513" r:id="rId60"/>
    <p:sldId id="522" r:id="rId61"/>
    <p:sldId id="472" r:id="rId62"/>
    <p:sldId id="473" r:id="rId63"/>
    <p:sldId id="474" r:id="rId64"/>
    <p:sldId id="475" r:id="rId65"/>
    <p:sldId id="499" r:id="rId66"/>
    <p:sldId id="494" r:id="rId67"/>
    <p:sldId id="495" r:id="rId68"/>
    <p:sldId id="496" r:id="rId69"/>
    <p:sldId id="497" r:id="rId70"/>
    <p:sldId id="498" r:id="rId71"/>
    <p:sldId id="627" r:id="rId72"/>
    <p:sldId id="633" r:id="rId73"/>
    <p:sldId id="482" r:id="rId74"/>
  </p:sldIdLst>
  <p:sldSz cx="9144000" cy="6858000" type="screen4x3"/>
  <p:notesSz cx="6858000" cy="9144000"/>
  <p:custDataLst>
    <p:tags r:id="rId79"/>
  </p:custDataLst>
  <p:defaultTextStyle>
    <a:defPPr>
      <a:defRPr lang="zh-CN"/>
    </a:defPPr>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092" userDrawn="1">
          <p15:clr>
            <a:srgbClr val="A4A3A4"/>
          </p15:clr>
        </p15:guide>
        <p15:guide id="2" pos="285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 lastIdx="1" clrIdx="0"/>
  <p:cmAuthor id="2" name="未知用户1" initials="未"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3300"/>
    <a:srgbClr val="FF66FF"/>
    <a:srgbClr val="CCFFFF"/>
    <a:srgbClr val="006600"/>
    <a:srgbClr val="000000"/>
    <a:srgbClr val="FF99FF"/>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p:restoredTop sz="84567"/>
  </p:normalViewPr>
  <p:slideViewPr>
    <p:cSldViewPr showGuides="1">
      <p:cViewPr varScale="1">
        <p:scale>
          <a:sx n="85" d="100"/>
          <a:sy n="85" d="100"/>
        </p:scale>
        <p:origin x="1406" y="58"/>
      </p:cViewPr>
      <p:guideLst>
        <p:guide orient="horz" pos="2092"/>
        <p:guide pos="285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326"/>
    </p:cViewPr>
  </p:sorterViewPr>
  <p:gridSpacing cx="36004" cy="36004"/>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9" Type="http://schemas.openxmlformats.org/officeDocument/2006/relationships/tags" Target="tags/tag35.xml"/><Relationship Id="rId78" Type="http://schemas.openxmlformats.org/officeDocument/2006/relationships/commentAuthors" Target="commentAuthors.xml"/><Relationship Id="rId77" Type="http://schemas.openxmlformats.org/officeDocument/2006/relationships/tableStyles" Target="tableStyles.xml"/><Relationship Id="rId76" Type="http://schemas.openxmlformats.org/officeDocument/2006/relationships/viewProps" Target="viewProps.xml"/><Relationship Id="rId75" Type="http://schemas.openxmlformats.org/officeDocument/2006/relationships/presProps" Target="presProps.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notesMaster" Target="notesMasters/notesMaster1.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073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073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b="0">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50074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074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b="0">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074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fld>
            <a:endParaRPr lang="en-US" altLang="zh-CN" dirty="0"/>
          </a:p>
        </p:txBody>
      </p:sp>
      <p:sp>
        <p:nvSpPr>
          <p:cNvPr id="6147" name="Rectangle 2"/>
          <p:cNvSpPr>
            <a:spLocks noGrp="1" noRot="1" noChangeAspect="1" noTextEdit="1"/>
          </p:cNvSpPr>
          <p:nvPr>
            <p:ph type="sldImg"/>
          </p:nvPr>
        </p:nvSpPr>
        <p:spPr/>
      </p:sp>
      <p:sp>
        <p:nvSpPr>
          <p:cNvPr id="6148" name="Rectangle 3"/>
          <p:cNvSpPr>
            <a:spLocks noGrp="1"/>
          </p:cNvSpPr>
          <p:nvPr>
            <p:ph type="body" idx="1"/>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TextEdit="1"/>
          </p:cNvSpPr>
          <p:nvPr>
            <p:ph type="sldImg"/>
          </p:nvPr>
        </p:nvSpPr>
        <p:spPr/>
      </p:sp>
      <p:sp>
        <p:nvSpPr>
          <p:cNvPr id="17411" name="Rectangle 3"/>
          <p:cNvSpPr>
            <a:spLocks noGrp="1"/>
          </p:cNvSpPr>
          <p:nvPr>
            <p:ph type="body" idx="1"/>
          </p:nvPr>
        </p:nvSpPr>
        <p:spPr/>
        <p:txBody>
          <a:bodyPr wrap="square" lIns="91440" tIns="45720" rIns="91440" bIns="45720" anchor="t" anchorCtr="0"/>
          <a:lstStyle/>
          <a:p>
            <a:pPr lvl="0" algn="just" eaLnBrk="1" hangingPunct="1"/>
            <a:r>
              <a:rPr lang="zh-CN" altLang="en-US" dirty="0">
                <a:solidFill>
                  <a:srgbClr val="000000"/>
                </a:solidFill>
              </a:rPr>
              <a:t>属性包括：</a:t>
            </a:r>
            <a:endParaRPr lang="zh-CN" altLang="en-US" dirty="0"/>
          </a:p>
          <a:p>
            <a:pPr lvl="0" algn="just" eaLnBrk="1" hangingPunct="1"/>
            <a:r>
              <a:rPr lang="zh-CN" altLang="en-US" dirty="0">
                <a:solidFill>
                  <a:srgbClr val="000000"/>
                </a:solidFill>
              </a:rPr>
              <a:t>（</a:t>
            </a:r>
            <a:r>
              <a:rPr lang="en-US" altLang="zh-CN" dirty="0">
                <a:solidFill>
                  <a:srgbClr val="000000"/>
                </a:solidFill>
              </a:rPr>
              <a:t>1</a:t>
            </a:r>
            <a:r>
              <a:rPr lang="zh-CN" altLang="en-US" dirty="0">
                <a:solidFill>
                  <a:srgbClr val="000000"/>
                </a:solidFill>
              </a:rPr>
              <a:t>）</a:t>
            </a:r>
            <a:r>
              <a:rPr lang="zh-CN" altLang="en-US" dirty="0">
                <a:solidFill>
                  <a:srgbClr val="000000"/>
                </a:solidFill>
                <a:latin typeface="Arial" panose="020B0604020202020204" pitchFamily="34" charset="0"/>
                <a:cs typeface="Times New Roman" panose="02020603050405020304" pitchFamily="18" charset="0"/>
              </a:rPr>
              <a:t>        </a:t>
            </a:r>
            <a:r>
              <a:rPr lang="zh-CN" altLang="en-US" dirty="0">
                <a:solidFill>
                  <a:srgbClr val="000000"/>
                </a:solidFill>
                <a:cs typeface="Times New Roman" panose="02020603050405020304" pitchFamily="18" charset="0"/>
              </a:rPr>
              <a:t> </a:t>
            </a:r>
            <a:r>
              <a:rPr lang="zh-CN" altLang="en-US" dirty="0">
                <a:solidFill>
                  <a:srgbClr val="000000"/>
                </a:solidFill>
              </a:rPr>
              <a:t>第</a:t>
            </a:r>
            <a:r>
              <a:rPr lang="en-US" altLang="zh-CN" dirty="0">
                <a:solidFill>
                  <a:srgbClr val="000000"/>
                </a:solidFill>
              </a:rPr>
              <a:t>0</a:t>
            </a:r>
            <a:r>
              <a:rPr lang="zh-CN" altLang="en-US" dirty="0">
                <a:solidFill>
                  <a:srgbClr val="000000"/>
                </a:solidFill>
              </a:rPr>
              <a:t>位是</a:t>
            </a:r>
            <a:r>
              <a:rPr lang="en-US" altLang="zh-CN" dirty="0">
                <a:solidFill>
                  <a:srgbClr val="000000"/>
                </a:solidFill>
              </a:rPr>
              <a:t>P</a:t>
            </a:r>
            <a:r>
              <a:rPr lang="zh-CN" altLang="en-US" dirty="0">
                <a:solidFill>
                  <a:srgbClr val="000000"/>
                </a:solidFill>
              </a:rPr>
              <a:t>（</a:t>
            </a:r>
            <a:r>
              <a:rPr lang="en-US" altLang="zh-CN" dirty="0">
                <a:solidFill>
                  <a:srgbClr val="000000"/>
                </a:solidFill>
              </a:rPr>
              <a:t>Present</a:t>
            </a:r>
            <a:r>
              <a:rPr lang="zh-CN" altLang="en-US" dirty="0">
                <a:solidFill>
                  <a:srgbClr val="000000"/>
                </a:solidFill>
              </a:rPr>
              <a:t>），如果</a:t>
            </a:r>
            <a:r>
              <a:rPr lang="en-US" altLang="zh-CN" dirty="0">
                <a:solidFill>
                  <a:srgbClr val="000000"/>
                </a:solidFill>
              </a:rPr>
              <a:t>P=1</a:t>
            </a:r>
            <a:r>
              <a:rPr lang="zh-CN" altLang="en-US" dirty="0">
                <a:solidFill>
                  <a:srgbClr val="000000"/>
                </a:solidFill>
              </a:rPr>
              <a:t>，表示页装入到内存中，如果</a:t>
            </a:r>
            <a:r>
              <a:rPr lang="en-US" altLang="zh-CN" dirty="0">
                <a:solidFill>
                  <a:srgbClr val="000000"/>
                </a:solidFill>
              </a:rPr>
              <a:t>P=0</a:t>
            </a:r>
            <a:r>
              <a:rPr lang="zh-CN" altLang="en-US" dirty="0">
                <a:solidFill>
                  <a:srgbClr val="000000"/>
                </a:solidFill>
              </a:rPr>
              <a:t>，表示不在内存中。</a:t>
            </a:r>
            <a:endParaRPr lang="zh-CN" altLang="en-US" dirty="0"/>
          </a:p>
          <a:p>
            <a:pPr lvl="0" algn="just" eaLnBrk="1" hangingPunct="1"/>
            <a:r>
              <a:rPr lang="zh-CN" altLang="en-US" dirty="0">
                <a:solidFill>
                  <a:srgbClr val="000000"/>
                </a:solidFill>
              </a:rPr>
              <a:t>（</a:t>
            </a:r>
            <a:r>
              <a:rPr lang="en-US" altLang="zh-CN" dirty="0">
                <a:solidFill>
                  <a:srgbClr val="000000"/>
                </a:solidFill>
              </a:rPr>
              <a:t>2</a:t>
            </a:r>
            <a:r>
              <a:rPr lang="zh-CN" altLang="en-US" dirty="0">
                <a:solidFill>
                  <a:srgbClr val="000000"/>
                </a:solidFill>
              </a:rPr>
              <a:t>）</a:t>
            </a:r>
            <a:r>
              <a:rPr lang="zh-CN" altLang="en-US" dirty="0">
                <a:solidFill>
                  <a:srgbClr val="000000"/>
                </a:solidFill>
                <a:latin typeface="Arial" panose="020B0604020202020204" pitchFamily="34" charset="0"/>
                <a:cs typeface="Times New Roman" panose="02020603050405020304" pitchFamily="18" charset="0"/>
              </a:rPr>
              <a:t>        </a:t>
            </a:r>
            <a:r>
              <a:rPr lang="zh-CN" altLang="en-US" dirty="0">
                <a:solidFill>
                  <a:srgbClr val="000000"/>
                </a:solidFill>
                <a:cs typeface="Times New Roman" panose="02020603050405020304" pitchFamily="18" charset="0"/>
              </a:rPr>
              <a:t> </a:t>
            </a:r>
            <a:r>
              <a:rPr lang="zh-CN" altLang="en-US" dirty="0">
                <a:solidFill>
                  <a:srgbClr val="000000"/>
                </a:solidFill>
              </a:rPr>
              <a:t>第</a:t>
            </a:r>
            <a:r>
              <a:rPr lang="en-US" altLang="zh-CN" dirty="0">
                <a:solidFill>
                  <a:srgbClr val="000000"/>
                </a:solidFill>
              </a:rPr>
              <a:t>1</a:t>
            </a:r>
            <a:r>
              <a:rPr lang="zh-CN" altLang="en-US" dirty="0">
                <a:solidFill>
                  <a:srgbClr val="000000"/>
                </a:solidFill>
              </a:rPr>
              <a:t>位是</a:t>
            </a:r>
            <a:r>
              <a:rPr lang="en-US" altLang="zh-CN" dirty="0">
                <a:solidFill>
                  <a:srgbClr val="000000"/>
                </a:solidFill>
              </a:rPr>
              <a:t>R/W</a:t>
            </a:r>
            <a:r>
              <a:rPr lang="zh-CN" altLang="en-US" dirty="0">
                <a:solidFill>
                  <a:srgbClr val="000000"/>
                </a:solidFill>
              </a:rPr>
              <a:t>（</a:t>
            </a:r>
            <a:r>
              <a:rPr lang="en-US" altLang="zh-CN" dirty="0">
                <a:solidFill>
                  <a:srgbClr val="000000"/>
                </a:solidFill>
              </a:rPr>
              <a:t>Read/Write</a:t>
            </a:r>
            <a:r>
              <a:rPr lang="zh-CN" altLang="en-US" dirty="0">
                <a:solidFill>
                  <a:srgbClr val="000000"/>
                </a:solidFill>
              </a:rPr>
              <a:t>），第</a:t>
            </a:r>
            <a:r>
              <a:rPr lang="en-US" altLang="zh-CN" dirty="0">
                <a:solidFill>
                  <a:srgbClr val="000000"/>
                </a:solidFill>
              </a:rPr>
              <a:t>2</a:t>
            </a:r>
            <a:r>
              <a:rPr lang="zh-CN" altLang="en-US" dirty="0">
                <a:solidFill>
                  <a:srgbClr val="000000"/>
                </a:solidFill>
              </a:rPr>
              <a:t>位是</a:t>
            </a:r>
            <a:r>
              <a:rPr lang="en-US" altLang="zh-CN" dirty="0">
                <a:solidFill>
                  <a:srgbClr val="000000"/>
                </a:solidFill>
              </a:rPr>
              <a:t>U/S</a:t>
            </a:r>
            <a:r>
              <a:rPr lang="zh-CN" altLang="en-US" dirty="0">
                <a:solidFill>
                  <a:srgbClr val="000000"/>
                </a:solidFill>
              </a:rPr>
              <a:t>（</a:t>
            </a:r>
            <a:r>
              <a:rPr lang="en-US" altLang="zh-CN" dirty="0">
                <a:solidFill>
                  <a:srgbClr val="000000"/>
                </a:solidFill>
              </a:rPr>
              <a:t>User/Supervisor</a:t>
            </a:r>
            <a:r>
              <a:rPr lang="zh-CN" altLang="en-US" dirty="0">
                <a:solidFill>
                  <a:srgbClr val="000000"/>
                </a:solidFill>
              </a:rPr>
              <a:t>）位，这两位为页表或页提供硬件保护。</a:t>
            </a:r>
            <a:endParaRPr lang="zh-CN" altLang="en-US" dirty="0"/>
          </a:p>
          <a:p>
            <a:pPr lvl="0" algn="just" eaLnBrk="1" hangingPunct="1"/>
            <a:r>
              <a:rPr lang="zh-CN" altLang="en-US" dirty="0">
                <a:solidFill>
                  <a:srgbClr val="000000"/>
                </a:solidFill>
              </a:rPr>
              <a:t>（</a:t>
            </a:r>
            <a:r>
              <a:rPr lang="en-US" altLang="zh-CN" dirty="0">
                <a:solidFill>
                  <a:srgbClr val="000000"/>
                </a:solidFill>
              </a:rPr>
              <a:t>3</a:t>
            </a:r>
            <a:r>
              <a:rPr lang="zh-CN" altLang="en-US" dirty="0">
                <a:solidFill>
                  <a:srgbClr val="000000"/>
                </a:solidFill>
              </a:rPr>
              <a:t>）</a:t>
            </a:r>
            <a:r>
              <a:rPr lang="zh-CN" altLang="en-US" dirty="0">
                <a:solidFill>
                  <a:srgbClr val="000000"/>
                </a:solidFill>
                <a:latin typeface="Arial" panose="020B0604020202020204" pitchFamily="34" charset="0"/>
                <a:cs typeface="Times New Roman" panose="02020603050405020304" pitchFamily="18" charset="0"/>
              </a:rPr>
              <a:t>        </a:t>
            </a:r>
            <a:r>
              <a:rPr lang="zh-CN" altLang="en-US" dirty="0">
                <a:solidFill>
                  <a:srgbClr val="000000"/>
                </a:solidFill>
                <a:cs typeface="Times New Roman" panose="02020603050405020304" pitchFamily="18" charset="0"/>
              </a:rPr>
              <a:t> </a:t>
            </a:r>
            <a:r>
              <a:rPr lang="zh-CN" altLang="en-US" dirty="0">
                <a:solidFill>
                  <a:srgbClr val="000000"/>
                </a:solidFill>
              </a:rPr>
              <a:t>第</a:t>
            </a:r>
            <a:r>
              <a:rPr lang="en-US" altLang="zh-CN" dirty="0">
                <a:solidFill>
                  <a:srgbClr val="000000"/>
                </a:solidFill>
              </a:rPr>
              <a:t>3</a:t>
            </a:r>
            <a:r>
              <a:rPr lang="zh-CN" altLang="en-US" dirty="0">
                <a:solidFill>
                  <a:srgbClr val="000000"/>
                </a:solidFill>
              </a:rPr>
              <a:t>位是</a:t>
            </a:r>
            <a:r>
              <a:rPr lang="en-US" altLang="zh-CN" dirty="0">
                <a:solidFill>
                  <a:srgbClr val="000000"/>
                </a:solidFill>
              </a:rPr>
              <a:t>PWT</a:t>
            </a:r>
            <a:r>
              <a:rPr lang="zh-CN" altLang="en-US" dirty="0">
                <a:solidFill>
                  <a:srgbClr val="000000"/>
                </a:solidFill>
              </a:rPr>
              <a:t>（</a:t>
            </a:r>
            <a:r>
              <a:rPr lang="en-US" altLang="zh-CN" dirty="0">
                <a:solidFill>
                  <a:srgbClr val="000000"/>
                </a:solidFill>
              </a:rPr>
              <a:t>Page Write-Through</a:t>
            </a:r>
            <a:r>
              <a:rPr lang="zh-CN" altLang="en-US" dirty="0">
                <a:solidFill>
                  <a:srgbClr val="000000"/>
                </a:solidFill>
              </a:rPr>
              <a:t>）位，表示是否采用写透方式，写透方式就是既写内存（</a:t>
            </a:r>
            <a:r>
              <a:rPr lang="en-US" altLang="zh-CN" dirty="0">
                <a:solidFill>
                  <a:srgbClr val="000000"/>
                </a:solidFill>
              </a:rPr>
              <a:t>RAM</a:t>
            </a:r>
            <a:r>
              <a:rPr lang="zh-CN" altLang="en-US" dirty="0">
                <a:solidFill>
                  <a:srgbClr val="000000"/>
                </a:solidFill>
              </a:rPr>
              <a:t>）也写高速缓存</a:t>
            </a:r>
            <a:r>
              <a:rPr lang="en-US" altLang="zh-CN" dirty="0">
                <a:solidFill>
                  <a:srgbClr val="000000"/>
                </a:solidFill>
              </a:rPr>
              <a:t>,</a:t>
            </a:r>
            <a:r>
              <a:rPr lang="zh-CN" altLang="en-US" dirty="0">
                <a:solidFill>
                  <a:srgbClr val="000000"/>
                </a:solidFill>
              </a:rPr>
              <a:t>该位为</a:t>
            </a:r>
            <a:r>
              <a:rPr lang="en-US" altLang="zh-CN" dirty="0">
                <a:solidFill>
                  <a:srgbClr val="000000"/>
                </a:solidFill>
              </a:rPr>
              <a:t>1</a:t>
            </a:r>
            <a:r>
              <a:rPr lang="zh-CN" altLang="en-US" dirty="0">
                <a:solidFill>
                  <a:srgbClr val="000000"/>
                </a:solidFill>
              </a:rPr>
              <a:t>表示采用写透方式</a:t>
            </a:r>
            <a:endParaRPr lang="zh-CN" altLang="en-US" dirty="0"/>
          </a:p>
          <a:p>
            <a:pPr lvl="0" algn="just" eaLnBrk="1" hangingPunct="1"/>
            <a:r>
              <a:rPr lang="zh-CN" altLang="en-US" dirty="0">
                <a:solidFill>
                  <a:srgbClr val="000000"/>
                </a:solidFill>
              </a:rPr>
              <a:t>（</a:t>
            </a:r>
            <a:r>
              <a:rPr lang="en-US" altLang="zh-CN" dirty="0">
                <a:solidFill>
                  <a:srgbClr val="000000"/>
                </a:solidFill>
              </a:rPr>
              <a:t>4</a:t>
            </a:r>
            <a:r>
              <a:rPr lang="zh-CN" altLang="en-US" dirty="0">
                <a:solidFill>
                  <a:srgbClr val="000000"/>
                </a:solidFill>
              </a:rPr>
              <a:t>）</a:t>
            </a:r>
            <a:r>
              <a:rPr lang="zh-CN" altLang="en-US" dirty="0">
                <a:solidFill>
                  <a:srgbClr val="000000"/>
                </a:solidFill>
                <a:latin typeface="Arial" panose="020B0604020202020204" pitchFamily="34" charset="0"/>
                <a:cs typeface="Times New Roman" panose="02020603050405020304" pitchFamily="18" charset="0"/>
              </a:rPr>
              <a:t>        </a:t>
            </a:r>
            <a:r>
              <a:rPr lang="zh-CN" altLang="en-US" dirty="0">
                <a:solidFill>
                  <a:srgbClr val="000000"/>
                </a:solidFill>
                <a:cs typeface="Times New Roman" panose="02020603050405020304" pitchFamily="18" charset="0"/>
              </a:rPr>
              <a:t> </a:t>
            </a:r>
            <a:r>
              <a:rPr lang="zh-CN" altLang="en-US" dirty="0">
                <a:solidFill>
                  <a:srgbClr val="000000"/>
                </a:solidFill>
              </a:rPr>
              <a:t>第</a:t>
            </a:r>
            <a:r>
              <a:rPr lang="en-US" altLang="zh-CN" dirty="0">
                <a:solidFill>
                  <a:srgbClr val="000000"/>
                </a:solidFill>
              </a:rPr>
              <a:t>4</a:t>
            </a:r>
            <a:r>
              <a:rPr lang="zh-CN" altLang="en-US" dirty="0">
                <a:solidFill>
                  <a:srgbClr val="000000"/>
                </a:solidFill>
              </a:rPr>
              <a:t>位是</a:t>
            </a:r>
            <a:r>
              <a:rPr lang="en-US" altLang="zh-CN" dirty="0">
                <a:solidFill>
                  <a:srgbClr val="000000"/>
                </a:solidFill>
              </a:rPr>
              <a:t>PCD</a:t>
            </a:r>
            <a:r>
              <a:rPr lang="zh-CN" altLang="en-US" dirty="0">
                <a:solidFill>
                  <a:srgbClr val="000000"/>
                </a:solidFill>
              </a:rPr>
              <a:t>（</a:t>
            </a:r>
            <a:r>
              <a:rPr lang="en-US" altLang="zh-CN" dirty="0">
                <a:solidFill>
                  <a:srgbClr val="000000"/>
                </a:solidFill>
              </a:rPr>
              <a:t>Page Cache Disable</a:t>
            </a:r>
            <a:r>
              <a:rPr lang="zh-CN" altLang="en-US" dirty="0">
                <a:solidFill>
                  <a:srgbClr val="000000"/>
                </a:solidFill>
              </a:rPr>
              <a:t>）位，表示是否启用高速缓存</a:t>
            </a:r>
            <a:r>
              <a:rPr lang="en-US" altLang="zh-CN" dirty="0">
                <a:solidFill>
                  <a:srgbClr val="000000"/>
                </a:solidFill>
              </a:rPr>
              <a:t>,</a:t>
            </a:r>
            <a:r>
              <a:rPr lang="zh-CN" altLang="en-US" dirty="0">
                <a:solidFill>
                  <a:srgbClr val="000000"/>
                </a:solidFill>
              </a:rPr>
              <a:t>该位为</a:t>
            </a:r>
            <a:r>
              <a:rPr lang="en-US" altLang="zh-CN" dirty="0">
                <a:solidFill>
                  <a:srgbClr val="000000"/>
                </a:solidFill>
              </a:rPr>
              <a:t>1</a:t>
            </a:r>
            <a:r>
              <a:rPr lang="zh-CN" altLang="en-US" dirty="0">
                <a:solidFill>
                  <a:srgbClr val="000000"/>
                </a:solidFill>
              </a:rPr>
              <a:t>表示启用高速缓存。</a:t>
            </a:r>
            <a:endParaRPr lang="zh-CN" altLang="en-US" dirty="0"/>
          </a:p>
          <a:p>
            <a:pPr lvl="0" algn="just" eaLnBrk="1" hangingPunct="1"/>
            <a:r>
              <a:rPr lang="zh-CN" altLang="en-US" dirty="0">
                <a:solidFill>
                  <a:srgbClr val="000000"/>
                </a:solidFill>
              </a:rPr>
              <a:t>（</a:t>
            </a:r>
            <a:r>
              <a:rPr lang="en-US" altLang="zh-CN" dirty="0">
                <a:solidFill>
                  <a:srgbClr val="000000"/>
                </a:solidFill>
              </a:rPr>
              <a:t>5</a:t>
            </a:r>
            <a:r>
              <a:rPr lang="zh-CN" altLang="en-US" dirty="0">
                <a:solidFill>
                  <a:srgbClr val="000000"/>
                </a:solidFill>
              </a:rPr>
              <a:t>）</a:t>
            </a:r>
            <a:r>
              <a:rPr lang="zh-CN" altLang="en-US" dirty="0">
                <a:solidFill>
                  <a:srgbClr val="000000"/>
                </a:solidFill>
                <a:latin typeface="Arial" panose="020B0604020202020204" pitchFamily="34" charset="0"/>
                <a:cs typeface="Times New Roman" panose="02020603050405020304" pitchFamily="18" charset="0"/>
              </a:rPr>
              <a:t>        </a:t>
            </a:r>
            <a:r>
              <a:rPr lang="zh-CN" altLang="en-US" dirty="0">
                <a:solidFill>
                  <a:srgbClr val="000000"/>
                </a:solidFill>
                <a:cs typeface="Times New Roman" panose="02020603050405020304" pitchFamily="18" charset="0"/>
              </a:rPr>
              <a:t> </a:t>
            </a:r>
            <a:r>
              <a:rPr lang="zh-CN" altLang="en-US" dirty="0">
                <a:solidFill>
                  <a:srgbClr val="000000"/>
                </a:solidFill>
              </a:rPr>
              <a:t>第</a:t>
            </a:r>
            <a:r>
              <a:rPr lang="en-US" altLang="zh-CN" dirty="0">
                <a:solidFill>
                  <a:srgbClr val="000000"/>
                </a:solidFill>
              </a:rPr>
              <a:t>5</a:t>
            </a:r>
            <a:r>
              <a:rPr lang="zh-CN" altLang="en-US" dirty="0">
                <a:solidFill>
                  <a:srgbClr val="000000"/>
                </a:solidFill>
              </a:rPr>
              <a:t>位是访问位，当对相应的物理页面进行访问时，该位置</a:t>
            </a:r>
            <a:r>
              <a:rPr lang="en-US" altLang="zh-CN" dirty="0">
                <a:solidFill>
                  <a:srgbClr val="000000"/>
                </a:solidFill>
              </a:rPr>
              <a:t>1</a:t>
            </a:r>
            <a:r>
              <a:rPr lang="zh-CN" altLang="en-US" dirty="0">
                <a:solidFill>
                  <a:srgbClr val="000000"/>
                </a:solidFill>
              </a:rPr>
              <a:t>。</a:t>
            </a:r>
            <a:endParaRPr lang="zh-CN" altLang="en-US" dirty="0"/>
          </a:p>
          <a:p>
            <a:pPr lvl="0" algn="just" eaLnBrk="1" hangingPunct="1"/>
            <a:r>
              <a:rPr lang="zh-CN" altLang="en-US" dirty="0">
                <a:solidFill>
                  <a:srgbClr val="000000"/>
                </a:solidFill>
              </a:rPr>
              <a:t>（</a:t>
            </a:r>
            <a:r>
              <a:rPr lang="en-US" altLang="zh-CN" dirty="0">
                <a:solidFill>
                  <a:srgbClr val="000000"/>
                </a:solidFill>
              </a:rPr>
              <a:t>6</a:t>
            </a:r>
            <a:r>
              <a:rPr lang="zh-CN" altLang="en-US" dirty="0">
                <a:solidFill>
                  <a:srgbClr val="000000"/>
                </a:solidFill>
              </a:rPr>
              <a:t>）</a:t>
            </a:r>
            <a:r>
              <a:rPr lang="zh-CN" altLang="en-US" dirty="0">
                <a:solidFill>
                  <a:srgbClr val="000000"/>
                </a:solidFill>
                <a:latin typeface="Arial" panose="020B0604020202020204" pitchFamily="34" charset="0"/>
                <a:cs typeface="Times New Roman" panose="02020603050405020304" pitchFamily="18" charset="0"/>
              </a:rPr>
              <a:t>        </a:t>
            </a:r>
            <a:r>
              <a:rPr lang="zh-CN" altLang="en-US" dirty="0">
                <a:solidFill>
                  <a:srgbClr val="000000"/>
                </a:solidFill>
                <a:cs typeface="Times New Roman" panose="02020603050405020304" pitchFamily="18" charset="0"/>
              </a:rPr>
              <a:t> </a:t>
            </a:r>
            <a:r>
              <a:rPr lang="zh-CN" altLang="en-US" dirty="0">
                <a:solidFill>
                  <a:srgbClr val="000000"/>
                </a:solidFill>
              </a:rPr>
              <a:t>第</a:t>
            </a:r>
            <a:r>
              <a:rPr lang="en-US" altLang="zh-CN" dirty="0">
                <a:solidFill>
                  <a:srgbClr val="000000"/>
                </a:solidFill>
              </a:rPr>
              <a:t>7</a:t>
            </a:r>
            <a:r>
              <a:rPr lang="zh-CN" altLang="en-US" dirty="0">
                <a:solidFill>
                  <a:srgbClr val="000000"/>
                </a:solidFill>
              </a:rPr>
              <a:t>位是</a:t>
            </a:r>
            <a:r>
              <a:rPr lang="en-US" altLang="zh-CN" dirty="0">
                <a:solidFill>
                  <a:srgbClr val="000000"/>
                </a:solidFill>
              </a:rPr>
              <a:t>Page Size</a:t>
            </a:r>
            <a:r>
              <a:rPr lang="zh-CN" altLang="en-US" dirty="0">
                <a:solidFill>
                  <a:srgbClr val="000000"/>
                </a:solidFill>
              </a:rPr>
              <a:t>标志，只适用于页目录项。如果置为</a:t>
            </a:r>
            <a:r>
              <a:rPr lang="en-US" altLang="zh-CN" dirty="0">
                <a:solidFill>
                  <a:srgbClr val="000000"/>
                </a:solidFill>
              </a:rPr>
              <a:t>1</a:t>
            </a:r>
            <a:r>
              <a:rPr lang="zh-CN" altLang="en-US" dirty="0">
                <a:solidFill>
                  <a:srgbClr val="000000"/>
                </a:solidFill>
              </a:rPr>
              <a:t>，页目录项指的是</a:t>
            </a:r>
            <a:r>
              <a:rPr lang="en-US" altLang="zh-CN" dirty="0">
                <a:solidFill>
                  <a:srgbClr val="000000"/>
                </a:solidFill>
              </a:rPr>
              <a:t>4MB</a:t>
            </a:r>
            <a:r>
              <a:rPr lang="zh-CN" altLang="en-US" dirty="0">
                <a:solidFill>
                  <a:srgbClr val="000000"/>
                </a:solidFill>
              </a:rPr>
              <a:t>的页</a:t>
            </a:r>
            <a:endParaRPr lang="zh-CN" altLang="en-US" dirty="0"/>
          </a:p>
          <a:p>
            <a:pPr lvl="0" algn="just" eaLnBrk="1" hangingPunct="1"/>
            <a:r>
              <a:rPr lang="zh-CN" altLang="en-US" dirty="0">
                <a:solidFill>
                  <a:srgbClr val="000000"/>
                </a:solidFill>
              </a:rPr>
              <a:t>（</a:t>
            </a:r>
            <a:r>
              <a:rPr lang="en-US" altLang="zh-CN" dirty="0">
                <a:solidFill>
                  <a:srgbClr val="000000"/>
                </a:solidFill>
              </a:rPr>
              <a:t>7</a:t>
            </a:r>
            <a:r>
              <a:rPr lang="zh-CN" altLang="en-US" dirty="0">
                <a:solidFill>
                  <a:srgbClr val="000000"/>
                </a:solidFill>
              </a:rPr>
              <a:t>）</a:t>
            </a:r>
            <a:r>
              <a:rPr lang="zh-CN" altLang="en-US" dirty="0">
                <a:solidFill>
                  <a:srgbClr val="000000"/>
                </a:solidFill>
                <a:latin typeface="Arial" panose="020B0604020202020204" pitchFamily="34" charset="0"/>
                <a:cs typeface="Times New Roman" panose="02020603050405020304" pitchFamily="18" charset="0"/>
              </a:rPr>
              <a:t>        </a:t>
            </a:r>
            <a:r>
              <a:rPr lang="zh-CN" altLang="en-US" dirty="0">
                <a:solidFill>
                  <a:srgbClr val="000000"/>
                </a:solidFill>
                <a:cs typeface="Times New Roman" panose="02020603050405020304" pitchFamily="18" charset="0"/>
              </a:rPr>
              <a:t> </a:t>
            </a:r>
            <a:r>
              <a:rPr lang="zh-CN" altLang="en-US" dirty="0">
                <a:solidFill>
                  <a:srgbClr val="000000"/>
                </a:solidFill>
              </a:rPr>
              <a:t>第</a:t>
            </a:r>
            <a:r>
              <a:rPr lang="en-US" altLang="zh-CN" dirty="0">
                <a:solidFill>
                  <a:srgbClr val="000000"/>
                </a:solidFill>
              </a:rPr>
              <a:t>9~11</a:t>
            </a:r>
            <a:r>
              <a:rPr lang="zh-CN" altLang="en-US" dirty="0">
                <a:solidFill>
                  <a:srgbClr val="000000"/>
                </a:solidFill>
              </a:rPr>
              <a:t>位由操作系统专用，</a:t>
            </a:r>
            <a:r>
              <a:rPr lang="en-US" altLang="zh-CN" dirty="0">
                <a:solidFill>
                  <a:srgbClr val="000000"/>
                </a:solidFill>
              </a:rPr>
              <a:t>Linux</a:t>
            </a:r>
            <a:r>
              <a:rPr lang="zh-CN" altLang="en-US" dirty="0">
                <a:solidFill>
                  <a:srgbClr val="000000"/>
                </a:solidFill>
              </a:rPr>
              <a:t>也没有做特殊之用。</a:t>
            </a:r>
            <a:endParaRPr lang="zh-CN" altLang="en-US" dirty="0"/>
          </a:p>
          <a:p>
            <a:pPr lvl="0" eaLnBrk="1" hangingPunct="1"/>
            <a:endParaRPr lang="zh-CN" altLang="en-US" dirty="0"/>
          </a:p>
          <a:p>
            <a:pPr lvl="0" eaLnBrk="1" hangingPunct="1"/>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p:sp>
      <p:sp>
        <p:nvSpPr>
          <p:cNvPr id="19459" name="备注占位符 2"/>
          <p:cNvSpPr>
            <a:spLocks noGrp="1"/>
          </p:cNvSpPr>
          <p:nvPr>
            <p:ph type="body" idx="1"/>
          </p:nvPr>
        </p:nvSpPr>
        <p:spPr/>
        <p:txBody>
          <a:bodyPr wrap="square" lIns="91440" tIns="45720" rIns="91440" bIns="45720" anchor="t" anchorCtr="0"/>
          <a:lstStyle/>
          <a:p>
            <a:pPr lvl="0" latinLnBrk="1"/>
            <a:r>
              <a:rPr lang="en-US" altLang="zh-CN" dirty="0"/>
              <a:t>CPU</a:t>
            </a:r>
            <a:r>
              <a:rPr lang="zh-CN" altLang="en-US" dirty="0"/>
              <a:t>执行一条指令，是根据时钟来进行的</a:t>
            </a:r>
            <a:r>
              <a:rPr lang="en-US" altLang="zh-CN" dirty="0"/>
              <a:t>(</a:t>
            </a:r>
            <a:r>
              <a:rPr lang="zh-CN" altLang="en-US" dirty="0"/>
              <a:t>也就是时序</a:t>
            </a:r>
            <a:r>
              <a:rPr lang="en-US" altLang="zh-CN" dirty="0"/>
              <a:t>)</a:t>
            </a:r>
            <a:r>
              <a:rPr lang="zh-CN" altLang="en-US" dirty="0"/>
              <a:t>。</a:t>
            </a:r>
            <a:r>
              <a:rPr lang="en-US" altLang="zh-CN" dirty="0"/>
              <a:t>(1)</a:t>
            </a:r>
            <a:r>
              <a:rPr lang="zh-CN" altLang="en-US" dirty="0"/>
              <a:t>第一步</a:t>
            </a:r>
            <a:r>
              <a:rPr lang="en-US" altLang="zh-CN" dirty="0"/>
              <a:t>:</a:t>
            </a:r>
            <a:r>
              <a:rPr lang="zh-CN" altLang="en-US" dirty="0"/>
              <a:t>取指令和分析指令</a:t>
            </a:r>
            <a:r>
              <a:rPr lang="en-US" altLang="zh-CN" dirty="0"/>
              <a:t>. </a:t>
            </a:r>
            <a:r>
              <a:rPr lang="zh-CN" altLang="en-US" dirty="0"/>
              <a:t>首先根据</a:t>
            </a:r>
            <a:r>
              <a:rPr lang="en-US" altLang="zh-CN" dirty="0"/>
              <a:t>PC</a:t>
            </a:r>
            <a:r>
              <a:rPr lang="zh-CN" altLang="en-US" dirty="0"/>
              <a:t>所指出的现行指令地址</a:t>
            </a:r>
            <a:r>
              <a:rPr lang="en-US" altLang="zh-CN" dirty="0"/>
              <a:t>, </a:t>
            </a:r>
            <a:r>
              <a:rPr lang="zh-CN" altLang="en-US" dirty="0"/>
              <a:t>从内存中取出该条指令的指令码</a:t>
            </a:r>
            <a:r>
              <a:rPr lang="en-US" altLang="zh-CN" dirty="0"/>
              <a:t>, </a:t>
            </a:r>
            <a:r>
              <a:rPr lang="zh-CN" altLang="en-US" dirty="0"/>
              <a:t>并送到控制器的指令寄存器中</a:t>
            </a:r>
            <a:r>
              <a:rPr lang="en-US" altLang="zh-CN" dirty="0"/>
              <a:t>, </a:t>
            </a:r>
            <a:r>
              <a:rPr lang="zh-CN" altLang="en-US" dirty="0"/>
              <a:t>然后对所取的指令进行分析</a:t>
            </a:r>
            <a:r>
              <a:rPr lang="en-US" altLang="zh-CN" dirty="0"/>
              <a:t>, </a:t>
            </a:r>
            <a:r>
              <a:rPr lang="zh-CN" altLang="en-US" dirty="0"/>
              <a:t>即根据指令中的操作码进行译码</a:t>
            </a:r>
            <a:r>
              <a:rPr lang="en-US" altLang="zh-CN" dirty="0"/>
              <a:t>, </a:t>
            </a:r>
            <a:r>
              <a:rPr lang="zh-CN" altLang="en-US" dirty="0"/>
              <a:t>确定计算机应进行什么操作</a:t>
            </a:r>
            <a:r>
              <a:rPr lang="en-US" altLang="zh-CN" dirty="0"/>
              <a:t>. </a:t>
            </a:r>
            <a:r>
              <a:rPr lang="zh-CN" altLang="en-US" dirty="0"/>
              <a:t>译码信号被送往操作控制部件</a:t>
            </a:r>
            <a:r>
              <a:rPr lang="en-US" altLang="zh-CN" dirty="0"/>
              <a:t>, </a:t>
            </a:r>
            <a:r>
              <a:rPr lang="zh-CN" altLang="en-US" dirty="0"/>
              <a:t>和时序电位、测试条件配合</a:t>
            </a:r>
            <a:r>
              <a:rPr lang="en-US" altLang="zh-CN" dirty="0"/>
              <a:t>, </a:t>
            </a:r>
            <a:r>
              <a:rPr lang="zh-CN" altLang="en-US" dirty="0"/>
              <a:t>产生执行本条指令相应的控制电位序列</a:t>
            </a:r>
            <a:r>
              <a:rPr lang="en-US" altLang="zh-CN" dirty="0"/>
              <a:t>.(2)</a:t>
            </a:r>
            <a:r>
              <a:rPr lang="zh-CN" altLang="en-US" dirty="0"/>
              <a:t>第二步</a:t>
            </a:r>
            <a:r>
              <a:rPr lang="en-US" altLang="zh-CN" dirty="0"/>
              <a:t>:</a:t>
            </a:r>
            <a:r>
              <a:rPr lang="zh-CN" altLang="en-US" dirty="0"/>
              <a:t>执行指令</a:t>
            </a:r>
            <a:r>
              <a:rPr lang="en-US" altLang="zh-CN" dirty="0"/>
              <a:t>. </a:t>
            </a:r>
            <a:r>
              <a:rPr lang="zh-CN" altLang="en-US" dirty="0"/>
              <a:t>根据指令分析结果</a:t>
            </a:r>
            <a:r>
              <a:rPr lang="en-US" altLang="zh-CN" dirty="0"/>
              <a:t>, </a:t>
            </a:r>
            <a:r>
              <a:rPr lang="zh-CN" altLang="en-US" dirty="0"/>
              <a:t>由操作控制部件器发出完成操作所需要的一系列控制电位</a:t>
            </a:r>
            <a:r>
              <a:rPr lang="en-US" altLang="zh-CN" dirty="0"/>
              <a:t>, </a:t>
            </a:r>
            <a:r>
              <a:rPr lang="zh-CN" altLang="en-US" dirty="0"/>
              <a:t>指挥计算机有关部件完成这一操作</a:t>
            </a:r>
            <a:r>
              <a:rPr lang="en-US" altLang="zh-CN" dirty="0"/>
              <a:t>, </a:t>
            </a:r>
            <a:r>
              <a:rPr lang="zh-CN" altLang="en-US" dirty="0"/>
              <a:t>同时为取下一条指令作好准备</a:t>
            </a:r>
            <a:r>
              <a:rPr lang="en-US" altLang="zh-CN" dirty="0"/>
              <a:t>. </a:t>
            </a:r>
            <a:r>
              <a:rPr lang="zh-CN" altLang="en-US" dirty="0"/>
              <a:t>尽管外界中断请求是随机的，但</a:t>
            </a:r>
            <a:r>
              <a:rPr lang="en-US" altLang="zh-CN" dirty="0"/>
              <a:t>CPU</a:t>
            </a:r>
            <a:r>
              <a:rPr lang="zh-CN" altLang="en-US" dirty="0"/>
              <a:t>只有在当前一条指令执行完毕后，即转入公操作时才受理设备的中断请求，这样才不致于使当前指令的执行受到干扰。公操作是指一条指令执行结束后</a:t>
            </a:r>
            <a:r>
              <a:rPr lang="en-US" altLang="zh-CN" dirty="0"/>
              <a:t>CPU</a:t>
            </a:r>
            <a:r>
              <a:rPr lang="zh-CN" altLang="en-US" dirty="0"/>
              <a:t>所进行的操作，如中断处理、直接内存传送、取下条指令等 。</a:t>
            </a:r>
            <a:endParaRPr lang="en-US" altLang="zh-CN" dirty="0"/>
          </a:p>
          <a:p>
            <a:pPr lvl="0" latinLnBrk="1"/>
            <a:endParaRPr lang="en-US" altLang="zh-CN" dirty="0"/>
          </a:p>
          <a:p>
            <a:pPr lvl="0"/>
            <a:br>
              <a:rPr lang="zh-CN" altLang="en-US" dirty="0"/>
            </a:br>
            <a:endParaRPr lang="zh-CN" altLang="en-US" dirty="0"/>
          </a:p>
        </p:txBody>
      </p:sp>
      <p:sp>
        <p:nvSpPr>
          <p:cNvPr id="1946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fld>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2150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None/>
            </a:pPr>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p:sp>
      <p:sp>
        <p:nvSpPr>
          <p:cNvPr id="26627" name="备注占位符 2"/>
          <p:cNvSpPr>
            <a:spLocks noGrp="1"/>
          </p:cNvSpPr>
          <p:nvPr>
            <p:ph type="body" idx="1"/>
          </p:nvPr>
        </p:nvSpPr>
        <p:spPr/>
        <p:txBody>
          <a:bodyPr wrap="square" lIns="91440" tIns="45720" rIns="91440" bIns="45720" anchor="t" anchorCtr="0"/>
          <a:lstStyle/>
          <a:p>
            <a:pPr lvl="0" eaLnBrk="1" hangingPunct="1">
              <a:spcBef>
                <a:spcPct val="0"/>
              </a:spcBef>
            </a:pPr>
            <a:r>
              <a:rPr lang="zh-CN" altLang="en-US" sz="2400" dirty="0">
                <a:solidFill>
                  <a:schemeClr val="hlink"/>
                </a:solidFill>
                <a:latin typeface="楷体_GB2312" pitchFamily="49" charset="-122"/>
                <a:ea typeface="楷体_GB2312" pitchFamily="49" charset="-122"/>
              </a:rPr>
              <a:t>页面置换算法评价标准</a:t>
            </a:r>
            <a:r>
              <a:rPr lang="zh-CN" altLang="en-US" sz="2400" dirty="0">
                <a:solidFill>
                  <a:srgbClr val="FFFF00"/>
                </a:solidFill>
                <a:latin typeface="楷体_GB2312" pitchFamily="49" charset="-122"/>
                <a:ea typeface="楷体_GB2312" pitchFamily="49" charset="-122"/>
              </a:rPr>
              <a:t>：</a:t>
            </a:r>
            <a:endParaRPr lang="zh-CN" altLang="en-US" sz="2400" dirty="0">
              <a:solidFill>
                <a:srgbClr val="FFFF00"/>
              </a:solidFill>
              <a:latin typeface="楷体_GB2312" pitchFamily="49" charset="-122"/>
              <a:ea typeface="楷体_GB2312" pitchFamily="49" charset="-122"/>
            </a:endParaRPr>
          </a:p>
          <a:p>
            <a:pPr lvl="1" eaLnBrk="1" hangingPunct="1">
              <a:spcBef>
                <a:spcPct val="0"/>
              </a:spcBef>
              <a:buChar char="•"/>
            </a:pPr>
            <a:r>
              <a:rPr lang="zh-CN" altLang="en-US" sz="2400" dirty="0">
                <a:latin typeface="楷体_GB2312" pitchFamily="49" charset="-122"/>
                <a:ea typeface="楷体_GB2312" pitchFamily="49" charset="-122"/>
              </a:rPr>
              <a:t>缺页发生频率少，</a:t>
            </a:r>
            <a:r>
              <a:rPr lang="zh-CN" altLang="en-US" sz="2400" dirty="0">
                <a:ea typeface="楷体_GB2312" pitchFamily="49" charset="-122"/>
              </a:rPr>
              <a:t>必须防止系统发生</a:t>
            </a:r>
            <a:r>
              <a:rPr lang="zh-CN" altLang="en-US" sz="2400" dirty="0">
                <a:solidFill>
                  <a:schemeClr val="tx2"/>
                </a:solidFill>
                <a:ea typeface="楷体_GB2312" pitchFamily="49" charset="-122"/>
              </a:rPr>
              <a:t>抖动</a:t>
            </a:r>
            <a:endParaRPr lang="zh-CN" altLang="en-US" sz="2400" dirty="0">
              <a:solidFill>
                <a:schemeClr val="tx2"/>
              </a:solidFill>
              <a:ea typeface="楷体_GB2312" pitchFamily="49" charset="-122"/>
            </a:endParaRPr>
          </a:p>
          <a:p>
            <a:pPr lvl="1" eaLnBrk="1" hangingPunct="1">
              <a:spcBef>
                <a:spcPct val="0"/>
              </a:spcBef>
              <a:buChar char="•"/>
            </a:pPr>
            <a:r>
              <a:rPr lang="zh-CN" altLang="en-US" sz="2400" dirty="0">
                <a:ea typeface="楷体_GB2312" pitchFamily="49" charset="-122"/>
              </a:rPr>
              <a:t>算法本身的复杂度小</a:t>
            </a:r>
            <a:endParaRPr lang="zh-CN" altLang="en-US" sz="2400" dirty="0">
              <a:ea typeface="楷体_GB2312" pitchFamily="49" charset="-122"/>
            </a:endParaRPr>
          </a:p>
          <a:p>
            <a:pPr lvl="0"/>
            <a:endParaRPr lang="zh-CN" altLang="en-US" dirty="0"/>
          </a:p>
        </p:txBody>
      </p:sp>
      <p:sp>
        <p:nvSpPr>
          <p:cNvPr id="2662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None/>
            </a:pPr>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TextEdit="1"/>
          </p:cNvSpPr>
          <p:nvPr>
            <p:ph type="sldImg"/>
          </p:nvPr>
        </p:nvSpPr>
        <p:spPr/>
      </p:sp>
      <p:sp>
        <p:nvSpPr>
          <p:cNvPr id="34819"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3482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None/>
            </a:pPr>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fld>
            <a:endParaRPr lang="en-US" altLang="zh-CN" dirty="0"/>
          </a:p>
        </p:txBody>
      </p:sp>
      <p:sp>
        <p:nvSpPr>
          <p:cNvPr id="36867" name="Rectangle 2"/>
          <p:cNvSpPr>
            <a:spLocks noGrp="1" noRot="1" noChangeAspect="1" noTextEdit="1"/>
          </p:cNvSpPr>
          <p:nvPr>
            <p:ph type="sldImg"/>
          </p:nvPr>
        </p:nvSpPr>
        <p:spPr/>
      </p:sp>
      <p:sp>
        <p:nvSpPr>
          <p:cNvPr id="36868" name="Rectangle 3"/>
          <p:cNvSpPr>
            <a:spLocks noGrp="1"/>
          </p:cNvSpPr>
          <p:nvPr>
            <p:ph type="body" idx="1"/>
          </p:nvPr>
        </p:nvSpPr>
        <p:spPr/>
        <p:txBody>
          <a:bodyPr wrap="square" lIns="91440" tIns="45720" rIns="91440" bIns="45720" anchor="t" anchorCtr="0"/>
          <a:lstStyle/>
          <a:p>
            <a:pPr lvl="0"/>
            <a:r>
              <a:rPr lang="en-US" altLang="zh-CN" sz="3600" dirty="0">
                <a:solidFill>
                  <a:srgbClr val="222222"/>
                </a:solidFill>
                <a:latin typeface="Arial" panose="020B0604020202020204" pitchFamily="34" charset="0"/>
              </a:rPr>
              <a:t>BELADY </a:t>
            </a:r>
            <a:r>
              <a:rPr lang="zh-CN" altLang="en-US" sz="3600" dirty="0">
                <a:latin typeface="Arial" panose="020B0604020202020204" pitchFamily="34" charset="0"/>
              </a:rPr>
              <a:t>贝莱迪</a:t>
            </a:r>
            <a:r>
              <a:rPr lang="en-US" altLang="zh-CN" sz="3600" dirty="0">
                <a:latin typeface="Arial" panose="020B0604020202020204" pitchFamily="34" charset="0"/>
              </a:rPr>
              <a:t>;</a:t>
            </a:r>
            <a:br>
              <a:rPr lang="zh-CN" altLang="en-US" sz="3600" dirty="0"/>
            </a:br>
            <a:endParaRPr lang="en-US" altLang="zh-CN" sz="24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p:sp>
      <p:sp>
        <p:nvSpPr>
          <p:cNvPr id="39939"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3994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None/>
            </a:pPr>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p:sp>
      <p:sp>
        <p:nvSpPr>
          <p:cNvPr id="46083"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460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None/>
            </a:pPr>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p:sp>
      <p:sp>
        <p:nvSpPr>
          <p:cNvPr id="48131" name="备注占位符 2"/>
          <p:cNvSpPr>
            <a:spLocks noGrp="1"/>
          </p:cNvSpPr>
          <p:nvPr>
            <p:ph type="body" idx="1"/>
          </p:nvPr>
        </p:nvSpPr>
        <p:spPr/>
        <p:txBody>
          <a:bodyPr wrap="square" lIns="91440" tIns="45720" rIns="91440" bIns="45720" anchor="t" anchorCtr="0"/>
          <a:lstStyle/>
          <a:p>
            <a:pPr lvl="0"/>
            <a:r>
              <a:rPr lang="zh-CN" altLang="en-US" dirty="0"/>
              <a:t>对于页替换算法，用于替换的候选帧集合看做一个循环缓冲区，并且有一个指针与之相关联。当某一页被替换时，该指针被设置成指向缓冲区中的下一帧。当需要替换一页时，操作系统扫描缓冲区，以查找使用位被置为</a:t>
            </a:r>
            <a:r>
              <a:rPr lang="en-US" altLang="zh-CN" dirty="0"/>
              <a:t>0</a:t>
            </a:r>
            <a:r>
              <a:rPr lang="zh-CN" altLang="en-US" dirty="0"/>
              <a:t>的一帧。每当遇到一个使用位为</a:t>
            </a:r>
            <a:r>
              <a:rPr lang="en-US" altLang="zh-CN" dirty="0"/>
              <a:t>1</a:t>
            </a:r>
            <a:r>
              <a:rPr lang="zh-CN" altLang="en-US" dirty="0"/>
              <a:t>的帧时，操作系统就将该位重新置为</a:t>
            </a:r>
            <a:r>
              <a:rPr lang="en-US" altLang="zh-CN" dirty="0"/>
              <a:t>0</a:t>
            </a:r>
            <a:r>
              <a:rPr lang="zh-CN" altLang="en-US" dirty="0"/>
              <a:t>；如果在这个过程开始时，缓冲区中所有帧的使用位均为</a:t>
            </a:r>
            <a:r>
              <a:rPr lang="en-US" altLang="zh-CN" dirty="0"/>
              <a:t>0</a:t>
            </a:r>
            <a:r>
              <a:rPr lang="zh-CN" altLang="en-US" dirty="0"/>
              <a:t>，则选择遇到的第一个帧替换；如果所有帧的使用位均为</a:t>
            </a:r>
            <a:r>
              <a:rPr lang="en-US" altLang="zh-CN" dirty="0"/>
              <a:t>1,</a:t>
            </a:r>
            <a:r>
              <a:rPr lang="zh-CN" altLang="en-US" dirty="0"/>
              <a:t>则指针在缓冲区中完整地循环一周，把所有使用位都置为</a:t>
            </a:r>
            <a:r>
              <a:rPr lang="en-US" altLang="zh-CN" dirty="0"/>
              <a:t>0</a:t>
            </a:r>
            <a:r>
              <a:rPr lang="zh-CN" altLang="en-US" dirty="0"/>
              <a:t>，并且停留在最初的位置上，替换该帧中的页。</a:t>
            </a:r>
            <a:endParaRPr lang="en-US" altLang="zh-CN" dirty="0"/>
          </a:p>
        </p:txBody>
      </p:sp>
      <p:sp>
        <p:nvSpPr>
          <p:cNvPr id="4813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None/>
            </a:pPr>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5120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None/>
            </a:pPr>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5120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None/>
            </a:pPr>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p:sp>
      <p:sp>
        <p:nvSpPr>
          <p:cNvPr id="53251"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5325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None/>
            </a:pPr>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p:sp>
      <p:sp>
        <p:nvSpPr>
          <p:cNvPr id="56323" name="备注占位符 2"/>
          <p:cNvSpPr>
            <a:spLocks noGrp="1"/>
          </p:cNvSpPr>
          <p:nvPr>
            <p:ph type="body" idx="1"/>
          </p:nvPr>
        </p:nvSpPr>
        <p:spPr/>
        <p:txBody>
          <a:bodyPr wrap="square" lIns="91440" tIns="45720" rIns="91440" bIns="45720" anchor="t" anchorCtr="0"/>
          <a:lstStyle/>
          <a:p>
            <a:pPr lvl="0"/>
            <a:r>
              <a:rPr lang="zh-CN" altLang="en-US" dirty="0">
                <a:solidFill>
                  <a:srgbClr val="4F4F4F"/>
                </a:solidFill>
                <a:latin typeface="-apple-system"/>
              </a:rPr>
              <a:t>页面替换的顺序：</a:t>
            </a:r>
            <a:endParaRPr lang="zh-CN" altLang="en-US" dirty="0">
              <a:solidFill>
                <a:srgbClr val="4F4F4F"/>
              </a:solidFill>
              <a:latin typeface="-apple-system"/>
            </a:endParaRPr>
          </a:p>
          <a:p>
            <a:pPr lvl="0">
              <a:buFont typeface="Calibri" panose="020F0502020204030204" pitchFamily="34" charset="0"/>
              <a:buAutoNum type="arabicPeriod"/>
            </a:pPr>
            <a:r>
              <a:rPr lang="zh-CN" altLang="en-US" dirty="0">
                <a:solidFill>
                  <a:srgbClr val="333333"/>
                </a:solidFill>
                <a:latin typeface="-apple-system"/>
              </a:rPr>
              <a:t>从指针当前的位置开始寻找主存中满足</a:t>
            </a:r>
            <a:r>
              <a:rPr lang="en-US" altLang="zh-CN" dirty="0">
                <a:solidFill>
                  <a:srgbClr val="333333"/>
                </a:solidFill>
                <a:latin typeface="-apple-system"/>
              </a:rPr>
              <a:t>(</a:t>
            </a:r>
            <a:r>
              <a:rPr lang="zh-CN" altLang="en-US" dirty="0">
                <a:solidFill>
                  <a:srgbClr val="333333"/>
                </a:solidFill>
                <a:latin typeface="-apple-system"/>
              </a:rPr>
              <a:t>使用位，修改位</a:t>
            </a:r>
            <a:r>
              <a:rPr lang="en-US" altLang="zh-CN" dirty="0">
                <a:solidFill>
                  <a:srgbClr val="333333"/>
                </a:solidFill>
                <a:latin typeface="-apple-system"/>
              </a:rPr>
              <a:t>)</a:t>
            </a:r>
            <a:r>
              <a:rPr lang="zh-CN" altLang="en-US" dirty="0">
                <a:solidFill>
                  <a:srgbClr val="333333"/>
                </a:solidFill>
                <a:latin typeface="-apple-system"/>
              </a:rPr>
              <a:t>为</a:t>
            </a:r>
            <a:r>
              <a:rPr lang="en-US" altLang="zh-CN" b="1" dirty="0">
                <a:solidFill>
                  <a:srgbClr val="333333"/>
                </a:solidFill>
                <a:latin typeface="-apple-system"/>
              </a:rPr>
              <a:t>(0,0)</a:t>
            </a:r>
            <a:r>
              <a:rPr lang="zh-CN" altLang="en-US" dirty="0">
                <a:solidFill>
                  <a:srgbClr val="333333"/>
                </a:solidFill>
                <a:latin typeface="-apple-system"/>
              </a:rPr>
              <a:t>的页面；</a:t>
            </a:r>
            <a:endParaRPr lang="zh-CN" altLang="en-US" dirty="0">
              <a:solidFill>
                <a:srgbClr val="333333"/>
              </a:solidFill>
              <a:latin typeface="-apple-system"/>
            </a:endParaRPr>
          </a:p>
          <a:p>
            <a:pPr lvl="0">
              <a:buFont typeface="Calibri" panose="020F0502020204030204" pitchFamily="34" charset="0"/>
              <a:buAutoNum type="arabicPeriod"/>
            </a:pPr>
            <a:r>
              <a:rPr lang="zh-CN" altLang="en-US" dirty="0">
                <a:solidFill>
                  <a:srgbClr val="333333"/>
                </a:solidFill>
                <a:latin typeface="-apple-system"/>
              </a:rPr>
              <a:t>如果第</a:t>
            </a:r>
            <a:r>
              <a:rPr lang="en-US" altLang="zh-CN" dirty="0">
                <a:solidFill>
                  <a:srgbClr val="333333"/>
                </a:solidFill>
                <a:latin typeface="-apple-system"/>
              </a:rPr>
              <a:t>1</a:t>
            </a:r>
            <a:r>
              <a:rPr lang="zh-CN" altLang="en-US" dirty="0">
                <a:solidFill>
                  <a:srgbClr val="333333"/>
                </a:solidFill>
                <a:latin typeface="-apple-system"/>
              </a:rPr>
              <a:t>步没有找到满足条件的，接着寻找状态为</a:t>
            </a:r>
            <a:r>
              <a:rPr lang="en-US" altLang="zh-CN" b="1" dirty="0">
                <a:solidFill>
                  <a:srgbClr val="333333"/>
                </a:solidFill>
                <a:latin typeface="-apple-system"/>
              </a:rPr>
              <a:t>(0,1)</a:t>
            </a:r>
            <a:r>
              <a:rPr lang="zh-CN" altLang="en-US" dirty="0">
                <a:solidFill>
                  <a:srgbClr val="333333"/>
                </a:solidFill>
                <a:latin typeface="-apple-system"/>
              </a:rPr>
              <a:t>页面；</a:t>
            </a:r>
            <a:endParaRPr lang="zh-CN" altLang="en-US" dirty="0">
              <a:solidFill>
                <a:srgbClr val="333333"/>
              </a:solidFill>
              <a:latin typeface="-apple-system"/>
            </a:endParaRPr>
          </a:p>
          <a:p>
            <a:pPr lvl="0">
              <a:buFont typeface="Calibri" panose="020F0502020204030204" pitchFamily="34" charset="0"/>
              <a:buAutoNum type="arabicPeriod"/>
            </a:pPr>
            <a:r>
              <a:rPr lang="zh-CN" altLang="en-US" dirty="0">
                <a:solidFill>
                  <a:srgbClr val="333333"/>
                </a:solidFill>
                <a:latin typeface="-apple-system"/>
              </a:rPr>
              <a:t>如果依然没有找到，指针回到最初的位置，将集合中所有页面的使用位设置成</a:t>
            </a:r>
            <a:r>
              <a:rPr lang="en-US" altLang="zh-CN" dirty="0">
                <a:solidFill>
                  <a:srgbClr val="333333"/>
                </a:solidFill>
                <a:latin typeface="-apple-system"/>
              </a:rPr>
              <a:t>0</a:t>
            </a:r>
            <a:r>
              <a:rPr lang="zh-CN" altLang="en-US" dirty="0">
                <a:solidFill>
                  <a:srgbClr val="333333"/>
                </a:solidFill>
                <a:latin typeface="-apple-system"/>
              </a:rPr>
              <a:t>。重复第</a:t>
            </a:r>
            <a:r>
              <a:rPr lang="en-US" altLang="zh-CN" dirty="0">
                <a:solidFill>
                  <a:srgbClr val="333333"/>
                </a:solidFill>
                <a:latin typeface="-apple-system"/>
              </a:rPr>
              <a:t>1</a:t>
            </a:r>
            <a:r>
              <a:rPr lang="zh-CN" altLang="en-US" dirty="0">
                <a:solidFill>
                  <a:srgbClr val="333333"/>
                </a:solidFill>
                <a:latin typeface="-apple-system"/>
              </a:rPr>
              <a:t>步，并且如果有必要，重复第</a:t>
            </a:r>
            <a:r>
              <a:rPr lang="en-US" altLang="zh-CN" dirty="0">
                <a:solidFill>
                  <a:srgbClr val="333333"/>
                </a:solidFill>
                <a:latin typeface="-apple-system"/>
              </a:rPr>
              <a:t>2</a:t>
            </a:r>
            <a:r>
              <a:rPr lang="zh-CN" altLang="en-US" dirty="0">
                <a:solidFill>
                  <a:srgbClr val="333333"/>
                </a:solidFill>
                <a:latin typeface="-apple-system"/>
              </a:rPr>
              <a:t>步，这样一定可以找到将要替换的页面。</a:t>
            </a:r>
            <a:endParaRPr lang="zh-CN" altLang="en-US" dirty="0">
              <a:solidFill>
                <a:srgbClr val="333333"/>
              </a:solidFill>
              <a:latin typeface="-apple-system"/>
            </a:endParaRPr>
          </a:p>
          <a:p>
            <a:pPr lvl="0">
              <a:buAutoNum type="arabicPeriod"/>
            </a:pPr>
            <a:endParaRPr lang="zh-CN" altLang="en-US" dirty="0"/>
          </a:p>
        </p:txBody>
      </p:sp>
      <p:sp>
        <p:nvSpPr>
          <p:cNvPr id="5632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None/>
            </a:pPr>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p:sp>
      <p:sp>
        <p:nvSpPr>
          <p:cNvPr id="62467"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624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None/>
            </a:pPr>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p:sp>
      <p:sp>
        <p:nvSpPr>
          <p:cNvPr id="62467"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624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None/>
            </a:pPr>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p:sp>
      <p:sp>
        <p:nvSpPr>
          <p:cNvPr id="64515" name="备注占位符 2"/>
          <p:cNvSpPr>
            <a:spLocks noGrp="1"/>
          </p:cNvSpPr>
          <p:nvPr>
            <p:ph type="body" idx="1"/>
          </p:nvPr>
        </p:nvSpPr>
        <p:spPr/>
        <p:txBody>
          <a:bodyPr wrap="square" lIns="91440" tIns="45720" rIns="91440" bIns="45720" anchor="t" anchorCtr="0"/>
          <a:lstStyle/>
          <a:p>
            <a:pPr lvl="0"/>
            <a:endParaRPr lang="zh-CN" altLang="en-US" dirty="0"/>
          </a:p>
        </p:txBody>
      </p:sp>
      <p:sp>
        <p:nvSpPr>
          <p:cNvPr id="6451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None/>
            </a:pPr>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
        <p:nvSpPr>
          <p:cNvPr id="68611" name="Rectangle 2"/>
          <p:cNvSpPr>
            <a:spLocks noGrp="1" noRot="1" noChangeAspect="1" noTextEdit="1"/>
          </p:cNvSpPr>
          <p:nvPr>
            <p:ph type="sldImg"/>
          </p:nvPr>
        </p:nvSpPr>
        <p:spPr/>
      </p:sp>
      <p:sp>
        <p:nvSpPr>
          <p:cNvPr id="68612" name="Rectangle 3"/>
          <p:cNvSpPr>
            <a:spLocks noGrp="1"/>
          </p:cNvSpPr>
          <p:nvPr>
            <p:ph type="body" idx="1"/>
          </p:nvPr>
        </p:nvSpPr>
        <p:spPr/>
        <p:txBody>
          <a:bodyPr wrap="square" lIns="91440" tIns="45720" rIns="91440" bIns="45720" anchor="t"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p:sp>
      <p:sp>
        <p:nvSpPr>
          <p:cNvPr id="74755" name="备注占位符 2"/>
          <p:cNvSpPr>
            <a:spLocks noGrp="1"/>
          </p:cNvSpPr>
          <p:nvPr>
            <p:ph type="body" idx="1"/>
          </p:nvPr>
        </p:nvSpPr>
        <p:spPr/>
        <p:txBody>
          <a:bodyPr wrap="square" lIns="91440" tIns="45720" rIns="91440" bIns="45720" anchor="t" anchorCtr="0"/>
          <a:lstStyle/>
          <a:p>
            <a:pPr lvl="0"/>
            <a:r>
              <a:rPr lang="zh-CN" altLang="en-US" b="1" dirty="0">
                <a:solidFill>
                  <a:srgbClr val="000000"/>
                </a:solidFill>
              </a:rPr>
              <a:t>工作集窗口</a:t>
            </a:r>
            <a:r>
              <a:rPr lang="el-GR" altLang="zh-CN" b="1" dirty="0">
                <a:solidFill>
                  <a:srgbClr val="000000"/>
                </a:solidFill>
              </a:rPr>
              <a:t>Δ</a:t>
            </a:r>
            <a:r>
              <a:rPr lang="zh-CN" altLang="en-US" b="1" dirty="0">
                <a:solidFill>
                  <a:srgbClr val="000000"/>
                </a:solidFill>
              </a:rPr>
              <a:t>形象说来就是一个挖了</a:t>
            </a:r>
            <a:r>
              <a:rPr lang="el-GR" altLang="zh-CN" b="1" dirty="0">
                <a:solidFill>
                  <a:srgbClr val="000000"/>
                </a:solidFill>
              </a:rPr>
              <a:t>Δ</a:t>
            </a:r>
            <a:r>
              <a:rPr lang="zh-CN" altLang="en-US" b="1" dirty="0">
                <a:solidFill>
                  <a:srgbClr val="000000"/>
                </a:solidFill>
              </a:rPr>
              <a:t>个洞的尺子，紧跟在你当前要访问的页面屁股后面，当前的页面并未加入到驻留集，所以窗口还不含当前页面，在窗口内能看到的页面就是当前工作集的内容。</a:t>
            </a:r>
            <a:endParaRPr lang="en-US" altLang="zh-CN" b="1" dirty="0">
              <a:solidFill>
                <a:srgbClr val="000000"/>
              </a:solidFill>
            </a:endParaRPr>
          </a:p>
          <a:p>
            <a:pPr lvl="0"/>
            <a:endParaRPr lang="zh-CN" altLang="en-US" dirty="0"/>
          </a:p>
        </p:txBody>
      </p:sp>
      <p:sp>
        <p:nvSpPr>
          <p:cNvPr id="7475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None/>
            </a:pPr>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p:sp>
      <p:sp>
        <p:nvSpPr>
          <p:cNvPr id="77827" name="备注占位符 2"/>
          <p:cNvSpPr>
            <a:spLocks noGrp="1"/>
          </p:cNvSpPr>
          <p:nvPr>
            <p:ph type="body" idx="1"/>
          </p:nvPr>
        </p:nvSpPr>
        <p:spPr/>
        <p:txBody>
          <a:bodyPr wrap="square" lIns="91440" tIns="45720" rIns="91440" bIns="45720" anchor="t" anchorCtr="0"/>
          <a:lstStyle/>
          <a:p>
            <a:pPr lvl="0"/>
            <a:r>
              <a:rPr lang="zh-CN" altLang="en-US" dirty="0">
                <a:solidFill>
                  <a:srgbClr val="000000"/>
                </a:solidFill>
              </a:rPr>
              <a:t> 实际应用中，</a:t>
            </a:r>
            <a:r>
              <a:rPr lang="zh-CN" altLang="en-US" dirty="0">
                <a:solidFill>
                  <a:srgbClr val="FF0000"/>
                </a:solidFill>
              </a:rPr>
              <a:t>工作集窗口</a:t>
            </a:r>
            <a:r>
              <a:rPr lang="zh-CN" altLang="en-US" dirty="0">
                <a:solidFill>
                  <a:srgbClr val="000000"/>
                </a:solidFill>
              </a:rPr>
              <a:t>会设置得很大，即对于局部性好的程序，工作集大小一般会比工作集窗口</a:t>
            </a:r>
            <a:r>
              <a:rPr lang="el-GR" altLang="zh-CN" b="1" dirty="0">
                <a:solidFill>
                  <a:srgbClr val="000000"/>
                </a:solidFill>
              </a:rPr>
              <a:t>Δ</a:t>
            </a:r>
            <a:r>
              <a:rPr lang="zh-CN" altLang="en-US" dirty="0">
                <a:solidFill>
                  <a:srgbClr val="000000"/>
                </a:solidFill>
              </a:rPr>
              <a:t>小很多。工作集反映了进程在接下来一段时间内很有可能会频繁访问的页面集合，因此，若分配给进程的物理块小于工作集大小，则该进程就很有可能频繁缺页，所以为了防止抖动现象，一般来说分配给进程的物理块数（即驻留集大小）要大于工作集大小。 </a:t>
            </a:r>
            <a:endParaRPr lang="en-US" altLang="zh-CN" dirty="0">
              <a:solidFill>
                <a:srgbClr val="000000"/>
              </a:solidFill>
            </a:endParaRPr>
          </a:p>
          <a:p>
            <a:pPr lvl="0"/>
            <a:endParaRPr lang="en-US" altLang="zh-CN" dirty="0">
              <a:solidFill>
                <a:srgbClr val="000000"/>
              </a:solidFill>
            </a:endParaRPr>
          </a:p>
          <a:p>
            <a:pPr lvl="0"/>
            <a:r>
              <a:rPr lang="zh-CN" altLang="en-US" dirty="0">
                <a:solidFill>
                  <a:srgbClr val="000000"/>
                </a:solidFill>
              </a:rPr>
              <a:t>       工作集模型的原理是：让操作系统跟踪每个进程的工作集，并为进程分配大于其工作集的物理块。落在工作集内的页面需要调入驻留集中，而落在工作集外的页面可从驻留集中换出。若还有空闲物理块，则可以再调个进程到内存以增加多道程序数。若所有进程的工作集之和超过了可用物理块的总数，操作系统会暂停一个进程，将其页面调出并将其物理块分配给其他进程， 防止出现抖动现象</a:t>
            </a:r>
            <a:endParaRPr lang="zh-CN" altLang="en-US" dirty="0"/>
          </a:p>
        </p:txBody>
      </p:sp>
      <p:sp>
        <p:nvSpPr>
          <p:cNvPr id="7782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buNone/>
            </a:pPr>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幻灯片图像占位符 1"/>
          <p:cNvSpPr>
            <a:spLocks noGrp="1" noRot="1" noChangeAspect="1" noTextEdit="1"/>
          </p:cNvSpPr>
          <p:nvPr>
            <p:ph type="sldImg"/>
          </p:nvPr>
        </p:nvSpPr>
        <p:spPr/>
      </p:sp>
      <p:sp>
        <p:nvSpPr>
          <p:cNvPr id="13315" name="备注占位符 2"/>
          <p:cNvSpPr>
            <a:spLocks noGrp="1"/>
          </p:cNvSpPr>
          <p:nvPr>
            <p:ph type="body" idx="1"/>
          </p:nvPr>
        </p:nvSpPr>
        <p:spPr/>
        <p:txBody>
          <a:bodyPr wrap="square" lIns="91440" tIns="45720" rIns="91440" bIns="45720" anchor="t" anchorCtr="0"/>
          <a:p>
            <a:pPr lvl="0"/>
            <a:endParaRPr lang="zh-CN" altLang="en-US" dirty="0"/>
          </a:p>
        </p:txBody>
      </p:sp>
      <p:sp>
        <p:nvSpPr>
          <p:cNvPr id="1331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2050" name="Picture 7" descr="BJ1245"/>
          <p:cNvPicPr>
            <a:picLocks noChangeAspect="1"/>
          </p:cNvPicPr>
          <p:nvPr userDrawn="1"/>
        </p:nvPicPr>
        <p:blipFill>
          <a:blip r:embed="rId3"/>
          <a:stretch>
            <a:fillRect/>
          </a:stretch>
        </p:blipFill>
        <p:spPr>
          <a:xfrm>
            <a:off x="0" y="0"/>
            <a:ext cx="6675438" cy="533400"/>
          </a:xfrm>
          <a:prstGeom prst="rect">
            <a:avLst/>
          </a:prstGeom>
          <a:noFill/>
          <a:ln w="9525">
            <a:noFill/>
          </a:ln>
        </p:spPr>
      </p:pic>
      <p:pic>
        <p:nvPicPr>
          <p:cNvPr id="2051" name="Picture 8" descr="BJ3009"/>
          <p:cNvPicPr>
            <a:picLocks noChangeAspect="1"/>
          </p:cNvPicPr>
          <p:nvPr userDrawn="1"/>
        </p:nvPicPr>
        <p:blipFill>
          <a:blip r:embed="rId4"/>
          <a:stretch>
            <a:fillRect/>
          </a:stretch>
        </p:blipFill>
        <p:spPr>
          <a:xfrm>
            <a:off x="7162800" y="5365750"/>
            <a:ext cx="1981200" cy="1485900"/>
          </a:xfrm>
          <a:prstGeom prst="rect">
            <a:avLst/>
          </a:prstGeom>
          <a:noFill/>
          <a:ln w="9525">
            <a:noFill/>
          </a:ln>
        </p:spPr>
      </p:pic>
      <p:sp>
        <p:nvSpPr>
          <p:cNvPr id="4" name="Text Box 9"/>
          <p:cNvSpPr txBox="1">
            <a:spLocks noChangeArrowheads="1"/>
          </p:cNvSpPr>
          <p:nvPr/>
        </p:nvSpPr>
        <p:spPr bwMode="auto">
          <a:xfrm>
            <a:off x="1524000" y="85725"/>
            <a:ext cx="2457450" cy="396875"/>
          </a:xfrm>
          <a:prstGeom prst="rect">
            <a:avLst/>
          </a:prstGeom>
          <a:noFill/>
          <a:ln>
            <a:noFill/>
          </a:ln>
        </p:spPr>
        <p:txBody>
          <a:bodyPr wrap="non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1"/>
                </a:solidFill>
                <a:effectLst/>
                <a:uLnTx/>
                <a:uFillTx/>
                <a:latin typeface="华文行楷" panose="02010800040101010101" pitchFamily="2" charset="-122"/>
                <a:ea typeface="华文行楷" panose="02010800040101010101" pitchFamily="2" charset="-122"/>
                <a:cs typeface="+mn-cs"/>
              </a:rPr>
              <a:t>第二章 进  程  管  理 </a:t>
            </a:r>
            <a:endParaRPr kumimoji="1" lang="zh-CN" altLang="en-US" sz="2000" b="0" i="0" u="none" strike="noStrike" kern="1200" cap="none" spc="0" normalizeH="0" baseline="0" noProof="0">
              <a:ln>
                <a:noFill/>
              </a:ln>
              <a:solidFill>
                <a:schemeClr val="tx1"/>
              </a:solidFill>
              <a:effectLst/>
              <a:uLnTx/>
              <a:uFillTx/>
              <a:latin typeface="华文行楷" panose="02010800040101010101" pitchFamily="2" charset="-122"/>
              <a:ea typeface="华文行楷" panose="02010800040101010101" pitchFamily="2" charset="-122"/>
              <a:cs typeface="+mn-cs"/>
            </a:endParaRPr>
          </a:p>
        </p:txBody>
      </p:sp>
      <p:sp>
        <p:nvSpPr>
          <p:cNvPr id="359426" name="Rectangle 2"/>
          <p:cNvSpPr>
            <a:spLocks noGrp="1" noRot="1" noChangeArrowheads="1"/>
          </p:cNvSpPr>
          <p:nvPr>
            <p:ph type="ctrTitle"/>
          </p:nvPr>
        </p:nvSpPr>
        <p:spPr>
          <a:xfrm>
            <a:off x="3962400" y="1066800"/>
            <a:ext cx="4648200" cy="1981200"/>
          </a:xfrm>
        </p:spPr>
        <p:txBody>
          <a:bodyPr/>
          <a:lstStyle>
            <a:lvl1pPr>
              <a:defRPr/>
            </a:lvl1pPr>
          </a:lstStyle>
          <a:p>
            <a:r>
              <a:rPr lang="zh-CN" altLang="en-US"/>
              <a:t>单击此处编辑母版标题样式</a:t>
            </a:r>
            <a:endParaRPr lang="zh-CN" altLang="en-US"/>
          </a:p>
        </p:txBody>
      </p:sp>
      <p:sp>
        <p:nvSpPr>
          <p:cNvPr id="359427" name="Rectangle 3"/>
          <p:cNvSpPr>
            <a:spLocks noGrp="1" noRot="1" noChangeArrowheads="1"/>
          </p:cNvSpPr>
          <p:nvPr>
            <p:ph type="subTitle" idx="1"/>
          </p:nvPr>
        </p:nvSpPr>
        <p:spPr>
          <a:xfrm>
            <a:off x="3962400" y="3657600"/>
            <a:ext cx="4572000" cy="16764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5" name="Rectangle 4"/>
          <p:cNvSpPr>
            <a:spLocks noGrp="1" noChangeArrowheads="1"/>
          </p:cNvSpPr>
          <p:nvPr>
            <p:ph type="dt" sz="half" idx="2"/>
          </p:nvPr>
        </p:nvSpPr>
        <p:spPr bwMode="auto">
          <a:xfrm>
            <a:off x="301625" y="6076950"/>
            <a:ext cx="2289175"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Rectangle 5"/>
          <p:cNvSpPr>
            <a:spLocks noGrp="1" noChangeArrowheads="1"/>
          </p:cNvSpPr>
          <p:nvPr>
            <p:ph type="ftr" sz="quarter" idx="3"/>
          </p:nvPr>
        </p:nvSpPr>
        <p:spPr bwMode="auto">
          <a:xfrm>
            <a:off x="3124200" y="6076950"/>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Rectangle 6"/>
          <p:cNvSpPr>
            <a:spLocks noGrp="1" noChangeArrowheads="1"/>
          </p:cNvSpPr>
          <p:nvPr>
            <p:ph type="sldNum" sz="quarter" idx="4"/>
          </p:nvPr>
        </p:nvSpPr>
        <p:spPr bwMode="auto">
          <a:xfrm>
            <a:off x="6553200" y="6076950"/>
            <a:ext cx="2289175" cy="476250"/>
          </a:xfrm>
          <a:prstGeom prst="rect">
            <a:avLst/>
          </a:prstGeom>
          <a:ln>
            <a:miter lim="800000"/>
          </a:ln>
        </p:spPr>
        <p:txBody>
          <a:bodyPr vert="horz" wrap="square" lIns="91440" tIns="45720" rIns="91440" bIns="45720" numCol="1" anchor="t" anchorCtr="0" compatLnSpc="1"/>
          <a:lstStyle/>
          <a:p>
            <a:pPr algn="r" eaLnBrk="1" hangingPunct="1">
              <a:buNone/>
            </a:pPr>
            <a:fld id="{9A0DB2DC-4C9A-4742-B13C-FB6460FD3503}" type="slidenum">
              <a:rPr lang="en-US" altLang="zh-CN" dirty="0"/>
            </a:fld>
            <a:endParaRPr lang="en-US" altLang="zh-CN" dirty="0"/>
          </a:p>
        </p:txBody>
      </p:sp>
    </p:spTree>
  </p:cSld>
  <p:clrMapOvr>
    <a:masterClrMapping/>
  </p:clrMapOvr>
  <p:transition>
    <p:blinds/>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04800" y="1981200"/>
            <a:ext cx="4194175"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51375" y="1981200"/>
            <a:ext cx="4194175"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10363" y="685800"/>
            <a:ext cx="2135187" cy="51816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301625" y="685800"/>
            <a:ext cx="6256338" cy="51816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01625" y="685800"/>
            <a:ext cx="8543925" cy="5181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685800"/>
            <a:ext cx="854075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304800" y="1981200"/>
            <a:ext cx="4194175"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51375" y="1981200"/>
            <a:ext cx="4194175"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2050" name="Picture 7" descr="BJ1245"/>
          <p:cNvPicPr>
            <a:picLocks noChangeAspect="1"/>
          </p:cNvPicPr>
          <p:nvPr userDrawn="1"/>
        </p:nvPicPr>
        <p:blipFill>
          <a:blip r:embed="rId3"/>
          <a:stretch>
            <a:fillRect/>
          </a:stretch>
        </p:blipFill>
        <p:spPr>
          <a:xfrm>
            <a:off x="0" y="0"/>
            <a:ext cx="6675438" cy="533400"/>
          </a:xfrm>
          <a:prstGeom prst="rect">
            <a:avLst/>
          </a:prstGeom>
          <a:noFill/>
          <a:ln w="9525">
            <a:noFill/>
          </a:ln>
        </p:spPr>
      </p:pic>
      <p:pic>
        <p:nvPicPr>
          <p:cNvPr id="2051" name="Picture 8" descr="BJ3009"/>
          <p:cNvPicPr>
            <a:picLocks noChangeAspect="1"/>
          </p:cNvPicPr>
          <p:nvPr userDrawn="1"/>
        </p:nvPicPr>
        <p:blipFill>
          <a:blip r:embed="rId4"/>
          <a:stretch>
            <a:fillRect/>
          </a:stretch>
        </p:blipFill>
        <p:spPr>
          <a:xfrm>
            <a:off x="7162800" y="5365750"/>
            <a:ext cx="1981200" cy="1485900"/>
          </a:xfrm>
          <a:prstGeom prst="rect">
            <a:avLst/>
          </a:prstGeom>
          <a:noFill/>
          <a:ln w="9525">
            <a:noFill/>
          </a:ln>
        </p:spPr>
      </p:pic>
      <p:sp>
        <p:nvSpPr>
          <p:cNvPr id="4" name="Text Box 9"/>
          <p:cNvSpPr txBox="1">
            <a:spLocks noChangeArrowheads="1"/>
          </p:cNvSpPr>
          <p:nvPr/>
        </p:nvSpPr>
        <p:spPr bwMode="auto">
          <a:xfrm>
            <a:off x="1524000" y="85725"/>
            <a:ext cx="2457450" cy="396875"/>
          </a:xfrm>
          <a:prstGeom prst="rect">
            <a:avLst/>
          </a:prstGeom>
          <a:noFill/>
          <a:ln>
            <a:noFill/>
          </a:ln>
        </p:spPr>
        <p:txBody>
          <a:bodyPr wrap="none">
            <a:spAutoFit/>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000" b="0" i="0" u="none" strike="noStrike" kern="1200" cap="none" spc="0" normalizeH="0" baseline="0" noProof="0">
                <a:ln>
                  <a:noFill/>
                </a:ln>
                <a:solidFill>
                  <a:schemeClr val="tx1"/>
                </a:solidFill>
                <a:effectLst/>
                <a:uLnTx/>
                <a:uFillTx/>
                <a:latin typeface="华文行楷" panose="02010800040101010101" pitchFamily="2" charset="-122"/>
                <a:ea typeface="华文行楷" panose="02010800040101010101" pitchFamily="2" charset="-122"/>
                <a:cs typeface="+mn-cs"/>
              </a:rPr>
              <a:t>第二章 进  程  管  理 </a:t>
            </a:r>
            <a:endParaRPr kumimoji="1" lang="zh-CN" altLang="en-US" sz="2000" b="0" i="0" u="none" strike="noStrike" kern="1200" cap="none" spc="0" normalizeH="0" baseline="0" noProof="0">
              <a:ln>
                <a:noFill/>
              </a:ln>
              <a:solidFill>
                <a:schemeClr val="tx1"/>
              </a:solidFill>
              <a:effectLst/>
              <a:uLnTx/>
              <a:uFillTx/>
              <a:latin typeface="华文行楷" panose="02010800040101010101" pitchFamily="2" charset="-122"/>
              <a:ea typeface="华文行楷" panose="02010800040101010101" pitchFamily="2" charset="-122"/>
              <a:cs typeface="+mn-cs"/>
            </a:endParaRPr>
          </a:p>
        </p:txBody>
      </p:sp>
      <p:sp>
        <p:nvSpPr>
          <p:cNvPr id="359426" name="Rectangle 2"/>
          <p:cNvSpPr>
            <a:spLocks noGrp="1" noRot="1" noChangeArrowheads="1"/>
          </p:cNvSpPr>
          <p:nvPr>
            <p:ph type="ctrTitle"/>
          </p:nvPr>
        </p:nvSpPr>
        <p:spPr>
          <a:xfrm>
            <a:off x="3962400" y="1066800"/>
            <a:ext cx="4648200" cy="1981200"/>
          </a:xfrm>
        </p:spPr>
        <p:txBody>
          <a:bodyPr/>
          <a:lstStyle>
            <a:lvl1pPr>
              <a:defRPr/>
            </a:lvl1pPr>
          </a:lstStyle>
          <a:p>
            <a:r>
              <a:rPr lang="zh-CN" altLang="en-US"/>
              <a:t>单击此处编辑母版标题样式</a:t>
            </a:r>
            <a:endParaRPr lang="zh-CN" altLang="en-US"/>
          </a:p>
        </p:txBody>
      </p:sp>
      <p:sp>
        <p:nvSpPr>
          <p:cNvPr id="359427" name="Rectangle 3"/>
          <p:cNvSpPr>
            <a:spLocks noGrp="1" noRot="1" noChangeArrowheads="1"/>
          </p:cNvSpPr>
          <p:nvPr>
            <p:ph type="subTitle" idx="1"/>
          </p:nvPr>
        </p:nvSpPr>
        <p:spPr>
          <a:xfrm>
            <a:off x="3962400" y="3657600"/>
            <a:ext cx="4572000" cy="16764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5" name="Rectangle 4"/>
          <p:cNvSpPr>
            <a:spLocks noGrp="1" noChangeArrowheads="1"/>
          </p:cNvSpPr>
          <p:nvPr>
            <p:ph type="dt" sz="half" idx="2"/>
          </p:nvPr>
        </p:nvSpPr>
        <p:spPr bwMode="auto">
          <a:xfrm>
            <a:off x="301625" y="6076950"/>
            <a:ext cx="2289175"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Rectangle 5"/>
          <p:cNvSpPr>
            <a:spLocks noGrp="1" noChangeArrowheads="1"/>
          </p:cNvSpPr>
          <p:nvPr>
            <p:ph type="ftr" sz="quarter" idx="3"/>
          </p:nvPr>
        </p:nvSpPr>
        <p:spPr bwMode="auto">
          <a:xfrm>
            <a:off x="3124200" y="6076950"/>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Rectangle 6"/>
          <p:cNvSpPr>
            <a:spLocks noGrp="1" noChangeArrowheads="1"/>
          </p:cNvSpPr>
          <p:nvPr>
            <p:ph type="sldNum" sz="quarter" idx="4"/>
          </p:nvPr>
        </p:nvSpPr>
        <p:spPr bwMode="auto">
          <a:xfrm>
            <a:off x="6553200" y="6076950"/>
            <a:ext cx="2289175" cy="476250"/>
          </a:xfrm>
          <a:prstGeom prst="rect">
            <a:avLst/>
          </a:prstGeom>
          <a:ln>
            <a:miter lim="800000"/>
          </a:ln>
        </p:spPr>
        <p:txBody>
          <a:bodyPr vert="horz" wrap="square" lIns="91440" tIns="45720" rIns="91440" bIns="45720" numCol="1" anchor="t" anchorCtr="0" compatLnSpc="1"/>
          <a:lstStyle/>
          <a:p>
            <a:pPr algn="r" eaLnBrk="1" hangingPunct="1">
              <a:buNone/>
            </a:pPr>
            <a:fld id="{9A0DB2DC-4C9A-4742-B13C-FB6460FD3503}" type="slidenum">
              <a:rPr lang="en-US" altLang="zh-CN" dirty="0"/>
            </a:fld>
            <a:endParaRPr lang="en-US" altLang="zh-CN" dirty="0"/>
          </a:p>
        </p:txBody>
      </p:sp>
    </p:spTree>
  </p:cSld>
  <p:clrMapOvr>
    <a:masterClrMapping/>
  </p:clrMapOvr>
  <p:transition>
    <p:blinds/>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04800" y="1981200"/>
            <a:ext cx="4194175"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51375" y="1981200"/>
            <a:ext cx="4194175"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10363" y="685800"/>
            <a:ext cx="2135187" cy="51816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301625" y="685800"/>
            <a:ext cx="6256338" cy="51816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01625" y="685800"/>
            <a:ext cx="8543925" cy="5181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685800"/>
            <a:ext cx="854075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304800" y="1981200"/>
            <a:ext cx="4194175"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51375" y="1981200"/>
            <a:ext cx="4194175"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spTree>
  </p:cSld>
  <p:clrMapOvr>
    <a:masterClrMapping/>
  </p:clrMapOvr>
  <p:transition>
    <p:blinds/>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jpeg"/><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6" Type="http://schemas.openxmlformats.org/officeDocument/2006/relationships/theme" Target="../theme/theme2.xml"/><Relationship Id="rId15" Type="http://schemas.openxmlformats.org/officeDocument/2006/relationships/image" Target="../media/image3.jpeg"/><Relationship Id="rId14" Type="http://schemas.openxmlformats.org/officeDocument/2006/relationships/image" Target="../media/image1.jpeg"/><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026" name="Rectangle 2"/>
          <p:cNvSpPr>
            <a:spLocks noGrp="1" noRot="1"/>
          </p:cNvSpPr>
          <p:nvPr>
            <p:ph type="title"/>
          </p:nvPr>
        </p:nvSpPr>
        <p:spPr>
          <a:xfrm>
            <a:off x="301625" y="685800"/>
            <a:ext cx="8540750" cy="11430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27" name="Rectangle 3"/>
          <p:cNvSpPr>
            <a:spLocks noGrp="1" noRot="1"/>
          </p:cNvSpPr>
          <p:nvPr>
            <p:ph type="body" idx="1"/>
          </p:nvPr>
        </p:nvSpPr>
        <p:spPr>
          <a:xfrm>
            <a:off x="304800" y="1981200"/>
            <a:ext cx="8540750" cy="38862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58404" name="Rectangle 4"/>
          <p:cNvSpPr>
            <a:spLocks noGrp="1" noChangeArrowheads="1"/>
          </p:cNvSpPr>
          <p:nvPr>
            <p:ph type="dt" sz="half" idx="2"/>
          </p:nvPr>
        </p:nvSpPr>
        <p:spPr bwMode="auto">
          <a:xfrm>
            <a:off x="301625" y="6019800"/>
            <a:ext cx="2289175"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8405" name="Rectangle 5"/>
          <p:cNvSpPr>
            <a:spLocks noGrp="1" noChangeArrowheads="1"/>
          </p:cNvSpPr>
          <p:nvPr>
            <p:ph type="ftr" sz="quarter" idx="3"/>
          </p:nvPr>
        </p:nvSpPr>
        <p:spPr bwMode="auto">
          <a:xfrm>
            <a:off x="3124200" y="6019800"/>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8406" name="Rectangle 6"/>
          <p:cNvSpPr>
            <a:spLocks noGrp="1" noChangeArrowheads="1"/>
          </p:cNvSpPr>
          <p:nvPr>
            <p:ph type="sldNum" sz="quarter" idx="4"/>
          </p:nvPr>
        </p:nvSpPr>
        <p:spPr bwMode="auto">
          <a:xfrm>
            <a:off x="6553200" y="6019800"/>
            <a:ext cx="2289175" cy="47625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pic>
        <p:nvPicPr>
          <p:cNvPr id="1031" name="Picture 8" descr="BJ3009"/>
          <p:cNvPicPr>
            <a:picLocks noChangeAspect="1"/>
          </p:cNvPicPr>
          <p:nvPr userDrawn="1"/>
        </p:nvPicPr>
        <p:blipFill>
          <a:blip r:embed="rId15"/>
          <a:stretch>
            <a:fillRect/>
          </a:stretch>
        </p:blipFill>
        <p:spPr>
          <a:xfrm>
            <a:off x="7162800" y="5365750"/>
            <a:ext cx="1981200" cy="14859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blinds/>
  </p:transition>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026" name="Rectangle 2"/>
          <p:cNvSpPr>
            <a:spLocks noGrp="1" noRot="1"/>
          </p:cNvSpPr>
          <p:nvPr>
            <p:ph type="title"/>
          </p:nvPr>
        </p:nvSpPr>
        <p:spPr>
          <a:xfrm>
            <a:off x="301625" y="685800"/>
            <a:ext cx="8540750" cy="11430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27" name="Rectangle 3"/>
          <p:cNvSpPr>
            <a:spLocks noGrp="1" noRot="1"/>
          </p:cNvSpPr>
          <p:nvPr>
            <p:ph type="body" idx="1"/>
          </p:nvPr>
        </p:nvSpPr>
        <p:spPr>
          <a:xfrm>
            <a:off x="304800" y="1981200"/>
            <a:ext cx="8540750" cy="38862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58404" name="Rectangle 4"/>
          <p:cNvSpPr>
            <a:spLocks noGrp="1" noChangeArrowheads="1"/>
          </p:cNvSpPr>
          <p:nvPr>
            <p:ph type="dt" sz="half" idx="2"/>
          </p:nvPr>
        </p:nvSpPr>
        <p:spPr bwMode="auto">
          <a:xfrm>
            <a:off x="301625" y="6019800"/>
            <a:ext cx="2289175"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8405" name="Rectangle 5"/>
          <p:cNvSpPr>
            <a:spLocks noGrp="1" noChangeArrowheads="1"/>
          </p:cNvSpPr>
          <p:nvPr>
            <p:ph type="ftr" sz="quarter" idx="3"/>
          </p:nvPr>
        </p:nvSpPr>
        <p:spPr bwMode="auto">
          <a:xfrm>
            <a:off x="3124200" y="6019800"/>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8406" name="Rectangle 6"/>
          <p:cNvSpPr>
            <a:spLocks noGrp="1" noChangeArrowheads="1"/>
          </p:cNvSpPr>
          <p:nvPr>
            <p:ph type="sldNum" sz="quarter" idx="4"/>
          </p:nvPr>
        </p:nvSpPr>
        <p:spPr bwMode="auto">
          <a:xfrm>
            <a:off x="6553200" y="6019800"/>
            <a:ext cx="2289175" cy="47625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lvl="0" eaLnBrk="1" hangingPunct="1">
              <a:buNone/>
            </a:pPr>
            <a:fld id="{9A0DB2DC-4C9A-4742-B13C-FB6460FD3503}" type="slidenum">
              <a:rPr lang="en-US" altLang="zh-CN" dirty="0">
                <a:latin typeface="Arial" panose="020B0604020202020204" pitchFamily="34" charset="0"/>
              </a:rPr>
            </a:fld>
            <a:endParaRPr lang="en-US" altLang="zh-CN" dirty="0">
              <a:latin typeface="Arial" panose="020B0604020202020204" pitchFamily="34" charset="0"/>
            </a:endParaRPr>
          </a:p>
        </p:txBody>
      </p:sp>
      <p:pic>
        <p:nvPicPr>
          <p:cNvPr id="1031" name="Picture 8" descr="BJ3009"/>
          <p:cNvPicPr>
            <a:picLocks noChangeAspect="1"/>
          </p:cNvPicPr>
          <p:nvPr userDrawn="1"/>
        </p:nvPicPr>
        <p:blipFill>
          <a:blip r:embed="rId15"/>
          <a:stretch>
            <a:fillRect/>
          </a:stretch>
        </p:blipFill>
        <p:spPr>
          <a:xfrm>
            <a:off x="7162800" y="5365750"/>
            <a:ext cx="1981200" cy="14859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ransition>
    <p:blinds/>
  </p:transition>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2.xml"/><Relationship Id="rId1" Type="http://schemas.openxmlformats.org/officeDocument/2006/relationships/slide" Target="slide4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5.w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6.wmf"/><Relationship Id="rId1"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image" Target="../media/image8.wmf"/><Relationship Id="rId3" Type="http://schemas.openxmlformats.org/officeDocument/2006/relationships/oleObject" Target="../embeddings/oleObject4.bin"/><Relationship Id="rId2" Type="http://schemas.openxmlformats.org/officeDocument/2006/relationships/image" Target="../media/image7.wmf"/><Relationship Id="rId1" Type="http://schemas.openxmlformats.org/officeDocument/2006/relationships/oleObject" Target="../embeddings/oleObject3.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9.wmf"/><Relationship Id="rId1" Type="http://schemas.openxmlformats.org/officeDocument/2006/relationships/oleObject" Target="../embeddings/oleObject5.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10.wmf"/><Relationship Id="rId1" Type="http://schemas.openxmlformats.org/officeDocument/2006/relationships/oleObject" Target="../embeddings/oleObject6.bin"/></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1.wmf"/><Relationship Id="rId1" Type="http://schemas.openxmlformats.org/officeDocument/2006/relationships/oleObject" Target="../embeddings/oleObject7.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2.wmf"/><Relationship Id="rId1" Type="http://schemas.openxmlformats.org/officeDocument/2006/relationships/oleObject" Target="../embeddings/oleObject8.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7" Type="http://schemas.openxmlformats.org/officeDocument/2006/relationships/vmlDrawing" Target="../drawings/vmlDrawing8.vml"/><Relationship Id="rId6" Type="http://schemas.openxmlformats.org/officeDocument/2006/relationships/slideLayout" Target="../slideLayouts/slideLayout7.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2.wmf"/><Relationship Id="rId1" Type="http://schemas.openxmlformats.org/officeDocument/2006/relationships/oleObject" Target="../embeddings/oleObject9.bin"/></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14.wmf"/><Relationship Id="rId1" Type="http://schemas.openxmlformats.org/officeDocument/2006/relationships/oleObject" Target="../embeddings/oleObject10.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9" Type="http://schemas.openxmlformats.org/officeDocument/2006/relationships/notesSlide" Target="../notesSlides/notesSlide11.xml"/><Relationship Id="rId28" Type="http://schemas.openxmlformats.org/officeDocument/2006/relationships/slideLayout" Target="../slideLayouts/slideLayout2.xml"/><Relationship Id="rId27" Type="http://schemas.openxmlformats.org/officeDocument/2006/relationships/tags" Target="../tags/tag30.xml"/><Relationship Id="rId26" Type="http://schemas.openxmlformats.org/officeDocument/2006/relationships/tags" Target="../tags/tag29.xml"/><Relationship Id="rId25" Type="http://schemas.openxmlformats.org/officeDocument/2006/relationships/tags" Target="../tags/tag28.xml"/><Relationship Id="rId24" Type="http://schemas.openxmlformats.org/officeDocument/2006/relationships/tags" Target="../tags/tag27.xml"/><Relationship Id="rId23" Type="http://schemas.openxmlformats.org/officeDocument/2006/relationships/tags" Target="../tags/tag26.xml"/><Relationship Id="rId22" Type="http://schemas.openxmlformats.org/officeDocument/2006/relationships/tags" Target="../tags/tag25.xml"/><Relationship Id="rId21" Type="http://schemas.openxmlformats.org/officeDocument/2006/relationships/tags" Target="../tags/tag24.xml"/><Relationship Id="rId20" Type="http://schemas.openxmlformats.org/officeDocument/2006/relationships/tags" Target="../tags/tag23.xml"/><Relationship Id="rId2" Type="http://schemas.openxmlformats.org/officeDocument/2006/relationships/tags" Target="../tags/tag5.xml"/><Relationship Id="rId19" Type="http://schemas.openxmlformats.org/officeDocument/2006/relationships/tags" Target="../tags/tag22.xml"/><Relationship Id="rId18" Type="http://schemas.openxmlformats.org/officeDocument/2006/relationships/tags" Target="../tags/tag21.xml"/><Relationship Id="rId17" Type="http://schemas.openxmlformats.org/officeDocument/2006/relationships/tags" Target="../tags/tag20.xml"/><Relationship Id="rId16" Type="http://schemas.openxmlformats.org/officeDocument/2006/relationships/tags" Target="../tags/tag19.xml"/><Relationship Id="rId15" Type="http://schemas.openxmlformats.org/officeDocument/2006/relationships/tags" Target="../tags/tag18.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tags" Target="../tags/tag4.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11.bin"/></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vmlDrawing" Target="../drawings/vmlDrawing11.vml"/><Relationship Id="rId3" Type="http://schemas.openxmlformats.org/officeDocument/2006/relationships/slideLayout" Target="../slideLayouts/slideLayout15.xml"/><Relationship Id="rId2" Type="http://schemas.openxmlformats.org/officeDocument/2006/relationships/image" Target="../media/image6.wmf"/><Relationship Id="rId1" Type="http://schemas.openxmlformats.org/officeDocument/2006/relationships/oleObject" Target="../embeddings/oleObject12.bin"/></Relationships>
</file>

<file path=ppt/slides/_rels/slide4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13.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7.xml"/><Relationship Id="rId2" Type="http://schemas.openxmlformats.org/officeDocument/2006/relationships/image" Target="../media/image17.wmf"/><Relationship Id="rId1" Type="http://schemas.openxmlformats.org/officeDocument/2006/relationships/oleObject" Target="../embeddings/oleObject14.bin"/></Relationships>
</file>

<file path=ppt/slides/_rels/slide61.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7.xml"/><Relationship Id="rId2" Type="http://schemas.openxmlformats.org/officeDocument/2006/relationships/image" Target="../media/image18.wmf"/><Relationship Id="rId1" Type="http://schemas.openxmlformats.org/officeDocument/2006/relationships/oleObject" Target="../embeddings/oleObject15.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5" Type="http://schemas.openxmlformats.org/officeDocument/2006/relationships/vmlDrawing" Target="../drawings/vmlDrawing15.vml"/><Relationship Id="rId4" Type="http://schemas.openxmlformats.org/officeDocument/2006/relationships/slideLayout" Target="../slideLayouts/slideLayout7.xml"/><Relationship Id="rId3" Type="http://schemas.openxmlformats.org/officeDocument/2006/relationships/tags" Target="../tags/tag33.xml"/><Relationship Id="rId2" Type="http://schemas.openxmlformats.org/officeDocument/2006/relationships/image" Target="../media/image19.wmf"/><Relationship Id="rId1" Type="http://schemas.openxmlformats.org/officeDocument/2006/relationships/oleObject" Target="../embeddings/oleObject16.bin"/></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jpeg"/><Relationship Id="rId1" Type="http://schemas.openxmlformats.org/officeDocument/2006/relationships/tags" Target="../tags/tag3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2.xml"/><Relationship Id="rId2" Type="http://schemas.openxmlformats.org/officeDocument/2006/relationships/image" Target="../media/image21.wmf"/><Relationship Id="rId1" Type="http://schemas.openxmlformats.org/officeDocument/2006/relationships/oleObject" Target="../embeddings/oleObject1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4"/>
          <p:cNvSpPr txBox="1"/>
          <p:nvPr/>
        </p:nvSpPr>
        <p:spPr>
          <a:xfrm>
            <a:off x="2303463" y="728663"/>
            <a:ext cx="4179887"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3600" b="1" dirty="0">
                <a:solidFill>
                  <a:srgbClr val="006600"/>
                </a:solidFill>
                <a:latin typeface="华文新魏" panose="02010800040101010101" pitchFamily="2" charset="-122"/>
                <a:ea typeface="华文新魏" panose="02010800040101010101" pitchFamily="2" charset="-122"/>
              </a:rPr>
              <a:t>第五章  虚拟存储器 </a:t>
            </a:r>
            <a:endParaRPr lang="zh-CN" altLang="en-US" sz="3600" b="1" dirty="0">
              <a:solidFill>
                <a:srgbClr val="006600"/>
              </a:solidFill>
              <a:latin typeface="华文新魏" panose="02010800040101010101" pitchFamily="2" charset="-122"/>
              <a:ea typeface="华文新魏" panose="02010800040101010101" pitchFamily="2" charset="-122"/>
            </a:endParaRPr>
          </a:p>
        </p:txBody>
      </p:sp>
      <p:sp>
        <p:nvSpPr>
          <p:cNvPr id="4099" name="Text Box 5"/>
          <p:cNvSpPr txBox="1"/>
          <p:nvPr/>
        </p:nvSpPr>
        <p:spPr>
          <a:xfrm>
            <a:off x="935038" y="1916113"/>
            <a:ext cx="7200900" cy="34258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30000"/>
              </a:lnSpc>
              <a:spcBef>
                <a:spcPct val="0"/>
              </a:spcBef>
              <a:buClrTx/>
              <a:buSzTx/>
              <a:buFontTx/>
              <a:buNone/>
            </a:pPr>
            <a:r>
              <a:rPr lang="en-US" altLang="zh-CN" sz="2800" b="1" dirty="0">
                <a:latin typeface="楷体" panose="02010609060101010101" pitchFamily="49" charset="-122"/>
                <a:ea typeface="楷体" panose="02010609060101010101" pitchFamily="49" charset="-122"/>
              </a:rPr>
              <a:t>5.1 </a:t>
            </a:r>
            <a:r>
              <a:rPr lang="zh-CN" altLang="en-US" sz="2800" b="1" dirty="0">
                <a:latin typeface="楷体" panose="02010609060101010101" pitchFamily="49" charset="-122"/>
                <a:ea typeface="楷体" panose="02010609060101010101" pitchFamily="49" charset="-122"/>
              </a:rPr>
              <a:t>虚拟存储器概述</a:t>
            </a:r>
            <a:r>
              <a:rPr lang="zh-CN" altLang="en-US" sz="2800" b="1" dirty="0"/>
              <a:t>（重点概念）</a:t>
            </a:r>
            <a:r>
              <a:rPr lang="zh-CN" altLang="en-US" sz="2800" b="1" dirty="0">
                <a:hlinkClick r:id="rId1" action="ppaction://hlinksldjump"/>
              </a:rPr>
              <a:t> </a:t>
            </a:r>
            <a:endParaRPr lang="zh-CN" altLang="en-US" sz="2800" b="1" dirty="0">
              <a:latin typeface="楷体" panose="02010609060101010101" pitchFamily="49" charset="-122"/>
              <a:ea typeface="楷体" panose="02010609060101010101" pitchFamily="49" charset="-122"/>
            </a:endParaRPr>
          </a:p>
          <a:p>
            <a:pPr marL="0" lvl="0" indent="0" eaLnBrk="1" hangingPunct="1">
              <a:lnSpc>
                <a:spcPct val="130000"/>
              </a:lnSpc>
              <a:spcBef>
                <a:spcPct val="0"/>
              </a:spcBef>
              <a:buClrTx/>
              <a:buSzTx/>
              <a:buFontTx/>
              <a:buNone/>
            </a:pPr>
            <a:r>
              <a:rPr lang="en-US" altLang="zh-CN" sz="2800" b="1" dirty="0">
                <a:solidFill>
                  <a:srgbClr val="CC3300"/>
                </a:solidFill>
                <a:latin typeface="楷体" panose="02010609060101010101" pitchFamily="49" charset="-122"/>
                <a:ea typeface="楷体" panose="02010609060101010101" pitchFamily="49" charset="-122"/>
              </a:rPr>
              <a:t>5.2 </a:t>
            </a:r>
            <a:r>
              <a:rPr lang="zh-CN" altLang="en-US" sz="2800" b="1" dirty="0">
                <a:solidFill>
                  <a:srgbClr val="CC3300"/>
                </a:solidFill>
                <a:latin typeface="楷体" panose="02010609060101010101" pitchFamily="49" charset="-122"/>
                <a:ea typeface="楷体" panose="02010609060101010101" pitchFamily="49" charset="-122"/>
              </a:rPr>
              <a:t>请求分页存储管理方式</a:t>
            </a:r>
            <a:r>
              <a:rPr lang="zh-CN" altLang="en-US" sz="2800" b="1" dirty="0">
                <a:solidFill>
                  <a:srgbClr val="CC3300"/>
                </a:solidFill>
              </a:rPr>
              <a:t>（重点掌握）</a:t>
            </a:r>
            <a:r>
              <a:rPr lang="zh-CN" altLang="en-US" sz="2800" b="1" dirty="0">
                <a:solidFill>
                  <a:srgbClr val="003300"/>
                </a:solidFill>
                <a:latin typeface="楷体" panose="02010609060101010101" pitchFamily="49" charset="-122"/>
                <a:ea typeface="楷体" panose="02010609060101010101" pitchFamily="49" charset="-122"/>
                <a:hlinkClick r:id="rId2" action="ppaction://hlinksldjump"/>
              </a:rPr>
              <a:t> </a:t>
            </a:r>
            <a:endParaRPr lang="zh-CN" altLang="en-US" sz="2800" b="1" dirty="0">
              <a:solidFill>
                <a:srgbClr val="003300"/>
              </a:solidFill>
              <a:latin typeface="楷体" panose="02010609060101010101" pitchFamily="49" charset="-122"/>
              <a:ea typeface="楷体" panose="02010609060101010101" pitchFamily="49" charset="-122"/>
            </a:endParaRPr>
          </a:p>
          <a:p>
            <a:pPr marL="0" lvl="0" indent="0" eaLnBrk="1" hangingPunct="1">
              <a:lnSpc>
                <a:spcPct val="130000"/>
              </a:lnSpc>
              <a:spcBef>
                <a:spcPct val="0"/>
              </a:spcBef>
              <a:buClrTx/>
              <a:buSzTx/>
              <a:buFontTx/>
              <a:buNone/>
            </a:pPr>
            <a:r>
              <a:rPr lang="en-US" altLang="zh-CN" sz="2800" b="1" dirty="0">
                <a:solidFill>
                  <a:schemeClr val="hlink"/>
                </a:solidFill>
                <a:latin typeface="楷体" panose="02010609060101010101" pitchFamily="49" charset="-122"/>
                <a:ea typeface="楷体" panose="02010609060101010101" pitchFamily="49" charset="-122"/>
              </a:rPr>
              <a:t>5.3 </a:t>
            </a:r>
            <a:r>
              <a:rPr lang="zh-CN" altLang="en-US" sz="2800" b="1" dirty="0">
                <a:solidFill>
                  <a:schemeClr val="hlink"/>
                </a:solidFill>
                <a:latin typeface="楷体" panose="02010609060101010101" pitchFamily="49" charset="-122"/>
                <a:ea typeface="楷体" panose="02010609060101010101" pitchFamily="49" charset="-122"/>
              </a:rPr>
              <a:t>页面置换算法</a:t>
            </a:r>
            <a:r>
              <a:rPr lang="zh-CN" altLang="en-US" sz="2800" b="1" dirty="0">
                <a:solidFill>
                  <a:schemeClr val="hlink"/>
                </a:solidFill>
              </a:rPr>
              <a:t>（重点掌握）</a:t>
            </a:r>
            <a:r>
              <a:rPr lang="zh-CN" altLang="en-US" sz="2800" b="1" dirty="0">
                <a:solidFill>
                  <a:schemeClr val="hlink"/>
                </a:solidFill>
                <a:hlinkClick r:id="rId1" action="ppaction://hlinksldjump"/>
              </a:rPr>
              <a:t> </a:t>
            </a:r>
            <a:endParaRPr lang="zh-CN" altLang="en-US" sz="2800" b="1" u="sng" dirty="0">
              <a:solidFill>
                <a:schemeClr val="hlink"/>
              </a:solidFill>
              <a:latin typeface="楷体" panose="02010609060101010101" pitchFamily="49" charset="-122"/>
              <a:ea typeface="楷体" panose="02010609060101010101" pitchFamily="49" charset="-122"/>
            </a:endParaRPr>
          </a:p>
          <a:p>
            <a:pPr marL="0" lvl="0" indent="0" eaLnBrk="1" hangingPunct="1">
              <a:lnSpc>
                <a:spcPct val="130000"/>
              </a:lnSpc>
              <a:spcBef>
                <a:spcPct val="0"/>
              </a:spcBef>
              <a:buClrTx/>
              <a:buSzTx/>
              <a:buFontTx/>
              <a:buNone/>
            </a:pPr>
            <a:r>
              <a:rPr lang="en-US" altLang="zh-CN" sz="2800" b="1" dirty="0">
                <a:latin typeface="楷体" panose="02010609060101010101" pitchFamily="49" charset="-122"/>
                <a:ea typeface="楷体" panose="02010609060101010101" pitchFamily="49" charset="-122"/>
              </a:rPr>
              <a:t>5.4 “</a:t>
            </a:r>
            <a:r>
              <a:rPr lang="zh-CN" altLang="en-US" sz="2800" b="1" dirty="0">
                <a:latin typeface="楷体" panose="02010609060101010101" pitchFamily="49" charset="-122"/>
                <a:ea typeface="楷体" panose="02010609060101010101" pitchFamily="49" charset="-122"/>
              </a:rPr>
              <a:t>抖动”与工作集</a:t>
            </a:r>
            <a:r>
              <a:rPr lang="zh-CN" altLang="en-US" sz="2800" b="1" dirty="0"/>
              <a:t>（理解掌握）</a:t>
            </a:r>
            <a:r>
              <a:rPr lang="zh-CN" altLang="en-US" sz="2800" b="1" dirty="0">
                <a:solidFill>
                  <a:srgbClr val="003300"/>
                </a:solidFill>
                <a:latin typeface="楷体" panose="02010609060101010101" pitchFamily="49" charset="-122"/>
                <a:ea typeface="楷体" panose="02010609060101010101" pitchFamily="49" charset="-122"/>
              </a:rPr>
              <a:t> </a:t>
            </a:r>
            <a:endParaRPr lang="zh-CN" altLang="en-US" sz="2800" b="1" dirty="0">
              <a:solidFill>
                <a:srgbClr val="003300"/>
              </a:solidFill>
              <a:latin typeface="楷体" panose="02010609060101010101" pitchFamily="49" charset="-122"/>
              <a:ea typeface="楷体" panose="02010609060101010101" pitchFamily="49" charset="-122"/>
            </a:endParaRPr>
          </a:p>
          <a:p>
            <a:pPr marL="0" lvl="0" indent="0" eaLnBrk="1" hangingPunct="1">
              <a:lnSpc>
                <a:spcPct val="130000"/>
              </a:lnSpc>
              <a:spcBef>
                <a:spcPct val="0"/>
              </a:spcBef>
              <a:buClrTx/>
              <a:buSzTx/>
              <a:buFontTx/>
              <a:buNone/>
            </a:pPr>
            <a:r>
              <a:rPr lang="en-US" altLang="zh-CN" sz="2800" b="1" dirty="0">
                <a:solidFill>
                  <a:srgbClr val="CC3300"/>
                </a:solidFill>
                <a:latin typeface="楷体" panose="02010609060101010101" pitchFamily="49" charset="-122"/>
                <a:ea typeface="楷体" panose="02010609060101010101" pitchFamily="49" charset="-122"/>
              </a:rPr>
              <a:t>5.5 </a:t>
            </a:r>
            <a:r>
              <a:rPr lang="zh-CN" altLang="en-US" sz="2800" b="1" dirty="0">
                <a:solidFill>
                  <a:srgbClr val="CC3300"/>
                </a:solidFill>
                <a:latin typeface="楷体" panose="02010609060101010101" pitchFamily="49" charset="-122"/>
                <a:ea typeface="楷体" panose="02010609060101010101" pitchFamily="49" charset="-122"/>
              </a:rPr>
              <a:t>请求分段存储管理方式</a:t>
            </a:r>
            <a:r>
              <a:rPr lang="zh-CN" altLang="en-US" sz="2800" b="1" dirty="0">
                <a:solidFill>
                  <a:srgbClr val="CC3300"/>
                </a:solidFill>
              </a:rPr>
              <a:t>（重点掌握）</a:t>
            </a:r>
            <a:r>
              <a:rPr lang="zh-CN" altLang="en-US" sz="2800" b="1" dirty="0">
                <a:solidFill>
                  <a:srgbClr val="CC3300"/>
                </a:solidFill>
                <a:latin typeface="楷体" panose="02010609060101010101" pitchFamily="49" charset="-122"/>
                <a:ea typeface="楷体" panose="02010609060101010101" pitchFamily="49" charset="-122"/>
              </a:rPr>
              <a:t> </a:t>
            </a:r>
            <a:endParaRPr lang="zh-CN" altLang="en-US" sz="2800" b="1" dirty="0">
              <a:solidFill>
                <a:srgbClr val="CC3300"/>
              </a:solidFill>
              <a:latin typeface="楷体" panose="02010609060101010101" pitchFamily="49" charset="-122"/>
              <a:ea typeface="楷体" panose="02010609060101010101" pitchFamily="49" charset="-122"/>
            </a:endParaRPr>
          </a:p>
          <a:p>
            <a:pPr marL="0" lvl="0" indent="0" eaLnBrk="1" hangingPunct="1">
              <a:lnSpc>
                <a:spcPct val="130000"/>
              </a:lnSpc>
              <a:spcBef>
                <a:spcPct val="0"/>
              </a:spcBef>
              <a:buClrTx/>
              <a:buSzTx/>
              <a:buFontTx/>
              <a:buNone/>
            </a:pPr>
            <a:endParaRPr lang="en-US" altLang="zh-CN" sz="2800" b="1" dirty="0">
              <a:solidFill>
                <a:srgbClr val="CC3300"/>
              </a:solidFill>
              <a:latin typeface="楷体" panose="02010609060101010101" pitchFamily="49" charset="-122"/>
              <a:ea typeface="楷体" panose="02010609060101010101" pitchFamily="49" charset="-122"/>
            </a:endParaRPr>
          </a:p>
        </p:txBody>
      </p:sp>
    </p:spTree>
  </p:cSld>
  <p:clrMapOvr>
    <a:masterClrMapping/>
  </p:clrMapOvr>
  <p:transition>
    <p:blinds/>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ext Box 2"/>
          <p:cNvSpPr txBox="1"/>
          <p:nvPr/>
        </p:nvSpPr>
        <p:spPr>
          <a:xfrm>
            <a:off x="1908175" y="404813"/>
            <a:ext cx="3751263" cy="5794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b="1" dirty="0">
                <a:solidFill>
                  <a:schemeClr val="hlink"/>
                </a:solidFill>
                <a:latin typeface="Times New Roman" panose="02020603050405020304" pitchFamily="18" charset="0"/>
              </a:rPr>
              <a:t>5.1 </a:t>
            </a:r>
            <a:r>
              <a:rPr lang="zh-CN" altLang="en-US" b="1" dirty="0">
                <a:solidFill>
                  <a:schemeClr val="hlink"/>
                </a:solidFill>
                <a:latin typeface="Times New Roman" panose="02020603050405020304" pitchFamily="18" charset="0"/>
              </a:rPr>
              <a:t>虚拟存储器概述</a:t>
            </a:r>
            <a:r>
              <a:rPr lang="zh-CN" altLang="en-US" b="1" dirty="0">
                <a:latin typeface="Times New Roman" panose="02020603050405020304" pitchFamily="18" charset="0"/>
              </a:rPr>
              <a:t> </a:t>
            </a:r>
            <a:endParaRPr lang="zh-CN" altLang="en-US" b="1" dirty="0">
              <a:latin typeface="Times New Roman" panose="02020603050405020304" pitchFamily="18" charset="0"/>
            </a:endParaRPr>
          </a:p>
        </p:txBody>
      </p:sp>
      <p:sp>
        <p:nvSpPr>
          <p:cNvPr id="5123" name="Text Box 3"/>
          <p:cNvSpPr txBox="1"/>
          <p:nvPr/>
        </p:nvSpPr>
        <p:spPr>
          <a:xfrm>
            <a:off x="576263" y="1125538"/>
            <a:ext cx="3756025"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800" b="1" dirty="0">
                <a:solidFill>
                  <a:srgbClr val="008000"/>
                </a:solidFill>
                <a:latin typeface="Times New Roman" panose="02020603050405020304" pitchFamily="18" charset="0"/>
              </a:rPr>
              <a:t>一、虚拟存储器的引入</a:t>
            </a:r>
            <a:endParaRPr lang="zh-CN" altLang="en-US" sz="2800" b="1" dirty="0">
              <a:solidFill>
                <a:srgbClr val="008000"/>
              </a:solidFill>
              <a:latin typeface="Times New Roman" panose="02020603050405020304" pitchFamily="18" charset="0"/>
            </a:endParaRPr>
          </a:p>
        </p:txBody>
      </p:sp>
      <p:sp>
        <p:nvSpPr>
          <p:cNvPr id="5124" name="Text Box 4"/>
          <p:cNvSpPr txBox="1"/>
          <p:nvPr/>
        </p:nvSpPr>
        <p:spPr>
          <a:xfrm>
            <a:off x="503238" y="1736725"/>
            <a:ext cx="600392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1. </a:t>
            </a:r>
            <a:r>
              <a:rPr lang="zh-CN" altLang="en-US" sz="2400" b="1" dirty="0">
                <a:latin typeface="Times New Roman" panose="02020603050405020304" pitchFamily="18" charset="0"/>
              </a:rPr>
              <a:t>常规存储器管理方式的特征</a:t>
            </a:r>
            <a:r>
              <a:rPr lang="zh-CN" altLang="en-US" sz="2400" b="1" dirty="0">
                <a:solidFill>
                  <a:srgbClr val="000000"/>
                </a:solidFill>
                <a:latin typeface="Times New Roman" panose="02020603050405020304" pitchFamily="18" charset="0"/>
              </a:rPr>
              <a:t>和</a:t>
            </a:r>
            <a:r>
              <a:rPr lang="zh-CN" altLang="en-US" sz="2400" b="1" dirty="0">
                <a:latin typeface="Times New Roman" panose="02020603050405020304" pitchFamily="18" charset="0"/>
              </a:rPr>
              <a:t>局部性原理</a:t>
            </a:r>
            <a:endParaRPr lang="zh-CN" altLang="en-US" sz="2400" b="1" dirty="0">
              <a:latin typeface="Times New Roman" panose="02020603050405020304" pitchFamily="18" charset="0"/>
            </a:endParaRPr>
          </a:p>
        </p:txBody>
      </p:sp>
      <p:sp>
        <p:nvSpPr>
          <p:cNvPr id="16389" name="Text Box 5"/>
          <p:cNvSpPr txBox="1"/>
          <p:nvPr/>
        </p:nvSpPr>
        <p:spPr>
          <a:xfrm>
            <a:off x="431800" y="2349500"/>
            <a:ext cx="7920038" cy="2678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457200" lvl="0" indent="-457200" eaLnBrk="1" hangingPunct="1">
              <a:spcBef>
                <a:spcPct val="0"/>
              </a:spcBef>
              <a:buClr>
                <a:srgbClr val="990000"/>
              </a:buClr>
              <a:buSzTx/>
              <a:buFont typeface="Wingdings" panose="05000000000000000000" pitchFamily="2" charset="2"/>
              <a:buChar char="Ø"/>
            </a:pPr>
            <a:r>
              <a:rPr lang="zh-CN" altLang="en-US" sz="2400" b="1" dirty="0">
                <a:solidFill>
                  <a:srgbClr val="990000"/>
                </a:solidFill>
              </a:rPr>
              <a:t>常规存储器管理方式的特征</a:t>
            </a:r>
            <a:endParaRPr lang="zh-CN" altLang="en-US" sz="2400" b="1" dirty="0">
              <a:solidFill>
                <a:srgbClr val="990000"/>
              </a:solidFill>
            </a:endParaRPr>
          </a:p>
          <a:p>
            <a:pPr marL="457200" lvl="0" indent="-457200" eaLnBrk="1" hangingPunct="1">
              <a:spcBef>
                <a:spcPct val="0"/>
              </a:spcBef>
              <a:buClr>
                <a:srgbClr val="990000"/>
              </a:buClr>
              <a:buSzTx/>
              <a:buFont typeface="Wingdings" panose="05000000000000000000" pitchFamily="2" charset="2"/>
              <a:buChar char="Ø"/>
            </a:pPr>
            <a:endParaRPr lang="zh-CN" altLang="en-US" sz="2400" b="1" dirty="0">
              <a:solidFill>
                <a:srgbClr val="990000"/>
              </a:solidFill>
              <a:latin typeface="Times New Roman" panose="02020603050405020304" pitchFamily="18" charset="0"/>
            </a:endParaRPr>
          </a:p>
          <a:p>
            <a:pPr marL="457200" lvl="0" indent="-457200" eaLnBrk="1" hangingPunct="1">
              <a:spcBef>
                <a:spcPct val="0"/>
              </a:spcBef>
              <a:buClrTx/>
              <a:buSzTx/>
              <a:buFontTx/>
              <a:buAutoNum type="arabicParenBoth"/>
            </a:pPr>
            <a:r>
              <a:rPr lang="zh-CN" altLang="en-US" sz="2400" b="1" dirty="0">
                <a:solidFill>
                  <a:srgbClr val="000000"/>
                </a:solidFill>
                <a:latin typeface="Times New Roman" panose="02020603050405020304" pitchFamily="18" charset="0"/>
              </a:rPr>
              <a:t>一次性。要求将作业</a:t>
            </a:r>
            <a:r>
              <a:rPr lang="zh-CN" altLang="en-US" sz="2400" b="1" dirty="0">
                <a:latin typeface="Times New Roman" panose="02020603050405020304" pitchFamily="18" charset="0"/>
              </a:rPr>
              <a:t>全部装入内存</a:t>
            </a:r>
            <a:r>
              <a:rPr lang="zh-CN" altLang="en-US" sz="2400" b="1" dirty="0">
                <a:solidFill>
                  <a:srgbClr val="000000"/>
                </a:solidFill>
                <a:latin typeface="Times New Roman" panose="02020603050405020304" pitchFamily="18" charset="0"/>
              </a:rPr>
              <a:t>才能运行，当</a:t>
            </a:r>
            <a:r>
              <a:rPr lang="zh-CN" altLang="en-US" sz="2400" b="1" dirty="0">
                <a:solidFill>
                  <a:srgbClr val="000000"/>
                </a:solidFill>
              </a:rPr>
              <a:t>程序大于内存时，作业无法运行。</a:t>
            </a:r>
            <a:endParaRPr lang="zh-CN" altLang="en-US" sz="2400" b="1" dirty="0">
              <a:solidFill>
                <a:srgbClr val="000000"/>
              </a:solidFill>
              <a:latin typeface="Times New Roman" panose="02020603050405020304" pitchFamily="18" charset="0"/>
            </a:endParaRPr>
          </a:p>
          <a:p>
            <a:pPr marL="457200" lvl="0" indent="-457200" eaLnBrk="1" hangingPunct="1">
              <a:spcBef>
                <a:spcPct val="0"/>
              </a:spcBef>
              <a:buClrTx/>
              <a:buSzTx/>
              <a:buFontTx/>
              <a:buNone/>
            </a:pPr>
            <a:r>
              <a:rPr lang="zh-CN" altLang="en-US" sz="2400" b="1" dirty="0">
                <a:solidFill>
                  <a:srgbClr val="000000"/>
                </a:solidFill>
                <a:latin typeface="Times New Roman" panose="02020603050405020304" pitchFamily="18" charset="0"/>
              </a:rPr>
              <a:t> </a:t>
            </a:r>
            <a:endParaRPr lang="zh-CN" altLang="en-US" sz="2400" b="1" dirty="0">
              <a:solidFill>
                <a:srgbClr val="000000"/>
              </a:solidFill>
              <a:latin typeface="Times New Roman" panose="02020603050405020304" pitchFamily="18" charset="0"/>
            </a:endParaRPr>
          </a:p>
          <a:p>
            <a:pPr marL="457200" lvl="0" indent="-457200" eaLnBrk="1" hangingPunct="1">
              <a:spcBef>
                <a:spcPct val="0"/>
              </a:spcBef>
              <a:buClrTx/>
              <a:buSzTx/>
              <a:buFontTx/>
              <a:buNone/>
            </a:pPr>
            <a:r>
              <a:rPr lang="en-US" altLang="zh-CN" sz="2400" b="1" dirty="0">
                <a:solidFill>
                  <a:srgbClr val="000000"/>
                </a:solidFill>
                <a:latin typeface="Times New Roman" panose="02020603050405020304" pitchFamily="18" charset="0"/>
              </a:rPr>
              <a:t>(2) </a:t>
            </a:r>
            <a:r>
              <a:rPr lang="zh-CN" altLang="en-US" sz="2400" b="1" dirty="0">
                <a:solidFill>
                  <a:srgbClr val="000000"/>
                </a:solidFill>
                <a:latin typeface="Times New Roman" panose="02020603050405020304" pitchFamily="18" charset="0"/>
              </a:rPr>
              <a:t>驻留性。装入内存中的作业一直驻留内存，直到运行结束（处于等待状态的进程也占用内存）。</a:t>
            </a:r>
            <a:endParaRPr lang="zh-CN" altLang="en-US" sz="2400" b="1" dirty="0">
              <a:solidFill>
                <a:srgbClr val="000000"/>
              </a:solidFill>
              <a:latin typeface="Times New Roman" panose="02020603050405020304" pitchFamily="18" charset="0"/>
            </a:endParaRPr>
          </a:p>
        </p:txBody>
      </p:sp>
      <p:sp>
        <p:nvSpPr>
          <p:cNvPr id="437256" name="Rectangle 8"/>
          <p:cNvSpPr/>
          <p:nvPr/>
        </p:nvSpPr>
        <p:spPr>
          <a:xfrm>
            <a:off x="971550" y="5192713"/>
            <a:ext cx="6696075" cy="122396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t>解决方法：</a:t>
            </a:r>
            <a:endParaRPr lang="zh-CN" altLang="en-US" sz="2400" b="1" dirty="0"/>
          </a:p>
          <a:p>
            <a:pPr marL="0" lvl="0" indent="0" eaLnBrk="1" hangingPunct="1">
              <a:spcBef>
                <a:spcPct val="0"/>
              </a:spcBef>
              <a:buClrTx/>
              <a:buSzTx/>
              <a:buFontTx/>
              <a:buNone/>
            </a:pPr>
            <a:r>
              <a:rPr lang="en-US" altLang="zh-CN" sz="2400" b="1" dirty="0"/>
              <a:t>1.</a:t>
            </a:r>
            <a:r>
              <a:rPr lang="zh-CN" altLang="en-US" sz="2400" b="1" dirty="0"/>
              <a:t>物理上增加内存。要再花钱！</a:t>
            </a:r>
            <a:endParaRPr lang="zh-CN" altLang="en-US" sz="2400" b="1" dirty="0"/>
          </a:p>
          <a:p>
            <a:pPr marL="0" lvl="0" indent="0" eaLnBrk="1" hangingPunct="1">
              <a:spcBef>
                <a:spcPct val="0"/>
              </a:spcBef>
              <a:buClrTx/>
              <a:buSzTx/>
              <a:buFontTx/>
              <a:buNone/>
            </a:pPr>
            <a:r>
              <a:rPr lang="en-US" altLang="zh-CN" sz="2400" b="1" dirty="0"/>
              <a:t>2.</a:t>
            </a:r>
            <a:r>
              <a:rPr lang="zh-CN" altLang="en-US" sz="2400" b="1" dirty="0"/>
              <a:t>逻辑上扩充内存。好办法！</a:t>
            </a:r>
            <a:endParaRPr lang="zh-CN" altLang="en-US" sz="2400" b="1" dirty="0"/>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9"/>
                                        </p:tgtEl>
                                        <p:attrNameLst>
                                          <p:attrName>style.visibility</p:attrName>
                                        </p:attrNameLst>
                                      </p:cBhvr>
                                      <p:to>
                                        <p:strVal val="visible"/>
                                      </p:to>
                                    </p:set>
                                    <p:animEffect transition="in" filter="blinds(horizontal)">
                                      <p:cBhvr>
                                        <p:cTn id="7" dur="500"/>
                                        <p:tgtEl>
                                          <p:spTgt spid="1638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37256"/>
                                        </p:tgtEl>
                                        <p:attrNameLst>
                                          <p:attrName>style.visibility</p:attrName>
                                        </p:attrNameLst>
                                      </p:cBhvr>
                                      <p:to>
                                        <p:strVal val="visible"/>
                                      </p:to>
                                    </p:set>
                                    <p:anim calcmode="lin" valueType="num">
                                      <p:cBhvr additive="base">
                                        <p:cTn id="12" dur="500" fill="hold"/>
                                        <p:tgtEl>
                                          <p:spTgt spid="437256"/>
                                        </p:tgtEl>
                                        <p:attrNameLst>
                                          <p:attrName>ppt_x</p:attrName>
                                        </p:attrNameLst>
                                      </p:cBhvr>
                                      <p:tavLst>
                                        <p:tav tm="0">
                                          <p:val>
                                            <p:strVal val="#ppt_x"/>
                                          </p:val>
                                        </p:tav>
                                        <p:tav tm="100000">
                                          <p:val>
                                            <p:strVal val="#ppt_x"/>
                                          </p:val>
                                        </p:tav>
                                      </p:tavLst>
                                    </p:anim>
                                    <p:anim calcmode="lin" valueType="num">
                                      <p:cBhvr additive="base">
                                        <p:cTn id="13" dur="500" fill="hold"/>
                                        <p:tgtEl>
                                          <p:spTgt spid="4372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p:bldP spid="43725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4"/>
          <p:cNvSpPr txBox="1"/>
          <p:nvPr/>
        </p:nvSpPr>
        <p:spPr>
          <a:xfrm>
            <a:off x="1116013" y="620713"/>
            <a:ext cx="7451725"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
                <a:srgbClr val="990000"/>
              </a:buClr>
              <a:buSzTx/>
              <a:buFont typeface="Wingdings" panose="05000000000000000000" pitchFamily="2" charset="2"/>
              <a:buChar char="Ø"/>
            </a:pPr>
            <a:r>
              <a:rPr lang="zh-CN" altLang="en-US" sz="2400" b="1" dirty="0">
                <a:solidFill>
                  <a:srgbClr val="990000"/>
                </a:solidFill>
                <a:latin typeface="Times New Roman" panose="02020603050405020304" pitchFamily="18" charset="0"/>
              </a:rPr>
              <a:t>局部性原理</a:t>
            </a:r>
            <a:endParaRPr lang="zh-CN" altLang="en-US" sz="2400" b="1" dirty="0">
              <a:solidFill>
                <a:srgbClr val="990000"/>
              </a:solidFill>
              <a:latin typeface="Times New Roman" panose="02020603050405020304" pitchFamily="18" charset="0"/>
            </a:endParaRPr>
          </a:p>
        </p:txBody>
      </p:sp>
      <p:sp>
        <p:nvSpPr>
          <p:cNvPr id="17411" name="Text Box 5"/>
          <p:cNvSpPr txBox="1"/>
          <p:nvPr/>
        </p:nvSpPr>
        <p:spPr>
          <a:xfrm>
            <a:off x="468313" y="1268413"/>
            <a:ext cx="7924800" cy="48387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just" eaLnBrk="1" hangingPunct="1">
              <a:lnSpc>
                <a:spcPct val="130000"/>
              </a:lnSpc>
              <a:spcBef>
                <a:spcPct val="50000"/>
              </a:spcBef>
              <a:buClrTx/>
              <a:buSzTx/>
              <a:buFontTx/>
              <a:buNone/>
            </a:pPr>
            <a:r>
              <a:rPr lang="en-US" altLang="zh-CN" sz="2400" dirty="0">
                <a:latin typeface="Times New Roman" panose="02020603050405020304" pitchFamily="18" charset="0"/>
              </a:rPr>
              <a:t>      </a:t>
            </a:r>
            <a:r>
              <a:rPr lang="zh-CN" altLang="en-US" sz="2400" b="1" dirty="0">
                <a:solidFill>
                  <a:srgbClr val="000000"/>
                </a:solidFill>
                <a:latin typeface="Times New Roman" panose="02020603050405020304" pitchFamily="18" charset="0"/>
              </a:rPr>
              <a:t>早在</a:t>
            </a:r>
            <a:r>
              <a:rPr lang="en-US" altLang="zh-CN" sz="2400" b="1" dirty="0">
                <a:solidFill>
                  <a:srgbClr val="000000"/>
                </a:solidFill>
                <a:latin typeface="Times New Roman" panose="02020603050405020304" pitchFamily="18" charset="0"/>
              </a:rPr>
              <a:t>1968</a:t>
            </a:r>
            <a:r>
              <a:rPr lang="zh-CN" altLang="en-US" sz="2400" b="1" dirty="0">
                <a:solidFill>
                  <a:srgbClr val="000000"/>
                </a:solidFill>
                <a:latin typeface="Times New Roman" panose="02020603050405020304" pitchFamily="18" charset="0"/>
              </a:rPr>
              <a:t>年， </a:t>
            </a:r>
            <a:r>
              <a:rPr lang="en-US" altLang="zh-CN" sz="2400" b="1" dirty="0">
                <a:solidFill>
                  <a:srgbClr val="000000"/>
                </a:solidFill>
                <a:latin typeface="Times New Roman" panose="02020603050405020304" pitchFamily="18" charset="0"/>
              </a:rPr>
              <a:t>Denning.P</a:t>
            </a:r>
            <a:r>
              <a:rPr lang="zh-CN" altLang="en-US" sz="2400" b="1" dirty="0">
                <a:solidFill>
                  <a:srgbClr val="000000"/>
                </a:solidFill>
                <a:latin typeface="Times New Roman" panose="02020603050405020304" pitchFamily="18" charset="0"/>
              </a:rPr>
              <a:t>就曾指出</a:t>
            </a:r>
            <a:r>
              <a:rPr lang="zh-CN" altLang="en-US" sz="2400" b="1" dirty="0">
                <a:solidFill>
                  <a:srgbClr val="FF0000"/>
                </a:solidFill>
                <a:latin typeface="Times New Roman" panose="02020603050405020304" pitchFamily="18" charset="0"/>
              </a:rPr>
              <a:t>如下论点</a:t>
            </a:r>
            <a:r>
              <a:rPr lang="zh-CN" altLang="en-US" sz="2400" b="1" dirty="0">
                <a:solidFill>
                  <a:srgbClr val="000000"/>
                </a:solidFill>
                <a:latin typeface="Times New Roman" panose="02020603050405020304" pitchFamily="18" charset="0"/>
              </a:rPr>
              <a:t>： </a:t>
            </a:r>
            <a:endParaRPr lang="zh-CN" altLang="en-US" sz="2400" b="1" dirty="0">
              <a:solidFill>
                <a:srgbClr val="000000"/>
              </a:solidFill>
              <a:latin typeface="Times New Roman" panose="02020603050405020304" pitchFamily="18" charset="0"/>
            </a:endParaRPr>
          </a:p>
          <a:p>
            <a:pPr marL="0" lvl="0" indent="0" algn="just" eaLnBrk="1" hangingPunct="1">
              <a:lnSpc>
                <a:spcPct val="130000"/>
              </a:lnSpc>
              <a:spcBef>
                <a:spcPct val="0"/>
              </a:spcBef>
              <a:buClrTx/>
              <a:buSzTx/>
              <a:buFontTx/>
              <a:buNone/>
            </a:pPr>
            <a:r>
              <a:rPr lang="zh-CN" altLang="en-US" sz="2400" b="1" dirty="0">
                <a:solidFill>
                  <a:srgbClr val="000000"/>
                </a:solidFill>
                <a:latin typeface="Times New Roman" panose="02020603050405020304" pitchFamily="18" charset="0"/>
              </a:rPr>
              <a:t>       </a:t>
            </a:r>
            <a:r>
              <a:rPr lang="en-US" altLang="zh-CN" sz="2400" b="1" dirty="0">
                <a:solidFill>
                  <a:srgbClr val="000000"/>
                </a:solidFill>
                <a:latin typeface="Times New Roman" panose="02020603050405020304" pitchFamily="18" charset="0"/>
              </a:rPr>
              <a:t>(1) </a:t>
            </a:r>
            <a:r>
              <a:rPr lang="zh-CN" altLang="en-US" sz="2400" b="1" dirty="0">
                <a:solidFill>
                  <a:srgbClr val="000000"/>
                </a:solidFill>
                <a:latin typeface="Times New Roman" panose="02020603050405020304" pitchFamily="18" charset="0"/>
              </a:rPr>
              <a:t>程序执行时， 除了少部分的转移和过程调用指令外， 在大多数情况下仍是顺序执行的。</a:t>
            </a:r>
            <a:endParaRPr lang="zh-CN" altLang="en-US" sz="2400" b="1" dirty="0">
              <a:solidFill>
                <a:srgbClr val="000000"/>
              </a:solidFill>
              <a:latin typeface="Times New Roman" panose="02020603050405020304" pitchFamily="18" charset="0"/>
            </a:endParaRPr>
          </a:p>
          <a:p>
            <a:pPr marL="0" lvl="0" indent="0" algn="just" eaLnBrk="1" hangingPunct="1">
              <a:lnSpc>
                <a:spcPct val="130000"/>
              </a:lnSpc>
              <a:spcBef>
                <a:spcPct val="0"/>
              </a:spcBef>
              <a:buClrTx/>
              <a:buSzTx/>
              <a:buFontTx/>
              <a:buNone/>
            </a:pPr>
            <a:r>
              <a:rPr lang="zh-CN" altLang="en-US" sz="2400" b="1" dirty="0">
                <a:solidFill>
                  <a:srgbClr val="000000"/>
                </a:solidFill>
                <a:latin typeface="Times New Roman" panose="02020603050405020304" pitchFamily="18" charset="0"/>
              </a:rPr>
              <a:t>       </a:t>
            </a:r>
            <a:r>
              <a:rPr lang="en-US" altLang="zh-CN" sz="2400" b="1" dirty="0">
                <a:solidFill>
                  <a:srgbClr val="000000"/>
                </a:solidFill>
                <a:latin typeface="Times New Roman" panose="02020603050405020304" pitchFamily="18" charset="0"/>
              </a:rPr>
              <a:t>(2) </a:t>
            </a:r>
            <a:r>
              <a:rPr lang="zh-CN" altLang="en-US" sz="2400" b="1" dirty="0">
                <a:solidFill>
                  <a:srgbClr val="000000"/>
                </a:solidFill>
                <a:latin typeface="Times New Roman" panose="02020603050405020304" pitchFamily="18" charset="0"/>
              </a:rPr>
              <a:t>过程调用将会使程序的执行轨迹由一部分区域转至另一部分区域， 但经研究看出，过程调用的深度在大多数情况下都不超过</a:t>
            </a:r>
            <a:r>
              <a:rPr lang="en-US" altLang="zh-CN" sz="2400" b="1" dirty="0">
                <a:solidFill>
                  <a:srgbClr val="000000"/>
                </a:solidFill>
                <a:latin typeface="Times New Roman" panose="02020603050405020304" pitchFamily="18" charset="0"/>
              </a:rPr>
              <a:t>5</a:t>
            </a:r>
            <a:r>
              <a:rPr lang="zh-CN" altLang="en-US" sz="2400" b="1" dirty="0">
                <a:solidFill>
                  <a:srgbClr val="000000"/>
                </a:solidFill>
                <a:latin typeface="Times New Roman" panose="02020603050405020304" pitchFamily="18" charset="0"/>
              </a:rPr>
              <a:t>。</a:t>
            </a:r>
            <a:endParaRPr lang="zh-CN" altLang="en-US" sz="2400" b="1" dirty="0">
              <a:solidFill>
                <a:srgbClr val="000000"/>
              </a:solidFill>
              <a:latin typeface="Times New Roman" panose="02020603050405020304" pitchFamily="18" charset="0"/>
            </a:endParaRPr>
          </a:p>
          <a:p>
            <a:pPr marL="0" lvl="0" indent="0" algn="just" eaLnBrk="1" hangingPunct="1">
              <a:lnSpc>
                <a:spcPct val="130000"/>
              </a:lnSpc>
              <a:spcBef>
                <a:spcPct val="0"/>
              </a:spcBef>
              <a:buClrTx/>
              <a:buSzTx/>
              <a:buFontTx/>
              <a:buNone/>
            </a:pPr>
            <a:r>
              <a:rPr lang="zh-CN" altLang="en-US" sz="2400" b="1" dirty="0">
                <a:solidFill>
                  <a:srgbClr val="000000"/>
                </a:solidFill>
                <a:latin typeface="Times New Roman" panose="02020603050405020304" pitchFamily="18" charset="0"/>
              </a:rPr>
              <a:t>       </a:t>
            </a:r>
            <a:r>
              <a:rPr lang="en-US" altLang="zh-CN" sz="2400" b="1" dirty="0">
                <a:solidFill>
                  <a:srgbClr val="000000"/>
                </a:solidFill>
                <a:latin typeface="Times New Roman" panose="02020603050405020304" pitchFamily="18" charset="0"/>
              </a:rPr>
              <a:t>(3) </a:t>
            </a:r>
            <a:r>
              <a:rPr lang="zh-CN" altLang="en-US" sz="2400" b="1" dirty="0">
                <a:solidFill>
                  <a:srgbClr val="000000"/>
                </a:solidFill>
                <a:latin typeface="Times New Roman" panose="02020603050405020304" pitchFamily="18" charset="0"/>
              </a:rPr>
              <a:t>程序中存在许多循环结构， 这些虽然只由少数指令构成， 但是它们将多次执行。</a:t>
            </a:r>
            <a:endParaRPr lang="zh-CN" altLang="en-US" sz="2400" b="1" dirty="0">
              <a:solidFill>
                <a:srgbClr val="000000"/>
              </a:solidFill>
              <a:latin typeface="Times New Roman" panose="02020603050405020304" pitchFamily="18" charset="0"/>
            </a:endParaRPr>
          </a:p>
          <a:p>
            <a:pPr marL="0" lvl="0" indent="0" algn="just" eaLnBrk="1" hangingPunct="1">
              <a:lnSpc>
                <a:spcPct val="130000"/>
              </a:lnSpc>
              <a:spcBef>
                <a:spcPct val="0"/>
              </a:spcBef>
              <a:buClrTx/>
              <a:buSzTx/>
              <a:buFontTx/>
              <a:buNone/>
            </a:pPr>
            <a:r>
              <a:rPr lang="zh-CN" altLang="en-US" sz="2400" b="1" dirty="0">
                <a:solidFill>
                  <a:srgbClr val="000000"/>
                </a:solidFill>
                <a:latin typeface="Times New Roman" panose="02020603050405020304" pitchFamily="18" charset="0"/>
              </a:rPr>
              <a:t>       </a:t>
            </a:r>
            <a:r>
              <a:rPr lang="en-US" altLang="zh-CN" sz="2400" b="1" dirty="0">
                <a:solidFill>
                  <a:srgbClr val="000000"/>
                </a:solidFill>
                <a:latin typeface="Times New Roman" panose="02020603050405020304" pitchFamily="18" charset="0"/>
              </a:rPr>
              <a:t>(4) </a:t>
            </a:r>
            <a:r>
              <a:rPr lang="zh-CN" altLang="en-US" sz="2400" b="1" dirty="0">
                <a:solidFill>
                  <a:srgbClr val="000000"/>
                </a:solidFill>
                <a:latin typeface="Times New Roman" panose="02020603050405020304" pitchFamily="18" charset="0"/>
              </a:rPr>
              <a:t>程序中还包括许多对数据结构的处理，如对数组进行操作， 它们往往都局限于很小的范围内。 </a:t>
            </a:r>
            <a:endParaRPr lang="zh-CN" altLang="en-US" sz="2400" b="1" dirty="0">
              <a:solidFill>
                <a:srgbClr val="000000"/>
              </a:solidFill>
              <a:latin typeface="Times New Roman" panose="02020603050405020304" pitchFamily="18" charset="0"/>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7" dur="500"/>
                                        <p:tgtEl>
                                          <p:spTgt spid="1741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411">
                                            <p:txEl>
                                              <p:pRg st="3" end="3"/>
                                            </p:txEl>
                                          </p:spTgt>
                                        </p:tgtEl>
                                        <p:attrNameLst>
                                          <p:attrName>style.visibility</p:attrName>
                                        </p:attrNameLst>
                                      </p:cBhvr>
                                      <p:to>
                                        <p:strVal val="visible"/>
                                      </p:to>
                                    </p:set>
                                    <p:animEffect transition="in" filter="blinds(horizontal)">
                                      <p:cBhvr>
                                        <p:cTn id="12" dur="500"/>
                                        <p:tgtEl>
                                          <p:spTgt spid="17411">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7411">
                                            <p:txEl>
                                              <p:pRg st="4" end="4"/>
                                            </p:txEl>
                                          </p:spTgt>
                                        </p:tgtEl>
                                        <p:attrNameLst>
                                          <p:attrName>style.visibility</p:attrName>
                                        </p:attrNameLst>
                                      </p:cBhvr>
                                      <p:to>
                                        <p:strVal val="visible"/>
                                      </p:to>
                                    </p:set>
                                    <p:animEffect transition="in" filter="blinds(horizontal)">
                                      <p:cBhvr>
                                        <p:cTn id="17" dur="500"/>
                                        <p:tgtEl>
                                          <p:spTgt spid="174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4"/>
          <p:cNvSpPr txBox="1"/>
          <p:nvPr/>
        </p:nvSpPr>
        <p:spPr>
          <a:xfrm>
            <a:off x="611188" y="1125538"/>
            <a:ext cx="7772400" cy="48387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just" eaLnBrk="1" hangingPunct="1">
              <a:lnSpc>
                <a:spcPct val="130000"/>
              </a:lnSpc>
              <a:spcBef>
                <a:spcPct val="0"/>
              </a:spcBef>
              <a:buClrTx/>
              <a:buSzTx/>
              <a:buFontTx/>
              <a:buNone/>
            </a:pPr>
            <a:r>
              <a:rPr lang="en-US" altLang="zh-CN" sz="2400" dirty="0">
                <a:latin typeface="Times New Roman" panose="02020603050405020304" pitchFamily="18" charset="0"/>
              </a:rPr>
              <a:t>       </a:t>
            </a:r>
            <a:r>
              <a:rPr lang="zh-CN" altLang="en-US" sz="2400" b="1" dirty="0">
                <a:solidFill>
                  <a:srgbClr val="000000"/>
                </a:solidFill>
                <a:latin typeface="Times New Roman" panose="02020603050405020304" pitchFamily="18" charset="0"/>
              </a:rPr>
              <a:t>局限性表现在下述两个方面：</a:t>
            </a:r>
            <a:endParaRPr lang="zh-CN" altLang="en-US" sz="2400" b="1" dirty="0">
              <a:solidFill>
                <a:srgbClr val="000000"/>
              </a:solidFill>
              <a:latin typeface="Times New Roman" panose="02020603050405020304" pitchFamily="18" charset="0"/>
            </a:endParaRPr>
          </a:p>
          <a:p>
            <a:pPr marL="0" lvl="0" indent="0" algn="just" eaLnBrk="1" hangingPunct="1">
              <a:lnSpc>
                <a:spcPct val="130000"/>
              </a:lnSpc>
              <a:spcBef>
                <a:spcPct val="0"/>
              </a:spcBef>
              <a:buClrTx/>
              <a:buSzTx/>
              <a:buFontTx/>
              <a:buNone/>
            </a:pPr>
            <a:r>
              <a:rPr lang="zh-CN" altLang="en-US" sz="2400" b="1" dirty="0">
                <a:solidFill>
                  <a:srgbClr val="000000"/>
                </a:solidFill>
                <a:latin typeface="Times New Roman" panose="02020603050405020304" pitchFamily="18" charset="0"/>
              </a:rPr>
              <a:t>       </a:t>
            </a:r>
            <a:r>
              <a:rPr lang="en-US" altLang="zh-CN" sz="2400" b="1" dirty="0">
                <a:solidFill>
                  <a:srgbClr val="000000"/>
                </a:solidFill>
                <a:latin typeface="Times New Roman" panose="02020603050405020304" pitchFamily="18" charset="0"/>
              </a:rPr>
              <a:t>(1) </a:t>
            </a:r>
            <a:r>
              <a:rPr lang="zh-CN" altLang="en-US" sz="2400" b="1" dirty="0">
                <a:latin typeface="Times New Roman" panose="02020603050405020304" pitchFamily="18" charset="0"/>
              </a:rPr>
              <a:t>时间局限性。</a:t>
            </a:r>
            <a:r>
              <a:rPr lang="zh-CN" altLang="en-US" sz="2400" b="1" dirty="0">
                <a:solidFill>
                  <a:srgbClr val="FF0000"/>
                </a:solidFill>
                <a:latin typeface="Times New Roman" panose="02020603050405020304" pitchFamily="18" charset="0"/>
              </a:rPr>
              <a:t>由于程序中存在着大量的</a:t>
            </a:r>
            <a:r>
              <a:rPr lang="zh-CN" altLang="en-US" sz="2400" b="1" dirty="0">
                <a:solidFill>
                  <a:srgbClr val="FF0000"/>
                </a:solidFill>
                <a:highlight>
                  <a:srgbClr val="FFFF00"/>
                </a:highlight>
                <a:latin typeface="Times New Roman" panose="02020603050405020304" pitchFamily="18" charset="0"/>
              </a:rPr>
              <a:t>循环操作</a:t>
            </a:r>
            <a:r>
              <a:rPr lang="zh-CN" altLang="en-US" sz="2400" b="1" dirty="0">
                <a:solidFill>
                  <a:srgbClr val="000000"/>
                </a:solidFill>
                <a:latin typeface="Times New Roman" panose="02020603050405020304" pitchFamily="18" charset="0"/>
              </a:rPr>
              <a:t>，导致如果程序中的某条指令一旦执行，则不久以后该指令可能再次执行；如果某数据被访问过，则不久以后该数据可能再次被访问。</a:t>
            </a:r>
            <a:endParaRPr lang="zh-CN" altLang="en-US" sz="2400" b="1" dirty="0">
              <a:solidFill>
                <a:srgbClr val="000000"/>
              </a:solidFill>
              <a:latin typeface="Times New Roman" panose="02020603050405020304" pitchFamily="18" charset="0"/>
            </a:endParaRPr>
          </a:p>
          <a:p>
            <a:pPr marL="0" lvl="0" indent="0" algn="just" eaLnBrk="1" hangingPunct="1">
              <a:lnSpc>
                <a:spcPct val="130000"/>
              </a:lnSpc>
              <a:spcBef>
                <a:spcPct val="0"/>
              </a:spcBef>
              <a:buClrTx/>
              <a:buSzTx/>
              <a:buFontTx/>
              <a:buNone/>
            </a:pPr>
            <a:endParaRPr lang="zh-CN" altLang="en-US" sz="2400" b="1" dirty="0">
              <a:solidFill>
                <a:srgbClr val="000000"/>
              </a:solidFill>
              <a:latin typeface="Times New Roman" panose="02020603050405020304" pitchFamily="18" charset="0"/>
            </a:endParaRPr>
          </a:p>
          <a:p>
            <a:pPr marL="0" lvl="0" indent="0" algn="just" eaLnBrk="1" hangingPunct="1">
              <a:lnSpc>
                <a:spcPct val="130000"/>
              </a:lnSpc>
              <a:spcBef>
                <a:spcPct val="0"/>
              </a:spcBef>
              <a:buClrTx/>
              <a:buSzTx/>
              <a:buFontTx/>
              <a:buNone/>
            </a:pPr>
            <a:r>
              <a:rPr lang="zh-CN" altLang="en-US" sz="2400" b="1" dirty="0">
                <a:solidFill>
                  <a:srgbClr val="000000"/>
                </a:solidFill>
                <a:latin typeface="Times New Roman" panose="02020603050405020304" pitchFamily="18" charset="0"/>
              </a:rPr>
              <a:t>        </a:t>
            </a:r>
            <a:r>
              <a:rPr lang="en-US" altLang="zh-CN" sz="2400" b="1" dirty="0">
                <a:solidFill>
                  <a:srgbClr val="000000"/>
                </a:solidFill>
                <a:latin typeface="Times New Roman" panose="02020603050405020304" pitchFamily="18" charset="0"/>
              </a:rPr>
              <a:t>(2) </a:t>
            </a:r>
            <a:r>
              <a:rPr lang="zh-CN" altLang="en-US" sz="2400" b="1" dirty="0">
                <a:latin typeface="Times New Roman" panose="02020603050405020304" pitchFamily="18" charset="0"/>
              </a:rPr>
              <a:t>空间局限性</a:t>
            </a:r>
            <a:r>
              <a:rPr lang="zh-CN" altLang="en-US" sz="2400" b="1" dirty="0">
                <a:solidFill>
                  <a:srgbClr val="000000"/>
                </a:solidFill>
                <a:latin typeface="Times New Roman" panose="02020603050405020304" pitchFamily="18" charset="0"/>
              </a:rPr>
              <a:t>。</a:t>
            </a:r>
            <a:r>
              <a:rPr lang="zh-CN" altLang="en-US" sz="2400" b="1" dirty="0">
                <a:solidFill>
                  <a:srgbClr val="FF0000"/>
                </a:solidFill>
                <a:latin typeface="Times New Roman" panose="02020603050405020304" pitchFamily="18" charset="0"/>
              </a:rPr>
              <a:t>由于程序的</a:t>
            </a:r>
            <a:r>
              <a:rPr lang="zh-CN" altLang="en-US" sz="2400" b="1" dirty="0">
                <a:solidFill>
                  <a:srgbClr val="FF0000"/>
                </a:solidFill>
                <a:highlight>
                  <a:srgbClr val="FFFF00"/>
                </a:highlight>
                <a:latin typeface="Times New Roman" panose="02020603050405020304" pitchFamily="18" charset="0"/>
              </a:rPr>
              <a:t>顺序执行</a:t>
            </a:r>
            <a:r>
              <a:rPr lang="zh-CN" altLang="en-US" sz="2400" b="1" dirty="0">
                <a:solidFill>
                  <a:srgbClr val="FF0000"/>
                </a:solidFill>
                <a:latin typeface="Times New Roman" panose="02020603050405020304" pitchFamily="18" charset="0"/>
              </a:rPr>
              <a:t>，</a:t>
            </a:r>
            <a:r>
              <a:rPr lang="zh-CN" altLang="en-US" sz="2400" b="1" dirty="0">
                <a:solidFill>
                  <a:srgbClr val="000000"/>
                </a:solidFill>
                <a:latin typeface="Times New Roman" panose="02020603050405020304" pitchFamily="18" charset="0"/>
              </a:rPr>
              <a:t>导致一旦程序访问了某个存储单元，在不久之后，其附近的存储单元也将被访问，即程序在一段时间内所访问的地址，可能集中在一定的范围之内。 </a:t>
            </a:r>
            <a:endParaRPr lang="zh-CN" altLang="en-US" sz="2400" b="1" dirty="0">
              <a:solidFill>
                <a:srgbClr val="000000"/>
              </a:solidFill>
              <a:latin typeface="Times New Roman" panose="02020603050405020304" pitchFamily="18" charset="0"/>
            </a:endParaRPr>
          </a:p>
        </p:txBody>
      </p:sp>
    </p:spTree>
  </p:cSld>
  <p:clrMapOvr>
    <a:masterClrMapping/>
  </p:clrMapOvr>
  <p:transition>
    <p:blinds/>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4"/>
          <p:cNvSpPr txBox="1"/>
          <p:nvPr/>
        </p:nvSpPr>
        <p:spPr>
          <a:xfrm>
            <a:off x="684213" y="1125538"/>
            <a:ext cx="7920037" cy="45862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800" b="1" dirty="0"/>
              <a:t>       </a:t>
            </a:r>
            <a:r>
              <a:rPr lang="zh-CN" altLang="en-US" sz="2400" b="1" dirty="0">
                <a:solidFill>
                  <a:srgbClr val="FF0000"/>
                </a:solidFill>
              </a:rPr>
              <a:t>基于局部性原理</a:t>
            </a:r>
            <a:r>
              <a:rPr lang="zh-CN" altLang="en-US" sz="2400" b="1" dirty="0"/>
              <a:t>，程序在运行之前，没有必要全部装入内存，只需将当前运行的</a:t>
            </a:r>
            <a:r>
              <a:rPr lang="zh-CN" altLang="en-US" sz="2400" b="1" dirty="0">
                <a:solidFill>
                  <a:srgbClr val="CC3300"/>
                </a:solidFill>
              </a:rPr>
              <a:t>部分页面或段</a:t>
            </a:r>
            <a:r>
              <a:rPr lang="zh-CN" altLang="en-US" sz="2400" b="1" dirty="0"/>
              <a:t>装入即可运行，其余部分暂留在磁盘上。</a:t>
            </a:r>
            <a:endParaRPr lang="zh-CN" altLang="en-US" sz="2400" b="1" dirty="0"/>
          </a:p>
          <a:p>
            <a:pPr marL="0" lvl="0" indent="0" eaLnBrk="1" hangingPunct="1">
              <a:spcBef>
                <a:spcPct val="50000"/>
              </a:spcBef>
              <a:buClrTx/>
              <a:buSzTx/>
              <a:buFontTx/>
              <a:buNone/>
            </a:pPr>
            <a:r>
              <a:rPr lang="zh-CN" altLang="en-US" sz="2400" b="1" dirty="0"/>
              <a:t>       </a:t>
            </a:r>
            <a:r>
              <a:rPr lang="zh-CN" altLang="en-US" sz="2400" b="1" dirty="0">
                <a:solidFill>
                  <a:srgbClr val="000000"/>
                </a:solidFill>
              </a:rPr>
              <a:t>运行时若程序要访问的</a:t>
            </a:r>
            <a:r>
              <a:rPr lang="zh-CN" altLang="en-US" sz="2400" b="1" dirty="0">
                <a:solidFill>
                  <a:srgbClr val="CC3300"/>
                </a:solidFill>
              </a:rPr>
              <a:t>页</a:t>
            </a:r>
            <a:r>
              <a:rPr lang="en-US" altLang="zh-CN" sz="2400" b="1" dirty="0">
                <a:solidFill>
                  <a:srgbClr val="CC3300"/>
                </a:solidFill>
              </a:rPr>
              <a:t>(</a:t>
            </a:r>
            <a:r>
              <a:rPr lang="zh-CN" altLang="en-US" sz="2400" b="1" dirty="0">
                <a:solidFill>
                  <a:srgbClr val="CC3300"/>
                </a:solidFill>
              </a:rPr>
              <a:t>段</a:t>
            </a:r>
            <a:r>
              <a:rPr lang="en-US" altLang="zh-CN" sz="2400" b="1" dirty="0">
                <a:solidFill>
                  <a:srgbClr val="CC3300"/>
                </a:solidFill>
              </a:rPr>
              <a:t>)</a:t>
            </a:r>
            <a:r>
              <a:rPr lang="zh-CN" altLang="en-US" sz="2400" b="1" dirty="0">
                <a:solidFill>
                  <a:srgbClr val="000000"/>
                </a:solidFill>
              </a:rPr>
              <a:t>已调入内存，便可继续运行下去；但若程序要访问的页</a:t>
            </a:r>
            <a:r>
              <a:rPr lang="en-US" altLang="zh-CN" sz="2400" b="1" dirty="0">
                <a:solidFill>
                  <a:srgbClr val="000000"/>
                </a:solidFill>
              </a:rPr>
              <a:t>(</a:t>
            </a:r>
            <a:r>
              <a:rPr lang="zh-CN" altLang="en-US" sz="2400" b="1" dirty="0">
                <a:solidFill>
                  <a:srgbClr val="000000"/>
                </a:solidFill>
              </a:rPr>
              <a:t>段</a:t>
            </a:r>
            <a:r>
              <a:rPr lang="en-US" altLang="zh-CN" sz="2400" b="1" dirty="0">
                <a:solidFill>
                  <a:srgbClr val="000000"/>
                </a:solidFill>
              </a:rPr>
              <a:t>)</a:t>
            </a:r>
            <a:r>
              <a:rPr lang="zh-CN" altLang="en-US" sz="2400" b="1" dirty="0">
                <a:solidFill>
                  <a:srgbClr val="000000"/>
                </a:solidFill>
              </a:rPr>
              <a:t>尚未调入内存</a:t>
            </a:r>
            <a:r>
              <a:rPr lang="en-US" altLang="zh-CN" sz="2400" b="1" dirty="0">
                <a:solidFill>
                  <a:srgbClr val="008000"/>
                </a:solidFill>
              </a:rPr>
              <a:t>(</a:t>
            </a:r>
            <a:r>
              <a:rPr lang="zh-CN" altLang="en-US" sz="2400" b="1" dirty="0">
                <a:solidFill>
                  <a:srgbClr val="008000"/>
                </a:solidFill>
              </a:rPr>
              <a:t>称为缺页或缺段</a:t>
            </a:r>
            <a:r>
              <a:rPr lang="en-US" altLang="zh-CN" sz="2400" b="1" dirty="0">
                <a:solidFill>
                  <a:srgbClr val="008000"/>
                </a:solidFill>
              </a:rPr>
              <a:t>)</a:t>
            </a:r>
            <a:r>
              <a:rPr lang="zh-CN" altLang="en-US" sz="2400" b="1" dirty="0">
                <a:solidFill>
                  <a:srgbClr val="000000"/>
                </a:solidFill>
              </a:rPr>
              <a:t>，此时程序应利用</a:t>
            </a:r>
            <a:r>
              <a:rPr lang="en-US" altLang="zh-CN" sz="2400" b="1" dirty="0">
                <a:solidFill>
                  <a:srgbClr val="000000"/>
                </a:solidFill>
              </a:rPr>
              <a:t>OS</a:t>
            </a:r>
            <a:r>
              <a:rPr lang="zh-CN" altLang="en-US" sz="2400" b="1" dirty="0">
                <a:solidFill>
                  <a:srgbClr val="000000"/>
                </a:solidFill>
              </a:rPr>
              <a:t>的</a:t>
            </a:r>
            <a:r>
              <a:rPr lang="zh-CN" altLang="en-US" sz="2400" b="1" dirty="0">
                <a:solidFill>
                  <a:srgbClr val="CC3300"/>
                </a:solidFill>
              </a:rPr>
              <a:t>请求调页</a:t>
            </a:r>
            <a:r>
              <a:rPr lang="en-US" altLang="zh-CN" sz="2400" b="1" dirty="0">
                <a:solidFill>
                  <a:srgbClr val="CC3300"/>
                </a:solidFill>
              </a:rPr>
              <a:t>(</a:t>
            </a:r>
            <a:r>
              <a:rPr lang="zh-CN" altLang="en-US" sz="2400" b="1" dirty="0">
                <a:solidFill>
                  <a:srgbClr val="CC3300"/>
                </a:solidFill>
              </a:rPr>
              <a:t>段</a:t>
            </a:r>
            <a:r>
              <a:rPr lang="en-US" altLang="zh-CN" sz="2400" b="1" dirty="0">
                <a:solidFill>
                  <a:srgbClr val="CC3300"/>
                </a:solidFill>
              </a:rPr>
              <a:t>)</a:t>
            </a:r>
            <a:r>
              <a:rPr lang="zh-CN" altLang="en-US" sz="2400" b="1" dirty="0">
                <a:solidFill>
                  <a:srgbClr val="CC3300"/>
                </a:solidFill>
              </a:rPr>
              <a:t>功能</a:t>
            </a:r>
            <a:r>
              <a:rPr lang="zh-CN" altLang="en-US" sz="2400" b="1" dirty="0">
                <a:solidFill>
                  <a:srgbClr val="000000"/>
                </a:solidFill>
              </a:rPr>
              <a:t>，将它们调入内存，使进程可以继续执行下去。</a:t>
            </a:r>
            <a:endParaRPr lang="zh-CN" altLang="en-US" sz="2400" b="1" dirty="0">
              <a:solidFill>
                <a:srgbClr val="000000"/>
              </a:solidFill>
            </a:endParaRPr>
          </a:p>
          <a:p>
            <a:pPr marL="0" lvl="0" indent="0" eaLnBrk="1" hangingPunct="1">
              <a:spcBef>
                <a:spcPct val="50000"/>
              </a:spcBef>
              <a:buClrTx/>
              <a:buSzTx/>
              <a:buFontTx/>
              <a:buNone/>
            </a:pPr>
            <a:r>
              <a:rPr lang="zh-CN" altLang="en-US" sz="2400" b="1" dirty="0">
                <a:solidFill>
                  <a:srgbClr val="000000"/>
                </a:solidFill>
              </a:rPr>
              <a:t>      如果此时内存已满，无法再装入新的页</a:t>
            </a:r>
            <a:r>
              <a:rPr lang="en-US" altLang="zh-CN" sz="2400" b="1" dirty="0">
                <a:solidFill>
                  <a:srgbClr val="000000"/>
                </a:solidFill>
              </a:rPr>
              <a:t>(</a:t>
            </a:r>
            <a:r>
              <a:rPr lang="zh-CN" altLang="en-US" sz="2400" b="1" dirty="0">
                <a:solidFill>
                  <a:srgbClr val="000000"/>
                </a:solidFill>
              </a:rPr>
              <a:t>段</a:t>
            </a:r>
            <a:r>
              <a:rPr lang="en-US" altLang="zh-CN" sz="2400" b="1" dirty="0">
                <a:solidFill>
                  <a:srgbClr val="000000"/>
                </a:solidFill>
              </a:rPr>
              <a:t>)</a:t>
            </a:r>
            <a:r>
              <a:rPr lang="zh-CN" altLang="en-US" sz="2400" b="1" dirty="0">
                <a:solidFill>
                  <a:srgbClr val="000000"/>
                </a:solidFill>
              </a:rPr>
              <a:t>，则还需利用</a:t>
            </a:r>
            <a:r>
              <a:rPr lang="zh-CN" altLang="en-US" sz="2400" b="1" dirty="0">
                <a:solidFill>
                  <a:srgbClr val="CC3300"/>
                </a:solidFill>
              </a:rPr>
              <a:t>页</a:t>
            </a:r>
            <a:r>
              <a:rPr lang="en-US" altLang="zh-CN" sz="2400" b="1" dirty="0">
                <a:solidFill>
                  <a:srgbClr val="CC3300"/>
                </a:solidFill>
              </a:rPr>
              <a:t>(</a:t>
            </a:r>
            <a:r>
              <a:rPr lang="zh-CN" altLang="en-US" sz="2400" b="1" dirty="0">
                <a:solidFill>
                  <a:srgbClr val="CC3300"/>
                </a:solidFill>
              </a:rPr>
              <a:t>段</a:t>
            </a:r>
            <a:r>
              <a:rPr lang="en-US" altLang="zh-CN" sz="2400" b="1" dirty="0">
                <a:solidFill>
                  <a:srgbClr val="CC3300"/>
                </a:solidFill>
              </a:rPr>
              <a:t>)</a:t>
            </a:r>
            <a:r>
              <a:rPr lang="zh-CN" altLang="en-US" sz="2400" b="1" dirty="0">
                <a:solidFill>
                  <a:srgbClr val="CC3300"/>
                </a:solidFill>
              </a:rPr>
              <a:t>的置换功能</a:t>
            </a:r>
            <a:r>
              <a:rPr lang="zh-CN" altLang="en-US" sz="2400" b="1" dirty="0">
                <a:solidFill>
                  <a:srgbClr val="000000"/>
                </a:solidFill>
              </a:rPr>
              <a:t>，将内存中暂时不用的页</a:t>
            </a:r>
            <a:r>
              <a:rPr lang="en-US" altLang="zh-CN" sz="2400" b="1" dirty="0">
                <a:solidFill>
                  <a:srgbClr val="000000"/>
                </a:solidFill>
              </a:rPr>
              <a:t>(</a:t>
            </a:r>
            <a:r>
              <a:rPr lang="zh-CN" altLang="en-US" sz="2400" b="1" dirty="0">
                <a:solidFill>
                  <a:srgbClr val="000000"/>
                </a:solidFill>
              </a:rPr>
              <a:t>段</a:t>
            </a:r>
            <a:r>
              <a:rPr lang="en-US" altLang="zh-CN" sz="2400" b="1" dirty="0">
                <a:solidFill>
                  <a:srgbClr val="000000"/>
                </a:solidFill>
              </a:rPr>
              <a:t>)</a:t>
            </a:r>
            <a:r>
              <a:rPr lang="zh-CN" altLang="en-US" sz="2400" b="1" dirty="0">
                <a:solidFill>
                  <a:srgbClr val="000000"/>
                </a:solidFill>
              </a:rPr>
              <a:t>调到磁盘上，腾出足够大的内存空间后，再将要访问的页</a:t>
            </a:r>
            <a:r>
              <a:rPr lang="en-US" altLang="zh-CN" sz="2400" b="1" dirty="0">
                <a:solidFill>
                  <a:srgbClr val="000000"/>
                </a:solidFill>
              </a:rPr>
              <a:t>(</a:t>
            </a:r>
            <a:r>
              <a:rPr lang="zh-CN" altLang="en-US" sz="2400" b="1" dirty="0">
                <a:solidFill>
                  <a:srgbClr val="000000"/>
                </a:solidFill>
              </a:rPr>
              <a:t>段</a:t>
            </a:r>
            <a:r>
              <a:rPr lang="en-US" altLang="zh-CN" sz="2400" b="1" dirty="0">
                <a:solidFill>
                  <a:srgbClr val="000000"/>
                </a:solidFill>
              </a:rPr>
              <a:t>)</a:t>
            </a:r>
            <a:r>
              <a:rPr lang="zh-CN" altLang="en-US" sz="2400" b="1" dirty="0">
                <a:solidFill>
                  <a:srgbClr val="000000"/>
                </a:solidFill>
              </a:rPr>
              <a:t>调入内存，使程序继续执行下去。</a:t>
            </a:r>
            <a:endParaRPr lang="zh-CN" altLang="en-US" sz="2400" b="1" dirty="0">
              <a:solidFill>
                <a:srgbClr val="000000"/>
              </a:solidFill>
            </a:endParaRPr>
          </a:p>
        </p:txBody>
      </p:sp>
      <p:sp>
        <p:nvSpPr>
          <p:cNvPr id="9219" name="AutoShape 6"/>
          <p:cNvSpPr/>
          <p:nvPr/>
        </p:nvSpPr>
        <p:spPr>
          <a:xfrm>
            <a:off x="684213" y="260350"/>
            <a:ext cx="6911975" cy="865188"/>
          </a:xfrm>
          <a:prstGeom prst="cloudCallout">
            <a:avLst>
              <a:gd name="adj1" fmla="val -32843"/>
              <a:gd name="adj2" fmla="val 26880"/>
            </a:avLst>
          </a:prstGeom>
          <a:solidFill>
            <a:srgbClr val="FFFF99"/>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CC3300"/>
                </a:solidFill>
              </a:rPr>
              <a:t>实现虚拟存储器的思想</a:t>
            </a:r>
            <a:endParaRPr lang="zh-CN" altLang="en-US" sz="2400" b="1" dirty="0">
              <a:solidFill>
                <a:srgbClr val="CC3300"/>
              </a:solidFill>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458">
                                            <p:txEl>
                                              <p:pRg st="1" end="1"/>
                                            </p:txEl>
                                          </p:spTgt>
                                        </p:tgtEl>
                                        <p:attrNameLst>
                                          <p:attrName>style.visibility</p:attrName>
                                        </p:attrNameLst>
                                      </p:cBhvr>
                                      <p:to>
                                        <p:strVal val="visible"/>
                                      </p:to>
                                    </p:set>
                                    <p:animEffect transition="in" filter="blinds(horizontal)">
                                      <p:cBhvr>
                                        <p:cTn id="7" dur="500"/>
                                        <p:tgtEl>
                                          <p:spTgt spid="1945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458">
                                            <p:txEl>
                                              <p:pRg st="2" end="2"/>
                                            </p:txEl>
                                          </p:spTgt>
                                        </p:tgtEl>
                                        <p:attrNameLst>
                                          <p:attrName>style.visibility</p:attrName>
                                        </p:attrNameLst>
                                      </p:cBhvr>
                                      <p:to>
                                        <p:strVal val="visible"/>
                                      </p:to>
                                    </p:set>
                                    <p:animEffect transition="in" filter="blinds(horizontal)">
                                      <p:cBhvr>
                                        <p:cTn id="12" dur="500"/>
                                        <p:tgtEl>
                                          <p:spTgt spid="1945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4"/>
          <p:cNvSpPr/>
          <p:nvPr/>
        </p:nvSpPr>
        <p:spPr>
          <a:xfrm>
            <a:off x="827088" y="260350"/>
            <a:ext cx="6911975" cy="865188"/>
          </a:xfrm>
          <a:prstGeom prst="cloudCallout">
            <a:avLst>
              <a:gd name="adj1" fmla="val -34912"/>
              <a:gd name="adj2" fmla="val 1926"/>
            </a:avLst>
          </a:prstGeom>
          <a:solidFill>
            <a:srgbClr val="FFFF99"/>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800" b="1" dirty="0">
                <a:solidFill>
                  <a:srgbClr val="CC3300"/>
                </a:solidFill>
              </a:rPr>
              <a:t>实现虚拟存储器的效果</a:t>
            </a:r>
            <a:endParaRPr lang="zh-CN" altLang="en-US" sz="2800" b="1" dirty="0">
              <a:solidFill>
                <a:srgbClr val="CC3300"/>
              </a:solidFill>
            </a:endParaRPr>
          </a:p>
        </p:txBody>
      </p:sp>
      <p:sp>
        <p:nvSpPr>
          <p:cNvPr id="20483" name="Text Box 5"/>
          <p:cNvSpPr txBox="1"/>
          <p:nvPr/>
        </p:nvSpPr>
        <p:spPr>
          <a:xfrm>
            <a:off x="431800" y="1592263"/>
            <a:ext cx="8280400" cy="40846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000000"/>
                </a:solidFill>
              </a:rPr>
              <a:t>        </a:t>
            </a:r>
            <a:r>
              <a:rPr lang="zh-CN" altLang="en-US" sz="2400" b="1" dirty="0">
                <a:solidFill>
                  <a:srgbClr val="000000"/>
                </a:solidFill>
              </a:rPr>
              <a:t>可使一个大的用户程序能在较小的内存空间中运行；也可在内存同时装入更多的进程使它们并发执行。</a:t>
            </a:r>
            <a:endParaRPr lang="zh-CN" altLang="en-US" sz="2400" b="1" dirty="0">
              <a:solidFill>
                <a:srgbClr val="000000"/>
              </a:solidFill>
            </a:endParaRPr>
          </a:p>
          <a:p>
            <a:pPr marL="0" lvl="0" indent="0" eaLnBrk="1" hangingPunct="1">
              <a:spcBef>
                <a:spcPct val="50000"/>
              </a:spcBef>
              <a:buClrTx/>
              <a:buSzTx/>
              <a:buFontTx/>
              <a:buNone/>
            </a:pPr>
            <a:r>
              <a:rPr lang="zh-CN" altLang="en-US" sz="2400" b="1" dirty="0">
                <a:solidFill>
                  <a:srgbClr val="000000"/>
                </a:solidFill>
              </a:rPr>
              <a:t>        从用户的角度看，该系统所具有的内存容量，比实际容量大得多。这只是一种感觉，是虚的。故称为虚拟存储器。</a:t>
            </a:r>
            <a:endParaRPr lang="zh-CN" altLang="en-US" sz="2400" b="1" dirty="0">
              <a:solidFill>
                <a:srgbClr val="000000"/>
              </a:solidFill>
            </a:endParaRPr>
          </a:p>
          <a:p>
            <a:pPr marL="0" lvl="0" indent="0" eaLnBrk="1" hangingPunct="1">
              <a:spcBef>
                <a:spcPct val="50000"/>
              </a:spcBef>
              <a:buClrTx/>
              <a:buSzTx/>
              <a:buFontTx/>
              <a:buNone/>
            </a:pPr>
            <a:r>
              <a:rPr lang="zh-CN" altLang="en-US" sz="2800" b="1" dirty="0">
                <a:solidFill>
                  <a:srgbClr val="000000"/>
                </a:solidFill>
              </a:rPr>
              <a:t>       </a:t>
            </a:r>
            <a:r>
              <a:rPr lang="zh-CN" altLang="en-US" sz="2800" b="1" dirty="0">
                <a:solidFill>
                  <a:srgbClr val="FF0000"/>
                </a:solidFill>
              </a:rPr>
              <a:t>虚拟空间大小</a:t>
            </a:r>
            <a:r>
              <a:rPr lang="zh-CN" altLang="en-US" sz="2800" b="1" dirty="0"/>
              <a:t>受内存和外存可利用的</a:t>
            </a:r>
            <a:r>
              <a:rPr lang="zh-CN" altLang="en-US" sz="2800" b="1" dirty="0">
                <a:solidFill>
                  <a:schemeClr val="hlink"/>
                </a:solidFill>
              </a:rPr>
              <a:t>总容量</a:t>
            </a:r>
            <a:r>
              <a:rPr lang="zh-CN" altLang="en-US" sz="2800" b="1" dirty="0"/>
              <a:t>限制，还受计算机总线地址结构限制，假设地址长度为</a:t>
            </a:r>
            <a:r>
              <a:rPr lang="en-US" altLang="zh-CN" sz="2800" b="1" dirty="0"/>
              <a:t>32</a:t>
            </a:r>
            <a:r>
              <a:rPr lang="zh-CN" altLang="en-US" sz="2800" b="1" dirty="0"/>
              <a:t>位，按字节寻址，则虚拟存储空间大小为</a:t>
            </a:r>
            <a:r>
              <a:rPr lang="en-US" altLang="zh-CN" sz="2800" b="1" dirty="0"/>
              <a:t>2</a:t>
            </a:r>
            <a:r>
              <a:rPr lang="en-US" altLang="zh-CN" sz="2800" b="1" baseline="30000" dirty="0"/>
              <a:t>32</a:t>
            </a:r>
            <a:r>
              <a:rPr lang="zh-CN" altLang="en-US" sz="2800" b="1" dirty="0"/>
              <a:t>个字节。</a:t>
            </a:r>
            <a:r>
              <a:rPr lang="zh-CN" altLang="en-US" sz="2800" b="1" dirty="0">
                <a:solidFill>
                  <a:srgbClr val="008000"/>
                </a:solidFill>
              </a:rPr>
              <a:t>即</a:t>
            </a:r>
            <a:r>
              <a:rPr lang="en-US" altLang="zh-CN" sz="2800" b="1" dirty="0">
                <a:solidFill>
                  <a:srgbClr val="008000"/>
                </a:solidFill>
              </a:rPr>
              <a:t>32</a:t>
            </a:r>
            <a:r>
              <a:rPr lang="zh-CN" altLang="en-US" sz="2800" b="1" dirty="0">
                <a:solidFill>
                  <a:srgbClr val="008000"/>
                </a:solidFill>
              </a:rPr>
              <a:t>位的操作系统，用户程序最大为</a:t>
            </a:r>
            <a:r>
              <a:rPr lang="en-US" altLang="zh-CN" sz="2800" b="1" dirty="0">
                <a:solidFill>
                  <a:srgbClr val="008000"/>
                </a:solidFill>
              </a:rPr>
              <a:t>4G</a:t>
            </a:r>
            <a:r>
              <a:rPr lang="zh-CN" altLang="en-US" sz="2800" b="1" dirty="0">
                <a:solidFill>
                  <a:srgbClr val="008000"/>
                </a:solidFill>
              </a:rPr>
              <a:t>（虚存空间） 。</a:t>
            </a:r>
            <a:r>
              <a:rPr lang="zh-CN" altLang="en-US" sz="2800" b="1" dirty="0">
                <a:solidFill>
                  <a:srgbClr val="000000"/>
                </a:solidFill>
              </a:rPr>
              <a:t>       </a:t>
            </a:r>
            <a:endParaRPr lang="zh-CN" altLang="en-US" sz="2800" b="1" dirty="0">
              <a:solidFill>
                <a:srgbClr val="008000"/>
              </a:solidFill>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Effect transition="in" filter="blinds(horizontal)">
                                      <p:cBhvr>
                                        <p:cTn id="7" dur="500"/>
                                        <p:tgtEl>
                                          <p:spTgt spid="2048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483">
                                            <p:txEl>
                                              <p:pRg st="2" end="2"/>
                                            </p:txEl>
                                          </p:spTgt>
                                        </p:tgtEl>
                                        <p:attrNameLst>
                                          <p:attrName>style.visibility</p:attrName>
                                        </p:attrNameLst>
                                      </p:cBhvr>
                                      <p:to>
                                        <p:strVal val="visible"/>
                                      </p:to>
                                    </p:set>
                                    <p:animEffect transition="in" filter="blinds(horizontal)">
                                      <p:cBhvr>
                                        <p:cTn id="12" dur="500"/>
                                        <p:tgtEl>
                                          <p:spTgt spid="204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Text Box 2"/>
          <p:cNvSpPr txBox="1"/>
          <p:nvPr/>
        </p:nvSpPr>
        <p:spPr>
          <a:xfrm>
            <a:off x="827088" y="765175"/>
            <a:ext cx="40322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chemeClr val="hlink"/>
                </a:solidFill>
                <a:latin typeface="Times New Roman" panose="02020603050405020304" pitchFamily="18" charset="0"/>
              </a:rPr>
              <a:t>二、 虚拟存储器定义和特征</a:t>
            </a:r>
            <a:r>
              <a:rPr lang="zh-CN" altLang="en-US" sz="2400" b="1" dirty="0">
                <a:latin typeface="Times New Roman" panose="02020603050405020304" pitchFamily="18" charset="0"/>
              </a:rPr>
              <a:t> </a:t>
            </a:r>
            <a:endParaRPr lang="zh-CN" altLang="en-US" sz="2400" b="1" dirty="0">
              <a:latin typeface="Times New Roman" panose="02020603050405020304" pitchFamily="18" charset="0"/>
            </a:endParaRPr>
          </a:p>
        </p:txBody>
      </p:sp>
      <p:sp>
        <p:nvSpPr>
          <p:cNvPr id="11267" name="Text Box 3"/>
          <p:cNvSpPr txBox="1"/>
          <p:nvPr/>
        </p:nvSpPr>
        <p:spPr>
          <a:xfrm>
            <a:off x="647700" y="1341438"/>
            <a:ext cx="8001000" cy="31956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just" eaLnBrk="1" hangingPunct="1">
              <a:lnSpc>
                <a:spcPct val="160000"/>
              </a:lnSpc>
              <a:spcBef>
                <a:spcPct val="50000"/>
              </a:spcBef>
              <a:buClrTx/>
              <a:buSzTx/>
              <a:buFont typeface="Wingdings" panose="05000000000000000000" pitchFamily="2" charset="2"/>
              <a:buChar char="Ø"/>
            </a:pPr>
            <a:r>
              <a:rPr lang="en-US" altLang="zh-CN" sz="2400" b="1" dirty="0">
                <a:latin typeface="Times New Roman" panose="02020603050405020304" pitchFamily="18" charset="0"/>
              </a:rPr>
              <a:t> </a:t>
            </a:r>
            <a:r>
              <a:rPr lang="zh-CN" altLang="en-US" sz="2400" b="1" dirty="0">
                <a:latin typeface="Times New Roman" panose="02020603050405020304" pitchFamily="18" charset="0"/>
              </a:rPr>
              <a:t>虚拟存储器定义</a:t>
            </a:r>
            <a:endParaRPr lang="zh-CN" altLang="en-US" sz="2400" b="1" dirty="0">
              <a:latin typeface="Times New Roman" panose="02020603050405020304" pitchFamily="18" charset="0"/>
            </a:endParaRPr>
          </a:p>
          <a:p>
            <a:pPr marL="0" lvl="0" indent="0" algn="just" eaLnBrk="1" hangingPunct="1">
              <a:lnSpc>
                <a:spcPct val="160000"/>
              </a:lnSpc>
              <a:spcBef>
                <a:spcPct val="50000"/>
              </a:spcBef>
              <a:buClrTx/>
              <a:buSzTx/>
              <a:buNone/>
            </a:pPr>
            <a:r>
              <a:rPr lang="zh-CN" altLang="en-US" sz="2400" b="1" dirty="0">
                <a:latin typeface="Times New Roman" panose="02020603050405020304" pitchFamily="18" charset="0"/>
              </a:rPr>
              <a:t>         具有</a:t>
            </a:r>
            <a:r>
              <a:rPr lang="zh-CN" altLang="en-US" sz="2400" b="1" dirty="0">
                <a:solidFill>
                  <a:srgbClr val="008000"/>
                </a:solidFill>
                <a:latin typeface="Times New Roman" panose="02020603050405020304" pitchFamily="18" charset="0"/>
              </a:rPr>
              <a:t>请求调入功能</a:t>
            </a:r>
            <a:r>
              <a:rPr lang="zh-CN" altLang="en-US" sz="2400" b="1" dirty="0">
                <a:solidFill>
                  <a:srgbClr val="003300"/>
                </a:solidFill>
                <a:latin typeface="Times New Roman" panose="02020603050405020304" pitchFamily="18" charset="0"/>
              </a:rPr>
              <a:t>和</a:t>
            </a:r>
            <a:r>
              <a:rPr lang="zh-CN" altLang="en-US" sz="2400" b="1" dirty="0">
                <a:solidFill>
                  <a:srgbClr val="008000"/>
                </a:solidFill>
                <a:latin typeface="Times New Roman" panose="02020603050405020304" pitchFamily="18" charset="0"/>
              </a:rPr>
              <a:t>置换功能</a:t>
            </a:r>
            <a:r>
              <a:rPr lang="zh-CN" altLang="en-US" sz="2400" b="1" dirty="0">
                <a:latin typeface="Times New Roman" panose="02020603050405020304" pitchFamily="18" charset="0"/>
              </a:rPr>
              <a:t>， 能从</a:t>
            </a:r>
            <a:r>
              <a:rPr lang="zh-CN" altLang="en-US" sz="2400" b="1" dirty="0">
                <a:solidFill>
                  <a:schemeClr val="hlink"/>
                </a:solidFill>
                <a:latin typeface="Times New Roman" panose="02020603050405020304" pitchFamily="18" charset="0"/>
              </a:rPr>
              <a:t>逻辑上对内存容量加以扩充</a:t>
            </a:r>
            <a:r>
              <a:rPr lang="zh-CN" altLang="en-US" sz="2400" b="1" dirty="0">
                <a:latin typeface="Times New Roman" panose="02020603050405020304" pitchFamily="18" charset="0"/>
              </a:rPr>
              <a:t>的一种存储器系统。其逻辑容量由内存容量和外存容量之和所决定，其运行速度接近于内存速度，而每位的成本却又接近于外存。</a:t>
            </a:r>
            <a:endParaRPr lang="zh-CN" altLang="en-US" sz="2400" dirty="0">
              <a:latin typeface="Times New Roman" panose="02020603050405020304" pitchFamily="18" charset="0"/>
            </a:endParaRPr>
          </a:p>
        </p:txBody>
      </p:sp>
      <p:sp>
        <p:nvSpPr>
          <p:cNvPr id="11268" name="AutoShape 6"/>
          <p:cNvSpPr/>
          <p:nvPr/>
        </p:nvSpPr>
        <p:spPr>
          <a:xfrm>
            <a:off x="1331913" y="4724400"/>
            <a:ext cx="1655762" cy="1368425"/>
          </a:xfrm>
          <a:prstGeom prst="smileyFace">
            <a:avLst>
              <a:gd name="adj" fmla="val 4653"/>
            </a:avLst>
          </a:prstGeom>
          <a:solidFill>
            <a:srgbClr val="FF99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11269" name="Rectangle 7"/>
          <p:cNvSpPr/>
          <p:nvPr/>
        </p:nvSpPr>
        <p:spPr>
          <a:xfrm>
            <a:off x="3563938" y="4905375"/>
            <a:ext cx="4319587" cy="1008063"/>
          </a:xfrm>
          <a:prstGeom prst="rect">
            <a:avLst/>
          </a:prstGeom>
          <a:solidFill>
            <a:srgbClr val="CCFFCC"/>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800" b="1" dirty="0"/>
              <a:t>人的智慧是无止尽的！</a:t>
            </a:r>
            <a:endParaRPr lang="zh-CN" altLang="en-US" sz="2800" b="1" dirty="0"/>
          </a:p>
        </p:txBody>
      </p:sp>
    </p:spTree>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Text Box 2"/>
          <p:cNvSpPr txBox="1"/>
          <p:nvPr/>
        </p:nvSpPr>
        <p:spPr>
          <a:xfrm>
            <a:off x="576263" y="873125"/>
            <a:ext cx="3413125"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 typeface="Wingdings" panose="05000000000000000000" pitchFamily="2" charset="2"/>
              <a:buChar char="Ø"/>
            </a:pPr>
            <a:r>
              <a:rPr lang="zh-CN" altLang="en-US" sz="2800" b="1" dirty="0">
                <a:solidFill>
                  <a:schemeClr val="hlink"/>
                </a:solidFill>
                <a:latin typeface="Times New Roman" panose="02020603050405020304" pitchFamily="18" charset="0"/>
              </a:rPr>
              <a:t>虚拟存储器的特征</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p:txBody>
      </p:sp>
      <p:sp>
        <p:nvSpPr>
          <p:cNvPr id="442371" name="Text Box 3"/>
          <p:cNvSpPr txBox="1"/>
          <p:nvPr/>
        </p:nvSpPr>
        <p:spPr>
          <a:xfrm>
            <a:off x="611188" y="2276475"/>
            <a:ext cx="6894512"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None/>
            </a:pPr>
            <a:r>
              <a:rPr lang="en-US" altLang="zh-CN" sz="2800" b="1" dirty="0">
                <a:latin typeface="Times New Roman" panose="02020603050405020304" pitchFamily="18" charset="0"/>
              </a:rPr>
              <a:t>1.</a:t>
            </a:r>
            <a:r>
              <a:rPr lang="zh-CN" altLang="en-US" sz="2800" b="1" dirty="0">
                <a:latin typeface="Times New Roman" panose="02020603050405020304" pitchFamily="18" charset="0"/>
              </a:rPr>
              <a:t>多次性：作业被分成多次调入内存运行</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442373" name="Rectangle 5"/>
          <p:cNvSpPr/>
          <p:nvPr/>
        </p:nvSpPr>
        <p:spPr>
          <a:xfrm>
            <a:off x="447675" y="3341688"/>
            <a:ext cx="8080375"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 2.</a:t>
            </a:r>
            <a:r>
              <a:rPr lang="zh-CN" altLang="en-US" sz="2800" b="1" dirty="0"/>
              <a:t>对换性：允许在作业的运行过程中换进、换出。</a:t>
            </a:r>
            <a:endParaRPr lang="zh-CN" altLang="en-US" sz="2800" b="1" dirty="0"/>
          </a:p>
        </p:txBody>
      </p:sp>
      <p:sp>
        <p:nvSpPr>
          <p:cNvPr id="442374" name="Rectangle 6"/>
          <p:cNvSpPr/>
          <p:nvPr/>
        </p:nvSpPr>
        <p:spPr>
          <a:xfrm>
            <a:off x="539750" y="4652963"/>
            <a:ext cx="5937250"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3. </a:t>
            </a:r>
            <a:r>
              <a:rPr lang="zh-CN" altLang="en-US" sz="2800" b="1" dirty="0"/>
              <a:t>虚拟性：从逻辑上扩充内存容量。</a:t>
            </a:r>
            <a:endParaRPr lang="zh-CN" altLang="en-US" sz="2800" b="1" dirty="0"/>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442371"/>
                                        </p:tgtEl>
                                        <p:attrNameLst>
                                          <p:attrName>style.visibility</p:attrName>
                                        </p:attrNameLst>
                                      </p:cBhvr>
                                      <p:to>
                                        <p:strVal val="visible"/>
                                      </p:to>
                                    </p:set>
                                    <p:animEffect transition="in" filter="diamond(in)">
                                      <p:cBhvr>
                                        <p:cTn id="7" dur="2000"/>
                                        <p:tgtEl>
                                          <p:spTgt spid="44237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42373"/>
                                        </p:tgtEl>
                                        <p:attrNameLst>
                                          <p:attrName>style.visibility</p:attrName>
                                        </p:attrNameLst>
                                      </p:cBhvr>
                                      <p:to>
                                        <p:strVal val="visible"/>
                                      </p:to>
                                    </p:set>
                                    <p:animEffect transition="in" filter="checkerboard(across)">
                                      <p:cBhvr>
                                        <p:cTn id="12" dur="500"/>
                                        <p:tgtEl>
                                          <p:spTgt spid="44237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42374"/>
                                        </p:tgtEl>
                                        <p:attrNameLst>
                                          <p:attrName>style.visibility</p:attrName>
                                        </p:attrNameLst>
                                      </p:cBhvr>
                                      <p:to>
                                        <p:strVal val="visible"/>
                                      </p:to>
                                    </p:set>
                                    <p:animEffect transition="in" filter="blinds(horizontal)">
                                      <p:cBhvr>
                                        <p:cTn id="17" dur="500"/>
                                        <p:tgtEl>
                                          <p:spTgt spid="442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371" grpId="0"/>
      <p:bldP spid="442373" grpId="0"/>
      <p:bldP spid="442374"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Text Box 2"/>
          <p:cNvSpPr txBox="1"/>
          <p:nvPr/>
        </p:nvSpPr>
        <p:spPr>
          <a:xfrm>
            <a:off x="684213" y="476250"/>
            <a:ext cx="455930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800" b="1" dirty="0">
                <a:solidFill>
                  <a:schemeClr val="hlink"/>
                </a:solidFill>
                <a:latin typeface="Times New Roman" panose="02020603050405020304" pitchFamily="18" charset="0"/>
              </a:rPr>
              <a:t>三、虚拟存储器的实现方法 </a:t>
            </a:r>
            <a:endParaRPr lang="zh-CN" altLang="en-US" sz="2800" b="1" dirty="0">
              <a:solidFill>
                <a:schemeClr val="hlink"/>
              </a:solidFill>
              <a:latin typeface="Times New Roman" panose="02020603050405020304" pitchFamily="18" charset="0"/>
            </a:endParaRPr>
          </a:p>
        </p:txBody>
      </p:sp>
      <p:sp>
        <p:nvSpPr>
          <p:cNvPr id="441347" name="Text Box 3"/>
          <p:cNvSpPr txBox="1"/>
          <p:nvPr/>
        </p:nvSpPr>
        <p:spPr>
          <a:xfrm>
            <a:off x="431800" y="1268413"/>
            <a:ext cx="8064500" cy="26479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457200" lvl="0" indent="-457200" eaLnBrk="1" hangingPunct="1">
              <a:spcBef>
                <a:spcPct val="0"/>
              </a:spcBef>
              <a:buClrTx/>
              <a:buSzTx/>
              <a:buFontTx/>
              <a:buNone/>
            </a:pPr>
            <a:r>
              <a:rPr lang="en-US" altLang="zh-CN" sz="2400" b="1" dirty="0">
                <a:latin typeface="Times New Roman" panose="02020603050405020304" pitchFamily="18" charset="0"/>
              </a:rPr>
              <a:t>1.</a:t>
            </a:r>
            <a:r>
              <a:rPr lang="zh-CN" altLang="en-US" sz="2400" b="1" dirty="0">
                <a:latin typeface="Times New Roman" panose="02020603050405020304" pitchFamily="18" charset="0"/>
              </a:rPr>
              <a:t>分页请求系统 </a:t>
            </a:r>
            <a:endParaRPr lang="zh-CN" altLang="en-US" sz="2400" b="1" dirty="0">
              <a:latin typeface="Times New Roman" panose="02020603050405020304" pitchFamily="18" charset="0"/>
            </a:endParaRPr>
          </a:p>
          <a:p>
            <a:pPr marL="457200" lvl="0" indent="-457200" eaLnBrk="1" hangingPunct="1">
              <a:spcBef>
                <a:spcPct val="0"/>
              </a:spcBef>
              <a:buClrTx/>
              <a:buSzTx/>
              <a:buFontTx/>
              <a:buNone/>
            </a:pPr>
            <a:r>
              <a:rPr lang="zh-CN" altLang="en-US" sz="2400" b="1" dirty="0">
                <a:latin typeface="Times New Roman" panose="02020603050405020304" pitchFamily="18" charset="0"/>
              </a:rPr>
              <a:t>      </a:t>
            </a:r>
            <a:r>
              <a:rPr lang="zh-CN" altLang="en-US" sz="2400" b="1" dirty="0">
                <a:solidFill>
                  <a:srgbClr val="000000"/>
                </a:solidFill>
                <a:latin typeface="Times New Roman" panose="02020603050405020304" pitchFamily="18" charset="0"/>
              </a:rPr>
              <a:t>在</a:t>
            </a:r>
            <a:r>
              <a:rPr lang="zh-CN" altLang="en-US" sz="2400" b="1" dirty="0">
                <a:solidFill>
                  <a:schemeClr val="hlink"/>
                </a:solidFill>
                <a:latin typeface="Times New Roman" panose="02020603050405020304" pitchFamily="18" charset="0"/>
              </a:rPr>
              <a:t>分页系统</a:t>
            </a:r>
            <a:r>
              <a:rPr lang="zh-CN" altLang="en-US" sz="2400" b="1" dirty="0">
                <a:solidFill>
                  <a:srgbClr val="000000"/>
                </a:solidFill>
                <a:latin typeface="Times New Roman" panose="02020603050405020304" pitchFamily="18" charset="0"/>
              </a:rPr>
              <a:t>的基础上，增加了</a:t>
            </a:r>
            <a:r>
              <a:rPr lang="zh-CN" altLang="en-US" sz="2400" b="1" dirty="0">
                <a:solidFill>
                  <a:schemeClr val="hlink"/>
                </a:solidFill>
                <a:latin typeface="Times New Roman" panose="02020603050405020304" pitchFamily="18" charset="0"/>
              </a:rPr>
              <a:t>请求调页功能和页面置换</a:t>
            </a:r>
            <a:endParaRPr lang="zh-CN" altLang="en-US" sz="2400" b="1" dirty="0">
              <a:solidFill>
                <a:schemeClr val="hlink"/>
              </a:solidFill>
              <a:latin typeface="Times New Roman" panose="02020603050405020304" pitchFamily="18" charset="0"/>
            </a:endParaRPr>
          </a:p>
          <a:p>
            <a:pPr marL="457200" lvl="0" indent="-457200" eaLnBrk="1" hangingPunct="1">
              <a:spcBef>
                <a:spcPct val="0"/>
              </a:spcBef>
              <a:buClrTx/>
              <a:buSzTx/>
              <a:buFontTx/>
              <a:buNone/>
            </a:pPr>
            <a:r>
              <a:rPr lang="zh-CN" altLang="en-US" sz="2400" b="1" dirty="0">
                <a:solidFill>
                  <a:srgbClr val="000000"/>
                </a:solidFill>
                <a:latin typeface="Times New Roman" panose="02020603050405020304" pitchFamily="18" charset="0"/>
              </a:rPr>
              <a:t>功能的</a:t>
            </a:r>
            <a:r>
              <a:rPr lang="zh-CN" altLang="en-US" sz="2400" b="1" dirty="0">
                <a:solidFill>
                  <a:schemeClr val="hlink"/>
                </a:solidFill>
                <a:latin typeface="Times New Roman" panose="02020603050405020304" pitchFamily="18" charset="0"/>
              </a:rPr>
              <a:t>页式虚拟存储系统</a:t>
            </a:r>
            <a:r>
              <a:rPr lang="zh-CN" altLang="en-US" sz="2400" b="1" dirty="0">
                <a:solidFill>
                  <a:srgbClr val="000000"/>
                </a:solidFill>
                <a:latin typeface="Times New Roman" panose="02020603050405020304" pitchFamily="18" charset="0"/>
              </a:rPr>
              <a:t>。</a:t>
            </a:r>
            <a:endParaRPr lang="zh-CN" altLang="en-US" sz="2400" b="1" dirty="0">
              <a:solidFill>
                <a:srgbClr val="000000"/>
              </a:solidFill>
              <a:latin typeface="Times New Roman" panose="02020603050405020304" pitchFamily="18" charset="0"/>
            </a:endParaRPr>
          </a:p>
          <a:p>
            <a:pPr marL="457200" lvl="0" indent="-457200" eaLnBrk="1" hangingPunct="1">
              <a:spcBef>
                <a:spcPct val="0"/>
              </a:spcBef>
              <a:buClrTx/>
              <a:buSzTx/>
              <a:buFontTx/>
              <a:buNone/>
            </a:pPr>
            <a:r>
              <a:rPr lang="zh-CN" altLang="en-US" sz="2400" b="1" dirty="0">
                <a:solidFill>
                  <a:srgbClr val="000000"/>
                </a:solidFill>
                <a:latin typeface="Times New Roman" panose="02020603050405020304" pitchFamily="18" charset="0"/>
              </a:rPr>
              <a:t>       允许只装入部分</a:t>
            </a:r>
            <a:r>
              <a:rPr lang="zh-CN" altLang="en-US" sz="2400" b="1" dirty="0">
                <a:solidFill>
                  <a:schemeClr val="hlink"/>
                </a:solidFill>
                <a:latin typeface="Times New Roman" panose="02020603050405020304" pitchFamily="18" charset="0"/>
              </a:rPr>
              <a:t>页面</a:t>
            </a:r>
            <a:r>
              <a:rPr lang="zh-CN" altLang="en-US" sz="2400" b="1" dirty="0">
                <a:solidFill>
                  <a:srgbClr val="000000"/>
                </a:solidFill>
                <a:latin typeface="Times New Roman" panose="02020603050405020304" pitchFamily="18" charset="0"/>
              </a:rPr>
              <a:t>的程序（及数据），便启动运</a:t>
            </a:r>
            <a:endParaRPr lang="zh-CN" altLang="en-US" sz="2400" b="1" dirty="0">
              <a:solidFill>
                <a:srgbClr val="000000"/>
              </a:solidFill>
              <a:latin typeface="Times New Roman" panose="02020603050405020304" pitchFamily="18" charset="0"/>
            </a:endParaRPr>
          </a:p>
          <a:p>
            <a:pPr marL="457200" lvl="0" indent="-457200" eaLnBrk="1" hangingPunct="1">
              <a:spcBef>
                <a:spcPct val="0"/>
              </a:spcBef>
              <a:buClrTx/>
              <a:buSzTx/>
              <a:buFontTx/>
              <a:buNone/>
            </a:pPr>
            <a:r>
              <a:rPr lang="zh-CN" altLang="en-US" sz="2400" b="1" dirty="0">
                <a:solidFill>
                  <a:srgbClr val="000000"/>
                </a:solidFill>
                <a:latin typeface="Times New Roman" panose="02020603050405020304" pitchFamily="18" charset="0"/>
              </a:rPr>
              <a:t>行。以后再通过调页功能及页面置换功能，陆续地把即将</a:t>
            </a:r>
            <a:endParaRPr lang="zh-CN" altLang="en-US" sz="2400" b="1" dirty="0">
              <a:solidFill>
                <a:srgbClr val="000000"/>
              </a:solidFill>
              <a:latin typeface="Times New Roman" panose="02020603050405020304" pitchFamily="18" charset="0"/>
            </a:endParaRPr>
          </a:p>
          <a:p>
            <a:pPr marL="457200" lvl="0" indent="-457200" eaLnBrk="1" hangingPunct="1">
              <a:spcBef>
                <a:spcPct val="0"/>
              </a:spcBef>
              <a:buClrTx/>
              <a:buSzTx/>
              <a:buFontTx/>
              <a:buNone/>
            </a:pPr>
            <a:r>
              <a:rPr lang="zh-CN" altLang="en-US" sz="2400" b="1" dirty="0">
                <a:solidFill>
                  <a:srgbClr val="000000"/>
                </a:solidFill>
                <a:latin typeface="Times New Roman" panose="02020603050405020304" pitchFamily="18" charset="0"/>
              </a:rPr>
              <a:t>要运行的页面调入内存，同时把暂时不运行的页面换出到</a:t>
            </a:r>
            <a:endParaRPr lang="zh-CN" altLang="en-US" sz="2400" b="1" dirty="0">
              <a:solidFill>
                <a:srgbClr val="000000"/>
              </a:solidFill>
              <a:latin typeface="Times New Roman" panose="02020603050405020304" pitchFamily="18" charset="0"/>
            </a:endParaRPr>
          </a:p>
          <a:p>
            <a:pPr marL="457200" lvl="0" indent="-457200" eaLnBrk="1" hangingPunct="1">
              <a:spcBef>
                <a:spcPct val="0"/>
              </a:spcBef>
              <a:buClrTx/>
              <a:buSzTx/>
              <a:buFontTx/>
              <a:buNone/>
            </a:pPr>
            <a:r>
              <a:rPr lang="zh-CN" altLang="en-US" sz="2400" b="1" dirty="0">
                <a:solidFill>
                  <a:srgbClr val="000000"/>
                </a:solidFill>
                <a:latin typeface="Times New Roman" panose="02020603050405020304" pitchFamily="18" charset="0"/>
              </a:rPr>
              <a:t>外存上。</a:t>
            </a:r>
            <a:r>
              <a:rPr lang="zh-CN" altLang="en-US" sz="2400" b="1" dirty="0">
                <a:solidFill>
                  <a:srgbClr val="008000"/>
                </a:solidFill>
                <a:latin typeface="Times New Roman" panose="02020603050405020304" pitchFamily="18" charset="0"/>
              </a:rPr>
              <a:t>置换时以页面为单位</a:t>
            </a:r>
            <a:r>
              <a:rPr lang="zh-CN" altLang="en-US" sz="2400" b="1" dirty="0">
                <a:solidFill>
                  <a:srgbClr val="000000"/>
                </a:solidFill>
                <a:latin typeface="Times New Roman" panose="02020603050405020304" pitchFamily="18" charset="0"/>
              </a:rPr>
              <a:t>。</a:t>
            </a:r>
            <a:endParaRPr lang="zh-CN" altLang="en-US" sz="2400" b="1" dirty="0">
              <a:solidFill>
                <a:srgbClr val="000000"/>
              </a:solidFill>
              <a:latin typeface="Times New Roman" panose="02020603050405020304" pitchFamily="18" charset="0"/>
            </a:endParaRPr>
          </a:p>
        </p:txBody>
      </p:sp>
      <p:sp>
        <p:nvSpPr>
          <p:cNvPr id="441351" name="Text Box 7"/>
          <p:cNvSpPr txBox="1"/>
          <p:nvPr/>
        </p:nvSpPr>
        <p:spPr>
          <a:xfrm>
            <a:off x="576263" y="4005263"/>
            <a:ext cx="8064500" cy="26479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457200" lvl="0" indent="-457200" eaLnBrk="1" hangingPunct="1">
              <a:spcBef>
                <a:spcPct val="0"/>
              </a:spcBef>
              <a:buClrTx/>
              <a:buSzTx/>
              <a:buFontTx/>
              <a:buNone/>
            </a:pPr>
            <a:r>
              <a:rPr lang="en-US" altLang="zh-CN" sz="2400" b="1" dirty="0">
                <a:latin typeface="Times New Roman" panose="02020603050405020304" pitchFamily="18" charset="0"/>
              </a:rPr>
              <a:t>2.</a:t>
            </a:r>
            <a:r>
              <a:rPr lang="zh-CN" altLang="en-US" sz="2400" b="1" dirty="0">
                <a:latin typeface="Times New Roman" panose="02020603050405020304" pitchFamily="18" charset="0"/>
              </a:rPr>
              <a:t>请求分段系统 </a:t>
            </a:r>
            <a:endParaRPr lang="zh-CN" altLang="en-US" sz="2400" b="1" dirty="0">
              <a:latin typeface="Times New Roman" panose="02020603050405020304" pitchFamily="18" charset="0"/>
            </a:endParaRPr>
          </a:p>
          <a:p>
            <a:pPr marL="457200" lvl="0" indent="-457200" eaLnBrk="1" hangingPunct="1">
              <a:spcBef>
                <a:spcPct val="0"/>
              </a:spcBef>
              <a:buClrTx/>
              <a:buSzTx/>
              <a:buFontTx/>
              <a:buNone/>
            </a:pPr>
            <a:r>
              <a:rPr lang="zh-CN" altLang="en-US" sz="2400" b="1" dirty="0">
                <a:latin typeface="Times New Roman" panose="02020603050405020304" pitchFamily="18" charset="0"/>
              </a:rPr>
              <a:t>      </a:t>
            </a:r>
            <a:r>
              <a:rPr lang="zh-CN" altLang="en-US" sz="2400" b="1" dirty="0">
                <a:solidFill>
                  <a:srgbClr val="000000"/>
                </a:solidFill>
                <a:latin typeface="Times New Roman" panose="02020603050405020304" pitchFamily="18" charset="0"/>
              </a:rPr>
              <a:t>在</a:t>
            </a:r>
            <a:r>
              <a:rPr lang="zh-CN" altLang="en-US" sz="2400" b="1" dirty="0">
                <a:solidFill>
                  <a:schemeClr val="hlink"/>
                </a:solidFill>
                <a:latin typeface="Times New Roman" panose="02020603050405020304" pitchFamily="18" charset="0"/>
              </a:rPr>
              <a:t>分段系统</a:t>
            </a:r>
            <a:r>
              <a:rPr lang="zh-CN" altLang="en-US" sz="2400" b="1" dirty="0">
                <a:solidFill>
                  <a:srgbClr val="000000"/>
                </a:solidFill>
                <a:latin typeface="Times New Roman" panose="02020603050405020304" pitchFamily="18" charset="0"/>
              </a:rPr>
              <a:t>的基础上，增加了</a:t>
            </a:r>
            <a:r>
              <a:rPr lang="zh-CN" altLang="en-US" sz="2400" b="1" dirty="0">
                <a:solidFill>
                  <a:schemeClr val="hlink"/>
                </a:solidFill>
                <a:latin typeface="Times New Roman" panose="02020603050405020304" pitchFamily="18" charset="0"/>
              </a:rPr>
              <a:t>请求调段功能和分段置换</a:t>
            </a:r>
            <a:endParaRPr lang="zh-CN" altLang="en-US" sz="2400" b="1" dirty="0">
              <a:solidFill>
                <a:schemeClr val="hlink"/>
              </a:solidFill>
              <a:latin typeface="Times New Roman" panose="02020603050405020304" pitchFamily="18" charset="0"/>
            </a:endParaRPr>
          </a:p>
          <a:p>
            <a:pPr marL="457200" lvl="0" indent="-457200" eaLnBrk="1" hangingPunct="1">
              <a:spcBef>
                <a:spcPct val="0"/>
              </a:spcBef>
              <a:buClrTx/>
              <a:buSzTx/>
              <a:buFontTx/>
              <a:buNone/>
            </a:pPr>
            <a:r>
              <a:rPr lang="zh-CN" altLang="en-US" sz="2400" b="1" dirty="0">
                <a:solidFill>
                  <a:srgbClr val="000000"/>
                </a:solidFill>
                <a:latin typeface="Times New Roman" panose="02020603050405020304" pitchFamily="18" charset="0"/>
              </a:rPr>
              <a:t>功能的</a:t>
            </a:r>
            <a:r>
              <a:rPr lang="zh-CN" altLang="en-US" sz="2400" b="1" dirty="0">
                <a:solidFill>
                  <a:schemeClr val="hlink"/>
                </a:solidFill>
                <a:latin typeface="Times New Roman" panose="02020603050405020304" pitchFamily="18" charset="0"/>
              </a:rPr>
              <a:t>段式虚拟存储系统</a:t>
            </a:r>
            <a:r>
              <a:rPr lang="zh-CN" altLang="en-US" sz="2400" b="1" dirty="0">
                <a:solidFill>
                  <a:srgbClr val="000000"/>
                </a:solidFill>
                <a:latin typeface="Times New Roman" panose="02020603050405020304" pitchFamily="18" charset="0"/>
              </a:rPr>
              <a:t>。</a:t>
            </a:r>
            <a:endParaRPr lang="zh-CN" altLang="en-US" sz="2400" b="1" dirty="0">
              <a:solidFill>
                <a:srgbClr val="000000"/>
              </a:solidFill>
              <a:latin typeface="Times New Roman" panose="02020603050405020304" pitchFamily="18" charset="0"/>
            </a:endParaRPr>
          </a:p>
          <a:p>
            <a:pPr marL="457200" lvl="0" indent="-457200" eaLnBrk="1" hangingPunct="1">
              <a:spcBef>
                <a:spcPct val="0"/>
              </a:spcBef>
              <a:buClrTx/>
              <a:buSzTx/>
              <a:buFontTx/>
              <a:buNone/>
            </a:pPr>
            <a:r>
              <a:rPr lang="zh-CN" altLang="en-US" sz="2400" b="1" dirty="0">
                <a:solidFill>
                  <a:srgbClr val="000000"/>
                </a:solidFill>
                <a:latin typeface="Times New Roman" panose="02020603050405020304" pitchFamily="18" charset="0"/>
              </a:rPr>
              <a:t>       允许只装入若干</a:t>
            </a:r>
            <a:r>
              <a:rPr lang="zh-CN" altLang="en-US" sz="2400" b="1" dirty="0">
                <a:solidFill>
                  <a:schemeClr val="hlink"/>
                </a:solidFill>
                <a:latin typeface="Times New Roman" panose="02020603050405020304" pitchFamily="18" charset="0"/>
              </a:rPr>
              <a:t>段</a:t>
            </a:r>
            <a:r>
              <a:rPr lang="zh-CN" altLang="en-US" sz="2400" b="1" dirty="0">
                <a:solidFill>
                  <a:srgbClr val="000000"/>
                </a:solidFill>
                <a:latin typeface="Times New Roman" panose="02020603050405020304" pitchFamily="18" charset="0"/>
              </a:rPr>
              <a:t>的程序（及数据），便启动运行。</a:t>
            </a:r>
            <a:endParaRPr lang="zh-CN" altLang="en-US" sz="2400" b="1" dirty="0">
              <a:solidFill>
                <a:srgbClr val="000000"/>
              </a:solidFill>
              <a:latin typeface="Times New Roman" panose="02020603050405020304" pitchFamily="18" charset="0"/>
            </a:endParaRPr>
          </a:p>
          <a:p>
            <a:pPr marL="457200" lvl="0" indent="-457200" eaLnBrk="1" hangingPunct="1">
              <a:spcBef>
                <a:spcPct val="0"/>
              </a:spcBef>
              <a:buClrTx/>
              <a:buSzTx/>
              <a:buFontTx/>
              <a:buNone/>
            </a:pPr>
            <a:r>
              <a:rPr lang="zh-CN" altLang="en-US" sz="2400" b="1" dirty="0">
                <a:solidFill>
                  <a:srgbClr val="000000"/>
                </a:solidFill>
                <a:latin typeface="Times New Roman" panose="02020603050405020304" pitchFamily="18" charset="0"/>
              </a:rPr>
              <a:t>以后再通过调段功能及段的置换功能，陆续地把即将要运</a:t>
            </a:r>
            <a:endParaRPr lang="zh-CN" altLang="en-US" sz="2400" b="1" dirty="0">
              <a:solidFill>
                <a:srgbClr val="000000"/>
              </a:solidFill>
              <a:latin typeface="Times New Roman" panose="02020603050405020304" pitchFamily="18" charset="0"/>
            </a:endParaRPr>
          </a:p>
          <a:p>
            <a:pPr marL="457200" lvl="0" indent="-457200" eaLnBrk="1" hangingPunct="1">
              <a:spcBef>
                <a:spcPct val="0"/>
              </a:spcBef>
              <a:buClrTx/>
              <a:buSzTx/>
              <a:buFontTx/>
              <a:buNone/>
            </a:pPr>
            <a:r>
              <a:rPr lang="zh-CN" altLang="en-US" sz="2400" b="1" dirty="0">
                <a:solidFill>
                  <a:srgbClr val="000000"/>
                </a:solidFill>
                <a:latin typeface="Times New Roman" panose="02020603050405020304" pitchFamily="18" charset="0"/>
              </a:rPr>
              <a:t>行的段调入内存，同时把暂时不运行的段换出到外存</a:t>
            </a:r>
            <a:endParaRPr lang="zh-CN" altLang="en-US" sz="2400" b="1" dirty="0">
              <a:solidFill>
                <a:srgbClr val="000000"/>
              </a:solidFill>
              <a:latin typeface="Times New Roman" panose="02020603050405020304" pitchFamily="18" charset="0"/>
            </a:endParaRPr>
          </a:p>
          <a:p>
            <a:pPr marL="457200" lvl="0" indent="-457200" eaLnBrk="1" hangingPunct="1">
              <a:spcBef>
                <a:spcPct val="0"/>
              </a:spcBef>
              <a:buClrTx/>
              <a:buSzTx/>
              <a:buFontTx/>
              <a:buNone/>
            </a:pPr>
            <a:r>
              <a:rPr lang="zh-CN" altLang="en-US" sz="2400" b="1" dirty="0">
                <a:solidFill>
                  <a:srgbClr val="000000"/>
                </a:solidFill>
                <a:latin typeface="Times New Roman" panose="02020603050405020304" pitchFamily="18" charset="0"/>
              </a:rPr>
              <a:t>上。</a:t>
            </a:r>
            <a:r>
              <a:rPr lang="zh-CN" altLang="en-US" sz="2400" b="1" dirty="0">
                <a:solidFill>
                  <a:srgbClr val="008000"/>
                </a:solidFill>
                <a:latin typeface="Times New Roman" panose="02020603050405020304" pitchFamily="18" charset="0"/>
              </a:rPr>
              <a:t>置换时以段为单位</a:t>
            </a:r>
            <a:r>
              <a:rPr lang="zh-CN" altLang="en-US" sz="2400" b="1" dirty="0">
                <a:solidFill>
                  <a:srgbClr val="000000"/>
                </a:solidFill>
                <a:latin typeface="Times New Roman" panose="02020603050405020304" pitchFamily="18" charset="0"/>
              </a:rPr>
              <a:t>。</a:t>
            </a:r>
            <a:endParaRPr lang="zh-CN" altLang="en-US" sz="2400" b="1" dirty="0">
              <a:solidFill>
                <a:srgbClr val="000000"/>
              </a:solidFill>
              <a:latin typeface="Times New Roman" panose="02020603050405020304" pitchFamily="18"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1347"/>
                                        </p:tgtEl>
                                        <p:attrNameLst>
                                          <p:attrName>style.visibility</p:attrName>
                                        </p:attrNameLst>
                                      </p:cBhvr>
                                      <p:to>
                                        <p:strVal val="visible"/>
                                      </p:to>
                                    </p:set>
                                    <p:anim calcmode="lin" valueType="num">
                                      <p:cBhvr additive="base">
                                        <p:cTn id="7" dur="500" fill="hold"/>
                                        <p:tgtEl>
                                          <p:spTgt spid="441347"/>
                                        </p:tgtEl>
                                        <p:attrNameLst>
                                          <p:attrName>ppt_x</p:attrName>
                                        </p:attrNameLst>
                                      </p:cBhvr>
                                      <p:tavLst>
                                        <p:tav tm="0">
                                          <p:val>
                                            <p:strVal val="#ppt_x"/>
                                          </p:val>
                                        </p:tav>
                                        <p:tav tm="100000">
                                          <p:val>
                                            <p:strVal val="#ppt_x"/>
                                          </p:val>
                                        </p:tav>
                                      </p:tavLst>
                                    </p:anim>
                                    <p:anim calcmode="lin" valueType="num">
                                      <p:cBhvr additive="base">
                                        <p:cTn id="8" dur="500" fill="hold"/>
                                        <p:tgtEl>
                                          <p:spTgt spid="44134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1351"/>
                                        </p:tgtEl>
                                        <p:attrNameLst>
                                          <p:attrName>style.visibility</p:attrName>
                                        </p:attrNameLst>
                                      </p:cBhvr>
                                      <p:to>
                                        <p:strVal val="visible"/>
                                      </p:to>
                                    </p:set>
                                    <p:anim calcmode="lin" valueType="num">
                                      <p:cBhvr additive="base">
                                        <p:cTn id="13" dur="500" fill="hold"/>
                                        <p:tgtEl>
                                          <p:spTgt spid="441351"/>
                                        </p:tgtEl>
                                        <p:attrNameLst>
                                          <p:attrName>ppt_x</p:attrName>
                                        </p:attrNameLst>
                                      </p:cBhvr>
                                      <p:tavLst>
                                        <p:tav tm="0">
                                          <p:val>
                                            <p:strVal val="#ppt_x"/>
                                          </p:val>
                                        </p:tav>
                                        <p:tav tm="100000">
                                          <p:val>
                                            <p:strVal val="#ppt_x"/>
                                          </p:val>
                                        </p:tav>
                                      </p:tavLst>
                                    </p:anim>
                                    <p:anim calcmode="lin" valueType="num">
                                      <p:cBhvr additive="base">
                                        <p:cTn id="14" dur="500" fill="hold"/>
                                        <p:tgtEl>
                                          <p:spTgt spid="4413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347" grpId="0"/>
      <p:bldP spid="44135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p:nvPr/>
        </p:nvSpPr>
        <p:spPr>
          <a:xfrm>
            <a:off x="323850" y="188913"/>
            <a:ext cx="4467225" cy="519112"/>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solidFill>
                  <a:schemeClr val="hlink"/>
                </a:solidFill>
                <a:latin typeface="Times New Roman" panose="02020603050405020304" pitchFamily="18" charset="0"/>
              </a:rPr>
              <a:t>5.2  </a:t>
            </a:r>
            <a:r>
              <a:rPr lang="zh-CN" altLang="en-US" sz="2800" b="1" dirty="0">
                <a:solidFill>
                  <a:schemeClr val="hlink"/>
                </a:solidFill>
                <a:latin typeface="Times New Roman" panose="02020603050405020304" pitchFamily="18" charset="0"/>
              </a:rPr>
              <a:t>请求分页存储管理方式</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p:txBody>
      </p:sp>
      <p:sp>
        <p:nvSpPr>
          <p:cNvPr id="14339" name="Text Box 3"/>
          <p:cNvSpPr txBox="1"/>
          <p:nvPr/>
        </p:nvSpPr>
        <p:spPr>
          <a:xfrm>
            <a:off x="755650" y="800100"/>
            <a:ext cx="7812088" cy="60023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533400" lvl="0" indent="-533400" eaLnBrk="1" hangingPunct="1">
              <a:spcBef>
                <a:spcPct val="0"/>
              </a:spcBef>
              <a:buClrTx/>
              <a:buSzTx/>
              <a:buFontTx/>
              <a:buNone/>
            </a:pPr>
            <a:r>
              <a:rPr lang="en-US" altLang="zh-CN" sz="2400" b="1" dirty="0">
                <a:latin typeface="宋体" panose="02010600030101010101" pitchFamily="2" charset="-122"/>
              </a:rPr>
              <a:t>5.2.1 </a:t>
            </a:r>
            <a:r>
              <a:rPr lang="zh-CN" altLang="en-US" sz="2400" b="1" dirty="0">
                <a:latin typeface="宋体" panose="02010600030101010101" pitchFamily="2" charset="-122"/>
              </a:rPr>
              <a:t>请求分页中的</a:t>
            </a:r>
            <a:r>
              <a:rPr lang="zh-CN" altLang="en-US" sz="2400" b="1" dirty="0">
                <a:solidFill>
                  <a:srgbClr val="FF0000"/>
                </a:solidFill>
                <a:latin typeface="宋体" panose="02010600030101010101" pitchFamily="2" charset="-122"/>
              </a:rPr>
              <a:t>硬件支持</a:t>
            </a:r>
            <a:endParaRPr lang="zh-CN" altLang="en-US" sz="2400" b="1" dirty="0">
              <a:solidFill>
                <a:srgbClr val="FF0000"/>
              </a:solidFill>
              <a:latin typeface="宋体" panose="02010600030101010101" pitchFamily="2" charset="-122"/>
            </a:endParaRPr>
          </a:p>
          <a:p>
            <a:pPr marL="533400" lvl="0" indent="-533400" eaLnBrk="1" hangingPunct="1">
              <a:spcBef>
                <a:spcPct val="0"/>
              </a:spcBef>
              <a:buClrTx/>
              <a:buSzTx/>
              <a:buFontTx/>
              <a:buNone/>
            </a:pPr>
            <a:r>
              <a:rPr lang="en-US" altLang="zh-CN" sz="2400" b="1" dirty="0">
                <a:solidFill>
                  <a:srgbClr val="003300"/>
                </a:solidFill>
                <a:latin typeface="宋体" panose="02010600030101010101" pitchFamily="2" charset="-122"/>
              </a:rPr>
              <a:t>1.</a:t>
            </a:r>
            <a:r>
              <a:rPr lang="zh-CN" altLang="en-US" sz="2400" b="1" dirty="0">
                <a:solidFill>
                  <a:srgbClr val="003300"/>
                </a:solidFill>
                <a:latin typeface="宋体" panose="02010600030101010101" pitchFamily="2" charset="-122"/>
              </a:rPr>
              <a:t>请求页表机制 </a:t>
            </a:r>
            <a:endParaRPr lang="zh-CN" altLang="en-US" sz="2400" b="1" dirty="0">
              <a:solidFill>
                <a:srgbClr val="003300"/>
              </a:solidFill>
              <a:latin typeface="宋体" panose="02010600030101010101" pitchFamily="2" charset="-122"/>
            </a:endParaRPr>
          </a:p>
          <a:p>
            <a:pPr marL="533400" lvl="0" indent="-533400" eaLnBrk="1" hangingPunct="1">
              <a:spcBef>
                <a:spcPct val="0"/>
              </a:spcBef>
              <a:buClrTx/>
              <a:buSzTx/>
              <a:buFontTx/>
              <a:buNone/>
            </a:pPr>
            <a:r>
              <a:rPr lang="en-US" altLang="zh-CN" sz="2400" b="1" dirty="0">
                <a:solidFill>
                  <a:srgbClr val="003300"/>
                </a:solidFill>
                <a:latin typeface="宋体" panose="02010600030101010101" pitchFamily="2" charset="-122"/>
              </a:rPr>
              <a:t>2.</a:t>
            </a:r>
            <a:r>
              <a:rPr lang="zh-CN" altLang="en-US" sz="2400" b="1" dirty="0">
                <a:solidFill>
                  <a:srgbClr val="003300"/>
                </a:solidFill>
                <a:latin typeface="宋体" panose="02010600030101010101" pitchFamily="2" charset="-122"/>
              </a:rPr>
              <a:t>缺页中断机构</a:t>
            </a:r>
            <a:endParaRPr lang="zh-CN" altLang="en-US" sz="2400" b="1" dirty="0">
              <a:solidFill>
                <a:srgbClr val="003300"/>
              </a:solidFill>
              <a:latin typeface="宋体" panose="02010600030101010101" pitchFamily="2" charset="-122"/>
            </a:endParaRPr>
          </a:p>
          <a:p>
            <a:pPr marL="533400" lvl="0" indent="-533400" eaLnBrk="1" hangingPunct="1">
              <a:spcBef>
                <a:spcPct val="0"/>
              </a:spcBef>
              <a:buClrTx/>
              <a:buSzTx/>
              <a:buFontTx/>
              <a:buNone/>
            </a:pPr>
            <a:r>
              <a:rPr lang="en-US" altLang="zh-CN" sz="2400" b="1" dirty="0">
                <a:solidFill>
                  <a:srgbClr val="003300"/>
                </a:solidFill>
                <a:latin typeface="宋体" panose="02010600030101010101" pitchFamily="2" charset="-122"/>
              </a:rPr>
              <a:t>3.</a:t>
            </a:r>
            <a:r>
              <a:rPr lang="zh-CN" altLang="en-US" sz="2400" b="1" dirty="0">
                <a:solidFill>
                  <a:srgbClr val="003300"/>
                </a:solidFill>
                <a:latin typeface="宋体" panose="02010600030101010101" pitchFamily="2" charset="-122"/>
              </a:rPr>
              <a:t>地址变换机构</a:t>
            </a:r>
            <a:endParaRPr lang="zh-CN" altLang="en-US" sz="2400" b="1" dirty="0">
              <a:solidFill>
                <a:srgbClr val="003300"/>
              </a:solidFill>
              <a:latin typeface="宋体" panose="02010600030101010101" pitchFamily="2" charset="-122"/>
            </a:endParaRPr>
          </a:p>
          <a:p>
            <a:pPr marL="533400" lvl="0" indent="-533400" eaLnBrk="1" hangingPunct="1">
              <a:spcBef>
                <a:spcPct val="0"/>
              </a:spcBef>
              <a:buClrTx/>
              <a:buSzTx/>
              <a:buFontTx/>
              <a:buNone/>
            </a:pPr>
            <a:r>
              <a:rPr lang="en-US" altLang="zh-CN" sz="2400" b="1" dirty="0">
                <a:latin typeface="宋体" panose="02010600030101010101" pitchFamily="2" charset="-122"/>
              </a:rPr>
              <a:t>5.2.2  </a:t>
            </a:r>
            <a:r>
              <a:rPr lang="zh-CN" altLang="en-US" sz="2400" b="1" dirty="0">
                <a:latin typeface="宋体" panose="02010600030101010101" pitchFamily="2" charset="-122"/>
              </a:rPr>
              <a:t>请求分页中的内存分配</a:t>
            </a:r>
            <a:endParaRPr lang="zh-CN" altLang="en-US" sz="2400" b="1" dirty="0">
              <a:latin typeface="宋体" panose="02010600030101010101" pitchFamily="2" charset="-122"/>
            </a:endParaRPr>
          </a:p>
          <a:p>
            <a:pPr marL="533400" lvl="0" indent="-533400" eaLnBrk="1" hangingPunct="1">
              <a:spcBef>
                <a:spcPct val="0"/>
              </a:spcBef>
              <a:buClrTx/>
              <a:buSzTx/>
              <a:buFontTx/>
              <a:buNone/>
            </a:pPr>
            <a:r>
              <a:rPr lang="en-US" altLang="zh-CN" sz="2400" b="1" dirty="0">
                <a:solidFill>
                  <a:srgbClr val="003300"/>
                </a:solidFill>
                <a:latin typeface="宋体" panose="02010600030101010101" pitchFamily="2" charset="-122"/>
              </a:rPr>
              <a:t>1.</a:t>
            </a:r>
            <a:r>
              <a:rPr lang="zh-CN" altLang="en-US" sz="2400" b="1" dirty="0">
                <a:solidFill>
                  <a:srgbClr val="003300"/>
                </a:solidFill>
                <a:latin typeface="宋体" panose="02010600030101010101" pitchFamily="2" charset="-122"/>
              </a:rPr>
              <a:t>最小物理块数的确定</a:t>
            </a:r>
            <a:endParaRPr lang="zh-CN" altLang="en-US" sz="2400" b="1" dirty="0">
              <a:solidFill>
                <a:srgbClr val="003300"/>
              </a:solidFill>
              <a:latin typeface="宋体" panose="02010600030101010101" pitchFamily="2" charset="-122"/>
            </a:endParaRPr>
          </a:p>
          <a:p>
            <a:pPr marL="533400" lvl="0" indent="-533400" eaLnBrk="1" hangingPunct="1">
              <a:spcBef>
                <a:spcPct val="0"/>
              </a:spcBef>
              <a:buClrTx/>
              <a:buSzTx/>
              <a:buFontTx/>
              <a:buNone/>
            </a:pPr>
            <a:r>
              <a:rPr lang="en-US" altLang="zh-CN" sz="2400" b="1" dirty="0">
                <a:solidFill>
                  <a:srgbClr val="003300"/>
                </a:solidFill>
                <a:latin typeface="宋体" panose="02010600030101010101" pitchFamily="2" charset="-122"/>
              </a:rPr>
              <a:t>2.</a:t>
            </a:r>
            <a:r>
              <a:rPr lang="zh-CN" altLang="en-US" sz="2400" b="1" dirty="0">
                <a:solidFill>
                  <a:srgbClr val="003300"/>
                </a:solidFill>
                <a:latin typeface="宋体" panose="02010600030101010101" pitchFamily="2" charset="-122"/>
              </a:rPr>
              <a:t>内存分配策略</a:t>
            </a:r>
            <a:endParaRPr lang="zh-CN" altLang="en-US" sz="2400" b="1" dirty="0">
              <a:solidFill>
                <a:srgbClr val="003300"/>
              </a:solidFill>
              <a:latin typeface="宋体" panose="02010600030101010101" pitchFamily="2" charset="-122"/>
            </a:endParaRPr>
          </a:p>
          <a:p>
            <a:pPr marL="533400" lvl="0" indent="-533400" eaLnBrk="1" hangingPunct="1">
              <a:spcBef>
                <a:spcPct val="0"/>
              </a:spcBef>
              <a:buClrTx/>
              <a:buSzTx/>
              <a:buFontTx/>
              <a:buNone/>
            </a:pPr>
            <a:r>
              <a:rPr lang="en-US" altLang="zh-CN" sz="2400" b="1" dirty="0">
                <a:solidFill>
                  <a:srgbClr val="003300"/>
                </a:solidFill>
                <a:latin typeface="宋体" panose="02010600030101010101" pitchFamily="2" charset="-122"/>
              </a:rPr>
              <a:t>3.</a:t>
            </a:r>
            <a:r>
              <a:rPr lang="zh-CN" altLang="en-US" sz="2400" b="1" dirty="0">
                <a:solidFill>
                  <a:srgbClr val="003300"/>
                </a:solidFill>
                <a:latin typeface="宋体" panose="02010600030101010101" pitchFamily="2" charset="-122"/>
              </a:rPr>
              <a:t>物理块分配算法</a:t>
            </a:r>
            <a:endParaRPr lang="zh-CN" altLang="en-US" sz="2400" b="1" dirty="0">
              <a:solidFill>
                <a:srgbClr val="003300"/>
              </a:solidFill>
              <a:latin typeface="宋体" panose="02010600030101010101" pitchFamily="2" charset="-122"/>
            </a:endParaRPr>
          </a:p>
          <a:p>
            <a:pPr marL="533400" lvl="0" indent="-533400" eaLnBrk="1" hangingPunct="1">
              <a:spcBef>
                <a:spcPct val="0"/>
              </a:spcBef>
              <a:buClrTx/>
              <a:buSzTx/>
              <a:buFontTx/>
              <a:buNone/>
            </a:pPr>
            <a:r>
              <a:rPr lang="en-US" altLang="zh-CN" sz="2400" b="1" dirty="0">
                <a:latin typeface="宋体" panose="02010600030101010101" pitchFamily="2" charset="-122"/>
              </a:rPr>
              <a:t>5.2.3 </a:t>
            </a:r>
            <a:r>
              <a:rPr lang="zh-CN" altLang="en-US" sz="2400" b="1" dirty="0">
                <a:latin typeface="宋体" panose="02010600030101010101" pitchFamily="2" charset="-122"/>
              </a:rPr>
              <a:t>调页策略</a:t>
            </a:r>
            <a:endParaRPr lang="zh-CN" altLang="en-US" sz="2400" b="1" dirty="0">
              <a:latin typeface="宋体" panose="02010600030101010101" pitchFamily="2" charset="-122"/>
            </a:endParaRPr>
          </a:p>
          <a:p>
            <a:pPr marL="533400" lvl="0" indent="-533400" eaLnBrk="1" hangingPunct="1">
              <a:spcBef>
                <a:spcPct val="0"/>
              </a:spcBef>
              <a:buClrTx/>
              <a:buSzTx/>
              <a:buFontTx/>
              <a:buNone/>
            </a:pPr>
            <a:r>
              <a:rPr lang="en-US" altLang="zh-CN" sz="2400" b="1" dirty="0">
                <a:solidFill>
                  <a:srgbClr val="003300"/>
                </a:solidFill>
                <a:latin typeface="宋体" panose="02010600030101010101" pitchFamily="2" charset="-122"/>
              </a:rPr>
              <a:t>1.</a:t>
            </a:r>
            <a:r>
              <a:rPr lang="zh-CN" altLang="en-US" sz="2400" b="1" dirty="0">
                <a:solidFill>
                  <a:srgbClr val="003300"/>
                </a:solidFill>
                <a:latin typeface="宋体" panose="02010600030101010101" pitchFamily="2" charset="-122"/>
              </a:rPr>
              <a:t>何时调入页面</a:t>
            </a:r>
            <a:endParaRPr lang="zh-CN" altLang="en-US" sz="2400" b="1" dirty="0">
              <a:solidFill>
                <a:srgbClr val="003300"/>
              </a:solidFill>
              <a:latin typeface="宋体" panose="02010600030101010101" pitchFamily="2" charset="-122"/>
            </a:endParaRPr>
          </a:p>
          <a:p>
            <a:pPr marL="533400" lvl="0" indent="-533400" eaLnBrk="1" hangingPunct="1">
              <a:spcBef>
                <a:spcPct val="0"/>
              </a:spcBef>
              <a:buClrTx/>
              <a:buSzTx/>
              <a:buFontTx/>
              <a:buNone/>
            </a:pPr>
            <a:r>
              <a:rPr lang="en-US" altLang="zh-CN" sz="2400" b="1" dirty="0">
                <a:solidFill>
                  <a:srgbClr val="003300"/>
                </a:solidFill>
                <a:latin typeface="宋体" panose="02010600030101010101" pitchFamily="2" charset="-122"/>
              </a:rPr>
              <a:t>2.</a:t>
            </a:r>
            <a:r>
              <a:rPr lang="zh-CN" altLang="en-US" sz="2400" b="1" dirty="0">
                <a:solidFill>
                  <a:srgbClr val="003300"/>
                </a:solidFill>
                <a:latin typeface="宋体" panose="02010600030101010101" pitchFamily="2" charset="-122"/>
              </a:rPr>
              <a:t>从何处调入页面</a:t>
            </a:r>
            <a:endParaRPr lang="zh-CN" altLang="en-US" sz="2400" b="1" dirty="0">
              <a:solidFill>
                <a:srgbClr val="003300"/>
              </a:solidFill>
              <a:latin typeface="宋体" panose="02010600030101010101" pitchFamily="2" charset="-122"/>
            </a:endParaRPr>
          </a:p>
          <a:p>
            <a:pPr marL="533400" lvl="0" indent="-533400" algn="just" eaLnBrk="1" hangingPunct="1">
              <a:spcBef>
                <a:spcPct val="0"/>
              </a:spcBef>
              <a:buClrTx/>
              <a:buSzTx/>
              <a:buFontTx/>
              <a:buNone/>
            </a:pPr>
            <a:r>
              <a:rPr lang="en-US" altLang="zh-CN" sz="2400" b="1" dirty="0">
                <a:solidFill>
                  <a:srgbClr val="003300"/>
                </a:solidFill>
                <a:latin typeface="宋体" panose="02010600030101010101" pitchFamily="2" charset="-122"/>
              </a:rPr>
              <a:t>3.</a:t>
            </a:r>
            <a:r>
              <a:rPr lang="zh-CN" altLang="en-US" sz="2400" b="1" dirty="0">
                <a:solidFill>
                  <a:srgbClr val="003300"/>
                </a:solidFill>
                <a:latin typeface="宋体" panose="02010600030101010101" pitchFamily="2" charset="-122"/>
              </a:rPr>
              <a:t>页面调入过程</a:t>
            </a:r>
            <a:endParaRPr lang="zh-CN" altLang="en-US" sz="2400" b="1" dirty="0">
              <a:solidFill>
                <a:srgbClr val="003300"/>
              </a:solidFill>
              <a:latin typeface="宋体" panose="02010600030101010101" pitchFamily="2" charset="-122"/>
            </a:endParaRPr>
          </a:p>
          <a:p>
            <a:pPr marL="533400" lvl="0" indent="-533400" algn="just" eaLnBrk="1" hangingPunct="1">
              <a:spcBef>
                <a:spcPct val="0"/>
              </a:spcBef>
              <a:buClrTx/>
              <a:buSzTx/>
              <a:buFontTx/>
              <a:buNone/>
            </a:pPr>
            <a:r>
              <a:rPr lang="en-US" altLang="zh-CN" sz="2400" b="1" dirty="0">
                <a:latin typeface="宋体" panose="02010600030101010101" pitchFamily="2" charset="-122"/>
              </a:rPr>
              <a:t>5.3 </a:t>
            </a:r>
            <a:r>
              <a:rPr lang="zh-CN" altLang="en-US" sz="2400" b="1" dirty="0">
                <a:latin typeface="宋体" panose="02010600030101010101" pitchFamily="2" charset="-122"/>
              </a:rPr>
              <a:t>页面置换算法</a:t>
            </a:r>
            <a:endParaRPr lang="zh-CN" altLang="en-US" sz="2400" b="1" dirty="0">
              <a:latin typeface="宋体" panose="02010600030101010101" pitchFamily="2" charset="-122"/>
            </a:endParaRPr>
          </a:p>
          <a:p>
            <a:pPr marL="533400" lvl="0" indent="-533400" algn="just" eaLnBrk="1" hangingPunct="1">
              <a:spcBef>
                <a:spcPct val="0"/>
              </a:spcBef>
              <a:buClrTx/>
              <a:buSzTx/>
              <a:buFontTx/>
              <a:buNone/>
            </a:pPr>
            <a:r>
              <a:rPr lang="en-US" altLang="zh-CN" sz="2400" b="1" dirty="0">
                <a:solidFill>
                  <a:srgbClr val="003300"/>
                </a:solidFill>
                <a:latin typeface="宋体" panose="02010600030101010101" pitchFamily="2" charset="-122"/>
              </a:rPr>
              <a:t>1.</a:t>
            </a:r>
            <a:r>
              <a:rPr lang="zh-CN" altLang="en-US" sz="2400" b="1" dirty="0">
                <a:solidFill>
                  <a:srgbClr val="003300"/>
                </a:solidFill>
                <a:latin typeface="宋体" panose="02010600030101010101" pitchFamily="2" charset="-122"/>
              </a:rPr>
              <a:t>最佳置换算法和先进先出置换算法</a:t>
            </a:r>
            <a:endParaRPr lang="zh-CN" altLang="en-US" sz="2400" b="1" dirty="0">
              <a:solidFill>
                <a:srgbClr val="003300"/>
              </a:solidFill>
              <a:latin typeface="宋体" panose="02010600030101010101" pitchFamily="2" charset="-122"/>
            </a:endParaRPr>
          </a:p>
          <a:p>
            <a:pPr marL="533400" lvl="0" indent="-533400" algn="just" eaLnBrk="1" hangingPunct="1">
              <a:spcBef>
                <a:spcPct val="0"/>
              </a:spcBef>
              <a:buClrTx/>
              <a:buSzTx/>
              <a:buFontTx/>
              <a:buNone/>
            </a:pPr>
            <a:r>
              <a:rPr lang="en-US" altLang="zh-CN" sz="2400" b="1" dirty="0">
                <a:solidFill>
                  <a:srgbClr val="003300"/>
                </a:solidFill>
                <a:latin typeface="宋体" panose="02010600030101010101" pitchFamily="2" charset="-122"/>
              </a:rPr>
              <a:t>2.</a:t>
            </a:r>
            <a:r>
              <a:rPr lang="zh-CN" altLang="en-US" sz="2400" b="1" dirty="0">
                <a:solidFill>
                  <a:srgbClr val="003300"/>
                </a:solidFill>
                <a:latin typeface="宋体" panose="02010600030101010101" pitchFamily="2" charset="-122"/>
              </a:rPr>
              <a:t>最近最久未使用</a:t>
            </a:r>
            <a:r>
              <a:rPr lang="en-US" altLang="zh-CN" sz="2400" b="1" dirty="0">
                <a:solidFill>
                  <a:srgbClr val="003300"/>
                </a:solidFill>
                <a:latin typeface="宋体" panose="02010600030101010101" pitchFamily="2" charset="-122"/>
              </a:rPr>
              <a:t>(LRU)</a:t>
            </a:r>
            <a:r>
              <a:rPr lang="zh-CN" altLang="en-US" sz="2400" b="1" dirty="0">
                <a:solidFill>
                  <a:srgbClr val="003300"/>
                </a:solidFill>
                <a:latin typeface="宋体" panose="02010600030101010101" pitchFamily="2" charset="-122"/>
              </a:rPr>
              <a:t>置换算法</a:t>
            </a:r>
            <a:endParaRPr lang="zh-CN" altLang="en-US" sz="2400" b="1" dirty="0">
              <a:solidFill>
                <a:srgbClr val="003300"/>
              </a:solidFill>
              <a:latin typeface="宋体" panose="02010600030101010101" pitchFamily="2" charset="-122"/>
            </a:endParaRPr>
          </a:p>
          <a:p>
            <a:pPr marL="533400" lvl="0" indent="-533400" algn="just" eaLnBrk="1" hangingPunct="1">
              <a:spcBef>
                <a:spcPct val="0"/>
              </a:spcBef>
              <a:buClrTx/>
              <a:buSzTx/>
              <a:buFontTx/>
              <a:buNone/>
            </a:pPr>
            <a:r>
              <a:rPr lang="en-US" altLang="zh-CN" sz="2400" b="1" dirty="0">
                <a:solidFill>
                  <a:srgbClr val="003300"/>
                </a:solidFill>
                <a:latin typeface="宋体" panose="02010600030101010101" pitchFamily="2" charset="-122"/>
              </a:rPr>
              <a:t>3.Clock</a:t>
            </a:r>
            <a:r>
              <a:rPr lang="zh-CN" altLang="en-US" sz="2400" b="1" dirty="0">
                <a:solidFill>
                  <a:srgbClr val="003300"/>
                </a:solidFill>
                <a:latin typeface="宋体" panose="02010600030101010101" pitchFamily="2" charset="-122"/>
              </a:rPr>
              <a:t>置换算法</a:t>
            </a:r>
            <a:endParaRPr lang="zh-CN" altLang="en-US" sz="2400" b="1" dirty="0">
              <a:solidFill>
                <a:srgbClr val="003300"/>
              </a:solidFill>
            </a:endParaRPr>
          </a:p>
        </p:txBody>
      </p:sp>
      <p:sp>
        <p:nvSpPr>
          <p:cNvPr id="14340" name="AutoShape 23"/>
          <p:cNvSpPr/>
          <p:nvPr/>
        </p:nvSpPr>
        <p:spPr>
          <a:xfrm>
            <a:off x="5524500" y="404813"/>
            <a:ext cx="3619500" cy="469900"/>
          </a:xfrm>
          <a:prstGeom prst="wedgeRoundRectCallout">
            <a:avLst>
              <a:gd name="adj1" fmla="val -68727"/>
              <a:gd name="adj2" fmla="val -1690"/>
              <a:gd name="adj3" fmla="val 16667"/>
            </a:avLst>
          </a:prstGeom>
          <a:solidFill>
            <a:srgbClr val="FFFF99"/>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000" b="1" dirty="0">
                <a:solidFill>
                  <a:srgbClr val="CC3300"/>
                </a:solidFill>
              </a:rPr>
              <a:t>常用的实现虚存的方式</a:t>
            </a:r>
            <a:endParaRPr lang="zh-CN" altLang="en-US" sz="2000" b="1" dirty="0">
              <a:solidFill>
                <a:srgbClr val="CC3300"/>
              </a:solidFill>
            </a:endParaRPr>
          </a:p>
        </p:txBody>
      </p:sp>
      <p:sp>
        <p:nvSpPr>
          <p:cNvPr id="14341" name="右大括号 1"/>
          <p:cNvSpPr/>
          <p:nvPr/>
        </p:nvSpPr>
        <p:spPr>
          <a:xfrm>
            <a:off x="5759450" y="2549525"/>
            <a:ext cx="542925" cy="3889375"/>
          </a:xfrm>
          <a:prstGeom prst="rightBrace">
            <a:avLst>
              <a:gd name="adj1" fmla="val 8324"/>
              <a:gd name="adj2" fmla="val 51120"/>
            </a:avLst>
          </a:prstGeom>
          <a:noFill/>
          <a:ln w="41275" cap="flat" cmpd="sng">
            <a:solidFill>
              <a:srgbClr val="C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14342" name="文本框 8"/>
          <p:cNvSpPr txBox="1"/>
          <p:nvPr/>
        </p:nvSpPr>
        <p:spPr>
          <a:xfrm>
            <a:off x="6462713" y="4232275"/>
            <a:ext cx="1743075" cy="523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800" b="1" dirty="0">
                <a:solidFill>
                  <a:srgbClr val="FF0000"/>
                </a:solidFill>
                <a:latin typeface="宋体" panose="02010600030101010101" pitchFamily="2" charset="-122"/>
              </a:rPr>
              <a:t>软件支持</a:t>
            </a:r>
            <a:endParaRPr lang="zh-CN" altLang="en-US" sz="2800" b="1" dirty="0">
              <a:solidFill>
                <a:srgbClr val="FF0000"/>
              </a:solidFill>
              <a:latin typeface="宋体" panose="02010600030101010101" pitchFamily="2" charset="-122"/>
            </a:endParaRPr>
          </a:p>
        </p:txBody>
      </p:sp>
    </p:spTree>
  </p:cSld>
  <p:clrMapOvr>
    <a:masterClrMapping/>
  </p:clrMapOvr>
  <p:transition>
    <p:zoom/>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Text Box 2"/>
          <p:cNvSpPr txBox="1"/>
          <p:nvPr/>
        </p:nvSpPr>
        <p:spPr>
          <a:xfrm>
            <a:off x="250825" y="549275"/>
            <a:ext cx="4467225"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solidFill>
                  <a:schemeClr val="hlink"/>
                </a:solidFill>
                <a:latin typeface="Times New Roman" panose="02020603050405020304" pitchFamily="18" charset="0"/>
              </a:rPr>
              <a:t>5.2  </a:t>
            </a:r>
            <a:r>
              <a:rPr lang="zh-CN" altLang="en-US" sz="2800" b="1" dirty="0">
                <a:solidFill>
                  <a:schemeClr val="hlink"/>
                </a:solidFill>
                <a:latin typeface="Times New Roman" panose="02020603050405020304" pitchFamily="18" charset="0"/>
              </a:rPr>
              <a:t>请求分页存储管理方式</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p:txBody>
      </p:sp>
      <p:sp>
        <p:nvSpPr>
          <p:cNvPr id="15363" name="Text Box 3"/>
          <p:cNvSpPr txBox="1"/>
          <p:nvPr/>
        </p:nvSpPr>
        <p:spPr>
          <a:xfrm>
            <a:off x="539750" y="1268413"/>
            <a:ext cx="403225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5.2.1 </a:t>
            </a:r>
            <a:r>
              <a:rPr lang="zh-CN" altLang="en-US" sz="2400" b="1" dirty="0">
                <a:latin typeface="Times New Roman" panose="02020603050405020304" pitchFamily="18" charset="0"/>
              </a:rPr>
              <a:t>请求分页中的硬件支持</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p:txBody>
      </p:sp>
      <p:sp>
        <p:nvSpPr>
          <p:cNvPr id="15364" name="Text Box 4"/>
          <p:cNvSpPr txBox="1"/>
          <p:nvPr/>
        </p:nvSpPr>
        <p:spPr>
          <a:xfrm>
            <a:off x="611188" y="2060575"/>
            <a:ext cx="2736850"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0000"/>
                </a:solidFill>
                <a:latin typeface="Times New Roman" panose="02020603050405020304" pitchFamily="18" charset="0"/>
              </a:rPr>
              <a:t>1. </a:t>
            </a:r>
            <a:r>
              <a:rPr lang="zh-CN" altLang="en-US" sz="2400" b="1" dirty="0">
                <a:solidFill>
                  <a:srgbClr val="000000"/>
                </a:solidFill>
                <a:latin typeface="Times New Roman" panose="02020603050405020304" pitchFamily="18" charset="0"/>
              </a:rPr>
              <a:t>请求页表机制</a:t>
            </a:r>
            <a:r>
              <a:rPr lang="zh-CN" altLang="en-US" sz="2400" b="1" dirty="0">
                <a:latin typeface="Times New Roman" panose="02020603050405020304" pitchFamily="18" charset="0"/>
              </a:rPr>
              <a:t> </a:t>
            </a:r>
            <a:endParaRPr lang="zh-CN" altLang="en-US" sz="2400" b="1" dirty="0">
              <a:latin typeface="Times New Roman" panose="02020603050405020304" pitchFamily="18" charset="0"/>
            </a:endParaRPr>
          </a:p>
        </p:txBody>
      </p:sp>
      <p:graphicFrame>
        <p:nvGraphicFramePr>
          <p:cNvPr id="443426" name="Group 34"/>
          <p:cNvGraphicFramePr>
            <a:graphicFrameLocks noGrp="1"/>
          </p:cNvGraphicFramePr>
          <p:nvPr/>
        </p:nvGraphicFramePr>
        <p:xfrm>
          <a:off x="611188" y="2636838"/>
          <a:ext cx="8067675" cy="576262"/>
        </p:xfrm>
        <a:graphic>
          <a:graphicData uri="http://schemas.openxmlformats.org/drawingml/2006/table">
            <a:tbl>
              <a:tblPr/>
              <a:tblGrid>
                <a:gridCol w="1152525"/>
                <a:gridCol w="1512887"/>
                <a:gridCol w="1366838"/>
                <a:gridCol w="1584325"/>
                <a:gridCol w="1296987"/>
                <a:gridCol w="1154113"/>
              </a:tblGrid>
              <a:tr h="576262">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页号 </a:t>
                      </a:r>
                      <a:endPar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物理块号 </a:t>
                      </a:r>
                      <a:endPar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状态位</a:t>
                      </a:r>
                      <a:r>
                        <a:rPr kumimoji="0" lang="en-US" altLang="zh-CN"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P </a:t>
                      </a:r>
                      <a:endParaRPr kumimoji="0" lang="en-US" altLang="zh-CN"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访问字段</a:t>
                      </a:r>
                      <a:r>
                        <a:rPr kumimoji="0" lang="en-US" altLang="zh-CN"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 </a:t>
                      </a:r>
                      <a:endParaRPr kumimoji="0" lang="en-US" altLang="zh-CN"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修改位</a:t>
                      </a:r>
                      <a:r>
                        <a:rPr kumimoji="0" lang="en-US" altLang="zh-CN"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M</a:t>
                      </a:r>
                      <a:endParaRPr kumimoji="0" lang="en-US" altLang="zh-CN"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1" i="0" u="none" strike="noStrike" cap="none" normalizeH="0" baseline="0" dirty="0">
                          <a:ln>
                            <a:noFill/>
                          </a:ln>
                          <a:solidFill>
                            <a:srgbClr val="FF66FF"/>
                          </a:solidFill>
                          <a:effectLst/>
                          <a:latin typeface="Arial" panose="020B0604020202020204" pitchFamily="34" charset="0"/>
                          <a:ea typeface="宋体" panose="02010600030101010101" pitchFamily="2" charset="-122"/>
                        </a:rPr>
                        <a:t>外存地址 </a:t>
                      </a:r>
                      <a:endParaRPr kumimoji="0" lang="zh-CN" altLang="en-US" sz="1800" b="1" i="0" u="none" strike="noStrike" cap="none" normalizeH="0" baseline="0" dirty="0">
                        <a:ln>
                          <a:noFill/>
                        </a:ln>
                        <a:solidFill>
                          <a:srgbClr val="FF66FF"/>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5381" name="Text Box 22"/>
          <p:cNvSpPr txBox="1"/>
          <p:nvPr/>
        </p:nvSpPr>
        <p:spPr>
          <a:xfrm>
            <a:off x="971550" y="3644900"/>
            <a:ext cx="7397750" cy="27082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CC3300"/>
                </a:solidFill>
              </a:rPr>
              <a:t>状态位</a:t>
            </a:r>
            <a:r>
              <a:rPr lang="en-US" altLang="zh-CN" sz="2000" b="1" dirty="0">
                <a:solidFill>
                  <a:srgbClr val="CC3300"/>
                </a:solidFill>
              </a:rPr>
              <a:t>P</a:t>
            </a:r>
            <a:r>
              <a:rPr lang="zh-CN" altLang="en-US" sz="2000" b="1" dirty="0">
                <a:solidFill>
                  <a:srgbClr val="CC3300"/>
                </a:solidFill>
              </a:rPr>
              <a:t>：</a:t>
            </a:r>
            <a:r>
              <a:rPr lang="zh-CN" altLang="en-US" sz="2000" b="1" dirty="0">
                <a:solidFill>
                  <a:srgbClr val="000000"/>
                </a:solidFill>
              </a:rPr>
              <a:t>表明该页是否在内存。</a:t>
            </a:r>
            <a:endParaRPr lang="zh-CN" altLang="en-US" sz="2000" b="1" dirty="0">
              <a:solidFill>
                <a:srgbClr val="000000"/>
              </a:solidFill>
            </a:endParaRPr>
          </a:p>
          <a:p>
            <a:pPr marL="0" lvl="0" indent="0" eaLnBrk="1" hangingPunct="1">
              <a:spcBef>
                <a:spcPct val="50000"/>
              </a:spcBef>
              <a:buClrTx/>
              <a:buSzTx/>
              <a:buFontTx/>
              <a:buNone/>
            </a:pPr>
            <a:r>
              <a:rPr lang="zh-CN" altLang="en-US" sz="2000" b="1" dirty="0">
                <a:solidFill>
                  <a:srgbClr val="CC3300"/>
                </a:solidFill>
              </a:rPr>
              <a:t>访问字段</a:t>
            </a:r>
            <a:r>
              <a:rPr lang="en-US" altLang="zh-CN" sz="2000" b="1" dirty="0">
                <a:solidFill>
                  <a:srgbClr val="CC3300"/>
                </a:solidFill>
              </a:rPr>
              <a:t>A</a:t>
            </a:r>
            <a:r>
              <a:rPr lang="zh-CN" altLang="en-US" sz="2000" b="1" dirty="0">
                <a:solidFill>
                  <a:srgbClr val="000000"/>
                </a:solidFill>
              </a:rPr>
              <a:t>：记录本页在一段时间内被访问的次数，或记录本页最近有多长时间未被访问，供换出页面时参考。</a:t>
            </a:r>
            <a:endParaRPr lang="zh-CN" altLang="en-US" sz="2000" b="1" dirty="0">
              <a:solidFill>
                <a:srgbClr val="000000"/>
              </a:solidFill>
            </a:endParaRPr>
          </a:p>
          <a:p>
            <a:pPr marL="0" lvl="0" indent="0" eaLnBrk="1" hangingPunct="1">
              <a:spcBef>
                <a:spcPct val="50000"/>
              </a:spcBef>
              <a:buClrTx/>
              <a:buSzTx/>
              <a:buFontTx/>
              <a:buNone/>
            </a:pPr>
            <a:r>
              <a:rPr lang="zh-CN" altLang="en-US" sz="2000" b="1" dirty="0">
                <a:solidFill>
                  <a:srgbClr val="CC3300"/>
                </a:solidFill>
              </a:rPr>
              <a:t>修改位</a:t>
            </a:r>
            <a:r>
              <a:rPr lang="en-US" altLang="zh-CN" sz="2000" b="1" dirty="0">
                <a:solidFill>
                  <a:srgbClr val="CC3300"/>
                </a:solidFill>
              </a:rPr>
              <a:t>M</a:t>
            </a:r>
            <a:r>
              <a:rPr lang="zh-CN" altLang="en-US" sz="2000" b="1" dirty="0">
                <a:solidFill>
                  <a:srgbClr val="000000"/>
                </a:solidFill>
              </a:rPr>
              <a:t>：查看此页在调入内存后是否被修改过。供置换页面时参考。</a:t>
            </a:r>
            <a:endParaRPr lang="zh-CN" altLang="en-US" sz="2000" b="1" dirty="0">
              <a:solidFill>
                <a:srgbClr val="000000"/>
              </a:solidFill>
            </a:endParaRPr>
          </a:p>
          <a:p>
            <a:pPr marL="0" lvl="0" indent="0" eaLnBrk="1" hangingPunct="1">
              <a:spcBef>
                <a:spcPct val="50000"/>
              </a:spcBef>
              <a:buClrTx/>
              <a:buSzTx/>
              <a:buFontTx/>
              <a:buNone/>
            </a:pPr>
            <a:r>
              <a:rPr lang="zh-CN" altLang="en-US" sz="2000" b="1" dirty="0">
                <a:solidFill>
                  <a:schemeClr val="hlink"/>
                </a:solidFill>
              </a:rPr>
              <a:t>外存地址</a:t>
            </a:r>
            <a:r>
              <a:rPr lang="zh-CN" altLang="en-US" sz="2000" b="1" dirty="0">
                <a:solidFill>
                  <a:srgbClr val="000000"/>
                </a:solidFill>
              </a:rPr>
              <a:t>：指出该页在外存上的地址（磁盘块号），供调入该页时参考。</a:t>
            </a:r>
            <a:endParaRPr lang="zh-CN" altLang="en-US" sz="2000" b="1" dirty="0">
              <a:solidFill>
                <a:srgbClr val="000000"/>
              </a:solidFill>
            </a:endParaRPr>
          </a:p>
        </p:txBody>
      </p:sp>
      <p:sp>
        <p:nvSpPr>
          <p:cNvPr id="15382" name="AutoShape 23"/>
          <p:cNvSpPr/>
          <p:nvPr/>
        </p:nvSpPr>
        <p:spPr>
          <a:xfrm>
            <a:off x="4932363" y="549275"/>
            <a:ext cx="3619500" cy="469900"/>
          </a:xfrm>
          <a:prstGeom prst="wedgeRoundRectCallout">
            <a:avLst>
              <a:gd name="adj1" fmla="val -59190"/>
              <a:gd name="adj2" fmla="val 3977"/>
              <a:gd name="adj3" fmla="val 16667"/>
            </a:avLst>
          </a:prstGeom>
          <a:solidFill>
            <a:srgbClr val="FFFF99"/>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000" b="1" dirty="0">
                <a:solidFill>
                  <a:srgbClr val="CC3300"/>
                </a:solidFill>
              </a:rPr>
              <a:t>常用的实现虚存的方式</a:t>
            </a:r>
            <a:endParaRPr lang="zh-CN" altLang="en-US" sz="2000" b="1" dirty="0">
              <a:solidFill>
                <a:srgbClr val="CC3300"/>
              </a:solidFill>
            </a:endParaRPr>
          </a:p>
        </p:txBody>
      </p:sp>
    </p:spTree>
  </p:cSld>
  <p:clrMapOvr>
    <a:masterClrMapping/>
  </p:clrMapOvr>
  <p:transition>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p:cNvSpPr>
          <p:nvPr>
            <p:ph type="body"/>
          </p:nvPr>
        </p:nvSpPr>
        <p:spPr>
          <a:xfrm>
            <a:off x="358775" y="1989138"/>
            <a:ext cx="8540750" cy="3886200"/>
          </a:xfrm>
        </p:spPr>
        <p:txBody>
          <a:bodyPr vert="horz" wrap="square" lIns="91440" tIns="45720" rIns="91440" bIns="45720" anchor="t" anchorCtr="0"/>
          <a:lstStyle/>
          <a:p>
            <a:pPr lvl="1" algn="just" eaLnBrk="1" hangingPunct="1">
              <a:lnSpc>
                <a:spcPct val="90000"/>
              </a:lnSpc>
              <a:spcBef>
                <a:spcPct val="10000"/>
              </a:spcBef>
              <a:buClr>
                <a:srgbClr val="339933"/>
              </a:buClr>
              <a:buFont typeface="Wingdings" panose="05000000000000000000" pitchFamily="2" charset="2"/>
              <a:buChar char="«"/>
            </a:pPr>
            <a:endParaRPr lang="zh-CN" altLang="en-US" dirty="0"/>
          </a:p>
          <a:p>
            <a:pPr eaLnBrk="1" hangingPunct="1">
              <a:buFont typeface="Wingdings" panose="05000000000000000000" pitchFamily="2" charset="2"/>
              <a:buChar char="v"/>
            </a:pPr>
            <a:endParaRPr lang="zh-CN" altLang="en-US" dirty="0"/>
          </a:p>
        </p:txBody>
      </p:sp>
      <p:pic>
        <p:nvPicPr>
          <p:cNvPr id="16387" name="Picture 4" descr="51265094055855"/>
          <p:cNvPicPr>
            <a:picLocks noChangeAspect="1"/>
          </p:cNvPicPr>
          <p:nvPr/>
        </p:nvPicPr>
        <p:blipFill>
          <a:blip r:embed="rId1"/>
          <a:stretch>
            <a:fillRect/>
          </a:stretch>
        </p:blipFill>
        <p:spPr>
          <a:xfrm>
            <a:off x="1763713" y="1989138"/>
            <a:ext cx="5688012" cy="2943225"/>
          </a:xfrm>
          <a:prstGeom prst="rect">
            <a:avLst/>
          </a:prstGeom>
          <a:noFill/>
          <a:ln w="9525">
            <a:noFill/>
          </a:ln>
        </p:spPr>
      </p:pic>
      <p:grpSp>
        <p:nvGrpSpPr>
          <p:cNvPr id="16388" name="Group 5"/>
          <p:cNvGrpSpPr/>
          <p:nvPr/>
        </p:nvGrpSpPr>
        <p:grpSpPr>
          <a:xfrm>
            <a:off x="1476375" y="260350"/>
            <a:ext cx="6194425" cy="1003300"/>
            <a:chOff x="839" y="709"/>
            <a:chExt cx="3902" cy="632"/>
          </a:xfrm>
        </p:grpSpPr>
        <p:sp>
          <p:nvSpPr>
            <p:cNvPr id="16392" name="Rectangle 6"/>
            <p:cNvSpPr/>
            <p:nvPr/>
          </p:nvSpPr>
          <p:spPr>
            <a:xfrm>
              <a:off x="839" y="964"/>
              <a:ext cx="3819" cy="36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just">
                <a:spcBef>
                  <a:spcPct val="0"/>
                </a:spcBef>
                <a:buClrTx/>
                <a:buSzTx/>
                <a:buFontTx/>
                <a:buNone/>
              </a:pPr>
              <a:r>
                <a:rPr lang="zh-CN" altLang="en-US" sz="1000" dirty="0">
                  <a:latin typeface="Times New Roman" panose="02020603050405020304" pitchFamily="18" charset="0"/>
                </a:rPr>
                <a:t>   </a:t>
              </a:r>
              <a:r>
                <a:rPr lang="zh-CN" altLang="en-US" sz="2000" b="1" dirty="0">
                  <a:latin typeface="Times New Roman" panose="02020603050405020304" pitchFamily="18" charset="0"/>
                </a:rPr>
                <a:t>物理页面基地址                                属性</a:t>
              </a:r>
              <a:endParaRPr lang="zh-CN" altLang="en-US" sz="2000" b="1" dirty="0">
                <a:latin typeface="Times New Roman" panose="02020603050405020304" pitchFamily="18" charset="0"/>
              </a:endParaRPr>
            </a:p>
          </p:txBody>
        </p:sp>
        <p:sp>
          <p:nvSpPr>
            <p:cNvPr id="16393" name="Line 7"/>
            <p:cNvSpPr/>
            <p:nvPr/>
          </p:nvSpPr>
          <p:spPr>
            <a:xfrm>
              <a:off x="2975" y="981"/>
              <a:ext cx="0" cy="360"/>
            </a:xfrm>
            <a:prstGeom prst="line">
              <a:avLst/>
            </a:prstGeom>
            <a:ln w="9525" cap="flat" cmpd="sng">
              <a:solidFill>
                <a:srgbClr val="000000"/>
              </a:solidFill>
              <a:prstDash val="solid"/>
              <a:headEnd type="none" w="med" len="med"/>
              <a:tailEnd type="none" w="med" len="med"/>
            </a:ln>
          </p:spPr>
        </p:sp>
        <p:sp>
          <p:nvSpPr>
            <p:cNvPr id="16394" name="Text Box 8"/>
            <p:cNvSpPr txBox="1"/>
            <p:nvPr/>
          </p:nvSpPr>
          <p:spPr>
            <a:xfrm>
              <a:off x="930" y="709"/>
              <a:ext cx="3811" cy="250"/>
            </a:xfrm>
            <a:prstGeom prst="rect">
              <a:avLst/>
            </a:prstGeom>
            <a:noFill/>
            <a:ln w="38100">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n-US" altLang="zh-CN" sz="2000" b="1" dirty="0">
                  <a:latin typeface="Times New Roman" panose="02020603050405020304" pitchFamily="18" charset="0"/>
                  <a:ea typeface="隶书" panose="02010509060101010101" pitchFamily="49" charset="-122"/>
                </a:rPr>
                <a:t>31                                      	12  11                        	0                                             </a:t>
              </a:r>
              <a:endParaRPr lang="en-US" altLang="zh-CN" sz="2000" b="1" dirty="0">
                <a:latin typeface="Times New Roman" panose="02020603050405020304" pitchFamily="18" charset="0"/>
                <a:ea typeface="隶书" panose="02010509060101010101" pitchFamily="49" charset="-122"/>
              </a:endParaRPr>
            </a:p>
          </p:txBody>
        </p:sp>
      </p:grpSp>
      <p:sp>
        <p:nvSpPr>
          <p:cNvPr id="16389" name="AutoShape 9"/>
          <p:cNvSpPr/>
          <p:nvPr/>
        </p:nvSpPr>
        <p:spPr>
          <a:xfrm>
            <a:off x="4572000" y="1341438"/>
            <a:ext cx="576263" cy="720725"/>
          </a:xfrm>
          <a:prstGeom prst="downArrow">
            <a:avLst>
              <a:gd name="adj1" fmla="val 50000"/>
              <a:gd name="adj2" fmla="val 31267"/>
            </a:avLst>
          </a:prstGeom>
          <a:solidFill>
            <a:schemeClr val="accent1"/>
          </a:solidFill>
          <a:ln w="9525" cap="flat" cmpd="sng">
            <a:solidFill>
              <a:schemeClr val="tx1"/>
            </a:solidFill>
            <a:prstDash val="solid"/>
            <a:miter/>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buClr>
                <a:srgbClr val="339933"/>
              </a:buClr>
              <a:buSzTx/>
              <a:buFont typeface="Wingdings" panose="05000000000000000000" pitchFamily="2" charset="2"/>
              <a:buChar char="«"/>
            </a:pPr>
            <a:endParaRPr lang="zh-CN" altLang="en-US" sz="2400" b="1" dirty="0"/>
          </a:p>
        </p:txBody>
      </p:sp>
      <p:sp>
        <p:nvSpPr>
          <p:cNvPr id="16390" name="Rectangle 10"/>
          <p:cNvSpPr/>
          <p:nvPr/>
        </p:nvSpPr>
        <p:spPr>
          <a:xfrm>
            <a:off x="611188" y="5084763"/>
            <a:ext cx="8353425" cy="11906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
                <a:srgbClr val="FF0000"/>
              </a:buClr>
              <a:buSzTx/>
              <a:buFont typeface="Wingdings" panose="05000000000000000000" pitchFamily="2" charset="2"/>
              <a:buChar char="Ø"/>
            </a:pPr>
            <a:r>
              <a:rPr lang="en-US" altLang="zh-CN" sz="1800" b="1" dirty="0">
                <a:solidFill>
                  <a:srgbClr val="000000"/>
                </a:solidFill>
              </a:rPr>
              <a:t>P</a:t>
            </a:r>
            <a:r>
              <a:rPr lang="zh-CN" altLang="en-US" sz="1800" b="1" dirty="0">
                <a:solidFill>
                  <a:srgbClr val="000000"/>
                </a:solidFill>
              </a:rPr>
              <a:t>（</a:t>
            </a:r>
            <a:r>
              <a:rPr lang="en-US" altLang="zh-CN" sz="1800" b="1" dirty="0">
                <a:solidFill>
                  <a:srgbClr val="000000"/>
                </a:solidFill>
              </a:rPr>
              <a:t>Present</a:t>
            </a:r>
            <a:r>
              <a:rPr lang="zh-CN" altLang="en-US" sz="1800" b="1" dirty="0">
                <a:solidFill>
                  <a:srgbClr val="000000"/>
                </a:solidFill>
              </a:rPr>
              <a:t>），如果</a:t>
            </a:r>
            <a:r>
              <a:rPr lang="en-US" altLang="zh-CN" sz="1800" b="1" dirty="0">
                <a:solidFill>
                  <a:srgbClr val="000000"/>
                </a:solidFill>
              </a:rPr>
              <a:t>P=1</a:t>
            </a:r>
            <a:r>
              <a:rPr lang="zh-CN" altLang="en-US" sz="1800" b="1" dirty="0">
                <a:solidFill>
                  <a:srgbClr val="000000"/>
                </a:solidFill>
              </a:rPr>
              <a:t>，表示页装入到内存，如果</a:t>
            </a:r>
            <a:r>
              <a:rPr lang="en-US" altLang="zh-CN" sz="1800" b="1" dirty="0">
                <a:solidFill>
                  <a:srgbClr val="000000"/>
                </a:solidFill>
              </a:rPr>
              <a:t>P=0</a:t>
            </a:r>
            <a:r>
              <a:rPr lang="zh-CN" altLang="en-US" sz="1800" b="1" dirty="0">
                <a:solidFill>
                  <a:srgbClr val="000000"/>
                </a:solidFill>
              </a:rPr>
              <a:t>，表示不在内存。</a:t>
            </a:r>
            <a:endParaRPr lang="zh-CN" altLang="en-US" sz="1800" b="1" dirty="0"/>
          </a:p>
          <a:p>
            <a:pPr marL="0" lvl="0" indent="0" eaLnBrk="1" hangingPunct="1">
              <a:spcBef>
                <a:spcPct val="0"/>
              </a:spcBef>
              <a:buClr>
                <a:srgbClr val="FF0000"/>
              </a:buClr>
              <a:buSzTx/>
              <a:buFont typeface="Wingdings" panose="05000000000000000000" pitchFamily="2" charset="2"/>
              <a:buChar char="Ø"/>
            </a:pPr>
            <a:r>
              <a:rPr lang="en-US" altLang="zh-CN" sz="1800" b="1" dirty="0">
                <a:solidFill>
                  <a:srgbClr val="000000"/>
                </a:solidFill>
              </a:rPr>
              <a:t>R/W</a:t>
            </a:r>
            <a:r>
              <a:rPr lang="zh-CN" altLang="en-US" sz="1800" b="1" dirty="0">
                <a:solidFill>
                  <a:srgbClr val="000000"/>
                </a:solidFill>
              </a:rPr>
              <a:t>（</a:t>
            </a:r>
            <a:r>
              <a:rPr lang="en-US" altLang="zh-CN" sz="1800" b="1" dirty="0">
                <a:solidFill>
                  <a:srgbClr val="000000"/>
                </a:solidFill>
              </a:rPr>
              <a:t>Read/Write</a:t>
            </a:r>
            <a:r>
              <a:rPr lang="zh-CN" altLang="en-US" sz="1800" b="1" dirty="0">
                <a:solidFill>
                  <a:srgbClr val="000000"/>
                </a:solidFill>
              </a:rPr>
              <a:t>），第</a:t>
            </a:r>
            <a:r>
              <a:rPr lang="en-US" altLang="zh-CN" sz="1800" b="1" dirty="0">
                <a:solidFill>
                  <a:srgbClr val="000000"/>
                </a:solidFill>
              </a:rPr>
              <a:t>2</a:t>
            </a:r>
            <a:r>
              <a:rPr lang="zh-CN" altLang="en-US" sz="1800" b="1" dirty="0">
                <a:solidFill>
                  <a:srgbClr val="000000"/>
                </a:solidFill>
              </a:rPr>
              <a:t>位是</a:t>
            </a:r>
            <a:r>
              <a:rPr lang="en-US" altLang="zh-CN" sz="1800" b="1" dirty="0">
                <a:solidFill>
                  <a:srgbClr val="000000"/>
                </a:solidFill>
              </a:rPr>
              <a:t>U/S</a:t>
            </a:r>
            <a:r>
              <a:rPr lang="zh-CN" altLang="en-US" sz="1800" b="1" dirty="0">
                <a:solidFill>
                  <a:srgbClr val="000000"/>
                </a:solidFill>
              </a:rPr>
              <a:t>（</a:t>
            </a:r>
            <a:r>
              <a:rPr lang="en-US" altLang="zh-CN" sz="1800" b="1" dirty="0">
                <a:solidFill>
                  <a:srgbClr val="000000"/>
                </a:solidFill>
              </a:rPr>
              <a:t>User/Supervisor</a:t>
            </a:r>
            <a:r>
              <a:rPr lang="zh-CN" altLang="en-US" sz="1800" b="1" dirty="0">
                <a:solidFill>
                  <a:srgbClr val="000000"/>
                </a:solidFill>
              </a:rPr>
              <a:t>）位，这两位为页表或页提供硬件保护。</a:t>
            </a:r>
            <a:endParaRPr lang="zh-CN" altLang="en-US" sz="1800" b="1" dirty="0"/>
          </a:p>
          <a:p>
            <a:pPr marL="0" lvl="0" indent="0" eaLnBrk="1" hangingPunct="1">
              <a:spcBef>
                <a:spcPct val="0"/>
              </a:spcBef>
              <a:buClr>
                <a:srgbClr val="FF0000"/>
              </a:buClr>
              <a:buSzTx/>
              <a:buFont typeface="Wingdings" panose="05000000000000000000" pitchFamily="2" charset="2"/>
              <a:buChar char="Ø"/>
            </a:pPr>
            <a:r>
              <a:rPr lang="en-US" altLang="zh-CN" sz="1800" b="1" dirty="0">
                <a:solidFill>
                  <a:srgbClr val="000000"/>
                </a:solidFill>
              </a:rPr>
              <a:t>A</a:t>
            </a:r>
            <a:r>
              <a:rPr lang="zh-CN" altLang="en-US" sz="1800" b="1" dirty="0">
                <a:solidFill>
                  <a:srgbClr val="000000"/>
                </a:solidFill>
              </a:rPr>
              <a:t>是访问位，当对相应的物理页面进行访问时，该位置</a:t>
            </a:r>
            <a:r>
              <a:rPr lang="en-US" altLang="zh-CN" sz="1800" b="1" dirty="0">
                <a:solidFill>
                  <a:srgbClr val="000000"/>
                </a:solidFill>
              </a:rPr>
              <a:t>1</a:t>
            </a:r>
            <a:r>
              <a:rPr lang="zh-CN" altLang="en-US" sz="1800" b="1" dirty="0">
                <a:solidFill>
                  <a:srgbClr val="000000"/>
                </a:solidFill>
              </a:rPr>
              <a:t>。</a:t>
            </a:r>
            <a:endParaRPr lang="zh-CN" altLang="en-US" sz="1800" b="1" dirty="0">
              <a:solidFill>
                <a:srgbClr val="000000"/>
              </a:solidFill>
            </a:endParaRPr>
          </a:p>
        </p:txBody>
      </p:sp>
      <p:sp>
        <p:nvSpPr>
          <p:cNvPr id="16391" name="AutoShape 11"/>
          <p:cNvSpPr/>
          <p:nvPr/>
        </p:nvSpPr>
        <p:spPr>
          <a:xfrm>
            <a:off x="287338" y="1520825"/>
            <a:ext cx="1152525" cy="1655763"/>
          </a:xfrm>
          <a:prstGeom prst="wedgeRectCallout">
            <a:avLst>
              <a:gd name="adj1" fmla="val 102894"/>
              <a:gd name="adj2" fmla="val 2639"/>
            </a:avLst>
          </a:prstGeom>
          <a:solidFill>
            <a:srgbClr val="FF9900"/>
          </a:solidFill>
          <a:ln w="9525" cap="flat" cmpd="sng">
            <a:solidFill>
              <a:srgbClr val="0000FF"/>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t>例： </a:t>
            </a:r>
            <a:r>
              <a:rPr lang="en-US" altLang="zh-CN" sz="2400" b="1" dirty="0"/>
              <a:t>Linux</a:t>
            </a:r>
            <a:r>
              <a:rPr lang="zh-CN" altLang="en-US" sz="2400" b="1" dirty="0"/>
              <a:t>的页表结构</a:t>
            </a:r>
            <a:endParaRPr lang="zh-CN" altLang="en-US" sz="2400" b="1" dirty="0"/>
          </a:p>
        </p:txBody>
      </p:sp>
    </p:spTree>
  </p:cSld>
  <p:clrMapOvr>
    <a:masterClrMapping/>
  </p:clrMapOvr>
  <p:transition>
    <p:blinds/>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Text Box 2"/>
          <p:cNvSpPr txBox="1"/>
          <p:nvPr/>
        </p:nvSpPr>
        <p:spPr>
          <a:xfrm>
            <a:off x="539750" y="836613"/>
            <a:ext cx="24034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chemeClr val="hlink"/>
                </a:solidFill>
                <a:latin typeface="Times New Roman" panose="02020603050405020304" pitchFamily="18" charset="0"/>
              </a:rPr>
              <a:t>2. </a:t>
            </a:r>
            <a:r>
              <a:rPr lang="zh-CN" altLang="en-US" sz="2400" b="1" dirty="0">
                <a:solidFill>
                  <a:schemeClr val="hlink"/>
                </a:solidFill>
                <a:latin typeface="Times New Roman" panose="02020603050405020304" pitchFamily="18" charset="0"/>
              </a:rPr>
              <a:t>缺页中断机构</a:t>
            </a:r>
            <a:r>
              <a:rPr lang="zh-CN" altLang="en-US" sz="2400" b="1" dirty="0">
                <a:latin typeface="Times New Roman" panose="02020603050405020304" pitchFamily="18" charset="0"/>
              </a:rPr>
              <a:t> </a:t>
            </a:r>
            <a:endParaRPr lang="zh-CN" altLang="en-US" sz="2400" b="1" dirty="0">
              <a:latin typeface="Times New Roman" panose="02020603050405020304" pitchFamily="18" charset="0"/>
            </a:endParaRPr>
          </a:p>
        </p:txBody>
      </p:sp>
      <p:graphicFrame>
        <p:nvGraphicFramePr>
          <p:cNvPr id="18435" name="Object 4"/>
          <p:cNvGraphicFramePr>
            <a:graphicFrameLocks noChangeAspect="1"/>
          </p:cNvGraphicFramePr>
          <p:nvPr/>
        </p:nvGraphicFramePr>
        <p:xfrm>
          <a:off x="755650" y="1700213"/>
          <a:ext cx="2781300" cy="3960812"/>
        </p:xfrm>
        <a:graphic>
          <a:graphicData uri="http://schemas.openxmlformats.org/presentationml/2006/ole">
            <mc:AlternateContent xmlns:mc="http://schemas.openxmlformats.org/markup-compatibility/2006">
              <mc:Choice xmlns:v="urn:schemas-microsoft-com:vml" Requires="v">
                <p:oleObj spid="_x0000_s2" name="" r:id="rId1" imgW="1363980" imgH="1935480" progId="Visio.Drawing.4">
                  <p:embed/>
                </p:oleObj>
              </mc:Choice>
              <mc:Fallback>
                <p:oleObj name="" r:id="rId1" imgW="1363980" imgH="1935480" progId="Visio.Drawing.4">
                  <p:embed/>
                  <p:pic>
                    <p:nvPicPr>
                      <p:cNvPr id="0" name="图片 3075"/>
                      <p:cNvPicPr/>
                      <p:nvPr/>
                    </p:nvPicPr>
                    <p:blipFill>
                      <a:blip r:embed="rId2"/>
                      <a:stretch>
                        <a:fillRect/>
                      </a:stretch>
                    </p:blipFill>
                    <p:spPr>
                      <a:xfrm>
                        <a:off x="755650" y="1700213"/>
                        <a:ext cx="2781300" cy="3960812"/>
                      </a:xfrm>
                      <a:prstGeom prst="rect">
                        <a:avLst/>
                      </a:prstGeom>
                      <a:noFill/>
                      <a:ln w="38100">
                        <a:noFill/>
                        <a:miter/>
                      </a:ln>
                    </p:spPr>
                  </p:pic>
                </p:oleObj>
              </mc:Fallback>
            </mc:AlternateContent>
          </a:graphicData>
        </a:graphic>
      </p:graphicFrame>
      <p:sp>
        <p:nvSpPr>
          <p:cNvPr id="18436" name="Text Box 5"/>
          <p:cNvSpPr txBox="1"/>
          <p:nvPr/>
        </p:nvSpPr>
        <p:spPr>
          <a:xfrm>
            <a:off x="3924300" y="620713"/>
            <a:ext cx="4391025" cy="3013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t>      </a:t>
            </a:r>
            <a:r>
              <a:rPr lang="zh-CN" altLang="en-US" sz="2400" b="1" dirty="0">
                <a:solidFill>
                  <a:srgbClr val="000000"/>
                </a:solidFill>
              </a:rPr>
              <a:t>要访问的页不在内存时，便产生了一个缺页中断，请求操作系统将该页面调入内存。缺页中断同其它中断一样要经历</a:t>
            </a:r>
            <a:r>
              <a:rPr lang="en-US" altLang="zh-CN" sz="2400" b="1" dirty="0">
                <a:solidFill>
                  <a:srgbClr val="000000"/>
                </a:solidFill>
              </a:rPr>
              <a:t>CPU</a:t>
            </a:r>
            <a:r>
              <a:rPr lang="zh-CN" altLang="en-US" sz="2400" b="1" dirty="0">
                <a:solidFill>
                  <a:srgbClr val="000000"/>
                </a:solidFill>
              </a:rPr>
              <a:t>环境保护、分析中断原因、转入中断处理程序、恢复</a:t>
            </a:r>
            <a:r>
              <a:rPr lang="en-US" altLang="zh-CN" sz="2400" b="1" dirty="0">
                <a:solidFill>
                  <a:srgbClr val="000000"/>
                </a:solidFill>
              </a:rPr>
              <a:t>CPU</a:t>
            </a:r>
            <a:r>
              <a:rPr lang="zh-CN" altLang="en-US" sz="2400" b="1" dirty="0">
                <a:solidFill>
                  <a:srgbClr val="000000"/>
                </a:solidFill>
              </a:rPr>
              <a:t>环境等步骤。但缺页中断又是一种特殊的中断。</a:t>
            </a:r>
            <a:endParaRPr lang="zh-CN" altLang="en-US" sz="2400" b="1" dirty="0">
              <a:solidFill>
                <a:srgbClr val="000000"/>
              </a:solidFill>
            </a:endParaRPr>
          </a:p>
        </p:txBody>
      </p:sp>
      <p:sp>
        <p:nvSpPr>
          <p:cNvPr id="18437" name="Rectangle 6"/>
          <p:cNvSpPr/>
          <p:nvPr/>
        </p:nvSpPr>
        <p:spPr>
          <a:xfrm>
            <a:off x="4067175" y="4005263"/>
            <a:ext cx="4826000" cy="2124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chemeClr val="hlink"/>
                </a:solidFill>
              </a:rPr>
              <a:t>1</a:t>
            </a:r>
            <a:r>
              <a:rPr lang="zh-CN" altLang="en-US" sz="2400" b="1" dirty="0">
                <a:solidFill>
                  <a:schemeClr val="hlink"/>
                </a:solidFill>
              </a:rPr>
              <a:t>、这种中断在</a:t>
            </a:r>
            <a:r>
              <a:rPr lang="zh-CN" altLang="en-US" sz="2400" b="1" dirty="0">
                <a:solidFill>
                  <a:srgbClr val="006600"/>
                </a:solidFill>
              </a:rPr>
              <a:t>指令执行期间</a:t>
            </a:r>
            <a:r>
              <a:rPr lang="zh-CN" altLang="en-US" sz="2400" b="1" dirty="0">
                <a:solidFill>
                  <a:schemeClr val="hlink"/>
                </a:solidFill>
              </a:rPr>
              <a:t>产生</a:t>
            </a:r>
            <a:endParaRPr lang="zh-CN" altLang="en-US" sz="2400" b="1" dirty="0">
              <a:solidFill>
                <a:schemeClr val="hlink"/>
              </a:solidFill>
            </a:endParaRPr>
          </a:p>
          <a:p>
            <a:pPr marL="0" lvl="0" indent="0" eaLnBrk="1" hangingPunct="1">
              <a:spcBef>
                <a:spcPct val="50000"/>
              </a:spcBef>
              <a:buClrTx/>
              <a:buSzTx/>
              <a:buFontTx/>
              <a:buNone/>
            </a:pPr>
            <a:r>
              <a:rPr lang="zh-CN" altLang="en-US" sz="2400" b="1" dirty="0">
                <a:solidFill>
                  <a:schemeClr val="hlink"/>
                </a:solidFill>
              </a:rPr>
              <a:t>    和处理中断信号。</a:t>
            </a:r>
            <a:endParaRPr lang="zh-CN" altLang="en-US" sz="2400" b="1" dirty="0">
              <a:solidFill>
                <a:schemeClr val="hlink"/>
              </a:solidFill>
            </a:endParaRPr>
          </a:p>
          <a:p>
            <a:pPr marL="0" lvl="0" indent="0" eaLnBrk="1" hangingPunct="1">
              <a:spcBef>
                <a:spcPct val="50000"/>
              </a:spcBef>
              <a:buClrTx/>
              <a:buSzTx/>
              <a:buFontTx/>
              <a:buNone/>
            </a:pPr>
            <a:r>
              <a:rPr lang="en-US" altLang="zh-CN" sz="2400" b="1" dirty="0">
                <a:solidFill>
                  <a:schemeClr val="hlink"/>
                </a:solidFill>
              </a:rPr>
              <a:t>2</a:t>
            </a:r>
            <a:r>
              <a:rPr lang="zh-CN" altLang="en-US" sz="2400" b="1" dirty="0">
                <a:solidFill>
                  <a:schemeClr val="hlink"/>
                </a:solidFill>
              </a:rPr>
              <a:t>、</a:t>
            </a:r>
            <a:r>
              <a:rPr lang="zh-CN" altLang="en-US" sz="2400" b="1" dirty="0">
                <a:solidFill>
                  <a:srgbClr val="006600"/>
                </a:solidFill>
              </a:rPr>
              <a:t>一条指令</a:t>
            </a:r>
            <a:r>
              <a:rPr lang="zh-CN" altLang="en-US" sz="2400" b="1" dirty="0">
                <a:solidFill>
                  <a:schemeClr val="hlink"/>
                </a:solidFill>
              </a:rPr>
              <a:t>在执行期间可能产生</a:t>
            </a:r>
            <a:endParaRPr lang="zh-CN" altLang="en-US" sz="2400" b="1" dirty="0">
              <a:solidFill>
                <a:schemeClr val="hlink"/>
              </a:solidFill>
            </a:endParaRPr>
          </a:p>
          <a:p>
            <a:pPr marL="0" lvl="0" indent="0" eaLnBrk="1" hangingPunct="1">
              <a:spcBef>
                <a:spcPct val="50000"/>
              </a:spcBef>
              <a:buClrTx/>
              <a:buSzTx/>
              <a:buFontTx/>
              <a:buNone/>
            </a:pPr>
            <a:r>
              <a:rPr lang="zh-CN" altLang="en-US" sz="2400" b="1" dirty="0">
                <a:solidFill>
                  <a:schemeClr val="hlink"/>
                </a:solidFill>
              </a:rPr>
              <a:t>    </a:t>
            </a:r>
            <a:r>
              <a:rPr lang="zh-CN" altLang="en-US" sz="2400" b="1" dirty="0">
                <a:solidFill>
                  <a:srgbClr val="006600"/>
                </a:solidFill>
              </a:rPr>
              <a:t>多次缺页中断</a:t>
            </a:r>
            <a:r>
              <a:rPr lang="zh-CN" altLang="en-US" sz="2400" b="1" dirty="0">
                <a:solidFill>
                  <a:schemeClr val="hlink"/>
                </a:solidFill>
              </a:rPr>
              <a:t>。</a:t>
            </a:r>
            <a:endParaRPr lang="zh-CN" altLang="en-US" sz="2400" b="1" dirty="0">
              <a:solidFill>
                <a:schemeClr val="hlink"/>
              </a:solidFill>
            </a:endParaRPr>
          </a:p>
        </p:txBody>
      </p:sp>
    </p:spTree>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Text Box 2"/>
          <p:cNvSpPr txBox="1"/>
          <p:nvPr/>
        </p:nvSpPr>
        <p:spPr>
          <a:xfrm>
            <a:off x="323850" y="82550"/>
            <a:ext cx="24034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chemeClr val="hlink"/>
                </a:solidFill>
                <a:latin typeface="Times New Roman" panose="02020603050405020304" pitchFamily="18" charset="0"/>
              </a:rPr>
              <a:t>3. </a:t>
            </a:r>
            <a:r>
              <a:rPr lang="zh-CN" altLang="en-US" sz="2400" b="1" dirty="0">
                <a:solidFill>
                  <a:schemeClr val="hlink"/>
                </a:solidFill>
                <a:latin typeface="Times New Roman" panose="02020603050405020304" pitchFamily="18" charset="0"/>
              </a:rPr>
              <a:t>地址变换机构</a:t>
            </a:r>
            <a:r>
              <a:rPr lang="zh-CN" altLang="en-US" sz="2400" b="1" dirty="0">
                <a:latin typeface="Times New Roman" panose="02020603050405020304" pitchFamily="18" charset="0"/>
              </a:rPr>
              <a:t> </a:t>
            </a:r>
            <a:endParaRPr lang="zh-CN" altLang="en-US" sz="2400" b="1" dirty="0">
              <a:latin typeface="Times New Roman" panose="02020603050405020304" pitchFamily="18" charset="0"/>
            </a:endParaRPr>
          </a:p>
        </p:txBody>
      </p:sp>
      <p:grpSp>
        <p:nvGrpSpPr>
          <p:cNvPr id="20483" name="组合 26"/>
          <p:cNvGrpSpPr/>
          <p:nvPr/>
        </p:nvGrpSpPr>
        <p:grpSpPr>
          <a:xfrm>
            <a:off x="320675" y="320675"/>
            <a:ext cx="7086600" cy="6546850"/>
            <a:chOff x="2057400" y="311150"/>
            <a:chExt cx="7086600" cy="6546850"/>
          </a:xfrm>
        </p:grpSpPr>
        <p:graphicFrame>
          <p:nvGraphicFramePr>
            <p:cNvPr id="20486" name="Object 3"/>
            <p:cNvGraphicFramePr>
              <a:graphicFrameLocks noChangeAspect="1"/>
            </p:cNvGraphicFramePr>
            <p:nvPr/>
          </p:nvGraphicFramePr>
          <p:xfrm>
            <a:off x="2057400" y="311150"/>
            <a:ext cx="7086600" cy="6546850"/>
          </p:xfrm>
          <a:graphic>
            <a:graphicData uri="http://schemas.openxmlformats.org/presentationml/2006/ole">
              <mc:AlternateContent xmlns:mc="http://schemas.openxmlformats.org/markup-compatibility/2006">
                <mc:Choice xmlns:v="urn:schemas-microsoft-com:vml" Requires="v">
                  <p:oleObj spid="_x0000_s2" name="" r:id="rId1" imgW="4747260" imgH="4389120" progId="Visio.Drawing.4">
                    <p:embed/>
                  </p:oleObj>
                </mc:Choice>
                <mc:Fallback>
                  <p:oleObj name="" r:id="rId1" imgW="4747260" imgH="4389120" progId="Visio.Drawing.4">
                    <p:embed/>
                    <p:pic>
                      <p:nvPicPr>
                        <p:cNvPr id="0" name="图片 3076"/>
                        <p:cNvPicPr/>
                        <p:nvPr/>
                      </p:nvPicPr>
                      <p:blipFill>
                        <a:blip r:embed="rId2"/>
                        <a:stretch>
                          <a:fillRect/>
                        </a:stretch>
                      </p:blipFill>
                      <p:spPr>
                        <a:xfrm>
                          <a:off x="2057400" y="311150"/>
                          <a:ext cx="7086600" cy="6546850"/>
                        </a:xfrm>
                        <a:prstGeom prst="rect">
                          <a:avLst/>
                        </a:prstGeom>
                        <a:noFill/>
                        <a:ln w="38100">
                          <a:noFill/>
                          <a:miter/>
                        </a:ln>
                      </p:spPr>
                    </p:pic>
                  </p:oleObj>
                </mc:Fallback>
              </mc:AlternateContent>
            </a:graphicData>
          </a:graphic>
        </p:graphicFrame>
        <p:sp>
          <p:nvSpPr>
            <p:cNvPr id="20487" name="矩形 1"/>
            <p:cNvSpPr/>
            <p:nvPr/>
          </p:nvSpPr>
          <p:spPr>
            <a:xfrm>
              <a:off x="7020272" y="1376772"/>
              <a:ext cx="1368152" cy="108012"/>
            </a:xfrm>
            <a:prstGeom prst="rect">
              <a:avLst/>
            </a:prstGeom>
            <a:solidFill>
              <a:schemeClr val="bg1"/>
            </a:solid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20488" name="矩形 2"/>
            <p:cNvSpPr/>
            <p:nvPr/>
          </p:nvSpPr>
          <p:spPr>
            <a:xfrm flipH="1">
              <a:off x="8316416" y="1484784"/>
              <a:ext cx="282966" cy="2340260"/>
            </a:xfrm>
            <a:prstGeom prst="rect">
              <a:avLst/>
            </a:prstGeom>
            <a:solidFill>
              <a:schemeClr val="bg1"/>
            </a:solid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cxnSp>
          <p:nvCxnSpPr>
            <p:cNvPr id="20489" name="直接箭头连接符 4"/>
            <p:cNvCxnSpPr/>
            <p:nvPr/>
          </p:nvCxnSpPr>
          <p:spPr>
            <a:xfrm flipH="1">
              <a:off x="7010560" y="3825044"/>
              <a:ext cx="919224" cy="0"/>
            </a:xfrm>
            <a:prstGeom prst="straightConnector1">
              <a:avLst/>
            </a:prstGeom>
            <a:ln w="9525" cap="flat" cmpd="sng">
              <a:solidFill>
                <a:srgbClr val="000000"/>
              </a:solidFill>
              <a:prstDash val="solid"/>
              <a:headEnd type="none" w="med" len="med"/>
              <a:tailEnd type="stealth" w="med" len="lg"/>
            </a:ln>
          </p:spPr>
        </p:cxnSp>
        <p:grpSp>
          <p:nvGrpSpPr>
            <p:cNvPr id="20490" name="组合 20"/>
            <p:cNvGrpSpPr/>
            <p:nvPr/>
          </p:nvGrpSpPr>
          <p:grpSpPr>
            <a:xfrm>
              <a:off x="7940075" y="3681029"/>
              <a:ext cx="366624" cy="297418"/>
              <a:chOff x="9488248" y="3639348"/>
              <a:chExt cx="448347" cy="399574"/>
            </a:xfrm>
          </p:grpSpPr>
          <p:sp>
            <p:nvSpPr>
              <p:cNvPr id="19" name="弧形 18"/>
              <p:cNvSpPr/>
              <p:nvPr/>
            </p:nvSpPr>
            <p:spPr bwMode="auto">
              <a:xfrm>
                <a:off x="9504513" y="3646262"/>
                <a:ext cx="390215" cy="324181"/>
              </a:xfrm>
              <a:prstGeom prst="arc">
                <a:avLst/>
              </a:prstGeom>
              <a:noFill/>
              <a:ln w="9525" cap="flat" cmpd="sng" algn="ctr">
                <a:solidFill>
                  <a:srgbClr val="000000"/>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 name="弧形 19"/>
              <p:cNvSpPr/>
              <p:nvPr/>
            </p:nvSpPr>
            <p:spPr bwMode="auto">
              <a:xfrm rot="16200000">
                <a:off x="9513798" y="3615049"/>
                <a:ext cx="398827" cy="448456"/>
              </a:xfrm>
              <a:prstGeom prst="arc">
                <a:avLst/>
              </a:prstGeom>
              <a:noFill/>
              <a:ln w="9525" cap="flat" cmpd="sng" algn="ctr">
                <a:solidFill>
                  <a:srgbClr val="000000"/>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cxnSp>
          <p:nvCxnSpPr>
            <p:cNvPr id="20491" name="直接连接符 24"/>
            <p:cNvCxnSpPr>
              <a:stCxn id="19" idx="2"/>
            </p:cNvCxnSpPr>
            <p:nvPr/>
          </p:nvCxnSpPr>
          <p:spPr>
            <a:xfrm>
              <a:off x="8271657" y="3806815"/>
              <a:ext cx="90443" cy="18229"/>
            </a:xfrm>
            <a:prstGeom prst="line">
              <a:avLst/>
            </a:prstGeom>
            <a:ln w="9525" cap="flat" cmpd="sng">
              <a:solidFill>
                <a:schemeClr val="tx1"/>
              </a:solidFill>
              <a:prstDash val="solid"/>
              <a:headEnd type="none" w="med" len="med"/>
              <a:tailEnd type="none" w="med" len="med"/>
            </a:ln>
          </p:spPr>
        </p:cxnSp>
      </p:grpSp>
      <p:sp>
        <p:nvSpPr>
          <p:cNvPr id="20484" name="对话气泡: 圆角矩形 1"/>
          <p:cNvSpPr/>
          <p:nvPr/>
        </p:nvSpPr>
        <p:spPr>
          <a:xfrm>
            <a:off x="7092950" y="3213100"/>
            <a:ext cx="1730375" cy="971550"/>
          </a:xfrm>
          <a:prstGeom prst="wedgeRoundRectCallout">
            <a:avLst>
              <a:gd name="adj1" fmla="val -107278"/>
              <a:gd name="adj2" fmla="val 46713"/>
              <a:gd name="adj3" fmla="val 16667"/>
            </a:avLst>
          </a:prstGeom>
          <a:no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b="1" dirty="0"/>
              <a:t>在快表中加入新访问的页表项</a:t>
            </a:r>
            <a:endParaRPr lang="zh-CN" altLang="en-US" sz="2000" b="1" dirty="0"/>
          </a:p>
        </p:txBody>
      </p:sp>
      <p:sp>
        <p:nvSpPr>
          <p:cNvPr id="20485" name="对话气泡: 圆角矩形 24"/>
          <p:cNvSpPr/>
          <p:nvPr/>
        </p:nvSpPr>
        <p:spPr>
          <a:xfrm>
            <a:off x="7086600" y="4554538"/>
            <a:ext cx="1731963" cy="1430337"/>
          </a:xfrm>
          <a:prstGeom prst="wedgeRoundRectCallout">
            <a:avLst>
              <a:gd name="adj1" fmla="val -105991"/>
              <a:gd name="adj2" fmla="val -37569"/>
              <a:gd name="adj3" fmla="val 16667"/>
            </a:avLst>
          </a:prstGeom>
          <a:no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b="1" dirty="0"/>
              <a:t>修改快表中对应页表项的访问位和修改位</a:t>
            </a:r>
            <a:endParaRPr lang="zh-CN" altLang="en-US" sz="2000" b="1" dirty="0"/>
          </a:p>
        </p:txBody>
      </p:sp>
    </p:spTree>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Text Box 2"/>
          <p:cNvSpPr txBox="1"/>
          <p:nvPr/>
        </p:nvSpPr>
        <p:spPr>
          <a:xfrm>
            <a:off x="684213" y="692150"/>
            <a:ext cx="4733925"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solidFill>
                  <a:schemeClr val="hlink"/>
                </a:solidFill>
                <a:latin typeface="Times New Roman" panose="02020603050405020304" pitchFamily="18" charset="0"/>
              </a:rPr>
              <a:t>5.2.2  </a:t>
            </a:r>
            <a:r>
              <a:rPr lang="zh-CN" altLang="en-US" sz="2800" b="1" dirty="0">
                <a:solidFill>
                  <a:schemeClr val="hlink"/>
                </a:solidFill>
                <a:latin typeface="Times New Roman" panose="02020603050405020304" pitchFamily="18" charset="0"/>
              </a:rPr>
              <a:t>请求分页中的内存分配</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p:txBody>
      </p:sp>
      <p:sp>
        <p:nvSpPr>
          <p:cNvPr id="22531" name="AutoShape 5"/>
          <p:cNvSpPr/>
          <p:nvPr/>
        </p:nvSpPr>
        <p:spPr>
          <a:xfrm>
            <a:off x="1258888" y="1989138"/>
            <a:ext cx="5616575" cy="1439862"/>
          </a:xfrm>
          <a:prstGeom prst="cloudCallout">
            <a:avLst>
              <a:gd name="adj1" fmla="val 5514"/>
              <a:gd name="adj2" fmla="val -100718"/>
            </a:avLst>
          </a:prstGeom>
          <a:solidFill>
            <a:srgbClr val="FFFF99"/>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800" b="1" dirty="0">
                <a:solidFill>
                  <a:schemeClr val="hlink"/>
                </a:solidFill>
              </a:rPr>
              <a:t>系统给各个进程各自分配多少物理块呢？</a:t>
            </a:r>
            <a:endParaRPr lang="zh-CN" altLang="en-US" sz="2800" b="1" dirty="0">
              <a:solidFill>
                <a:schemeClr val="hlink"/>
              </a:solidFill>
            </a:endParaRPr>
          </a:p>
        </p:txBody>
      </p:sp>
      <p:sp>
        <p:nvSpPr>
          <p:cNvPr id="22532" name="Text Box 6"/>
          <p:cNvSpPr txBox="1"/>
          <p:nvPr/>
        </p:nvSpPr>
        <p:spPr>
          <a:xfrm>
            <a:off x="755650" y="1484313"/>
            <a:ext cx="332263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1. </a:t>
            </a:r>
            <a:r>
              <a:rPr lang="zh-CN" altLang="en-US" sz="2400" b="1" dirty="0">
                <a:solidFill>
                  <a:srgbClr val="CC3300"/>
                </a:solidFill>
                <a:latin typeface="Times New Roman" panose="02020603050405020304" pitchFamily="18" charset="0"/>
              </a:rPr>
              <a:t>最小</a:t>
            </a:r>
            <a:r>
              <a:rPr lang="zh-CN" altLang="en-US" sz="2400" b="1" dirty="0">
                <a:latin typeface="Times New Roman" panose="02020603050405020304" pitchFamily="18" charset="0"/>
              </a:rPr>
              <a:t>物理块数的确定 </a:t>
            </a:r>
            <a:endParaRPr lang="zh-CN" altLang="en-US" sz="2400" b="1" dirty="0">
              <a:latin typeface="Times New Roman" panose="02020603050405020304" pitchFamily="18" charset="0"/>
            </a:endParaRPr>
          </a:p>
        </p:txBody>
      </p:sp>
      <p:sp>
        <p:nvSpPr>
          <p:cNvPr id="446471" name="Rectangle 7"/>
          <p:cNvSpPr/>
          <p:nvPr/>
        </p:nvSpPr>
        <p:spPr>
          <a:xfrm>
            <a:off x="684213" y="3500438"/>
            <a:ext cx="7991475" cy="1895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0000"/>
              </a:lnSpc>
              <a:spcBef>
                <a:spcPct val="0"/>
              </a:spcBef>
              <a:buClrTx/>
              <a:buSzTx/>
              <a:buFontTx/>
              <a:buNone/>
            </a:pPr>
            <a:r>
              <a:rPr lang="en-US" altLang="zh-CN" sz="2800" b="1" dirty="0"/>
              <a:t>    </a:t>
            </a:r>
            <a:r>
              <a:rPr lang="zh-CN" altLang="en-US" sz="2400" b="1" dirty="0">
                <a:solidFill>
                  <a:srgbClr val="000000"/>
                </a:solidFill>
              </a:rPr>
              <a:t>最小物理块数是指能保证进程正常运行所需的物理块数，少于此值，进程将无法运行。</a:t>
            </a:r>
            <a:endParaRPr lang="zh-CN" altLang="en-US" sz="2400" b="1" dirty="0">
              <a:solidFill>
                <a:srgbClr val="000000"/>
              </a:solidFill>
            </a:endParaRPr>
          </a:p>
          <a:p>
            <a:pPr marL="0" lvl="0" indent="0" eaLnBrk="1" hangingPunct="1">
              <a:lnSpc>
                <a:spcPct val="120000"/>
              </a:lnSpc>
              <a:spcBef>
                <a:spcPct val="0"/>
              </a:spcBef>
              <a:buClrTx/>
              <a:buSzTx/>
              <a:buFontTx/>
              <a:buNone/>
            </a:pPr>
            <a:r>
              <a:rPr lang="zh-CN" altLang="en-US" sz="2400" b="1" dirty="0">
                <a:solidFill>
                  <a:srgbClr val="000000"/>
                </a:solidFill>
              </a:rPr>
              <a:t>      取决于指令的格式、功能和寻址方式。所需的最小物理块为</a:t>
            </a:r>
            <a:r>
              <a:rPr lang="en-US" altLang="zh-CN" sz="2400" b="1" dirty="0">
                <a:solidFill>
                  <a:srgbClr val="000000"/>
                </a:solidFill>
              </a:rPr>
              <a:t>2</a:t>
            </a:r>
            <a:r>
              <a:rPr lang="zh-CN" altLang="en-US" sz="2400" b="1" dirty="0">
                <a:solidFill>
                  <a:srgbClr val="000000"/>
                </a:solidFill>
              </a:rPr>
              <a:t>、</a:t>
            </a:r>
            <a:r>
              <a:rPr lang="en-US" altLang="zh-CN" sz="2400" b="1" dirty="0">
                <a:solidFill>
                  <a:srgbClr val="000000"/>
                </a:solidFill>
              </a:rPr>
              <a:t>3</a:t>
            </a:r>
            <a:r>
              <a:rPr lang="zh-CN" altLang="en-US" sz="2400" b="1" dirty="0">
                <a:solidFill>
                  <a:srgbClr val="000000"/>
                </a:solidFill>
              </a:rPr>
              <a:t>、</a:t>
            </a:r>
            <a:r>
              <a:rPr lang="en-US" altLang="zh-CN" sz="2400" b="1" dirty="0">
                <a:solidFill>
                  <a:srgbClr val="000000"/>
                </a:solidFill>
              </a:rPr>
              <a:t>6</a:t>
            </a:r>
            <a:r>
              <a:rPr lang="zh-CN" altLang="en-US" sz="2400" b="1" dirty="0">
                <a:solidFill>
                  <a:srgbClr val="000000"/>
                </a:solidFill>
              </a:rPr>
              <a:t>。</a:t>
            </a:r>
            <a:endParaRPr lang="zh-CN" altLang="en-US" sz="2400" b="1" dirty="0">
              <a:solidFill>
                <a:srgbClr val="000000"/>
              </a:solidFill>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6471"/>
                                        </p:tgtEl>
                                        <p:attrNameLst>
                                          <p:attrName>style.visibility</p:attrName>
                                        </p:attrNameLst>
                                      </p:cBhvr>
                                      <p:to>
                                        <p:strVal val="visible"/>
                                      </p:to>
                                    </p:set>
                                    <p:anim calcmode="lin" valueType="num">
                                      <p:cBhvr additive="base">
                                        <p:cTn id="7" dur="500" fill="hold"/>
                                        <p:tgtEl>
                                          <p:spTgt spid="446471"/>
                                        </p:tgtEl>
                                        <p:attrNameLst>
                                          <p:attrName>ppt_x</p:attrName>
                                        </p:attrNameLst>
                                      </p:cBhvr>
                                      <p:tavLst>
                                        <p:tav tm="0">
                                          <p:val>
                                            <p:strVal val="#ppt_x"/>
                                          </p:val>
                                        </p:tav>
                                        <p:tav tm="100000">
                                          <p:val>
                                            <p:strVal val="#ppt_x"/>
                                          </p:val>
                                        </p:tav>
                                      </p:tavLst>
                                    </p:anim>
                                    <p:anim calcmode="lin" valueType="num">
                                      <p:cBhvr additive="base">
                                        <p:cTn id="8" dur="500" fill="hold"/>
                                        <p:tgtEl>
                                          <p:spTgt spid="4464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647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4"/>
          <p:cNvSpPr txBox="1"/>
          <p:nvPr/>
        </p:nvSpPr>
        <p:spPr>
          <a:xfrm>
            <a:off x="576263" y="1146175"/>
            <a:ext cx="2759075"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latin typeface="Times New Roman" panose="02020603050405020304" pitchFamily="18" charset="0"/>
              </a:rPr>
              <a:t>2. </a:t>
            </a:r>
            <a:r>
              <a:rPr lang="zh-CN" altLang="en-US" sz="2800" b="1" dirty="0">
                <a:latin typeface="Times New Roman" panose="02020603050405020304" pitchFamily="18" charset="0"/>
              </a:rPr>
              <a:t>内存分配策略</a:t>
            </a:r>
            <a:r>
              <a:rPr lang="zh-CN" altLang="en-US" sz="2400" b="1" dirty="0">
                <a:latin typeface="Times New Roman" panose="02020603050405020304" pitchFamily="18" charset="0"/>
              </a:rPr>
              <a:t> </a:t>
            </a:r>
            <a:endParaRPr lang="zh-CN" altLang="en-US" sz="2400" b="1" dirty="0">
              <a:latin typeface="Times New Roman" panose="02020603050405020304" pitchFamily="18" charset="0"/>
            </a:endParaRPr>
          </a:p>
        </p:txBody>
      </p:sp>
      <p:sp>
        <p:nvSpPr>
          <p:cNvPr id="504837" name="Rectangle 5"/>
          <p:cNvSpPr/>
          <p:nvPr/>
        </p:nvSpPr>
        <p:spPr>
          <a:xfrm>
            <a:off x="358775" y="1808163"/>
            <a:ext cx="7991475" cy="3825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5000"/>
              </a:lnSpc>
              <a:spcBef>
                <a:spcPct val="0"/>
              </a:spcBef>
              <a:buClrTx/>
              <a:buSzTx/>
              <a:buFontTx/>
              <a:buNone/>
            </a:pPr>
            <a:r>
              <a:rPr lang="en-US" altLang="zh-CN" sz="2800" b="1" dirty="0"/>
              <a:t>    </a:t>
            </a:r>
            <a:r>
              <a:rPr lang="zh-CN" altLang="en-US" sz="2400" b="1" dirty="0">
                <a:solidFill>
                  <a:srgbClr val="000000"/>
                </a:solidFill>
              </a:rPr>
              <a:t>在请求分页系统中，可采取</a:t>
            </a:r>
            <a:endParaRPr lang="zh-CN" altLang="en-US" sz="2400" b="1" dirty="0">
              <a:solidFill>
                <a:srgbClr val="000000"/>
              </a:solidFill>
            </a:endParaRPr>
          </a:p>
          <a:p>
            <a:pPr marL="0" lvl="0" indent="0" eaLnBrk="1" hangingPunct="1">
              <a:lnSpc>
                <a:spcPct val="125000"/>
              </a:lnSpc>
              <a:spcBef>
                <a:spcPct val="0"/>
              </a:spcBef>
              <a:buClrTx/>
              <a:buSzTx/>
              <a:buFontTx/>
              <a:buNone/>
            </a:pPr>
            <a:r>
              <a:rPr lang="zh-CN" altLang="en-US" sz="2400" b="1" dirty="0">
                <a:solidFill>
                  <a:srgbClr val="000000"/>
                </a:solidFill>
              </a:rPr>
              <a:t>     </a:t>
            </a:r>
            <a:r>
              <a:rPr lang="zh-CN" altLang="en-US" sz="2400" b="1" dirty="0">
                <a:solidFill>
                  <a:schemeClr val="hlink"/>
                </a:solidFill>
              </a:rPr>
              <a:t>两种内存分配策略：</a:t>
            </a:r>
            <a:r>
              <a:rPr lang="zh-CN" altLang="en-US" sz="2400" b="1" dirty="0">
                <a:solidFill>
                  <a:srgbClr val="000000"/>
                </a:solidFill>
              </a:rPr>
              <a:t>固定和可变分配策略。</a:t>
            </a:r>
            <a:endParaRPr lang="zh-CN" altLang="en-US" sz="2400" b="1" dirty="0">
              <a:solidFill>
                <a:srgbClr val="000000"/>
              </a:solidFill>
            </a:endParaRPr>
          </a:p>
          <a:p>
            <a:pPr marL="0" lvl="0" indent="0" eaLnBrk="1" hangingPunct="1">
              <a:lnSpc>
                <a:spcPct val="125000"/>
              </a:lnSpc>
              <a:spcBef>
                <a:spcPct val="0"/>
              </a:spcBef>
              <a:buClrTx/>
              <a:buSzTx/>
              <a:buFontTx/>
              <a:buNone/>
            </a:pPr>
            <a:r>
              <a:rPr lang="zh-CN" altLang="en-US" sz="2400" b="1" dirty="0">
                <a:solidFill>
                  <a:schemeClr val="hlink"/>
                </a:solidFill>
              </a:rPr>
              <a:t>     两种置换策略：</a:t>
            </a:r>
            <a:r>
              <a:rPr lang="zh-CN" altLang="en-US" sz="2400" b="1" dirty="0">
                <a:solidFill>
                  <a:srgbClr val="000000"/>
                </a:solidFill>
              </a:rPr>
              <a:t>全局置换和局部置换。</a:t>
            </a:r>
            <a:endParaRPr lang="zh-CN" altLang="en-US" sz="2400" b="1" dirty="0">
              <a:solidFill>
                <a:srgbClr val="000000"/>
              </a:solidFill>
            </a:endParaRPr>
          </a:p>
          <a:p>
            <a:pPr marL="0" lvl="0" indent="0" eaLnBrk="1" hangingPunct="1">
              <a:lnSpc>
                <a:spcPct val="125000"/>
              </a:lnSpc>
              <a:spcBef>
                <a:spcPct val="0"/>
              </a:spcBef>
              <a:buClrTx/>
              <a:buSzTx/>
              <a:buFontTx/>
              <a:buNone/>
            </a:pPr>
            <a:r>
              <a:rPr lang="zh-CN" altLang="en-US" sz="2400" b="1" dirty="0">
                <a:solidFill>
                  <a:srgbClr val="000000"/>
                </a:solidFill>
              </a:rPr>
              <a:t>     于是可组合出以下三种适用的策略。</a:t>
            </a:r>
            <a:endParaRPr lang="zh-CN" altLang="en-US" sz="2400" b="1" dirty="0">
              <a:solidFill>
                <a:srgbClr val="000000"/>
              </a:solidFill>
            </a:endParaRPr>
          </a:p>
          <a:p>
            <a:pPr marL="0" lvl="0" indent="0" eaLnBrk="1" hangingPunct="1">
              <a:lnSpc>
                <a:spcPct val="125000"/>
              </a:lnSpc>
              <a:spcBef>
                <a:spcPct val="0"/>
              </a:spcBef>
              <a:buClrTx/>
              <a:buSzTx/>
              <a:buFontTx/>
              <a:buNone/>
            </a:pPr>
            <a:endParaRPr lang="zh-CN" altLang="en-US" sz="2400" b="1" dirty="0">
              <a:solidFill>
                <a:srgbClr val="000000"/>
              </a:solidFill>
            </a:endParaRPr>
          </a:p>
          <a:p>
            <a:pPr marL="0" lvl="0" indent="0" eaLnBrk="1" hangingPunct="1">
              <a:lnSpc>
                <a:spcPct val="125000"/>
              </a:lnSpc>
              <a:spcBef>
                <a:spcPct val="0"/>
              </a:spcBef>
              <a:buClrTx/>
              <a:buSzTx/>
              <a:buFontTx/>
              <a:buNone/>
            </a:pPr>
            <a:r>
              <a:rPr lang="zh-CN" altLang="en-US" sz="2400" b="1" dirty="0">
                <a:solidFill>
                  <a:srgbClr val="000000"/>
                </a:solidFill>
              </a:rPr>
              <a:t>          </a:t>
            </a:r>
            <a:r>
              <a:rPr lang="en-US" altLang="zh-CN" sz="2400" b="1" dirty="0">
                <a:solidFill>
                  <a:srgbClr val="000000"/>
                </a:solidFill>
              </a:rPr>
              <a:t>1) </a:t>
            </a:r>
            <a:r>
              <a:rPr lang="zh-CN" altLang="en-US" sz="2400" b="1" dirty="0">
                <a:solidFill>
                  <a:srgbClr val="000000"/>
                </a:solidFill>
              </a:rPr>
              <a:t>固定分配局部置换</a:t>
            </a:r>
            <a:endParaRPr lang="zh-CN" altLang="en-US" sz="2400" b="1" dirty="0">
              <a:solidFill>
                <a:srgbClr val="000000"/>
              </a:solidFill>
            </a:endParaRPr>
          </a:p>
          <a:p>
            <a:pPr marL="0" lvl="0" indent="0" eaLnBrk="1" hangingPunct="1">
              <a:lnSpc>
                <a:spcPct val="125000"/>
              </a:lnSpc>
              <a:spcBef>
                <a:spcPct val="0"/>
              </a:spcBef>
              <a:buClrTx/>
              <a:buSzTx/>
              <a:buFontTx/>
              <a:buNone/>
            </a:pPr>
            <a:r>
              <a:rPr lang="zh-CN" altLang="en-US" sz="2400" b="1" dirty="0">
                <a:solidFill>
                  <a:srgbClr val="000000"/>
                </a:solidFill>
              </a:rPr>
              <a:t>          </a:t>
            </a:r>
            <a:r>
              <a:rPr lang="en-US" altLang="zh-CN" sz="2400" b="1" dirty="0">
                <a:solidFill>
                  <a:srgbClr val="000000"/>
                </a:solidFill>
              </a:rPr>
              <a:t>2) </a:t>
            </a:r>
            <a:r>
              <a:rPr lang="zh-CN" altLang="en-US" sz="2400" b="1" dirty="0">
                <a:solidFill>
                  <a:srgbClr val="000000"/>
                </a:solidFill>
              </a:rPr>
              <a:t>可变分配全局置换</a:t>
            </a:r>
            <a:endParaRPr lang="zh-CN" altLang="en-US" sz="2400" b="1" dirty="0">
              <a:solidFill>
                <a:srgbClr val="000000"/>
              </a:solidFill>
            </a:endParaRPr>
          </a:p>
          <a:p>
            <a:pPr marL="0" lvl="0" indent="0" eaLnBrk="1" hangingPunct="1">
              <a:lnSpc>
                <a:spcPct val="125000"/>
              </a:lnSpc>
              <a:spcBef>
                <a:spcPct val="0"/>
              </a:spcBef>
              <a:buClrTx/>
              <a:buSzTx/>
              <a:buFontTx/>
              <a:buNone/>
            </a:pPr>
            <a:r>
              <a:rPr lang="zh-CN" altLang="en-US" sz="2400" b="1" dirty="0">
                <a:solidFill>
                  <a:srgbClr val="000000"/>
                </a:solidFill>
              </a:rPr>
              <a:t>          </a:t>
            </a:r>
            <a:r>
              <a:rPr lang="en-US" altLang="zh-CN" sz="2400" b="1" dirty="0">
                <a:solidFill>
                  <a:srgbClr val="000000"/>
                </a:solidFill>
              </a:rPr>
              <a:t>3) </a:t>
            </a:r>
            <a:r>
              <a:rPr lang="zh-CN" altLang="en-US" sz="2400" b="1" dirty="0">
                <a:solidFill>
                  <a:srgbClr val="000000"/>
                </a:solidFill>
              </a:rPr>
              <a:t>可变分配局部置换</a:t>
            </a:r>
            <a:endParaRPr lang="zh-CN" altLang="en-US" sz="2400" b="1" dirty="0">
              <a:solidFill>
                <a:srgbClr val="000000"/>
              </a:solidFill>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4837"/>
                                        </p:tgtEl>
                                        <p:attrNameLst>
                                          <p:attrName>style.visibility</p:attrName>
                                        </p:attrNameLst>
                                      </p:cBhvr>
                                      <p:to>
                                        <p:strVal val="visible"/>
                                      </p:to>
                                    </p:set>
                                    <p:anim calcmode="lin" valueType="num">
                                      <p:cBhvr additive="base">
                                        <p:cTn id="7" dur="500" fill="hold"/>
                                        <p:tgtEl>
                                          <p:spTgt spid="504837"/>
                                        </p:tgtEl>
                                        <p:attrNameLst>
                                          <p:attrName>ppt_x</p:attrName>
                                        </p:attrNameLst>
                                      </p:cBhvr>
                                      <p:tavLst>
                                        <p:tav tm="0">
                                          <p:val>
                                            <p:strVal val="#ppt_x"/>
                                          </p:val>
                                        </p:tav>
                                        <p:tav tm="100000">
                                          <p:val>
                                            <p:strVal val="#ppt_x"/>
                                          </p:val>
                                        </p:tav>
                                      </p:tavLst>
                                    </p:anim>
                                    <p:anim calcmode="lin" valueType="num">
                                      <p:cBhvr additive="base">
                                        <p:cTn id="8" dur="500" fill="hold"/>
                                        <p:tgtEl>
                                          <p:spTgt spid="5048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83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p:nvPr/>
        </p:nvSpPr>
        <p:spPr>
          <a:xfrm>
            <a:off x="395288" y="1268413"/>
            <a:ext cx="7902575" cy="13731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457200" lvl="0" indent="-457200" eaLnBrk="1" hangingPunct="1">
              <a:spcBef>
                <a:spcPct val="0"/>
              </a:spcBef>
              <a:buClrTx/>
              <a:buSzTx/>
              <a:buFontTx/>
              <a:buAutoNum type="arabicParenR"/>
            </a:pPr>
            <a:r>
              <a:rPr lang="zh-CN" altLang="en-US" sz="2800" b="1" dirty="0"/>
              <a:t>固定分配局部置换：</a:t>
            </a:r>
            <a:r>
              <a:rPr lang="zh-CN" altLang="en-US" sz="2800" b="1" dirty="0">
                <a:solidFill>
                  <a:srgbClr val="000000"/>
                </a:solidFill>
              </a:rPr>
              <a:t>为每个进程分配的物理块</a:t>
            </a:r>
            <a:endParaRPr lang="zh-CN" altLang="en-US" sz="2800" b="1" dirty="0">
              <a:solidFill>
                <a:srgbClr val="000000"/>
              </a:solidFill>
            </a:endParaRPr>
          </a:p>
          <a:p>
            <a:pPr marL="457200" lvl="0" indent="-457200" eaLnBrk="1" hangingPunct="1">
              <a:spcBef>
                <a:spcPct val="0"/>
              </a:spcBef>
              <a:buClrTx/>
              <a:buSzTx/>
              <a:buFontTx/>
              <a:buNone/>
            </a:pPr>
            <a:r>
              <a:rPr lang="zh-CN" altLang="en-US" sz="2800" b="1" dirty="0">
                <a:solidFill>
                  <a:srgbClr val="000000"/>
                </a:solidFill>
              </a:rPr>
              <a:t>数目固定；换页时只能从该进程的</a:t>
            </a:r>
            <a:r>
              <a:rPr lang="en-US" altLang="zh-CN" sz="2800" b="1" dirty="0">
                <a:solidFill>
                  <a:srgbClr val="000000"/>
                </a:solidFill>
              </a:rPr>
              <a:t>n</a:t>
            </a:r>
            <a:r>
              <a:rPr lang="zh-CN" altLang="en-US" sz="2800" b="1" dirty="0">
                <a:solidFill>
                  <a:srgbClr val="000000"/>
                </a:solidFill>
              </a:rPr>
              <a:t>个页面中选出</a:t>
            </a:r>
            <a:endParaRPr lang="zh-CN" altLang="en-US" sz="2800" b="1" dirty="0">
              <a:solidFill>
                <a:srgbClr val="000000"/>
              </a:solidFill>
            </a:endParaRPr>
          </a:p>
          <a:p>
            <a:pPr marL="457200" lvl="0" indent="-457200" eaLnBrk="1" hangingPunct="1">
              <a:spcBef>
                <a:spcPct val="0"/>
              </a:spcBef>
              <a:buClrTx/>
              <a:buSzTx/>
              <a:buFontTx/>
              <a:buNone/>
            </a:pPr>
            <a:r>
              <a:rPr lang="zh-CN" altLang="en-US" sz="2800" b="1" dirty="0">
                <a:solidFill>
                  <a:srgbClr val="000000"/>
                </a:solidFill>
              </a:rPr>
              <a:t>一页换出。</a:t>
            </a:r>
            <a:endParaRPr lang="zh-CN" altLang="en-US" sz="2800" b="1" dirty="0">
              <a:solidFill>
                <a:srgbClr val="000000"/>
              </a:solidFill>
            </a:endParaRPr>
          </a:p>
        </p:txBody>
      </p:sp>
      <p:sp>
        <p:nvSpPr>
          <p:cNvPr id="24579" name="Text Box 7"/>
          <p:cNvSpPr txBox="1"/>
          <p:nvPr/>
        </p:nvSpPr>
        <p:spPr>
          <a:xfrm>
            <a:off x="468313" y="2924175"/>
            <a:ext cx="8101012" cy="2238375"/>
          </a:xfrm>
          <a:prstGeom prst="rect">
            <a:avLst/>
          </a:prstGeom>
          <a:solidFill>
            <a:srgbClr val="CCFFFF"/>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996600"/>
                </a:solidFill>
              </a:rPr>
              <a:t>特点：难以确定为每个进程分配多少物理块</a:t>
            </a:r>
            <a:endParaRPr lang="zh-CN" altLang="en-US" sz="2800" b="1" dirty="0">
              <a:solidFill>
                <a:srgbClr val="996600"/>
              </a:solidFill>
            </a:endParaRPr>
          </a:p>
          <a:p>
            <a:pPr marL="0" lvl="0" indent="0" eaLnBrk="1" hangingPunct="1">
              <a:spcBef>
                <a:spcPct val="50000"/>
              </a:spcBef>
              <a:buClrTx/>
              <a:buSzTx/>
              <a:buFont typeface="Wingdings" panose="05000000000000000000" pitchFamily="2" charset="2"/>
              <a:buChar char="Ø"/>
            </a:pPr>
            <a:r>
              <a:rPr lang="zh-CN" altLang="en-US" sz="2800" b="1" dirty="0">
                <a:solidFill>
                  <a:srgbClr val="996600"/>
                </a:solidFill>
              </a:rPr>
              <a:t>太少，会频繁出现缺页中断，系统吞吐量降低；</a:t>
            </a:r>
            <a:endParaRPr lang="zh-CN" altLang="en-US" sz="2800" b="1" dirty="0">
              <a:solidFill>
                <a:srgbClr val="996600"/>
              </a:solidFill>
            </a:endParaRPr>
          </a:p>
          <a:p>
            <a:pPr marL="0" lvl="0" indent="0" eaLnBrk="1" hangingPunct="1">
              <a:spcBef>
                <a:spcPct val="50000"/>
              </a:spcBef>
              <a:buClrTx/>
              <a:buSzTx/>
              <a:buFont typeface="Wingdings" panose="05000000000000000000" pitchFamily="2" charset="2"/>
              <a:buChar char="Ø"/>
            </a:pPr>
            <a:r>
              <a:rPr lang="zh-CN" altLang="en-US" sz="2800" b="1" dirty="0">
                <a:solidFill>
                  <a:srgbClr val="996600"/>
                </a:solidFill>
              </a:rPr>
              <a:t>太多，使内存中驻留的进程数目减少，造成</a:t>
            </a:r>
            <a:r>
              <a:rPr lang="en-US" altLang="zh-CN" sz="2800" b="1" dirty="0">
                <a:solidFill>
                  <a:srgbClr val="996600"/>
                </a:solidFill>
              </a:rPr>
              <a:t>CPU</a:t>
            </a:r>
            <a:r>
              <a:rPr lang="zh-CN" altLang="en-US" sz="2800" b="1" dirty="0">
                <a:solidFill>
                  <a:srgbClr val="996600"/>
                </a:solidFill>
              </a:rPr>
              <a:t>空闲和其它资源的空闲。</a:t>
            </a:r>
            <a:endParaRPr lang="zh-CN" altLang="en-US" sz="2800" b="1" dirty="0">
              <a:solidFill>
                <a:srgbClr val="996600"/>
              </a:solidFill>
            </a:endParaRPr>
          </a:p>
        </p:txBody>
      </p:sp>
    </p:spTree>
  </p:cSld>
  <p:clrMapOvr>
    <a:masterClrMapping/>
  </p:clrMapOvr>
  <p:transition>
    <p:blinds/>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p:nvPr/>
        </p:nvSpPr>
        <p:spPr>
          <a:xfrm>
            <a:off x="468313" y="657225"/>
            <a:ext cx="8280400" cy="24653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457200" lvl="0" indent="-457200" eaLnBrk="1" hangingPunct="1">
              <a:lnSpc>
                <a:spcPct val="130000"/>
              </a:lnSpc>
              <a:spcBef>
                <a:spcPct val="0"/>
              </a:spcBef>
              <a:buClrTx/>
              <a:buSzTx/>
              <a:buFontTx/>
              <a:buNone/>
            </a:pPr>
            <a:r>
              <a:rPr lang="en-US" altLang="zh-CN" sz="2400" b="1" dirty="0"/>
              <a:t>2)</a:t>
            </a:r>
            <a:r>
              <a:rPr lang="zh-CN" altLang="en-US" sz="2400" b="1" dirty="0"/>
              <a:t>可变分配全局置换：</a:t>
            </a:r>
            <a:r>
              <a:rPr lang="zh-CN" altLang="en-US" sz="2400" b="1" dirty="0">
                <a:solidFill>
                  <a:srgbClr val="000000"/>
                </a:solidFill>
              </a:rPr>
              <a:t>先为每个进程分配一定数目的</a:t>
            </a:r>
            <a:endParaRPr lang="zh-CN" altLang="en-US" sz="2400" b="1" dirty="0">
              <a:solidFill>
                <a:srgbClr val="000000"/>
              </a:solidFill>
            </a:endParaRPr>
          </a:p>
          <a:p>
            <a:pPr marL="457200" lvl="0" indent="-457200" eaLnBrk="1" hangingPunct="1">
              <a:lnSpc>
                <a:spcPct val="130000"/>
              </a:lnSpc>
              <a:spcBef>
                <a:spcPct val="0"/>
              </a:spcBef>
              <a:buClrTx/>
              <a:buSzTx/>
              <a:buFontTx/>
              <a:buNone/>
            </a:pPr>
            <a:r>
              <a:rPr lang="zh-CN" altLang="en-US" sz="2400" b="1" dirty="0">
                <a:solidFill>
                  <a:srgbClr val="000000"/>
                </a:solidFill>
              </a:rPr>
              <a:t>物理块，而</a:t>
            </a:r>
            <a:r>
              <a:rPr lang="en-US" altLang="zh-CN" sz="2400" b="1" dirty="0">
                <a:solidFill>
                  <a:srgbClr val="000000"/>
                </a:solidFill>
              </a:rPr>
              <a:t>OS</a:t>
            </a:r>
            <a:r>
              <a:rPr lang="zh-CN" altLang="en-US" sz="2400" b="1" dirty="0">
                <a:solidFill>
                  <a:srgbClr val="000000"/>
                </a:solidFill>
              </a:rPr>
              <a:t>也保持一个空闲物理块队列。当某进程缺页</a:t>
            </a:r>
            <a:endParaRPr lang="zh-CN" altLang="en-US" sz="2400" b="1" dirty="0">
              <a:solidFill>
                <a:srgbClr val="000000"/>
              </a:solidFill>
            </a:endParaRPr>
          </a:p>
          <a:p>
            <a:pPr marL="457200" lvl="0" indent="-457200" eaLnBrk="1" hangingPunct="1">
              <a:lnSpc>
                <a:spcPct val="130000"/>
              </a:lnSpc>
              <a:spcBef>
                <a:spcPct val="0"/>
              </a:spcBef>
              <a:buClrTx/>
              <a:buSzTx/>
              <a:buFontTx/>
              <a:buNone/>
            </a:pPr>
            <a:r>
              <a:rPr lang="zh-CN" altLang="en-US" sz="2400" b="1" dirty="0">
                <a:solidFill>
                  <a:srgbClr val="000000"/>
                </a:solidFill>
              </a:rPr>
              <a:t>时，由系统从空闲物理块队列中，取出一个物理块分配给该</a:t>
            </a:r>
            <a:endParaRPr lang="zh-CN" altLang="en-US" sz="2400" b="1" dirty="0">
              <a:solidFill>
                <a:srgbClr val="000000"/>
              </a:solidFill>
            </a:endParaRPr>
          </a:p>
          <a:p>
            <a:pPr marL="457200" lvl="0" indent="-457200" eaLnBrk="1" hangingPunct="1">
              <a:lnSpc>
                <a:spcPct val="130000"/>
              </a:lnSpc>
              <a:spcBef>
                <a:spcPct val="0"/>
              </a:spcBef>
              <a:buClrTx/>
              <a:buSzTx/>
              <a:buFontTx/>
              <a:buNone/>
            </a:pPr>
            <a:r>
              <a:rPr lang="zh-CN" altLang="en-US" sz="2400" b="1" dirty="0">
                <a:solidFill>
                  <a:srgbClr val="000000"/>
                </a:solidFill>
              </a:rPr>
              <a:t>进程。仅当空闲物理块用完时，</a:t>
            </a:r>
            <a:r>
              <a:rPr lang="en-US" altLang="zh-CN" sz="2400" b="1" dirty="0">
                <a:solidFill>
                  <a:srgbClr val="000000"/>
                </a:solidFill>
              </a:rPr>
              <a:t>OS</a:t>
            </a:r>
            <a:r>
              <a:rPr lang="zh-CN" altLang="en-US" sz="2400" b="1" dirty="0">
                <a:solidFill>
                  <a:srgbClr val="000000"/>
                </a:solidFill>
              </a:rPr>
              <a:t>才从内存中选择一页</a:t>
            </a:r>
            <a:endParaRPr lang="zh-CN" altLang="en-US" sz="2400" b="1" dirty="0">
              <a:solidFill>
                <a:srgbClr val="000000"/>
              </a:solidFill>
            </a:endParaRPr>
          </a:p>
          <a:p>
            <a:pPr marL="457200" lvl="0" indent="-457200" eaLnBrk="1" hangingPunct="1">
              <a:lnSpc>
                <a:spcPct val="130000"/>
              </a:lnSpc>
              <a:spcBef>
                <a:spcPct val="0"/>
              </a:spcBef>
              <a:buClrTx/>
              <a:buSzTx/>
              <a:buFontTx/>
              <a:buNone/>
            </a:pPr>
            <a:r>
              <a:rPr lang="zh-CN" altLang="en-US" sz="2400" b="1" dirty="0">
                <a:solidFill>
                  <a:srgbClr val="000000"/>
                </a:solidFill>
              </a:rPr>
              <a:t>（任意进程的页）调出。</a:t>
            </a:r>
            <a:endParaRPr lang="zh-CN" altLang="en-US" sz="2400" b="1" dirty="0">
              <a:solidFill>
                <a:srgbClr val="000000"/>
              </a:solidFill>
            </a:endParaRPr>
          </a:p>
        </p:txBody>
      </p:sp>
      <p:sp>
        <p:nvSpPr>
          <p:cNvPr id="25603" name="AutoShape 6"/>
          <p:cNvSpPr/>
          <p:nvPr/>
        </p:nvSpPr>
        <p:spPr>
          <a:xfrm>
            <a:off x="4248150" y="0"/>
            <a:ext cx="4032250" cy="576263"/>
          </a:xfrm>
          <a:prstGeom prst="wedgeRoundRectCallout">
            <a:avLst>
              <a:gd name="adj1" fmla="val -46222"/>
              <a:gd name="adj2" fmla="val 107301"/>
              <a:gd name="adj3" fmla="val 16667"/>
            </a:avLst>
          </a:prstGeom>
          <a:solidFill>
            <a:srgbClr val="CCFFFF"/>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chemeClr val="hlink"/>
                </a:solidFill>
              </a:rPr>
              <a:t>易于实现，已用于</a:t>
            </a:r>
            <a:r>
              <a:rPr lang="en-US" altLang="zh-CN" sz="2400" b="1" dirty="0">
                <a:solidFill>
                  <a:schemeClr val="hlink"/>
                </a:solidFill>
              </a:rPr>
              <a:t>OS</a:t>
            </a:r>
            <a:r>
              <a:rPr lang="zh-CN" altLang="en-US" sz="2400" b="1" dirty="0">
                <a:solidFill>
                  <a:schemeClr val="hlink"/>
                </a:solidFill>
              </a:rPr>
              <a:t>中</a:t>
            </a:r>
            <a:r>
              <a:rPr lang="zh-CN" altLang="en-US" sz="2400" b="1" dirty="0"/>
              <a:t>。</a:t>
            </a:r>
            <a:endParaRPr lang="zh-CN" altLang="en-US" sz="2400" b="1" dirty="0"/>
          </a:p>
        </p:txBody>
      </p:sp>
      <p:sp>
        <p:nvSpPr>
          <p:cNvPr id="484359" name="Rectangle 7"/>
          <p:cNvSpPr/>
          <p:nvPr/>
        </p:nvSpPr>
        <p:spPr>
          <a:xfrm>
            <a:off x="468313" y="3213100"/>
            <a:ext cx="8280400" cy="15160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457200" lvl="0" indent="-457200" eaLnBrk="1" hangingPunct="1">
              <a:lnSpc>
                <a:spcPct val="130000"/>
              </a:lnSpc>
              <a:spcBef>
                <a:spcPct val="0"/>
              </a:spcBef>
              <a:buClrTx/>
              <a:buSzTx/>
              <a:buFontTx/>
              <a:buNone/>
            </a:pPr>
            <a:r>
              <a:rPr lang="en-US" altLang="zh-CN" sz="2400" b="1" dirty="0"/>
              <a:t>3)</a:t>
            </a:r>
            <a:r>
              <a:rPr lang="zh-CN" altLang="en-US" sz="2400" b="1" dirty="0"/>
              <a:t>可变分配局部置换：</a:t>
            </a:r>
            <a:r>
              <a:rPr lang="zh-CN" altLang="en-US" sz="2400" b="1" dirty="0">
                <a:solidFill>
                  <a:srgbClr val="000000"/>
                </a:solidFill>
              </a:rPr>
              <a:t>为每个进程分配一定数目的物理块，</a:t>
            </a:r>
            <a:endParaRPr lang="zh-CN" altLang="en-US" sz="2400" b="1" dirty="0">
              <a:solidFill>
                <a:srgbClr val="000000"/>
              </a:solidFill>
            </a:endParaRPr>
          </a:p>
          <a:p>
            <a:pPr marL="457200" lvl="0" indent="-457200" eaLnBrk="1" hangingPunct="1">
              <a:lnSpc>
                <a:spcPct val="130000"/>
              </a:lnSpc>
              <a:spcBef>
                <a:spcPct val="0"/>
              </a:spcBef>
              <a:buClrTx/>
              <a:buSzTx/>
              <a:buFontTx/>
              <a:buNone/>
            </a:pPr>
            <a:r>
              <a:rPr lang="zh-CN" altLang="en-US" sz="2400" b="1" dirty="0">
                <a:solidFill>
                  <a:srgbClr val="000000"/>
                </a:solidFill>
              </a:rPr>
              <a:t>换页时只能从该进程的</a:t>
            </a:r>
            <a:r>
              <a:rPr lang="en-US" altLang="zh-CN" sz="2400" b="1" dirty="0">
                <a:solidFill>
                  <a:srgbClr val="000000"/>
                </a:solidFill>
              </a:rPr>
              <a:t>n</a:t>
            </a:r>
            <a:r>
              <a:rPr lang="zh-CN" altLang="en-US" sz="2400" b="1" dirty="0">
                <a:solidFill>
                  <a:srgbClr val="000000"/>
                </a:solidFill>
              </a:rPr>
              <a:t>个页面中选出一页换出。若进程频</a:t>
            </a:r>
            <a:endParaRPr lang="zh-CN" altLang="en-US" sz="2400" b="1" dirty="0">
              <a:solidFill>
                <a:srgbClr val="000000"/>
              </a:solidFill>
            </a:endParaRPr>
          </a:p>
          <a:p>
            <a:pPr marL="457200" lvl="0" indent="-457200" eaLnBrk="1" hangingPunct="1">
              <a:lnSpc>
                <a:spcPct val="130000"/>
              </a:lnSpc>
              <a:spcBef>
                <a:spcPct val="0"/>
              </a:spcBef>
              <a:buClrTx/>
              <a:buSzTx/>
              <a:buFontTx/>
              <a:buNone/>
            </a:pPr>
            <a:r>
              <a:rPr lang="zh-CN" altLang="en-US" sz="2400" b="1" dirty="0">
                <a:solidFill>
                  <a:srgbClr val="000000"/>
                </a:solidFill>
              </a:rPr>
              <a:t>繁缺页，则系统再为该进程分配若干物理块；反之则反。</a:t>
            </a:r>
            <a:endParaRPr lang="zh-CN" altLang="en-US" sz="2400" b="1" dirty="0">
              <a:solidFill>
                <a:srgbClr val="000000"/>
              </a:solidFill>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4359"/>
                                        </p:tgtEl>
                                        <p:attrNameLst>
                                          <p:attrName>style.visibility</p:attrName>
                                        </p:attrNameLst>
                                      </p:cBhvr>
                                      <p:to>
                                        <p:strVal val="visible"/>
                                      </p:to>
                                    </p:set>
                                    <p:anim calcmode="lin" valueType="num">
                                      <p:cBhvr additive="base">
                                        <p:cTn id="7" dur="500" fill="hold"/>
                                        <p:tgtEl>
                                          <p:spTgt spid="484359"/>
                                        </p:tgtEl>
                                        <p:attrNameLst>
                                          <p:attrName>ppt_x</p:attrName>
                                        </p:attrNameLst>
                                      </p:cBhvr>
                                      <p:tavLst>
                                        <p:tav tm="0">
                                          <p:val>
                                            <p:strVal val="#ppt_x"/>
                                          </p:val>
                                        </p:tav>
                                        <p:tav tm="100000">
                                          <p:val>
                                            <p:strVal val="#ppt_x"/>
                                          </p:val>
                                        </p:tav>
                                      </p:tavLst>
                                    </p:anim>
                                    <p:anim calcmode="lin" valueType="num">
                                      <p:cBhvr additive="base">
                                        <p:cTn id="8" dur="500" fill="hold"/>
                                        <p:tgtEl>
                                          <p:spTgt spid="4843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359"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Text Box 2"/>
          <p:cNvSpPr txBox="1"/>
          <p:nvPr/>
        </p:nvSpPr>
        <p:spPr>
          <a:xfrm>
            <a:off x="684213" y="765175"/>
            <a:ext cx="2709862"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chemeClr val="hlink"/>
                </a:solidFill>
                <a:latin typeface="Times New Roman" panose="02020603050405020304" pitchFamily="18" charset="0"/>
              </a:rPr>
              <a:t>3. </a:t>
            </a:r>
            <a:r>
              <a:rPr lang="zh-CN" altLang="en-US" sz="2400" b="1" dirty="0">
                <a:solidFill>
                  <a:schemeClr val="hlink"/>
                </a:solidFill>
                <a:latin typeface="Times New Roman" panose="02020603050405020304" pitchFamily="18" charset="0"/>
              </a:rPr>
              <a:t>物理块分配算法</a:t>
            </a:r>
            <a:r>
              <a:rPr lang="zh-CN" altLang="en-US" sz="2400" b="1" dirty="0">
                <a:latin typeface="Times New Roman" panose="02020603050405020304" pitchFamily="18" charset="0"/>
              </a:rPr>
              <a:t> </a:t>
            </a:r>
            <a:endParaRPr lang="zh-CN" altLang="en-US" sz="2400" b="1" dirty="0">
              <a:latin typeface="Times New Roman" panose="02020603050405020304" pitchFamily="18" charset="0"/>
            </a:endParaRPr>
          </a:p>
        </p:txBody>
      </p:sp>
      <p:sp>
        <p:nvSpPr>
          <p:cNvPr id="27651" name="Text Box 3"/>
          <p:cNvSpPr txBox="1"/>
          <p:nvPr/>
        </p:nvSpPr>
        <p:spPr>
          <a:xfrm>
            <a:off x="533400" y="1524000"/>
            <a:ext cx="8229600" cy="1006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just" eaLnBrk="1" hangingPunct="1">
              <a:lnSpc>
                <a:spcPct val="125000"/>
              </a:lnSpc>
              <a:spcBef>
                <a:spcPct val="0"/>
              </a:spcBef>
              <a:buClrTx/>
              <a:buSzTx/>
              <a:buFontTx/>
              <a:buNone/>
            </a:pPr>
            <a:r>
              <a:rPr lang="en-US" altLang="zh-CN" sz="2400" b="1" dirty="0">
                <a:solidFill>
                  <a:srgbClr val="000000"/>
                </a:solidFill>
                <a:latin typeface="Times New Roman" panose="02020603050405020304" pitchFamily="18" charset="0"/>
              </a:rPr>
              <a:t> 1) </a:t>
            </a:r>
            <a:r>
              <a:rPr lang="zh-CN" altLang="en-US" sz="2400" b="1" dirty="0">
                <a:solidFill>
                  <a:srgbClr val="000000"/>
                </a:solidFill>
                <a:latin typeface="Times New Roman" panose="02020603050405020304" pitchFamily="18" charset="0"/>
              </a:rPr>
              <a:t>平均分配算法</a:t>
            </a:r>
            <a:endParaRPr lang="zh-CN" altLang="en-US" sz="2400" b="1" dirty="0">
              <a:solidFill>
                <a:srgbClr val="000000"/>
              </a:solidFill>
              <a:latin typeface="Times New Roman" panose="02020603050405020304" pitchFamily="18" charset="0"/>
            </a:endParaRPr>
          </a:p>
          <a:p>
            <a:pPr marL="0" lvl="0" indent="0" algn="just" eaLnBrk="1" hangingPunct="1">
              <a:lnSpc>
                <a:spcPct val="125000"/>
              </a:lnSpc>
              <a:spcBef>
                <a:spcPct val="0"/>
              </a:spcBef>
              <a:buClrTx/>
              <a:buSzTx/>
              <a:buFontTx/>
              <a:buNone/>
            </a:pPr>
            <a:r>
              <a:rPr lang="zh-CN" altLang="en-US" sz="2400" b="1" dirty="0">
                <a:solidFill>
                  <a:srgbClr val="000000"/>
                </a:solidFill>
                <a:latin typeface="Times New Roman" panose="02020603050405020304" pitchFamily="18" charset="0"/>
              </a:rPr>
              <a:t>     将系统中所有可供分配的物理块，平均分配给各个进程。</a:t>
            </a:r>
            <a:endParaRPr lang="zh-CN" altLang="en-US" sz="2400" b="1" dirty="0">
              <a:solidFill>
                <a:srgbClr val="000000"/>
              </a:solidFill>
              <a:latin typeface="Times New Roman" panose="02020603050405020304" pitchFamily="18" charset="0"/>
            </a:endParaRPr>
          </a:p>
        </p:txBody>
      </p:sp>
      <p:sp>
        <p:nvSpPr>
          <p:cNvPr id="27652" name="Rectangle 4"/>
          <p:cNvSpPr/>
          <p:nvPr/>
        </p:nvSpPr>
        <p:spPr>
          <a:xfrm>
            <a:off x="611188" y="2852738"/>
            <a:ext cx="7561262" cy="8223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0000"/>
                </a:solidFill>
              </a:rPr>
              <a:t>2) </a:t>
            </a:r>
            <a:r>
              <a:rPr lang="zh-CN" altLang="en-US" sz="2400" b="1" dirty="0">
                <a:solidFill>
                  <a:srgbClr val="000000"/>
                </a:solidFill>
              </a:rPr>
              <a:t>按比例分配算法</a:t>
            </a:r>
            <a:endParaRPr lang="zh-CN" altLang="en-US" sz="2400" b="1" dirty="0">
              <a:solidFill>
                <a:srgbClr val="000000"/>
              </a:solidFill>
            </a:endParaRPr>
          </a:p>
          <a:p>
            <a:pPr marL="0" lvl="0" indent="0" eaLnBrk="1" hangingPunct="1">
              <a:spcBef>
                <a:spcPct val="0"/>
              </a:spcBef>
              <a:buClrTx/>
              <a:buSzTx/>
              <a:buFontTx/>
              <a:buNone/>
            </a:pPr>
            <a:r>
              <a:rPr lang="zh-CN" altLang="en-US" sz="2400" b="1" dirty="0">
                <a:solidFill>
                  <a:srgbClr val="000000"/>
                </a:solidFill>
              </a:rPr>
              <a:t>      根据进程的大小按比例分配物理块的算法。</a:t>
            </a:r>
            <a:endParaRPr lang="zh-CN" altLang="en-US" sz="2400" b="1" dirty="0">
              <a:solidFill>
                <a:srgbClr val="000000"/>
              </a:solidFill>
            </a:endParaRPr>
          </a:p>
        </p:txBody>
      </p:sp>
      <p:graphicFrame>
        <p:nvGraphicFramePr>
          <p:cNvPr id="27653" name="Object 5"/>
          <p:cNvGraphicFramePr>
            <a:graphicFrameLocks noChangeAspect="1"/>
          </p:cNvGraphicFramePr>
          <p:nvPr/>
        </p:nvGraphicFramePr>
        <p:xfrm>
          <a:off x="2339975" y="3644900"/>
          <a:ext cx="1079500" cy="781050"/>
        </p:xfrm>
        <a:graphic>
          <a:graphicData uri="http://schemas.openxmlformats.org/presentationml/2006/ole">
            <mc:AlternateContent xmlns:mc="http://schemas.openxmlformats.org/markup-compatibility/2006">
              <mc:Choice xmlns:v="urn:schemas-microsoft-com:vml" Requires="v">
                <p:oleObj spid="_x0000_s2" name="" r:id="rId1" imgW="596900" imgH="431800" progId="Equation.3">
                  <p:embed/>
                </p:oleObj>
              </mc:Choice>
              <mc:Fallback>
                <p:oleObj name="" r:id="rId1" imgW="596900" imgH="431800" progId="Equation.3">
                  <p:embed/>
                  <p:pic>
                    <p:nvPicPr>
                      <p:cNvPr id="0" name="图片 3078"/>
                      <p:cNvPicPr/>
                      <p:nvPr/>
                    </p:nvPicPr>
                    <p:blipFill>
                      <a:blip r:embed="rId2"/>
                      <a:stretch>
                        <a:fillRect/>
                      </a:stretch>
                    </p:blipFill>
                    <p:spPr>
                      <a:xfrm>
                        <a:off x="2339975" y="3644900"/>
                        <a:ext cx="1079500" cy="781050"/>
                      </a:xfrm>
                      <a:prstGeom prst="rect">
                        <a:avLst/>
                      </a:prstGeom>
                      <a:noFill/>
                      <a:ln w="38100">
                        <a:noFill/>
                        <a:miter/>
                      </a:ln>
                    </p:spPr>
                  </p:pic>
                </p:oleObj>
              </mc:Fallback>
            </mc:AlternateContent>
          </a:graphicData>
        </a:graphic>
      </p:graphicFrame>
      <p:graphicFrame>
        <p:nvGraphicFramePr>
          <p:cNvPr id="27654" name="Object 6"/>
          <p:cNvGraphicFramePr>
            <a:graphicFrameLocks noChangeAspect="1"/>
          </p:cNvGraphicFramePr>
          <p:nvPr/>
        </p:nvGraphicFramePr>
        <p:xfrm>
          <a:off x="3851275" y="3644900"/>
          <a:ext cx="1295400" cy="730250"/>
        </p:xfrm>
        <a:graphic>
          <a:graphicData uri="http://schemas.openxmlformats.org/presentationml/2006/ole">
            <mc:AlternateContent xmlns:mc="http://schemas.openxmlformats.org/markup-compatibility/2006">
              <mc:Choice xmlns:v="urn:schemas-microsoft-com:vml" Requires="v">
                <p:oleObj spid="_x0000_s3" name="" r:id="rId3" imgW="698500" imgH="393700" progId="Equation.3">
                  <p:embed/>
                </p:oleObj>
              </mc:Choice>
              <mc:Fallback>
                <p:oleObj name="" r:id="rId3" imgW="698500" imgH="393700" progId="Equation.3">
                  <p:embed/>
                  <p:pic>
                    <p:nvPicPr>
                      <p:cNvPr id="0" name="图片 3077"/>
                      <p:cNvPicPr/>
                      <p:nvPr/>
                    </p:nvPicPr>
                    <p:blipFill>
                      <a:blip r:embed="rId4"/>
                      <a:stretch>
                        <a:fillRect/>
                      </a:stretch>
                    </p:blipFill>
                    <p:spPr>
                      <a:xfrm>
                        <a:off x="3851275" y="3644900"/>
                        <a:ext cx="1295400" cy="730250"/>
                      </a:xfrm>
                      <a:prstGeom prst="rect">
                        <a:avLst/>
                      </a:prstGeom>
                      <a:noFill/>
                      <a:ln w="38100">
                        <a:noFill/>
                        <a:miter/>
                      </a:ln>
                    </p:spPr>
                  </p:pic>
                </p:oleObj>
              </mc:Fallback>
            </mc:AlternateContent>
          </a:graphicData>
        </a:graphic>
      </p:graphicFrame>
      <p:sp>
        <p:nvSpPr>
          <p:cNvPr id="27655" name="Rectangle 7"/>
          <p:cNvSpPr/>
          <p:nvPr/>
        </p:nvSpPr>
        <p:spPr>
          <a:xfrm>
            <a:off x="684213" y="4703763"/>
            <a:ext cx="7920037" cy="8223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0000"/>
                </a:solidFill>
              </a:rPr>
              <a:t>3) </a:t>
            </a:r>
            <a:r>
              <a:rPr lang="zh-CN" altLang="en-US" sz="2400" b="1" dirty="0">
                <a:solidFill>
                  <a:srgbClr val="000000"/>
                </a:solidFill>
              </a:rPr>
              <a:t>考虑优先权的分配算法</a:t>
            </a:r>
            <a:endParaRPr lang="zh-CN" altLang="en-US" sz="2400" b="1" dirty="0">
              <a:solidFill>
                <a:srgbClr val="000000"/>
              </a:solidFill>
            </a:endParaRPr>
          </a:p>
          <a:p>
            <a:pPr marL="0" lvl="0" indent="0" eaLnBrk="1" hangingPunct="1">
              <a:spcBef>
                <a:spcPct val="0"/>
              </a:spcBef>
              <a:buClrTx/>
              <a:buSzTx/>
              <a:buFontTx/>
              <a:buNone/>
            </a:pPr>
            <a:r>
              <a:rPr lang="zh-CN" altLang="en-US" sz="2400" b="1" dirty="0">
                <a:solidFill>
                  <a:srgbClr val="000000"/>
                </a:solidFill>
              </a:rPr>
              <a:t>      优先权高的进程分配的数目多些。</a:t>
            </a:r>
            <a:endParaRPr lang="zh-CN" altLang="en-US" sz="2400" b="1" dirty="0">
              <a:solidFill>
                <a:srgbClr val="000000"/>
              </a:solidFill>
            </a:endParaRPr>
          </a:p>
        </p:txBody>
      </p:sp>
      <p:sp>
        <p:nvSpPr>
          <p:cNvPr id="27656" name="AutoShape 8"/>
          <p:cNvSpPr/>
          <p:nvPr/>
        </p:nvSpPr>
        <p:spPr>
          <a:xfrm>
            <a:off x="3851275" y="260350"/>
            <a:ext cx="4105275" cy="1081088"/>
          </a:xfrm>
          <a:prstGeom prst="cloudCallout">
            <a:avLst>
              <a:gd name="adj1" fmla="val -62991"/>
              <a:gd name="adj2" fmla="val 22542"/>
            </a:avLst>
          </a:prstGeom>
          <a:solidFill>
            <a:srgbClr val="FFFF00"/>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000" b="1" dirty="0"/>
              <a:t>如何将系统中的物理块分配给各个进程？</a:t>
            </a:r>
            <a:endParaRPr lang="zh-CN" altLang="en-US" sz="2000" b="1" dirty="0"/>
          </a:p>
        </p:txBody>
      </p:sp>
    </p:spTree>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p:nvPr/>
        </p:nvSpPr>
        <p:spPr>
          <a:xfrm>
            <a:off x="323850" y="549275"/>
            <a:ext cx="2859088"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latin typeface="Times New Roman" panose="02020603050405020304" pitchFamily="18" charset="0"/>
              </a:rPr>
              <a:t>5.2.3 </a:t>
            </a:r>
            <a:r>
              <a:rPr lang="zh-CN" altLang="en-US" sz="2800" b="1" dirty="0">
                <a:latin typeface="Times New Roman" panose="02020603050405020304" pitchFamily="18" charset="0"/>
              </a:rPr>
              <a:t>调页策略</a:t>
            </a:r>
            <a:endParaRPr lang="zh-CN" altLang="en-US" sz="2800" b="1" dirty="0">
              <a:latin typeface="Times New Roman" panose="02020603050405020304" pitchFamily="18" charset="0"/>
            </a:endParaRPr>
          </a:p>
        </p:txBody>
      </p:sp>
      <p:sp>
        <p:nvSpPr>
          <p:cNvPr id="28675" name="Text Box 3"/>
          <p:cNvSpPr txBox="1"/>
          <p:nvPr/>
        </p:nvSpPr>
        <p:spPr>
          <a:xfrm>
            <a:off x="468313" y="1412875"/>
            <a:ext cx="24034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1. </a:t>
            </a:r>
            <a:r>
              <a:rPr lang="zh-CN" altLang="en-US" sz="2400" b="1" dirty="0">
                <a:latin typeface="Times New Roman" panose="02020603050405020304" pitchFamily="18" charset="0"/>
              </a:rPr>
              <a:t>何时调入页面 </a:t>
            </a:r>
            <a:endParaRPr lang="zh-CN" altLang="en-US" sz="2400" b="1" dirty="0">
              <a:latin typeface="Times New Roman" panose="02020603050405020304" pitchFamily="18" charset="0"/>
            </a:endParaRPr>
          </a:p>
        </p:txBody>
      </p:sp>
      <p:sp>
        <p:nvSpPr>
          <p:cNvPr id="29700" name="Text Box 4"/>
          <p:cNvSpPr txBox="1"/>
          <p:nvPr/>
        </p:nvSpPr>
        <p:spPr>
          <a:xfrm>
            <a:off x="503238" y="2205038"/>
            <a:ext cx="7848600" cy="3292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457200" lvl="0" indent="-457200" eaLnBrk="1" hangingPunct="1">
              <a:lnSpc>
                <a:spcPct val="125000"/>
              </a:lnSpc>
              <a:spcBef>
                <a:spcPct val="0"/>
              </a:spcBef>
              <a:buClrTx/>
              <a:buSzTx/>
              <a:buFontTx/>
              <a:buAutoNum type="arabicParenR"/>
            </a:pPr>
            <a:r>
              <a:rPr lang="zh-CN" altLang="en-US" sz="2400" b="1" dirty="0">
                <a:solidFill>
                  <a:srgbClr val="CC3300"/>
                </a:solidFill>
                <a:latin typeface="Times New Roman" panose="02020603050405020304" pitchFamily="18" charset="0"/>
              </a:rPr>
              <a:t>预调页</a:t>
            </a:r>
            <a:r>
              <a:rPr lang="zh-CN" altLang="en-US" sz="2400" b="1" dirty="0">
                <a:solidFill>
                  <a:srgbClr val="000000"/>
                </a:solidFill>
                <a:latin typeface="Times New Roman" panose="02020603050405020304" pitchFamily="18" charset="0"/>
              </a:rPr>
              <a:t>策略  </a:t>
            </a:r>
            <a:endParaRPr lang="zh-CN" altLang="en-US" sz="2400" b="1" dirty="0">
              <a:solidFill>
                <a:srgbClr val="000000"/>
              </a:solidFill>
              <a:latin typeface="Times New Roman" panose="02020603050405020304" pitchFamily="18" charset="0"/>
            </a:endParaRPr>
          </a:p>
          <a:p>
            <a:pPr marL="457200" lvl="0" indent="-457200" eaLnBrk="1" hangingPunct="1">
              <a:lnSpc>
                <a:spcPct val="125000"/>
              </a:lnSpc>
              <a:spcBef>
                <a:spcPct val="0"/>
              </a:spcBef>
              <a:buClrTx/>
              <a:buSzTx/>
              <a:buFontTx/>
              <a:buNone/>
            </a:pPr>
            <a:r>
              <a:rPr lang="zh-CN" altLang="en-US" sz="2400" b="1" dirty="0">
                <a:solidFill>
                  <a:srgbClr val="000000"/>
                </a:solidFill>
                <a:latin typeface="Times New Roman" panose="02020603050405020304" pitchFamily="18" charset="0"/>
              </a:rPr>
              <a:t>           将那些</a:t>
            </a:r>
            <a:r>
              <a:rPr lang="zh-CN" altLang="en-US" sz="2400" b="1" dirty="0">
                <a:solidFill>
                  <a:srgbClr val="FF0000"/>
                </a:solidFill>
                <a:latin typeface="Times New Roman" panose="02020603050405020304" pitchFamily="18" charset="0"/>
              </a:rPr>
              <a:t>预计</a:t>
            </a:r>
            <a:r>
              <a:rPr lang="zh-CN" altLang="en-US" sz="2400" b="1" dirty="0">
                <a:solidFill>
                  <a:srgbClr val="000000"/>
                </a:solidFill>
                <a:latin typeface="Times New Roman" panose="02020603050405020304" pitchFamily="18" charset="0"/>
              </a:rPr>
              <a:t>在不久之后会被访问的页面</a:t>
            </a:r>
            <a:r>
              <a:rPr lang="zh-CN" altLang="en-US" sz="2400" b="1" dirty="0">
                <a:solidFill>
                  <a:srgbClr val="FF0000"/>
                </a:solidFill>
                <a:latin typeface="Times New Roman" panose="02020603050405020304" pitchFamily="18" charset="0"/>
              </a:rPr>
              <a:t>预先调入</a:t>
            </a:r>
            <a:r>
              <a:rPr lang="zh-CN" altLang="en-US" sz="2400" b="1" dirty="0">
                <a:solidFill>
                  <a:srgbClr val="000000"/>
                </a:solidFill>
                <a:latin typeface="Times New Roman" panose="02020603050405020304" pitchFamily="18" charset="0"/>
              </a:rPr>
              <a:t>内</a:t>
            </a:r>
            <a:endParaRPr lang="zh-CN" altLang="en-US" sz="2400" b="1" dirty="0">
              <a:solidFill>
                <a:srgbClr val="000000"/>
              </a:solidFill>
              <a:latin typeface="Times New Roman" panose="02020603050405020304" pitchFamily="18" charset="0"/>
            </a:endParaRPr>
          </a:p>
          <a:p>
            <a:pPr marL="457200" lvl="0" indent="-457200" eaLnBrk="1" hangingPunct="1">
              <a:lnSpc>
                <a:spcPct val="125000"/>
              </a:lnSpc>
              <a:spcBef>
                <a:spcPct val="0"/>
              </a:spcBef>
              <a:buClrTx/>
              <a:buSzTx/>
              <a:buFontTx/>
              <a:buNone/>
            </a:pPr>
            <a:r>
              <a:rPr lang="zh-CN" altLang="en-US" sz="2400" b="1" dirty="0">
                <a:solidFill>
                  <a:srgbClr val="000000"/>
                </a:solidFill>
                <a:latin typeface="Times New Roman" panose="02020603050405020304" pitchFamily="18" charset="0"/>
              </a:rPr>
              <a:t>存，目前成功率仅约</a:t>
            </a:r>
            <a:r>
              <a:rPr lang="en-US" altLang="zh-CN" sz="2400" b="1" dirty="0">
                <a:solidFill>
                  <a:srgbClr val="000000"/>
                </a:solidFill>
                <a:latin typeface="Times New Roman" panose="02020603050405020304" pitchFamily="18" charset="0"/>
              </a:rPr>
              <a:t>50%</a:t>
            </a:r>
            <a:r>
              <a:rPr lang="zh-CN" altLang="en-US" sz="2400" b="1" dirty="0">
                <a:solidFill>
                  <a:srgbClr val="000000"/>
                </a:solidFill>
                <a:latin typeface="Times New Roman" panose="02020603050405020304" pitchFamily="18" charset="0"/>
              </a:rPr>
              <a:t>。</a:t>
            </a:r>
            <a:endParaRPr lang="zh-CN" altLang="en-US" sz="2400" b="1" dirty="0">
              <a:solidFill>
                <a:srgbClr val="000000"/>
              </a:solidFill>
              <a:latin typeface="Times New Roman" panose="02020603050405020304" pitchFamily="18" charset="0"/>
            </a:endParaRPr>
          </a:p>
          <a:p>
            <a:pPr marL="457200" lvl="0" indent="-457200" eaLnBrk="1" hangingPunct="1">
              <a:lnSpc>
                <a:spcPct val="125000"/>
              </a:lnSpc>
              <a:spcBef>
                <a:spcPct val="0"/>
              </a:spcBef>
              <a:buClrTx/>
              <a:buSzTx/>
              <a:buFontTx/>
              <a:buNone/>
            </a:pPr>
            <a:endParaRPr lang="zh-CN" altLang="en-US" sz="2400" b="1" dirty="0">
              <a:solidFill>
                <a:srgbClr val="000000"/>
              </a:solidFill>
              <a:latin typeface="Times New Roman" panose="02020603050405020304" pitchFamily="18" charset="0"/>
            </a:endParaRPr>
          </a:p>
          <a:p>
            <a:pPr marL="457200" lvl="0" indent="-457200" eaLnBrk="1" hangingPunct="1">
              <a:lnSpc>
                <a:spcPct val="125000"/>
              </a:lnSpc>
              <a:spcBef>
                <a:spcPct val="0"/>
              </a:spcBef>
              <a:buClrTx/>
              <a:buSzTx/>
              <a:buFontTx/>
              <a:buNone/>
            </a:pPr>
            <a:r>
              <a:rPr lang="en-US" altLang="zh-CN" sz="2400" b="1" dirty="0">
                <a:solidFill>
                  <a:srgbClr val="000000"/>
                </a:solidFill>
                <a:latin typeface="Times New Roman" panose="02020603050405020304" pitchFamily="18" charset="0"/>
              </a:rPr>
              <a:t>2) </a:t>
            </a:r>
            <a:r>
              <a:rPr lang="zh-CN" altLang="en-US" sz="2400" b="1" dirty="0">
                <a:solidFill>
                  <a:srgbClr val="000000"/>
                </a:solidFill>
                <a:latin typeface="Times New Roman" panose="02020603050405020304" pitchFamily="18" charset="0"/>
              </a:rPr>
              <a:t>请求调页策略</a:t>
            </a:r>
            <a:r>
              <a:rPr lang="zh-CN" altLang="en-US" sz="2400" dirty="0">
                <a:solidFill>
                  <a:srgbClr val="000000"/>
                </a:solidFill>
                <a:latin typeface="Times New Roman" panose="02020603050405020304" pitchFamily="18" charset="0"/>
              </a:rPr>
              <a:t> </a:t>
            </a:r>
            <a:endParaRPr lang="zh-CN" altLang="en-US" sz="2400" dirty="0">
              <a:solidFill>
                <a:srgbClr val="000000"/>
              </a:solidFill>
              <a:latin typeface="Times New Roman" panose="02020603050405020304" pitchFamily="18" charset="0"/>
            </a:endParaRPr>
          </a:p>
          <a:p>
            <a:pPr marL="457200" lvl="0" indent="-457200" eaLnBrk="1" hangingPunct="1">
              <a:lnSpc>
                <a:spcPct val="125000"/>
              </a:lnSpc>
              <a:spcBef>
                <a:spcPct val="0"/>
              </a:spcBef>
              <a:buClrTx/>
              <a:buSzTx/>
              <a:buFontTx/>
              <a:buNone/>
            </a:pPr>
            <a:r>
              <a:rPr lang="zh-CN" altLang="en-US" sz="2400" b="1" dirty="0">
                <a:solidFill>
                  <a:srgbClr val="000000"/>
                </a:solidFill>
                <a:latin typeface="Times New Roman" panose="02020603050405020304" pitchFamily="18" charset="0"/>
              </a:rPr>
              <a:t>         进程在</a:t>
            </a:r>
            <a:r>
              <a:rPr lang="zh-CN" altLang="en-US" sz="2400" b="1" dirty="0">
                <a:solidFill>
                  <a:srgbClr val="CC3300"/>
                </a:solidFill>
                <a:latin typeface="Times New Roman" panose="02020603050405020304" pitchFamily="18" charset="0"/>
              </a:rPr>
              <a:t>运行中</a:t>
            </a:r>
            <a:r>
              <a:rPr lang="zh-CN" altLang="en-US" sz="2400" b="1" dirty="0">
                <a:solidFill>
                  <a:srgbClr val="000000"/>
                </a:solidFill>
                <a:latin typeface="Times New Roman" panose="02020603050405020304" pitchFamily="18" charset="0"/>
              </a:rPr>
              <a:t>，访问的页面不在内存，由</a:t>
            </a:r>
            <a:r>
              <a:rPr lang="en-US" altLang="zh-CN" sz="2400" b="1" dirty="0">
                <a:solidFill>
                  <a:srgbClr val="000000"/>
                </a:solidFill>
                <a:latin typeface="Times New Roman" panose="02020603050405020304" pitchFamily="18" charset="0"/>
              </a:rPr>
              <a:t>OS</a:t>
            </a:r>
            <a:r>
              <a:rPr lang="zh-CN" altLang="en-US" sz="2400" b="1" dirty="0">
                <a:solidFill>
                  <a:srgbClr val="CC3300"/>
                </a:solidFill>
                <a:latin typeface="Times New Roman" panose="02020603050405020304" pitchFamily="18" charset="0"/>
              </a:rPr>
              <a:t>调入</a:t>
            </a:r>
            <a:r>
              <a:rPr lang="zh-CN" altLang="en-US" sz="2400" b="1" dirty="0">
                <a:solidFill>
                  <a:srgbClr val="000000"/>
                </a:solidFill>
                <a:latin typeface="Times New Roman" panose="02020603050405020304" pitchFamily="18" charset="0"/>
              </a:rPr>
              <a:t>。</a:t>
            </a:r>
            <a:endParaRPr lang="zh-CN" altLang="en-US" sz="2400" b="1" dirty="0">
              <a:solidFill>
                <a:srgbClr val="000000"/>
              </a:solidFill>
              <a:latin typeface="Times New Roman" panose="02020603050405020304" pitchFamily="18" charset="0"/>
            </a:endParaRPr>
          </a:p>
          <a:p>
            <a:pPr marL="457200" lvl="0" indent="-457200" eaLnBrk="1" hangingPunct="1">
              <a:lnSpc>
                <a:spcPct val="125000"/>
              </a:lnSpc>
              <a:spcBef>
                <a:spcPct val="0"/>
              </a:spcBef>
              <a:buClrTx/>
              <a:buSzTx/>
              <a:buFontTx/>
              <a:buNone/>
            </a:pPr>
            <a:r>
              <a:rPr lang="zh-CN" altLang="en-US" sz="2400" b="1" dirty="0">
                <a:solidFill>
                  <a:srgbClr val="FF0000"/>
                </a:solidFill>
                <a:latin typeface="Times New Roman" panose="02020603050405020304" pitchFamily="18" charset="0"/>
              </a:rPr>
              <a:t>目前采用</a:t>
            </a:r>
            <a:r>
              <a:rPr lang="zh-CN" altLang="en-US" sz="2400" b="1" dirty="0">
                <a:solidFill>
                  <a:srgbClr val="000000"/>
                </a:solidFill>
                <a:latin typeface="Times New Roman" panose="02020603050405020304" pitchFamily="18" charset="0"/>
              </a:rPr>
              <a:t>。</a:t>
            </a:r>
            <a:endParaRPr lang="zh-CN" altLang="en-US" sz="2400" b="1" dirty="0">
              <a:solidFill>
                <a:srgbClr val="000000"/>
              </a:solidFill>
              <a:latin typeface="Times New Roman" panose="02020603050405020304" pitchFamily="18" charset="0"/>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700">
                                            <p:txEl>
                                              <p:pRg st="4" end="4"/>
                                            </p:txEl>
                                          </p:spTgt>
                                        </p:tgtEl>
                                        <p:attrNameLst>
                                          <p:attrName>style.visibility</p:attrName>
                                        </p:attrNameLst>
                                      </p:cBhvr>
                                      <p:to>
                                        <p:strVal val="visible"/>
                                      </p:to>
                                    </p:set>
                                    <p:animEffect transition="in" filter="blinds(horizontal)">
                                      <p:cBhvr>
                                        <p:cTn id="7" dur="500"/>
                                        <p:tgtEl>
                                          <p:spTgt spid="29700">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9700">
                                            <p:txEl>
                                              <p:pRg st="5" end="5"/>
                                            </p:txEl>
                                          </p:spTgt>
                                        </p:tgtEl>
                                        <p:attrNameLst>
                                          <p:attrName>style.visibility</p:attrName>
                                        </p:attrNameLst>
                                      </p:cBhvr>
                                      <p:to>
                                        <p:strVal val="visible"/>
                                      </p:to>
                                    </p:set>
                                    <p:animEffect transition="in" filter="blinds(horizontal)">
                                      <p:cBhvr>
                                        <p:cTn id="10" dur="500"/>
                                        <p:tgtEl>
                                          <p:spTgt spid="29700">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9700">
                                            <p:txEl>
                                              <p:pRg st="6" end="6"/>
                                            </p:txEl>
                                          </p:spTgt>
                                        </p:tgtEl>
                                        <p:attrNameLst>
                                          <p:attrName>style.visibility</p:attrName>
                                        </p:attrNameLst>
                                      </p:cBhvr>
                                      <p:to>
                                        <p:strVal val="visible"/>
                                      </p:to>
                                    </p:set>
                                    <p:animEffect transition="in" filter="blinds(horizontal)">
                                      <p:cBhvr>
                                        <p:cTn id="13" dur="500"/>
                                        <p:tgtEl>
                                          <p:spTgt spid="2970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p:nvPr/>
        </p:nvSpPr>
        <p:spPr>
          <a:xfrm>
            <a:off x="884238" y="215900"/>
            <a:ext cx="2709862"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2. </a:t>
            </a:r>
            <a:r>
              <a:rPr lang="zh-CN" altLang="en-US" sz="2400" b="1" dirty="0">
                <a:latin typeface="Times New Roman" panose="02020603050405020304" pitchFamily="18" charset="0"/>
              </a:rPr>
              <a:t>从何处调入页面 </a:t>
            </a:r>
            <a:endParaRPr lang="zh-CN" altLang="en-US" sz="2400" b="1" dirty="0">
              <a:latin typeface="Times New Roman" panose="02020603050405020304" pitchFamily="18" charset="0"/>
            </a:endParaRPr>
          </a:p>
        </p:txBody>
      </p:sp>
      <p:sp>
        <p:nvSpPr>
          <p:cNvPr id="486403" name="Text Box 3"/>
          <p:cNvSpPr txBox="1"/>
          <p:nvPr/>
        </p:nvSpPr>
        <p:spPr>
          <a:xfrm>
            <a:off x="628650" y="690563"/>
            <a:ext cx="8153400" cy="61166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just" eaLnBrk="1" hangingPunct="1">
              <a:lnSpc>
                <a:spcPct val="150000"/>
              </a:lnSpc>
              <a:spcBef>
                <a:spcPct val="0"/>
              </a:spcBef>
              <a:buClrTx/>
              <a:buSzTx/>
              <a:buFontTx/>
              <a:buNone/>
            </a:pPr>
            <a:r>
              <a:rPr lang="zh-CN" altLang="en-US" sz="2400" b="1" dirty="0">
                <a:solidFill>
                  <a:srgbClr val="000000"/>
                </a:solidFill>
                <a:latin typeface="Times New Roman" panose="02020603050405020304" pitchFamily="18" charset="0"/>
              </a:rPr>
              <a:t>分成如下三种情况：</a:t>
            </a:r>
            <a:endParaRPr lang="en-US" altLang="zh-CN" sz="2400" b="1" dirty="0">
              <a:solidFill>
                <a:srgbClr val="000000"/>
              </a:solidFill>
              <a:latin typeface="Times New Roman" panose="02020603050405020304" pitchFamily="18" charset="0"/>
            </a:endParaRPr>
          </a:p>
          <a:p>
            <a:pPr marL="0" lvl="0" indent="0" algn="just" eaLnBrk="1" hangingPunct="1">
              <a:lnSpc>
                <a:spcPct val="150000"/>
              </a:lnSpc>
              <a:spcBef>
                <a:spcPct val="0"/>
              </a:spcBef>
              <a:buClrTx/>
              <a:buSzTx/>
              <a:buFontTx/>
              <a:buNone/>
            </a:pPr>
            <a:r>
              <a:rPr lang="zh-CN" altLang="en-US" sz="2400" b="1" dirty="0">
                <a:solidFill>
                  <a:srgbClr val="000000"/>
                </a:solidFill>
                <a:latin typeface="Times New Roman" panose="02020603050405020304" pitchFamily="18" charset="0"/>
              </a:rPr>
              <a:t>        </a:t>
            </a:r>
            <a:r>
              <a:rPr lang="en-US" altLang="zh-CN" sz="2400" b="1" dirty="0">
                <a:solidFill>
                  <a:srgbClr val="000000"/>
                </a:solidFill>
                <a:latin typeface="Times New Roman" panose="02020603050405020304" pitchFamily="18" charset="0"/>
              </a:rPr>
              <a:t>(1) </a:t>
            </a:r>
            <a:r>
              <a:rPr lang="zh-CN" altLang="en-US" sz="2400" b="1" dirty="0">
                <a:solidFill>
                  <a:srgbClr val="000000"/>
                </a:solidFill>
                <a:latin typeface="Times New Roman" panose="02020603050405020304" pitchFamily="18" charset="0"/>
              </a:rPr>
              <a:t>系统拥有足够的对换区空间，这时可以</a:t>
            </a:r>
            <a:r>
              <a:rPr lang="zh-CN" altLang="en-US" sz="2400" b="1" dirty="0">
                <a:solidFill>
                  <a:srgbClr val="CC3300"/>
                </a:solidFill>
                <a:latin typeface="Times New Roman" panose="02020603050405020304" pitchFamily="18" charset="0"/>
              </a:rPr>
              <a:t>全部从对换区调入所需页面</a:t>
            </a:r>
            <a:r>
              <a:rPr lang="zh-CN" altLang="en-US" sz="2400" b="1" dirty="0">
                <a:solidFill>
                  <a:srgbClr val="000000"/>
                </a:solidFill>
                <a:latin typeface="Times New Roman" panose="02020603050405020304" pitchFamily="18" charset="0"/>
              </a:rPr>
              <a:t>，以提高调页速度。为此，在进程运行前， 须将与该进程有关的文件，从文件区拷贝到对换区。</a:t>
            </a:r>
            <a:endParaRPr lang="zh-CN" altLang="en-US" sz="2400" b="1" dirty="0">
              <a:solidFill>
                <a:srgbClr val="000000"/>
              </a:solidFill>
              <a:latin typeface="Times New Roman" panose="02020603050405020304" pitchFamily="18" charset="0"/>
            </a:endParaRPr>
          </a:p>
          <a:p>
            <a:pPr marL="0" lvl="0" indent="0" algn="just" eaLnBrk="1" hangingPunct="1">
              <a:lnSpc>
                <a:spcPct val="150000"/>
              </a:lnSpc>
              <a:spcBef>
                <a:spcPct val="0"/>
              </a:spcBef>
              <a:buClrTx/>
              <a:buSzTx/>
              <a:buFontTx/>
              <a:buNone/>
            </a:pPr>
            <a:r>
              <a:rPr lang="zh-CN" altLang="en-US" sz="2400" b="1" dirty="0">
                <a:solidFill>
                  <a:srgbClr val="000000"/>
                </a:solidFill>
              </a:rPr>
              <a:t>     </a:t>
            </a:r>
            <a:r>
              <a:rPr lang="en-US" altLang="zh-CN" sz="2400" b="1" dirty="0">
                <a:solidFill>
                  <a:srgbClr val="000000"/>
                </a:solidFill>
              </a:rPr>
              <a:t>(2) </a:t>
            </a:r>
            <a:r>
              <a:rPr lang="zh-CN" altLang="en-US" sz="2400" b="1" dirty="0">
                <a:solidFill>
                  <a:srgbClr val="000000"/>
                </a:solidFill>
              </a:rPr>
              <a:t>系统缺少足够的对换区空间，这时</a:t>
            </a:r>
            <a:r>
              <a:rPr lang="zh-CN" altLang="en-US" sz="2400" b="1" dirty="0">
                <a:solidFill>
                  <a:srgbClr val="CC3300"/>
                </a:solidFill>
              </a:rPr>
              <a:t>凡是不会被修改的文件，都直接从文件区调入；</a:t>
            </a:r>
            <a:r>
              <a:rPr lang="zh-CN" altLang="en-US" sz="2400" b="1" dirty="0">
                <a:solidFill>
                  <a:srgbClr val="000000"/>
                </a:solidFill>
              </a:rPr>
              <a:t>而当换出这些页面时，由于它们未被修改而不必再将它们换出，以后再调入时，仍从文件区直接调入。</a:t>
            </a:r>
            <a:r>
              <a:rPr lang="zh-CN" altLang="en-US" sz="2400" b="1" dirty="0">
                <a:solidFill>
                  <a:srgbClr val="CC3300"/>
                </a:solidFill>
              </a:rPr>
              <a:t>但对于那些可能被修改的部分，在将它们换出时，须调到对换区，以后需要时，再从对换区调入。</a:t>
            </a:r>
            <a:endParaRPr lang="zh-CN" altLang="en-US" sz="2400" b="1" dirty="0">
              <a:solidFill>
                <a:srgbClr val="CC3300"/>
              </a:solidFill>
            </a:endParaRPr>
          </a:p>
          <a:p>
            <a:pPr marL="0" lvl="0" indent="0" algn="just" eaLnBrk="1" hangingPunct="1">
              <a:lnSpc>
                <a:spcPct val="150000"/>
              </a:lnSpc>
              <a:spcBef>
                <a:spcPct val="0"/>
              </a:spcBef>
              <a:buClrTx/>
              <a:buSzTx/>
              <a:buFontTx/>
              <a:buNone/>
            </a:pPr>
            <a:r>
              <a:rPr lang="zh-CN" altLang="en-US" sz="2400" b="1" dirty="0">
                <a:solidFill>
                  <a:srgbClr val="000000"/>
                </a:solidFill>
              </a:rPr>
              <a:t>    </a:t>
            </a:r>
            <a:r>
              <a:rPr lang="en-US" altLang="zh-CN" sz="2400" b="1" dirty="0">
                <a:solidFill>
                  <a:srgbClr val="000000"/>
                </a:solidFill>
              </a:rPr>
              <a:t>(3)UNIX</a:t>
            </a:r>
            <a:r>
              <a:rPr lang="zh-CN" altLang="en-US" sz="2400" b="1" dirty="0">
                <a:solidFill>
                  <a:srgbClr val="000000"/>
                </a:solidFill>
              </a:rPr>
              <a:t>方式。未运行过的页面，从文件区调入；曾经运行过但又被换出的页面，从兑换区调入。</a:t>
            </a:r>
            <a:endParaRPr lang="zh-CN" altLang="en-US" sz="2400" b="1" dirty="0">
              <a:solidFill>
                <a:srgbClr val="000000"/>
              </a:solidFill>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86403">
                                            <p:txEl>
                                              <p:pRg st="2" end="2"/>
                                            </p:txEl>
                                          </p:spTgt>
                                        </p:tgtEl>
                                        <p:attrNameLst>
                                          <p:attrName>style.visibility</p:attrName>
                                        </p:attrNameLst>
                                      </p:cBhvr>
                                      <p:to>
                                        <p:strVal val="visible"/>
                                      </p:to>
                                    </p:set>
                                    <p:animEffect transition="in" filter="blinds(horizontal)">
                                      <p:cBhvr>
                                        <p:cTn id="7" dur="500"/>
                                        <p:tgtEl>
                                          <p:spTgt spid="48640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86403">
                                            <p:txEl>
                                              <p:pRg st="3" end="3"/>
                                            </p:txEl>
                                          </p:spTgt>
                                        </p:tgtEl>
                                        <p:attrNameLst>
                                          <p:attrName>style.visibility</p:attrName>
                                        </p:attrNameLst>
                                      </p:cBhvr>
                                      <p:to>
                                        <p:strVal val="visible"/>
                                      </p:to>
                                    </p:set>
                                    <p:animEffect transition="in" filter="blinds(horizontal)">
                                      <p:cBhvr>
                                        <p:cTn id="12" dur="500"/>
                                        <p:tgtEl>
                                          <p:spTgt spid="4864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AutoShape 3">
            <a:hlinkClick r:id="" action="ppaction://hlinkshowjump?jump=firstslide"/>
          </p:cNvPr>
          <p:cNvSpPr/>
          <p:nvPr/>
        </p:nvSpPr>
        <p:spPr>
          <a:xfrm>
            <a:off x="8458200" y="6470650"/>
            <a:ext cx="685800" cy="381000"/>
          </a:xfrm>
          <a:prstGeom prst="actionButtonBackPrevious">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31747" name="Text Box 20"/>
          <p:cNvSpPr txBox="1"/>
          <p:nvPr/>
        </p:nvSpPr>
        <p:spPr>
          <a:xfrm>
            <a:off x="468313" y="512763"/>
            <a:ext cx="8193087" cy="54975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just" eaLnBrk="1" hangingPunct="1">
              <a:lnSpc>
                <a:spcPct val="130000"/>
              </a:lnSpc>
              <a:spcBef>
                <a:spcPct val="50000"/>
              </a:spcBef>
              <a:buClrTx/>
              <a:buSzTx/>
              <a:buFontTx/>
              <a:buNone/>
            </a:pPr>
            <a:r>
              <a:rPr lang="en-US" altLang="zh-CN" sz="2400" dirty="0">
                <a:latin typeface="Times New Roman" panose="02020603050405020304" pitchFamily="18" charset="0"/>
              </a:rPr>
              <a:t>        </a:t>
            </a:r>
            <a:r>
              <a:rPr lang="en-US" altLang="zh-CN" sz="2400" b="1" dirty="0">
                <a:latin typeface="Times New Roman" panose="02020603050405020304" pitchFamily="18" charset="0"/>
              </a:rPr>
              <a:t>3. </a:t>
            </a:r>
            <a:r>
              <a:rPr lang="zh-CN" altLang="en-US" sz="2400" b="1" dirty="0">
                <a:latin typeface="Times New Roman" panose="02020603050405020304" pitchFamily="18" charset="0"/>
              </a:rPr>
              <a:t>页面调入过程</a:t>
            </a:r>
            <a:endParaRPr lang="zh-CN" altLang="en-US" sz="2400" b="1" dirty="0">
              <a:latin typeface="Times New Roman" panose="02020603050405020304" pitchFamily="18" charset="0"/>
            </a:endParaRPr>
          </a:p>
          <a:p>
            <a:pPr marL="0" lvl="0" indent="0" algn="just" eaLnBrk="1" hangingPunct="1">
              <a:lnSpc>
                <a:spcPct val="130000"/>
              </a:lnSpc>
              <a:spcBef>
                <a:spcPct val="50000"/>
              </a:spcBef>
              <a:buClrTx/>
              <a:buSzTx/>
              <a:buFontTx/>
              <a:buNone/>
            </a:pPr>
            <a:r>
              <a:rPr lang="zh-CN" altLang="en-US" sz="24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页面未在内存时（存在位为“</a:t>
            </a:r>
            <a:r>
              <a:rPr lang="en-US" altLang="zh-CN" sz="2000" b="1" dirty="0">
                <a:solidFill>
                  <a:srgbClr val="000000"/>
                </a:solidFill>
                <a:latin typeface="Times New Roman" panose="02020603050405020304" pitchFamily="18" charset="0"/>
              </a:rPr>
              <a:t>0”</a:t>
            </a:r>
            <a:r>
              <a:rPr lang="zh-CN" altLang="en-US" sz="2000" b="1" dirty="0">
                <a:solidFill>
                  <a:srgbClr val="000000"/>
                </a:solidFill>
                <a:latin typeface="Times New Roman" panose="02020603050405020304" pitchFamily="18" charset="0"/>
              </a:rPr>
              <a:t>），便向</a:t>
            </a:r>
            <a:r>
              <a:rPr lang="en-US" altLang="zh-CN" sz="2000" b="1" dirty="0">
                <a:solidFill>
                  <a:srgbClr val="000000"/>
                </a:solidFill>
                <a:latin typeface="Times New Roman" panose="02020603050405020304" pitchFamily="18" charset="0"/>
              </a:rPr>
              <a:t>CPU</a:t>
            </a:r>
            <a:r>
              <a:rPr lang="zh-CN" altLang="en-US" sz="2000" b="1" dirty="0">
                <a:solidFill>
                  <a:srgbClr val="000000"/>
                </a:solidFill>
                <a:latin typeface="Times New Roman" panose="02020603050405020304" pitchFamily="18" charset="0"/>
              </a:rPr>
              <a:t>发出一缺页中断，中断处理程序首先保留</a:t>
            </a:r>
            <a:r>
              <a:rPr lang="en-US" altLang="zh-CN" sz="2000" b="1" dirty="0">
                <a:solidFill>
                  <a:srgbClr val="000000"/>
                </a:solidFill>
                <a:latin typeface="Times New Roman" panose="02020603050405020304" pitchFamily="18" charset="0"/>
              </a:rPr>
              <a:t>CPU</a:t>
            </a:r>
            <a:r>
              <a:rPr lang="zh-CN" altLang="en-US" sz="2000" b="1" dirty="0">
                <a:solidFill>
                  <a:srgbClr val="000000"/>
                </a:solidFill>
                <a:latin typeface="Times New Roman" panose="02020603050405020304" pitchFamily="18" charset="0"/>
              </a:rPr>
              <a:t>环境，分析中断原因后， 转入</a:t>
            </a:r>
            <a:r>
              <a:rPr lang="zh-CN" altLang="en-US" sz="2000" b="1" dirty="0">
                <a:solidFill>
                  <a:srgbClr val="CC3300"/>
                </a:solidFill>
                <a:latin typeface="Times New Roman" panose="02020603050405020304" pitchFamily="18" charset="0"/>
              </a:rPr>
              <a:t>缺页中断处理程序</a:t>
            </a:r>
            <a:r>
              <a:rPr lang="zh-CN" altLang="en-US" sz="2000" b="1" dirty="0">
                <a:solidFill>
                  <a:srgbClr val="000000"/>
                </a:solidFill>
                <a:latin typeface="Times New Roman" panose="02020603050405020304" pitchFamily="18" charset="0"/>
              </a:rPr>
              <a:t>。</a:t>
            </a:r>
            <a:endParaRPr lang="en-US" altLang="zh-CN" sz="2000" b="1" dirty="0">
              <a:solidFill>
                <a:srgbClr val="000000"/>
              </a:solidFill>
              <a:latin typeface="Times New Roman" panose="02020603050405020304" pitchFamily="18" charset="0"/>
            </a:endParaRPr>
          </a:p>
          <a:p>
            <a:pPr marL="0" lvl="0" indent="0" algn="just" eaLnBrk="1" hangingPunct="1">
              <a:lnSpc>
                <a:spcPct val="130000"/>
              </a:lnSpc>
              <a:spcBef>
                <a:spcPct val="50000"/>
              </a:spcBef>
              <a:buClrTx/>
              <a:buSzTx/>
              <a:buFontTx/>
              <a:buNone/>
            </a:pP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该程序通过查找页表，得到该页在外存的物理块后， 如果此时内存能容纳新页，则启动磁盘</a:t>
            </a:r>
            <a:r>
              <a:rPr lang="en-US" altLang="zh-CN" sz="2000" b="1" dirty="0">
                <a:solidFill>
                  <a:srgbClr val="000000"/>
                </a:solidFill>
                <a:latin typeface="Times New Roman" panose="02020603050405020304" pitchFamily="18" charset="0"/>
              </a:rPr>
              <a:t>I/O</a:t>
            </a:r>
            <a:r>
              <a:rPr lang="zh-CN" altLang="en-US" sz="2000" b="1" dirty="0">
                <a:solidFill>
                  <a:srgbClr val="000000"/>
                </a:solidFill>
                <a:latin typeface="Times New Roman" panose="02020603050405020304" pitchFamily="18" charset="0"/>
              </a:rPr>
              <a:t>将所缺之页调入内存，然后修改页表。如果内存已满，则须先按照某种置换算法从内存中选出一页准备换出；如果换出的页未被修改过（修改位为“</a:t>
            </a:r>
            <a:r>
              <a:rPr lang="en-US" altLang="zh-CN" sz="2000" b="1" dirty="0">
                <a:solidFill>
                  <a:srgbClr val="000000"/>
                </a:solidFill>
                <a:latin typeface="Times New Roman" panose="02020603050405020304" pitchFamily="18" charset="0"/>
              </a:rPr>
              <a:t>0”</a:t>
            </a:r>
            <a:r>
              <a:rPr lang="zh-CN" altLang="en-US" sz="2000" b="1" dirty="0">
                <a:solidFill>
                  <a:srgbClr val="000000"/>
                </a:solidFill>
                <a:latin typeface="Times New Roman" panose="02020603050405020304" pitchFamily="18" charset="0"/>
              </a:rPr>
              <a:t>），可不必写回磁盘；但如果此页已被修改，则必须将它写回磁盘。然后再把所缺的页调入内存，并修改页表中的相应表项，置其存在位为“</a:t>
            </a:r>
            <a:r>
              <a:rPr lang="en-US" altLang="zh-CN" sz="2000" b="1" dirty="0">
                <a:solidFill>
                  <a:srgbClr val="000000"/>
                </a:solidFill>
                <a:latin typeface="Times New Roman" panose="02020603050405020304" pitchFamily="18" charset="0"/>
              </a:rPr>
              <a:t>1”</a:t>
            </a:r>
            <a:r>
              <a:rPr lang="zh-CN" altLang="en-US" sz="2000" b="1" dirty="0">
                <a:solidFill>
                  <a:srgbClr val="000000"/>
                </a:solidFill>
                <a:latin typeface="Times New Roman" panose="02020603050405020304" pitchFamily="18" charset="0"/>
              </a:rPr>
              <a:t>，并将此页表项写入快表中。</a:t>
            </a:r>
            <a:endParaRPr lang="en-US" altLang="zh-CN" sz="2000" b="1" dirty="0">
              <a:solidFill>
                <a:srgbClr val="000000"/>
              </a:solidFill>
              <a:latin typeface="Times New Roman" panose="02020603050405020304" pitchFamily="18" charset="0"/>
            </a:endParaRPr>
          </a:p>
          <a:p>
            <a:pPr marL="0" lvl="0" indent="0" algn="just" eaLnBrk="1" hangingPunct="1">
              <a:lnSpc>
                <a:spcPct val="130000"/>
              </a:lnSpc>
              <a:spcBef>
                <a:spcPct val="50000"/>
              </a:spcBef>
              <a:buClrTx/>
              <a:buSzTx/>
              <a:buFontTx/>
              <a:buNone/>
            </a:pPr>
            <a:r>
              <a:rPr lang="zh-CN" altLang="en-US" sz="2000" b="1" dirty="0">
                <a:solidFill>
                  <a:srgbClr val="000000"/>
                </a:solidFill>
                <a:latin typeface="Times New Roman" panose="02020603050405020304" pitchFamily="18" charset="0"/>
              </a:rPr>
              <a:t>       在缺页调入内存后，利用修改后的页表，去形成所要访问数据的物理地址，再去访问内存数据。 </a:t>
            </a:r>
            <a:endParaRPr lang="zh-CN" altLang="en-US" sz="2000" b="1" dirty="0">
              <a:solidFill>
                <a:srgbClr val="000000"/>
              </a:solidFill>
              <a:latin typeface="Times New Roman" panose="02020603050405020304" pitchFamily="18" charset="0"/>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1747">
                                            <p:txEl>
                                              <p:pRg st="2" end="2"/>
                                            </p:txEl>
                                          </p:spTgt>
                                        </p:tgtEl>
                                        <p:attrNameLst>
                                          <p:attrName>style.visibility</p:attrName>
                                        </p:attrNameLst>
                                      </p:cBhvr>
                                      <p:to>
                                        <p:strVal val="visible"/>
                                      </p:to>
                                    </p:set>
                                    <p:animEffect transition="in" filter="blinds(horizontal)">
                                      <p:cBhvr>
                                        <p:cTn id="7" dur="500"/>
                                        <p:tgtEl>
                                          <p:spTgt spid="3174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1747">
                                            <p:txEl>
                                              <p:pRg st="3" end="3"/>
                                            </p:txEl>
                                          </p:spTgt>
                                        </p:tgtEl>
                                        <p:attrNameLst>
                                          <p:attrName>style.visibility</p:attrName>
                                        </p:attrNameLst>
                                      </p:cBhvr>
                                      <p:to>
                                        <p:strVal val="visible"/>
                                      </p:to>
                                    </p:set>
                                    <p:animEffect transition="in" filter="blinds(horizontal)">
                                      <p:cBhvr>
                                        <p:cTn id="12" dur="500"/>
                                        <p:tgtEl>
                                          <p:spTgt spid="317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68313" y="692150"/>
            <a:ext cx="8207375" cy="5545138"/>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en-US" altLang="zh-CN" sz="2400" b="1" i="0" u="none" strike="noStrike" kern="0" cap="none" spc="0" normalizeH="0" baseline="0" noProof="0" dirty="0">
                <a:ln>
                  <a:noFill/>
                </a:ln>
                <a:solidFill>
                  <a:schemeClr val="tx1"/>
                </a:solidFill>
                <a:effectLst/>
                <a:uLnTx/>
                <a:uFillTx/>
                <a:latin typeface="+mn-ea"/>
                <a:ea typeface="+mn-ea"/>
                <a:cs typeface="+mj-cs"/>
              </a:rPr>
              <a:t>4. </a:t>
            </a:r>
            <a:r>
              <a:rPr kumimoji="0" lang="zh-CN" altLang="en-US" sz="2400" b="1" i="0" u="none" strike="noStrike" kern="0" cap="none" spc="0" normalizeH="0" baseline="0" noProof="0" dirty="0">
                <a:ln>
                  <a:noFill/>
                </a:ln>
                <a:solidFill>
                  <a:schemeClr val="tx1"/>
                </a:solidFill>
                <a:effectLst/>
                <a:uLnTx/>
                <a:uFillTx/>
                <a:latin typeface="+mn-ea"/>
                <a:ea typeface="+mn-ea"/>
                <a:cs typeface="+mj-cs"/>
              </a:rPr>
              <a:t>缺页率</a:t>
            </a:r>
            <a:br>
              <a:rPr kumimoji="0" lang="zh-CN" altLang="en-US" sz="2400" b="1" i="0" u="none" strike="noStrike" kern="0" cap="none" spc="0" normalizeH="0" baseline="0" noProof="0" dirty="0">
                <a:ln>
                  <a:noFill/>
                </a:ln>
                <a:solidFill>
                  <a:srgbClr val="000000"/>
                </a:solidFill>
                <a:effectLst/>
                <a:uLnTx/>
                <a:uFillTx/>
                <a:latin typeface="+mn-ea"/>
                <a:ea typeface="+mn-ea"/>
                <a:cs typeface="+mj-cs"/>
              </a:rPr>
            </a:br>
            <a:r>
              <a:rPr kumimoji="0" lang="zh-CN" altLang="en-US" sz="2400" b="1" i="0" u="none" strike="noStrike" kern="0" cap="none" spc="0" normalizeH="0" baseline="0" noProof="0" dirty="0">
                <a:ln>
                  <a:noFill/>
                </a:ln>
                <a:solidFill>
                  <a:srgbClr val="000000"/>
                </a:solidFill>
                <a:effectLst/>
                <a:uLnTx/>
                <a:uFillTx/>
                <a:latin typeface="+mn-ea"/>
                <a:ea typeface="+mn-ea"/>
                <a:cs typeface="+mj-cs"/>
              </a:rPr>
              <a:t>　　假设一个进程的逻辑空间为</a:t>
            </a:r>
            <a:r>
              <a:rPr kumimoji="0" lang="en-US" altLang="zh-CN" sz="2400" b="1" i="0" u="none" strike="noStrike" kern="0" cap="none" spc="0" normalizeH="0" baseline="0" noProof="0" dirty="0">
                <a:ln>
                  <a:noFill/>
                </a:ln>
                <a:solidFill>
                  <a:srgbClr val="000000"/>
                </a:solidFill>
                <a:effectLst/>
                <a:uLnTx/>
                <a:uFillTx/>
                <a:latin typeface="+mn-ea"/>
                <a:ea typeface="+mn-ea"/>
                <a:cs typeface="+mj-cs"/>
              </a:rPr>
              <a:t>n</a:t>
            </a:r>
            <a:r>
              <a:rPr kumimoji="0" lang="zh-CN" altLang="en-US" sz="2400" b="1" i="0" u="none" strike="noStrike" kern="0" cap="none" spc="0" normalizeH="0" baseline="0" noProof="0" dirty="0">
                <a:ln>
                  <a:noFill/>
                </a:ln>
                <a:solidFill>
                  <a:srgbClr val="000000"/>
                </a:solidFill>
                <a:effectLst/>
                <a:uLnTx/>
                <a:uFillTx/>
                <a:latin typeface="+mn-ea"/>
                <a:ea typeface="+mn-ea"/>
                <a:cs typeface="+mj-cs"/>
              </a:rPr>
              <a:t>页，系统为其分配的内存物理块数为</a:t>
            </a:r>
            <a:r>
              <a:rPr kumimoji="0" lang="en-US" altLang="zh-CN" sz="2400" b="1" i="0" u="none" strike="noStrike" kern="0" cap="none" spc="0" normalizeH="0" baseline="0" noProof="0" dirty="0">
                <a:ln>
                  <a:noFill/>
                </a:ln>
                <a:solidFill>
                  <a:srgbClr val="000000"/>
                </a:solidFill>
                <a:effectLst/>
                <a:uLnTx/>
                <a:uFillTx/>
                <a:latin typeface="+mn-ea"/>
                <a:ea typeface="+mn-ea"/>
                <a:cs typeface="+mj-cs"/>
              </a:rPr>
              <a:t>m(</a:t>
            </a:r>
            <a:r>
              <a:rPr kumimoji="0" lang="en-US" altLang="zh-CN" sz="2400" b="1" i="0" u="none" strike="noStrike" kern="0" cap="none" spc="0" normalizeH="0" baseline="0" noProof="0" dirty="0" err="1">
                <a:ln>
                  <a:noFill/>
                </a:ln>
                <a:solidFill>
                  <a:srgbClr val="000000"/>
                </a:solidFill>
                <a:effectLst/>
                <a:uLnTx/>
                <a:uFillTx/>
                <a:latin typeface="+mn-ea"/>
                <a:ea typeface="+mn-ea"/>
                <a:cs typeface="+mj-cs"/>
              </a:rPr>
              <a:t>m≤n</a:t>
            </a:r>
            <a:r>
              <a:rPr kumimoji="0" lang="en-US" altLang="zh-CN" sz="2400" b="1" i="0" u="none" strike="noStrike" kern="0" cap="none" spc="0" normalizeH="0" baseline="0" noProof="0" dirty="0">
                <a:ln>
                  <a:noFill/>
                </a:ln>
                <a:solidFill>
                  <a:srgbClr val="000000"/>
                </a:solidFill>
                <a:effectLst/>
                <a:uLnTx/>
                <a:uFillTx/>
                <a:latin typeface="+mn-ea"/>
                <a:ea typeface="+mn-ea"/>
                <a:cs typeface="+mj-cs"/>
              </a:rPr>
              <a:t>)</a:t>
            </a:r>
            <a:r>
              <a:rPr kumimoji="0" lang="zh-CN" altLang="en-US" sz="2400" b="1" i="0" u="none" strike="noStrike" kern="0" cap="none" spc="0" normalizeH="0" baseline="0" noProof="0" dirty="0">
                <a:ln>
                  <a:noFill/>
                </a:ln>
                <a:solidFill>
                  <a:srgbClr val="000000"/>
                </a:solidFill>
                <a:effectLst/>
                <a:uLnTx/>
                <a:uFillTx/>
                <a:latin typeface="+mn-ea"/>
                <a:ea typeface="+mn-ea"/>
                <a:cs typeface="+mj-cs"/>
              </a:rPr>
              <a:t>。如果在进程的运行过程中，访问页面成功</a:t>
            </a:r>
            <a:r>
              <a:rPr kumimoji="0" lang="en-US" altLang="zh-CN" sz="2400" b="1" i="0" u="none" strike="noStrike" kern="0" cap="none" spc="0" normalizeH="0" baseline="0" noProof="0" dirty="0">
                <a:ln>
                  <a:noFill/>
                </a:ln>
                <a:solidFill>
                  <a:srgbClr val="000000"/>
                </a:solidFill>
                <a:effectLst/>
                <a:uLnTx/>
                <a:uFillTx/>
                <a:latin typeface="+mn-ea"/>
                <a:ea typeface="+mn-ea"/>
                <a:cs typeface="+mj-cs"/>
              </a:rPr>
              <a:t>(</a:t>
            </a:r>
            <a:r>
              <a:rPr kumimoji="0" lang="zh-CN" altLang="en-US" sz="2400" b="1" i="0" u="none" strike="noStrike" kern="0" cap="none" spc="0" normalizeH="0" baseline="0" noProof="0" dirty="0">
                <a:ln>
                  <a:noFill/>
                </a:ln>
                <a:solidFill>
                  <a:srgbClr val="000000"/>
                </a:solidFill>
                <a:effectLst/>
                <a:uLnTx/>
                <a:uFillTx/>
                <a:latin typeface="+mn-ea"/>
                <a:ea typeface="+mn-ea"/>
                <a:cs typeface="+mj-cs"/>
              </a:rPr>
              <a:t>即所访问页面在内存中</a:t>
            </a:r>
            <a:r>
              <a:rPr kumimoji="0" lang="en-US" altLang="zh-CN" sz="2400" b="1" i="0" u="none" strike="noStrike" kern="0" cap="none" spc="0" normalizeH="0" baseline="0" noProof="0" dirty="0">
                <a:ln>
                  <a:noFill/>
                </a:ln>
                <a:solidFill>
                  <a:srgbClr val="000000"/>
                </a:solidFill>
                <a:effectLst/>
                <a:uLnTx/>
                <a:uFillTx/>
                <a:latin typeface="+mn-ea"/>
                <a:ea typeface="+mn-ea"/>
                <a:cs typeface="+mj-cs"/>
              </a:rPr>
              <a:t>)</a:t>
            </a:r>
            <a:r>
              <a:rPr kumimoji="0" lang="zh-CN" altLang="en-US" sz="2400" b="1" i="0" u="none" strike="noStrike" kern="0" cap="none" spc="0" normalizeH="0" baseline="0" noProof="0" dirty="0">
                <a:ln>
                  <a:noFill/>
                </a:ln>
                <a:solidFill>
                  <a:srgbClr val="000000"/>
                </a:solidFill>
                <a:effectLst/>
                <a:uLnTx/>
                <a:uFillTx/>
                <a:latin typeface="+mn-ea"/>
                <a:ea typeface="+mn-ea"/>
                <a:cs typeface="+mj-cs"/>
              </a:rPr>
              <a:t>的次数为</a:t>
            </a:r>
            <a:r>
              <a:rPr kumimoji="0" lang="en-US" altLang="zh-CN" sz="2400" b="1" i="0" u="none" strike="noStrike" kern="0" cap="none" spc="0" normalizeH="0" baseline="0" noProof="0" dirty="0">
                <a:ln>
                  <a:noFill/>
                </a:ln>
                <a:solidFill>
                  <a:srgbClr val="000000"/>
                </a:solidFill>
                <a:effectLst/>
                <a:uLnTx/>
                <a:uFillTx/>
                <a:latin typeface="+mn-ea"/>
                <a:ea typeface="+mn-ea"/>
                <a:cs typeface="+mj-cs"/>
              </a:rPr>
              <a:t>S</a:t>
            </a:r>
            <a:r>
              <a:rPr kumimoji="0" lang="zh-CN" altLang="en-US" sz="2400" b="1" i="0" u="none" strike="noStrike" kern="0" cap="none" spc="0" normalizeH="0" baseline="0" noProof="0" dirty="0">
                <a:ln>
                  <a:noFill/>
                </a:ln>
                <a:solidFill>
                  <a:srgbClr val="000000"/>
                </a:solidFill>
                <a:effectLst/>
                <a:uLnTx/>
                <a:uFillTx/>
                <a:latin typeface="+mn-ea"/>
                <a:ea typeface="+mn-ea"/>
                <a:cs typeface="+mj-cs"/>
              </a:rPr>
              <a:t>，访问页面失败</a:t>
            </a:r>
            <a:r>
              <a:rPr kumimoji="0" lang="en-US" altLang="zh-CN" sz="2400" b="1" i="0" u="none" strike="noStrike" kern="0" cap="none" spc="0" normalizeH="0" baseline="0" noProof="0" dirty="0">
                <a:ln>
                  <a:noFill/>
                </a:ln>
                <a:solidFill>
                  <a:srgbClr val="000000"/>
                </a:solidFill>
                <a:effectLst/>
                <a:uLnTx/>
                <a:uFillTx/>
                <a:latin typeface="+mn-ea"/>
                <a:ea typeface="+mn-ea"/>
                <a:cs typeface="+mj-cs"/>
              </a:rPr>
              <a:t>(</a:t>
            </a:r>
            <a:r>
              <a:rPr kumimoji="0" lang="zh-CN" altLang="en-US" sz="2400" b="1" i="0" u="none" strike="noStrike" kern="0" cap="none" spc="0" normalizeH="0" baseline="0" noProof="0" dirty="0">
                <a:ln>
                  <a:noFill/>
                </a:ln>
                <a:solidFill>
                  <a:srgbClr val="000000"/>
                </a:solidFill>
                <a:effectLst/>
                <a:uLnTx/>
                <a:uFillTx/>
                <a:latin typeface="+mn-ea"/>
                <a:ea typeface="+mn-ea"/>
                <a:cs typeface="+mj-cs"/>
              </a:rPr>
              <a:t>即所访问页面不在内存中，需要从外存调入</a:t>
            </a:r>
            <a:r>
              <a:rPr kumimoji="0" lang="en-US" altLang="zh-CN" sz="2400" b="1" i="0" u="none" strike="noStrike" kern="0" cap="none" spc="0" normalizeH="0" baseline="0" noProof="0" dirty="0">
                <a:ln>
                  <a:noFill/>
                </a:ln>
                <a:solidFill>
                  <a:srgbClr val="000000"/>
                </a:solidFill>
                <a:effectLst/>
                <a:uLnTx/>
                <a:uFillTx/>
                <a:latin typeface="+mn-ea"/>
                <a:ea typeface="+mn-ea"/>
                <a:cs typeface="+mj-cs"/>
              </a:rPr>
              <a:t>)</a:t>
            </a:r>
            <a:r>
              <a:rPr kumimoji="0" lang="zh-CN" altLang="en-US" sz="2400" b="1" i="0" u="none" strike="noStrike" kern="0" cap="none" spc="0" normalizeH="0" baseline="0" noProof="0" dirty="0">
                <a:ln>
                  <a:noFill/>
                </a:ln>
                <a:solidFill>
                  <a:srgbClr val="000000"/>
                </a:solidFill>
                <a:effectLst/>
                <a:uLnTx/>
                <a:uFillTx/>
                <a:latin typeface="+mn-ea"/>
                <a:ea typeface="+mn-ea"/>
                <a:cs typeface="+mj-cs"/>
              </a:rPr>
              <a:t>的次数为</a:t>
            </a:r>
            <a:r>
              <a:rPr kumimoji="0" lang="en-US" altLang="zh-CN" sz="2400" b="1" i="0" u="none" strike="noStrike" kern="0" cap="none" spc="0" normalizeH="0" baseline="0" noProof="0" dirty="0">
                <a:ln>
                  <a:noFill/>
                </a:ln>
                <a:solidFill>
                  <a:srgbClr val="000000"/>
                </a:solidFill>
                <a:effectLst/>
                <a:uLnTx/>
                <a:uFillTx/>
                <a:latin typeface="+mn-ea"/>
                <a:ea typeface="+mn-ea"/>
                <a:cs typeface="+mj-cs"/>
              </a:rPr>
              <a:t>F</a:t>
            </a:r>
            <a:r>
              <a:rPr kumimoji="0" lang="zh-CN" altLang="en-US" sz="2400" b="1" i="0" u="none" strike="noStrike" kern="0" cap="none" spc="0" normalizeH="0" baseline="0" noProof="0" dirty="0">
                <a:ln>
                  <a:noFill/>
                </a:ln>
                <a:solidFill>
                  <a:srgbClr val="000000"/>
                </a:solidFill>
                <a:effectLst/>
                <a:uLnTx/>
                <a:uFillTx/>
                <a:latin typeface="+mn-ea"/>
                <a:ea typeface="+mn-ea"/>
                <a:cs typeface="+mj-cs"/>
              </a:rPr>
              <a:t>，则该进程总的页面访问次数为</a:t>
            </a:r>
            <a:r>
              <a:rPr kumimoji="0" lang="en-US" altLang="zh-CN" sz="2400" b="1" i="0" u="none" strike="noStrike" kern="0" cap="none" spc="0" normalizeH="0" baseline="0" noProof="0" dirty="0">
                <a:ln>
                  <a:noFill/>
                </a:ln>
                <a:solidFill>
                  <a:srgbClr val="000000"/>
                </a:solidFill>
                <a:effectLst/>
                <a:uLnTx/>
                <a:uFillTx/>
                <a:latin typeface="+mn-ea"/>
                <a:ea typeface="+mn-ea"/>
                <a:cs typeface="+mj-cs"/>
              </a:rPr>
              <a:t>A=S+F</a:t>
            </a:r>
            <a:r>
              <a:rPr kumimoji="0" lang="zh-CN" altLang="en-US" sz="2400" b="1" i="0" u="none" strike="noStrike" kern="0" cap="none" spc="0" normalizeH="0" baseline="0" noProof="0" dirty="0">
                <a:ln>
                  <a:noFill/>
                </a:ln>
                <a:solidFill>
                  <a:srgbClr val="000000"/>
                </a:solidFill>
                <a:effectLst/>
                <a:uLnTx/>
                <a:uFillTx/>
                <a:latin typeface="+mn-ea"/>
                <a:ea typeface="+mn-ea"/>
                <a:cs typeface="+mj-cs"/>
              </a:rPr>
              <a:t>，那么该进程在其运行过程中的缺页率为：</a:t>
            </a:r>
            <a:endParaRPr kumimoji="0" lang="zh-CN" altLang="en-US" sz="2400" b="1" i="0" u="none" strike="noStrike" kern="0" cap="none" spc="0" normalizeH="0" baseline="0" noProof="0" dirty="0">
              <a:ln>
                <a:noFill/>
              </a:ln>
              <a:solidFill>
                <a:srgbClr val="000000"/>
              </a:solidFill>
              <a:effectLst/>
              <a:uLnTx/>
              <a:uFillTx/>
              <a:latin typeface="+mn-ea"/>
              <a:ea typeface="+mn-ea"/>
              <a:cs typeface="+mj-cs"/>
            </a:endParaRPr>
          </a:p>
        </p:txBody>
      </p:sp>
      <p:graphicFrame>
        <p:nvGraphicFramePr>
          <p:cNvPr id="31747" name="Object 4"/>
          <p:cNvGraphicFramePr>
            <a:graphicFrameLocks noChangeAspect="1"/>
          </p:cNvGraphicFramePr>
          <p:nvPr/>
        </p:nvGraphicFramePr>
        <p:xfrm>
          <a:off x="3816350" y="4689475"/>
          <a:ext cx="960438" cy="911225"/>
        </p:xfrm>
        <a:graphic>
          <a:graphicData uri="http://schemas.openxmlformats.org/presentationml/2006/ole">
            <mc:AlternateContent xmlns:mc="http://schemas.openxmlformats.org/markup-compatibility/2006">
              <mc:Choice xmlns:v="urn:schemas-microsoft-com:vml" Requires="v">
                <p:oleObj spid="_x0000_s3" name="" r:id="rId1" imgW="368300" imgH="355600" progId="Equation.3">
                  <p:embed/>
                </p:oleObj>
              </mc:Choice>
              <mc:Fallback>
                <p:oleObj name="" r:id="rId1" imgW="368300" imgH="355600" progId="Equation.3">
                  <p:embed/>
                  <p:pic>
                    <p:nvPicPr>
                      <p:cNvPr id="0" name="图片 3080"/>
                      <p:cNvPicPr/>
                      <p:nvPr/>
                    </p:nvPicPr>
                    <p:blipFill>
                      <a:blip r:embed="rId2"/>
                      <a:stretch>
                        <a:fillRect/>
                      </a:stretch>
                    </p:blipFill>
                    <p:spPr>
                      <a:xfrm>
                        <a:off x="3816350" y="4689475"/>
                        <a:ext cx="960438" cy="911225"/>
                      </a:xfrm>
                      <a:prstGeom prst="rect">
                        <a:avLst/>
                      </a:prstGeom>
                      <a:noFill/>
                      <a:ln w="38100">
                        <a:noFill/>
                        <a:miter/>
                      </a:ln>
                    </p:spPr>
                  </p:pic>
                </p:oleObj>
              </mc:Fallback>
            </mc:AlternateContent>
          </a:graphicData>
        </a:graphic>
      </p:graphicFrame>
    </p:spTree>
  </p:cSld>
  <p:clrMapOvr>
    <a:masterClrMapping/>
  </p:clrMapOvr>
  <p:transition>
    <p:blinds/>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Text Box 2"/>
          <p:cNvSpPr txBox="1"/>
          <p:nvPr/>
        </p:nvSpPr>
        <p:spPr>
          <a:xfrm>
            <a:off x="935038" y="692150"/>
            <a:ext cx="3344862"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b="1" dirty="0">
                <a:solidFill>
                  <a:schemeClr val="hlink"/>
                </a:solidFill>
                <a:latin typeface="Times New Roman" panose="02020603050405020304" pitchFamily="18" charset="0"/>
              </a:rPr>
              <a:t>5.3 </a:t>
            </a:r>
            <a:r>
              <a:rPr lang="zh-CN" altLang="en-US" b="1" dirty="0">
                <a:solidFill>
                  <a:schemeClr val="hlink"/>
                </a:solidFill>
                <a:latin typeface="Times New Roman" panose="02020603050405020304" pitchFamily="18" charset="0"/>
              </a:rPr>
              <a:t>页面置换算法</a:t>
            </a:r>
            <a:r>
              <a:rPr lang="zh-CN" altLang="en-US" b="1" dirty="0">
                <a:latin typeface="Times New Roman" panose="02020603050405020304" pitchFamily="18" charset="0"/>
              </a:rPr>
              <a:t> </a:t>
            </a:r>
            <a:endParaRPr lang="zh-CN" altLang="en-US" b="1" dirty="0">
              <a:latin typeface="Times New Roman" panose="02020603050405020304" pitchFamily="18" charset="0"/>
            </a:endParaRPr>
          </a:p>
        </p:txBody>
      </p:sp>
      <p:sp>
        <p:nvSpPr>
          <p:cNvPr id="32771" name="Text Box 3"/>
          <p:cNvSpPr txBox="1"/>
          <p:nvPr/>
        </p:nvSpPr>
        <p:spPr>
          <a:xfrm>
            <a:off x="684213" y="1844675"/>
            <a:ext cx="6342062"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latin typeface="Times New Roman" panose="02020603050405020304" pitchFamily="18" charset="0"/>
              </a:rPr>
              <a:t>5.3.1 </a:t>
            </a:r>
            <a:r>
              <a:rPr lang="zh-CN" altLang="en-US" sz="2800" b="1" dirty="0">
                <a:latin typeface="Times New Roman" panose="02020603050405020304" pitchFamily="18" charset="0"/>
              </a:rPr>
              <a:t>最佳置换算法和先进先出置换算法</a:t>
            </a:r>
            <a:endParaRPr lang="zh-CN" altLang="en-US" sz="2800" b="1" dirty="0">
              <a:latin typeface="Times New Roman" panose="02020603050405020304" pitchFamily="18" charset="0"/>
            </a:endParaRPr>
          </a:p>
        </p:txBody>
      </p:sp>
      <p:sp>
        <p:nvSpPr>
          <p:cNvPr id="32772" name="Text Box 4"/>
          <p:cNvSpPr txBox="1"/>
          <p:nvPr/>
        </p:nvSpPr>
        <p:spPr>
          <a:xfrm>
            <a:off x="468313" y="2492375"/>
            <a:ext cx="8001000" cy="29257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45000"/>
              </a:lnSpc>
              <a:spcBef>
                <a:spcPct val="50000"/>
              </a:spcBef>
              <a:buClrTx/>
              <a:buSzTx/>
              <a:buFontTx/>
              <a:buNone/>
            </a:pPr>
            <a:r>
              <a:rPr lang="en-US" altLang="zh-CN" sz="2400" dirty="0">
                <a:solidFill>
                  <a:srgbClr val="000000"/>
                </a:solidFill>
                <a:latin typeface="Times New Roman" panose="02020603050405020304" pitchFamily="18" charset="0"/>
              </a:rPr>
              <a:t>        </a:t>
            </a:r>
            <a:r>
              <a:rPr lang="en-US" altLang="zh-CN" sz="2400" b="1" dirty="0">
                <a:solidFill>
                  <a:srgbClr val="000000"/>
                </a:solidFill>
                <a:latin typeface="Times New Roman" panose="02020603050405020304" pitchFamily="18" charset="0"/>
              </a:rPr>
              <a:t>1. </a:t>
            </a:r>
            <a:r>
              <a:rPr lang="zh-CN" altLang="en-US" sz="2400" b="1" dirty="0">
                <a:solidFill>
                  <a:srgbClr val="000000"/>
                </a:solidFill>
                <a:latin typeface="Times New Roman" panose="02020603050405020304" pitchFamily="18" charset="0"/>
              </a:rPr>
              <a:t>最佳</a:t>
            </a:r>
            <a:r>
              <a:rPr lang="en-US" altLang="zh-CN" sz="2400" b="1" dirty="0">
                <a:solidFill>
                  <a:srgbClr val="000000"/>
                </a:solidFill>
                <a:latin typeface="Times New Roman" panose="02020603050405020304" pitchFamily="18" charset="0"/>
              </a:rPr>
              <a:t>(Optimal)</a:t>
            </a:r>
            <a:r>
              <a:rPr lang="zh-CN" altLang="en-US" sz="2400" b="1" dirty="0">
                <a:solidFill>
                  <a:srgbClr val="000000"/>
                </a:solidFill>
                <a:latin typeface="Times New Roman" panose="02020603050405020304" pitchFamily="18" charset="0"/>
              </a:rPr>
              <a:t>置换算法</a:t>
            </a:r>
            <a:r>
              <a:rPr lang="en-US" altLang="zh-CN" sz="2400" b="1" dirty="0">
                <a:solidFill>
                  <a:srgbClr val="000000"/>
                </a:solidFill>
                <a:latin typeface="Times New Roman" panose="02020603050405020304" pitchFamily="18" charset="0"/>
              </a:rPr>
              <a:t>(</a:t>
            </a:r>
            <a:r>
              <a:rPr lang="en-US" altLang="zh-CN" sz="2400" b="1" dirty="0">
                <a:solidFill>
                  <a:srgbClr val="000000"/>
                </a:solidFill>
                <a:latin typeface="宋体" panose="02010600030101010101" pitchFamily="2" charset="-122"/>
              </a:rPr>
              <a:t>OPT:</a:t>
            </a:r>
            <a:r>
              <a:rPr lang="en-US" altLang="zh-CN" sz="2400" dirty="0">
                <a:latin typeface="宋体" panose="02010600030101010101" pitchFamily="2" charset="-122"/>
              </a:rPr>
              <a:t>Optimal replacement</a:t>
            </a:r>
            <a:r>
              <a:rPr lang="en-US" altLang="zh-CN" sz="2400" b="1" dirty="0">
                <a:solidFill>
                  <a:srgbClr val="000000"/>
                </a:solidFill>
                <a:latin typeface="宋体" panose="02010600030101010101" pitchFamily="2" charset="-122"/>
              </a:rPr>
              <a:t>)</a:t>
            </a:r>
            <a:endParaRPr lang="en-US" altLang="zh-CN" sz="2400" b="1" dirty="0">
              <a:solidFill>
                <a:srgbClr val="000000"/>
              </a:solidFill>
              <a:latin typeface="Times New Roman" panose="02020603050405020304" pitchFamily="18" charset="0"/>
            </a:endParaRPr>
          </a:p>
          <a:p>
            <a:pPr marL="0" lvl="0" indent="0" algn="just" eaLnBrk="1" hangingPunct="1">
              <a:lnSpc>
                <a:spcPct val="145000"/>
              </a:lnSpc>
              <a:spcBef>
                <a:spcPct val="50000"/>
              </a:spcBef>
              <a:buClrTx/>
              <a:buSzTx/>
              <a:buFontTx/>
              <a:buNone/>
            </a:pPr>
            <a:r>
              <a:rPr lang="en-US" altLang="zh-CN" sz="2400" b="1" dirty="0">
                <a:solidFill>
                  <a:srgbClr val="000000"/>
                </a:solidFill>
                <a:latin typeface="Times New Roman" panose="02020603050405020304" pitchFamily="18" charset="0"/>
              </a:rPr>
              <a:t>        </a:t>
            </a:r>
            <a:r>
              <a:rPr lang="zh-CN" altLang="en-US" sz="2400" b="1" dirty="0">
                <a:solidFill>
                  <a:srgbClr val="000000"/>
                </a:solidFill>
                <a:latin typeface="Times New Roman" panose="02020603050405020304" pitchFamily="18" charset="0"/>
              </a:rPr>
              <a:t>最佳置换算法是由</a:t>
            </a:r>
            <a:r>
              <a:rPr lang="en-US" altLang="zh-CN" sz="2400" b="1" dirty="0">
                <a:solidFill>
                  <a:srgbClr val="000000"/>
                </a:solidFill>
                <a:latin typeface="Times New Roman" panose="02020603050405020304" pitchFamily="18" charset="0"/>
              </a:rPr>
              <a:t>Belady</a:t>
            </a:r>
            <a:r>
              <a:rPr lang="zh-CN" altLang="en-US" sz="2400" b="1" dirty="0">
                <a:solidFill>
                  <a:srgbClr val="000000"/>
                </a:solidFill>
                <a:latin typeface="Times New Roman" panose="02020603050405020304" pitchFamily="18" charset="0"/>
              </a:rPr>
              <a:t>于</a:t>
            </a:r>
            <a:r>
              <a:rPr lang="en-US" altLang="zh-CN" sz="2400" b="1" dirty="0">
                <a:solidFill>
                  <a:srgbClr val="000000"/>
                </a:solidFill>
                <a:latin typeface="Times New Roman" panose="02020603050405020304" pitchFamily="18" charset="0"/>
              </a:rPr>
              <a:t>1966</a:t>
            </a:r>
            <a:r>
              <a:rPr lang="zh-CN" altLang="en-US" sz="2400" b="1" dirty="0">
                <a:solidFill>
                  <a:srgbClr val="000000"/>
                </a:solidFill>
                <a:latin typeface="Times New Roman" panose="02020603050405020304" pitchFamily="18" charset="0"/>
              </a:rPr>
              <a:t>年提出的一种</a:t>
            </a:r>
            <a:r>
              <a:rPr lang="zh-CN" altLang="en-US" sz="2400" b="1" dirty="0">
                <a:solidFill>
                  <a:srgbClr val="FF0000"/>
                </a:solidFill>
                <a:latin typeface="Times New Roman" panose="02020603050405020304" pitchFamily="18" charset="0"/>
              </a:rPr>
              <a:t>理论上</a:t>
            </a:r>
            <a:r>
              <a:rPr lang="zh-CN" altLang="en-US" sz="2400" b="1" dirty="0">
                <a:solidFill>
                  <a:srgbClr val="000000"/>
                </a:solidFill>
                <a:latin typeface="Times New Roman" panose="02020603050405020304" pitchFamily="18" charset="0"/>
              </a:rPr>
              <a:t>的算法。 其所选择的被淘汰页面，将是</a:t>
            </a:r>
            <a:r>
              <a:rPr lang="zh-CN" altLang="en-US" sz="2400" b="1" dirty="0">
                <a:solidFill>
                  <a:schemeClr val="hlink"/>
                </a:solidFill>
                <a:latin typeface="Times New Roman" panose="02020603050405020304" pitchFamily="18" charset="0"/>
              </a:rPr>
              <a:t>以后永不使用的， 或是在</a:t>
            </a:r>
            <a:r>
              <a:rPr lang="en-US" altLang="zh-CN" sz="2400" b="1" dirty="0">
                <a:solidFill>
                  <a:schemeClr val="hlink"/>
                </a:solidFill>
                <a:latin typeface="Times New Roman" panose="02020603050405020304" pitchFamily="18" charset="0"/>
              </a:rPr>
              <a:t>(</a:t>
            </a:r>
            <a:r>
              <a:rPr lang="zh-CN" altLang="en-US" sz="2400" b="1" dirty="0">
                <a:solidFill>
                  <a:schemeClr val="hlink"/>
                </a:solidFill>
                <a:latin typeface="Times New Roman" panose="02020603050405020304" pitchFamily="18" charset="0"/>
              </a:rPr>
              <a:t>未来</a:t>
            </a:r>
            <a:r>
              <a:rPr lang="en-US" altLang="zh-CN" sz="2400" b="1" dirty="0">
                <a:solidFill>
                  <a:schemeClr val="hlink"/>
                </a:solidFill>
                <a:latin typeface="Times New Roman" panose="02020603050405020304" pitchFamily="18" charset="0"/>
              </a:rPr>
              <a:t>)</a:t>
            </a:r>
            <a:r>
              <a:rPr lang="zh-CN" altLang="en-US" sz="2400" b="1" dirty="0">
                <a:solidFill>
                  <a:schemeClr val="hlink"/>
                </a:solidFill>
                <a:latin typeface="Times New Roman" panose="02020603050405020304" pitchFamily="18" charset="0"/>
              </a:rPr>
              <a:t>很长时间内不再被访问的页面</a:t>
            </a:r>
            <a:r>
              <a:rPr lang="zh-CN" altLang="en-US" sz="2400" b="1" dirty="0">
                <a:solidFill>
                  <a:srgbClr val="000000"/>
                </a:solidFill>
                <a:latin typeface="Times New Roman" panose="02020603050405020304" pitchFamily="18" charset="0"/>
              </a:rPr>
              <a:t>。采用最佳置换算法，通常可保证获得最低的缺页率。</a:t>
            </a:r>
            <a:r>
              <a:rPr lang="zh-CN" altLang="en-US" sz="2400" b="1" dirty="0">
                <a:latin typeface="Times New Roman" panose="02020603050405020304" pitchFamily="18" charset="0"/>
              </a:rPr>
              <a:t> </a:t>
            </a:r>
            <a:endParaRPr lang="zh-CN" altLang="en-US" sz="2400" b="1" dirty="0">
              <a:latin typeface="Times New Roman" panose="02020603050405020304" pitchFamily="18" charset="0"/>
            </a:endParaRPr>
          </a:p>
        </p:txBody>
      </p:sp>
      <p:sp>
        <p:nvSpPr>
          <p:cNvPr id="32773" name="AutoShape 5"/>
          <p:cNvSpPr/>
          <p:nvPr/>
        </p:nvSpPr>
        <p:spPr>
          <a:xfrm>
            <a:off x="5292725" y="549275"/>
            <a:ext cx="3167063" cy="1008063"/>
          </a:xfrm>
          <a:prstGeom prst="wedgeRoundRectCallout">
            <a:avLst>
              <a:gd name="adj1" fmla="val -83032"/>
              <a:gd name="adj2" fmla="val -5435"/>
              <a:gd name="adj3" fmla="val 16667"/>
            </a:avLst>
          </a:prstGeom>
          <a:solidFill>
            <a:srgbClr val="FFFF99"/>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chemeClr val="hlink"/>
                </a:solidFill>
              </a:rPr>
              <a:t>即决定把哪个页面换出的算法</a:t>
            </a:r>
            <a:endParaRPr lang="zh-CN" altLang="en-US" sz="2400" b="1" dirty="0">
              <a:solidFill>
                <a:schemeClr val="hlink"/>
              </a:solidFill>
            </a:endParaRPr>
          </a:p>
        </p:txBody>
      </p:sp>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Text Box 2"/>
          <p:cNvSpPr txBox="1"/>
          <p:nvPr/>
        </p:nvSpPr>
        <p:spPr>
          <a:xfrm>
            <a:off x="252413" y="369888"/>
            <a:ext cx="8315325" cy="2862262"/>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just" eaLnBrk="1" hangingPunct="1">
              <a:lnSpc>
                <a:spcPct val="130000"/>
              </a:lnSpc>
              <a:spcBef>
                <a:spcPct val="0"/>
              </a:spcBef>
              <a:buClrTx/>
              <a:buSzTx/>
              <a:buFontTx/>
              <a:buNone/>
            </a:pPr>
            <a:r>
              <a:rPr lang="en-US" altLang="zh-CN" sz="2400" dirty="0">
                <a:latin typeface="Times New Roman" panose="02020603050405020304" pitchFamily="18" charset="0"/>
              </a:rPr>
              <a:t>       </a:t>
            </a:r>
            <a:r>
              <a:rPr lang="zh-CN" altLang="en-US" sz="2400" b="1" dirty="0">
                <a:solidFill>
                  <a:srgbClr val="000000"/>
                </a:solidFill>
                <a:latin typeface="Times New Roman" panose="02020603050405020304" pitchFamily="18" charset="0"/>
              </a:rPr>
              <a:t>假定系统为某进程分配了三个物理块， 并考虑以下的页面号引用串：</a:t>
            </a:r>
            <a:endParaRPr lang="zh-CN" altLang="en-US" sz="2400" b="1" dirty="0">
              <a:solidFill>
                <a:srgbClr val="000000"/>
              </a:solidFill>
              <a:latin typeface="Times New Roman" panose="02020603050405020304" pitchFamily="18" charset="0"/>
            </a:endParaRPr>
          </a:p>
          <a:p>
            <a:pPr marL="0" lvl="0" indent="0" algn="just" eaLnBrk="1" hangingPunct="1">
              <a:lnSpc>
                <a:spcPct val="130000"/>
              </a:lnSpc>
              <a:spcBef>
                <a:spcPct val="0"/>
              </a:spcBef>
              <a:buClrTx/>
              <a:buSzTx/>
              <a:buFontTx/>
              <a:buNone/>
            </a:pPr>
            <a:r>
              <a:rPr lang="en-US" altLang="zh-CN" sz="2000" b="1" dirty="0">
                <a:solidFill>
                  <a:srgbClr val="000000"/>
                </a:solidFill>
                <a:latin typeface="Times New Roman" panose="02020603050405020304" pitchFamily="18" charset="0"/>
              </a:rPr>
              <a:t>7</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0</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1</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2</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0</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3</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0</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4</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2</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3</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0</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3</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2</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1</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2</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0</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1</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7</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0</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1</a:t>
            </a:r>
            <a:endParaRPr lang="en-US" altLang="zh-CN" sz="2000" b="1" dirty="0">
              <a:solidFill>
                <a:srgbClr val="000000"/>
              </a:solidFill>
              <a:latin typeface="Times New Roman" panose="02020603050405020304" pitchFamily="18" charset="0"/>
            </a:endParaRPr>
          </a:p>
          <a:p>
            <a:pPr marL="0" lvl="0" indent="0" algn="just" eaLnBrk="1" hangingPunct="1">
              <a:lnSpc>
                <a:spcPct val="130000"/>
              </a:lnSpc>
              <a:spcBef>
                <a:spcPct val="0"/>
              </a:spcBef>
              <a:buClrTx/>
              <a:buSzTx/>
              <a:buFontTx/>
              <a:buNone/>
            </a:pPr>
            <a:r>
              <a:rPr lang="en-US" altLang="zh-CN" sz="2400" b="1" dirty="0">
                <a:solidFill>
                  <a:srgbClr val="FF0000"/>
                </a:solidFill>
                <a:latin typeface="Times New Roman" panose="02020603050405020304" pitchFamily="18" charset="0"/>
              </a:rPr>
              <a:t>       </a:t>
            </a:r>
            <a:r>
              <a:rPr lang="zh-CN" altLang="en-US" sz="2400" b="1" dirty="0">
                <a:solidFill>
                  <a:srgbClr val="FF0000"/>
                </a:solidFill>
                <a:latin typeface="Times New Roman" panose="02020603050405020304" pitchFamily="18" charset="0"/>
              </a:rPr>
              <a:t>进程运行时， 先将</a:t>
            </a:r>
            <a:r>
              <a:rPr lang="en-US" altLang="zh-CN" sz="2400" b="1" dirty="0">
                <a:solidFill>
                  <a:srgbClr val="FF0000"/>
                </a:solidFill>
                <a:latin typeface="Times New Roman" panose="02020603050405020304" pitchFamily="18" charset="0"/>
              </a:rPr>
              <a:t>7</a:t>
            </a:r>
            <a:r>
              <a:rPr lang="zh-CN" altLang="en-US" sz="2400" b="1" dirty="0">
                <a:solidFill>
                  <a:srgbClr val="FF0000"/>
                </a:solidFill>
                <a:latin typeface="Times New Roman" panose="02020603050405020304" pitchFamily="18" charset="0"/>
              </a:rPr>
              <a:t>，</a:t>
            </a:r>
            <a:r>
              <a:rPr lang="en-US" altLang="zh-CN" sz="2400" b="1" dirty="0">
                <a:solidFill>
                  <a:srgbClr val="FF0000"/>
                </a:solidFill>
                <a:latin typeface="Times New Roman" panose="02020603050405020304" pitchFamily="18" charset="0"/>
              </a:rPr>
              <a:t>0</a:t>
            </a:r>
            <a:r>
              <a:rPr lang="zh-CN" altLang="en-US" sz="2400" b="1" dirty="0">
                <a:solidFill>
                  <a:srgbClr val="FF0000"/>
                </a:solidFill>
                <a:latin typeface="Times New Roman" panose="02020603050405020304" pitchFamily="18" charset="0"/>
              </a:rPr>
              <a:t>，</a:t>
            </a:r>
            <a:r>
              <a:rPr lang="en-US" altLang="zh-CN" sz="2400" b="1" dirty="0">
                <a:solidFill>
                  <a:srgbClr val="FF0000"/>
                </a:solidFill>
                <a:latin typeface="Times New Roman" panose="02020603050405020304" pitchFamily="18" charset="0"/>
              </a:rPr>
              <a:t>1</a:t>
            </a:r>
            <a:r>
              <a:rPr lang="zh-CN" altLang="en-US" sz="2400" b="1" dirty="0">
                <a:solidFill>
                  <a:srgbClr val="FF0000"/>
                </a:solidFill>
                <a:latin typeface="Times New Roman" panose="02020603050405020304" pitchFamily="18" charset="0"/>
              </a:rPr>
              <a:t>三个页面装入内存</a:t>
            </a:r>
            <a:r>
              <a:rPr lang="zh-CN" altLang="en-US" sz="2400" b="1" dirty="0">
                <a:solidFill>
                  <a:srgbClr val="000000"/>
                </a:solidFill>
                <a:latin typeface="Times New Roman" panose="02020603050405020304" pitchFamily="18" charset="0"/>
              </a:rPr>
              <a:t>。当进程要访问页面</a:t>
            </a:r>
            <a:r>
              <a:rPr lang="en-US" altLang="zh-CN" sz="2400" b="1" dirty="0">
                <a:solidFill>
                  <a:srgbClr val="000000"/>
                </a:solidFill>
                <a:latin typeface="Times New Roman" panose="02020603050405020304" pitchFamily="18" charset="0"/>
              </a:rPr>
              <a:t>2</a:t>
            </a:r>
            <a:r>
              <a:rPr lang="zh-CN" altLang="en-US" sz="2400" b="1" dirty="0">
                <a:solidFill>
                  <a:srgbClr val="000000"/>
                </a:solidFill>
                <a:latin typeface="Times New Roman" panose="02020603050405020304" pitchFamily="18" charset="0"/>
              </a:rPr>
              <a:t>时，此时</a:t>
            </a:r>
            <a:r>
              <a:rPr lang="en-US" altLang="zh-CN" sz="2400" b="1" dirty="0">
                <a:solidFill>
                  <a:srgbClr val="000000"/>
                </a:solidFill>
                <a:latin typeface="Times New Roman" panose="02020603050405020304" pitchFamily="18" charset="0"/>
              </a:rPr>
              <a:t>OS</a:t>
            </a:r>
            <a:r>
              <a:rPr lang="zh-CN" altLang="en-US" sz="2400" b="1" dirty="0">
                <a:solidFill>
                  <a:srgbClr val="000000"/>
                </a:solidFill>
                <a:latin typeface="Times New Roman" panose="02020603050405020304" pitchFamily="18" charset="0"/>
              </a:rPr>
              <a:t>根据最佳置换算法，将选择页面</a:t>
            </a:r>
            <a:r>
              <a:rPr lang="en-US" altLang="zh-CN" sz="2400" b="1" dirty="0">
                <a:solidFill>
                  <a:srgbClr val="000000"/>
                </a:solidFill>
                <a:latin typeface="Times New Roman" panose="02020603050405020304" pitchFamily="18" charset="0"/>
              </a:rPr>
              <a:t>7</a:t>
            </a:r>
            <a:r>
              <a:rPr lang="zh-CN" altLang="en-US" sz="2400" b="1" dirty="0">
                <a:solidFill>
                  <a:srgbClr val="000000"/>
                </a:solidFill>
                <a:latin typeface="Times New Roman" panose="02020603050405020304" pitchFamily="18" charset="0"/>
              </a:rPr>
              <a:t>予以淘汰。</a:t>
            </a:r>
            <a:r>
              <a:rPr lang="zh-CN" altLang="en-US" sz="2400" dirty="0">
                <a:latin typeface="Times New Roman" panose="02020603050405020304" pitchFamily="18" charset="0"/>
              </a:rPr>
              <a:t> </a:t>
            </a:r>
            <a:endParaRPr lang="zh-CN" altLang="en-US" sz="2400" dirty="0">
              <a:latin typeface="Times New Roman" panose="02020603050405020304" pitchFamily="18" charset="0"/>
            </a:endParaRPr>
          </a:p>
        </p:txBody>
      </p:sp>
      <p:graphicFrame>
        <p:nvGraphicFramePr>
          <p:cNvPr id="33795" name="Object 3"/>
          <p:cNvGraphicFramePr>
            <a:graphicFrameLocks noChangeAspect="1"/>
          </p:cNvGraphicFramePr>
          <p:nvPr/>
        </p:nvGraphicFramePr>
        <p:xfrm>
          <a:off x="-73025" y="3086100"/>
          <a:ext cx="9217025" cy="2601913"/>
        </p:xfrm>
        <a:graphic>
          <a:graphicData uri="http://schemas.openxmlformats.org/presentationml/2006/ole">
            <mc:AlternateContent xmlns:mc="http://schemas.openxmlformats.org/markup-compatibility/2006">
              <mc:Choice xmlns:v="urn:schemas-microsoft-com:vml" Requires="v">
                <p:oleObj spid="_x0000_s2" name="" r:id="rId1" imgW="4312920" imgH="1219200" progId="Visio.Drawing.4">
                  <p:embed/>
                </p:oleObj>
              </mc:Choice>
              <mc:Fallback>
                <p:oleObj name="" r:id="rId1" imgW="4312920" imgH="1219200" progId="Visio.Drawing.4">
                  <p:embed/>
                  <p:pic>
                    <p:nvPicPr>
                      <p:cNvPr id="0" name="图片 3079"/>
                      <p:cNvPicPr/>
                      <p:nvPr/>
                    </p:nvPicPr>
                    <p:blipFill>
                      <a:blip r:embed="rId2"/>
                      <a:stretch>
                        <a:fillRect/>
                      </a:stretch>
                    </p:blipFill>
                    <p:spPr>
                      <a:xfrm>
                        <a:off x="-73025" y="3086100"/>
                        <a:ext cx="9217025" cy="2601913"/>
                      </a:xfrm>
                      <a:prstGeom prst="rect">
                        <a:avLst/>
                      </a:prstGeom>
                      <a:noFill/>
                      <a:ln w="38100">
                        <a:noFill/>
                        <a:miter/>
                      </a:ln>
                    </p:spPr>
                  </p:pic>
                </p:oleObj>
              </mc:Fallback>
            </mc:AlternateContent>
          </a:graphicData>
        </a:graphic>
      </p:graphicFrame>
      <p:sp>
        <p:nvSpPr>
          <p:cNvPr id="30724" name="AutoShape 5"/>
          <p:cNvSpPr/>
          <p:nvPr/>
        </p:nvSpPr>
        <p:spPr>
          <a:xfrm>
            <a:off x="6354763" y="4749800"/>
            <a:ext cx="2519362" cy="1773238"/>
          </a:xfrm>
          <a:prstGeom prst="irregularSeal1">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800" b="1" dirty="0">
                <a:solidFill>
                  <a:schemeClr val="hlink"/>
                </a:solidFill>
              </a:rPr>
              <a:t>向将来看！</a:t>
            </a:r>
            <a:endParaRPr lang="zh-CN" altLang="en-US" sz="2800" b="1" dirty="0">
              <a:solidFill>
                <a:schemeClr val="hlink"/>
              </a:solidFill>
            </a:endParaRPr>
          </a:p>
        </p:txBody>
      </p:sp>
      <p:sp>
        <p:nvSpPr>
          <p:cNvPr id="30725" name="Rectangle 6"/>
          <p:cNvSpPr/>
          <p:nvPr/>
        </p:nvSpPr>
        <p:spPr>
          <a:xfrm>
            <a:off x="2268538" y="5219700"/>
            <a:ext cx="3816350" cy="468313"/>
          </a:xfrm>
          <a:prstGeom prst="rect">
            <a:avLst/>
          </a:prstGeom>
          <a:solidFill>
            <a:srgbClr val="00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800" b="1" dirty="0">
                <a:solidFill>
                  <a:schemeClr val="hlink"/>
                </a:solidFill>
              </a:rPr>
              <a:t>理想化，难于实现！</a:t>
            </a:r>
            <a:endParaRPr lang="zh-CN" altLang="en-US" sz="2800" b="1" dirty="0">
              <a:solidFill>
                <a:schemeClr val="hlink"/>
              </a:solidFill>
            </a:endParaRPr>
          </a:p>
        </p:txBody>
      </p:sp>
      <p:sp>
        <p:nvSpPr>
          <p:cNvPr id="456711" name="Text Box 7"/>
          <p:cNvSpPr txBox="1"/>
          <p:nvPr/>
        </p:nvSpPr>
        <p:spPr>
          <a:xfrm>
            <a:off x="522288" y="5842000"/>
            <a:ext cx="8621712" cy="830263"/>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FF0000"/>
                </a:solidFill>
                <a:latin typeface="Times New Roman" panose="02020603050405020304" pitchFamily="18" charset="0"/>
              </a:rPr>
              <a:t>发生了</a:t>
            </a:r>
            <a:r>
              <a:rPr lang="en-US" altLang="zh-CN" sz="2400" b="1" dirty="0">
                <a:solidFill>
                  <a:srgbClr val="FF0000"/>
                </a:solidFill>
                <a:latin typeface="Times New Roman" panose="02020603050405020304" pitchFamily="18" charset="0"/>
              </a:rPr>
              <a:t>9</a:t>
            </a:r>
            <a:r>
              <a:rPr lang="zh-CN" altLang="en-US" sz="2400" b="1" dirty="0">
                <a:solidFill>
                  <a:srgbClr val="FF0000"/>
                </a:solidFill>
                <a:latin typeface="Times New Roman" panose="02020603050405020304" pitchFamily="18" charset="0"/>
              </a:rPr>
              <a:t>次缺页，缺页率  </a:t>
            </a:r>
            <a:r>
              <a:rPr lang="en-US" altLang="zh-CN" sz="2400" b="1" dirty="0">
                <a:solidFill>
                  <a:srgbClr val="FF0000"/>
                </a:solidFill>
                <a:latin typeface="Times New Roman" panose="02020603050405020304" pitchFamily="18" charset="0"/>
              </a:rPr>
              <a:t>f = 9 / 19</a:t>
            </a:r>
            <a:endParaRPr lang="en-US" altLang="zh-CN" sz="2400" b="1" dirty="0">
              <a:solidFill>
                <a:srgbClr val="FF0000"/>
              </a:solidFill>
              <a:latin typeface="Times New Roman" panose="02020603050405020304" pitchFamily="18" charset="0"/>
            </a:endParaRPr>
          </a:p>
          <a:p>
            <a:pPr marL="0" lvl="0" indent="0" eaLnBrk="1" hangingPunct="1">
              <a:spcBef>
                <a:spcPct val="0"/>
              </a:spcBef>
              <a:buClrTx/>
              <a:buSzTx/>
              <a:buFontTx/>
              <a:buNone/>
            </a:pPr>
            <a:r>
              <a:rPr lang="zh-CN" altLang="en-US" sz="2400" b="1" dirty="0">
                <a:latin typeface="Times New Roman" panose="02020603050405020304" pitchFamily="18" charset="0"/>
              </a:rPr>
              <a:t>发生了</a:t>
            </a:r>
            <a:r>
              <a:rPr lang="en-US" altLang="zh-CN" sz="2400" b="1" dirty="0">
                <a:latin typeface="Times New Roman" panose="02020603050405020304" pitchFamily="18" charset="0"/>
              </a:rPr>
              <a:t>6</a:t>
            </a:r>
            <a:r>
              <a:rPr lang="zh-CN" altLang="en-US" sz="2400" b="1" dirty="0">
                <a:latin typeface="Times New Roman" panose="02020603050405020304" pitchFamily="18" charset="0"/>
              </a:rPr>
              <a:t>次页面置换</a:t>
            </a:r>
            <a:r>
              <a:rPr lang="en-US" altLang="zh-CN" sz="2400" b="1" dirty="0">
                <a:latin typeface="Times New Roman" panose="02020603050405020304" pitchFamily="18" charset="0"/>
              </a:rPr>
              <a:t>    </a:t>
            </a:r>
            <a:endParaRPr lang="en-US" altLang="zh-CN" sz="2400" b="1" dirty="0">
              <a:latin typeface="Times New Roman" panose="02020603050405020304" pitchFamily="18"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6711">
                                            <p:txEl>
                                              <p:pRg st="0" end="0"/>
                                            </p:txEl>
                                          </p:spTgt>
                                        </p:tgtEl>
                                        <p:attrNameLst>
                                          <p:attrName>style.visibility</p:attrName>
                                        </p:attrNameLst>
                                      </p:cBhvr>
                                      <p:to>
                                        <p:strVal val="visible"/>
                                      </p:to>
                                    </p:set>
                                    <p:animEffect transition="in" filter="wipe(left)">
                                      <p:cBhvr>
                                        <p:cTn id="7" dur="500"/>
                                        <p:tgtEl>
                                          <p:spTgt spid="4567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56711">
                                            <p:txEl>
                                              <p:pRg st="1" end="1"/>
                                            </p:txEl>
                                          </p:spTgt>
                                        </p:tgtEl>
                                        <p:attrNameLst>
                                          <p:attrName>style.visibility</p:attrName>
                                        </p:attrNameLst>
                                      </p:cBhvr>
                                      <p:to>
                                        <p:strVal val="visible"/>
                                      </p:to>
                                    </p:set>
                                    <p:animEffect transition="in" filter="wipe(left)">
                                      <p:cBhvr>
                                        <p:cTn id="12" dur="500"/>
                                        <p:tgtEl>
                                          <p:spTgt spid="4567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07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7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animBg="1"/>
      <p:bldP spid="30725" grpId="0" animBg="1"/>
      <p:bldP spid="456711" grpId="0" build="p"/>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Text Box 2"/>
          <p:cNvSpPr txBox="1"/>
          <p:nvPr/>
        </p:nvSpPr>
        <p:spPr>
          <a:xfrm>
            <a:off x="395288" y="512763"/>
            <a:ext cx="44831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2. </a:t>
            </a:r>
            <a:r>
              <a:rPr lang="zh-CN" altLang="en-US" sz="2400" b="1" dirty="0">
                <a:latin typeface="Times New Roman" panose="02020603050405020304" pitchFamily="18" charset="0"/>
              </a:rPr>
              <a:t>先进先出</a:t>
            </a:r>
            <a:r>
              <a:rPr lang="en-US" altLang="zh-CN" sz="2400" b="1" dirty="0">
                <a:latin typeface="Times New Roman" panose="02020603050405020304" pitchFamily="18" charset="0"/>
              </a:rPr>
              <a:t>(FIFO)</a:t>
            </a:r>
            <a:r>
              <a:rPr lang="zh-CN" altLang="en-US" sz="2400" b="1" dirty="0">
                <a:latin typeface="Times New Roman" panose="02020603050405020304" pitchFamily="18" charset="0"/>
              </a:rPr>
              <a:t>页面置换算法</a:t>
            </a:r>
            <a:endParaRPr lang="zh-CN" altLang="en-US" sz="2400" b="1" dirty="0">
              <a:latin typeface="Times New Roman" panose="02020603050405020304" pitchFamily="18" charset="0"/>
            </a:endParaRPr>
          </a:p>
        </p:txBody>
      </p:sp>
      <p:graphicFrame>
        <p:nvGraphicFramePr>
          <p:cNvPr id="35843" name="Object 3"/>
          <p:cNvGraphicFramePr>
            <a:graphicFrameLocks noChangeAspect="1"/>
          </p:cNvGraphicFramePr>
          <p:nvPr/>
        </p:nvGraphicFramePr>
        <p:xfrm>
          <a:off x="395288" y="1089025"/>
          <a:ext cx="8675687" cy="2333625"/>
        </p:xfrm>
        <a:graphic>
          <a:graphicData uri="http://schemas.openxmlformats.org/presentationml/2006/ole">
            <mc:AlternateContent xmlns:mc="http://schemas.openxmlformats.org/markup-compatibility/2006">
              <mc:Choice xmlns:v="urn:schemas-microsoft-com:vml" Requires="v">
                <p:oleObj spid="_x0000_s2" name="" r:id="rId1" imgW="4526280" imgH="1219200" progId="Visio.Drawing.4">
                  <p:embed/>
                </p:oleObj>
              </mc:Choice>
              <mc:Fallback>
                <p:oleObj name="" r:id="rId1" imgW="4526280" imgH="1219200" progId="Visio.Drawing.4">
                  <p:embed/>
                  <p:pic>
                    <p:nvPicPr>
                      <p:cNvPr id="0" name="图片 3081"/>
                      <p:cNvPicPr/>
                      <p:nvPr/>
                    </p:nvPicPr>
                    <p:blipFill>
                      <a:blip r:embed="rId2"/>
                      <a:stretch>
                        <a:fillRect/>
                      </a:stretch>
                    </p:blipFill>
                    <p:spPr>
                      <a:xfrm>
                        <a:off x="395288" y="1089025"/>
                        <a:ext cx="8675687" cy="2333625"/>
                      </a:xfrm>
                      <a:prstGeom prst="rect">
                        <a:avLst/>
                      </a:prstGeom>
                      <a:noFill/>
                      <a:ln w="38100">
                        <a:noFill/>
                        <a:miter/>
                      </a:ln>
                    </p:spPr>
                  </p:pic>
                </p:oleObj>
              </mc:Fallback>
            </mc:AlternateContent>
          </a:graphicData>
        </a:graphic>
      </p:graphicFrame>
      <p:sp>
        <p:nvSpPr>
          <p:cNvPr id="34821" name="Rectangle 5"/>
          <p:cNvSpPr/>
          <p:nvPr/>
        </p:nvSpPr>
        <p:spPr>
          <a:xfrm>
            <a:off x="233363" y="5194300"/>
            <a:ext cx="8675687" cy="1150938"/>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None/>
            </a:pPr>
            <a:r>
              <a:rPr lang="en-US" altLang="zh-CN" sz="2400" b="1" dirty="0">
                <a:solidFill>
                  <a:schemeClr val="hlink"/>
                </a:solidFill>
              </a:rPr>
              <a:t>FIFO</a:t>
            </a:r>
            <a:r>
              <a:rPr lang="zh-CN" altLang="en-US" sz="2400" b="1" dirty="0">
                <a:solidFill>
                  <a:schemeClr val="hlink"/>
                </a:solidFill>
              </a:rPr>
              <a:t>方法的特点：</a:t>
            </a:r>
            <a:r>
              <a:rPr lang="zh-CN" altLang="en-US" sz="2400" dirty="0">
                <a:solidFill>
                  <a:schemeClr val="hlink"/>
                </a:solidFill>
              </a:rPr>
              <a:t> </a:t>
            </a:r>
            <a:r>
              <a:rPr lang="zh-CN" altLang="en-US" sz="2400" b="1" dirty="0">
                <a:solidFill>
                  <a:schemeClr val="hlink"/>
                </a:solidFill>
              </a:rPr>
              <a:t>实现方便。不需要额外硬件。</a:t>
            </a:r>
            <a:br>
              <a:rPr lang="en-US" altLang="zh-CN" sz="2400" b="1" dirty="0">
                <a:solidFill>
                  <a:schemeClr val="hlink"/>
                </a:solidFill>
              </a:rPr>
            </a:br>
            <a:r>
              <a:rPr lang="zh-CN" altLang="en-US" sz="2400" b="1" dirty="0">
                <a:solidFill>
                  <a:schemeClr val="hlink"/>
                </a:solidFill>
              </a:rPr>
              <a:t> 但效果不好，</a:t>
            </a:r>
            <a:r>
              <a:rPr lang="zh-CN" altLang="en-US" sz="2400" b="1" dirty="0"/>
              <a:t>有</a:t>
            </a:r>
            <a:r>
              <a:rPr lang="en-US" altLang="zh-CN" sz="2400" b="1" dirty="0"/>
              <a:t>Belady</a:t>
            </a:r>
            <a:r>
              <a:rPr lang="zh-CN" altLang="en-US" sz="2400" b="1" dirty="0"/>
              <a:t>异常（由</a:t>
            </a:r>
            <a:r>
              <a:rPr lang="en-US" altLang="zh-CN" sz="2400" b="1" dirty="0"/>
              <a:t>Belady</a:t>
            </a:r>
            <a:r>
              <a:rPr lang="zh-CN" altLang="en-US" sz="2400" b="1" dirty="0"/>
              <a:t>于</a:t>
            </a:r>
            <a:r>
              <a:rPr lang="en-US" altLang="zh-CN" sz="2400" b="1" dirty="0"/>
              <a:t>1969</a:t>
            </a:r>
            <a:r>
              <a:rPr lang="zh-CN" altLang="en-US" sz="2400" b="1" dirty="0"/>
              <a:t>年发现）。</a:t>
            </a:r>
            <a:endParaRPr lang="en-US" altLang="zh-CN" sz="2400" b="1" dirty="0"/>
          </a:p>
          <a:p>
            <a:pPr marL="0" lvl="0" indent="0" eaLnBrk="1" hangingPunct="1">
              <a:spcBef>
                <a:spcPct val="0"/>
              </a:spcBef>
              <a:buClrTx/>
              <a:buSzTx/>
              <a:buNone/>
            </a:pPr>
            <a:r>
              <a:rPr lang="en-US" altLang="zh-CN" sz="2400" b="1" dirty="0"/>
              <a:t>Belady</a:t>
            </a:r>
            <a:r>
              <a:rPr lang="zh-CN" altLang="en-US" sz="2400" b="1" dirty="0"/>
              <a:t>异常：分配的物理块数目增大，缺页次数</a:t>
            </a:r>
            <a:r>
              <a:rPr lang="zh-CN" altLang="en-US" sz="2400" b="1" dirty="0">
                <a:solidFill>
                  <a:srgbClr val="FF0000"/>
                </a:solidFill>
              </a:rPr>
              <a:t>不减反增</a:t>
            </a:r>
            <a:r>
              <a:rPr lang="zh-CN" altLang="en-US" sz="2400" b="1" dirty="0"/>
              <a:t>。</a:t>
            </a:r>
            <a:endParaRPr lang="zh-CN" altLang="en-US" sz="2400" b="1" dirty="0">
              <a:solidFill>
                <a:schemeClr val="hlink"/>
              </a:solidFill>
            </a:endParaRPr>
          </a:p>
        </p:txBody>
      </p:sp>
      <p:sp>
        <p:nvSpPr>
          <p:cNvPr id="7" name="Text Box 7"/>
          <p:cNvSpPr txBox="1"/>
          <p:nvPr/>
        </p:nvSpPr>
        <p:spPr>
          <a:xfrm>
            <a:off x="395288" y="3887788"/>
            <a:ext cx="5778500" cy="831850"/>
          </a:xfrm>
          <a:prstGeom prst="rect">
            <a:avLst/>
          </a:prstGeom>
          <a:noFill/>
          <a:ln w="12700">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FF0000"/>
                </a:solidFill>
                <a:latin typeface="Times New Roman" panose="02020603050405020304" pitchFamily="18" charset="0"/>
              </a:rPr>
              <a:t>发生了</a:t>
            </a:r>
            <a:r>
              <a:rPr lang="en-US" altLang="zh-CN" sz="2400" b="1" dirty="0">
                <a:solidFill>
                  <a:srgbClr val="FF0000"/>
                </a:solidFill>
                <a:latin typeface="Times New Roman" panose="02020603050405020304" pitchFamily="18" charset="0"/>
              </a:rPr>
              <a:t>15</a:t>
            </a:r>
            <a:r>
              <a:rPr lang="zh-CN" altLang="en-US" sz="2400" b="1" dirty="0">
                <a:solidFill>
                  <a:srgbClr val="FF0000"/>
                </a:solidFill>
                <a:latin typeface="Times New Roman" panose="02020603050405020304" pitchFamily="18" charset="0"/>
              </a:rPr>
              <a:t>次缺页，缺页率  </a:t>
            </a:r>
            <a:r>
              <a:rPr lang="en-US" altLang="zh-CN" sz="2400" b="1" dirty="0">
                <a:solidFill>
                  <a:srgbClr val="FF0000"/>
                </a:solidFill>
                <a:latin typeface="Times New Roman" panose="02020603050405020304" pitchFamily="18" charset="0"/>
              </a:rPr>
              <a:t>f = 15 / 19</a:t>
            </a:r>
            <a:endParaRPr lang="en-US" altLang="zh-CN" sz="2400" b="1" dirty="0">
              <a:solidFill>
                <a:srgbClr val="FF0000"/>
              </a:solidFill>
              <a:latin typeface="Times New Roman" panose="02020603050405020304" pitchFamily="18" charset="0"/>
            </a:endParaRPr>
          </a:p>
          <a:p>
            <a:pPr marL="0" lvl="0" indent="0" eaLnBrk="1" hangingPunct="1">
              <a:spcBef>
                <a:spcPct val="0"/>
              </a:spcBef>
              <a:buClrTx/>
              <a:buSzTx/>
              <a:buFontTx/>
              <a:buNone/>
            </a:pPr>
            <a:r>
              <a:rPr lang="zh-CN" altLang="en-US" sz="2400" b="1" dirty="0">
                <a:latin typeface="Times New Roman" panose="02020603050405020304" pitchFamily="18" charset="0"/>
              </a:rPr>
              <a:t>发生了</a:t>
            </a:r>
            <a:r>
              <a:rPr lang="en-US" altLang="zh-CN" sz="2400" b="1" dirty="0">
                <a:latin typeface="Times New Roman" panose="02020603050405020304" pitchFamily="18" charset="0"/>
              </a:rPr>
              <a:t>12</a:t>
            </a:r>
            <a:r>
              <a:rPr lang="zh-CN" altLang="en-US" sz="2400" b="1" dirty="0">
                <a:latin typeface="Times New Roman" panose="02020603050405020304" pitchFamily="18" charset="0"/>
              </a:rPr>
              <a:t>次页面置换</a:t>
            </a:r>
            <a:r>
              <a:rPr lang="en-US" altLang="zh-CN" sz="2400" b="1" dirty="0">
                <a:latin typeface="Times New Roman" panose="02020603050405020304" pitchFamily="18" charset="0"/>
              </a:rPr>
              <a:t>    </a:t>
            </a:r>
            <a:endParaRPr lang="en-US" altLang="zh-CN" sz="2400" b="1" dirty="0">
              <a:latin typeface="Times New Roman" panose="02020603050405020304" pitchFamily="18"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34821"/>
                                        </p:tgtEl>
                                        <p:attrNameLst>
                                          <p:attrName>style.visibility</p:attrName>
                                        </p:attrNameLst>
                                      </p:cBhvr>
                                      <p:to>
                                        <p:strVal val="visible"/>
                                      </p:to>
                                    </p:set>
                                    <p:animEffect transition="in" filter="fade">
                                      <p:cBhvr>
                                        <p:cTn id="17" dur="1000"/>
                                        <p:tgtEl>
                                          <p:spTgt spid="34821"/>
                                        </p:tgtEl>
                                      </p:cBhvr>
                                    </p:animEffect>
                                    <p:anim calcmode="lin" valueType="num">
                                      <p:cBhvr>
                                        <p:cTn id="18" dur="1000" fill="hold"/>
                                        <p:tgtEl>
                                          <p:spTgt spid="34821"/>
                                        </p:tgtEl>
                                        <p:attrNameLst>
                                          <p:attrName>ppt_x</p:attrName>
                                        </p:attrNameLst>
                                      </p:cBhvr>
                                      <p:tavLst>
                                        <p:tav tm="0">
                                          <p:val>
                                            <p:strVal val="#ppt_x"/>
                                          </p:val>
                                        </p:tav>
                                        <p:tav tm="100000">
                                          <p:val>
                                            <p:strVal val="#ppt_x"/>
                                          </p:val>
                                        </p:tav>
                                      </p:tavLst>
                                    </p:anim>
                                    <p:anim calcmode="lin" valueType="num">
                                      <p:cBhvr>
                                        <p:cTn id="19" dur="1000" fill="hold"/>
                                        <p:tgtEl>
                                          <p:spTgt spid="348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p:bldP spid="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p:cNvGraphicFramePr>
            <a:graphicFrameLocks noGrp="1"/>
          </p:cNvGraphicFramePr>
          <p:nvPr/>
        </p:nvGraphicFramePr>
        <p:xfrm>
          <a:off x="269875" y="1376363"/>
          <a:ext cx="8604247" cy="4894261"/>
        </p:xfrm>
        <a:graphic>
          <a:graphicData uri="http://schemas.openxmlformats.org/drawingml/2006/table">
            <a:tbl>
              <a:tblPr firstRow="1" bandRow="1">
                <a:tableStyleId>{5C22544A-7EE6-4342-B048-85BDC9FD1C3A}</a:tableStyleId>
              </a:tblPr>
              <a:tblGrid>
                <a:gridCol w="1188034"/>
                <a:gridCol w="524911"/>
                <a:gridCol w="626482"/>
                <a:gridCol w="626482"/>
                <a:gridCol w="626482"/>
                <a:gridCol w="626482"/>
                <a:gridCol w="626482"/>
                <a:gridCol w="626482"/>
                <a:gridCol w="626482"/>
                <a:gridCol w="626482"/>
                <a:gridCol w="626482"/>
                <a:gridCol w="626482"/>
                <a:gridCol w="626482"/>
              </a:tblGrid>
              <a:tr h="444444">
                <a:tc>
                  <a:txBody>
                    <a:bodyPr/>
                    <a:lstStyle/>
                    <a:p>
                      <a:r>
                        <a:rPr lang="zh-CN" altLang="en-US" sz="1800" dirty="0">
                          <a:solidFill>
                            <a:srgbClr val="FF0000"/>
                          </a:solidFill>
                        </a:rPr>
                        <a:t>访问页面</a:t>
                      </a:r>
                      <a:endParaRPr lang="zh-CN" altLang="en-US" sz="1800" dirty="0">
                        <a:solidFill>
                          <a:srgbClr val="FF0000"/>
                        </a:solidFill>
                      </a:endParaRPr>
                    </a:p>
                  </a:txBody>
                  <a:tcPr marL="91432" marR="91432" marT="45722" marB="45722">
                    <a:solidFill>
                      <a:srgbClr val="E6E6E6"/>
                    </a:solidFill>
                  </a:tcPr>
                </a:tc>
                <a:tc>
                  <a:txBody>
                    <a:bodyPr/>
                    <a:lstStyle/>
                    <a:p>
                      <a:r>
                        <a:rPr lang="en-US" altLang="zh-CN" sz="1800" dirty="0">
                          <a:solidFill>
                            <a:srgbClr val="FF0000"/>
                          </a:solidFill>
                        </a:rPr>
                        <a:t>3</a:t>
                      </a:r>
                      <a:endParaRPr lang="zh-CN" altLang="en-US" sz="1800" dirty="0">
                        <a:solidFill>
                          <a:srgbClr val="FF0000"/>
                        </a:solidFill>
                      </a:endParaRPr>
                    </a:p>
                  </a:txBody>
                  <a:tcPr marL="91432" marR="91432" marT="45722" marB="45722">
                    <a:solidFill>
                      <a:srgbClr val="E6E6E6"/>
                    </a:solidFill>
                  </a:tcPr>
                </a:tc>
                <a:tc>
                  <a:txBody>
                    <a:bodyPr/>
                    <a:lstStyle/>
                    <a:p>
                      <a:r>
                        <a:rPr lang="en-US" altLang="zh-CN" sz="1800" dirty="0">
                          <a:solidFill>
                            <a:srgbClr val="FF0000"/>
                          </a:solidFill>
                        </a:rPr>
                        <a:t>2</a:t>
                      </a:r>
                      <a:endParaRPr lang="zh-CN" altLang="en-US" sz="1800" dirty="0">
                        <a:solidFill>
                          <a:srgbClr val="FF0000"/>
                        </a:solidFill>
                      </a:endParaRPr>
                    </a:p>
                  </a:txBody>
                  <a:tcPr marL="91432" marR="91432" marT="45722" marB="45722">
                    <a:solidFill>
                      <a:srgbClr val="E6E6E6"/>
                    </a:solidFill>
                  </a:tcPr>
                </a:tc>
                <a:tc>
                  <a:txBody>
                    <a:bodyPr/>
                    <a:lstStyle/>
                    <a:p>
                      <a:r>
                        <a:rPr lang="en-US" altLang="zh-CN" sz="1800" dirty="0">
                          <a:solidFill>
                            <a:srgbClr val="FF0000"/>
                          </a:solidFill>
                        </a:rPr>
                        <a:t>1</a:t>
                      </a:r>
                      <a:endParaRPr lang="zh-CN" altLang="en-US" sz="1800" dirty="0">
                        <a:solidFill>
                          <a:srgbClr val="FF0000"/>
                        </a:solidFill>
                      </a:endParaRPr>
                    </a:p>
                  </a:txBody>
                  <a:tcPr marL="91432" marR="91432" marT="45722" marB="45722">
                    <a:solidFill>
                      <a:srgbClr val="E6E6E6"/>
                    </a:solidFill>
                  </a:tcPr>
                </a:tc>
                <a:tc>
                  <a:txBody>
                    <a:bodyPr/>
                    <a:lstStyle/>
                    <a:p>
                      <a:r>
                        <a:rPr lang="en-US" altLang="zh-CN" sz="1800" dirty="0">
                          <a:solidFill>
                            <a:srgbClr val="FF0000"/>
                          </a:solidFill>
                        </a:rPr>
                        <a:t>0</a:t>
                      </a:r>
                      <a:endParaRPr lang="zh-CN" altLang="en-US" sz="1800" dirty="0">
                        <a:solidFill>
                          <a:srgbClr val="FF0000"/>
                        </a:solidFill>
                      </a:endParaRPr>
                    </a:p>
                  </a:txBody>
                  <a:tcPr marL="91432" marR="91432" marT="45722" marB="45722">
                    <a:solidFill>
                      <a:srgbClr val="E6E6E6"/>
                    </a:solidFill>
                  </a:tcPr>
                </a:tc>
                <a:tc>
                  <a:txBody>
                    <a:bodyPr/>
                    <a:lstStyle/>
                    <a:p>
                      <a:r>
                        <a:rPr lang="en-US" altLang="zh-CN" sz="1800" dirty="0">
                          <a:solidFill>
                            <a:srgbClr val="FF0000"/>
                          </a:solidFill>
                        </a:rPr>
                        <a:t>3</a:t>
                      </a:r>
                      <a:endParaRPr lang="zh-CN" altLang="en-US" sz="1800" dirty="0">
                        <a:solidFill>
                          <a:srgbClr val="FF0000"/>
                        </a:solidFill>
                      </a:endParaRPr>
                    </a:p>
                  </a:txBody>
                  <a:tcPr marL="91432" marR="91432" marT="45722" marB="45722">
                    <a:solidFill>
                      <a:srgbClr val="E6E6E6"/>
                    </a:solidFill>
                  </a:tcPr>
                </a:tc>
                <a:tc>
                  <a:txBody>
                    <a:bodyPr/>
                    <a:lstStyle/>
                    <a:p>
                      <a:r>
                        <a:rPr lang="en-US" altLang="zh-CN" sz="1800" dirty="0">
                          <a:solidFill>
                            <a:srgbClr val="FF0000"/>
                          </a:solidFill>
                        </a:rPr>
                        <a:t>2</a:t>
                      </a:r>
                      <a:endParaRPr lang="zh-CN" altLang="en-US" sz="1800" dirty="0">
                        <a:solidFill>
                          <a:srgbClr val="FF0000"/>
                        </a:solidFill>
                      </a:endParaRPr>
                    </a:p>
                  </a:txBody>
                  <a:tcPr marL="91432" marR="91432" marT="45722" marB="45722">
                    <a:solidFill>
                      <a:srgbClr val="E6E6E6"/>
                    </a:solidFill>
                  </a:tcPr>
                </a:tc>
                <a:tc>
                  <a:txBody>
                    <a:bodyPr/>
                    <a:lstStyle/>
                    <a:p>
                      <a:r>
                        <a:rPr lang="en-US" altLang="zh-CN" sz="1800" dirty="0">
                          <a:solidFill>
                            <a:srgbClr val="FF0000"/>
                          </a:solidFill>
                        </a:rPr>
                        <a:t>4</a:t>
                      </a:r>
                      <a:endParaRPr lang="zh-CN" altLang="en-US" sz="1800" dirty="0">
                        <a:solidFill>
                          <a:srgbClr val="FF0000"/>
                        </a:solidFill>
                      </a:endParaRPr>
                    </a:p>
                  </a:txBody>
                  <a:tcPr marL="91432" marR="91432" marT="45722" marB="45722">
                    <a:solidFill>
                      <a:srgbClr val="E6E6E6"/>
                    </a:solidFill>
                  </a:tcPr>
                </a:tc>
                <a:tc>
                  <a:txBody>
                    <a:bodyPr/>
                    <a:lstStyle/>
                    <a:p>
                      <a:r>
                        <a:rPr lang="en-US" altLang="zh-CN" sz="1800" dirty="0">
                          <a:solidFill>
                            <a:srgbClr val="FF0000"/>
                          </a:solidFill>
                        </a:rPr>
                        <a:t>3</a:t>
                      </a:r>
                      <a:endParaRPr lang="zh-CN" altLang="en-US" sz="1800" dirty="0">
                        <a:solidFill>
                          <a:srgbClr val="FF0000"/>
                        </a:solidFill>
                      </a:endParaRPr>
                    </a:p>
                  </a:txBody>
                  <a:tcPr marL="91432" marR="91432" marT="45722" marB="45722">
                    <a:solidFill>
                      <a:srgbClr val="E6E6E6"/>
                    </a:solidFill>
                  </a:tcPr>
                </a:tc>
                <a:tc>
                  <a:txBody>
                    <a:bodyPr/>
                    <a:lstStyle/>
                    <a:p>
                      <a:r>
                        <a:rPr lang="en-US" altLang="zh-CN" sz="1800" dirty="0">
                          <a:solidFill>
                            <a:srgbClr val="FF0000"/>
                          </a:solidFill>
                        </a:rPr>
                        <a:t>2</a:t>
                      </a:r>
                      <a:endParaRPr lang="zh-CN" altLang="en-US" sz="1800" dirty="0">
                        <a:solidFill>
                          <a:srgbClr val="FF0000"/>
                        </a:solidFill>
                      </a:endParaRPr>
                    </a:p>
                  </a:txBody>
                  <a:tcPr marL="91432" marR="91432" marT="45722" marB="45722">
                    <a:solidFill>
                      <a:srgbClr val="E6E6E6"/>
                    </a:solidFill>
                  </a:tcPr>
                </a:tc>
                <a:tc>
                  <a:txBody>
                    <a:bodyPr/>
                    <a:lstStyle/>
                    <a:p>
                      <a:r>
                        <a:rPr lang="en-US" altLang="zh-CN" sz="1800" dirty="0">
                          <a:solidFill>
                            <a:srgbClr val="FF0000"/>
                          </a:solidFill>
                        </a:rPr>
                        <a:t>1</a:t>
                      </a:r>
                      <a:endParaRPr lang="zh-CN" altLang="en-US" sz="1800" dirty="0">
                        <a:solidFill>
                          <a:srgbClr val="FF0000"/>
                        </a:solidFill>
                      </a:endParaRPr>
                    </a:p>
                  </a:txBody>
                  <a:tcPr marL="91432" marR="91432" marT="45722" marB="45722">
                    <a:solidFill>
                      <a:srgbClr val="E6E6E6"/>
                    </a:solidFill>
                  </a:tcPr>
                </a:tc>
                <a:tc>
                  <a:txBody>
                    <a:bodyPr/>
                    <a:lstStyle/>
                    <a:p>
                      <a:r>
                        <a:rPr lang="en-US" altLang="zh-CN" sz="1800" dirty="0">
                          <a:solidFill>
                            <a:srgbClr val="FF0000"/>
                          </a:solidFill>
                        </a:rPr>
                        <a:t>0</a:t>
                      </a:r>
                      <a:endParaRPr lang="zh-CN" altLang="en-US" sz="1800" dirty="0">
                        <a:solidFill>
                          <a:srgbClr val="FF0000"/>
                        </a:solidFill>
                      </a:endParaRPr>
                    </a:p>
                  </a:txBody>
                  <a:tcPr marL="91432" marR="91432" marT="45722" marB="45722">
                    <a:solidFill>
                      <a:srgbClr val="E6E6E6"/>
                    </a:solidFill>
                  </a:tcPr>
                </a:tc>
                <a:tc>
                  <a:txBody>
                    <a:bodyPr/>
                    <a:lstStyle/>
                    <a:p>
                      <a:r>
                        <a:rPr lang="en-US" altLang="zh-CN" sz="1800" dirty="0">
                          <a:solidFill>
                            <a:srgbClr val="FF0000"/>
                          </a:solidFill>
                        </a:rPr>
                        <a:t>4</a:t>
                      </a:r>
                      <a:endParaRPr lang="zh-CN" altLang="en-US" sz="1800" dirty="0">
                        <a:solidFill>
                          <a:srgbClr val="FF0000"/>
                        </a:solidFill>
                      </a:endParaRPr>
                    </a:p>
                  </a:txBody>
                  <a:tcPr marL="91432" marR="91432" marT="45722" marB="45722">
                    <a:solidFill>
                      <a:srgbClr val="E6E6E6"/>
                    </a:solidFill>
                  </a:tcPr>
                </a:tc>
              </a:tr>
              <a:tr h="444444">
                <a:tc>
                  <a:txBody>
                    <a:bodyPr/>
                    <a:lstStyle/>
                    <a:p>
                      <a:r>
                        <a:rPr lang="zh-CN" altLang="en-US" sz="1800" b="1" dirty="0">
                          <a:solidFill>
                            <a:srgbClr val="00B050"/>
                          </a:solidFill>
                        </a:rPr>
                        <a:t>物理块</a:t>
                      </a:r>
                      <a:r>
                        <a:rPr lang="en-US" altLang="zh-CN" sz="1800" b="1" dirty="0">
                          <a:solidFill>
                            <a:srgbClr val="00B050"/>
                          </a:solidFill>
                        </a:rPr>
                        <a:t>1</a:t>
                      </a:r>
                      <a:endParaRPr lang="zh-CN" altLang="en-US" sz="1800" b="1" dirty="0">
                        <a:solidFill>
                          <a:srgbClr val="00B050"/>
                        </a:solidFill>
                      </a:endParaRPr>
                    </a:p>
                  </a:txBody>
                  <a:tcPr marL="91432" marR="91432" marT="45722" marB="45722">
                    <a:solidFill>
                      <a:srgbClr val="E6E6E6"/>
                    </a:solidFill>
                  </a:tcPr>
                </a:tc>
                <a:tc>
                  <a:txBody>
                    <a:bodyPr/>
                    <a:lstStyle/>
                    <a:p>
                      <a:r>
                        <a:rPr lang="en-US" altLang="zh-CN" sz="1800" b="1" dirty="0"/>
                        <a:t>3</a:t>
                      </a:r>
                      <a:endParaRPr lang="zh-CN" altLang="en-US" sz="1800" b="1" dirty="0"/>
                    </a:p>
                  </a:txBody>
                  <a:tcPr marL="91432" marR="91432" marT="45722" marB="45722">
                    <a:solidFill>
                      <a:srgbClr val="E6E6E6"/>
                    </a:solidFill>
                  </a:tcPr>
                </a:tc>
                <a:tc>
                  <a:txBody>
                    <a:bodyPr/>
                    <a:lstStyle/>
                    <a:p>
                      <a:r>
                        <a:rPr lang="en-US" altLang="zh-CN" sz="1800" b="1" dirty="0"/>
                        <a:t>3</a:t>
                      </a:r>
                      <a:endParaRPr lang="zh-CN" altLang="en-US" sz="1800" b="1" dirty="0"/>
                    </a:p>
                  </a:txBody>
                  <a:tcPr marL="91432" marR="91432" marT="45722" marB="45722">
                    <a:solidFill>
                      <a:srgbClr val="E6E6E6"/>
                    </a:solidFill>
                  </a:tcPr>
                </a:tc>
                <a:tc>
                  <a:txBody>
                    <a:bodyPr/>
                    <a:lstStyle/>
                    <a:p>
                      <a:r>
                        <a:rPr lang="en-US" altLang="zh-CN" sz="1800" b="1" dirty="0"/>
                        <a:t>3</a:t>
                      </a:r>
                      <a:endParaRPr lang="zh-CN" altLang="en-US" sz="1800" b="1" dirty="0"/>
                    </a:p>
                  </a:txBody>
                  <a:tcPr marL="91432" marR="91432" marT="45722" marB="45722">
                    <a:solidFill>
                      <a:srgbClr val="E6E6E6"/>
                    </a:solidFill>
                  </a:tcPr>
                </a:tc>
                <a:tc>
                  <a:txBody>
                    <a:bodyPr/>
                    <a:lstStyle/>
                    <a:p>
                      <a:r>
                        <a:rPr lang="en-US" altLang="zh-CN" sz="1800" b="1" dirty="0"/>
                        <a:t>0</a:t>
                      </a:r>
                      <a:endParaRPr lang="zh-CN" altLang="en-US" sz="1800" b="1" dirty="0"/>
                    </a:p>
                  </a:txBody>
                  <a:tcPr marL="91432" marR="91432" marT="45722" marB="45722">
                    <a:solidFill>
                      <a:srgbClr val="E6E6E6"/>
                    </a:solidFill>
                  </a:tcPr>
                </a:tc>
                <a:tc>
                  <a:txBody>
                    <a:bodyPr/>
                    <a:lstStyle/>
                    <a:p>
                      <a:r>
                        <a:rPr lang="en-US" altLang="zh-CN" sz="1800" b="1" dirty="0"/>
                        <a:t>0</a:t>
                      </a:r>
                      <a:endParaRPr lang="zh-CN" altLang="en-US" sz="1800" b="1" dirty="0"/>
                    </a:p>
                  </a:txBody>
                  <a:tcPr marL="91432" marR="91432" marT="45722" marB="45722">
                    <a:solidFill>
                      <a:srgbClr val="E6E6E6"/>
                    </a:solidFill>
                  </a:tcPr>
                </a:tc>
                <a:tc>
                  <a:txBody>
                    <a:bodyPr/>
                    <a:lstStyle/>
                    <a:p>
                      <a:r>
                        <a:rPr lang="en-US" altLang="zh-CN" sz="1800" b="1" dirty="0"/>
                        <a:t>0</a:t>
                      </a:r>
                      <a:endParaRPr lang="zh-CN" altLang="en-US" sz="1800" b="1" dirty="0"/>
                    </a:p>
                  </a:txBody>
                  <a:tcPr marL="91432" marR="91432" marT="45722" marB="45722">
                    <a:solidFill>
                      <a:srgbClr val="E6E6E6"/>
                    </a:solidFill>
                  </a:tcPr>
                </a:tc>
                <a:tc>
                  <a:txBody>
                    <a:bodyPr/>
                    <a:lstStyle/>
                    <a:p>
                      <a:r>
                        <a:rPr lang="en-US" altLang="zh-CN" sz="1800" b="1" dirty="0"/>
                        <a:t>4</a:t>
                      </a:r>
                      <a:endParaRPr lang="zh-CN" altLang="en-US" sz="1800" b="1" dirty="0"/>
                    </a:p>
                  </a:txBody>
                  <a:tcPr marL="91432" marR="91432" marT="45722" marB="45722">
                    <a:solidFill>
                      <a:srgbClr val="E6E6E6"/>
                    </a:solidFill>
                  </a:tcPr>
                </a:tc>
                <a:tc>
                  <a:txBody>
                    <a:bodyPr/>
                    <a:lstStyle/>
                    <a:p>
                      <a:endParaRPr lang="zh-CN" altLang="en-US" sz="1800" b="1" dirty="0"/>
                    </a:p>
                  </a:txBody>
                  <a:tcPr marL="91432" marR="91432" marT="45722" marB="45722">
                    <a:solidFill>
                      <a:srgbClr val="E6E6E6"/>
                    </a:solidFill>
                  </a:tcPr>
                </a:tc>
                <a:tc>
                  <a:txBody>
                    <a:bodyPr/>
                    <a:lstStyle/>
                    <a:p>
                      <a:endParaRPr lang="zh-CN" altLang="en-US" sz="1800" b="1" dirty="0"/>
                    </a:p>
                  </a:txBody>
                  <a:tcPr marL="91432" marR="91432" marT="45722" marB="45722">
                    <a:solidFill>
                      <a:srgbClr val="E6E6E6"/>
                    </a:solidFill>
                  </a:tcPr>
                </a:tc>
                <a:tc>
                  <a:txBody>
                    <a:bodyPr/>
                    <a:lstStyle/>
                    <a:p>
                      <a:r>
                        <a:rPr lang="en-US" altLang="zh-CN" sz="1800" b="1" dirty="0"/>
                        <a:t>4</a:t>
                      </a:r>
                      <a:endParaRPr lang="zh-CN" altLang="en-US" sz="1800" b="1" dirty="0"/>
                    </a:p>
                  </a:txBody>
                  <a:tcPr marL="91432" marR="91432" marT="45722" marB="45722">
                    <a:solidFill>
                      <a:srgbClr val="E6E6E6"/>
                    </a:solidFill>
                  </a:tcPr>
                </a:tc>
                <a:tc>
                  <a:txBody>
                    <a:bodyPr/>
                    <a:lstStyle/>
                    <a:p>
                      <a:r>
                        <a:rPr lang="en-US" altLang="zh-CN" sz="1800" b="1" dirty="0"/>
                        <a:t>4</a:t>
                      </a:r>
                      <a:endParaRPr lang="zh-CN" altLang="en-US" sz="1800" b="1" dirty="0"/>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r>
              <a:tr h="444444">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solidFill>
                            <a:srgbClr val="00B050"/>
                          </a:solidFill>
                        </a:rPr>
                        <a:t>物理块</a:t>
                      </a:r>
                      <a:r>
                        <a:rPr lang="en-US" altLang="zh-CN" sz="1800" b="1" dirty="0">
                          <a:solidFill>
                            <a:srgbClr val="00B050"/>
                          </a:solidFill>
                        </a:rPr>
                        <a:t>2</a:t>
                      </a:r>
                      <a:endParaRPr lang="zh-CN" altLang="en-US" sz="1800" b="1" dirty="0">
                        <a:solidFill>
                          <a:srgbClr val="00B050"/>
                        </a:solidFill>
                      </a:endParaRPr>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r>
                        <a:rPr lang="en-US" altLang="zh-CN" sz="1800" b="1" dirty="0"/>
                        <a:t>2</a:t>
                      </a:r>
                      <a:endParaRPr lang="zh-CN" altLang="en-US" sz="1800" b="1" dirty="0"/>
                    </a:p>
                  </a:txBody>
                  <a:tcPr marL="91432" marR="91432" marT="45722" marB="45722">
                    <a:solidFill>
                      <a:srgbClr val="E6E6E6"/>
                    </a:solidFill>
                  </a:tcPr>
                </a:tc>
                <a:tc>
                  <a:txBody>
                    <a:bodyPr/>
                    <a:lstStyle/>
                    <a:p>
                      <a:r>
                        <a:rPr lang="en-US" altLang="zh-CN" sz="1800" b="1" dirty="0"/>
                        <a:t>2</a:t>
                      </a:r>
                      <a:endParaRPr lang="zh-CN" altLang="en-US" sz="1800" b="1" dirty="0"/>
                    </a:p>
                  </a:txBody>
                  <a:tcPr marL="91432" marR="91432" marT="45722" marB="45722">
                    <a:solidFill>
                      <a:srgbClr val="E6E6E6"/>
                    </a:solidFill>
                  </a:tcPr>
                </a:tc>
                <a:tc>
                  <a:txBody>
                    <a:bodyPr/>
                    <a:lstStyle/>
                    <a:p>
                      <a:r>
                        <a:rPr lang="en-US" altLang="zh-CN" sz="1800" b="1" dirty="0"/>
                        <a:t>2</a:t>
                      </a:r>
                      <a:endParaRPr lang="zh-CN" altLang="en-US" sz="1800" b="1" dirty="0"/>
                    </a:p>
                  </a:txBody>
                  <a:tcPr marL="91432" marR="91432" marT="45722" marB="45722">
                    <a:solidFill>
                      <a:srgbClr val="E6E6E6"/>
                    </a:solidFill>
                  </a:tcPr>
                </a:tc>
                <a:tc>
                  <a:txBody>
                    <a:bodyPr/>
                    <a:lstStyle/>
                    <a:p>
                      <a:r>
                        <a:rPr lang="en-US" altLang="zh-CN" sz="1800" b="1" dirty="0"/>
                        <a:t>3</a:t>
                      </a:r>
                      <a:endParaRPr lang="zh-CN" altLang="en-US" sz="1800" b="1" dirty="0"/>
                    </a:p>
                  </a:txBody>
                  <a:tcPr marL="91432" marR="91432" marT="45722" marB="45722">
                    <a:solidFill>
                      <a:srgbClr val="E6E6E6"/>
                    </a:solidFill>
                  </a:tcPr>
                </a:tc>
                <a:tc>
                  <a:txBody>
                    <a:bodyPr/>
                    <a:lstStyle/>
                    <a:p>
                      <a:r>
                        <a:rPr lang="en-US" altLang="zh-CN" sz="1800" b="1" dirty="0"/>
                        <a:t>3</a:t>
                      </a:r>
                      <a:endParaRPr lang="zh-CN" altLang="en-US" sz="1800" b="1" dirty="0"/>
                    </a:p>
                  </a:txBody>
                  <a:tcPr marL="91432" marR="91432" marT="45722" marB="45722">
                    <a:solidFill>
                      <a:srgbClr val="E6E6E6"/>
                    </a:solidFill>
                  </a:tcPr>
                </a:tc>
                <a:tc>
                  <a:txBody>
                    <a:bodyPr/>
                    <a:lstStyle/>
                    <a:p>
                      <a:r>
                        <a:rPr lang="en-US" altLang="zh-CN" sz="1800" b="1" dirty="0"/>
                        <a:t>3</a:t>
                      </a:r>
                      <a:endParaRPr lang="zh-CN" altLang="en-US" sz="1800" b="1" dirty="0"/>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r>
                        <a:rPr lang="en-US" altLang="zh-CN" sz="1800" b="1" dirty="0"/>
                        <a:t>1</a:t>
                      </a:r>
                      <a:endParaRPr lang="zh-CN" altLang="en-US" sz="1800" b="1" dirty="0"/>
                    </a:p>
                  </a:txBody>
                  <a:tcPr marL="91432" marR="91432" marT="45722" marB="45722">
                    <a:solidFill>
                      <a:srgbClr val="E6E6E6"/>
                    </a:solidFill>
                  </a:tcPr>
                </a:tc>
                <a:tc>
                  <a:txBody>
                    <a:bodyPr/>
                    <a:lstStyle/>
                    <a:p>
                      <a:r>
                        <a:rPr lang="en-US" altLang="zh-CN" sz="1800" b="1" dirty="0"/>
                        <a:t>1</a:t>
                      </a:r>
                      <a:endParaRPr lang="zh-CN" altLang="en-US" sz="1800" b="1" dirty="0"/>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r>
              <a:tr h="502943">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solidFill>
                            <a:srgbClr val="00B050"/>
                          </a:solidFill>
                        </a:rPr>
                        <a:t>物理块</a:t>
                      </a:r>
                      <a:r>
                        <a:rPr lang="en-US" altLang="zh-CN" sz="1800" b="1" dirty="0">
                          <a:solidFill>
                            <a:srgbClr val="00B050"/>
                          </a:solidFill>
                        </a:rPr>
                        <a:t>3</a:t>
                      </a:r>
                      <a:endParaRPr lang="zh-CN" altLang="en-US" sz="1800" b="1" dirty="0">
                        <a:solidFill>
                          <a:srgbClr val="00B050"/>
                        </a:solidFill>
                      </a:endParaRPr>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endParaRPr lang="zh-CN" altLang="en-US" sz="1800" b="1" dirty="0"/>
                    </a:p>
                  </a:txBody>
                  <a:tcPr marL="91432" marR="91432" marT="45722" marB="45722">
                    <a:solidFill>
                      <a:srgbClr val="E6E6E6"/>
                    </a:solidFill>
                  </a:tcPr>
                </a:tc>
                <a:tc>
                  <a:txBody>
                    <a:bodyPr/>
                    <a:lstStyle/>
                    <a:p>
                      <a:r>
                        <a:rPr lang="en-US" altLang="zh-CN" sz="1800" b="1" dirty="0"/>
                        <a:t>1</a:t>
                      </a:r>
                      <a:endParaRPr lang="zh-CN" altLang="en-US" sz="1800" b="1" dirty="0"/>
                    </a:p>
                  </a:txBody>
                  <a:tcPr marL="91432" marR="91432" marT="45722" marB="45722">
                    <a:solidFill>
                      <a:srgbClr val="E6E6E6"/>
                    </a:solidFill>
                  </a:tcPr>
                </a:tc>
                <a:tc>
                  <a:txBody>
                    <a:bodyPr/>
                    <a:lstStyle/>
                    <a:p>
                      <a:r>
                        <a:rPr lang="en-US" altLang="zh-CN" sz="1800" b="1" dirty="0"/>
                        <a:t>1</a:t>
                      </a:r>
                      <a:endParaRPr lang="zh-CN" altLang="en-US" sz="1800" b="1" dirty="0"/>
                    </a:p>
                  </a:txBody>
                  <a:tcPr marL="91432" marR="91432" marT="45722" marB="45722">
                    <a:solidFill>
                      <a:srgbClr val="E6E6E6"/>
                    </a:solidFill>
                  </a:tcPr>
                </a:tc>
                <a:tc>
                  <a:txBody>
                    <a:bodyPr/>
                    <a:lstStyle/>
                    <a:p>
                      <a:r>
                        <a:rPr lang="en-US" altLang="zh-CN" sz="1800" b="1" dirty="0"/>
                        <a:t>1</a:t>
                      </a:r>
                      <a:endParaRPr lang="zh-CN" altLang="en-US" sz="1800" b="1" dirty="0"/>
                    </a:p>
                  </a:txBody>
                  <a:tcPr marL="91432" marR="91432" marT="45722" marB="45722">
                    <a:solidFill>
                      <a:srgbClr val="E6E6E6"/>
                    </a:solidFill>
                  </a:tcPr>
                </a:tc>
                <a:tc>
                  <a:txBody>
                    <a:bodyPr/>
                    <a:lstStyle/>
                    <a:p>
                      <a:r>
                        <a:rPr lang="en-US" altLang="zh-CN" sz="1800" b="1" dirty="0"/>
                        <a:t>2</a:t>
                      </a:r>
                      <a:endParaRPr lang="zh-CN" altLang="en-US" sz="1800" b="1" dirty="0"/>
                    </a:p>
                  </a:txBody>
                  <a:tcPr marL="91432" marR="91432" marT="45722" marB="45722">
                    <a:solidFill>
                      <a:srgbClr val="E6E6E6"/>
                    </a:solidFill>
                  </a:tcPr>
                </a:tc>
                <a:tc>
                  <a:txBody>
                    <a:bodyPr/>
                    <a:lstStyle/>
                    <a:p>
                      <a:r>
                        <a:rPr lang="en-US" altLang="zh-CN" sz="1800" b="1" dirty="0"/>
                        <a:t>2</a:t>
                      </a:r>
                      <a:endParaRPr lang="zh-CN" altLang="en-US" sz="1800" b="1" dirty="0"/>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r>
                        <a:rPr lang="en-US" altLang="zh-CN" sz="1800" b="1" dirty="0"/>
                        <a:t>2</a:t>
                      </a:r>
                      <a:endParaRPr lang="zh-CN" altLang="en-US" sz="1800" b="1" dirty="0"/>
                    </a:p>
                  </a:txBody>
                  <a:tcPr marL="91432" marR="91432" marT="45722" marB="45722">
                    <a:solidFill>
                      <a:srgbClr val="E6E6E6"/>
                    </a:solidFill>
                  </a:tcPr>
                </a:tc>
                <a:tc>
                  <a:txBody>
                    <a:bodyPr/>
                    <a:lstStyle/>
                    <a:p>
                      <a:r>
                        <a:rPr lang="en-US" altLang="zh-CN" sz="1800" b="1" dirty="0"/>
                        <a:t>0</a:t>
                      </a:r>
                      <a:endParaRPr lang="zh-CN" altLang="en-US" sz="1800" b="1" dirty="0"/>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r>
              <a:tr h="640105">
                <a:tc>
                  <a:txBody>
                    <a:bodyPr/>
                    <a:lstStyle/>
                    <a:p>
                      <a:r>
                        <a:rPr lang="zh-CN" altLang="en-US" sz="1800" b="1" dirty="0"/>
                        <a:t>缺页否？</a:t>
                      </a:r>
                      <a:endParaRPr lang="zh-CN" altLang="en-US" sz="1800" b="1" dirty="0"/>
                    </a:p>
                  </a:txBody>
                  <a:tcPr marL="91432" marR="91432" marT="45722" marB="45722">
                    <a:solidFill>
                      <a:srgbClr val="E6E6E6"/>
                    </a:solidFill>
                  </a:tcPr>
                </a:tc>
                <a:tc>
                  <a:txBody>
                    <a:bodyPr/>
                    <a:lstStyle/>
                    <a:p>
                      <a:r>
                        <a:rPr lang="zh-CN" altLang="en-US" sz="1800" b="1" dirty="0"/>
                        <a:t>√</a:t>
                      </a:r>
                      <a:endParaRPr lang="zh-CN" altLang="en-US" sz="1800" b="1" dirty="0"/>
                    </a:p>
                  </a:txBody>
                  <a:tcPr marL="91432" marR="91432" marT="45722" marB="45722">
                    <a:solidFill>
                      <a:srgbClr val="E6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t>√</a:t>
                      </a:r>
                      <a:endParaRPr lang="zh-CN" altLang="en-US" sz="1800" b="1" dirty="0"/>
                    </a:p>
                    <a:p>
                      <a:endParaRPr lang="zh-CN" altLang="en-US" sz="1800" b="1" dirty="0"/>
                    </a:p>
                  </a:txBody>
                  <a:tcPr marL="91432" marR="91432" marT="45722" marB="45722">
                    <a:solidFill>
                      <a:srgbClr val="E6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t>√</a:t>
                      </a:r>
                      <a:endParaRPr lang="zh-CN" altLang="en-US" sz="1800" b="1" dirty="0"/>
                    </a:p>
                    <a:p>
                      <a:endParaRPr lang="zh-CN" altLang="en-US" sz="1800" b="1" dirty="0"/>
                    </a:p>
                  </a:txBody>
                  <a:tcPr marL="91432" marR="91432" marT="45722" marB="45722">
                    <a:solidFill>
                      <a:srgbClr val="E6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t>√</a:t>
                      </a:r>
                      <a:endParaRPr lang="zh-CN" altLang="en-US" sz="1800" b="1" dirty="0"/>
                    </a:p>
                    <a:p>
                      <a:endParaRPr lang="zh-CN" altLang="en-US" sz="1800" b="1" dirty="0"/>
                    </a:p>
                  </a:txBody>
                  <a:tcPr marL="91432" marR="91432" marT="45722" marB="45722">
                    <a:solidFill>
                      <a:srgbClr val="E6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t>√</a:t>
                      </a:r>
                      <a:endParaRPr lang="zh-CN" altLang="en-US" sz="1800" b="1" dirty="0"/>
                    </a:p>
                    <a:p>
                      <a:endParaRPr lang="zh-CN" altLang="en-US" sz="1800" b="1" dirty="0"/>
                    </a:p>
                  </a:txBody>
                  <a:tcPr marL="91432" marR="91432" marT="45722" marB="45722">
                    <a:solidFill>
                      <a:srgbClr val="E6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t>√</a:t>
                      </a:r>
                      <a:endParaRPr lang="zh-CN" altLang="en-US" sz="1800" b="1" dirty="0"/>
                    </a:p>
                    <a:p>
                      <a:endParaRPr lang="zh-CN" altLang="en-US" sz="1800" b="1" dirty="0"/>
                    </a:p>
                  </a:txBody>
                  <a:tcPr marL="91432" marR="91432" marT="45722" marB="45722">
                    <a:solidFill>
                      <a:srgbClr val="E6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t>√</a:t>
                      </a:r>
                      <a:endParaRPr lang="zh-CN" altLang="en-US" sz="1800" b="1" dirty="0"/>
                    </a:p>
                    <a:p>
                      <a:endParaRPr lang="zh-CN" altLang="en-US" sz="1800" b="1" dirty="0"/>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t>√</a:t>
                      </a:r>
                      <a:endParaRPr lang="zh-CN" altLang="en-US" sz="1800" b="1" dirty="0"/>
                    </a:p>
                    <a:p>
                      <a:endParaRPr lang="zh-CN" altLang="en-US" sz="1800" b="1" dirty="0"/>
                    </a:p>
                  </a:txBody>
                  <a:tcPr marL="91432" marR="91432" marT="45722" marB="45722">
                    <a:solidFill>
                      <a:srgbClr val="E6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t>√</a:t>
                      </a:r>
                      <a:endParaRPr lang="zh-CN" altLang="en-US" sz="1800" b="1" dirty="0"/>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r>
              <a:tr h="444444">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solidFill>
                            <a:srgbClr val="00B050"/>
                          </a:solidFill>
                        </a:rPr>
                        <a:t>物理块</a:t>
                      </a:r>
                      <a:r>
                        <a:rPr lang="en-US" altLang="zh-CN" sz="1800" b="1" dirty="0">
                          <a:solidFill>
                            <a:srgbClr val="00B050"/>
                          </a:solidFill>
                        </a:rPr>
                        <a:t>1</a:t>
                      </a:r>
                      <a:r>
                        <a:rPr lang="zh-CN" altLang="en-US" sz="1800" b="1" dirty="0">
                          <a:solidFill>
                            <a:srgbClr val="00B050"/>
                          </a:solidFill>
                        </a:rPr>
                        <a:t>*</a:t>
                      </a:r>
                      <a:endParaRPr lang="zh-CN" altLang="en-US" sz="1800" b="1" dirty="0">
                        <a:solidFill>
                          <a:srgbClr val="00B050"/>
                        </a:solidFill>
                      </a:endParaRPr>
                    </a:p>
                  </a:txBody>
                  <a:tcPr marL="91432" marR="91432" marT="45722" marB="45722">
                    <a:solidFill>
                      <a:srgbClr val="E6E6E6"/>
                    </a:solidFill>
                  </a:tcPr>
                </a:tc>
                <a:tc>
                  <a:txBody>
                    <a:bodyPr/>
                    <a:lstStyle/>
                    <a:p>
                      <a:r>
                        <a:rPr lang="en-US" altLang="zh-CN" sz="1800" b="1" dirty="0"/>
                        <a:t>3</a:t>
                      </a:r>
                      <a:endParaRPr lang="zh-CN" altLang="en-US" sz="1800" b="1" dirty="0"/>
                    </a:p>
                  </a:txBody>
                  <a:tcPr marL="91432" marR="91432" marT="45722" marB="45722">
                    <a:solidFill>
                      <a:srgbClr val="E6E6E6"/>
                    </a:solidFill>
                  </a:tcPr>
                </a:tc>
                <a:tc>
                  <a:txBody>
                    <a:bodyPr/>
                    <a:lstStyle/>
                    <a:p>
                      <a:r>
                        <a:rPr lang="en-US" altLang="zh-CN" sz="1800" b="1" dirty="0"/>
                        <a:t>3</a:t>
                      </a:r>
                      <a:endParaRPr lang="zh-CN" altLang="en-US" sz="1800" b="1" dirty="0"/>
                    </a:p>
                  </a:txBody>
                  <a:tcPr marL="91432" marR="91432" marT="45722" marB="45722">
                    <a:solidFill>
                      <a:srgbClr val="E6E6E6"/>
                    </a:solidFill>
                  </a:tcPr>
                </a:tc>
                <a:tc>
                  <a:txBody>
                    <a:bodyPr/>
                    <a:lstStyle/>
                    <a:p>
                      <a:r>
                        <a:rPr lang="en-US" altLang="zh-CN" sz="1800" b="1" dirty="0"/>
                        <a:t>3</a:t>
                      </a:r>
                      <a:endParaRPr lang="zh-CN" altLang="en-US" sz="1800" b="1" dirty="0"/>
                    </a:p>
                  </a:txBody>
                  <a:tcPr marL="91432" marR="91432" marT="45722" marB="45722">
                    <a:solidFill>
                      <a:srgbClr val="E6E6E6"/>
                    </a:solidFill>
                  </a:tcPr>
                </a:tc>
                <a:tc>
                  <a:txBody>
                    <a:bodyPr/>
                    <a:lstStyle/>
                    <a:p>
                      <a:r>
                        <a:rPr lang="en-US" altLang="zh-CN" sz="1800" b="1" dirty="0"/>
                        <a:t>3</a:t>
                      </a:r>
                      <a:endParaRPr lang="zh-CN" altLang="en-US" sz="1800" b="1" dirty="0"/>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r>
                        <a:rPr lang="en-US" altLang="zh-CN" sz="1800" b="1" dirty="0"/>
                        <a:t>4</a:t>
                      </a:r>
                      <a:endParaRPr lang="zh-CN" altLang="en-US" sz="1800" b="1" dirty="0"/>
                    </a:p>
                  </a:txBody>
                  <a:tcPr marL="91432" marR="91432" marT="45722" marB="45722">
                    <a:solidFill>
                      <a:srgbClr val="E6E6E6"/>
                    </a:solidFill>
                  </a:tcPr>
                </a:tc>
                <a:tc>
                  <a:txBody>
                    <a:bodyPr/>
                    <a:lstStyle/>
                    <a:p>
                      <a:r>
                        <a:rPr lang="en-US" altLang="zh-CN" sz="1800" b="1" dirty="0"/>
                        <a:t>4</a:t>
                      </a:r>
                      <a:endParaRPr lang="zh-CN" altLang="en-US" sz="1800" b="1" dirty="0"/>
                    </a:p>
                  </a:txBody>
                  <a:tcPr marL="91432" marR="91432" marT="45722" marB="45722">
                    <a:solidFill>
                      <a:srgbClr val="E6E6E6"/>
                    </a:solidFill>
                  </a:tcPr>
                </a:tc>
                <a:tc>
                  <a:txBody>
                    <a:bodyPr/>
                    <a:lstStyle/>
                    <a:p>
                      <a:r>
                        <a:rPr lang="en-US" altLang="zh-CN" sz="1800" b="1" dirty="0"/>
                        <a:t>4</a:t>
                      </a:r>
                      <a:endParaRPr lang="zh-CN" altLang="en-US" sz="1800" b="1" dirty="0"/>
                    </a:p>
                  </a:txBody>
                  <a:tcPr marL="91432" marR="91432" marT="45722" marB="45722">
                    <a:solidFill>
                      <a:srgbClr val="E6E6E6"/>
                    </a:solidFill>
                  </a:tcPr>
                </a:tc>
                <a:tc>
                  <a:txBody>
                    <a:bodyPr/>
                    <a:lstStyle/>
                    <a:p>
                      <a:r>
                        <a:rPr lang="en-US" altLang="zh-CN" sz="1800" b="1" dirty="0"/>
                        <a:t>4</a:t>
                      </a:r>
                      <a:endParaRPr lang="zh-CN" altLang="en-US" sz="1800" b="1" dirty="0"/>
                    </a:p>
                  </a:txBody>
                  <a:tcPr marL="91432" marR="91432" marT="45722" marB="45722">
                    <a:solidFill>
                      <a:srgbClr val="E6E6E6"/>
                    </a:solidFill>
                  </a:tcPr>
                </a:tc>
                <a:tc>
                  <a:txBody>
                    <a:bodyPr/>
                    <a:lstStyle/>
                    <a:p>
                      <a:r>
                        <a:rPr lang="en-US" altLang="zh-CN" sz="1800" b="1" dirty="0"/>
                        <a:t>0</a:t>
                      </a:r>
                      <a:endParaRPr lang="zh-CN" altLang="en-US" sz="1800" b="1" dirty="0"/>
                    </a:p>
                  </a:txBody>
                  <a:tcPr marL="91432" marR="91432" marT="45722" marB="45722">
                    <a:solidFill>
                      <a:srgbClr val="E6E6E6"/>
                    </a:solidFill>
                  </a:tcPr>
                </a:tc>
                <a:tc>
                  <a:txBody>
                    <a:bodyPr/>
                    <a:lstStyle/>
                    <a:p>
                      <a:r>
                        <a:rPr lang="en-US" altLang="zh-CN" sz="1800" b="1" dirty="0"/>
                        <a:t>0</a:t>
                      </a:r>
                      <a:endParaRPr lang="zh-CN" altLang="en-US" sz="1800" b="1" dirty="0"/>
                    </a:p>
                  </a:txBody>
                  <a:tcPr marL="91432" marR="91432" marT="45722" marB="45722">
                    <a:solidFill>
                      <a:srgbClr val="E6E6E6"/>
                    </a:solidFill>
                  </a:tcPr>
                </a:tc>
              </a:tr>
              <a:tr h="444444">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solidFill>
                            <a:srgbClr val="00B050"/>
                          </a:solidFill>
                        </a:rPr>
                        <a:t>物理块</a:t>
                      </a:r>
                      <a:r>
                        <a:rPr lang="en-US" altLang="zh-CN" sz="1800" b="1" dirty="0">
                          <a:solidFill>
                            <a:srgbClr val="00B050"/>
                          </a:solidFill>
                        </a:rPr>
                        <a:t>2</a:t>
                      </a:r>
                      <a:r>
                        <a:rPr lang="zh-CN" altLang="en-US" sz="1800" b="1" dirty="0">
                          <a:solidFill>
                            <a:srgbClr val="00B050"/>
                          </a:solidFill>
                        </a:rPr>
                        <a:t>*</a:t>
                      </a:r>
                      <a:endParaRPr lang="zh-CN" altLang="en-US" sz="1800" b="1" dirty="0">
                        <a:solidFill>
                          <a:srgbClr val="00B050"/>
                        </a:solidFill>
                      </a:endParaRPr>
                    </a:p>
                  </a:txBody>
                  <a:tcPr marL="91432" marR="91432" marT="45722" marB="45722">
                    <a:solidFill>
                      <a:srgbClr val="E6E6E6"/>
                    </a:solidFill>
                  </a:tcPr>
                </a:tc>
                <a:tc>
                  <a:txBody>
                    <a:bodyPr/>
                    <a:lstStyle/>
                    <a:p>
                      <a:endParaRPr lang="zh-CN" altLang="en-US" sz="1800" b="1" dirty="0"/>
                    </a:p>
                  </a:txBody>
                  <a:tcPr marL="91432" marR="91432" marT="45722" marB="45722">
                    <a:solidFill>
                      <a:srgbClr val="E6E6E6"/>
                    </a:solidFill>
                  </a:tcPr>
                </a:tc>
                <a:tc>
                  <a:txBody>
                    <a:bodyPr/>
                    <a:lstStyle/>
                    <a:p>
                      <a:r>
                        <a:rPr lang="en-US" altLang="zh-CN" sz="1800" b="1" dirty="0"/>
                        <a:t>2</a:t>
                      </a:r>
                      <a:endParaRPr lang="zh-CN" altLang="en-US" sz="1800" b="1" dirty="0"/>
                    </a:p>
                  </a:txBody>
                  <a:tcPr marL="91432" marR="91432" marT="45722" marB="45722">
                    <a:solidFill>
                      <a:srgbClr val="E6E6E6"/>
                    </a:solidFill>
                  </a:tcPr>
                </a:tc>
                <a:tc>
                  <a:txBody>
                    <a:bodyPr/>
                    <a:lstStyle/>
                    <a:p>
                      <a:r>
                        <a:rPr lang="en-US" altLang="zh-CN" sz="1800" b="1" dirty="0"/>
                        <a:t>2</a:t>
                      </a:r>
                      <a:endParaRPr lang="zh-CN" altLang="en-US" sz="1800" b="1" dirty="0"/>
                    </a:p>
                  </a:txBody>
                  <a:tcPr marL="91432" marR="91432" marT="45722" marB="45722">
                    <a:solidFill>
                      <a:srgbClr val="E6E6E6"/>
                    </a:solidFill>
                  </a:tcPr>
                </a:tc>
                <a:tc>
                  <a:txBody>
                    <a:bodyPr/>
                    <a:lstStyle/>
                    <a:p>
                      <a:r>
                        <a:rPr lang="en-US" altLang="zh-CN" sz="1800" b="1" dirty="0"/>
                        <a:t>2</a:t>
                      </a:r>
                      <a:endParaRPr lang="zh-CN" altLang="en-US" sz="1800" b="1" dirty="0"/>
                    </a:p>
                  </a:txBody>
                  <a:tcPr marL="91432" marR="91432" marT="45722" marB="45722">
                    <a:solidFill>
                      <a:srgbClr val="E6E6E6"/>
                    </a:solidFill>
                  </a:tcPr>
                </a:tc>
                <a:tc>
                  <a:txBody>
                    <a:bodyPr/>
                    <a:lstStyle/>
                    <a:p>
                      <a:endParaRPr lang="zh-CN" altLang="en-US" sz="1800" b="1" dirty="0"/>
                    </a:p>
                  </a:txBody>
                  <a:tcPr marL="91432" marR="91432" marT="45722" marB="45722">
                    <a:solidFill>
                      <a:srgbClr val="E6E6E6"/>
                    </a:solidFill>
                  </a:tcPr>
                </a:tc>
                <a:tc>
                  <a:txBody>
                    <a:bodyPr/>
                    <a:lstStyle/>
                    <a:p>
                      <a:endParaRPr lang="zh-CN" altLang="en-US" sz="1800" b="1" dirty="0"/>
                    </a:p>
                  </a:txBody>
                  <a:tcPr marL="91432" marR="91432" marT="45722" marB="45722">
                    <a:solidFill>
                      <a:srgbClr val="E6E6E6"/>
                    </a:solidFill>
                  </a:tcPr>
                </a:tc>
                <a:tc>
                  <a:txBody>
                    <a:bodyPr/>
                    <a:lstStyle/>
                    <a:p>
                      <a:r>
                        <a:rPr lang="en-US" altLang="zh-CN" sz="1800" b="1" dirty="0"/>
                        <a:t>2</a:t>
                      </a:r>
                      <a:endParaRPr lang="zh-CN" altLang="en-US" sz="1800" b="1" dirty="0"/>
                    </a:p>
                  </a:txBody>
                  <a:tcPr marL="91432" marR="91432" marT="45722" marB="45722">
                    <a:solidFill>
                      <a:srgbClr val="E6E6E6"/>
                    </a:solidFill>
                  </a:tcPr>
                </a:tc>
                <a:tc>
                  <a:txBody>
                    <a:bodyPr/>
                    <a:lstStyle/>
                    <a:p>
                      <a:r>
                        <a:rPr lang="en-US" altLang="zh-CN" sz="1800" b="1" dirty="0"/>
                        <a:t>3</a:t>
                      </a:r>
                      <a:endParaRPr lang="zh-CN" altLang="en-US" sz="1800" b="1" dirty="0"/>
                    </a:p>
                  </a:txBody>
                  <a:tcPr marL="91432" marR="91432" marT="45722" marB="45722">
                    <a:solidFill>
                      <a:srgbClr val="E6E6E6"/>
                    </a:solidFill>
                  </a:tcPr>
                </a:tc>
                <a:tc>
                  <a:txBody>
                    <a:bodyPr/>
                    <a:lstStyle/>
                    <a:p>
                      <a:r>
                        <a:rPr lang="en-US" altLang="zh-CN" sz="1800" b="1" dirty="0"/>
                        <a:t>3</a:t>
                      </a:r>
                      <a:endParaRPr lang="zh-CN" altLang="en-US" sz="1800" b="1" dirty="0"/>
                    </a:p>
                  </a:txBody>
                  <a:tcPr marL="91432" marR="91432" marT="45722" marB="45722">
                    <a:solidFill>
                      <a:srgbClr val="E6E6E6"/>
                    </a:solidFill>
                  </a:tcPr>
                </a:tc>
                <a:tc>
                  <a:txBody>
                    <a:bodyPr/>
                    <a:lstStyle/>
                    <a:p>
                      <a:r>
                        <a:rPr lang="en-US" altLang="zh-CN" sz="1800" b="1" dirty="0"/>
                        <a:t>3</a:t>
                      </a:r>
                      <a:endParaRPr lang="zh-CN" altLang="en-US" sz="1800" b="1" dirty="0"/>
                    </a:p>
                  </a:txBody>
                  <a:tcPr marL="91432" marR="91432" marT="45722" marB="45722">
                    <a:solidFill>
                      <a:srgbClr val="E6E6E6"/>
                    </a:solidFill>
                  </a:tcPr>
                </a:tc>
                <a:tc>
                  <a:txBody>
                    <a:bodyPr/>
                    <a:lstStyle/>
                    <a:p>
                      <a:r>
                        <a:rPr lang="en-US" altLang="zh-CN" sz="1800" b="1" dirty="0"/>
                        <a:t>3</a:t>
                      </a:r>
                      <a:endParaRPr lang="zh-CN" altLang="en-US" sz="1800" b="1" dirty="0"/>
                    </a:p>
                  </a:txBody>
                  <a:tcPr marL="91432" marR="91432" marT="45722" marB="45722">
                    <a:solidFill>
                      <a:srgbClr val="E6E6E6"/>
                    </a:solidFill>
                  </a:tcPr>
                </a:tc>
                <a:tc>
                  <a:txBody>
                    <a:bodyPr/>
                    <a:lstStyle/>
                    <a:p>
                      <a:r>
                        <a:rPr lang="en-US" altLang="zh-CN" sz="1800" b="1" dirty="0"/>
                        <a:t>4</a:t>
                      </a:r>
                      <a:endParaRPr lang="zh-CN" altLang="en-US" sz="1800" b="1" dirty="0"/>
                    </a:p>
                  </a:txBody>
                  <a:tcPr marL="91432" marR="91432" marT="45722" marB="45722">
                    <a:solidFill>
                      <a:srgbClr val="E6E6E6"/>
                    </a:solidFill>
                  </a:tcPr>
                </a:tc>
              </a:tr>
              <a:tr h="444444">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solidFill>
                            <a:srgbClr val="00B050"/>
                          </a:solidFill>
                        </a:rPr>
                        <a:t>物理块</a:t>
                      </a:r>
                      <a:r>
                        <a:rPr lang="en-US" altLang="zh-CN" sz="1800" b="1" dirty="0">
                          <a:solidFill>
                            <a:srgbClr val="00B050"/>
                          </a:solidFill>
                        </a:rPr>
                        <a:t>3</a:t>
                      </a:r>
                      <a:r>
                        <a:rPr lang="zh-CN" altLang="en-US" sz="1800" b="1" dirty="0">
                          <a:solidFill>
                            <a:srgbClr val="00B050"/>
                          </a:solidFill>
                        </a:rPr>
                        <a:t>*</a:t>
                      </a:r>
                      <a:endParaRPr lang="zh-CN" altLang="en-US" sz="1800" b="1" dirty="0">
                        <a:solidFill>
                          <a:srgbClr val="00B050"/>
                        </a:solidFill>
                      </a:endParaRPr>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r>
                        <a:rPr lang="en-US" altLang="zh-CN" sz="1800" b="1" dirty="0"/>
                        <a:t>1</a:t>
                      </a:r>
                      <a:endParaRPr lang="zh-CN" altLang="en-US" sz="1800" b="1" dirty="0"/>
                    </a:p>
                  </a:txBody>
                  <a:tcPr marL="91432" marR="91432" marT="45722" marB="45722">
                    <a:solidFill>
                      <a:srgbClr val="E6E6E6"/>
                    </a:solidFill>
                  </a:tcPr>
                </a:tc>
                <a:tc>
                  <a:txBody>
                    <a:bodyPr/>
                    <a:lstStyle/>
                    <a:p>
                      <a:r>
                        <a:rPr lang="en-US" altLang="zh-CN" sz="1800" b="1" dirty="0"/>
                        <a:t>1</a:t>
                      </a:r>
                      <a:endParaRPr lang="zh-CN" altLang="en-US" sz="1800" b="1" dirty="0"/>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r>
                        <a:rPr lang="en-US" altLang="zh-CN" sz="1800" b="1" dirty="0"/>
                        <a:t>1</a:t>
                      </a:r>
                      <a:endParaRPr lang="zh-CN" altLang="en-US" sz="1800" b="1" dirty="0"/>
                    </a:p>
                  </a:txBody>
                  <a:tcPr marL="91432" marR="91432" marT="45722" marB="45722">
                    <a:solidFill>
                      <a:srgbClr val="E6E6E6"/>
                    </a:solidFill>
                  </a:tcPr>
                </a:tc>
                <a:tc>
                  <a:txBody>
                    <a:bodyPr/>
                    <a:lstStyle/>
                    <a:p>
                      <a:r>
                        <a:rPr lang="en-US" altLang="zh-CN" sz="1800" b="1" dirty="0"/>
                        <a:t>1</a:t>
                      </a:r>
                      <a:endParaRPr lang="zh-CN" altLang="en-US" sz="1800" b="1" dirty="0"/>
                    </a:p>
                  </a:txBody>
                  <a:tcPr marL="91432" marR="91432" marT="45722" marB="45722">
                    <a:solidFill>
                      <a:srgbClr val="E6E6E6"/>
                    </a:solidFill>
                  </a:tcPr>
                </a:tc>
                <a:tc>
                  <a:txBody>
                    <a:bodyPr/>
                    <a:lstStyle/>
                    <a:p>
                      <a:r>
                        <a:rPr lang="en-US" altLang="zh-CN" sz="1800" b="1" dirty="0"/>
                        <a:t>2</a:t>
                      </a:r>
                      <a:endParaRPr lang="zh-CN" altLang="en-US" sz="1800" b="1" dirty="0"/>
                    </a:p>
                  </a:txBody>
                  <a:tcPr marL="91432" marR="91432" marT="45722" marB="45722">
                    <a:solidFill>
                      <a:srgbClr val="E6E6E6"/>
                    </a:solidFill>
                  </a:tcPr>
                </a:tc>
                <a:tc>
                  <a:txBody>
                    <a:bodyPr/>
                    <a:lstStyle/>
                    <a:p>
                      <a:r>
                        <a:rPr lang="en-US" altLang="zh-CN" sz="1800" b="1" dirty="0"/>
                        <a:t>2</a:t>
                      </a:r>
                      <a:endParaRPr lang="zh-CN" altLang="en-US" sz="1800" b="1" dirty="0"/>
                    </a:p>
                  </a:txBody>
                  <a:tcPr marL="91432" marR="91432" marT="45722" marB="45722">
                    <a:solidFill>
                      <a:srgbClr val="E6E6E6"/>
                    </a:solidFill>
                  </a:tcPr>
                </a:tc>
                <a:tc>
                  <a:txBody>
                    <a:bodyPr/>
                    <a:lstStyle/>
                    <a:p>
                      <a:r>
                        <a:rPr lang="en-US" altLang="zh-CN" sz="1800" b="1" dirty="0"/>
                        <a:t>2</a:t>
                      </a:r>
                      <a:endParaRPr lang="zh-CN" altLang="en-US" sz="1800" b="1" dirty="0"/>
                    </a:p>
                  </a:txBody>
                  <a:tcPr marL="91432" marR="91432" marT="45722" marB="45722">
                    <a:solidFill>
                      <a:srgbClr val="E6E6E6"/>
                    </a:solidFill>
                  </a:tcPr>
                </a:tc>
                <a:tc>
                  <a:txBody>
                    <a:bodyPr/>
                    <a:lstStyle/>
                    <a:p>
                      <a:r>
                        <a:rPr lang="en-US" altLang="zh-CN" sz="1800" b="1" dirty="0"/>
                        <a:t>2</a:t>
                      </a:r>
                      <a:endParaRPr lang="zh-CN" altLang="en-US" sz="1800" b="1" dirty="0"/>
                    </a:p>
                  </a:txBody>
                  <a:tcPr marL="91432" marR="91432" marT="45722" marB="45722">
                    <a:solidFill>
                      <a:srgbClr val="E6E6E6"/>
                    </a:solidFill>
                  </a:tcPr>
                </a:tc>
              </a:tr>
              <a:tr h="444444">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solidFill>
                            <a:srgbClr val="00B050"/>
                          </a:solidFill>
                        </a:rPr>
                        <a:t>物理块</a:t>
                      </a:r>
                      <a:r>
                        <a:rPr lang="en-US" altLang="zh-CN" sz="1800" b="1" dirty="0">
                          <a:solidFill>
                            <a:srgbClr val="00B050"/>
                          </a:solidFill>
                        </a:rPr>
                        <a:t>4</a:t>
                      </a:r>
                      <a:r>
                        <a:rPr lang="zh-CN" altLang="en-US" sz="1800" b="1" dirty="0">
                          <a:solidFill>
                            <a:srgbClr val="00B050"/>
                          </a:solidFill>
                        </a:rPr>
                        <a:t>*</a:t>
                      </a:r>
                      <a:endParaRPr lang="zh-CN" altLang="en-US" sz="1800" b="1" dirty="0">
                        <a:solidFill>
                          <a:srgbClr val="00B050"/>
                        </a:solidFill>
                      </a:endParaRPr>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r>
                        <a:rPr lang="en-US" altLang="zh-CN" sz="1800" b="1" dirty="0"/>
                        <a:t>0</a:t>
                      </a:r>
                      <a:endParaRPr lang="zh-CN" altLang="en-US" sz="1800" b="1" dirty="0"/>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r>
                        <a:rPr lang="en-US" altLang="zh-CN" sz="1800" b="1" dirty="0"/>
                        <a:t>0</a:t>
                      </a:r>
                      <a:endParaRPr lang="zh-CN" altLang="en-US" sz="1800" b="1" dirty="0"/>
                    </a:p>
                  </a:txBody>
                  <a:tcPr marL="91432" marR="91432" marT="45722" marB="45722">
                    <a:solidFill>
                      <a:srgbClr val="E6E6E6"/>
                    </a:solidFill>
                  </a:tcPr>
                </a:tc>
                <a:tc>
                  <a:txBody>
                    <a:bodyPr/>
                    <a:lstStyle/>
                    <a:p>
                      <a:r>
                        <a:rPr lang="en-US" altLang="zh-CN" sz="1800" b="1" dirty="0"/>
                        <a:t>0</a:t>
                      </a:r>
                      <a:endParaRPr lang="zh-CN" altLang="en-US" sz="1800" b="1" dirty="0"/>
                    </a:p>
                  </a:txBody>
                  <a:tcPr marL="91432" marR="91432" marT="45722" marB="45722">
                    <a:solidFill>
                      <a:srgbClr val="E6E6E6"/>
                    </a:solidFill>
                  </a:tcPr>
                </a:tc>
                <a:tc>
                  <a:txBody>
                    <a:bodyPr/>
                    <a:lstStyle/>
                    <a:p>
                      <a:r>
                        <a:rPr lang="en-US" altLang="zh-CN" sz="1800" b="1" dirty="0"/>
                        <a:t>0</a:t>
                      </a:r>
                      <a:endParaRPr lang="zh-CN" altLang="en-US" sz="1800" b="1" dirty="0"/>
                    </a:p>
                  </a:txBody>
                  <a:tcPr marL="91432" marR="91432" marT="45722" marB="45722">
                    <a:solidFill>
                      <a:srgbClr val="E6E6E6"/>
                    </a:solidFill>
                  </a:tcPr>
                </a:tc>
                <a:tc>
                  <a:txBody>
                    <a:bodyPr/>
                    <a:lstStyle/>
                    <a:p>
                      <a:r>
                        <a:rPr lang="en-US" altLang="zh-CN" sz="1800" b="1" dirty="0"/>
                        <a:t>1</a:t>
                      </a:r>
                      <a:endParaRPr lang="zh-CN" altLang="en-US" sz="1800" b="1" dirty="0"/>
                    </a:p>
                  </a:txBody>
                  <a:tcPr marL="91432" marR="91432" marT="45722" marB="45722">
                    <a:solidFill>
                      <a:srgbClr val="E6E6E6"/>
                    </a:solidFill>
                  </a:tcPr>
                </a:tc>
                <a:tc>
                  <a:txBody>
                    <a:bodyPr/>
                    <a:lstStyle/>
                    <a:p>
                      <a:r>
                        <a:rPr lang="en-US" altLang="zh-CN" sz="1800" b="1" dirty="0"/>
                        <a:t>1</a:t>
                      </a:r>
                      <a:endParaRPr lang="zh-CN" altLang="en-US" sz="1800" b="1" dirty="0"/>
                    </a:p>
                  </a:txBody>
                  <a:tcPr marL="91432" marR="91432" marT="45722" marB="45722">
                    <a:solidFill>
                      <a:srgbClr val="E6E6E6"/>
                    </a:solidFill>
                  </a:tcPr>
                </a:tc>
                <a:tc>
                  <a:txBody>
                    <a:bodyPr/>
                    <a:lstStyle/>
                    <a:p>
                      <a:r>
                        <a:rPr lang="en-US" altLang="zh-CN" sz="1800" b="1" dirty="0"/>
                        <a:t>1</a:t>
                      </a:r>
                      <a:endParaRPr lang="zh-CN" altLang="en-US" sz="1800" b="1" dirty="0"/>
                    </a:p>
                  </a:txBody>
                  <a:tcPr marL="91432" marR="91432" marT="45722" marB="45722">
                    <a:solidFill>
                      <a:srgbClr val="E6E6E6"/>
                    </a:solidFill>
                  </a:tcPr>
                </a:tc>
              </a:tr>
              <a:tr h="64010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t>缺页否？</a:t>
                      </a:r>
                      <a:endParaRPr lang="zh-CN" altLang="en-US" sz="1800" b="1" dirty="0"/>
                    </a:p>
                    <a:p>
                      <a:endParaRPr lang="zh-CN" altLang="en-US" sz="1800" b="1" dirty="0"/>
                    </a:p>
                  </a:txBody>
                  <a:tcPr marL="91432" marR="91432" marT="45722" marB="45722">
                    <a:solidFill>
                      <a:srgbClr val="E6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t>√</a:t>
                      </a:r>
                      <a:endParaRPr lang="zh-CN" altLang="en-US" sz="1800" b="1" dirty="0"/>
                    </a:p>
                  </a:txBody>
                  <a:tcPr marL="91432" marR="91432" marT="45722" marB="45722">
                    <a:solidFill>
                      <a:srgbClr val="E6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t>√</a:t>
                      </a:r>
                      <a:endParaRPr lang="zh-CN" altLang="en-US" sz="1800" b="1" dirty="0"/>
                    </a:p>
                    <a:p>
                      <a:endParaRPr lang="zh-CN" altLang="en-US" sz="1800" b="1" dirty="0"/>
                    </a:p>
                  </a:txBody>
                  <a:tcPr marL="91432" marR="91432" marT="45722" marB="45722">
                    <a:solidFill>
                      <a:srgbClr val="E6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t>√</a:t>
                      </a:r>
                      <a:endParaRPr lang="zh-CN" altLang="en-US" sz="1800" b="1" dirty="0"/>
                    </a:p>
                    <a:p>
                      <a:endParaRPr lang="zh-CN" altLang="en-US" sz="1800" b="1" dirty="0"/>
                    </a:p>
                  </a:txBody>
                  <a:tcPr marL="91432" marR="91432" marT="45722" marB="45722">
                    <a:solidFill>
                      <a:srgbClr val="E6E6E6"/>
                    </a:solidFill>
                  </a:tcPr>
                </a:tc>
                <a:tc>
                  <a:txBody>
                    <a:bodyPr/>
                    <a:lstStyle/>
                    <a:p>
                      <a:r>
                        <a:rPr lang="zh-CN" altLang="en-US" sz="1800" b="1" dirty="0"/>
                        <a:t>√</a:t>
                      </a:r>
                      <a:endParaRPr lang="zh-CN" altLang="en-US" sz="1800" b="1" dirty="0"/>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endParaRPr lang="zh-CN" altLang="en-US" sz="1800" b="1"/>
                    </a:p>
                  </a:txBody>
                  <a:tcPr marL="91432" marR="91432" marT="45722" marB="45722">
                    <a:solidFill>
                      <a:srgbClr val="E6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t>√</a:t>
                      </a:r>
                      <a:endParaRPr lang="zh-CN" altLang="en-US" sz="1800" b="1"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b="1" dirty="0"/>
                    </a:p>
                  </a:txBody>
                  <a:tcPr marL="91432" marR="91432" marT="45722" marB="45722">
                    <a:solidFill>
                      <a:srgbClr val="E6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t>√</a:t>
                      </a:r>
                      <a:endParaRPr lang="zh-CN" altLang="en-US" sz="1800" b="1" dirty="0"/>
                    </a:p>
                    <a:p>
                      <a:endParaRPr lang="zh-CN" altLang="en-US" sz="1800" b="1" dirty="0"/>
                    </a:p>
                  </a:txBody>
                  <a:tcPr marL="91432" marR="91432" marT="45722" marB="45722">
                    <a:solidFill>
                      <a:srgbClr val="E6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t>√</a:t>
                      </a:r>
                      <a:endParaRPr lang="zh-CN" altLang="en-US" sz="1800" b="1" dirty="0"/>
                    </a:p>
                    <a:p>
                      <a:endParaRPr lang="zh-CN" altLang="en-US" sz="1800" b="1" dirty="0"/>
                    </a:p>
                  </a:txBody>
                  <a:tcPr marL="91432" marR="91432" marT="45722" marB="45722">
                    <a:solidFill>
                      <a:srgbClr val="E6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t>√</a:t>
                      </a:r>
                      <a:endParaRPr lang="zh-CN" altLang="en-US" sz="1800" b="1" dirty="0"/>
                    </a:p>
                    <a:p>
                      <a:endParaRPr lang="zh-CN" altLang="en-US" sz="1800" b="1" dirty="0"/>
                    </a:p>
                  </a:txBody>
                  <a:tcPr marL="91432" marR="91432" marT="45722" marB="45722">
                    <a:solidFill>
                      <a:srgbClr val="E6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t>√</a:t>
                      </a:r>
                      <a:endParaRPr lang="zh-CN" altLang="en-US" sz="1800" b="1"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b="1" dirty="0"/>
                    </a:p>
                  </a:txBody>
                  <a:tcPr marL="91432" marR="91432" marT="45722" marB="45722">
                    <a:solidFill>
                      <a:srgbClr val="E6E6E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dirty="0"/>
                        <a:t>√</a:t>
                      </a:r>
                      <a:endParaRPr lang="zh-CN" altLang="en-US" sz="1800" b="1" dirty="0"/>
                    </a:p>
                    <a:p>
                      <a:endParaRPr lang="zh-CN" altLang="en-US" sz="1800" b="1" dirty="0"/>
                    </a:p>
                  </a:txBody>
                  <a:tcPr marL="91432" marR="91432" marT="45722" marB="45722">
                    <a:solidFill>
                      <a:srgbClr val="E6E6E6"/>
                    </a:solidFill>
                  </a:tcPr>
                </a:tc>
              </a:tr>
            </a:tbl>
          </a:graphicData>
        </a:graphic>
      </p:graphicFrame>
      <p:sp>
        <p:nvSpPr>
          <p:cNvPr id="38046" name="Rectangle 5"/>
          <p:cNvSpPr/>
          <p:nvPr/>
        </p:nvSpPr>
        <p:spPr>
          <a:xfrm>
            <a:off x="468313" y="211138"/>
            <a:ext cx="8675687" cy="1150937"/>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None/>
            </a:pPr>
            <a:r>
              <a:rPr lang="en-US" altLang="zh-CN" sz="2400" b="1" dirty="0">
                <a:solidFill>
                  <a:schemeClr val="hlink"/>
                </a:solidFill>
              </a:rPr>
              <a:t> </a:t>
            </a:r>
            <a:endParaRPr lang="en-US" altLang="zh-CN" sz="2400" b="1" dirty="0"/>
          </a:p>
          <a:p>
            <a:pPr marL="0" lvl="0" indent="0" eaLnBrk="1" hangingPunct="1">
              <a:spcBef>
                <a:spcPct val="0"/>
              </a:spcBef>
              <a:buClrTx/>
              <a:buSzTx/>
              <a:buNone/>
            </a:pPr>
            <a:r>
              <a:rPr lang="en-US" altLang="zh-CN" sz="2400" b="1" dirty="0">
                <a:solidFill>
                  <a:srgbClr val="000000"/>
                </a:solidFill>
              </a:rPr>
              <a:t>FIFO</a:t>
            </a:r>
            <a:r>
              <a:rPr lang="zh-CN" altLang="en-US" sz="2400" b="1" dirty="0">
                <a:solidFill>
                  <a:srgbClr val="000000"/>
                </a:solidFill>
              </a:rPr>
              <a:t>置换算法出现的</a:t>
            </a:r>
            <a:r>
              <a:rPr lang="en-US" altLang="zh-CN" sz="2400" b="1" dirty="0">
                <a:solidFill>
                  <a:srgbClr val="000000"/>
                </a:solidFill>
              </a:rPr>
              <a:t>Belady</a:t>
            </a:r>
            <a:r>
              <a:rPr lang="zh-CN" altLang="en-US" sz="2400" b="1" dirty="0">
                <a:solidFill>
                  <a:srgbClr val="000000"/>
                </a:solidFill>
              </a:rPr>
              <a:t>异常 </a:t>
            </a:r>
            <a:endParaRPr lang="zh-CN" altLang="en-US" sz="2400" b="1" dirty="0">
              <a:solidFill>
                <a:srgbClr val="000000"/>
              </a:solidFill>
            </a:endParaRPr>
          </a:p>
        </p:txBody>
      </p:sp>
      <p:sp>
        <p:nvSpPr>
          <p:cNvPr id="38047" name="文本框 2"/>
          <p:cNvSpPr txBox="1"/>
          <p:nvPr/>
        </p:nvSpPr>
        <p:spPr>
          <a:xfrm>
            <a:off x="8596313" y="3167063"/>
            <a:ext cx="611187"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n-US" altLang="zh-CN" sz="2000" b="1" dirty="0">
                <a:solidFill>
                  <a:srgbClr val="FF0000"/>
                </a:solidFill>
              </a:rPr>
              <a:t>9</a:t>
            </a:r>
            <a:r>
              <a:rPr lang="zh-CN" altLang="en-US" sz="2000" b="1" dirty="0">
                <a:solidFill>
                  <a:srgbClr val="FF0000"/>
                </a:solidFill>
              </a:rPr>
              <a:t>次</a:t>
            </a:r>
            <a:endParaRPr lang="zh-CN" altLang="en-US" sz="2000" b="1" dirty="0">
              <a:solidFill>
                <a:srgbClr val="FF0000"/>
              </a:solidFill>
            </a:endParaRPr>
          </a:p>
        </p:txBody>
      </p:sp>
      <p:sp>
        <p:nvSpPr>
          <p:cNvPr id="38048" name="文本框 3"/>
          <p:cNvSpPr txBox="1"/>
          <p:nvPr/>
        </p:nvSpPr>
        <p:spPr>
          <a:xfrm>
            <a:off x="8424863" y="5624513"/>
            <a:ext cx="755650"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n-US" altLang="zh-CN" sz="2000" b="1" dirty="0">
                <a:solidFill>
                  <a:srgbClr val="FF0000"/>
                </a:solidFill>
              </a:rPr>
              <a:t>10</a:t>
            </a:r>
            <a:r>
              <a:rPr lang="zh-CN" altLang="en-US" sz="2000" b="1" dirty="0">
                <a:solidFill>
                  <a:srgbClr val="FF0000"/>
                </a:solidFill>
              </a:rPr>
              <a:t>次</a:t>
            </a:r>
            <a:endParaRPr lang="zh-CN" altLang="en-US" sz="2000" b="1" dirty="0">
              <a:solidFill>
                <a:srgbClr val="FF0000"/>
              </a:solidFill>
            </a:endParaRPr>
          </a:p>
        </p:txBody>
      </p:sp>
    </p:spTree>
  </p:cSld>
  <p:clrMapOvr>
    <a:masterClrMapping/>
  </p:clrMapOvr>
  <p:transition>
    <p:blinds/>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Text Box 2"/>
          <p:cNvSpPr txBox="1"/>
          <p:nvPr/>
        </p:nvSpPr>
        <p:spPr>
          <a:xfrm>
            <a:off x="1066800" y="990600"/>
            <a:ext cx="5991225"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solidFill>
                  <a:schemeClr val="hlink"/>
                </a:solidFill>
                <a:latin typeface="Times New Roman" panose="02020603050405020304" pitchFamily="18" charset="0"/>
              </a:rPr>
              <a:t>5.3.2 </a:t>
            </a:r>
            <a:r>
              <a:rPr lang="zh-CN" altLang="en-US" sz="2800" b="1" dirty="0">
                <a:solidFill>
                  <a:schemeClr val="hlink"/>
                </a:solidFill>
                <a:latin typeface="Times New Roman" panose="02020603050405020304" pitchFamily="18" charset="0"/>
              </a:rPr>
              <a:t>最近最久未使用</a:t>
            </a:r>
            <a:r>
              <a:rPr lang="en-US" altLang="zh-CN" sz="2800" b="1" dirty="0">
                <a:solidFill>
                  <a:schemeClr val="hlink"/>
                </a:solidFill>
                <a:latin typeface="Times New Roman" panose="02020603050405020304" pitchFamily="18" charset="0"/>
              </a:rPr>
              <a:t>(LRU)</a:t>
            </a:r>
            <a:r>
              <a:rPr lang="zh-CN" altLang="en-US" sz="2800" b="1" dirty="0">
                <a:solidFill>
                  <a:schemeClr val="hlink"/>
                </a:solidFill>
                <a:latin typeface="Times New Roman" panose="02020603050405020304" pitchFamily="18" charset="0"/>
              </a:rPr>
              <a:t>置换算法</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p:txBody>
      </p:sp>
      <p:sp>
        <p:nvSpPr>
          <p:cNvPr id="38915" name="Text Box 3"/>
          <p:cNvSpPr txBox="1"/>
          <p:nvPr/>
        </p:nvSpPr>
        <p:spPr>
          <a:xfrm>
            <a:off x="900113" y="1844675"/>
            <a:ext cx="6199187"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1. LRU(Least Recently Used)</a:t>
            </a:r>
            <a:r>
              <a:rPr lang="zh-CN" altLang="en-US" sz="2400" b="1" dirty="0">
                <a:latin typeface="Times New Roman" panose="02020603050405020304" pitchFamily="18" charset="0"/>
              </a:rPr>
              <a:t>置换算法的描述 </a:t>
            </a:r>
            <a:endParaRPr lang="zh-CN" altLang="en-US" sz="2400" b="1" dirty="0">
              <a:latin typeface="Times New Roman" panose="02020603050405020304" pitchFamily="18" charset="0"/>
            </a:endParaRPr>
          </a:p>
        </p:txBody>
      </p:sp>
      <p:graphicFrame>
        <p:nvGraphicFramePr>
          <p:cNvPr id="38916" name="Object 5"/>
          <p:cNvGraphicFramePr>
            <a:graphicFrameLocks noChangeAspect="1"/>
          </p:cNvGraphicFramePr>
          <p:nvPr/>
        </p:nvGraphicFramePr>
        <p:xfrm>
          <a:off x="0" y="2276475"/>
          <a:ext cx="9144000" cy="2581275"/>
        </p:xfrm>
        <a:graphic>
          <a:graphicData uri="http://schemas.openxmlformats.org/presentationml/2006/ole">
            <mc:AlternateContent xmlns:mc="http://schemas.openxmlformats.org/markup-compatibility/2006">
              <mc:Choice xmlns:v="urn:schemas-microsoft-com:vml" Requires="v">
                <p:oleObj spid="_x0000_s2" name="" r:id="rId1" imgW="4312920" imgH="1219200" progId="Visio.Drawing.4">
                  <p:embed/>
                </p:oleObj>
              </mc:Choice>
              <mc:Fallback>
                <p:oleObj name="" r:id="rId1" imgW="4312920" imgH="1219200" progId="Visio.Drawing.4">
                  <p:embed/>
                  <p:pic>
                    <p:nvPicPr>
                      <p:cNvPr id="0" name="图片 3083"/>
                      <p:cNvPicPr/>
                      <p:nvPr/>
                    </p:nvPicPr>
                    <p:blipFill>
                      <a:blip r:embed="rId2"/>
                      <a:stretch>
                        <a:fillRect/>
                      </a:stretch>
                    </p:blipFill>
                    <p:spPr>
                      <a:xfrm>
                        <a:off x="0" y="2276475"/>
                        <a:ext cx="9144000" cy="2581275"/>
                      </a:xfrm>
                      <a:prstGeom prst="rect">
                        <a:avLst/>
                      </a:prstGeom>
                      <a:noFill/>
                      <a:ln w="38100">
                        <a:noFill/>
                        <a:miter/>
                      </a:ln>
                    </p:spPr>
                  </p:pic>
                </p:oleObj>
              </mc:Fallback>
            </mc:AlternateContent>
          </a:graphicData>
        </a:graphic>
      </p:graphicFrame>
      <p:sp>
        <p:nvSpPr>
          <p:cNvPr id="38917" name="AutoShape 6"/>
          <p:cNvSpPr/>
          <p:nvPr/>
        </p:nvSpPr>
        <p:spPr>
          <a:xfrm>
            <a:off x="4679950" y="4365625"/>
            <a:ext cx="3852863" cy="2581275"/>
          </a:xfrm>
          <a:prstGeom prst="irregularSeal1">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800" b="1" dirty="0">
                <a:solidFill>
                  <a:schemeClr val="hlink"/>
                </a:solidFill>
              </a:rPr>
              <a:t>向过去看！</a:t>
            </a:r>
            <a:endParaRPr lang="en-US" altLang="zh-CN" sz="2800" b="1" dirty="0">
              <a:solidFill>
                <a:schemeClr val="hlink"/>
              </a:solidFill>
            </a:endParaRPr>
          </a:p>
          <a:p>
            <a:pPr marL="0" lvl="0" indent="0" algn="ctr" eaLnBrk="1" hangingPunct="1">
              <a:spcBef>
                <a:spcPct val="0"/>
              </a:spcBef>
              <a:buClrTx/>
              <a:buSzTx/>
              <a:buFontTx/>
              <a:buNone/>
            </a:pPr>
            <a:r>
              <a:rPr lang="zh-CN" altLang="en-US" sz="2800" b="1" dirty="0">
                <a:solidFill>
                  <a:schemeClr val="hlink"/>
                </a:solidFill>
              </a:rPr>
              <a:t>用过去去预测未来</a:t>
            </a:r>
            <a:endParaRPr lang="zh-CN" altLang="en-US" sz="2800" b="1" dirty="0">
              <a:solidFill>
                <a:schemeClr val="hlink"/>
              </a:solidFill>
            </a:endParaRPr>
          </a:p>
        </p:txBody>
      </p:sp>
      <p:sp>
        <p:nvSpPr>
          <p:cNvPr id="38918" name="Rectangle 7"/>
          <p:cNvSpPr/>
          <p:nvPr/>
        </p:nvSpPr>
        <p:spPr>
          <a:xfrm>
            <a:off x="1187450" y="5481638"/>
            <a:ext cx="2268538" cy="684212"/>
          </a:xfrm>
          <a:prstGeom prst="rect">
            <a:avLst/>
          </a:prstGeom>
          <a:solidFill>
            <a:srgbClr val="00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800" b="1" dirty="0">
                <a:solidFill>
                  <a:schemeClr val="hlink"/>
                </a:solidFill>
              </a:rPr>
              <a:t>比较好！</a:t>
            </a:r>
            <a:endParaRPr lang="zh-CN" altLang="en-US" sz="2800" b="1" dirty="0">
              <a:solidFill>
                <a:schemeClr val="hlink"/>
              </a:solidFill>
            </a:endParaRPr>
          </a:p>
        </p:txBody>
      </p:sp>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Text Box 2"/>
          <p:cNvSpPr txBox="1"/>
          <p:nvPr/>
        </p:nvSpPr>
        <p:spPr>
          <a:xfrm>
            <a:off x="503238" y="1916113"/>
            <a:ext cx="3386137" cy="461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2. LRU</a:t>
            </a:r>
            <a:r>
              <a:rPr lang="zh-CN" altLang="en-US" sz="2400" b="1" dirty="0">
                <a:latin typeface="Times New Roman" panose="02020603050405020304" pitchFamily="18" charset="0"/>
              </a:rPr>
              <a:t>置换算法的实现 </a:t>
            </a:r>
            <a:endParaRPr lang="zh-CN" altLang="en-US" sz="2400" b="1" dirty="0">
              <a:latin typeface="Times New Roman" panose="02020603050405020304" pitchFamily="18" charset="0"/>
            </a:endParaRPr>
          </a:p>
        </p:txBody>
      </p:sp>
      <p:sp>
        <p:nvSpPr>
          <p:cNvPr id="40963" name="Text Box 3"/>
          <p:cNvSpPr txBox="1"/>
          <p:nvPr/>
        </p:nvSpPr>
        <p:spPr>
          <a:xfrm>
            <a:off x="358775" y="2636838"/>
            <a:ext cx="8077200" cy="15732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just" eaLnBrk="1" hangingPunct="1">
              <a:lnSpc>
                <a:spcPct val="135000"/>
              </a:lnSpc>
              <a:spcBef>
                <a:spcPct val="0"/>
              </a:spcBef>
              <a:buClrTx/>
              <a:buSzTx/>
              <a:buFontTx/>
              <a:buNone/>
            </a:pPr>
            <a:r>
              <a:rPr lang="en-US" altLang="zh-CN" sz="2400" b="1" dirty="0">
                <a:latin typeface="Times New Roman" panose="02020603050405020304" pitchFamily="18" charset="0"/>
              </a:rPr>
              <a:t>         1) </a:t>
            </a:r>
            <a:r>
              <a:rPr lang="zh-CN" altLang="en-US" sz="2400" b="1" dirty="0">
                <a:latin typeface="Times New Roman" panose="02020603050405020304" pitchFamily="18" charset="0"/>
              </a:rPr>
              <a:t>寄存器（硬件实现）</a:t>
            </a:r>
            <a:endParaRPr lang="zh-CN" altLang="en-US" sz="2400" b="1" dirty="0">
              <a:latin typeface="Times New Roman" panose="02020603050405020304" pitchFamily="18" charset="0"/>
            </a:endParaRPr>
          </a:p>
          <a:p>
            <a:pPr marL="0" lvl="0" indent="0" algn="just" eaLnBrk="1" hangingPunct="1">
              <a:lnSpc>
                <a:spcPct val="135000"/>
              </a:lnSpc>
              <a:spcBef>
                <a:spcPct val="0"/>
              </a:spcBef>
              <a:buClrTx/>
              <a:buSzTx/>
              <a:buFontTx/>
              <a:buNone/>
            </a:pPr>
            <a:r>
              <a:rPr lang="zh-CN" altLang="en-US" sz="2400" b="1" dirty="0">
                <a:solidFill>
                  <a:srgbClr val="000000"/>
                </a:solidFill>
                <a:latin typeface="Times New Roman" panose="02020603050405020304" pitchFamily="18" charset="0"/>
              </a:rPr>
              <a:t>        为了记录某进程在内存中各页的使用情况，须为</a:t>
            </a:r>
            <a:r>
              <a:rPr lang="zh-CN" altLang="en-US" sz="2400" b="1" dirty="0">
                <a:solidFill>
                  <a:srgbClr val="CC3300"/>
                </a:solidFill>
                <a:latin typeface="Times New Roman" panose="02020603050405020304" pitchFamily="18" charset="0"/>
              </a:rPr>
              <a:t>每个在</a:t>
            </a:r>
            <a:r>
              <a:rPr lang="zh-CN" altLang="en-US" sz="2400" b="1" dirty="0">
                <a:solidFill>
                  <a:srgbClr val="006600"/>
                </a:solidFill>
                <a:latin typeface="Times New Roman" panose="02020603050405020304" pitchFamily="18" charset="0"/>
              </a:rPr>
              <a:t>内存中的页面</a:t>
            </a:r>
            <a:r>
              <a:rPr lang="zh-CN" altLang="en-US" sz="2400" b="1" dirty="0">
                <a:solidFill>
                  <a:srgbClr val="CC3300"/>
                </a:solidFill>
                <a:latin typeface="Times New Roman" panose="02020603050405020304" pitchFamily="18" charset="0"/>
              </a:rPr>
              <a:t>配置一个移位寄存器</a:t>
            </a:r>
            <a:r>
              <a:rPr lang="zh-CN" altLang="en-US" sz="2400" b="1" dirty="0">
                <a:solidFill>
                  <a:srgbClr val="000000"/>
                </a:solidFill>
                <a:latin typeface="Times New Roman" panose="02020603050405020304" pitchFamily="18" charset="0"/>
              </a:rPr>
              <a:t>，可表示为 </a:t>
            </a:r>
            <a:endParaRPr lang="zh-CN" altLang="en-US" sz="2400" b="1" dirty="0">
              <a:solidFill>
                <a:srgbClr val="000000"/>
              </a:solidFill>
              <a:latin typeface="Times New Roman" panose="02020603050405020304" pitchFamily="18" charset="0"/>
            </a:endParaRPr>
          </a:p>
        </p:txBody>
      </p:sp>
      <p:sp>
        <p:nvSpPr>
          <p:cNvPr id="40964" name="Text Box 4"/>
          <p:cNvSpPr txBox="1"/>
          <p:nvPr/>
        </p:nvSpPr>
        <p:spPr>
          <a:xfrm>
            <a:off x="1692275" y="4545013"/>
            <a:ext cx="51847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R=R</a:t>
            </a:r>
            <a:r>
              <a:rPr lang="en-US" altLang="zh-CN" sz="2400" b="1" baseline="-25000" dirty="0">
                <a:latin typeface="Times New Roman" panose="02020603050405020304" pitchFamily="18" charset="0"/>
              </a:rPr>
              <a:t>n-1</a:t>
            </a:r>
            <a:r>
              <a:rPr lang="en-US" altLang="zh-CN" sz="2400" b="1" dirty="0">
                <a:latin typeface="Times New Roman" panose="02020603050405020304" pitchFamily="18" charset="0"/>
              </a:rPr>
              <a:t>R</a:t>
            </a:r>
            <a:r>
              <a:rPr lang="en-US" altLang="zh-CN" sz="2400" b="1" baseline="-25000" dirty="0">
                <a:latin typeface="Times New Roman" panose="02020603050405020304" pitchFamily="18" charset="0"/>
              </a:rPr>
              <a:t>n-2</a:t>
            </a:r>
            <a:r>
              <a:rPr lang="en-US" altLang="zh-CN" sz="2400" b="1" dirty="0">
                <a:latin typeface="Times New Roman" panose="02020603050405020304" pitchFamily="18" charset="0"/>
              </a:rPr>
              <a:t>R</a:t>
            </a:r>
            <a:r>
              <a:rPr lang="en-US" altLang="zh-CN" sz="2400" b="1" baseline="-25000" dirty="0">
                <a:latin typeface="Times New Roman" panose="02020603050405020304" pitchFamily="18" charset="0"/>
              </a:rPr>
              <a:t>n-3</a:t>
            </a:r>
            <a:r>
              <a:rPr lang="en-US" altLang="zh-CN" sz="2400" b="1" dirty="0">
                <a:latin typeface="Times New Roman" panose="02020603050405020304" pitchFamily="18" charset="0"/>
              </a:rPr>
              <a:t> … R</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R</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R</a:t>
            </a:r>
            <a:r>
              <a:rPr lang="en-US" altLang="zh-CN" sz="2400" b="1" baseline="-25000" dirty="0">
                <a:latin typeface="Times New Roman" panose="02020603050405020304" pitchFamily="18" charset="0"/>
              </a:rPr>
              <a:t>0</a:t>
            </a: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40965" name="AutoShape 6"/>
          <p:cNvSpPr/>
          <p:nvPr/>
        </p:nvSpPr>
        <p:spPr>
          <a:xfrm>
            <a:off x="3276600" y="368300"/>
            <a:ext cx="5508625" cy="1044575"/>
          </a:xfrm>
          <a:prstGeom prst="wedgeEllipseCallout">
            <a:avLst>
              <a:gd name="adj1" fmla="val -28847"/>
              <a:gd name="adj2" fmla="val 110486"/>
            </a:avLst>
          </a:prstGeom>
          <a:solidFill>
            <a:srgbClr val="CCFFFF"/>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CC3300"/>
                </a:solidFill>
              </a:rPr>
              <a:t>为了快速知道哪一页是最近最久未使用的页面。</a:t>
            </a:r>
            <a:endParaRPr lang="zh-CN" altLang="en-US" sz="2400" b="1" dirty="0">
              <a:solidFill>
                <a:srgbClr val="CC3300"/>
              </a:solidFill>
            </a:endParaRPr>
          </a:p>
        </p:txBody>
      </p:sp>
    </p:spTree>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1986" name="Picture 4" descr="未标题-1 拷贝"/>
          <p:cNvPicPr>
            <a:picLocks noChangeAspect="1"/>
          </p:cNvPicPr>
          <p:nvPr/>
        </p:nvPicPr>
        <p:blipFill>
          <a:blip r:embed="rId1"/>
          <a:stretch>
            <a:fillRect/>
          </a:stretch>
        </p:blipFill>
        <p:spPr>
          <a:xfrm>
            <a:off x="431800" y="1784350"/>
            <a:ext cx="7632700" cy="3516313"/>
          </a:xfrm>
          <a:prstGeom prst="rect">
            <a:avLst/>
          </a:prstGeom>
          <a:noFill/>
          <a:ln w="9525">
            <a:noFill/>
          </a:ln>
        </p:spPr>
      </p:pic>
      <p:sp>
        <p:nvSpPr>
          <p:cNvPr id="41987" name="Text Box 5"/>
          <p:cNvSpPr txBox="1"/>
          <p:nvPr/>
        </p:nvSpPr>
        <p:spPr>
          <a:xfrm>
            <a:off x="468313" y="620713"/>
            <a:ext cx="8388350" cy="8223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t>        </a:t>
            </a:r>
            <a:r>
              <a:rPr lang="zh-CN" altLang="en-US" sz="2400" b="1" dirty="0"/>
              <a:t>当进程</a:t>
            </a:r>
            <a:r>
              <a:rPr lang="zh-CN" altLang="en-US" sz="2400" b="1" dirty="0">
                <a:solidFill>
                  <a:srgbClr val="CC3300"/>
                </a:solidFill>
              </a:rPr>
              <a:t>访问某物理块时</a:t>
            </a:r>
            <a:r>
              <a:rPr lang="en-US" altLang="zh-CN" sz="2400" b="1" dirty="0"/>
              <a:t>,</a:t>
            </a:r>
            <a:r>
              <a:rPr lang="zh-CN" altLang="en-US" sz="2400" b="1" dirty="0"/>
              <a:t>将相应的移位寄存器的</a:t>
            </a:r>
            <a:r>
              <a:rPr lang="en-US" altLang="zh-CN" sz="2400" b="1" dirty="0"/>
              <a:t>R</a:t>
            </a:r>
            <a:r>
              <a:rPr lang="en-US" altLang="zh-CN" sz="2400" b="1" baseline="-25000" dirty="0"/>
              <a:t>n-1</a:t>
            </a:r>
            <a:r>
              <a:rPr lang="zh-CN" altLang="en-US" sz="2400" b="1" dirty="0"/>
              <a:t>（即最高位）位置成</a:t>
            </a:r>
            <a:r>
              <a:rPr lang="en-US" altLang="zh-CN" sz="2400" b="1" dirty="0"/>
              <a:t>1,</a:t>
            </a:r>
            <a:r>
              <a:rPr lang="zh-CN" altLang="en-US" sz="2400" b="1" dirty="0"/>
              <a:t>定时信号每隔一定时间将寄存器右移一位。</a:t>
            </a:r>
            <a:endParaRPr lang="zh-CN" altLang="en-US" sz="2400" b="1" dirty="0"/>
          </a:p>
        </p:txBody>
      </p:sp>
      <p:sp>
        <p:nvSpPr>
          <p:cNvPr id="41988" name="AutoShape 6"/>
          <p:cNvSpPr/>
          <p:nvPr/>
        </p:nvSpPr>
        <p:spPr>
          <a:xfrm>
            <a:off x="3167063" y="5624513"/>
            <a:ext cx="5113337" cy="1008062"/>
          </a:xfrm>
          <a:prstGeom prst="cloudCallout">
            <a:avLst>
              <a:gd name="adj1" fmla="val -29384"/>
              <a:gd name="adj2" fmla="val -132676"/>
            </a:avLst>
          </a:prstGeom>
          <a:solidFill>
            <a:srgbClr val="CCFFCC"/>
          </a:solidFill>
          <a:ln w="9525" cap="flat" cmpd="sng">
            <a:solidFill>
              <a:schemeClr val="tx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800" b="1" dirty="0">
                <a:solidFill>
                  <a:schemeClr val="hlink"/>
                </a:solidFill>
              </a:rPr>
              <a:t>应换出哪个页面？</a:t>
            </a:r>
            <a:endParaRPr lang="zh-CN" altLang="en-US" sz="2800" b="1" dirty="0">
              <a:solidFill>
                <a:schemeClr val="hlink"/>
              </a:solidFill>
            </a:endParaRPr>
          </a:p>
        </p:txBody>
      </p:sp>
    </p:spTree>
  </p:cSld>
  <p:clrMapOvr>
    <a:masterClrMapping/>
  </p:clrMapOvr>
  <p:transition>
    <p:zo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p:nvPr/>
        </p:nvSpPr>
        <p:spPr>
          <a:xfrm>
            <a:off x="701675" y="836613"/>
            <a:ext cx="7740650" cy="5762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50000"/>
              </a:lnSpc>
              <a:spcBef>
                <a:spcPct val="0"/>
              </a:spcBef>
              <a:buClrTx/>
              <a:buSzTx/>
              <a:buFontTx/>
              <a:buNone/>
            </a:pPr>
            <a:r>
              <a:rPr lang="en-US" altLang="zh-CN" sz="2400" b="1" dirty="0">
                <a:latin typeface="Times New Roman" panose="02020603050405020304" pitchFamily="18" charset="0"/>
              </a:rPr>
              <a:t>2</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时间戳</a:t>
            </a:r>
            <a:endParaRPr lang="zh-CN" altLang="en-US" sz="2400" b="1" dirty="0">
              <a:latin typeface="Times New Roman" panose="02020603050405020304" pitchFamily="18" charset="0"/>
            </a:endParaRPr>
          </a:p>
        </p:txBody>
      </p:sp>
      <p:sp>
        <p:nvSpPr>
          <p:cNvPr id="43011" name="文本框 3"/>
          <p:cNvSpPr txBox="1"/>
          <p:nvPr/>
        </p:nvSpPr>
        <p:spPr>
          <a:xfrm>
            <a:off x="323850" y="4514850"/>
            <a:ext cx="8351838" cy="1753235"/>
          </a:xfrm>
          <a:prstGeom prst="rect">
            <a:avLst/>
          </a:prstGeom>
          <a:solidFill>
            <a:schemeClr val="bg1"/>
          </a:solidFill>
          <a:ln w="9525">
            <a:noFill/>
          </a:ln>
        </p:spPr>
        <p:txBody>
          <a:bodyPr>
            <a:spAutoFit/>
          </a:bodyPr>
          <a:lstStyle/>
          <a:p>
            <a:pPr>
              <a:lnSpc>
                <a:spcPct val="150000"/>
              </a:lnSpc>
              <a:buNone/>
            </a:pPr>
            <a:r>
              <a:rPr lang="zh-CN" altLang="en-US" sz="2400" dirty="0">
                <a:solidFill>
                  <a:schemeClr val="tx1"/>
                </a:solidFill>
                <a:latin typeface="Arial" panose="020B0604020202020204" pitchFamily="34" charset="0"/>
              </a:rPr>
              <a:t>使用</a:t>
            </a:r>
            <a:r>
              <a:rPr lang="zh-CN" altLang="en-US" sz="2400" dirty="0">
                <a:solidFill>
                  <a:srgbClr val="FF0000"/>
                </a:solidFill>
                <a:latin typeface="Arial" panose="020B0604020202020204" pitchFamily="34" charset="0"/>
              </a:rPr>
              <a:t>时刻（时间戳），</a:t>
            </a:r>
            <a:r>
              <a:rPr lang="zh-CN" altLang="en-US" sz="2400" dirty="0">
                <a:solidFill>
                  <a:srgbClr val="000000"/>
                </a:solidFill>
                <a:latin typeface="Arial" panose="020B0604020202020204" pitchFamily="34" charset="0"/>
              </a:rPr>
              <a:t>选有最小时间戳的页面淘汰。</a:t>
            </a:r>
            <a:endParaRPr lang="en-US" altLang="zh-CN" sz="2400" dirty="0">
              <a:solidFill>
                <a:srgbClr val="000000"/>
              </a:solidFill>
              <a:latin typeface="Arial" panose="020B0604020202020204" pitchFamily="34" charset="0"/>
            </a:endParaRPr>
          </a:p>
          <a:p>
            <a:pPr>
              <a:lnSpc>
                <a:spcPct val="150000"/>
              </a:lnSpc>
              <a:buNone/>
            </a:pPr>
            <a:r>
              <a:rPr lang="zh-CN" altLang="en-US" sz="2400" dirty="0">
                <a:solidFill>
                  <a:srgbClr val="FF0000"/>
                </a:solidFill>
                <a:latin typeface="Arial" panose="020B0604020202020204" pitchFamily="34" charset="0"/>
              </a:rPr>
              <a:t>缺点：</a:t>
            </a:r>
            <a:r>
              <a:rPr lang="zh-CN" altLang="en-US" sz="2400" dirty="0">
                <a:solidFill>
                  <a:srgbClr val="000000"/>
                </a:solidFill>
                <a:latin typeface="Arial" panose="020B0604020202020204" pitchFamily="34" charset="0"/>
              </a:rPr>
              <a:t>每执行一条指令都需要修改时间戳的信息，且时间戳很容易溢出。</a:t>
            </a:r>
            <a:endParaRPr lang="zh-CN" altLang="en-US" sz="2400" dirty="0">
              <a:solidFill>
                <a:srgbClr val="000000"/>
              </a:solidFill>
              <a:latin typeface="Arial" panose="020B0604020202020204" pitchFamily="34" charset="0"/>
            </a:endParaRPr>
          </a:p>
        </p:txBody>
      </p:sp>
      <p:grpSp>
        <p:nvGrpSpPr>
          <p:cNvPr id="43012" name="组合 20"/>
          <p:cNvGrpSpPr/>
          <p:nvPr/>
        </p:nvGrpSpPr>
        <p:grpSpPr>
          <a:xfrm>
            <a:off x="323850" y="1773238"/>
            <a:ext cx="9217025" cy="2613025"/>
            <a:chOff x="323528" y="2060848"/>
            <a:chExt cx="9256826" cy="2613125"/>
          </a:xfrm>
        </p:grpSpPr>
        <p:graphicFrame>
          <p:nvGraphicFramePr>
            <p:cNvPr id="43013" name="Object 5"/>
            <p:cNvGraphicFramePr>
              <a:graphicFrameLocks noChangeAspect="1"/>
            </p:cNvGraphicFramePr>
            <p:nvPr/>
          </p:nvGraphicFramePr>
          <p:xfrm>
            <a:off x="323528" y="2060848"/>
            <a:ext cx="9256826" cy="2613125"/>
          </p:xfrm>
          <a:graphic>
            <a:graphicData uri="http://schemas.openxmlformats.org/presentationml/2006/ole">
              <mc:AlternateContent xmlns:mc="http://schemas.openxmlformats.org/markup-compatibility/2006">
                <mc:Choice xmlns:v="urn:schemas-microsoft-com:vml" Requires="v">
                  <p:oleObj spid="_x0000_s2" name="" r:id="rId1" imgW="4312920" imgH="1219200" progId="Visio.Drawing.4">
                    <p:embed/>
                  </p:oleObj>
                </mc:Choice>
                <mc:Fallback>
                  <p:oleObj name="" r:id="rId1" imgW="4312920" imgH="1219200" progId="Visio.Drawing.4">
                    <p:embed/>
                    <p:pic>
                      <p:nvPicPr>
                        <p:cNvPr id="0" name="图片 3082"/>
                        <p:cNvPicPr/>
                        <p:nvPr/>
                      </p:nvPicPr>
                      <p:blipFill>
                        <a:blip r:embed="rId2"/>
                        <a:stretch>
                          <a:fillRect/>
                        </a:stretch>
                      </p:blipFill>
                      <p:spPr>
                        <a:xfrm>
                          <a:off x="323528" y="2060848"/>
                          <a:ext cx="9256826" cy="2613125"/>
                        </a:xfrm>
                        <a:prstGeom prst="rect">
                          <a:avLst/>
                        </a:prstGeom>
                        <a:noFill/>
                        <a:ln w="38100">
                          <a:noFill/>
                          <a:miter/>
                        </a:ln>
                      </p:spPr>
                    </p:pic>
                  </p:oleObj>
                </mc:Fallback>
              </mc:AlternateContent>
            </a:graphicData>
          </a:graphic>
        </p:graphicFrame>
        <p:sp>
          <p:nvSpPr>
            <p:cNvPr id="43014" name="文本框 6"/>
            <p:cNvSpPr txBox="1"/>
            <p:nvPr/>
          </p:nvSpPr>
          <p:spPr>
            <a:xfrm>
              <a:off x="719572" y="2977207"/>
              <a:ext cx="324036" cy="307777"/>
            </a:xfrm>
            <a:prstGeom prst="rect">
              <a:avLst/>
            </a:prstGeom>
            <a:noFill/>
            <a:ln w="9525">
              <a:noFill/>
            </a:ln>
          </p:spPr>
          <p:txBody>
            <a:bodyPr>
              <a:spAutoFit/>
            </a:bodyPr>
            <a:lstStyle/>
            <a:p>
              <a:pPr>
                <a:buNone/>
              </a:pPr>
              <a:r>
                <a:rPr lang="en-US" altLang="zh-CN" sz="1400" dirty="0">
                  <a:solidFill>
                    <a:srgbClr val="FF0000"/>
                  </a:solidFill>
                  <a:latin typeface="Arial" panose="020B0604020202020204" pitchFamily="34" charset="0"/>
                </a:rPr>
                <a:t>1</a:t>
              </a:r>
              <a:endParaRPr lang="zh-CN" altLang="en-US" sz="1400" dirty="0">
                <a:solidFill>
                  <a:srgbClr val="FF0000"/>
                </a:solidFill>
                <a:latin typeface="Arial" panose="020B0604020202020204" pitchFamily="34" charset="0"/>
              </a:endParaRPr>
            </a:p>
          </p:txBody>
        </p:sp>
        <p:sp>
          <p:nvSpPr>
            <p:cNvPr id="43015" name="文本框 7"/>
            <p:cNvSpPr txBox="1"/>
            <p:nvPr/>
          </p:nvSpPr>
          <p:spPr>
            <a:xfrm>
              <a:off x="1151620" y="2969332"/>
              <a:ext cx="324036" cy="307777"/>
            </a:xfrm>
            <a:prstGeom prst="rect">
              <a:avLst/>
            </a:prstGeom>
            <a:noFill/>
            <a:ln w="9525">
              <a:noFill/>
            </a:ln>
          </p:spPr>
          <p:txBody>
            <a:bodyPr>
              <a:spAutoFit/>
            </a:bodyPr>
            <a:lstStyle/>
            <a:p>
              <a:pPr>
                <a:buNone/>
              </a:pPr>
              <a:r>
                <a:rPr lang="en-US" altLang="zh-CN" sz="1400" dirty="0">
                  <a:solidFill>
                    <a:srgbClr val="FF0000"/>
                  </a:solidFill>
                  <a:latin typeface="Arial" panose="020B0604020202020204" pitchFamily="34" charset="0"/>
                </a:rPr>
                <a:t>1</a:t>
              </a:r>
              <a:endParaRPr lang="zh-CN" altLang="en-US" sz="1400" dirty="0">
                <a:solidFill>
                  <a:srgbClr val="FF0000"/>
                </a:solidFill>
                <a:latin typeface="Arial" panose="020B0604020202020204" pitchFamily="34" charset="0"/>
              </a:endParaRPr>
            </a:p>
          </p:txBody>
        </p:sp>
        <p:sp>
          <p:nvSpPr>
            <p:cNvPr id="43016" name="文本框 8"/>
            <p:cNvSpPr txBox="1"/>
            <p:nvPr/>
          </p:nvSpPr>
          <p:spPr>
            <a:xfrm>
              <a:off x="1187624" y="3427003"/>
              <a:ext cx="324036" cy="307777"/>
            </a:xfrm>
            <a:prstGeom prst="rect">
              <a:avLst/>
            </a:prstGeom>
            <a:noFill/>
            <a:ln w="9525">
              <a:noFill/>
            </a:ln>
          </p:spPr>
          <p:txBody>
            <a:bodyPr>
              <a:spAutoFit/>
            </a:bodyPr>
            <a:lstStyle/>
            <a:p>
              <a:pPr>
                <a:buNone/>
              </a:pPr>
              <a:r>
                <a:rPr lang="en-US" altLang="zh-CN" sz="1400" dirty="0">
                  <a:solidFill>
                    <a:srgbClr val="FF0000"/>
                  </a:solidFill>
                  <a:latin typeface="Arial" panose="020B0604020202020204" pitchFamily="34" charset="0"/>
                </a:rPr>
                <a:t>2</a:t>
              </a:r>
              <a:endParaRPr lang="zh-CN" altLang="en-US" sz="1400" dirty="0">
                <a:solidFill>
                  <a:srgbClr val="FF0000"/>
                </a:solidFill>
                <a:latin typeface="Arial" panose="020B0604020202020204" pitchFamily="34" charset="0"/>
              </a:endParaRPr>
            </a:p>
          </p:txBody>
        </p:sp>
        <p:sp>
          <p:nvSpPr>
            <p:cNvPr id="43017" name="文本框 9"/>
            <p:cNvSpPr txBox="1"/>
            <p:nvPr/>
          </p:nvSpPr>
          <p:spPr>
            <a:xfrm>
              <a:off x="1655676" y="3897052"/>
              <a:ext cx="324036" cy="307777"/>
            </a:xfrm>
            <a:prstGeom prst="rect">
              <a:avLst/>
            </a:prstGeom>
            <a:noFill/>
            <a:ln w="9525">
              <a:noFill/>
            </a:ln>
          </p:spPr>
          <p:txBody>
            <a:bodyPr>
              <a:spAutoFit/>
            </a:bodyPr>
            <a:lstStyle/>
            <a:p>
              <a:pPr>
                <a:buNone/>
              </a:pPr>
              <a:r>
                <a:rPr lang="en-US" altLang="zh-CN" sz="1400" dirty="0">
                  <a:solidFill>
                    <a:srgbClr val="FF0000"/>
                  </a:solidFill>
                  <a:latin typeface="Arial" panose="020B0604020202020204" pitchFamily="34" charset="0"/>
                </a:rPr>
                <a:t>3</a:t>
              </a:r>
              <a:endParaRPr lang="zh-CN" altLang="en-US" sz="1400" dirty="0">
                <a:solidFill>
                  <a:srgbClr val="FF0000"/>
                </a:solidFill>
                <a:latin typeface="Arial" panose="020B0604020202020204" pitchFamily="34" charset="0"/>
              </a:endParaRPr>
            </a:p>
          </p:txBody>
        </p:sp>
        <p:sp>
          <p:nvSpPr>
            <p:cNvPr id="43018" name="文本框 10"/>
            <p:cNvSpPr txBox="1"/>
            <p:nvPr/>
          </p:nvSpPr>
          <p:spPr>
            <a:xfrm>
              <a:off x="2081599" y="2958004"/>
              <a:ext cx="324036" cy="307777"/>
            </a:xfrm>
            <a:prstGeom prst="rect">
              <a:avLst/>
            </a:prstGeom>
            <a:noFill/>
            <a:ln w="9525">
              <a:noFill/>
            </a:ln>
          </p:spPr>
          <p:txBody>
            <a:bodyPr>
              <a:spAutoFit/>
            </a:bodyPr>
            <a:lstStyle/>
            <a:p>
              <a:pPr>
                <a:buNone/>
              </a:pPr>
              <a:r>
                <a:rPr lang="en-US" altLang="zh-CN" sz="1400" dirty="0">
                  <a:solidFill>
                    <a:srgbClr val="FF0000"/>
                  </a:solidFill>
                  <a:latin typeface="Arial" panose="020B0604020202020204" pitchFamily="34" charset="0"/>
                </a:rPr>
                <a:t>4</a:t>
              </a:r>
              <a:endParaRPr lang="zh-CN" altLang="en-US" sz="1400" dirty="0">
                <a:solidFill>
                  <a:srgbClr val="FF0000"/>
                </a:solidFill>
                <a:latin typeface="Arial" panose="020B0604020202020204" pitchFamily="34" charset="0"/>
              </a:endParaRPr>
            </a:p>
          </p:txBody>
        </p:sp>
        <p:sp>
          <p:nvSpPr>
            <p:cNvPr id="43020" name="文本框 13"/>
            <p:cNvSpPr txBox="1"/>
            <p:nvPr/>
          </p:nvSpPr>
          <p:spPr>
            <a:xfrm>
              <a:off x="3023828" y="3877307"/>
              <a:ext cx="324036" cy="307777"/>
            </a:xfrm>
            <a:prstGeom prst="rect">
              <a:avLst/>
            </a:prstGeom>
            <a:noFill/>
            <a:ln w="9525">
              <a:noFill/>
            </a:ln>
          </p:spPr>
          <p:txBody>
            <a:bodyPr>
              <a:spAutoFit/>
            </a:bodyPr>
            <a:lstStyle/>
            <a:p>
              <a:pPr>
                <a:buNone/>
              </a:pPr>
              <a:r>
                <a:rPr lang="en-US" altLang="zh-CN" sz="1400" dirty="0">
                  <a:solidFill>
                    <a:srgbClr val="FF0000"/>
                  </a:solidFill>
                  <a:latin typeface="Arial" panose="020B0604020202020204" pitchFamily="34" charset="0"/>
                </a:rPr>
                <a:t>6</a:t>
              </a:r>
              <a:endParaRPr lang="zh-CN" altLang="en-US" sz="1400" dirty="0">
                <a:solidFill>
                  <a:srgbClr val="FF0000"/>
                </a:solidFill>
                <a:latin typeface="Arial" panose="020B0604020202020204" pitchFamily="34" charset="0"/>
              </a:endParaRPr>
            </a:p>
          </p:txBody>
        </p:sp>
        <p:sp>
          <p:nvSpPr>
            <p:cNvPr id="43021" name="文本框 14"/>
            <p:cNvSpPr txBox="1"/>
            <p:nvPr/>
          </p:nvSpPr>
          <p:spPr>
            <a:xfrm>
              <a:off x="3023828" y="2960948"/>
              <a:ext cx="324036" cy="307777"/>
            </a:xfrm>
            <a:prstGeom prst="rect">
              <a:avLst/>
            </a:prstGeom>
            <a:noFill/>
            <a:ln w="9525">
              <a:noFill/>
            </a:ln>
          </p:spPr>
          <p:txBody>
            <a:bodyPr>
              <a:spAutoFit/>
            </a:bodyPr>
            <a:lstStyle/>
            <a:p>
              <a:pPr>
                <a:buNone/>
              </a:pPr>
              <a:r>
                <a:rPr lang="en-US" altLang="zh-CN" sz="1400" dirty="0">
                  <a:solidFill>
                    <a:srgbClr val="FF0000"/>
                  </a:solidFill>
                  <a:latin typeface="Arial" panose="020B0604020202020204" pitchFamily="34" charset="0"/>
                </a:rPr>
                <a:t>4</a:t>
              </a:r>
              <a:endParaRPr lang="zh-CN" altLang="en-US" sz="1400" dirty="0">
                <a:solidFill>
                  <a:srgbClr val="FF0000"/>
                </a:solidFill>
                <a:latin typeface="Arial" panose="020B0604020202020204" pitchFamily="34" charset="0"/>
              </a:endParaRPr>
            </a:p>
          </p:txBody>
        </p:sp>
        <p:sp>
          <p:nvSpPr>
            <p:cNvPr id="43022" name="文本框 15"/>
            <p:cNvSpPr txBox="1"/>
            <p:nvPr/>
          </p:nvSpPr>
          <p:spPr>
            <a:xfrm>
              <a:off x="3023828" y="3409255"/>
              <a:ext cx="324036" cy="307777"/>
            </a:xfrm>
            <a:prstGeom prst="rect">
              <a:avLst/>
            </a:prstGeom>
            <a:noFill/>
            <a:ln w="9525">
              <a:noFill/>
            </a:ln>
          </p:spPr>
          <p:txBody>
            <a:bodyPr>
              <a:spAutoFit/>
            </a:bodyPr>
            <a:lstStyle/>
            <a:p>
              <a:pPr>
                <a:buNone/>
              </a:pPr>
              <a:r>
                <a:rPr lang="en-US" altLang="zh-CN" sz="1400" dirty="0">
                  <a:solidFill>
                    <a:srgbClr val="FF0000"/>
                  </a:solidFill>
                  <a:latin typeface="Arial" panose="020B0604020202020204" pitchFamily="34" charset="0"/>
                </a:rPr>
                <a:t>5</a:t>
              </a:r>
              <a:endParaRPr lang="zh-CN" altLang="en-US" sz="1400" dirty="0">
                <a:solidFill>
                  <a:srgbClr val="FF0000"/>
                </a:solidFill>
                <a:latin typeface="Arial" panose="020B0604020202020204" pitchFamily="34" charset="0"/>
              </a:endParaRPr>
            </a:p>
          </p:txBody>
        </p:sp>
        <p:sp>
          <p:nvSpPr>
            <p:cNvPr id="43023" name="文本框 16"/>
            <p:cNvSpPr txBox="1"/>
            <p:nvPr/>
          </p:nvSpPr>
          <p:spPr>
            <a:xfrm>
              <a:off x="3959932" y="2941203"/>
              <a:ext cx="324036" cy="307777"/>
            </a:xfrm>
            <a:prstGeom prst="rect">
              <a:avLst/>
            </a:prstGeom>
            <a:noFill/>
            <a:ln w="9525">
              <a:noFill/>
            </a:ln>
          </p:spPr>
          <p:txBody>
            <a:bodyPr>
              <a:spAutoFit/>
            </a:bodyPr>
            <a:lstStyle/>
            <a:p>
              <a:pPr>
                <a:buNone/>
              </a:pPr>
              <a:r>
                <a:rPr lang="en-US" altLang="zh-CN" sz="1400" dirty="0">
                  <a:solidFill>
                    <a:srgbClr val="FF0000"/>
                  </a:solidFill>
                  <a:latin typeface="Arial" panose="020B0604020202020204" pitchFamily="34" charset="0"/>
                </a:rPr>
                <a:t>8</a:t>
              </a:r>
              <a:endParaRPr lang="zh-CN" altLang="en-US" sz="1400" dirty="0">
                <a:solidFill>
                  <a:srgbClr val="FF0000"/>
                </a:solidFill>
                <a:latin typeface="Arial" panose="020B0604020202020204" pitchFamily="34" charset="0"/>
              </a:endParaRPr>
            </a:p>
          </p:txBody>
        </p:sp>
        <p:sp>
          <p:nvSpPr>
            <p:cNvPr id="43024" name="文本框 17"/>
            <p:cNvSpPr txBox="1"/>
            <p:nvPr/>
          </p:nvSpPr>
          <p:spPr>
            <a:xfrm>
              <a:off x="3923928" y="3445259"/>
              <a:ext cx="324036" cy="307777"/>
            </a:xfrm>
            <a:prstGeom prst="rect">
              <a:avLst/>
            </a:prstGeom>
            <a:noFill/>
            <a:ln w="9525">
              <a:noFill/>
            </a:ln>
          </p:spPr>
          <p:txBody>
            <a:bodyPr>
              <a:spAutoFit/>
            </a:bodyPr>
            <a:lstStyle/>
            <a:p>
              <a:pPr>
                <a:buNone/>
              </a:pPr>
              <a:r>
                <a:rPr lang="en-US" altLang="zh-CN" sz="1400" dirty="0">
                  <a:solidFill>
                    <a:srgbClr val="FF0000"/>
                  </a:solidFill>
                  <a:latin typeface="Arial" panose="020B0604020202020204" pitchFamily="34" charset="0"/>
                </a:rPr>
                <a:t>7</a:t>
              </a:r>
              <a:endParaRPr lang="zh-CN" altLang="en-US" sz="1400" dirty="0">
                <a:solidFill>
                  <a:srgbClr val="FF0000"/>
                </a:solidFill>
                <a:latin typeface="Arial" panose="020B0604020202020204" pitchFamily="34" charset="0"/>
              </a:endParaRPr>
            </a:p>
          </p:txBody>
        </p:sp>
        <p:sp>
          <p:nvSpPr>
            <p:cNvPr id="43025" name="文本框 18"/>
            <p:cNvSpPr txBox="1"/>
            <p:nvPr/>
          </p:nvSpPr>
          <p:spPr>
            <a:xfrm>
              <a:off x="3959932" y="3897052"/>
              <a:ext cx="324036" cy="307777"/>
            </a:xfrm>
            <a:prstGeom prst="rect">
              <a:avLst/>
            </a:prstGeom>
            <a:noFill/>
            <a:ln w="9525">
              <a:noFill/>
            </a:ln>
          </p:spPr>
          <p:txBody>
            <a:bodyPr>
              <a:spAutoFit/>
            </a:bodyPr>
            <a:lstStyle/>
            <a:p>
              <a:pPr>
                <a:buNone/>
              </a:pPr>
              <a:r>
                <a:rPr lang="en-US" altLang="zh-CN" sz="1400" dirty="0">
                  <a:solidFill>
                    <a:srgbClr val="FF0000"/>
                  </a:solidFill>
                  <a:latin typeface="Arial" panose="020B0604020202020204" pitchFamily="34" charset="0"/>
                </a:rPr>
                <a:t>6</a:t>
              </a:r>
              <a:endParaRPr lang="zh-CN" altLang="en-US" sz="1400" dirty="0">
                <a:solidFill>
                  <a:srgbClr val="FF0000"/>
                </a:solidFill>
                <a:latin typeface="Arial" panose="020B0604020202020204" pitchFamily="34" charset="0"/>
              </a:endParaRPr>
            </a:p>
          </p:txBody>
        </p:sp>
        <p:sp>
          <p:nvSpPr>
            <p:cNvPr id="43026" name="文本框 19"/>
            <p:cNvSpPr txBox="1"/>
            <p:nvPr/>
          </p:nvSpPr>
          <p:spPr>
            <a:xfrm>
              <a:off x="2087724" y="3897052"/>
              <a:ext cx="324036" cy="307777"/>
            </a:xfrm>
            <a:prstGeom prst="rect">
              <a:avLst/>
            </a:prstGeom>
            <a:noFill/>
            <a:ln w="9525">
              <a:noFill/>
            </a:ln>
          </p:spPr>
          <p:txBody>
            <a:bodyPr>
              <a:spAutoFit/>
            </a:bodyPr>
            <a:lstStyle/>
            <a:p>
              <a:pPr>
                <a:buNone/>
              </a:pPr>
              <a:r>
                <a:rPr lang="en-US" altLang="zh-CN" sz="1400" dirty="0">
                  <a:solidFill>
                    <a:srgbClr val="FF0000"/>
                  </a:solidFill>
                  <a:latin typeface="Arial" panose="020B0604020202020204" pitchFamily="34" charset="0"/>
                </a:rPr>
                <a:t>3</a:t>
              </a:r>
              <a:endParaRPr lang="zh-CN" altLang="en-US" sz="1400" dirty="0">
                <a:solidFill>
                  <a:srgbClr val="FF0000"/>
                </a:solidFill>
                <a:latin typeface="Arial" panose="020B0604020202020204" pitchFamily="34" charset="0"/>
              </a:endParaRPr>
            </a:p>
          </p:txBody>
        </p:sp>
      </p:grpSp>
      <p:sp>
        <p:nvSpPr>
          <p:cNvPr id="3" name="文本框 8"/>
          <p:cNvSpPr txBox="1"/>
          <p:nvPr>
            <p:custDataLst>
              <p:tags r:id="rId3"/>
            </p:custDataLst>
          </p:nvPr>
        </p:nvSpPr>
        <p:spPr>
          <a:xfrm>
            <a:off x="1631271" y="3124101"/>
            <a:ext cx="322643" cy="307765"/>
          </a:xfrm>
          <a:prstGeom prst="rect">
            <a:avLst/>
          </a:prstGeom>
          <a:noFill/>
          <a:ln w="9525">
            <a:noFill/>
          </a:ln>
        </p:spPr>
        <p:txBody>
          <a:bodyPr>
            <a:spAutoFit/>
          </a:bodyPr>
          <a:p>
            <a:pPr>
              <a:buNone/>
            </a:pPr>
            <a:r>
              <a:rPr lang="en-US" altLang="zh-CN" sz="1400" dirty="0">
                <a:solidFill>
                  <a:srgbClr val="FF0000"/>
                </a:solidFill>
                <a:latin typeface="Arial" panose="020B0604020202020204" pitchFamily="34" charset="0"/>
              </a:rPr>
              <a:t>2</a:t>
            </a:r>
            <a:endParaRPr lang="zh-CN" altLang="en-US" sz="1400" dirty="0">
              <a:solidFill>
                <a:srgbClr val="FF0000"/>
              </a:solidFill>
              <a:latin typeface="Arial" panose="020B0604020202020204" pitchFamily="34" charset="0"/>
            </a:endParaRPr>
          </a:p>
        </p:txBody>
      </p:sp>
      <p:sp>
        <p:nvSpPr>
          <p:cNvPr id="4" name="文本框 8"/>
          <p:cNvSpPr txBox="1"/>
          <p:nvPr>
            <p:custDataLst>
              <p:tags r:id="rId4"/>
            </p:custDataLst>
          </p:nvPr>
        </p:nvSpPr>
        <p:spPr>
          <a:xfrm>
            <a:off x="2113871" y="3144421"/>
            <a:ext cx="322643" cy="307765"/>
          </a:xfrm>
          <a:prstGeom prst="rect">
            <a:avLst/>
          </a:prstGeom>
          <a:noFill/>
          <a:ln w="9525">
            <a:noFill/>
          </a:ln>
        </p:spPr>
        <p:txBody>
          <a:bodyPr>
            <a:spAutoFit/>
          </a:bodyPr>
          <a:p>
            <a:pPr>
              <a:buNone/>
            </a:pPr>
            <a:r>
              <a:rPr lang="en-US" altLang="zh-CN" sz="1400" dirty="0">
                <a:solidFill>
                  <a:srgbClr val="FF0000"/>
                </a:solidFill>
                <a:latin typeface="Arial" panose="020B0604020202020204" pitchFamily="34" charset="0"/>
              </a:rPr>
              <a:t>2</a:t>
            </a:r>
            <a:endParaRPr lang="zh-CN" altLang="en-US" sz="1400" dirty="0">
              <a:solidFill>
                <a:srgbClr val="FF0000"/>
              </a:solidFill>
              <a:latin typeface="Arial" panose="020B0604020202020204" pitchFamily="34" charset="0"/>
            </a:endParaRPr>
          </a:p>
        </p:txBody>
      </p:sp>
      <p:sp>
        <p:nvSpPr>
          <p:cNvPr id="5" name="文本框 7"/>
          <p:cNvSpPr txBox="1"/>
          <p:nvPr>
            <p:custDataLst>
              <p:tags r:id="rId5"/>
            </p:custDataLst>
          </p:nvPr>
        </p:nvSpPr>
        <p:spPr>
          <a:xfrm>
            <a:off x="1630982" y="2666447"/>
            <a:ext cx="322643" cy="307765"/>
          </a:xfrm>
          <a:prstGeom prst="rect">
            <a:avLst/>
          </a:prstGeom>
          <a:noFill/>
          <a:ln w="9525">
            <a:noFill/>
          </a:ln>
        </p:spPr>
        <p:txBody>
          <a:bodyPr>
            <a:spAutoFit/>
          </a:bodyPr>
          <a:p>
            <a:pPr>
              <a:buNone/>
            </a:pPr>
            <a:r>
              <a:rPr lang="en-US" altLang="zh-CN" sz="1400" dirty="0">
                <a:solidFill>
                  <a:srgbClr val="FF0000"/>
                </a:solidFill>
                <a:latin typeface="Arial" panose="020B0604020202020204" pitchFamily="34" charset="0"/>
              </a:rPr>
              <a:t>1</a:t>
            </a:r>
            <a:endParaRPr lang="zh-CN" altLang="en-US" sz="1400" dirty="0">
              <a:solidFill>
                <a:srgbClr val="FF0000"/>
              </a:solidFill>
              <a:latin typeface="Arial" panose="020B0604020202020204" pitchFamily="34" charset="0"/>
            </a:endParaRPr>
          </a:p>
        </p:txBody>
      </p:sp>
    </p:spTree>
  </p:cSld>
  <p:clrMapOvr>
    <a:masterClrMapping/>
  </p:clrMapOvr>
  <p:transition>
    <p:blinds/>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Text Box 2"/>
          <p:cNvSpPr txBox="1"/>
          <p:nvPr/>
        </p:nvSpPr>
        <p:spPr>
          <a:xfrm>
            <a:off x="762000" y="441325"/>
            <a:ext cx="904875"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3) </a:t>
            </a:r>
            <a:r>
              <a:rPr lang="zh-CN" altLang="en-US" sz="2400" b="1" dirty="0">
                <a:latin typeface="Times New Roman" panose="02020603050405020304" pitchFamily="18" charset="0"/>
              </a:rPr>
              <a:t>栈 </a:t>
            </a:r>
            <a:endParaRPr lang="zh-CN" altLang="en-US" sz="2400" b="1" dirty="0">
              <a:latin typeface="Times New Roman" panose="02020603050405020304" pitchFamily="18" charset="0"/>
            </a:endParaRPr>
          </a:p>
        </p:txBody>
      </p:sp>
      <p:graphicFrame>
        <p:nvGraphicFramePr>
          <p:cNvPr id="44035" name="Object 4"/>
          <p:cNvGraphicFramePr>
            <a:graphicFrameLocks noChangeAspect="1"/>
          </p:cNvGraphicFramePr>
          <p:nvPr/>
        </p:nvGraphicFramePr>
        <p:xfrm>
          <a:off x="431800" y="2711450"/>
          <a:ext cx="7991475" cy="2403475"/>
        </p:xfrm>
        <a:graphic>
          <a:graphicData uri="http://schemas.openxmlformats.org/presentationml/2006/ole">
            <mc:AlternateContent xmlns:mc="http://schemas.openxmlformats.org/markup-compatibility/2006">
              <mc:Choice xmlns:v="urn:schemas-microsoft-com:vml" Requires="v">
                <p:oleObj spid="_x0000_s2" name="" r:id="rId1" imgW="3086100" imgH="929640" progId="Visio.Drawing.4">
                  <p:embed/>
                </p:oleObj>
              </mc:Choice>
              <mc:Fallback>
                <p:oleObj name="" r:id="rId1" imgW="3086100" imgH="929640" progId="Visio.Drawing.4">
                  <p:embed/>
                  <p:pic>
                    <p:nvPicPr>
                      <p:cNvPr id="0" name="图片 3084"/>
                      <p:cNvPicPr/>
                      <p:nvPr/>
                    </p:nvPicPr>
                    <p:blipFill>
                      <a:blip r:embed="rId2"/>
                      <a:stretch>
                        <a:fillRect/>
                      </a:stretch>
                    </p:blipFill>
                    <p:spPr>
                      <a:xfrm>
                        <a:off x="431800" y="2711450"/>
                        <a:ext cx="7991475" cy="2403475"/>
                      </a:xfrm>
                      <a:prstGeom prst="rect">
                        <a:avLst/>
                      </a:prstGeom>
                      <a:noFill/>
                      <a:ln w="38100">
                        <a:noFill/>
                        <a:miter/>
                      </a:ln>
                    </p:spPr>
                  </p:pic>
                </p:oleObj>
              </mc:Fallback>
            </mc:AlternateContent>
          </a:graphicData>
        </a:graphic>
      </p:graphicFrame>
      <p:sp>
        <p:nvSpPr>
          <p:cNvPr id="44036" name="Text Box 5"/>
          <p:cNvSpPr txBox="1"/>
          <p:nvPr/>
        </p:nvSpPr>
        <p:spPr>
          <a:xfrm>
            <a:off x="574675" y="809625"/>
            <a:ext cx="8137525" cy="17748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50000"/>
              </a:lnSpc>
              <a:spcBef>
                <a:spcPct val="0"/>
              </a:spcBef>
              <a:buClrTx/>
              <a:buSzTx/>
              <a:buFontTx/>
              <a:buNone/>
            </a:pPr>
            <a:r>
              <a:rPr lang="en-US" altLang="zh-CN" sz="2800" b="1" dirty="0">
                <a:solidFill>
                  <a:srgbClr val="006600"/>
                </a:solidFill>
              </a:rPr>
              <a:t>       </a:t>
            </a:r>
            <a:r>
              <a:rPr lang="zh-CN" altLang="en-US" sz="2400" b="1" dirty="0">
                <a:solidFill>
                  <a:srgbClr val="006600"/>
                </a:solidFill>
              </a:rPr>
              <a:t>用一个特殊的栈</a:t>
            </a:r>
            <a:r>
              <a:rPr lang="zh-CN" altLang="en-US" sz="2400" b="1" dirty="0">
                <a:solidFill>
                  <a:srgbClr val="000000"/>
                </a:solidFill>
              </a:rPr>
              <a:t>保存当前使用的各个页面的页面号，当进程访问某页面时，将该页面的页面号从栈中移出，将它压入栈顶。</a:t>
            </a:r>
            <a:endParaRPr lang="zh-CN" altLang="en-US" sz="2400" b="1" dirty="0">
              <a:solidFill>
                <a:srgbClr val="000000"/>
              </a:solidFill>
            </a:endParaRPr>
          </a:p>
        </p:txBody>
      </p:sp>
      <p:sp>
        <p:nvSpPr>
          <p:cNvPr id="44037" name="Text Box 2"/>
          <p:cNvSpPr txBox="1"/>
          <p:nvPr/>
        </p:nvSpPr>
        <p:spPr>
          <a:xfrm>
            <a:off x="935038" y="5438775"/>
            <a:ext cx="5998210" cy="11988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50000"/>
              </a:lnSpc>
              <a:spcBef>
                <a:spcPct val="0"/>
              </a:spcBef>
              <a:buClrTx/>
              <a:buSzTx/>
              <a:buFontTx/>
              <a:buNone/>
            </a:pPr>
            <a:r>
              <a:rPr lang="zh-CN" altLang="en-US" sz="2400" b="1" dirty="0">
                <a:solidFill>
                  <a:srgbClr val="003300"/>
                </a:solidFill>
                <a:latin typeface="Times New Roman" panose="02020603050405020304" pitchFamily="18" charset="0"/>
              </a:rPr>
              <a:t>栈底元素就是很久没有被访问的页面</a:t>
            </a:r>
            <a:endParaRPr lang="en-US" altLang="zh-CN" sz="2400" b="1" dirty="0">
              <a:solidFill>
                <a:srgbClr val="003300"/>
              </a:solidFill>
              <a:latin typeface="Times New Roman" panose="02020603050405020304" pitchFamily="18" charset="0"/>
            </a:endParaRPr>
          </a:p>
          <a:p>
            <a:pPr marL="0" lvl="0" indent="0" eaLnBrk="1" hangingPunct="1">
              <a:lnSpc>
                <a:spcPct val="150000"/>
              </a:lnSpc>
              <a:spcBef>
                <a:spcPct val="0"/>
              </a:spcBef>
              <a:buClrTx/>
              <a:buSzTx/>
              <a:buFontTx/>
              <a:buNone/>
            </a:pPr>
            <a:r>
              <a:rPr lang="zh-CN" altLang="en-US" sz="2400" b="1" dirty="0">
                <a:solidFill>
                  <a:srgbClr val="003300"/>
                </a:solidFill>
                <a:latin typeface="Times New Roman" panose="02020603050405020304" pitchFamily="18" charset="0"/>
              </a:rPr>
              <a:t>缺点和时间戳的方法类似（栈可能</a:t>
            </a:r>
            <a:r>
              <a:rPr lang="zh-CN" altLang="en-US" sz="2400" b="1" dirty="0">
                <a:solidFill>
                  <a:srgbClr val="003300"/>
                </a:solidFill>
                <a:latin typeface="Times New Roman" panose="02020603050405020304" pitchFamily="18" charset="0"/>
              </a:rPr>
              <a:t>溢出）。</a:t>
            </a:r>
            <a:endParaRPr lang="zh-CN" altLang="en-US" sz="2400" b="1" dirty="0">
              <a:solidFill>
                <a:srgbClr val="003300"/>
              </a:solidFill>
              <a:latin typeface="Times New Roman" panose="02020603050405020304" pitchFamily="18" charset="0"/>
            </a:endParaRPr>
          </a:p>
        </p:txBody>
      </p:sp>
    </p:spTree>
  </p:cSld>
  <p:clrMapOvr>
    <a:masterClrMapping/>
  </p:clrMapOvr>
  <p:transition>
    <p:zoom/>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5058" name="图片 3"/>
          <p:cNvPicPr>
            <a:picLocks noChangeAspect="1"/>
          </p:cNvPicPr>
          <p:nvPr/>
        </p:nvPicPr>
        <p:blipFill>
          <a:blip r:embed="rId1"/>
          <a:stretch>
            <a:fillRect/>
          </a:stretch>
        </p:blipFill>
        <p:spPr>
          <a:xfrm>
            <a:off x="395288" y="2827338"/>
            <a:ext cx="4860925" cy="3486150"/>
          </a:xfrm>
          <a:prstGeom prst="rect">
            <a:avLst/>
          </a:prstGeom>
          <a:noFill/>
          <a:ln w="9525">
            <a:noFill/>
          </a:ln>
        </p:spPr>
      </p:pic>
      <p:sp>
        <p:nvSpPr>
          <p:cNvPr id="45059" name="Text Box 2"/>
          <p:cNvSpPr txBox="1"/>
          <p:nvPr/>
        </p:nvSpPr>
        <p:spPr>
          <a:xfrm>
            <a:off x="395288" y="728663"/>
            <a:ext cx="3479800"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latin typeface="Times New Roman" panose="02020603050405020304" pitchFamily="18" charset="0"/>
              </a:rPr>
              <a:t>5.3.3  Clock</a:t>
            </a:r>
            <a:r>
              <a:rPr lang="zh-CN" altLang="en-US" sz="2800" b="1" dirty="0">
                <a:latin typeface="Times New Roman" panose="02020603050405020304" pitchFamily="18" charset="0"/>
              </a:rPr>
              <a:t>置换算法 </a:t>
            </a:r>
            <a:endParaRPr lang="zh-CN" altLang="en-US" sz="2800" b="1" dirty="0">
              <a:latin typeface="Times New Roman" panose="02020603050405020304" pitchFamily="18" charset="0"/>
            </a:endParaRPr>
          </a:p>
        </p:txBody>
      </p:sp>
      <p:sp>
        <p:nvSpPr>
          <p:cNvPr id="43012" name="Text Box 3"/>
          <p:cNvSpPr txBox="1">
            <a:spLocks noChangeArrowheads="1"/>
          </p:cNvSpPr>
          <p:nvPr/>
        </p:nvSpPr>
        <p:spPr bwMode="auto">
          <a:xfrm>
            <a:off x="565150" y="1471613"/>
            <a:ext cx="6554788" cy="1130300"/>
          </a:xfrm>
          <a:prstGeom prst="rect">
            <a:avLst/>
          </a:prstGeom>
          <a:noFill/>
          <a:ln>
            <a:noFill/>
          </a:ln>
        </p:spPr>
        <p:txBody>
          <a:bodyPr wrap="none">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marL="457200" marR="0" lvl="0" indent="-457200" algn="l" defTabSz="914400" rtl="0" eaLnBrk="1" fontAlgn="base" latinLnBrk="0" hangingPunct="1">
              <a:lnSpc>
                <a:spcPct val="150000"/>
              </a:lnSpc>
              <a:spcBef>
                <a:spcPct val="0"/>
              </a:spcBef>
              <a:spcAft>
                <a:spcPct val="0"/>
              </a:spcAft>
              <a:buClrTx/>
              <a:buSzTx/>
              <a:buFontTx/>
              <a:buAutoNum type="arabicPeriod"/>
              <a:defRPr/>
            </a:pPr>
            <a:r>
              <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简单的</a:t>
            </a:r>
            <a:r>
              <a:rPr kumimoji="1"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Clock</a:t>
            </a:r>
            <a:r>
              <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置换算法</a:t>
            </a:r>
            <a:endParaRPr kumimoji="1"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 typeface="Wingdings" panose="05000000000000000000" pitchFamily="2" charset="2"/>
              <a:buNone/>
              <a:defRPr/>
            </a:pPr>
            <a:r>
              <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（也叫最近未用算法</a:t>
            </a:r>
            <a:r>
              <a:rPr kumimoji="1" lang="en-US" altLang="zh-CN" sz="24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NRU:Not</a:t>
            </a:r>
            <a:r>
              <a:rPr kumimoji="1"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Recently Used</a:t>
            </a:r>
            <a:r>
              <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endParaRPr kumimoji="1"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061" name="AutoShape 6"/>
          <p:cNvSpPr/>
          <p:nvPr/>
        </p:nvSpPr>
        <p:spPr>
          <a:xfrm>
            <a:off x="4495800" y="381000"/>
            <a:ext cx="4067175" cy="1331913"/>
          </a:xfrm>
          <a:prstGeom prst="wedgeRoundRectCallout">
            <a:avLst>
              <a:gd name="adj1" fmla="val -66565"/>
              <a:gd name="adj2" fmla="val -6162"/>
              <a:gd name="adj3" fmla="val 16667"/>
            </a:avLst>
          </a:prstGeom>
          <a:solidFill>
            <a:srgbClr val="CCFFFF"/>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CC3300"/>
                </a:solidFill>
              </a:rPr>
              <a:t>LRU</a:t>
            </a:r>
            <a:r>
              <a:rPr lang="zh-CN" altLang="en-US" sz="2400" b="1" dirty="0">
                <a:solidFill>
                  <a:srgbClr val="CC3300"/>
                </a:solidFill>
              </a:rPr>
              <a:t>算法的</a:t>
            </a:r>
            <a:r>
              <a:rPr lang="zh-CN" altLang="en-US" sz="2400" b="1" dirty="0">
                <a:solidFill>
                  <a:srgbClr val="CC3300"/>
                </a:solidFill>
                <a:highlight>
                  <a:srgbClr val="FFFF00"/>
                </a:highlight>
              </a:rPr>
              <a:t>准确实现</a:t>
            </a:r>
            <a:r>
              <a:rPr lang="zh-CN" altLang="en-US" sz="2400" b="1" dirty="0">
                <a:solidFill>
                  <a:srgbClr val="CC3300"/>
                </a:solidFill>
              </a:rPr>
              <a:t>代价较大，实际中大多采用</a:t>
            </a:r>
            <a:r>
              <a:rPr lang="en-US" altLang="zh-CN" sz="2400" b="1" dirty="0">
                <a:solidFill>
                  <a:srgbClr val="CC3300"/>
                </a:solidFill>
              </a:rPr>
              <a:t>LRU</a:t>
            </a:r>
            <a:r>
              <a:rPr lang="zh-CN" altLang="en-US" sz="2400" b="1" dirty="0">
                <a:solidFill>
                  <a:srgbClr val="CC3300"/>
                </a:solidFill>
              </a:rPr>
              <a:t>的近似算法。</a:t>
            </a:r>
            <a:endParaRPr lang="zh-CN" altLang="en-US" sz="2400" b="1" dirty="0">
              <a:solidFill>
                <a:srgbClr val="CC3300"/>
              </a:solidFill>
            </a:endParaRPr>
          </a:p>
        </p:txBody>
      </p:sp>
      <p:sp>
        <p:nvSpPr>
          <p:cNvPr id="45062" name="AutoShape 7"/>
          <p:cNvSpPr/>
          <p:nvPr/>
        </p:nvSpPr>
        <p:spPr>
          <a:xfrm>
            <a:off x="5184775" y="4516438"/>
            <a:ext cx="3306763" cy="1404937"/>
          </a:xfrm>
          <a:prstGeom prst="wedgeRoundRectCallout">
            <a:avLst>
              <a:gd name="adj1" fmla="val -77264"/>
              <a:gd name="adj2" fmla="val -49866"/>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highlight>
                  <a:srgbClr val="FFFF00"/>
                </a:highlight>
              </a:rPr>
              <a:t>把进程在内存中的页面</a:t>
            </a:r>
            <a:r>
              <a:rPr lang="zh-CN" altLang="en-US" sz="2400" b="1" dirty="0"/>
              <a:t>通过链接指针链接成一个循环队列</a:t>
            </a:r>
            <a:endParaRPr lang="en-US" altLang="zh-CN" sz="2400" b="1" dirty="0"/>
          </a:p>
        </p:txBody>
      </p:sp>
      <p:sp>
        <p:nvSpPr>
          <p:cNvPr id="45063" name="椭圆 1"/>
          <p:cNvSpPr/>
          <p:nvPr/>
        </p:nvSpPr>
        <p:spPr>
          <a:xfrm>
            <a:off x="2232025" y="2744788"/>
            <a:ext cx="1223963" cy="576262"/>
          </a:xfrm>
          <a:prstGeom prst="ellipse">
            <a:avLst/>
          </a:prstGeom>
          <a:noFill/>
          <a:ln w="34925" cap="flat" cmpd="sng">
            <a:solidFill>
              <a:srgbClr val="FF0000"/>
            </a:solidFill>
            <a:prstDash val="solid"/>
            <a:headEnd type="none" w="med" len="med"/>
            <a:tailEnd type="none" w="med" len="med"/>
          </a:ln>
        </p:spPr>
        <p:txBody>
          <a:bodyPr/>
          <a:lstStyle/>
          <a:p>
            <a:pPr eaLnBrk="1" hangingPunct="1">
              <a:buNone/>
            </a:pPr>
            <a:endParaRPr lang="zh-CN" altLang="en-US" dirty="0">
              <a:solidFill>
                <a:srgbClr val="FF0000"/>
              </a:solidFill>
              <a:latin typeface="Arial" panose="020B0604020202020204" pitchFamily="34" charset="0"/>
            </a:endParaRPr>
          </a:p>
        </p:txBody>
      </p:sp>
      <p:sp>
        <p:nvSpPr>
          <p:cNvPr id="45064" name="AutoShape 7"/>
          <p:cNvSpPr/>
          <p:nvPr/>
        </p:nvSpPr>
        <p:spPr>
          <a:xfrm>
            <a:off x="5400040" y="2826385"/>
            <a:ext cx="2204085" cy="938530"/>
          </a:xfrm>
          <a:prstGeom prst="wedgeRoundRectCallout">
            <a:avLst>
              <a:gd name="adj1" fmla="val -61233"/>
              <a:gd name="adj2" fmla="val 76768"/>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t>替换指针指向当前</a:t>
            </a:r>
            <a:r>
              <a:rPr lang="zh-CN" altLang="en-US" sz="2400" b="1" dirty="0"/>
              <a:t>页面</a:t>
            </a:r>
            <a:endParaRPr lang="zh-CN" altLang="en-US" sz="2400" b="1" dirty="0"/>
          </a:p>
        </p:txBody>
      </p:sp>
    </p:spTree>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106" name="组合 38"/>
          <p:cNvGrpSpPr/>
          <p:nvPr/>
        </p:nvGrpSpPr>
        <p:grpSpPr>
          <a:xfrm>
            <a:off x="523875" y="466725"/>
            <a:ext cx="6877050" cy="5421313"/>
            <a:chOff x="1317475" y="1556792"/>
            <a:chExt cx="6876754" cy="4668902"/>
          </a:xfrm>
        </p:grpSpPr>
        <p:grpSp>
          <p:nvGrpSpPr>
            <p:cNvPr id="47109" name="组合 29"/>
            <p:cNvGrpSpPr/>
            <p:nvPr/>
          </p:nvGrpSpPr>
          <p:grpSpPr>
            <a:xfrm>
              <a:off x="1317475" y="1556792"/>
              <a:ext cx="6876754" cy="4668902"/>
              <a:chOff x="1346886" y="885107"/>
              <a:chExt cx="6876754" cy="4668902"/>
            </a:xfrm>
          </p:grpSpPr>
          <p:sp>
            <p:nvSpPr>
              <p:cNvPr id="47112" name="矩形: 圆角 5"/>
              <p:cNvSpPr/>
              <p:nvPr/>
            </p:nvSpPr>
            <p:spPr>
              <a:xfrm>
                <a:off x="2697036" y="885107"/>
                <a:ext cx="900100" cy="563673"/>
              </a:xfrm>
              <a:prstGeom prst="roundRect">
                <a:avLst>
                  <a:gd name="adj" fmla="val 50000"/>
                </a:avLst>
              </a:prstGeom>
              <a:noFill/>
              <a:ln w="2540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000000"/>
                    </a:solidFill>
                  </a:rPr>
                  <a:t>入口</a:t>
                </a:r>
                <a:endParaRPr lang="zh-CN" altLang="en-US" sz="2000" b="1" dirty="0">
                  <a:solidFill>
                    <a:srgbClr val="000000"/>
                  </a:solidFill>
                </a:endParaRPr>
              </a:p>
            </p:txBody>
          </p:sp>
          <p:sp>
            <p:nvSpPr>
              <p:cNvPr id="47113" name="矩形 6"/>
              <p:cNvSpPr/>
              <p:nvPr/>
            </p:nvSpPr>
            <p:spPr>
              <a:xfrm>
                <a:off x="1880387" y="4023481"/>
                <a:ext cx="2748341" cy="583176"/>
              </a:xfrm>
              <a:prstGeom prst="rect">
                <a:avLst/>
              </a:prstGeom>
              <a:noFill/>
              <a:ln w="31750" cap="flat" cmpd="sng">
                <a:solidFill>
                  <a:srgbClr val="00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000000"/>
                    </a:solidFill>
                  </a:rPr>
                  <a:t>选择该页面淘汰，替换指针指向下一个表目</a:t>
                </a:r>
                <a:endParaRPr lang="zh-CN" altLang="en-US" sz="2000" b="1" dirty="0">
                  <a:solidFill>
                    <a:srgbClr val="000000"/>
                  </a:solidFill>
                </a:endParaRPr>
              </a:p>
            </p:txBody>
          </p:sp>
          <p:sp>
            <p:nvSpPr>
              <p:cNvPr id="47114" name="菱形 7"/>
              <p:cNvSpPr/>
              <p:nvPr/>
            </p:nvSpPr>
            <p:spPr>
              <a:xfrm>
                <a:off x="1346886" y="2399627"/>
                <a:ext cx="3600400" cy="1121090"/>
              </a:xfrm>
              <a:prstGeom prst="diamond">
                <a:avLst/>
              </a:prstGeom>
              <a:noFill/>
              <a:ln w="31750" cap="flat" cmpd="sng">
                <a:solidFill>
                  <a:srgbClr val="00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800" b="1" dirty="0">
                    <a:solidFill>
                      <a:srgbClr val="000000"/>
                    </a:solidFill>
                  </a:rPr>
                  <a:t>替换指针指向的页面访问位</a:t>
                </a:r>
                <a:r>
                  <a:rPr lang="en-US" altLang="zh-CN" sz="1800" b="1" dirty="0">
                    <a:solidFill>
                      <a:srgbClr val="000000"/>
                    </a:solidFill>
                  </a:rPr>
                  <a:t>=0?</a:t>
                </a:r>
                <a:endParaRPr lang="zh-CN" altLang="en-US" sz="1800" b="1" dirty="0">
                  <a:solidFill>
                    <a:srgbClr val="000000"/>
                  </a:solidFill>
                </a:endParaRPr>
              </a:p>
            </p:txBody>
          </p:sp>
          <p:sp>
            <p:nvSpPr>
              <p:cNvPr id="47115" name="矩形 9"/>
              <p:cNvSpPr/>
              <p:nvPr/>
            </p:nvSpPr>
            <p:spPr>
              <a:xfrm>
                <a:off x="5690055" y="2382818"/>
                <a:ext cx="2533585" cy="1334212"/>
              </a:xfrm>
              <a:prstGeom prst="rect">
                <a:avLst/>
              </a:prstGeom>
              <a:solidFill>
                <a:schemeClr val="bg1"/>
              </a:solidFill>
              <a:ln w="31750" cap="flat" cmpd="sng">
                <a:solidFill>
                  <a:srgbClr val="000000"/>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FF0000"/>
                    </a:solidFill>
                  </a:rPr>
                  <a:t>1.</a:t>
                </a:r>
                <a:r>
                  <a:rPr lang="zh-CN" altLang="en-US" sz="2000" b="1" dirty="0">
                    <a:solidFill>
                      <a:srgbClr val="FF0000"/>
                    </a:solidFill>
                  </a:rPr>
                  <a:t>置页面访问位</a:t>
                </a:r>
                <a:r>
                  <a:rPr lang="en-US" altLang="zh-CN" sz="2000" b="1" dirty="0">
                    <a:solidFill>
                      <a:srgbClr val="FF0000"/>
                    </a:solidFill>
                  </a:rPr>
                  <a:t>=“0”</a:t>
                </a:r>
                <a:endParaRPr lang="en-US" altLang="zh-CN" sz="2000" b="1" dirty="0">
                  <a:solidFill>
                    <a:srgbClr val="FF0000"/>
                  </a:solidFill>
                </a:endParaRPr>
              </a:p>
              <a:p>
                <a:pPr marL="0" lvl="0" indent="0" eaLnBrk="1" hangingPunct="1">
                  <a:spcBef>
                    <a:spcPct val="0"/>
                  </a:spcBef>
                  <a:buClrTx/>
                  <a:buSzTx/>
                  <a:buFontTx/>
                  <a:buNone/>
                </a:pPr>
                <a:endParaRPr lang="en-US" altLang="zh-CN" sz="2000" b="1" dirty="0">
                  <a:solidFill>
                    <a:srgbClr val="000000"/>
                  </a:solidFill>
                </a:endParaRPr>
              </a:p>
              <a:p>
                <a:pPr marL="0" lvl="0" indent="0" eaLnBrk="1" hangingPunct="1">
                  <a:spcBef>
                    <a:spcPct val="0"/>
                  </a:spcBef>
                  <a:buClrTx/>
                  <a:buSzTx/>
                  <a:buFontTx/>
                  <a:buNone/>
                </a:pPr>
                <a:r>
                  <a:rPr lang="en-US" altLang="zh-CN" sz="2000" b="1" dirty="0">
                    <a:solidFill>
                      <a:srgbClr val="000000"/>
                    </a:solidFill>
                  </a:rPr>
                  <a:t>2.</a:t>
                </a:r>
                <a:r>
                  <a:rPr lang="zh-CN" altLang="en-US" sz="2000" b="1" dirty="0">
                    <a:solidFill>
                      <a:srgbClr val="000000"/>
                    </a:solidFill>
                  </a:rPr>
                  <a:t>替换指针前进一步，指向下一个表目</a:t>
                </a:r>
                <a:endParaRPr lang="zh-CN" altLang="en-US" sz="2000" b="1" dirty="0">
                  <a:solidFill>
                    <a:srgbClr val="000000"/>
                  </a:solidFill>
                </a:endParaRPr>
              </a:p>
            </p:txBody>
          </p:sp>
          <p:sp>
            <p:nvSpPr>
              <p:cNvPr id="47116" name="矩形: 圆角 10"/>
              <p:cNvSpPr/>
              <p:nvPr/>
            </p:nvSpPr>
            <p:spPr>
              <a:xfrm>
                <a:off x="2650602" y="4965554"/>
                <a:ext cx="1021298" cy="588455"/>
              </a:xfrm>
              <a:prstGeom prst="roundRect">
                <a:avLst>
                  <a:gd name="adj" fmla="val 49977"/>
                </a:avLst>
              </a:prstGeom>
              <a:noFill/>
              <a:ln w="31750"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00"/>
                    </a:solidFill>
                  </a:rPr>
                  <a:t>返回</a:t>
                </a:r>
                <a:endParaRPr lang="zh-CN" altLang="en-US" sz="2400" b="1" dirty="0">
                  <a:solidFill>
                    <a:srgbClr val="000000"/>
                  </a:solidFill>
                </a:endParaRPr>
              </a:p>
            </p:txBody>
          </p:sp>
          <p:cxnSp>
            <p:nvCxnSpPr>
              <p:cNvPr id="47117" name="直接箭头连接符 12"/>
              <p:cNvCxnSpPr>
                <a:stCxn id="47112" idx="2"/>
                <a:endCxn id="47114" idx="0"/>
              </p:cNvCxnSpPr>
              <p:nvPr/>
            </p:nvCxnSpPr>
            <p:spPr>
              <a:xfrm>
                <a:off x="3147086" y="1448780"/>
                <a:ext cx="0" cy="950847"/>
              </a:xfrm>
              <a:prstGeom prst="straightConnector1">
                <a:avLst/>
              </a:prstGeom>
              <a:ln w="31750" cap="flat" cmpd="sng">
                <a:solidFill>
                  <a:srgbClr val="000000"/>
                </a:solidFill>
                <a:prstDash val="solid"/>
                <a:headEnd type="none" w="med" len="med"/>
                <a:tailEnd type="triangle" w="med" len="med"/>
              </a:ln>
            </p:spPr>
          </p:cxnSp>
          <p:cxnSp>
            <p:nvCxnSpPr>
              <p:cNvPr id="47118" name="直接箭头连接符 20"/>
              <p:cNvCxnSpPr>
                <a:stCxn id="47114" idx="2"/>
              </p:cNvCxnSpPr>
              <p:nvPr/>
            </p:nvCxnSpPr>
            <p:spPr>
              <a:xfrm>
                <a:off x="3147086" y="3520717"/>
                <a:ext cx="14165" cy="488466"/>
              </a:xfrm>
              <a:prstGeom prst="straightConnector1">
                <a:avLst/>
              </a:prstGeom>
              <a:ln w="31750" cap="flat" cmpd="sng">
                <a:solidFill>
                  <a:srgbClr val="000000"/>
                </a:solidFill>
                <a:prstDash val="solid"/>
                <a:headEnd type="none" w="med" len="med"/>
                <a:tailEnd type="triangle" w="med" len="med"/>
              </a:ln>
            </p:spPr>
          </p:cxnSp>
          <p:cxnSp>
            <p:nvCxnSpPr>
              <p:cNvPr id="47119" name="直接箭头连接符 21"/>
              <p:cNvCxnSpPr/>
              <p:nvPr/>
            </p:nvCxnSpPr>
            <p:spPr>
              <a:xfrm flipH="1">
                <a:off x="3147086" y="4592359"/>
                <a:ext cx="14165" cy="373195"/>
              </a:xfrm>
              <a:prstGeom prst="straightConnector1">
                <a:avLst/>
              </a:prstGeom>
              <a:ln w="31750" cap="flat" cmpd="sng">
                <a:solidFill>
                  <a:srgbClr val="000000"/>
                </a:solidFill>
                <a:prstDash val="solid"/>
                <a:headEnd type="none" w="med" len="med"/>
                <a:tailEnd type="triangle" w="med" len="med"/>
              </a:ln>
            </p:spPr>
          </p:cxnSp>
          <p:cxnSp>
            <p:nvCxnSpPr>
              <p:cNvPr id="47120" name="直接箭头连接符 22"/>
              <p:cNvCxnSpPr/>
              <p:nvPr/>
            </p:nvCxnSpPr>
            <p:spPr>
              <a:xfrm>
                <a:off x="4961451" y="2973339"/>
                <a:ext cx="726673" cy="0"/>
              </a:xfrm>
              <a:prstGeom prst="straightConnector1">
                <a:avLst/>
              </a:prstGeom>
              <a:ln w="31750" cap="flat" cmpd="sng">
                <a:solidFill>
                  <a:srgbClr val="000000"/>
                </a:solidFill>
                <a:prstDash val="solid"/>
                <a:headEnd type="none" w="med" len="med"/>
                <a:tailEnd type="triangle" w="med" len="med"/>
              </a:ln>
            </p:spPr>
          </p:cxnSp>
          <p:cxnSp>
            <p:nvCxnSpPr>
              <p:cNvPr id="47121" name="直接箭头连接符 27"/>
              <p:cNvCxnSpPr/>
              <p:nvPr/>
            </p:nvCxnSpPr>
            <p:spPr>
              <a:xfrm flipH="1">
                <a:off x="3161252" y="1818373"/>
                <a:ext cx="3606992" cy="0"/>
              </a:xfrm>
              <a:prstGeom prst="straightConnector1">
                <a:avLst/>
              </a:prstGeom>
              <a:ln w="31750" cap="flat" cmpd="sng">
                <a:solidFill>
                  <a:srgbClr val="000000"/>
                </a:solidFill>
                <a:prstDash val="solid"/>
                <a:headEnd type="none" w="med" len="med"/>
                <a:tailEnd type="triangle" w="med" len="med"/>
              </a:ln>
            </p:spPr>
          </p:cxnSp>
          <p:cxnSp>
            <p:nvCxnSpPr>
              <p:cNvPr id="47122" name="直接箭头连接符 30"/>
              <p:cNvCxnSpPr/>
              <p:nvPr/>
            </p:nvCxnSpPr>
            <p:spPr>
              <a:xfrm>
                <a:off x="6751580" y="1818373"/>
                <a:ext cx="0" cy="564446"/>
              </a:xfrm>
              <a:prstGeom prst="straightConnector1">
                <a:avLst/>
              </a:prstGeom>
              <a:ln w="38100" cap="flat" cmpd="sng">
                <a:solidFill>
                  <a:srgbClr val="000000"/>
                </a:solidFill>
                <a:prstDash val="solid"/>
                <a:headEnd type="none" w="med" len="med"/>
                <a:tailEnd type="none" w="med" len="med"/>
              </a:ln>
            </p:spPr>
          </p:cxnSp>
        </p:grpSp>
        <p:sp>
          <p:nvSpPr>
            <p:cNvPr id="47110" name="矩形 34"/>
            <p:cNvSpPr/>
            <p:nvPr/>
          </p:nvSpPr>
          <p:spPr>
            <a:xfrm>
              <a:off x="3225147" y="4192402"/>
              <a:ext cx="635298" cy="39192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800" b="1" dirty="0">
                  <a:solidFill>
                    <a:srgbClr val="000000"/>
                  </a:solidFill>
                </a:rPr>
                <a:t>是</a:t>
              </a:r>
              <a:endParaRPr lang="zh-CN" altLang="en-US" sz="1800" b="1" dirty="0">
                <a:solidFill>
                  <a:srgbClr val="000000"/>
                </a:solidFill>
              </a:endParaRPr>
            </a:p>
          </p:txBody>
        </p:sp>
        <p:sp>
          <p:nvSpPr>
            <p:cNvPr id="47111" name="矩形 35"/>
            <p:cNvSpPr/>
            <p:nvPr/>
          </p:nvSpPr>
          <p:spPr>
            <a:xfrm>
              <a:off x="4852791" y="3243190"/>
              <a:ext cx="635298" cy="39192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800" b="1" dirty="0">
                  <a:solidFill>
                    <a:srgbClr val="000000"/>
                  </a:solidFill>
                </a:rPr>
                <a:t>否</a:t>
              </a:r>
              <a:endParaRPr lang="zh-CN" altLang="en-US" sz="1800" b="1" dirty="0">
                <a:solidFill>
                  <a:srgbClr val="000000"/>
                </a:solidFill>
              </a:endParaRPr>
            </a:p>
          </p:txBody>
        </p:sp>
      </p:grpSp>
      <p:sp>
        <p:nvSpPr>
          <p:cNvPr id="47107" name="Text Box 3"/>
          <p:cNvSpPr txBox="1"/>
          <p:nvPr/>
        </p:nvSpPr>
        <p:spPr>
          <a:xfrm>
            <a:off x="2436813" y="6137275"/>
            <a:ext cx="4202112" cy="461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000000"/>
                </a:solidFill>
                <a:latin typeface="Times New Roman" panose="02020603050405020304" pitchFamily="18" charset="0"/>
              </a:rPr>
              <a:t> </a:t>
            </a:r>
            <a:r>
              <a:rPr lang="zh-CN" altLang="en-US" sz="2400" b="1" dirty="0">
                <a:solidFill>
                  <a:srgbClr val="000000"/>
                </a:solidFill>
                <a:latin typeface="Times New Roman" panose="02020603050405020304" pitchFamily="18" charset="0"/>
              </a:rPr>
              <a:t>简单的</a:t>
            </a:r>
            <a:r>
              <a:rPr lang="en-US" altLang="zh-CN" sz="2400" b="1" dirty="0">
                <a:solidFill>
                  <a:srgbClr val="000000"/>
                </a:solidFill>
                <a:latin typeface="Times New Roman" panose="02020603050405020304" pitchFamily="18" charset="0"/>
              </a:rPr>
              <a:t>Clock</a:t>
            </a:r>
            <a:r>
              <a:rPr lang="zh-CN" altLang="en-US" sz="2400" b="1" dirty="0">
                <a:solidFill>
                  <a:srgbClr val="000000"/>
                </a:solidFill>
                <a:latin typeface="Times New Roman" panose="02020603050405020304" pitchFamily="18" charset="0"/>
              </a:rPr>
              <a:t>置换算法的流程 </a:t>
            </a:r>
            <a:endParaRPr lang="zh-CN" altLang="en-US" sz="2400" b="1" dirty="0">
              <a:solidFill>
                <a:srgbClr val="000000"/>
              </a:solidFill>
              <a:latin typeface="Times New Roman" panose="02020603050405020304" pitchFamily="18" charset="0"/>
            </a:endParaRPr>
          </a:p>
        </p:txBody>
      </p:sp>
      <p:sp>
        <p:nvSpPr>
          <p:cNvPr id="47108" name="文本框 2"/>
          <p:cNvSpPr txBox="1"/>
          <p:nvPr/>
        </p:nvSpPr>
        <p:spPr>
          <a:xfrm>
            <a:off x="3962400" y="211138"/>
            <a:ext cx="5153025" cy="523875"/>
          </a:xfrm>
          <a:prstGeom prst="rect">
            <a:avLst/>
          </a:prstGeom>
          <a:noFill/>
          <a:ln w="9525">
            <a:noFill/>
          </a:ln>
        </p:spPr>
        <p:txBody>
          <a:bodyPr>
            <a:spAutoFit/>
          </a:bodyPr>
          <a:lstStyle/>
          <a:p>
            <a:pPr>
              <a:buNone/>
            </a:pPr>
            <a:r>
              <a:rPr lang="zh-CN" altLang="en-US" dirty="0">
                <a:latin typeface="Times New Roman" panose="02020603050405020304" pitchFamily="18" charset="0"/>
              </a:rPr>
              <a:t>将页面的访问时间变为</a:t>
            </a:r>
            <a:r>
              <a:rPr lang="zh-CN" altLang="en-US" dirty="0">
                <a:solidFill>
                  <a:srgbClr val="FF0000"/>
                </a:solidFill>
                <a:latin typeface="Times New Roman" panose="02020603050405020304" pitchFamily="18" charset="0"/>
              </a:rPr>
              <a:t>是或否</a:t>
            </a:r>
            <a:endParaRPr lang="zh-CN" altLang="en-US" dirty="0">
              <a:solidFill>
                <a:srgbClr val="FF0000"/>
              </a:solidFill>
              <a:latin typeface="Arial" panose="020B0604020202020204" pitchFamily="34" charset="0"/>
            </a:endParaRPr>
          </a:p>
        </p:txBody>
      </p:sp>
    </p:spTree>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9154" name="Group 101"/>
          <p:cNvGrpSpPr/>
          <p:nvPr/>
        </p:nvGrpSpPr>
        <p:grpSpPr>
          <a:xfrm>
            <a:off x="250825" y="981075"/>
            <a:ext cx="8691563" cy="4860925"/>
            <a:chOff x="157" y="869"/>
            <a:chExt cx="5475" cy="3062"/>
          </a:xfrm>
        </p:grpSpPr>
        <p:sp>
          <p:nvSpPr>
            <p:cNvPr id="49157" name="Oval 51"/>
            <p:cNvSpPr/>
            <p:nvPr/>
          </p:nvSpPr>
          <p:spPr>
            <a:xfrm>
              <a:off x="249" y="994"/>
              <a:ext cx="2477" cy="2392"/>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49158" name="Oval 52"/>
            <p:cNvSpPr/>
            <p:nvPr/>
          </p:nvSpPr>
          <p:spPr>
            <a:xfrm>
              <a:off x="814" y="1549"/>
              <a:ext cx="1373" cy="132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49159" name="Line 53"/>
            <p:cNvSpPr/>
            <p:nvPr/>
          </p:nvSpPr>
          <p:spPr>
            <a:xfrm flipV="1">
              <a:off x="1530" y="1984"/>
              <a:ext cx="623" cy="225"/>
            </a:xfrm>
            <a:prstGeom prst="line">
              <a:avLst/>
            </a:prstGeom>
            <a:ln w="9525" cap="flat" cmpd="sng">
              <a:solidFill>
                <a:srgbClr val="000000"/>
              </a:solidFill>
              <a:prstDash val="solid"/>
              <a:headEnd type="none" w="med" len="med"/>
              <a:tailEnd type="triangle" w="med" len="med"/>
            </a:ln>
          </p:spPr>
        </p:sp>
        <p:sp>
          <p:nvSpPr>
            <p:cNvPr id="49160" name="Line 54"/>
            <p:cNvSpPr/>
            <p:nvPr/>
          </p:nvSpPr>
          <p:spPr>
            <a:xfrm>
              <a:off x="239" y="2209"/>
              <a:ext cx="553" cy="0"/>
            </a:xfrm>
            <a:prstGeom prst="line">
              <a:avLst/>
            </a:prstGeom>
            <a:ln w="9525" cap="flat" cmpd="sng">
              <a:solidFill>
                <a:srgbClr val="000000"/>
              </a:solidFill>
              <a:prstDash val="solid"/>
              <a:headEnd type="none" w="med" len="med"/>
              <a:tailEnd type="none" w="med" len="med"/>
            </a:ln>
          </p:spPr>
        </p:sp>
        <p:sp>
          <p:nvSpPr>
            <p:cNvPr id="49161" name="Line 55"/>
            <p:cNvSpPr/>
            <p:nvPr/>
          </p:nvSpPr>
          <p:spPr>
            <a:xfrm>
              <a:off x="2175" y="2209"/>
              <a:ext cx="553" cy="0"/>
            </a:xfrm>
            <a:prstGeom prst="line">
              <a:avLst/>
            </a:prstGeom>
            <a:ln w="9525" cap="flat" cmpd="sng">
              <a:solidFill>
                <a:srgbClr val="000000"/>
              </a:solidFill>
              <a:prstDash val="solid"/>
              <a:headEnd type="none" w="med" len="med"/>
              <a:tailEnd type="none" w="med" len="med"/>
            </a:ln>
          </p:spPr>
        </p:sp>
        <p:sp>
          <p:nvSpPr>
            <p:cNvPr id="49162" name="Line 56"/>
            <p:cNvSpPr/>
            <p:nvPr/>
          </p:nvSpPr>
          <p:spPr>
            <a:xfrm rot="2700000">
              <a:off x="537" y="1534"/>
              <a:ext cx="534" cy="1"/>
            </a:xfrm>
            <a:prstGeom prst="line">
              <a:avLst/>
            </a:prstGeom>
            <a:ln w="9525" cap="flat" cmpd="sng">
              <a:solidFill>
                <a:srgbClr val="000000"/>
              </a:solidFill>
              <a:prstDash val="solid"/>
              <a:headEnd type="none" w="med" len="med"/>
              <a:tailEnd type="none" w="med" len="med"/>
            </a:ln>
          </p:spPr>
        </p:sp>
        <p:sp>
          <p:nvSpPr>
            <p:cNvPr id="49163" name="Line 57"/>
            <p:cNvSpPr/>
            <p:nvPr/>
          </p:nvSpPr>
          <p:spPr>
            <a:xfrm rot="2700000">
              <a:off x="836" y="2603"/>
              <a:ext cx="0" cy="553"/>
            </a:xfrm>
            <a:prstGeom prst="line">
              <a:avLst/>
            </a:prstGeom>
            <a:ln w="9525" cap="flat" cmpd="sng">
              <a:solidFill>
                <a:srgbClr val="000000"/>
              </a:solidFill>
              <a:prstDash val="solid"/>
              <a:headEnd type="none" w="med" len="med"/>
              <a:tailEnd type="none" w="med" len="med"/>
            </a:ln>
          </p:spPr>
        </p:sp>
        <p:sp>
          <p:nvSpPr>
            <p:cNvPr id="49164" name="Line 58"/>
            <p:cNvSpPr/>
            <p:nvPr/>
          </p:nvSpPr>
          <p:spPr>
            <a:xfrm rot="2700000" flipH="1">
              <a:off x="2212" y="1297"/>
              <a:ext cx="2" cy="534"/>
            </a:xfrm>
            <a:prstGeom prst="line">
              <a:avLst/>
            </a:prstGeom>
            <a:ln w="9525" cap="flat" cmpd="sng">
              <a:solidFill>
                <a:srgbClr val="000000"/>
              </a:solidFill>
              <a:prstDash val="solid"/>
              <a:headEnd type="none" w="med" len="med"/>
              <a:tailEnd type="none" w="med" len="med"/>
            </a:ln>
          </p:spPr>
        </p:sp>
        <p:sp>
          <p:nvSpPr>
            <p:cNvPr id="49165" name="Line 59"/>
            <p:cNvSpPr/>
            <p:nvPr/>
          </p:nvSpPr>
          <p:spPr>
            <a:xfrm rot="2700000">
              <a:off x="1932" y="2857"/>
              <a:ext cx="534" cy="2"/>
            </a:xfrm>
            <a:prstGeom prst="line">
              <a:avLst/>
            </a:prstGeom>
            <a:ln w="9525" cap="flat" cmpd="sng">
              <a:solidFill>
                <a:srgbClr val="000000"/>
              </a:solidFill>
              <a:prstDash val="solid"/>
              <a:headEnd type="none" w="med" len="med"/>
              <a:tailEnd type="none" w="med" len="med"/>
            </a:ln>
          </p:spPr>
        </p:sp>
        <p:sp>
          <p:nvSpPr>
            <p:cNvPr id="49166" name="Line 60"/>
            <p:cNvSpPr/>
            <p:nvPr/>
          </p:nvSpPr>
          <p:spPr>
            <a:xfrm rot="5400000">
              <a:off x="1223" y="1260"/>
              <a:ext cx="534" cy="2"/>
            </a:xfrm>
            <a:prstGeom prst="line">
              <a:avLst/>
            </a:prstGeom>
            <a:ln w="9525" cap="flat" cmpd="sng">
              <a:solidFill>
                <a:srgbClr val="000000"/>
              </a:solidFill>
              <a:prstDash val="solid"/>
              <a:headEnd type="none" w="med" len="med"/>
              <a:tailEnd type="none" w="med" len="med"/>
            </a:ln>
          </p:spPr>
        </p:sp>
        <p:sp>
          <p:nvSpPr>
            <p:cNvPr id="49167" name="Line 61"/>
            <p:cNvSpPr/>
            <p:nvPr/>
          </p:nvSpPr>
          <p:spPr>
            <a:xfrm rot="5400000">
              <a:off x="1233" y="3128"/>
              <a:ext cx="534" cy="2"/>
            </a:xfrm>
            <a:prstGeom prst="line">
              <a:avLst/>
            </a:prstGeom>
            <a:ln w="9525" cap="flat" cmpd="sng">
              <a:solidFill>
                <a:srgbClr val="000000"/>
              </a:solidFill>
              <a:prstDash val="solid"/>
              <a:headEnd type="none" w="med" len="med"/>
              <a:tailEnd type="none" w="med" len="med"/>
            </a:ln>
          </p:spPr>
        </p:sp>
        <p:sp>
          <p:nvSpPr>
            <p:cNvPr id="49168" name="Oval 62"/>
            <p:cNvSpPr/>
            <p:nvPr/>
          </p:nvSpPr>
          <p:spPr>
            <a:xfrm>
              <a:off x="1511" y="2190"/>
              <a:ext cx="39" cy="37"/>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49169" name="Text Box 63"/>
            <p:cNvSpPr txBox="1"/>
            <p:nvPr/>
          </p:nvSpPr>
          <p:spPr>
            <a:xfrm>
              <a:off x="2074" y="1683"/>
              <a:ext cx="847" cy="50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FF6600"/>
                  </a:solidFill>
                  <a:latin typeface="Times New Roman" panose="02020603050405020304" pitchFamily="18" charset="0"/>
                </a:rPr>
                <a:t>页面</a:t>
              </a:r>
              <a:r>
                <a:rPr lang="en-US" altLang="zh-CN" sz="1800" b="1" dirty="0">
                  <a:solidFill>
                    <a:srgbClr val="FF6600"/>
                  </a:solidFill>
                  <a:latin typeface="Times New Roman" panose="02020603050405020304" pitchFamily="18" charset="0"/>
                </a:rPr>
                <a:t>12</a:t>
              </a:r>
              <a:endParaRPr lang="en-US" altLang="zh-CN" sz="1800" b="1" dirty="0">
                <a:solidFill>
                  <a:srgbClr val="FF6600"/>
                </a:solidFill>
                <a:latin typeface="Times New Roman" panose="02020603050405020304" pitchFamily="18" charset="0"/>
              </a:endParaRPr>
            </a:p>
            <a:p>
              <a:pPr marL="0" lvl="0" indent="0">
                <a:spcBef>
                  <a:spcPct val="0"/>
                </a:spcBef>
                <a:buClrTx/>
                <a:buSzTx/>
                <a:buFontTx/>
                <a:buNone/>
              </a:pPr>
              <a:r>
                <a:rPr lang="zh-CN" altLang="en-US" sz="1800" b="1" dirty="0">
                  <a:solidFill>
                    <a:srgbClr val="FF6600"/>
                  </a:solidFill>
                  <a:latin typeface="Times New Roman" panose="02020603050405020304" pitchFamily="18" charset="0"/>
                </a:rPr>
                <a:t>使用位</a:t>
              </a:r>
              <a:r>
                <a:rPr lang="en-US" altLang="zh-CN" sz="1800" b="1" dirty="0">
                  <a:solidFill>
                    <a:srgbClr val="FF6600"/>
                  </a:solidFill>
                  <a:latin typeface="Times New Roman" panose="02020603050405020304" pitchFamily="18" charset="0"/>
                </a:rPr>
                <a:t>=1</a:t>
              </a:r>
              <a:endParaRPr lang="en-US" altLang="zh-CN" sz="1800" b="1" dirty="0">
                <a:solidFill>
                  <a:srgbClr val="FF6600"/>
                </a:solidFill>
                <a:latin typeface="Times New Roman" panose="02020603050405020304" pitchFamily="18" charset="0"/>
              </a:endParaRPr>
            </a:p>
          </p:txBody>
        </p:sp>
        <p:sp>
          <p:nvSpPr>
            <p:cNvPr id="49170" name="Text Box 64"/>
            <p:cNvSpPr txBox="1"/>
            <p:nvPr/>
          </p:nvSpPr>
          <p:spPr>
            <a:xfrm>
              <a:off x="289" y="2310"/>
              <a:ext cx="847" cy="50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FF6600"/>
                  </a:solidFill>
                  <a:latin typeface="Times New Roman" panose="02020603050405020304" pitchFamily="18" charset="0"/>
                </a:rPr>
                <a:t>页面</a:t>
              </a:r>
              <a:r>
                <a:rPr lang="en-US" altLang="zh-CN" sz="1800" b="1" dirty="0">
                  <a:solidFill>
                    <a:srgbClr val="FF6600"/>
                  </a:solidFill>
                  <a:latin typeface="Times New Roman" panose="02020603050405020304" pitchFamily="18" charset="0"/>
                </a:rPr>
                <a:t>2</a:t>
              </a:r>
              <a:endParaRPr lang="en-US" altLang="zh-CN" sz="1800" b="1" dirty="0">
                <a:solidFill>
                  <a:srgbClr val="FF6600"/>
                </a:solidFill>
                <a:latin typeface="Times New Roman" panose="02020603050405020304" pitchFamily="18" charset="0"/>
              </a:endParaRPr>
            </a:p>
            <a:p>
              <a:pPr marL="0" lvl="0" indent="0">
                <a:spcBef>
                  <a:spcPct val="0"/>
                </a:spcBef>
                <a:buClrTx/>
                <a:buSzTx/>
                <a:buFontTx/>
                <a:buNone/>
              </a:pPr>
              <a:r>
                <a:rPr lang="zh-CN" altLang="en-US" sz="1800" b="1" dirty="0">
                  <a:solidFill>
                    <a:srgbClr val="FF6600"/>
                  </a:solidFill>
                  <a:latin typeface="Times New Roman" panose="02020603050405020304" pitchFamily="18" charset="0"/>
                </a:rPr>
                <a:t>使用位</a:t>
              </a:r>
              <a:r>
                <a:rPr lang="en-US" altLang="zh-CN" sz="1800" b="1" dirty="0">
                  <a:solidFill>
                    <a:srgbClr val="FF6600"/>
                  </a:solidFill>
                  <a:latin typeface="Times New Roman" panose="02020603050405020304" pitchFamily="18" charset="0"/>
                </a:rPr>
                <a:t>=1</a:t>
              </a:r>
              <a:endParaRPr lang="en-US" altLang="zh-CN" sz="1800" b="1" dirty="0">
                <a:solidFill>
                  <a:srgbClr val="FF6600"/>
                </a:solidFill>
                <a:latin typeface="Times New Roman" panose="02020603050405020304" pitchFamily="18" charset="0"/>
              </a:endParaRPr>
            </a:p>
          </p:txBody>
        </p:sp>
        <p:sp>
          <p:nvSpPr>
            <p:cNvPr id="49171" name="Text Box 65"/>
            <p:cNvSpPr txBox="1"/>
            <p:nvPr/>
          </p:nvSpPr>
          <p:spPr>
            <a:xfrm>
              <a:off x="1509" y="2807"/>
              <a:ext cx="847" cy="50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chemeClr val="tx2"/>
                  </a:solidFill>
                  <a:latin typeface="Times New Roman" panose="02020603050405020304" pitchFamily="18" charset="0"/>
                </a:rPr>
                <a:t>页面</a:t>
              </a:r>
              <a:r>
                <a:rPr lang="en-US" altLang="zh-CN" sz="1800" b="1" dirty="0">
                  <a:solidFill>
                    <a:schemeClr val="tx2"/>
                  </a:solidFill>
                  <a:latin typeface="Times New Roman" panose="02020603050405020304" pitchFamily="18" charset="0"/>
                </a:rPr>
                <a:t>36</a:t>
              </a:r>
              <a:endParaRPr lang="en-US" altLang="zh-CN" sz="1800" b="1" dirty="0">
                <a:solidFill>
                  <a:schemeClr val="tx2"/>
                </a:solidFill>
                <a:latin typeface="Times New Roman" panose="02020603050405020304" pitchFamily="18" charset="0"/>
              </a:endParaRPr>
            </a:p>
            <a:p>
              <a:pPr marL="0" lvl="0" indent="0">
                <a:spcBef>
                  <a:spcPct val="0"/>
                </a:spcBef>
                <a:buClrTx/>
                <a:buSzTx/>
                <a:buFontTx/>
                <a:buNone/>
              </a:pPr>
              <a:r>
                <a:rPr lang="zh-CN" altLang="en-US" sz="1800" b="1" dirty="0">
                  <a:solidFill>
                    <a:schemeClr val="tx2"/>
                  </a:solidFill>
                  <a:latin typeface="Times New Roman" panose="02020603050405020304" pitchFamily="18" charset="0"/>
                </a:rPr>
                <a:t>使用位</a:t>
              </a:r>
              <a:r>
                <a:rPr lang="en-US" altLang="zh-CN" sz="1800" b="1" dirty="0">
                  <a:solidFill>
                    <a:schemeClr val="tx2"/>
                  </a:solidFill>
                  <a:latin typeface="Times New Roman" panose="02020603050405020304" pitchFamily="18" charset="0"/>
                </a:rPr>
                <a:t>=0</a:t>
              </a:r>
              <a:endParaRPr lang="en-US" altLang="zh-CN" sz="1800" b="1" dirty="0">
                <a:solidFill>
                  <a:schemeClr val="tx2"/>
                </a:solidFill>
                <a:latin typeface="Times New Roman" panose="02020603050405020304" pitchFamily="18" charset="0"/>
              </a:endParaRPr>
            </a:p>
          </p:txBody>
        </p:sp>
        <p:sp>
          <p:nvSpPr>
            <p:cNvPr id="49172" name="Text Box 66"/>
            <p:cNvSpPr txBox="1"/>
            <p:nvPr/>
          </p:nvSpPr>
          <p:spPr>
            <a:xfrm>
              <a:off x="2014" y="2310"/>
              <a:ext cx="847" cy="50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FF6600"/>
                  </a:solidFill>
                  <a:latin typeface="Times New Roman" panose="02020603050405020304" pitchFamily="18" charset="0"/>
                </a:rPr>
                <a:t>页面</a:t>
              </a:r>
              <a:r>
                <a:rPr lang="en-US" altLang="zh-CN" sz="1800" b="1" dirty="0">
                  <a:solidFill>
                    <a:srgbClr val="FF6600"/>
                  </a:solidFill>
                  <a:latin typeface="Times New Roman" panose="02020603050405020304" pitchFamily="18" charset="0"/>
                </a:rPr>
                <a:t>6</a:t>
              </a:r>
              <a:endParaRPr lang="en-US" altLang="zh-CN" sz="1800" b="1" dirty="0">
                <a:solidFill>
                  <a:srgbClr val="FF6600"/>
                </a:solidFill>
                <a:latin typeface="Times New Roman" panose="02020603050405020304" pitchFamily="18" charset="0"/>
              </a:endParaRPr>
            </a:p>
            <a:p>
              <a:pPr marL="0" lvl="0" indent="0">
                <a:spcBef>
                  <a:spcPct val="0"/>
                </a:spcBef>
                <a:buClrTx/>
                <a:buSzTx/>
                <a:buFontTx/>
                <a:buNone/>
              </a:pPr>
              <a:r>
                <a:rPr lang="zh-CN" altLang="en-US" sz="1800" b="1" dirty="0">
                  <a:solidFill>
                    <a:srgbClr val="FF6600"/>
                  </a:solidFill>
                  <a:latin typeface="Times New Roman" panose="02020603050405020304" pitchFamily="18" charset="0"/>
                </a:rPr>
                <a:t>使用位</a:t>
              </a:r>
              <a:r>
                <a:rPr lang="en-US" altLang="zh-CN" sz="1800" b="1" dirty="0">
                  <a:solidFill>
                    <a:srgbClr val="FF6600"/>
                  </a:solidFill>
                  <a:latin typeface="Times New Roman" panose="02020603050405020304" pitchFamily="18" charset="0"/>
                </a:rPr>
                <a:t>=1</a:t>
              </a:r>
              <a:endParaRPr lang="en-US" altLang="zh-CN" sz="1800" b="1" dirty="0">
                <a:solidFill>
                  <a:srgbClr val="FF6600"/>
                </a:solidFill>
                <a:latin typeface="Times New Roman" panose="02020603050405020304" pitchFamily="18" charset="0"/>
              </a:endParaRPr>
            </a:p>
          </p:txBody>
        </p:sp>
        <p:sp>
          <p:nvSpPr>
            <p:cNvPr id="49173" name="Text Box 67"/>
            <p:cNvSpPr txBox="1"/>
            <p:nvPr/>
          </p:nvSpPr>
          <p:spPr>
            <a:xfrm>
              <a:off x="1509" y="1096"/>
              <a:ext cx="847" cy="50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FF6600"/>
                  </a:solidFill>
                  <a:latin typeface="Times New Roman" panose="02020603050405020304" pitchFamily="18" charset="0"/>
                </a:rPr>
                <a:t>页面</a:t>
              </a:r>
              <a:r>
                <a:rPr lang="en-US" altLang="zh-CN" sz="1800" b="1" dirty="0">
                  <a:solidFill>
                    <a:srgbClr val="FF6600"/>
                  </a:solidFill>
                  <a:latin typeface="Times New Roman" panose="02020603050405020304" pitchFamily="18" charset="0"/>
                </a:rPr>
                <a:t>23</a:t>
              </a:r>
              <a:endParaRPr lang="en-US" altLang="zh-CN" sz="1800" b="1" dirty="0">
                <a:solidFill>
                  <a:srgbClr val="FF6600"/>
                </a:solidFill>
                <a:latin typeface="Times New Roman" panose="02020603050405020304" pitchFamily="18" charset="0"/>
              </a:endParaRPr>
            </a:p>
            <a:p>
              <a:pPr marL="0" lvl="0" indent="0">
                <a:spcBef>
                  <a:spcPct val="0"/>
                </a:spcBef>
                <a:buClrTx/>
                <a:buSzTx/>
                <a:buFontTx/>
                <a:buNone/>
              </a:pPr>
              <a:r>
                <a:rPr lang="zh-CN" altLang="en-US" sz="1800" b="1" dirty="0">
                  <a:solidFill>
                    <a:srgbClr val="FF6600"/>
                  </a:solidFill>
                  <a:latin typeface="Times New Roman" panose="02020603050405020304" pitchFamily="18" charset="0"/>
                </a:rPr>
                <a:t>使用位</a:t>
              </a:r>
              <a:r>
                <a:rPr lang="en-US" altLang="zh-CN" sz="1800" b="1" dirty="0">
                  <a:solidFill>
                    <a:srgbClr val="FF6600"/>
                  </a:solidFill>
                  <a:latin typeface="Times New Roman" panose="02020603050405020304" pitchFamily="18" charset="0"/>
                </a:rPr>
                <a:t>=1</a:t>
              </a:r>
              <a:endParaRPr lang="en-US" altLang="zh-CN" sz="1800" b="1" dirty="0">
                <a:solidFill>
                  <a:srgbClr val="FF6600"/>
                </a:solidFill>
                <a:latin typeface="Times New Roman" panose="02020603050405020304" pitchFamily="18" charset="0"/>
              </a:endParaRPr>
            </a:p>
          </p:txBody>
        </p:sp>
        <p:sp>
          <p:nvSpPr>
            <p:cNvPr id="49174" name="Text Box 68"/>
            <p:cNvSpPr txBox="1"/>
            <p:nvPr/>
          </p:nvSpPr>
          <p:spPr>
            <a:xfrm>
              <a:off x="793" y="2803"/>
              <a:ext cx="847" cy="50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FF6600"/>
                  </a:solidFill>
                  <a:latin typeface="Times New Roman" panose="02020603050405020304" pitchFamily="18" charset="0"/>
                </a:rPr>
                <a:t>页面</a:t>
              </a:r>
              <a:r>
                <a:rPr lang="en-US" altLang="zh-CN" sz="1800" b="1" dirty="0">
                  <a:solidFill>
                    <a:srgbClr val="FF6600"/>
                  </a:solidFill>
                  <a:latin typeface="Times New Roman" panose="02020603050405020304" pitchFamily="18" charset="0"/>
                </a:rPr>
                <a:t>25</a:t>
              </a:r>
              <a:endParaRPr lang="en-US" altLang="zh-CN" sz="1800" b="1" dirty="0">
                <a:solidFill>
                  <a:srgbClr val="FF6600"/>
                </a:solidFill>
                <a:latin typeface="Times New Roman" panose="02020603050405020304" pitchFamily="18" charset="0"/>
              </a:endParaRPr>
            </a:p>
            <a:p>
              <a:pPr marL="0" lvl="0" indent="0">
                <a:spcBef>
                  <a:spcPct val="0"/>
                </a:spcBef>
                <a:buClrTx/>
                <a:buSzTx/>
                <a:buFontTx/>
                <a:buNone/>
              </a:pPr>
              <a:r>
                <a:rPr lang="zh-CN" altLang="en-US" sz="1800" b="1" dirty="0">
                  <a:solidFill>
                    <a:srgbClr val="FF6600"/>
                  </a:solidFill>
                  <a:latin typeface="Times New Roman" panose="02020603050405020304" pitchFamily="18" charset="0"/>
                </a:rPr>
                <a:t>使用位</a:t>
              </a:r>
              <a:r>
                <a:rPr lang="en-US" altLang="zh-CN" sz="1800" b="1" dirty="0">
                  <a:solidFill>
                    <a:srgbClr val="FF6600"/>
                  </a:solidFill>
                  <a:latin typeface="Times New Roman" panose="02020603050405020304" pitchFamily="18" charset="0"/>
                </a:rPr>
                <a:t>=1</a:t>
              </a:r>
              <a:endParaRPr lang="en-US" altLang="zh-CN" sz="1800" b="1" dirty="0">
                <a:solidFill>
                  <a:srgbClr val="FF6600"/>
                </a:solidFill>
                <a:latin typeface="Times New Roman" panose="02020603050405020304" pitchFamily="18" charset="0"/>
              </a:endParaRPr>
            </a:p>
          </p:txBody>
        </p:sp>
        <p:sp>
          <p:nvSpPr>
            <p:cNvPr id="49175" name="Text Box 69"/>
            <p:cNvSpPr txBox="1"/>
            <p:nvPr/>
          </p:nvSpPr>
          <p:spPr>
            <a:xfrm>
              <a:off x="257" y="1653"/>
              <a:ext cx="847" cy="50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chemeClr val="tx2"/>
                  </a:solidFill>
                  <a:latin typeface="Times New Roman" panose="02020603050405020304" pitchFamily="18" charset="0"/>
                </a:rPr>
                <a:t>页面</a:t>
              </a:r>
              <a:r>
                <a:rPr lang="en-US" altLang="zh-CN" sz="1800" b="1" dirty="0">
                  <a:solidFill>
                    <a:schemeClr val="tx2"/>
                  </a:solidFill>
                  <a:latin typeface="Times New Roman" panose="02020603050405020304" pitchFamily="18" charset="0"/>
                </a:rPr>
                <a:t>11</a:t>
              </a:r>
              <a:endParaRPr lang="en-US" altLang="zh-CN" sz="1800" b="1" dirty="0">
                <a:solidFill>
                  <a:schemeClr val="tx2"/>
                </a:solidFill>
                <a:latin typeface="Times New Roman" panose="02020603050405020304" pitchFamily="18" charset="0"/>
              </a:endParaRPr>
            </a:p>
            <a:p>
              <a:pPr marL="0" lvl="0" indent="0">
                <a:spcBef>
                  <a:spcPct val="0"/>
                </a:spcBef>
                <a:buClrTx/>
                <a:buSzTx/>
                <a:buFontTx/>
                <a:buNone/>
              </a:pPr>
              <a:r>
                <a:rPr lang="zh-CN" altLang="en-US" sz="1800" b="1" dirty="0">
                  <a:solidFill>
                    <a:schemeClr val="tx2"/>
                  </a:solidFill>
                  <a:latin typeface="Times New Roman" panose="02020603050405020304" pitchFamily="18" charset="0"/>
                </a:rPr>
                <a:t>使用位</a:t>
              </a:r>
              <a:r>
                <a:rPr lang="en-US" altLang="zh-CN" sz="1800" b="1" dirty="0">
                  <a:solidFill>
                    <a:schemeClr val="tx2"/>
                  </a:solidFill>
                  <a:latin typeface="Times New Roman" panose="02020603050405020304" pitchFamily="18" charset="0"/>
                </a:rPr>
                <a:t>=0</a:t>
              </a:r>
              <a:endParaRPr lang="en-US" altLang="zh-CN" sz="1800" b="1" dirty="0">
                <a:solidFill>
                  <a:schemeClr val="tx2"/>
                </a:solidFill>
                <a:latin typeface="Times New Roman" panose="02020603050405020304" pitchFamily="18" charset="0"/>
              </a:endParaRPr>
            </a:p>
          </p:txBody>
        </p:sp>
        <p:sp>
          <p:nvSpPr>
            <p:cNvPr id="49176" name="Text Box 70"/>
            <p:cNvSpPr txBox="1"/>
            <p:nvPr/>
          </p:nvSpPr>
          <p:spPr>
            <a:xfrm>
              <a:off x="783" y="1125"/>
              <a:ext cx="847" cy="50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chemeClr val="tx2"/>
                  </a:solidFill>
                  <a:latin typeface="Times New Roman" panose="02020603050405020304" pitchFamily="18" charset="0"/>
                </a:rPr>
                <a:t>页面</a:t>
              </a:r>
              <a:r>
                <a:rPr lang="en-US" altLang="zh-CN" sz="1800" b="1" dirty="0">
                  <a:solidFill>
                    <a:schemeClr val="tx2"/>
                  </a:solidFill>
                  <a:latin typeface="Times New Roman" panose="02020603050405020304" pitchFamily="18" charset="0"/>
                </a:rPr>
                <a:t>8</a:t>
              </a:r>
              <a:endParaRPr lang="en-US" altLang="zh-CN" sz="1800" b="1" dirty="0">
                <a:solidFill>
                  <a:schemeClr val="tx2"/>
                </a:solidFill>
                <a:latin typeface="Times New Roman" panose="02020603050405020304" pitchFamily="18" charset="0"/>
              </a:endParaRPr>
            </a:p>
            <a:p>
              <a:pPr marL="0" lvl="0" indent="0">
                <a:spcBef>
                  <a:spcPct val="0"/>
                </a:spcBef>
                <a:buClrTx/>
                <a:buSzTx/>
                <a:buFontTx/>
                <a:buNone/>
              </a:pPr>
              <a:r>
                <a:rPr lang="zh-CN" altLang="en-US" sz="1800" b="1" dirty="0">
                  <a:solidFill>
                    <a:schemeClr val="tx2"/>
                  </a:solidFill>
                  <a:latin typeface="Times New Roman" panose="02020603050405020304" pitchFamily="18" charset="0"/>
                </a:rPr>
                <a:t>使用位</a:t>
              </a:r>
              <a:r>
                <a:rPr lang="en-US" altLang="zh-CN" sz="1800" b="1" dirty="0">
                  <a:solidFill>
                    <a:schemeClr val="tx2"/>
                  </a:solidFill>
                  <a:latin typeface="Times New Roman" panose="02020603050405020304" pitchFamily="18" charset="0"/>
                </a:rPr>
                <a:t>=0</a:t>
              </a:r>
              <a:endParaRPr lang="en-US" altLang="zh-CN" sz="1800" b="1" dirty="0">
                <a:solidFill>
                  <a:schemeClr val="tx2"/>
                </a:solidFill>
                <a:latin typeface="Times New Roman" panose="02020603050405020304" pitchFamily="18" charset="0"/>
              </a:endParaRPr>
            </a:p>
          </p:txBody>
        </p:sp>
        <p:sp>
          <p:nvSpPr>
            <p:cNvPr id="49177" name="Oval 71"/>
            <p:cNvSpPr/>
            <p:nvPr/>
          </p:nvSpPr>
          <p:spPr>
            <a:xfrm>
              <a:off x="3062" y="994"/>
              <a:ext cx="2477" cy="2392"/>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49178" name="Oval 72"/>
            <p:cNvSpPr/>
            <p:nvPr/>
          </p:nvSpPr>
          <p:spPr>
            <a:xfrm>
              <a:off x="3627" y="1549"/>
              <a:ext cx="1373" cy="1324"/>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49179" name="Line 73"/>
            <p:cNvSpPr/>
            <p:nvPr/>
          </p:nvSpPr>
          <p:spPr>
            <a:xfrm flipH="1">
              <a:off x="4089" y="2209"/>
              <a:ext cx="254" cy="585"/>
            </a:xfrm>
            <a:prstGeom prst="line">
              <a:avLst/>
            </a:prstGeom>
            <a:ln w="9525" cap="flat" cmpd="sng">
              <a:solidFill>
                <a:srgbClr val="000000"/>
              </a:solidFill>
              <a:prstDash val="solid"/>
              <a:headEnd type="none" w="med" len="med"/>
              <a:tailEnd type="triangle" w="med" len="med"/>
            </a:ln>
          </p:spPr>
        </p:sp>
        <p:sp>
          <p:nvSpPr>
            <p:cNvPr id="49180" name="Line 74"/>
            <p:cNvSpPr/>
            <p:nvPr/>
          </p:nvSpPr>
          <p:spPr>
            <a:xfrm>
              <a:off x="3052" y="2209"/>
              <a:ext cx="553" cy="0"/>
            </a:xfrm>
            <a:prstGeom prst="line">
              <a:avLst/>
            </a:prstGeom>
            <a:ln w="9525" cap="flat" cmpd="sng">
              <a:solidFill>
                <a:srgbClr val="000000"/>
              </a:solidFill>
              <a:prstDash val="solid"/>
              <a:headEnd type="none" w="med" len="med"/>
              <a:tailEnd type="none" w="med" len="med"/>
            </a:ln>
          </p:spPr>
        </p:sp>
        <p:sp>
          <p:nvSpPr>
            <p:cNvPr id="49181" name="Line 75"/>
            <p:cNvSpPr/>
            <p:nvPr/>
          </p:nvSpPr>
          <p:spPr>
            <a:xfrm>
              <a:off x="4988" y="2209"/>
              <a:ext cx="553" cy="0"/>
            </a:xfrm>
            <a:prstGeom prst="line">
              <a:avLst/>
            </a:prstGeom>
            <a:ln w="9525" cap="flat" cmpd="sng">
              <a:solidFill>
                <a:srgbClr val="000000"/>
              </a:solidFill>
              <a:prstDash val="solid"/>
              <a:headEnd type="none" w="med" len="med"/>
              <a:tailEnd type="none" w="med" len="med"/>
            </a:ln>
          </p:spPr>
        </p:sp>
        <p:sp>
          <p:nvSpPr>
            <p:cNvPr id="49182" name="Line 76"/>
            <p:cNvSpPr/>
            <p:nvPr/>
          </p:nvSpPr>
          <p:spPr>
            <a:xfrm rot="2700000">
              <a:off x="3350" y="1534"/>
              <a:ext cx="534" cy="1"/>
            </a:xfrm>
            <a:prstGeom prst="line">
              <a:avLst/>
            </a:prstGeom>
            <a:ln w="9525" cap="flat" cmpd="sng">
              <a:solidFill>
                <a:srgbClr val="000000"/>
              </a:solidFill>
              <a:prstDash val="solid"/>
              <a:headEnd type="none" w="med" len="med"/>
              <a:tailEnd type="none" w="med" len="med"/>
            </a:ln>
          </p:spPr>
        </p:sp>
        <p:sp>
          <p:nvSpPr>
            <p:cNvPr id="49183" name="Line 77"/>
            <p:cNvSpPr/>
            <p:nvPr/>
          </p:nvSpPr>
          <p:spPr>
            <a:xfrm rot="2700000">
              <a:off x="3649" y="2603"/>
              <a:ext cx="0" cy="553"/>
            </a:xfrm>
            <a:prstGeom prst="line">
              <a:avLst/>
            </a:prstGeom>
            <a:ln w="9525" cap="flat" cmpd="sng">
              <a:solidFill>
                <a:srgbClr val="000000"/>
              </a:solidFill>
              <a:prstDash val="solid"/>
              <a:headEnd type="none" w="med" len="med"/>
              <a:tailEnd type="none" w="med" len="med"/>
            </a:ln>
          </p:spPr>
        </p:sp>
        <p:sp>
          <p:nvSpPr>
            <p:cNvPr id="49184" name="Line 78"/>
            <p:cNvSpPr/>
            <p:nvPr/>
          </p:nvSpPr>
          <p:spPr>
            <a:xfrm rot="2700000" flipH="1">
              <a:off x="5025" y="1297"/>
              <a:ext cx="2" cy="534"/>
            </a:xfrm>
            <a:prstGeom prst="line">
              <a:avLst/>
            </a:prstGeom>
            <a:ln w="9525" cap="flat" cmpd="sng">
              <a:solidFill>
                <a:srgbClr val="000000"/>
              </a:solidFill>
              <a:prstDash val="solid"/>
              <a:headEnd type="none" w="med" len="med"/>
              <a:tailEnd type="none" w="med" len="med"/>
            </a:ln>
          </p:spPr>
        </p:sp>
        <p:sp>
          <p:nvSpPr>
            <p:cNvPr id="49185" name="Line 79"/>
            <p:cNvSpPr/>
            <p:nvPr/>
          </p:nvSpPr>
          <p:spPr>
            <a:xfrm rot="2700000">
              <a:off x="4745" y="2857"/>
              <a:ext cx="534" cy="1"/>
            </a:xfrm>
            <a:prstGeom prst="line">
              <a:avLst/>
            </a:prstGeom>
            <a:ln w="9525" cap="flat" cmpd="sng">
              <a:solidFill>
                <a:srgbClr val="000000"/>
              </a:solidFill>
              <a:prstDash val="solid"/>
              <a:headEnd type="none" w="med" len="med"/>
              <a:tailEnd type="none" w="med" len="med"/>
            </a:ln>
          </p:spPr>
        </p:sp>
        <p:sp>
          <p:nvSpPr>
            <p:cNvPr id="49186" name="Line 80"/>
            <p:cNvSpPr/>
            <p:nvPr/>
          </p:nvSpPr>
          <p:spPr>
            <a:xfrm rot="5400000">
              <a:off x="4036" y="1260"/>
              <a:ext cx="534" cy="2"/>
            </a:xfrm>
            <a:prstGeom prst="line">
              <a:avLst/>
            </a:prstGeom>
            <a:ln w="9525" cap="flat" cmpd="sng">
              <a:solidFill>
                <a:srgbClr val="000000"/>
              </a:solidFill>
              <a:prstDash val="solid"/>
              <a:headEnd type="none" w="med" len="med"/>
              <a:tailEnd type="none" w="med" len="med"/>
            </a:ln>
          </p:spPr>
        </p:sp>
        <p:sp>
          <p:nvSpPr>
            <p:cNvPr id="49187" name="Line 81"/>
            <p:cNvSpPr/>
            <p:nvPr/>
          </p:nvSpPr>
          <p:spPr>
            <a:xfrm rot="5400000">
              <a:off x="4047" y="3138"/>
              <a:ext cx="533" cy="1"/>
            </a:xfrm>
            <a:prstGeom prst="line">
              <a:avLst/>
            </a:prstGeom>
            <a:ln w="9525" cap="flat" cmpd="sng">
              <a:solidFill>
                <a:srgbClr val="000000"/>
              </a:solidFill>
              <a:prstDash val="solid"/>
              <a:headEnd type="none" w="med" len="med"/>
              <a:tailEnd type="none" w="med" len="med"/>
            </a:ln>
          </p:spPr>
        </p:sp>
        <p:sp>
          <p:nvSpPr>
            <p:cNvPr id="49188" name="Oval 82"/>
            <p:cNvSpPr/>
            <p:nvPr/>
          </p:nvSpPr>
          <p:spPr>
            <a:xfrm>
              <a:off x="4324" y="2190"/>
              <a:ext cx="39" cy="37"/>
            </a:xfrm>
            <a:prstGeom prst="ellipse">
              <a:avLst/>
            </a:prstGeom>
            <a:solidFill>
              <a:srgbClr val="000000"/>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49189" name="Text Box 83"/>
            <p:cNvSpPr txBox="1"/>
            <p:nvPr/>
          </p:nvSpPr>
          <p:spPr>
            <a:xfrm>
              <a:off x="4906" y="1675"/>
              <a:ext cx="726" cy="50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chemeClr val="tx2"/>
                  </a:solidFill>
                  <a:latin typeface="Times New Roman" panose="02020603050405020304" pitchFamily="18" charset="0"/>
                </a:rPr>
                <a:t>页面</a:t>
              </a:r>
              <a:r>
                <a:rPr lang="en-US" altLang="zh-CN" sz="1800" b="1" dirty="0">
                  <a:solidFill>
                    <a:schemeClr val="tx2"/>
                  </a:solidFill>
                  <a:latin typeface="Times New Roman" panose="02020603050405020304" pitchFamily="18" charset="0"/>
                </a:rPr>
                <a:t>12</a:t>
              </a:r>
              <a:endParaRPr lang="en-US" altLang="zh-CN" sz="1800" b="1" dirty="0">
                <a:solidFill>
                  <a:schemeClr val="tx2"/>
                </a:solidFill>
                <a:latin typeface="Times New Roman" panose="02020603050405020304" pitchFamily="18" charset="0"/>
              </a:endParaRPr>
            </a:p>
            <a:p>
              <a:pPr marL="0" lvl="0" indent="0">
                <a:spcBef>
                  <a:spcPct val="0"/>
                </a:spcBef>
                <a:buClrTx/>
                <a:buSzTx/>
                <a:buFontTx/>
                <a:buNone/>
              </a:pPr>
              <a:r>
                <a:rPr lang="zh-CN" altLang="en-US" sz="1800" b="1" dirty="0">
                  <a:solidFill>
                    <a:schemeClr val="tx2"/>
                  </a:solidFill>
                  <a:latin typeface="Times New Roman" panose="02020603050405020304" pitchFamily="18" charset="0"/>
                </a:rPr>
                <a:t>使用位</a:t>
              </a:r>
              <a:r>
                <a:rPr lang="en-US" altLang="zh-CN" sz="1800" b="1" dirty="0">
                  <a:solidFill>
                    <a:schemeClr val="tx2"/>
                  </a:solidFill>
                  <a:latin typeface="Times New Roman" panose="02020603050405020304" pitchFamily="18" charset="0"/>
                </a:rPr>
                <a:t>=0</a:t>
              </a:r>
              <a:endParaRPr lang="en-US" altLang="zh-CN" sz="1800" b="1" dirty="0">
                <a:solidFill>
                  <a:schemeClr val="tx2"/>
                </a:solidFill>
                <a:latin typeface="Times New Roman" panose="02020603050405020304" pitchFamily="18" charset="0"/>
              </a:endParaRPr>
            </a:p>
          </p:txBody>
        </p:sp>
        <p:sp>
          <p:nvSpPr>
            <p:cNvPr id="49190" name="Text Box 84"/>
            <p:cNvSpPr txBox="1"/>
            <p:nvPr/>
          </p:nvSpPr>
          <p:spPr>
            <a:xfrm>
              <a:off x="3103" y="2310"/>
              <a:ext cx="847" cy="50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FF6600"/>
                  </a:solidFill>
                  <a:latin typeface="Times New Roman" panose="02020603050405020304" pitchFamily="18" charset="0"/>
                </a:rPr>
                <a:t>页面</a:t>
              </a:r>
              <a:r>
                <a:rPr lang="en-US" altLang="zh-CN" sz="1800" b="1" dirty="0">
                  <a:solidFill>
                    <a:srgbClr val="FF6600"/>
                  </a:solidFill>
                  <a:latin typeface="Times New Roman" panose="02020603050405020304" pitchFamily="18" charset="0"/>
                </a:rPr>
                <a:t>2</a:t>
              </a:r>
              <a:endParaRPr lang="en-US" altLang="zh-CN" sz="1800" b="1" dirty="0">
                <a:solidFill>
                  <a:srgbClr val="FF6600"/>
                </a:solidFill>
                <a:latin typeface="Times New Roman" panose="02020603050405020304" pitchFamily="18" charset="0"/>
              </a:endParaRPr>
            </a:p>
            <a:p>
              <a:pPr marL="0" lvl="0" indent="0">
                <a:spcBef>
                  <a:spcPct val="0"/>
                </a:spcBef>
                <a:buClrTx/>
                <a:buSzTx/>
                <a:buFontTx/>
                <a:buNone/>
              </a:pPr>
              <a:r>
                <a:rPr lang="zh-CN" altLang="en-US" sz="1800" b="1" dirty="0">
                  <a:solidFill>
                    <a:srgbClr val="FF6600"/>
                  </a:solidFill>
                  <a:latin typeface="Times New Roman" panose="02020603050405020304" pitchFamily="18" charset="0"/>
                </a:rPr>
                <a:t>使用位</a:t>
              </a:r>
              <a:r>
                <a:rPr lang="en-US" altLang="zh-CN" sz="1800" b="1" dirty="0">
                  <a:solidFill>
                    <a:srgbClr val="FF6600"/>
                  </a:solidFill>
                  <a:latin typeface="Times New Roman" panose="02020603050405020304" pitchFamily="18" charset="0"/>
                </a:rPr>
                <a:t>=1</a:t>
              </a:r>
              <a:endParaRPr lang="en-US" altLang="zh-CN" sz="1800" b="1" dirty="0">
                <a:solidFill>
                  <a:srgbClr val="FF6600"/>
                </a:solidFill>
                <a:latin typeface="Times New Roman" panose="02020603050405020304" pitchFamily="18" charset="0"/>
              </a:endParaRPr>
            </a:p>
          </p:txBody>
        </p:sp>
        <p:sp>
          <p:nvSpPr>
            <p:cNvPr id="49191" name="Text Box 85"/>
            <p:cNvSpPr txBox="1"/>
            <p:nvPr/>
          </p:nvSpPr>
          <p:spPr>
            <a:xfrm>
              <a:off x="4323" y="2807"/>
              <a:ext cx="847" cy="50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FF0000"/>
                  </a:solidFill>
                  <a:latin typeface="Times New Roman" panose="02020603050405020304" pitchFamily="18" charset="0"/>
                </a:rPr>
                <a:t>页面</a:t>
              </a:r>
              <a:r>
                <a:rPr lang="en-US" altLang="zh-CN" sz="1800" b="1" dirty="0">
                  <a:solidFill>
                    <a:srgbClr val="FF0000"/>
                  </a:solidFill>
                  <a:latin typeface="Times New Roman" panose="02020603050405020304" pitchFamily="18" charset="0"/>
                </a:rPr>
                <a:t>9</a:t>
              </a:r>
              <a:endParaRPr lang="en-US" altLang="zh-CN" sz="1800" b="1" dirty="0">
                <a:solidFill>
                  <a:srgbClr val="FF0000"/>
                </a:solidFill>
                <a:latin typeface="Times New Roman" panose="02020603050405020304" pitchFamily="18" charset="0"/>
              </a:endParaRPr>
            </a:p>
            <a:p>
              <a:pPr marL="0" lvl="0" indent="0">
                <a:spcBef>
                  <a:spcPct val="0"/>
                </a:spcBef>
                <a:buClrTx/>
                <a:buSzTx/>
                <a:buFontTx/>
                <a:buNone/>
              </a:pPr>
              <a:r>
                <a:rPr lang="zh-CN" altLang="en-US" sz="1800" b="1" dirty="0">
                  <a:solidFill>
                    <a:srgbClr val="FF0000"/>
                  </a:solidFill>
                  <a:latin typeface="Times New Roman" panose="02020603050405020304" pitchFamily="18" charset="0"/>
                </a:rPr>
                <a:t>使用位</a:t>
              </a:r>
              <a:r>
                <a:rPr lang="en-US" altLang="zh-CN" sz="1800" b="1" dirty="0">
                  <a:solidFill>
                    <a:srgbClr val="FF0000"/>
                  </a:solidFill>
                  <a:latin typeface="Times New Roman" panose="02020603050405020304" pitchFamily="18" charset="0"/>
                </a:rPr>
                <a:t>=</a:t>
              </a:r>
              <a:r>
                <a:rPr lang="en-US" altLang="zh-CN" sz="1800" b="1" dirty="0">
                  <a:solidFill>
                    <a:srgbClr val="FF6600"/>
                  </a:solidFill>
                  <a:latin typeface="Times New Roman" panose="02020603050405020304" pitchFamily="18" charset="0"/>
                </a:rPr>
                <a:t>1</a:t>
              </a:r>
              <a:endParaRPr lang="en-US" altLang="zh-CN" sz="1800" b="1" dirty="0">
                <a:solidFill>
                  <a:srgbClr val="FF6600"/>
                </a:solidFill>
                <a:latin typeface="Times New Roman" panose="02020603050405020304" pitchFamily="18" charset="0"/>
              </a:endParaRPr>
            </a:p>
          </p:txBody>
        </p:sp>
        <p:sp>
          <p:nvSpPr>
            <p:cNvPr id="49192" name="Text Box 86"/>
            <p:cNvSpPr txBox="1"/>
            <p:nvPr/>
          </p:nvSpPr>
          <p:spPr>
            <a:xfrm>
              <a:off x="4845" y="2284"/>
              <a:ext cx="726" cy="50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chemeClr val="tx2"/>
                  </a:solidFill>
                  <a:latin typeface="Times New Roman" panose="02020603050405020304" pitchFamily="18" charset="0"/>
                </a:rPr>
                <a:t>页面</a:t>
              </a:r>
              <a:r>
                <a:rPr lang="en-US" altLang="zh-CN" sz="1800" b="1" dirty="0">
                  <a:solidFill>
                    <a:schemeClr val="tx2"/>
                  </a:solidFill>
                  <a:latin typeface="Times New Roman" panose="02020603050405020304" pitchFamily="18" charset="0"/>
                </a:rPr>
                <a:t>6</a:t>
              </a:r>
              <a:endParaRPr lang="en-US" altLang="zh-CN" sz="1800" b="1" dirty="0">
                <a:solidFill>
                  <a:schemeClr val="tx2"/>
                </a:solidFill>
                <a:latin typeface="Times New Roman" panose="02020603050405020304" pitchFamily="18" charset="0"/>
              </a:endParaRPr>
            </a:p>
            <a:p>
              <a:pPr marL="0" lvl="0" indent="0">
                <a:spcBef>
                  <a:spcPct val="0"/>
                </a:spcBef>
                <a:buClrTx/>
                <a:buSzTx/>
                <a:buFontTx/>
                <a:buNone/>
              </a:pPr>
              <a:r>
                <a:rPr lang="zh-CN" altLang="en-US" sz="1800" b="1" dirty="0">
                  <a:solidFill>
                    <a:schemeClr val="tx2"/>
                  </a:solidFill>
                  <a:latin typeface="Times New Roman" panose="02020603050405020304" pitchFamily="18" charset="0"/>
                </a:rPr>
                <a:t>使用位</a:t>
              </a:r>
              <a:r>
                <a:rPr lang="en-US" altLang="zh-CN" sz="1800" b="1" dirty="0">
                  <a:solidFill>
                    <a:schemeClr val="tx2"/>
                  </a:solidFill>
                  <a:latin typeface="Times New Roman" panose="02020603050405020304" pitchFamily="18" charset="0"/>
                </a:rPr>
                <a:t>=0</a:t>
              </a:r>
              <a:endParaRPr lang="en-US" altLang="zh-CN" sz="1800" b="1" dirty="0">
                <a:solidFill>
                  <a:schemeClr val="tx2"/>
                </a:solidFill>
                <a:latin typeface="Times New Roman" panose="02020603050405020304" pitchFamily="18" charset="0"/>
              </a:endParaRPr>
            </a:p>
          </p:txBody>
        </p:sp>
        <p:sp>
          <p:nvSpPr>
            <p:cNvPr id="49193" name="Text Box 87"/>
            <p:cNvSpPr txBox="1"/>
            <p:nvPr/>
          </p:nvSpPr>
          <p:spPr>
            <a:xfrm>
              <a:off x="4323" y="1096"/>
              <a:ext cx="847" cy="50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FF6600"/>
                  </a:solidFill>
                  <a:latin typeface="Times New Roman" panose="02020603050405020304" pitchFamily="18" charset="0"/>
                </a:rPr>
                <a:t>页面</a:t>
              </a:r>
              <a:r>
                <a:rPr lang="en-US" altLang="zh-CN" sz="1800" b="1" dirty="0">
                  <a:solidFill>
                    <a:srgbClr val="FF6600"/>
                  </a:solidFill>
                  <a:latin typeface="Times New Roman" panose="02020603050405020304" pitchFamily="18" charset="0"/>
                </a:rPr>
                <a:t>23</a:t>
              </a:r>
              <a:endParaRPr lang="en-US" altLang="zh-CN" sz="1800" b="1" dirty="0">
                <a:solidFill>
                  <a:srgbClr val="FF6600"/>
                </a:solidFill>
                <a:latin typeface="Times New Roman" panose="02020603050405020304" pitchFamily="18" charset="0"/>
              </a:endParaRPr>
            </a:p>
            <a:p>
              <a:pPr marL="0" lvl="0" indent="0">
                <a:spcBef>
                  <a:spcPct val="0"/>
                </a:spcBef>
                <a:buClrTx/>
                <a:buSzTx/>
                <a:buFontTx/>
                <a:buNone/>
              </a:pPr>
              <a:r>
                <a:rPr lang="zh-CN" altLang="en-US" sz="1800" b="1" dirty="0">
                  <a:solidFill>
                    <a:srgbClr val="FF6600"/>
                  </a:solidFill>
                  <a:latin typeface="Times New Roman" panose="02020603050405020304" pitchFamily="18" charset="0"/>
                </a:rPr>
                <a:t>使用位</a:t>
              </a:r>
              <a:r>
                <a:rPr lang="en-US" altLang="zh-CN" sz="1800" b="1" dirty="0">
                  <a:solidFill>
                    <a:srgbClr val="FF6600"/>
                  </a:solidFill>
                  <a:latin typeface="Times New Roman" panose="02020603050405020304" pitchFamily="18" charset="0"/>
                </a:rPr>
                <a:t>=1</a:t>
              </a:r>
              <a:endParaRPr lang="en-US" altLang="zh-CN" sz="1800" b="1" dirty="0">
                <a:solidFill>
                  <a:srgbClr val="FF6600"/>
                </a:solidFill>
                <a:latin typeface="Times New Roman" panose="02020603050405020304" pitchFamily="18" charset="0"/>
              </a:endParaRPr>
            </a:p>
          </p:txBody>
        </p:sp>
        <p:sp>
          <p:nvSpPr>
            <p:cNvPr id="49194" name="Text Box 88"/>
            <p:cNvSpPr txBox="1"/>
            <p:nvPr/>
          </p:nvSpPr>
          <p:spPr>
            <a:xfrm>
              <a:off x="3607" y="2803"/>
              <a:ext cx="847" cy="50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FF6600"/>
                  </a:solidFill>
                  <a:latin typeface="Times New Roman" panose="02020603050405020304" pitchFamily="18" charset="0"/>
                </a:rPr>
                <a:t>页面</a:t>
              </a:r>
              <a:r>
                <a:rPr lang="en-US" altLang="zh-CN" sz="1800" b="1" dirty="0">
                  <a:solidFill>
                    <a:srgbClr val="FF6600"/>
                  </a:solidFill>
                  <a:latin typeface="Times New Roman" panose="02020603050405020304" pitchFamily="18" charset="0"/>
                </a:rPr>
                <a:t>25</a:t>
              </a:r>
              <a:endParaRPr lang="en-US" altLang="zh-CN" sz="1800" b="1" dirty="0">
                <a:solidFill>
                  <a:srgbClr val="FF6600"/>
                </a:solidFill>
                <a:latin typeface="Times New Roman" panose="02020603050405020304" pitchFamily="18" charset="0"/>
              </a:endParaRPr>
            </a:p>
            <a:p>
              <a:pPr marL="0" lvl="0" indent="0">
                <a:spcBef>
                  <a:spcPct val="0"/>
                </a:spcBef>
                <a:buClrTx/>
                <a:buSzTx/>
                <a:buFontTx/>
                <a:buNone/>
              </a:pPr>
              <a:r>
                <a:rPr lang="zh-CN" altLang="en-US" sz="1800" b="1" dirty="0">
                  <a:solidFill>
                    <a:srgbClr val="FF6600"/>
                  </a:solidFill>
                  <a:latin typeface="Times New Roman" panose="02020603050405020304" pitchFamily="18" charset="0"/>
                </a:rPr>
                <a:t>使用位</a:t>
              </a:r>
              <a:r>
                <a:rPr lang="en-US" altLang="zh-CN" sz="1800" b="1" dirty="0">
                  <a:solidFill>
                    <a:srgbClr val="FF6600"/>
                  </a:solidFill>
                  <a:latin typeface="Times New Roman" panose="02020603050405020304" pitchFamily="18" charset="0"/>
                </a:rPr>
                <a:t>=1</a:t>
              </a:r>
              <a:endParaRPr lang="en-US" altLang="zh-CN" sz="1800" b="1" dirty="0">
                <a:solidFill>
                  <a:srgbClr val="FF6600"/>
                </a:solidFill>
                <a:latin typeface="Times New Roman" panose="02020603050405020304" pitchFamily="18" charset="0"/>
              </a:endParaRPr>
            </a:p>
          </p:txBody>
        </p:sp>
        <p:sp>
          <p:nvSpPr>
            <p:cNvPr id="49195" name="Text Box 89"/>
            <p:cNvSpPr txBox="1"/>
            <p:nvPr/>
          </p:nvSpPr>
          <p:spPr>
            <a:xfrm>
              <a:off x="3042" y="1641"/>
              <a:ext cx="847" cy="507"/>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chemeClr val="tx2"/>
                  </a:solidFill>
                  <a:latin typeface="Times New Roman" panose="02020603050405020304" pitchFamily="18" charset="0"/>
                </a:rPr>
                <a:t>页面</a:t>
              </a:r>
              <a:r>
                <a:rPr lang="en-US" altLang="zh-CN" sz="1800" b="1" dirty="0">
                  <a:solidFill>
                    <a:schemeClr val="tx2"/>
                  </a:solidFill>
                  <a:latin typeface="Times New Roman" panose="02020603050405020304" pitchFamily="18" charset="0"/>
                </a:rPr>
                <a:t>11</a:t>
              </a:r>
              <a:endParaRPr lang="en-US" altLang="zh-CN" sz="1800" b="1" dirty="0">
                <a:solidFill>
                  <a:schemeClr val="tx2"/>
                </a:solidFill>
                <a:latin typeface="Times New Roman" panose="02020603050405020304" pitchFamily="18" charset="0"/>
              </a:endParaRPr>
            </a:p>
            <a:p>
              <a:pPr marL="0" lvl="0" indent="0">
                <a:spcBef>
                  <a:spcPct val="0"/>
                </a:spcBef>
                <a:buClrTx/>
                <a:buSzTx/>
                <a:buFontTx/>
                <a:buNone/>
              </a:pPr>
              <a:r>
                <a:rPr lang="zh-CN" altLang="en-US" sz="1800" b="1" dirty="0">
                  <a:solidFill>
                    <a:schemeClr val="tx2"/>
                  </a:solidFill>
                  <a:latin typeface="Times New Roman" panose="02020603050405020304" pitchFamily="18" charset="0"/>
                </a:rPr>
                <a:t>使用位</a:t>
              </a:r>
              <a:r>
                <a:rPr lang="en-US" altLang="zh-CN" sz="1800" b="1" dirty="0">
                  <a:solidFill>
                    <a:schemeClr val="tx2"/>
                  </a:solidFill>
                  <a:latin typeface="Times New Roman" panose="02020603050405020304" pitchFamily="18" charset="0"/>
                </a:rPr>
                <a:t>=0</a:t>
              </a:r>
              <a:endParaRPr lang="en-US" altLang="zh-CN" sz="1800" b="1" dirty="0">
                <a:solidFill>
                  <a:schemeClr val="tx2"/>
                </a:solidFill>
                <a:latin typeface="Times New Roman" panose="02020603050405020304" pitchFamily="18" charset="0"/>
              </a:endParaRPr>
            </a:p>
          </p:txBody>
        </p:sp>
        <p:sp>
          <p:nvSpPr>
            <p:cNvPr id="49196" name="Text Box 90"/>
            <p:cNvSpPr txBox="1"/>
            <p:nvPr/>
          </p:nvSpPr>
          <p:spPr>
            <a:xfrm>
              <a:off x="3597" y="1125"/>
              <a:ext cx="847" cy="50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chemeClr val="tx2"/>
                  </a:solidFill>
                  <a:latin typeface="Times New Roman" panose="02020603050405020304" pitchFamily="18" charset="0"/>
                </a:rPr>
                <a:t>页面</a:t>
              </a:r>
              <a:r>
                <a:rPr lang="en-US" altLang="zh-CN" sz="1800" b="1" dirty="0">
                  <a:solidFill>
                    <a:schemeClr val="tx2"/>
                  </a:solidFill>
                  <a:latin typeface="Times New Roman" panose="02020603050405020304" pitchFamily="18" charset="0"/>
                </a:rPr>
                <a:t>8</a:t>
              </a:r>
              <a:endParaRPr lang="en-US" altLang="zh-CN" sz="1800" b="1" dirty="0">
                <a:solidFill>
                  <a:schemeClr val="tx2"/>
                </a:solidFill>
                <a:latin typeface="Times New Roman" panose="02020603050405020304" pitchFamily="18" charset="0"/>
              </a:endParaRPr>
            </a:p>
            <a:p>
              <a:pPr marL="0" lvl="0" indent="0">
                <a:spcBef>
                  <a:spcPct val="0"/>
                </a:spcBef>
                <a:buClrTx/>
                <a:buSzTx/>
                <a:buFontTx/>
                <a:buNone/>
              </a:pPr>
              <a:r>
                <a:rPr lang="zh-CN" altLang="en-US" sz="1800" b="1" dirty="0">
                  <a:solidFill>
                    <a:schemeClr val="tx2"/>
                  </a:solidFill>
                  <a:latin typeface="Times New Roman" panose="02020603050405020304" pitchFamily="18" charset="0"/>
                </a:rPr>
                <a:t>使用位</a:t>
              </a:r>
              <a:r>
                <a:rPr lang="en-US" altLang="zh-CN" sz="1800" b="1" dirty="0">
                  <a:solidFill>
                    <a:schemeClr val="tx2"/>
                  </a:solidFill>
                  <a:latin typeface="Times New Roman" panose="02020603050405020304" pitchFamily="18" charset="0"/>
                </a:rPr>
                <a:t>=0</a:t>
              </a:r>
              <a:endParaRPr lang="en-US" altLang="zh-CN" sz="1800" b="1" dirty="0">
                <a:solidFill>
                  <a:schemeClr val="tx2"/>
                </a:solidFill>
                <a:latin typeface="Times New Roman" panose="02020603050405020304" pitchFamily="18" charset="0"/>
              </a:endParaRPr>
            </a:p>
          </p:txBody>
        </p:sp>
        <p:sp>
          <p:nvSpPr>
            <p:cNvPr id="49197" name="Text Box 91"/>
            <p:cNvSpPr txBox="1"/>
            <p:nvPr/>
          </p:nvSpPr>
          <p:spPr>
            <a:xfrm>
              <a:off x="955" y="3553"/>
              <a:ext cx="1331" cy="378"/>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n-US" altLang="zh-CN" sz="1800" b="1" dirty="0">
                  <a:latin typeface="Times New Roman" panose="02020603050405020304" pitchFamily="18" charset="0"/>
                </a:rPr>
                <a:t>(a)</a:t>
              </a:r>
              <a:r>
                <a:rPr lang="zh-CN" altLang="en-US" sz="1800" b="1" dirty="0">
                  <a:latin typeface="Times New Roman" panose="02020603050405020304" pitchFamily="18" charset="0"/>
                </a:rPr>
                <a:t>页面置换前状态</a:t>
              </a:r>
              <a:endParaRPr lang="zh-CN" altLang="en-US" sz="1800" b="1" dirty="0">
                <a:latin typeface="Times New Roman" panose="02020603050405020304" pitchFamily="18" charset="0"/>
              </a:endParaRPr>
            </a:p>
          </p:txBody>
        </p:sp>
        <p:sp>
          <p:nvSpPr>
            <p:cNvPr id="49198" name="Text Box 92"/>
            <p:cNvSpPr txBox="1"/>
            <p:nvPr/>
          </p:nvSpPr>
          <p:spPr>
            <a:xfrm>
              <a:off x="3738" y="3553"/>
              <a:ext cx="1331" cy="378"/>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n-US" altLang="zh-CN" sz="1800" b="1" dirty="0">
                  <a:latin typeface="Times New Roman" panose="02020603050405020304" pitchFamily="18" charset="0"/>
                </a:rPr>
                <a:t>(b)</a:t>
              </a:r>
              <a:r>
                <a:rPr lang="zh-CN" altLang="en-US" sz="1800" b="1" dirty="0">
                  <a:latin typeface="Times New Roman" panose="02020603050405020304" pitchFamily="18" charset="0"/>
                </a:rPr>
                <a:t>页面置换后状态</a:t>
              </a:r>
              <a:endParaRPr lang="zh-CN" altLang="en-US" sz="1800" b="1" dirty="0">
                <a:latin typeface="Times New Roman" panose="02020603050405020304" pitchFamily="18" charset="0"/>
              </a:endParaRPr>
            </a:p>
          </p:txBody>
        </p:sp>
        <p:sp>
          <p:nvSpPr>
            <p:cNvPr id="49199" name="Text Box 93"/>
            <p:cNvSpPr txBox="1"/>
            <p:nvPr/>
          </p:nvSpPr>
          <p:spPr>
            <a:xfrm>
              <a:off x="2032" y="895"/>
              <a:ext cx="484" cy="40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n-US" altLang="zh-CN" sz="1800" b="1" dirty="0">
                  <a:latin typeface="Times New Roman" panose="02020603050405020304" pitchFamily="18" charset="0"/>
                </a:rPr>
                <a:t>0</a:t>
              </a:r>
              <a:endParaRPr lang="en-US" altLang="zh-CN" sz="1800" b="1" dirty="0">
                <a:latin typeface="Times New Roman" panose="02020603050405020304" pitchFamily="18" charset="0"/>
              </a:endParaRPr>
            </a:p>
          </p:txBody>
        </p:sp>
        <p:sp>
          <p:nvSpPr>
            <p:cNvPr id="49200" name="Text Box 94"/>
            <p:cNvSpPr txBox="1"/>
            <p:nvPr/>
          </p:nvSpPr>
          <p:spPr>
            <a:xfrm>
              <a:off x="2536" y="1500"/>
              <a:ext cx="484" cy="40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n-US" altLang="zh-CN" sz="1800" b="1" dirty="0">
                  <a:latin typeface="Times New Roman" panose="02020603050405020304" pitchFamily="18" charset="0"/>
                </a:rPr>
                <a:t>1</a:t>
              </a:r>
              <a:endParaRPr lang="en-US" altLang="zh-CN" sz="1800" b="1" dirty="0">
                <a:latin typeface="Times New Roman" panose="02020603050405020304" pitchFamily="18" charset="0"/>
              </a:endParaRPr>
            </a:p>
          </p:txBody>
        </p:sp>
        <p:sp>
          <p:nvSpPr>
            <p:cNvPr id="49201" name="Text Box 95"/>
            <p:cNvSpPr txBox="1"/>
            <p:nvPr/>
          </p:nvSpPr>
          <p:spPr>
            <a:xfrm>
              <a:off x="2647" y="2591"/>
              <a:ext cx="484" cy="40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n-US" altLang="zh-CN" sz="1800" b="1" dirty="0">
                  <a:latin typeface="Times New Roman" panose="02020603050405020304" pitchFamily="18" charset="0"/>
                </a:rPr>
                <a:t>2</a:t>
              </a:r>
              <a:endParaRPr lang="en-US" altLang="zh-CN" sz="1800" b="1" dirty="0">
                <a:latin typeface="Times New Roman" panose="02020603050405020304" pitchFamily="18" charset="0"/>
              </a:endParaRPr>
            </a:p>
          </p:txBody>
        </p:sp>
        <p:sp>
          <p:nvSpPr>
            <p:cNvPr id="49202" name="Text Box 96"/>
            <p:cNvSpPr txBox="1"/>
            <p:nvPr/>
          </p:nvSpPr>
          <p:spPr>
            <a:xfrm>
              <a:off x="1911" y="3222"/>
              <a:ext cx="484" cy="404"/>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n-US" altLang="zh-CN" sz="1800" b="1" dirty="0">
                  <a:latin typeface="Times New Roman" panose="02020603050405020304" pitchFamily="18" charset="0"/>
                </a:rPr>
                <a:t>3</a:t>
              </a:r>
              <a:endParaRPr lang="en-US" altLang="zh-CN" sz="1800" b="1" dirty="0">
                <a:latin typeface="Times New Roman" panose="02020603050405020304" pitchFamily="18" charset="0"/>
              </a:endParaRPr>
            </a:p>
          </p:txBody>
        </p:sp>
        <p:sp>
          <p:nvSpPr>
            <p:cNvPr id="49203" name="Text Box 97"/>
            <p:cNvSpPr txBox="1"/>
            <p:nvPr/>
          </p:nvSpPr>
          <p:spPr>
            <a:xfrm>
              <a:off x="822" y="3222"/>
              <a:ext cx="484" cy="404"/>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n-US" altLang="zh-CN" sz="1800" b="1" dirty="0">
                  <a:latin typeface="Times New Roman" panose="02020603050405020304" pitchFamily="18" charset="0"/>
                </a:rPr>
                <a:t>4</a:t>
              </a:r>
              <a:endParaRPr lang="en-US" altLang="zh-CN" sz="1800" b="1" dirty="0">
                <a:latin typeface="Times New Roman" panose="02020603050405020304" pitchFamily="18" charset="0"/>
              </a:endParaRPr>
            </a:p>
          </p:txBody>
        </p:sp>
        <p:sp>
          <p:nvSpPr>
            <p:cNvPr id="49204" name="Text Box 98"/>
            <p:cNvSpPr txBox="1"/>
            <p:nvPr/>
          </p:nvSpPr>
          <p:spPr>
            <a:xfrm>
              <a:off x="177" y="2633"/>
              <a:ext cx="484" cy="406"/>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n-US" altLang="zh-CN" sz="1800" b="1" dirty="0">
                  <a:latin typeface="Times New Roman" panose="02020603050405020304" pitchFamily="18" charset="0"/>
                </a:rPr>
                <a:t>5</a:t>
              </a:r>
              <a:endParaRPr lang="en-US" altLang="zh-CN" sz="1800" b="1" dirty="0">
                <a:latin typeface="Times New Roman" panose="02020603050405020304" pitchFamily="18" charset="0"/>
              </a:endParaRPr>
            </a:p>
          </p:txBody>
        </p:sp>
        <p:sp>
          <p:nvSpPr>
            <p:cNvPr id="49205" name="Text Box 99"/>
            <p:cNvSpPr txBox="1"/>
            <p:nvPr/>
          </p:nvSpPr>
          <p:spPr>
            <a:xfrm>
              <a:off x="157" y="1506"/>
              <a:ext cx="484" cy="40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n-US" altLang="zh-CN" sz="1800" b="1" dirty="0">
                  <a:latin typeface="Times New Roman" panose="02020603050405020304" pitchFamily="18" charset="0"/>
                </a:rPr>
                <a:t>6</a:t>
              </a:r>
              <a:endParaRPr lang="en-US" altLang="zh-CN" sz="1800" b="1" dirty="0">
                <a:latin typeface="Times New Roman" panose="02020603050405020304" pitchFamily="18" charset="0"/>
              </a:endParaRPr>
            </a:p>
          </p:txBody>
        </p:sp>
        <p:sp>
          <p:nvSpPr>
            <p:cNvPr id="49206" name="Text Box 100"/>
            <p:cNvSpPr txBox="1"/>
            <p:nvPr/>
          </p:nvSpPr>
          <p:spPr>
            <a:xfrm>
              <a:off x="812" y="869"/>
              <a:ext cx="484" cy="40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n-US" altLang="zh-CN" sz="1800" b="1" dirty="0">
                  <a:latin typeface="Times New Roman" panose="02020603050405020304" pitchFamily="18" charset="0"/>
                </a:rPr>
                <a:t>7</a:t>
              </a:r>
              <a:endParaRPr lang="en-US" altLang="zh-CN" sz="1800" b="1" dirty="0">
                <a:latin typeface="Times New Roman" panose="02020603050405020304" pitchFamily="18" charset="0"/>
              </a:endParaRPr>
            </a:p>
          </p:txBody>
        </p:sp>
      </p:grpSp>
      <p:sp>
        <p:nvSpPr>
          <p:cNvPr id="49155" name="Text Box 154"/>
          <p:cNvSpPr txBox="1"/>
          <p:nvPr/>
        </p:nvSpPr>
        <p:spPr>
          <a:xfrm>
            <a:off x="1079500" y="5697538"/>
            <a:ext cx="6805613" cy="831850"/>
          </a:xfrm>
          <a:prstGeom prst="rect">
            <a:avLst/>
          </a:prstGeom>
          <a:solidFill>
            <a:srgbClr val="CCFFFF"/>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t>重置</a:t>
            </a:r>
            <a:r>
              <a:rPr lang="en-US" altLang="zh-CN" sz="2400" b="1" dirty="0"/>
              <a:t>0</a:t>
            </a:r>
            <a:r>
              <a:rPr lang="zh-CN" altLang="en-US" sz="2400" b="1" dirty="0"/>
              <a:t>的含义：在以后的时间内可能还被访问。</a:t>
            </a:r>
            <a:endParaRPr lang="zh-CN" altLang="en-US" sz="2400" b="1" dirty="0"/>
          </a:p>
          <a:p>
            <a:pPr marL="0" lvl="0" indent="0" eaLnBrk="1" hangingPunct="1">
              <a:spcBef>
                <a:spcPct val="0"/>
              </a:spcBef>
              <a:buClrTx/>
              <a:buSzTx/>
              <a:buFontTx/>
              <a:buNone/>
            </a:pPr>
            <a:r>
              <a:rPr lang="zh-CN" altLang="en-US" sz="2400" b="1" dirty="0"/>
              <a:t>若真的再被访问，就从</a:t>
            </a:r>
            <a:r>
              <a:rPr lang="en-US" altLang="zh-CN" sz="2400" b="1" dirty="0"/>
              <a:t>0</a:t>
            </a:r>
            <a:r>
              <a:rPr lang="zh-CN" altLang="en-US" sz="2400" b="1" dirty="0"/>
              <a:t>变为</a:t>
            </a:r>
            <a:r>
              <a:rPr lang="en-US" altLang="zh-CN" sz="2400" b="1" dirty="0"/>
              <a:t>1</a:t>
            </a:r>
            <a:r>
              <a:rPr lang="zh-CN" altLang="en-US" sz="2400" b="1" dirty="0"/>
              <a:t>。</a:t>
            </a:r>
            <a:endParaRPr lang="zh-CN" altLang="en-US" sz="2400" b="1" dirty="0"/>
          </a:p>
        </p:txBody>
      </p:sp>
      <p:sp>
        <p:nvSpPr>
          <p:cNvPr id="49156" name="AutoShape 155"/>
          <p:cNvSpPr/>
          <p:nvPr/>
        </p:nvSpPr>
        <p:spPr>
          <a:xfrm>
            <a:off x="3851275" y="296863"/>
            <a:ext cx="2341563" cy="828675"/>
          </a:xfrm>
          <a:prstGeom prst="wedgeRoundRectCallout">
            <a:avLst>
              <a:gd name="adj1" fmla="val -50542"/>
              <a:gd name="adj2" fmla="val 132949"/>
              <a:gd name="adj3" fmla="val 16667"/>
            </a:avLst>
          </a:prstGeom>
          <a:solidFill>
            <a:srgbClr val="FFFF99"/>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000" b="1" dirty="0"/>
              <a:t>象时钟一样，所一叫“</a:t>
            </a:r>
            <a:r>
              <a:rPr lang="en-US" altLang="zh-CN" sz="2000" b="1" dirty="0"/>
              <a:t>clock”</a:t>
            </a:r>
            <a:endParaRPr lang="en-US" altLang="zh-CN" sz="2000" b="1" dirty="0"/>
          </a:p>
        </p:txBody>
      </p:sp>
    </p:spTree>
  </p:cSld>
  <p:clrMapOvr>
    <a:masterClrMapping/>
  </p:clrMapOvr>
  <p:transition>
    <p:blinds/>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内容占位符 2"/>
          <p:cNvSpPr>
            <a:spLocks noGrp="1" noChangeArrowheads="1"/>
          </p:cNvSpPr>
          <p:nvPr>
            <p:ph idx="1"/>
          </p:nvPr>
        </p:nvSpPr>
        <p:spPr>
          <a:xfrm>
            <a:off x="309563" y="227965"/>
            <a:ext cx="8691563" cy="1511300"/>
          </a:xfrm>
          <a:solidFill>
            <a:schemeClr val="bg1"/>
          </a:solidFill>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mn-ea"/>
                <a:ea typeface="+mn-ea"/>
                <a:cs typeface="+mn-cs"/>
              </a:rPr>
              <a:t>例：一个作业共</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5</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页，作业执行时一次访问如下页面：</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0</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3</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2</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0</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1</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4</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0</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3</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1</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0</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3</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4</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，若分配给该作业的</a:t>
            </a:r>
            <a:r>
              <a:rPr kumimoji="0" lang="zh-CN" altLang="en-US" sz="2400" b="1" i="0" u="none" strike="noStrike" kern="0" cap="none" spc="0" normalizeH="0" baseline="0" noProof="0" dirty="0">
                <a:ln>
                  <a:noFill/>
                </a:ln>
                <a:solidFill>
                  <a:srgbClr val="FF0000"/>
                </a:solidFill>
                <a:effectLst/>
                <a:uLnTx/>
                <a:uFillTx/>
                <a:latin typeface="+mn-ea"/>
                <a:ea typeface="+mn-ea"/>
                <a:cs typeface="+mn-cs"/>
              </a:rPr>
              <a:t>主存块数为</a:t>
            </a:r>
            <a:r>
              <a:rPr kumimoji="0" lang="en-US" altLang="zh-CN" sz="2400" b="1" i="0" u="none" strike="noStrike" kern="0" cap="none" spc="0" normalizeH="0" baseline="0" noProof="0" dirty="0">
                <a:ln>
                  <a:noFill/>
                </a:ln>
                <a:solidFill>
                  <a:srgbClr val="FF0000"/>
                </a:solidFill>
                <a:effectLst/>
                <a:uLnTx/>
                <a:uFillTx/>
                <a:latin typeface="+mn-ea"/>
                <a:ea typeface="+mn-ea"/>
                <a:cs typeface="+mn-cs"/>
              </a:rPr>
              <a:t>3</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，采用</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Clock</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页面置换算法，试求出缺页中断的次数及缺页率</a:t>
            </a:r>
            <a:r>
              <a:rPr kumimoji="0" lang="zh-CN" altLang="en-US" sz="2400" b="1" i="0" u="none" strike="noStrike" kern="0" cap="none" spc="0" normalizeH="0" baseline="0" noProof="0" dirty="0">
                <a:ln>
                  <a:noFill/>
                </a:ln>
                <a:solidFill>
                  <a:srgbClr val="4D4D4D"/>
                </a:solidFill>
                <a:effectLst/>
                <a:uLnTx/>
                <a:uFillTx/>
                <a:latin typeface="-apple-system"/>
                <a:ea typeface="+mn-ea"/>
                <a:cs typeface="+mn-cs"/>
              </a:rPr>
              <a:t>。</a:t>
            </a: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p:txBody>
      </p:sp>
      <p:sp>
        <p:nvSpPr>
          <p:cNvPr id="14" name="文本框 13"/>
          <p:cNvSpPr txBox="1"/>
          <p:nvPr/>
        </p:nvSpPr>
        <p:spPr>
          <a:xfrm>
            <a:off x="539433" y="1700530"/>
            <a:ext cx="8569325" cy="460375"/>
          </a:xfrm>
          <a:prstGeom prst="rect">
            <a:avLst/>
          </a:prstGeom>
          <a:noFill/>
        </p:spPr>
        <p:txBody>
          <a:bodyPr>
            <a:spAutoFit/>
          </a:bodyPr>
          <a:lstStyle/>
          <a:p>
            <a:pPr marR="0" defTabSz="914400">
              <a:buClrTx/>
              <a:buSzTx/>
              <a:buFontTx/>
              <a:buNone/>
              <a:defRPr/>
            </a:pPr>
            <a:r>
              <a:rPr kumimoji="0" lang="en-US" altLang="zh-CN" sz="2400" kern="1200" cap="none" spc="0" normalizeH="0" baseline="0" noProof="0" dirty="0">
                <a:solidFill>
                  <a:srgbClr val="000000"/>
                </a:solidFill>
                <a:latin typeface="+mn-ea"/>
                <a:ea typeface="宋体" panose="02010600030101010101" pitchFamily="2" charset="-122"/>
                <a:cs typeface="+mn-cs"/>
              </a:rPr>
              <a:t>0   </a:t>
            </a:r>
            <a:r>
              <a:rPr kumimoji="0" lang="zh-CN" altLang="en-US" sz="2400" kern="1200" cap="none" spc="0" normalizeH="0" baseline="0" noProof="0" dirty="0">
                <a:solidFill>
                  <a:srgbClr val="000000"/>
                </a:solidFill>
                <a:latin typeface="+mn-ea"/>
                <a:ea typeface="宋体" panose="02010600030101010101" pitchFamily="2" charset="-122"/>
                <a:cs typeface="+mn-cs"/>
              </a:rPr>
              <a:t>    </a:t>
            </a:r>
            <a:r>
              <a:rPr kumimoji="0" lang="en-US" altLang="zh-CN" sz="2400" kern="1200" cap="none" spc="0" normalizeH="0" baseline="0" noProof="0" dirty="0">
                <a:solidFill>
                  <a:srgbClr val="000000"/>
                </a:solidFill>
                <a:latin typeface="+mn-ea"/>
                <a:ea typeface="宋体" panose="02010600030101010101" pitchFamily="2" charset="-122"/>
                <a:cs typeface="+mn-cs"/>
              </a:rPr>
              <a:t>3</a:t>
            </a:r>
            <a:r>
              <a:rPr kumimoji="0" lang="zh-CN" altLang="en-US" sz="2400" kern="1200" cap="none" spc="0" normalizeH="0" baseline="0" noProof="0" dirty="0">
                <a:solidFill>
                  <a:srgbClr val="000000"/>
                </a:solidFill>
                <a:latin typeface="+mn-ea"/>
                <a:ea typeface="宋体" panose="02010600030101010101" pitchFamily="2" charset="-122"/>
                <a:cs typeface="+mn-cs"/>
              </a:rPr>
              <a:t>        </a:t>
            </a:r>
            <a:r>
              <a:rPr kumimoji="0" lang="en-US" altLang="zh-CN" sz="2400" kern="1200" cap="none" spc="0" normalizeH="0" baseline="0" noProof="0" dirty="0">
                <a:solidFill>
                  <a:srgbClr val="000000"/>
                </a:solidFill>
                <a:latin typeface="+mn-ea"/>
                <a:ea typeface="宋体" panose="02010600030101010101" pitchFamily="2" charset="-122"/>
                <a:cs typeface="+mn-cs"/>
              </a:rPr>
              <a:t>2        0        1                </a:t>
            </a:r>
            <a:endParaRPr kumimoji="0" lang="zh-CN" altLang="en-US" sz="2400" b="0" kern="1200" cap="none" spc="0" normalizeH="0" baseline="0" noProof="0" dirty="0">
              <a:latin typeface="Arial" panose="020B0604020202020204" pitchFamily="34" charset="0"/>
              <a:ea typeface="宋体" panose="02010600030101010101" pitchFamily="2" charset="-122"/>
              <a:cs typeface="+mn-cs"/>
            </a:endParaRPr>
          </a:p>
        </p:txBody>
      </p:sp>
      <p:grpSp>
        <p:nvGrpSpPr>
          <p:cNvPr id="50180" name="组合 12"/>
          <p:cNvGrpSpPr/>
          <p:nvPr/>
        </p:nvGrpSpPr>
        <p:grpSpPr>
          <a:xfrm>
            <a:off x="499110" y="2206625"/>
            <a:ext cx="971550" cy="1585913"/>
            <a:chOff x="143508" y="3538110"/>
            <a:chExt cx="972109" cy="1585200"/>
          </a:xfrm>
        </p:grpSpPr>
        <p:sp>
          <p:nvSpPr>
            <p:cNvPr id="50282" name="流程图: 过程 3"/>
            <p:cNvSpPr/>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en-US" altLang="zh-CN" sz="2400" b="1" dirty="0"/>
            </a:p>
          </p:txBody>
        </p:sp>
        <p:sp>
          <p:nvSpPr>
            <p:cNvPr id="50283" name="流程图: 过程 6"/>
            <p:cNvSpPr/>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50284" name="流程图: 过程 7"/>
            <p:cNvSpPr/>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cxnSp>
          <p:nvCxnSpPr>
            <p:cNvPr id="50285" name="直接箭头连接符 5"/>
            <p:cNvCxnSpPr/>
            <p:nvPr/>
          </p:nvCxnSpPr>
          <p:spPr>
            <a:xfrm flipH="1">
              <a:off x="755576" y="4349910"/>
              <a:ext cx="360041" cy="0"/>
            </a:xfrm>
            <a:prstGeom prst="straightConnector1">
              <a:avLst/>
            </a:prstGeom>
            <a:ln w="31750" cap="flat" cmpd="sng">
              <a:solidFill>
                <a:schemeClr val="tx1"/>
              </a:solidFill>
              <a:prstDash val="solid"/>
              <a:headEnd type="none" w="med" len="med"/>
              <a:tailEnd type="triangle" w="med" len="med"/>
            </a:ln>
          </p:spPr>
        </p:cxnSp>
        <p:sp>
          <p:nvSpPr>
            <p:cNvPr id="50286" name="流程图: 过程 14"/>
            <p:cNvSpPr/>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87" name="流程图: 过程 16"/>
            <p:cNvSpPr/>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zh-CN" altLang="en-US" sz="2400" b="1" dirty="0"/>
            </a:p>
          </p:txBody>
        </p:sp>
        <p:sp>
          <p:nvSpPr>
            <p:cNvPr id="50288" name="流程图: 过程 17"/>
            <p:cNvSpPr/>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zh-CN" altLang="en-US" sz="2400" b="1" dirty="0"/>
            </a:p>
          </p:txBody>
        </p:sp>
      </p:grpSp>
      <p:grpSp>
        <p:nvGrpSpPr>
          <p:cNvPr id="50181" name="组合 20"/>
          <p:cNvGrpSpPr/>
          <p:nvPr/>
        </p:nvGrpSpPr>
        <p:grpSpPr>
          <a:xfrm>
            <a:off x="1650048" y="2206625"/>
            <a:ext cx="973137" cy="1584325"/>
            <a:chOff x="143508" y="3538110"/>
            <a:chExt cx="972109" cy="1585200"/>
          </a:xfrm>
        </p:grpSpPr>
        <p:sp>
          <p:nvSpPr>
            <p:cNvPr id="50275" name="流程图: 过程 21"/>
            <p:cNvSpPr/>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en-US" altLang="zh-CN" sz="2400" b="1" dirty="0"/>
            </a:p>
          </p:txBody>
        </p:sp>
        <p:sp>
          <p:nvSpPr>
            <p:cNvPr id="50276" name="流程图: 过程 22"/>
            <p:cNvSpPr/>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3</a:t>
              </a:r>
              <a:endParaRPr lang="en-US" altLang="zh-CN" sz="2800" b="1" dirty="0"/>
            </a:p>
          </p:txBody>
        </p:sp>
        <p:sp>
          <p:nvSpPr>
            <p:cNvPr id="50277" name="流程图: 过程 23"/>
            <p:cNvSpPr/>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cxnSp>
          <p:nvCxnSpPr>
            <p:cNvPr id="50278" name="直接箭头连接符 24"/>
            <p:cNvCxnSpPr/>
            <p:nvPr/>
          </p:nvCxnSpPr>
          <p:spPr>
            <a:xfrm flipH="1">
              <a:off x="755576" y="4834254"/>
              <a:ext cx="360041" cy="0"/>
            </a:xfrm>
            <a:prstGeom prst="straightConnector1">
              <a:avLst/>
            </a:prstGeom>
            <a:ln w="31750" cap="flat" cmpd="sng">
              <a:solidFill>
                <a:schemeClr val="tx1"/>
              </a:solidFill>
              <a:prstDash val="solid"/>
              <a:headEnd type="none" w="med" len="med"/>
              <a:tailEnd type="triangle" w="med" len="med"/>
            </a:ln>
          </p:spPr>
        </p:cxnSp>
        <p:sp>
          <p:nvSpPr>
            <p:cNvPr id="50279" name="流程图: 过程 25"/>
            <p:cNvSpPr/>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80" name="流程图: 过程 26"/>
            <p:cNvSpPr/>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81" name="流程图: 过程 27"/>
            <p:cNvSpPr/>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zh-CN" altLang="en-US" sz="2400" b="1" dirty="0"/>
            </a:p>
          </p:txBody>
        </p:sp>
      </p:grpSp>
      <p:grpSp>
        <p:nvGrpSpPr>
          <p:cNvPr id="50182" name="组合 28"/>
          <p:cNvGrpSpPr/>
          <p:nvPr/>
        </p:nvGrpSpPr>
        <p:grpSpPr>
          <a:xfrm>
            <a:off x="2839085" y="2206625"/>
            <a:ext cx="971550" cy="1584325"/>
            <a:chOff x="143508" y="3538110"/>
            <a:chExt cx="972109" cy="1585200"/>
          </a:xfrm>
        </p:grpSpPr>
        <p:sp>
          <p:nvSpPr>
            <p:cNvPr id="50268" name="流程图: 过程 29"/>
            <p:cNvSpPr/>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en-US" altLang="zh-CN" sz="2400" b="1" dirty="0"/>
            </a:p>
          </p:txBody>
        </p:sp>
        <p:sp>
          <p:nvSpPr>
            <p:cNvPr id="50269" name="流程图: 过程 30"/>
            <p:cNvSpPr/>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3</a:t>
              </a:r>
              <a:endParaRPr lang="en-US" altLang="zh-CN" sz="2800" b="1" dirty="0"/>
            </a:p>
          </p:txBody>
        </p:sp>
        <p:sp>
          <p:nvSpPr>
            <p:cNvPr id="50270" name="流程图: 过程 31"/>
            <p:cNvSpPr/>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2</a:t>
              </a:r>
              <a:endParaRPr lang="en-US" altLang="zh-CN" sz="2800" b="1" dirty="0"/>
            </a:p>
          </p:txBody>
        </p:sp>
        <p:cxnSp>
          <p:nvCxnSpPr>
            <p:cNvPr id="50271" name="直接箭头连接符 32"/>
            <p:cNvCxnSpPr/>
            <p:nvPr/>
          </p:nvCxnSpPr>
          <p:spPr>
            <a:xfrm flipH="1">
              <a:off x="755576" y="3790138"/>
              <a:ext cx="360041" cy="0"/>
            </a:xfrm>
            <a:prstGeom prst="straightConnector1">
              <a:avLst/>
            </a:prstGeom>
            <a:ln w="31750" cap="flat" cmpd="sng">
              <a:solidFill>
                <a:schemeClr val="tx1"/>
              </a:solidFill>
              <a:prstDash val="solid"/>
              <a:headEnd type="none" w="med" len="med"/>
              <a:tailEnd type="triangle" w="med" len="med"/>
            </a:ln>
          </p:spPr>
        </p:cxnSp>
        <p:sp>
          <p:nvSpPr>
            <p:cNvPr id="50272" name="流程图: 过程 33"/>
            <p:cNvSpPr/>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73" name="流程图: 过程 34"/>
            <p:cNvSpPr/>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74" name="流程图: 过程 35"/>
            <p:cNvSpPr/>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grpSp>
      <p:grpSp>
        <p:nvGrpSpPr>
          <p:cNvPr id="50183" name="组合 36"/>
          <p:cNvGrpSpPr/>
          <p:nvPr/>
        </p:nvGrpSpPr>
        <p:grpSpPr>
          <a:xfrm>
            <a:off x="4272598" y="2206625"/>
            <a:ext cx="971550" cy="1585913"/>
            <a:chOff x="143508" y="3538110"/>
            <a:chExt cx="972109" cy="1585200"/>
          </a:xfrm>
        </p:grpSpPr>
        <p:sp>
          <p:nvSpPr>
            <p:cNvPr id="50261" name="流程图: 过程 37"/>
            <p:cNvSpPr/>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en-US" altLang="zh-CN" sz="2400" b="1" dirty="0"/>
            </a:p>
          </p:txBody>
        </p:sp>
        <p:sp>
          <p:nvSpPr>
            <p:cNvPr id="50262" name="流程图: 过程 38"/>
            <p:cNvSpPr/>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3</a:t>
              </a:r>
              <a:endParaRPr lang="en-US" altLang="zh-CN" sz="2800" b="1" dirty="0"/>
            </a:p>
          </p:txBody>
        </p:sp>
        <p:sp>
          <p:nvSpPr>
            <p:cNvPr id="50263" name="流程图: 过程 39"/>
            <p:cNvSpPr/>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2</a:t>
              </a:r>
              <a:endParaRPr lang="en-US" altLang="zh-CN" sz="2800" b="1" dirty="0"/>
            </a:p>
          </p:txBody>
        </p:sp>
        <p:cxnSp>
          <p:nvCxnSpPr>
            <p:cNvPr id="50264" name="直接箭头连接符 40"/>
            <p:cNvCxnSpPr/>
            <p:nvPr/>
          </p:nvCxnSpPr>
          <p:spPr>
            <a:xfrm flipH="1">
              <a:off x="755576" y="3790138"/>
              <a:ext cx="360041" cy="0"/>
            </a:xfrm>
            <a:prstGeom prst="straightConnector1">
              <a:avLst/>
            </a:prstGeom>
            <a:ln w="31750" cap="flat" cmpd="sng">
              <a:solidFill>
                <a:schemeClr val="tx1"/>
              </a:solidFill>
              <a:prstDash val="solid"/>
              <a:headEnd type="none" w="med" len="med"/>
              <a:tailEnd type="triangle" w="med" len="med"/>
            </a:ln>
          </p:spPr>
        </p:cxnSp>
        <p:sp>
          <p:nvSpPr>
            <p:cNvPr id="50265" name="流程图: 过程 41"/>
            <p:cNvSpPr/>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66" name="流程图: 过程 42"/>
            <p:cNvSpPr/>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67" name="流程图: 过程 43"/>
            <p:cNvSpPr/>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grpSp>
      <p:grpSp>
        <p:nvGrpSpPr>
          <p:cNvPr id="50184" name="组合 44"/>
          <p:cNvGrpSpPr/>
          <p:nvPr/>
        </p:nvGrpSpPr>
        <p:grpSpPr>
          <a:xfrm>
            <a:off x="5701983" y="2171700"/>
            <a:ext cx="973137" cy="1622425"/>
            <a:chOff x="143508" y="3538110"/>
            <a:chExt cx="972109" cy="1585200"/>
          </a:xfrm>
        </p:grpSpPr>
        <p:sp>
          <p:nvSpPr>
            <p:cNvPr id="50254" name="流程图: 过程 45"/>
            <p:cNvSpPr/>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en-US" altLang="zh-CN" sz="2400" b="1" dirty="0"/>
            </a:p>
          </p:txBody>
        </p:sp>
        <p:sp>
          <p:nvSpPr>
            <p:cNvPr id="50255" name="流程图: 过程 46"/>
            <p:cNvSpPr/>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3</a:t>
              </a:r>
              <a:endParaRPr lang="en-US" altLang="zh-CN" sz="2800" b="1" dirty="0"/>
            </a:p>
          </p:txBody>
        </p:sp>
        <p:sp>
          <p:nvSpPr>
            <p:cNvPr id="50256" name="流程图: 过程 47"/>
            <p:cNvSpPr/>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2</a:t>
              </a:r>
              <a:endParaRPr lang="zh-CN" altLang="en-US" sz="2800" b="1" dirty="0"/>
            </a:p>
          </p:txBody>
        </p:sp>
        <p:cxnSp>
          <p:nvCxnSpPr>
            <p:cNvPr id="50257" name="直接箭头连接符 48"/>
            <p:cNvCxnSpPr/>
            <p:nvPr/>
          </p:nvCxnSpPr>
          <p:spPr>
            <a:xfrm flipH="1">
              <a:off x="755576" y="4290129"/>
              <a:ext cx="360041" cy="0"/>
            </a:xfrm>
            <a:prstGeom prst="straightConnector1">
              <a:avLst/>
            </a:prstGeom>
            <a:ln w="31750" cap="flat" cmpd="sng">
              <a:solidFill>
                <a:schemeClr val="tx1"/>
              </a:solidFill>
              <a:prstDash val="solid"/>
              <a:headEnd type="none" w="med" len="med"/>
              <a:tailEnd type="triangle" w="med" len="med"/>
            </a:ln>
          </p:spPr>
        </p:cxnSp>
        <p:sp>
          <p:nvSpPr>
            <p:cNvPr id="50258" name="流程图: 过程 49"/>
            <p:cNvSpPr/>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59" name="流程图: 过程 50"/>
            <p:cNvSpPr/>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FF66FF"/>
                  </a:solidFill>
                </a:rPr>
                <a:t>0</a:t>
              </a:r>
              <a:endParaRPr lang="zh-CN" altLang="en-US" sz="2400" b="1" dirty="0">
                <a:solidFill>
                  <a:srgbClr val="FF66FF"/>
                </a:solidFill>
              </a:endParaRPr>
            </a:p>
          </p:txBody>
        </p:sp>
        <p:sp>
          <p:nvSpPr>
            <p:cNvPr id="50260" name="流程图: 过程 51"/>
            <p:cNvSpPr/>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FF66FF"/>
                  </a:solidFill>
                </a:rPr>
                <a:t>0</a:t>
              </a:r>
              <a:endParaRPr lang="zh-CN" altLang="en-US" sz="2400" b="1" dirty="0">
                <a:solidFill>
                  <a:srgbClr val="FF66FF"/>
                </a:solidFill>
              </a:endParaRPr>
            </a:p>
          </p:txBody>
        </p:sp>
      </p:grpSp>
      <p:sp>
        <p:nvSpPr>
          <p:cNvPr id="50193" name="文本框 19"/>
          <p:cNvSpPr txBox="1"/>
          <p:nvPr/>
        </p:nvSpPr>
        <p:spPr>
          <a:xfrm>
            <a:off x="481648" y="3794125"/>
            <a:ext cx="6477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000000"/>
                </a:solidFill>
              </a:rPr>
              <a:t>缺页</a:t>
            </a:r>
            <a:endParaRPr lang="zh-CN" altLang="en-US" sz="1800" b="1" dirty="0">
              <a:solidFill>
                <a:srgbClr val="000000"/>
              </a:solidFill>
            </a:endParaRPr>
          </a:p>
        </p:txBody>
      </p:sp>
      <p:sp>
        <p:nvSpPr>
          <p:cNvPr id="50194" name="文本框 111"/>
          <p:cNvSpPr txBox="1"/>
          <p:nvPr/>
        </p:nvSpPr>
        <p:spPr>
          <a:xfrm>
            <a:off x="1615123" y="3784600"/>
            <a:ext cx="6477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000000"/>
                </a:solidFill>
              </a:rPr>
              <a:t>缺页</a:t>
            </a:r>
            <a:endParaRPr lang="zh-CN" altLang="en-US" sz="1800" b="1" dirty="0">
              <a:solidFill>
                <a:srgbClr val="000000"/>
              </a:solidFill>
            </a:endParaRPr>
          </a:p>
        </p:txBody>
      </p:sp>
      <p:sp>
        <p:nvSpPr>
          <p:cNvPr id="50195" name="文本框 112"/>
          <p:cNvSpPr txBox="1"/>
          <p:nvPr/>
        </p:nvSpPr>
        <p:spPr>
          <a:xfrm>
            <a:off x="2802573" y="3827463"/>
            <a:ext cx="6477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000000"/>
                </a:solidFill>
              </a:rPr>
              <a:t>缺页</a:t>
            </a:r>
            <a:endParaRPr lang="zh-CN" altLang="en-US" sz="1800" b="1" dirty="0">
              <a:solidFill>
                <a:srgbClr val="000000"/>
              </a:solidFill>
            </a:endParaRPr>
          </a:p>
        </p:txBody>
      </p:sp>
      <p:sp>
        <p:nvSpPr>
          <p:cNvPr id="50196" name="文本框 113"/>
          <p:cNvSpPr txBox="1"/>
          <p:nvPr/>
        </p:nvSpPr>
        <p:spPr>
          <a:xfrm>
            <a:off x="5711508" y="3816350"/>
            <a:ext cx="649287"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000000"/>
                </a:solidFill>
              </a:rPr>
              <a:t>缺页</a:t>
            </a:r>
            <a:endParaRPr lang="zh-CN" altLang="en-US" sz="1800" b="1" dirty="0">
              <a:solidFill>
                <a:srgbClr val="000000"/>
              </a:solidFill>
            </a:endParaRPr>
          </a:p>
        </p:txBody>
      </p:sp>
      <p:grpSp>
        <p:nvGrpSpPr>
          <p:cNvPr id="6" name="组合 5"/>
          <p:cNvGrpSpPr/>
          <p:nvPr/>
        </p:nvGrpSpPr>
        <p:grpSpPr>
          <a:xfrm>
            <a:off x="2658745" y="3804920"/>
            <a:ext cx="4457700" cy="2998470"/>
            <a:chOff x="5499" y="4442"/>
            <a:chExt cx="7020" cy="4722"/>
          </a:xfrm>
        </p:grpSpPr>
        <p:grpSp>
          <p:nvGrpSpPr>
            <p:cNvPr id="2" name="组合 12"/>
            <p:cNvGrpSpPr/>
            <p:nvPr/>
          </p:nvGrpSpPr>
          <p:grpSpPr>
            <a:xfrm>
              <a:off x="6293" y="5684"/>
              <a:ext cx="1530" cy="2498"/>
              <a:chOff x="143508" y="3538110"/>
              <a:chExt cx="972109" cy="1585200"/>
            </a:xfrm>
          </p:grpSpPr>
          <p:sp>
            <p:nvSpPr>
              <p:cNvPr id="3" name="流程图: 过程 3"/>
              <p:cNvSpPr/>
              <p:nvPr>
                <p:custDataLst>
                  <p:tags r:id="rId1"/>
                </p:custDataLst>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en-US" altLang="zh-CN" sz="2400" b="1" dirty="0"/>
              </a:p>
            </p:txBody>
          </p:sp>
          <p:sp>
            <p:nvSpPr>
              <p:cNvPr id="4" name="流程图: 过程 6"/>
              <p:cNvSpPr/>
              <p:nvPr>
                <p:custDataLst>
                  <p:tags r:id="rId2"/>
                </p:custDataLst>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3</a:t>
                </a:r>
                <a:endParaRPr lang="en-US" altLang="zh-CN" sz="2800" b="1" dirty="0"/>
              </a:p>
            </p:txBody>
          </p:sp>
          <p:sp>
            <p:nvSpPr>
              <p:cNvPr id="5" name="流程图: 过程 7"/>
              <p:cNvSpPr/>
              <p:nvPr>
                <p:custDataLst>
                  <p:tags r:id="rId3"/>
                </p:custDataLst>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2</a:t>
                </a:r>
                <a:endParaRPr lang="en-US" altLang="zh-CN" sz="2800" b="1" dirty="0"/>
              </a:p>
            </p:txBody>
          </p:sp>
          <p:cxnSp>
            <p:nvCxnSpPr>
              <p:cNvPr id="7" name="直接箭头连接符 5"/>
              <p:cNvCxnSpPr/>
              <p:nvPr>
                <p:custDataLst>
                  <p:tags r:id="rId4"/>
                </p:custDataLst>
              </p:nvPr>
            </p:nvCxnSpPr>
            <p:spPr>
              <a:xfrm flipH="1">
                <a:off x="755576" y="3781206"/>
                <a:ext cx="360041" cy="0"/>
              </a:xfrm>
              <a:prstGeom prst="straightConnector1">
                <a:avLst/>
              </a:prstGeom>
              <a:ln w="31750" cap="flat" cmpd="sng">
                <a:solidFill>
                  <a:schemeClr val="tx1"/>
                </a:solidFill>
                <a:prstDash val="solid"/>
                <a:headEnd type="none" w="med" len="med"/>
                <a:tailEnd type="triangle" w="med" len="med"/>
              </a:ln>
            </p:spPr>
          </p:cxnSp>
          <p:sp>
            <p:nvSpPr>
              <p:cNvPr id="8" name="流程图: 过程 14"/>
              <p:cNvSpPr/>
              <p:nvPr>
                <p:custDataLst>
                  <p:tags r:id="rId5"/>
                </p:custDataLst>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FF66FF"/>
                    </a:solidFill>
                  </a:rPr>
                  <a:t>0</a:t>
                </a:r>
                <a:endParaRPr lang="en-US" altLang="zh-CN" sz="2400" b="1" dirty="0">
                  <a:solidFill>
                    <a:srgbClr val="FF66FF"/>
                  </a:solidFill>
                </a:endParaRPr>
              </a:p>
            </p:txBody>
          </p:sp>
          <p:sp>
            <p:nvSpPr>
              <p:cNvPr id="9" name="流程图: 过程 16"/>
              <p:cNvSpPr/>
              <p:nvPr>
                <p:custDataLst>
                  <p:tags r:id="rId6"/>
                </p:custDataLst>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chemeClr val="tx1"/>
                    </a:solidFill>
                  </a:rPr>
                  <a:t>1</a:t>
                </a:r>
                <a:endParaRPr lang="en-US" altLang="zh-CN" sz="2400" b="1" dirty="0">
                  <a:solidFill>
                    <a:schemeClr val="tx1"/>
                  </a:solidFill>
                </a:endParaRPr>
              </a:p>
            </p:txBody>
          </p:sp>
          <p:sp>
            <p:nvSpPr>
              <p:cNvPr id="10" name="流程图: 过程 17"/>
              <p:cNvSpPr/>
              <p:nvPr>
                <p:custDataLst>
                  <p:tags r:id="rId7"/>
                </p:custDataLst>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chemeClr val="tx1"/>
                    </a:solidFill>
                  </a:rPr>
                  <a:t>1</a:t>
                </a:r>
                <a:endParaRPr lang="en-US" altLang="zh-CN" sz="2400" b="1" dirty="0">
                  <a:solidFill>
                    <a:schemeClr val="tx1"/>
                  </a:solidFill>
                </a:endParaRPr>
              </a:p>
            </p:txBody>
          </p:sp>
        </p:grpSp>
        <p:grpSp>
          <p:nvGrpSpPr>
            <p:cNvPr id="11" name="组合 20"/>
            <p:cNvGrpSpPr/>
            <p:nvPr/>
          </p:nvGrpSpPr>
          <p:grpSpPr>
            <a:xfrm>
              <a:off x="8050" y="5684"/>
              <a:ext cx="1532" cy="2495"/>
              <a:chOff x="143508" y="3538110"/>
              <a:chExt cx="972109" cy="1585200"/>
            </a:xfrm>
          </p:grpSpPr>
          <p:sp>
            <p:nvSpPr>
              <p:cNvPr id="12" name="流程图: 过程 21"/>
              <p:cNvSpPr/>
              <p:nvPr>
                <p:custDataLst>
                  <p:tags r:id="rId8"/>
                </p:custDataLst>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en-US" altLang="zh-CN" sz="2400" b="1" dirty="0"/>
              </a:p>
            </p:txBody>
          </p:sp>
          <p:sp>
            <p:nvSpPr>
              <p:cNvPr id="13" name="流程图: 过程 22"/>
              <p:cNvSpPr/>
              <p:nvPr>
                <p:custDataLst>
                  <p:tags r:id="rId9"/>
                </p:custDataLst>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3</a:t>
                </a:r>
                <a:endParaRPr lang="en-US" altLang="zh-CN" sz="2800" b="1" dirty="0"/>
              </a:p>
            </p:txBody>
          </p:sp>
          <p:sp>
            <p:nvSpPr>
              <p:cNvPr id="15" name="流程图: 过程 23"/>
              <p:cNvSpPr/>
              <p:nvPr>
                <p:custDataLst>
                  <p:tags r:id="rId10"/>
                </p:custDataLst>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2</a:t>
                </a:r>
                <a:endParaRPr lang="en-US" altLang="zh-CN" sz="2800" b="1" dirty="0"/>
              </a:p>
            </p:txBody>
          </p:sp>
          <p:cxnSp>
            <p:nvCxnSpPr>
              <p:cNvPr id="16" name="直接箭头连接符 24"/>
              <p:cNvCxnSpPr/>
              <p:nvPr>
                <p:custDataLst>
                  <p:tags r:id="rId11"/>
                </p:custDataLst>
              </p:nvPr>
            </p:nvCxnSpPr>
            <p:spPr>
              <a:xfrm flipH="1">
                <a:off x="755576" y="4300554"/>
                <a:ext cx="360041" cy="0"/>
              </a:xfrm>
              <a:prstGeom prst="straightConnector1">
                <a:avLst/>
              </a:prstGeom>
              <a:ln w="31750" cap="flat" cmpd="sng">
                <a:solidFill>
                  <a:schemeClr val="tx1"/>
                </a:solidFill>
                <a:prstDash val="solid"/>
                <a:headEnd type="none" w="med" len="med"/>
                <a:tailEnd type="triangle" w="med" len="med"/>
              </a:ln>
            </p:spPr>
          </p:cxnSp>
          <p:sp>
            <p:nvSpPr>
              <p:cNvPr id="17" name="流程图: 过程 25"/>
              <p:cNvSpPr/>
              <p:nvPr>
                <p:custDataLst>
                  <p:tags r:id="rId12"/>
                </p:custDataLst>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FF66FF"/>
                    </a:solidFill>
                  </a:rPr>
                  <a:t>0</a:t>
                </a:r>
                <a:endParaRPr lang="en-US" altLang="zh-CN" sz="2400" b="1" dirty="0">
                  <a:solidFill>
                    <a:srgbClr val="FF66FF"/>
                  </a:solidFill>
                </a:endParaRPr>
              </a:p>
            </p:txBody>
          </p:sp>
          <p:sp>
            <p:nvSpPr>
              <p:cNvPr id="18" name="流程图: 过程 26"/>
              <p:cNvSpPr/>
              <p:nvPr>
                <p:custDataLst>
                  <p:tags r:id="rId13"/>
                </p:custDataLst>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FF66FF"/>
                    </a:solidFill>
                  </a:rPr>
                  <a:t>0</a:t>
                </a:r>
                <a:endParaRPr lang="en-US" altLang="zh-CN" sz="2400" b="1" dirty="0">
                  <a:solidFill>
                    <a:srgbClr val="FF66FF"/>
                  </a:solidFill>
                </a:endParaRPr>
              </a:p>
            </p:txBody>
          </p:sp>
          <p:sp>
            <p:nvSpPr>
              <p:cNvPr id="19" name="流程图: 过程 27"/>
              <p:cNvSpPr/>
              <p:nvPr>
                <p:custDataLst>
                  <p:tags r:id="rId14"/>
                </p:custDataLst>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grpSp>
        <p:grpSp>
          <p:nvGrpSpPr>
            <p:cNvPr id="20" name="组合 28"/>
            <p:cNvGrpSpPr/>
            <p:nvPr/>
          </p:nvGrpSpPr>
          <p:grpSpPr>
            <a:xfrm>
              <a:off x="9922" y="5684"/>
              <a:ext cx="1530" cy="2495"/>
              <a:chOff x="143508" y="3538110"/>
              <a:chExt cx="972109" cy="1585200"/>
            </a:xfrm>
          </p:grpSpPr>
          <p:sp>
            <p:nvSpPr>
              <p:cNvPr id="21" name="流程图: 过程 29"/>
              <p:cNvSpPr/>
              <p:nvPr>
                <p:custDataLst>
                  <p:tags r:id="rId15"/>
                </p:custDataLst>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en-US" altLang="zh-CN" sz="2400" b="1" dirty="0"/>
              </a:p>
            </p:txBody>
          </p:sp>
          <p:sp>
            <p:nvSpPr>
              <p:cNvPr id="22" name="流程图: 过程 30"/>
              <p:cNvSpPr/>
              <p:nvPr>
                <p:custDataLst>
                  <p:tags r:id="rId16"/>
                </p:custDataLst>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3</a:t>
                </a:r>
                <a:endParaRPr lang="en-US" altLang="zh-CN" sz="2800" b="1" dirty="0"/>
              </a:p>
            </p:txBody>
          </p:sp>
          <p:sp>
            <p:nvSpPr>
              <p:cNvPr id="23" name="流程图: 过程 31"/>
              <p:cNvSpPr/>
              <p:nvPr>
                <p:custDataLst>
                  <p:tags r:id="rId17"/>
                </p:custDataLst>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2</a:t>
                </a:r>
                <a:endParaRPr lang="en-US" altLang="zh-CN" sz="2800" b="1" dirty="0"/>
              </a:p>
            </p:txBody>
          </p:sp>
          <p:cxnSp>
            <p:nvCxnSpPr>
              <p:cNvPr id="24" name="直接箭头连接符 32"/>
              <p:cNvCxnSpPr/>
              <p:nvPr>
                <p:custDataLst>
                  <p:tags r:id="rId18"/>
                </p:custDataLst>
              </p:nvPr>
            </p:nvCxnSpPr>
            <p:spPr>
              <a:xfrm flipH="1">
                <a:off x="755576" y="3790138"/>
                <a:ext cx="360041" cy="0"/>
              </a:xfrm>
              <a:prstGeom prst="straightConnector1">
                <a:avLst/>
              </a:prstGeom>
              <a:ln w="31750" cap="flat" cmpd="sng">
                <a:solidFill>
                  <a:schemeClr val="tx1"/>
                </a:solidFill>
                <a:prstDash val="solid"/>
                <a:headEnd type="none" w="med" len="med"/>
                <a:tailEnd type="triangle" w="med" len="med"/>
              </a:ln>
            </p:spPr>
          </p:cxnSp>
          <p:sp>
            <p:nvSpPr>
              <p:cNvPr id="25" name="流程图: 过程 33"/>
              <p:cNvSpPr/>
              <p:nvPr>
                <p:custDataLst>
                  <p:tags r:id="rId19"/>
                </p:custDataLst>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FF66FF"/>
                    </a:solidFill>
                  </a:rPr>
                  <a:t>0</a:t>
                </a:r>
                <a:endParaRPr lang="en-US" altLang="zh-CN" sz="2400" b="1" dirty="0">
                  <a:solidFill>
                    <a:srgbClr val="FF66FF"/>
                  </a:solidFill>
                </a:endParaRPr>
              </a:p>
            </p:txBody>
          </p:sp>
          <p:sp>
            <p:nvSpPr>
              <p:cNvPr id="26" name="流程图: 过程 34"/>
              <p:cNvSpPr/>
              <p:nvPr>
                <p:custDataLst>
                  <p:tags r:id="rId20"/>
                </p:custDataLst>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FF66FF"/>
                    </a:solidFill>
                  </a:rPr>
                  <a:t>0</a:t>
                </a:r>
                <a:endParaRPr lang="en-US" altLang="zh-CN" sz="2400" b="1" dirty="0">
                  <a:solidFill>
                    <a:srgbClr val="FF66FF"/>
                  </a:solidFill>
                </a:endParaRPr>
              </a:p>
            </p:txBody>
          </p:sp>
          <p:sp>
            <p:nvSpPr>
              <p:cNvPr id="27" name="流程图: 过程 35"/>
              <p:cNvSpPr/>
              <p:nvPr>
                <p:custDataLst>
                  <p:tags r:id="rId21"/>
                </p:custDataLst>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FF66FF"/>
                    </a:solidFill>
                  </a:rPr>
                  <a:t>0</a:t>
                </a:r>
                <a:endParaRPr lang="en-US" altLang="zh-CN" sz="2400" b="1" dirty="0">
                  <a:solidFill>
                    <a:srgbClr val="FF66FF"/>
                  </a:solidFill>
                </a:endParaRPr>
              </a:p>
            </p:txBody>
          </p:sp>
        </p:grpSp>
        <p:sp>
          <p:nvSpPr>
            <p:cNvPr id="28" name="文本框 19"/>
            <p:cNvSpPr txBox="1"/>
            <p:nvPr>
              <p:custDataLst>
                <p:tags r:id="rId22"/>
              </p:custDataLst>
            </p:nvPr>
          </p:nvSpPr>
          <p:spPr>
            <a:xfrm>
              <a:off x="6210" y="8184"/>
              <a:ext cx="1020" cy="58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000000"/>
                  </a:solidFill>
                </a:rPr>
                <a:t>缺页</a:t>
              </a:r>
              <a:endParaRPr lang="zh-CN" altLang="en-US" sz="1800" b="1" dirty="0">
                <a:solidFill>
                  <a:srgbClr val="000000"/>
                </a:solidFill>
              </a:endParaRPr>
            </a:p>
          </p:txBody>
        </p:sp>
        <p:sp>
          <p:nvSpPr>
            <p:cNvPr id="29" name="文本框 111"/>
            <p:cNvSpPr txBox="1"/>
            <p:nvPr>
              <p:custDataLst>
                <p:tags r:id="rId23"/>
              </p:custDataLst>
            </p:nvPr>
          </p:nvSpPr>
          <p:spPr>
            <a:xfrm>
              <a:off x="7995" y="8169"/>
              <a:ext cx="1020" cy="58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000000"/>
                  </a:solidFill>
                </a:rPr>
                <a:t>缺页</a:t>
              </a:r>
              <a:endParaRPr lang="zh-CN" altLang="en-US" sz="1800" b="1" dirty="0">
                <a:solidFill>
                  <a:srgbClr val="000000"/>
                </a:solidFill>
              </a:endParaRPr>
            </a:p>
          </p:txBody>
        </p:sp>
        <p:sp>
          <p:nvSpPr>
            <p:cNvPr id="30" name="文本框 112"/>
            <p:cNvSpPr txBox="1"/>
            <p:nvPr>
              <p:custDataLst>
                <p:tags r:id="rId24"/>
              </p:custDataLst>
            </p:nvPr>
          </p:nvSpPr>
          <p:spPr>
            <a:xfrm>
              <a:off x="9865" y="8237"/>
              <a:ext cx="1020" cy="58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000000"/>
                  </a:solidFill>
                </a:rPr>
                <a:t>缺页</a:t>
              </a:r>
              <a:endParaRPr lang="zh-CN" altLang="en-US" sz="1800" b="1" dirty="0">
                <a:solidFill>
                  <a:srgbClr val="000000"/>
                </a:solidFill>
              </a:endParaRPr>
            </a:p>
          </p:txBody>
        </p:sp>
        <p:sp>
          <p:nvSpPr>
            <p:cNvPr id="31" name="文本框 113"/>
            <p:cNvSpPr txBox="1"/>
            <p:nvPr>
              <p:custDataLst>
                <p:tags r:id="rId25"/>
              </p:custDataLst>
            </p:nvPr>
          </p:nvSpPr>
          <p:spPr>
            <a:xfrm>
              <a:off x="11011" y="4442"/>
              <a:ext cx="1022" cy="58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000000"/>
                  </a:solidFill>
                </a:rPr>
                <a:t>缺页</a:t>
              </a:r>
              <a:endParaRPr lang="zh-CN" altLang="en-US" sz="1800" b="1" dirty="0">
                <a:solidFill>
                  <a:srgbClr val="000000"/>
                </a:solidFill>
              </a:endParaRPr>
            </a:p>
          </p:txBody>
        </p:sp>
        <p:sp>
          <p:nvSpPr>
            <p:cNvPr id="32" name="椭圆 56319"/>
            <p:cNvSpPr/>
            <p:nvPr>
              <p:custDataLst>
                <p:tags r:id="rId26"/>
              </p:custDataLst>
            </p:nvPr>
          </p:nvSpPr>
          <p:spPr>
            <a:xfrm>
              <a:off x="5499" y="4816"/>
              <a:ext cx="7021" cy="4349"/>
            </a:xfrm>
            <a:prstGeom prst="ellipse">
              <a:avLst/>
            </a:prstGeom>
            <a:noFill/>
            <a:ln w="38100" cap="flat" cmpd="sng">
              <a:solidFill>
                <a:srgbClr val="FF66FF"/>
              </a:solidFill>
              <a:prstDash val="dash"/>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grpSp>
      <p:cxnSp>
        <p:nvCxnSpPr>
          <p:cNvPr id="33" name="直接箭头连接符 32"/>
          <p:cNvCxnSpPr/>
          <p:nvPr/>
        </p:nvCxnSpPr>
        <p:spPr>
          <a:xfrm flipH="1">
            <a:off x="4211955" y="3752215"/>
            <a:ext cx="679450" cy="325120"/>
          </a:xfrm>
          <a:prstGeom prst="straightConnector1">
            <a:avLst/>
          </a:prstGeom>
          <a:solidFill>
            <a:schemeClr val="accent1"/>
          </a:solidFill>
          <a:ln w="34925" cap="flat" cmpd="sng" algn="ctr">
            <a:solidFill>
              <a:srgbClr val="FF66FF"/>
            </a:solidFill>
            <a:prstDash val="dash"/>
            <a:round/>
            <a:headEnd type="none" w="med" len="med"/>
            <a:tailEnd type="arrow" w="med" len="med"/>
          </a:ln>
        </p:spPr>
      </p:cxnSp>
      <p:cxnSp>
        <p:nvCxnSpPr>
          <p:cNvPr id="34" name="直接箭头连接符 33"/>
          <p:cNvCxnSpPr/>
          <p:nvPr>
            <p:custDataLst>
              <p:tags r:id="rId27"/>
            </p:custDataLst>
          </p:nvPr>
        </p:nvCxnSpPr>
        <p:spPr>
          <a:xfrm>
            <a:off x="5003800" y="3789045"/>
            <a:ext cx="756285" cy="323850"/>
          </a:xfrm>
          <a:prstGeom prst="straightConnector1">
            <a:avLst/>
          </a:prstGeom>
          <a:solidFill>
            <a:schemeClr val="accent1"/>
          </a:solidFill>
          <a:ln w="34925" cap="flat" cmpd="sng" algn="ctr">
            <a:solidFill>
              <a:srgbClr val="FF66FF"/>
            </a:solidFill>
            <a:prstDash val="dash"/>
            <a:round/>
            <a:headEnd type="none" w="med" len="med"/>
            <a:tailEnd type="arrow" w="med" len="med"/>
          </a:ln>
        </p:spPr>
      </p:cxnSp>
    </p:spTree>
  </p:cSld>
  <p:clrMapOvr>
    <a:masterClrMapping/>
  </p:clrMapOvr>
  <p:transition>
    <p:blinds/>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内容占位符 2"/>
          <p:cNvSpPr>
            <a:spLocks noGrp="1" noChangeArrowheads="1"/>
          </p:cNvSpPr>
          <p:nvPr>
            <p:ph idx="1"/>
          </p:nvPr>
        </p:nvSpPr>
        <p:spPr>
          <a:xfrm>
            <a:off x="309563" y="441325"/>
            <a:ext cx="8691563" cy="1511300"/>
          </a:xfrm>
          <a:solidFill>
            <a:schemeClr val="bg1"/>
          </a:solidFill>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mn-ea"/>
                <a:ea typeface="+mn-ea"/>
                <a:cs typeface="+mn-cs"/>
              </a:rPr>
              <a:t>例：一个作业共</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5</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页，作业执行时一次访问如下页面：</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0</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3</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2</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0</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1</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4</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0</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3</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1</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0</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3</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4</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，若分配给该作业的</a:t>
            </a:r>
            <a:r>
              <a:rPr kumimoji="0" lang="zh-CN" altLang="en-US" sz="2400" b="1" i="0" u="none" strike="noStrike" kern="0" cap="none" spc="0" normalizeH="0" baseline="0" noProof="0" dirty="0">
                <a:ln>
                  <a:noFill/>
                </a:ln>
                <a:solidFill>
                  <a:srgbClr val="FF0000"/>
                </a:solidFill>
                <a:effectLst/>
                <a:uLnTx/>
                <a:uFillTx/>
                <a:latin typeface="+mn-ea"/>
                <a:ea typeface="+mn-ea"/>
                <a:cs typeface="+mn-cs"/>
              </a:rPr>
              <a:t>主存块数为</a:t>
            </a:r>
            <a:r>
              <a:rPr kumimoji="0" lang="en-US" altLang="zh-CN" sz="2400" b="1" i="0" u="none" strike="noStrike" kern="0" cap="none" spc="0" normalizeH="0" baseline="0" noProof="0" dirty="0">
                <a:ln>
                  <a:noFill/>
                </a:ln>
                <a:solidFill>
                  <a:srgbClr val="FF0000"/>
                </a:solidFill>
                <a:effectLst/>
                <a:uLnTx/>
                <a:uFillTx/>
                <a:latin typeface="+mn-ea"/>
                <a:ea typeface="+mn-ea"/>
                <a:cs typeface="+mn-cs"/>
              </a:rPr>
              <a:t>3</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，采用</a:t>
            </a:r>
            <a:r>
              <a:rPr kumimoji="0" lang="en-US" altLang="zh-CN" sz="2400" b="1" i="0" u="none" strike="noStrike" kern="0" cap="none" spc="0" normalizeH="0" baseline="0" noProof="0" dirty="0">
                <a:ln>
                  <a:noFill/>
                </a:ln>
                <a:solidFill>
                  <a:srgbClr val="000000"/>
                </a:solidFill>
                <a:effectLst/>
                <a:uLnTx/>
                <a:uFillTx/>
                <a:latin typeface="+mn-ea"/>
                <a:ea typeface="+mn-ea"/>
                <a:cs typeface="+mn-cs"/>
              </a:rPr>
              <a:t>Clock</a:t>
            </a:r>
            <a:r>
              <a:rPr kumimoji="0" lang="zh-CN" altLang="en-US" sz="2400" b="1" i="0" u="none" strike="noStrike" kern="0" cap="none" spc="0" normalizeH="0" baseline="0" noProof="0" dirty="0">
                <a:ln>
                  <a:noFill/>
                </a:ln>
                <a:solidFill>
                  <a:srgbClr val="000000"/>
                </a:solidFill>
                <a:effectLst/>
                <a:uLnTx/>
                <a:uFillTx/>
                <a:latin typeface="+mn-ea"/>
                <a:ea typeface="+mn-ea"/>
                <a:cs typeface="+mn-cs"/>
              </a:rPr>
              <a:t>页面置换算法，试求出缺页中断的次数及缺页率</a:t>
            </a:r>
            <a:r>
              <a:rPr kumimoji="0" lang="zh-CN" altLang="en-US" sz="2400" b="1" i="0" u="none" strike="noStrike" kern="0" cap="none" spc="0" normalizeH="0" baseline="0" noProof="0" dirty="0">
                <a:ln>
                  <a:noFill/>
                </a:ln>
                <a:solidFill>
                  <a:srgbClr val="4D4D4D"/>
                </a:solidFill>
                <a:effectLst/>
                <a:uLnTx/>
                <a:uFillTx/>
                <a:latin typeface="-apple-system"/>
                <a:ea typeface="+mn-ea"/>
                <a:cs typeface="+mn-cs"/>
              </a:rPr>
              <a:t>。</a:t>
            </a:r>
            <a:endParaRPr kumimoji="0" lang="zh-CN" altLang="en-US" sz="2400" b="1" i="0" u="none" strike="noStrike" kern="0" cap="none" spc="0" normalizeH="0" baseline="0" noProof="0" dirty="0">
              <a:ln>
                <a:noFill/>
              </a:ln>
              <a:solidFill>
                <a:schemeClr val="tx1"/>
              </a:solidFill>
              <a:effectLst/>
              <a:uLnTx/>
              <a:uFillTx/>
              <a:latin typeface="+mn-lt"/>
              <a:ea typeface="+mn-ea"/>
              <a:cs typeface="+mn-cs"/>
            </a:endParaRPr>
          </a:p>
        </p:txBody>
      </p:sp>
      <p:sp>
        <p:nvSpPr>
          <p:cNvPr id="14" name="文本框 13"/>
          <p:cNvSpPr txBox="1"/>
          <p:nvPr/>
        </p:nvSpPr>
        <p:spPr>
          <a:xfrm>
            <a:off x="230188" y="1835150"/>
            <a:ext cx="8569325" cy="460375"/>
          </a:xfrm>
          <a:prstGeom prst="rect">
            <a:avLst/>
          </a:prstGeom>
          <a:noFill/>
        </p:spPr>
        <p:txBody>
          <a:bodyPr>
            <a:spAutoFit/>
          </a:bodyPr>
          <a:lstStyle/>
          <a:p>
            <a:pPr marR="0" defTabSz="914400">
              <a:buClrTx/>
              <a:buSzTx/>
              <a:buFontTx/>
              <a:buNone/>
              <a:defRPr/>
            </a:pPr>
            <a:r>
              <a:rPr kumimoji="0" lang="en-US" altLang="zh-CN" sz="2400" kern="1200" cap="none" spc="0" normalizeH="0" baseline="0" noProof="0" dirty="0">
                <a:solidFill>
                  <a:srgbClr val="000000"/>
                </a:solidFill>
                <a:latin typeface="+mn-ea"/>
                <a:ea typeface="宋体" panose="02010600030101010101" pitchFamily="2" charset="-122"/>
                <a:cs typeface="+mn-cs"/>
              </a:rPr>
              <a:t>0  </a:t>
            </a:r>
            <a:r>
              <a:rPr kumimoji="0" lang="zh-CN" altLang="en-US" sz="2400" kern="1200" cap="none" spc="0" normalizeH="0" baseline="0" noProof="0" dirty="0">
                <a:solidFill>
                  <a:srgbClr val="000000"/>
                </a:solidFill>
                <a:latin typeface="+mn-ea"/>
                <a:ea typeface="宋体" panose="02010600030101010101" pitchFamily="2" charset="-122"/>
                <a:cs typeface="+mn-cs"/>
              </a:rPr>
              <a:t>    </a:t>
            </a:r>
            <a:r>
              <a:rPr kumimoji="0" lang="en-US" altLang="zh-CN" sz="2400" kern="1200" cap="none" spc="0" normalizeH="0" baseline="0" noProof="0" dirty="0">
                <a:solidFill>
                  <a:srgbClr val="000000"/>
                </a:solidFill>
                <a:latin typeface="+mn-ea"/>
                <a:ea typeface="宋体" panose="02010600030101010101" pitchFamily="2" charset="-122"/>
                <a:cs typeface="+mn-cs"/>
              </a:rPr>
              <a:t>3</a:t>
            </a:r>
            <a:r>
              <a:rPr kumimoji="0" lang="zh-CN" altLang="en-US" sz="2400" kern="1200" cap="none" spc="0" normalizeH="0" baseline="0" noProof="0" dirty="0">
                <a:solidFill>
                  <a:srgbClr val="000000"/>
                </a:solidFill>
                <a:latin typeface="+mn-ea"/>
                <a:ea typeface="宋体" panose="02010600030101010101" pitchFamily="2" charset="-122"/>
                <a:cs typeface="+mn-cs"/>
              </a:rPr>
              <a:t>        </a:t>
            </a:r>
            <a:r>
              <a:rPr kumimoji="0" lang="en-US" altLang="zh-CN" sz="2400" kern="1200" cap="none" spc="0" normalizeH="0" baseline="0" noProof="0" dirty="0">
                <a:solidFill>
                  <a:srgbClr val="000000"/>
                </a:solidFill>
                <a:latin typeface="+mn-ea"/>
                <a:ea typeface="宋体" panose="02010600030101010101" pitchFamily="2" charset="-122"/>
                <a:cs typeface="+mn-cs"/>
              </a:rPr>
              <a:t>2       0        1        4        0</a:t>
            </a:r>
            <a:endParaRPr kumimoji="0" lang="zh-CN" altLang="en-US" sz="2400" b="0" kern="1200" cap="none" spc="0" normalizeH="0" baseline="0" noProof="0" dirty="0">
              <a:latin typeface="Arial" panose="020B0604020202020204" pitchFamily="34" charset="0"/>
              <a:ea typeface="宋体" panose="02010600030101010101" pitchFamily="2" charset="-122"/>
              <a:cs typeface="+mn-cs"/>
            </a:endParaRPr>
          </a:p>
        </p:txBody>
      </p:sp>
      <p:grpSp>
        <p:nvGrpSpPr>
          <p:cNvPr id="50180" name="组合 12"/>
          <p:cNvGrpSpPr/>
          <p:nvPr/>
        </p:nvGrpSpPr>
        <p:grpSpPr>
          <a:xfrm>
            <a:off x="107950" y="2384425"/>
            <a:ext cx="971550" cy="1585913"/>
            <a:chOff x="143508" y="3538110"/>
            <a:chExt cx="972109" cy="1585200"/>
          </a:xfrm>
        </p:grpSpPr>
        <p:sp>
          <p:nvSpPr>
            <p:cNvPr id="50282" name="流程图: 过程 3"/>
            <p:cNvSpPr/>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en-US" altLang="zh-CN" sz="2400" b="1" dirty="0"/>
            </a:p>
          </p:txBody>
        </p:sp>
        <p:sp>
          <p:nvSpPr>
            <p:cNvPr id="50283" name="流程图: 过程 6"/>
            <p:cNvSpPr/>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50284" name="流程图: 过程 7"/>
            <p:cNvSpPr/>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cxnSp>
          <p:nvCxnSpPr>
            <p:cNvPr id="50285" name="直接箭头连接符 5"/>
            <p:cNvCxnSpPr/>
            <p:nvPr/>
          </p:nvCxnSpPr>
          <p:spPr>
            <a:xfrm flipH="1">
              <a:off x="755576" y="4349910"/>
              <a:ext cx="360041" cy="0"/>
            </a:xfrm>
            <a:prstGeom prst="straightConnector1">
              <a:avLst/>
            </a:prstGeom>
            <a:ln w="31750" cap="flat" cmpd="sng">
              <a:solidFill>
                <a:schemeClr val="tx1"/>
              </a:solidFill>
              <a:prstDash val="solid"/>
              <a:headEnd type="none" w="med" len="med"/>
              <a:tailEnd type="triangle" w="med" len="med"/>
            </a:ln>
          </p:spPr>
        </p:cxnSp>
        <p:sp>
          <p:nvSpPr>
            <p:cNvPr id="50286" name="流程图: 过程 14"/>
            <p:cNvSpPr/>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87" name="流程图: 过程 16"/>
            <p:cNvSpPr/>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zh-CN" altLang="en-US" sz="2400" b="1" dirty="0"/>
            </a:p>
          </p:txBody>
        </p:sp>
        <p:sp>
          <p:nvSpPr>
            <p:cNvPr id="50288" name="流程图: 过程 17"/>
            <p:cNvSpPr/>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zh-CN" altLang="en-US" sz="2400" b="1" dirty="0"/>
            </a:p>
          </p:txBody>
        </p:sp>
      </p:grpSp>
      <p:grpSp>
        <p:nvGrpSpPr>
          <p:cNvPr id="50181" name="组合 20"/>
          <p:cNvGrpSpPr/>
          <p:nvPr/>
        </p:nvGrpSpPr>
        <p:grpSpPr>
          <a:xfrm>
            <a:off x="1258888" y="2384425"/>
            <a:ext cx="973137" cy="1584325"/>
            <a:chOff x="143508" y="3538110"/>
            <a:chExt cx="972109" cy="1585200"/>
          </a:xfrm>
        </p:grpSpPr>
        <p:sp>
          <p:nvSpPr>
            <p:cNvPr id="50275" name="流程图: 过程 21"/>
            <p:cNvSpPr/>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en-US" altLang="zh-CN" sz="2400" b="1" dirty="0"/>
            </a:p>
          </p:txBody>
        </p:sp>
        <p:sp>
          <p:nvSpPr>
            <p:cNvPr id="50276" name="流程图: 过程 22"/>
            <p:cNvSpPr/>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3</a:t>
              </a:r>
              <a:endParaRPr lang="en-US" altLang="zh-CN" sz="2800" b="1" dirty="0"/>
            </a:p>
          </p:txBody>
        </p:sp>
        <p:sp>
          <p:nvSpPr>
            <p:cNvPr id="50277" name="流程图: 过程 23"/>
            <p:cNvSpPr/>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cxnSp>
          <p:nvCxnSpPr>
            <p:cNvPr id="50278" name="直接箭头连接符 24"/>
            <p:cNvCxnSpPr/>
            <p:nvPr/>
          </p:nvCxnSpPr>
          <p:spPr>
            <a:xfrm flipH="1">
              <a:off x="755576" y="4834254"/>
              <a:ext cx="360041" cy="0"/>
            </a:xfrm>
            <a:prstGeom prst="straightConnector1">
              <a:avLst/>
            </a:prstGeom>
            <a:ln w="31750" cap="flat" cmpd="sng">
              <a:solidFill>
                <a:schemeClr val="tx1"/>
              </a:solidFill>
              <a:prstDash val="solid"/>
              <a:headEnd type="none" w="med" len="med"/>
              <a:tailEnd type="triangle" w="med" len="med"/>
            </a:ln>
          </p:spPr>
        </p:cxnSp>
        <p:sp>
          <p:nvSpPr>
            <p:cNvPr id="50279" name="流程图: 过程 25"/>
            <p:cNvSpPr/>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80" name="流程图: 过程 26"/>
            <p:cNvSpPr/>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81" name="流程图: 过程 27"/>
            <p:cNvSpPr/>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zh-CN" altLang="en-US" sz="2400" b="1" dirty="0"/>
            </a:p>
          </p:txBody>
        </p:sp>
      </p:grpSp>
      <p:grpSp>
        <p:nvGrpSpPr>
          <p:cNvPr id="50182" name="组合 28"/>
          <p:cNvGrpSpPr/>
          <p:nvPr/>
        </p:nvGrpSpPr>
        <p:grpSpPr>
          <a:xfrm>
            <a:off x="2447925" y="2384425"/>
            <a:ext cx="971550" cy="1584325"/>
            <a:chOff x="143508" y="3538110"/>
            <a:chExt cx="972109" cy="1585200"/>
          </a:xfrm>
        </p:grpSpPr>
        <p:sp>
          <p:nvSpPr>
            <p:cNvPr id="50268" name="流程图: 过程 29"/>
            <p:cNvSpPr/>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en-US" altLang="zh-CN" sz="2400" b="1" dirty="0"/>
            </a:p>
          </p:txBody>
        </p:sp>
        <p:sp>
          <p:nvSpPr>
            <p:cNvPr id="50269" name="流程图: 过程 30"/>
            <p:cNvSpPr/>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3</a:t>
              </a:r>
              <a:endParaRPr lang="en-US" altLang="zh-CN" sz="2800" b="1" dirty="0"/>
            </a:p>
          </p:txBody>
        </p:sp>
        <p:sp>
          <p:nvSpPr>
            <p:cNvPr id="50270" name="流程图: 过程 31"/>
            <p:cNvSpPr/>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2</a:t>
              </a:r>
              <a:endParaRPr lang="en-US" altLang="zh-CN" sz="2800" b="1" dirty="0"/>
            </a:p>
          </p:txBody>
        </p:sp>
        <p:cxnSp>
          <p:nvCxnSpPr>
            <p:cNvPr id="50271" name="直接箭头连接符 32"/>
            <p:cNvCxnSpPr/>
            <p:nvPr/>
          </p:nvCxnSpPr>
          <p:spPr>
            <a:xfrm flipH="1">
              <a:off x="755576" y="3790138"/>
              <a:ext cx="360041" cy="0"/>
            </a:xfrm>
            <a:prstGeom prst="straightConnector1">
              <a:avLst/>
            </a:prstGeom>
            <a:ln w="31750" cap="flat" cmpd="sng">
              <a:solidFill>
                <a:schemeClr val="tx1"/>
              </a:solidFill>
              <a:prstDash val="solid"/>
              <a:headEnd type="none" w="med" len="med"/>
              <a:tailEnd type="triangle" w="med" len="med"/>
            </a:ln>
          </p:spPr>
        </p:cxnSp>
        <p:sp>
          <p:nvSpPr>
            <p:cNvPr id="50272" name="流程图: 过程 33"/>
            <p:cNvSpPr/>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73" name="流程图: 过程 34"/>
            <p:cNvSpPr/>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74" name="流程图: 过程 35"/>
            <p:cNvSpPr/>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grpSp>
      <p:grpSp>
        <p:nvGrpSpPr>
          <p:cNvPr id="50183" name="组合 36"/>
          <p:cNvGrpSpPr/>
          <p:nvPr/>
        </p:nvGrpSpPr>
        <p:grpSpPr>
          <a:xfrm>
            <a:off x="3881438" y="2384425"/>
            <a:ext cx="971550" cy="1585913"/>
            <a:chOff x="143508" y="3538110"/>
            <a:chExt cx="972109" cy="1585200"/>
          </a:xfrm>
        </p:grpSpPr>
        <p:sp>
          <p:nvSpPr>
            <p:cNvPr id="50261" name="流程图: 过程 37"/>
            <p:cNvSpPr/>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en-US" altLang="zh-CN" sz="2400" b="1" dirty="0"/>
            </a:p>
          </p:txBody>
        </p:sp>
        <p:sp>
          <p:nvSpPr>
            <p:cNvPr id="50262" name="流程图: 过程 38"/>
            <p:cNvSpPr/>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3</a:t>
              </a:r>
              <a:endParaRPr lang="en-US" altLang="zh-CN" sz="2800" b="1" dirty="0"/>
            </a:p>
          </p:txBody>
        </p:sp>
        <p:sp>
          <p:nvSpPr>
            <p:cNvPr id="50263" name="流程图: 过程 39"/>
            <p:cNvSpPr/>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2</a:t>
              </a:r>
              <a:endParaRPr lang="en-US" altLang="zh-CN" sz="2800" b="1" dirty="0"/>
            </a:p>
          </p:txBody>
        </p:sp>
        <p:cxnSp>
          <p:nvCxnSpPr>
            <p:cNvPr id="50264" name="直接箭头连接符 40"/>
            <p:cNvCxnSpPr/>
            <p:nvPr/>
          </p:nvCxnSpPr>
          <p:spPr>
            <a:xfrm flipH="1">
              <a:off x="755576" y="3790138"/>
              <a:ext cx="360041" cy="0"/>
            </a:xfrm>
            <a:prstGeom prst="straightConnector1">
              <a:avLst/>
            </a:prstGeom>
            <a:ln w="31750" cap="flat" cmpd="sng">
              <a:solidFill>
                <a:schemeClr val="tx1"/>
              </a:solidFill>
              <a:prstDash val="solid"/>
              <a:headEnd type="none" w="med" len="med"/>
              <a:tailEnd type="triangle" w="med" len="med"/>
            </a:ln>
          </p:spPr>
        </p:cxnSp>
        <p:sp>
          <p:nvSpPr>
            <p:cNvPr id="50265" name="流程图: 过程 41"/>
            <p:cNvSpPr/>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66" name="流程图: 过程 42"/>
            <p:cNvSpPr/>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67" name="流程图: 过程 43"/>
            <p:cNvSpPr/>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grpSp>
      <p:grpSp>
        <p:nvGrpSpPr>
          <p:cNvPr id="50184" name="组合 44"/>
          <p:cNvGrpSpPr/>
          <p:nvPr/>
        </p:nvGrpSpPr>
        <p:grpSpPr>
          <a:xfrm>
            <a:off x="5275263" y="2349500"/>
            <a:ext cx="973137" cy="1622425"/>
            <a:chOff x="143508" y="3538110"/>
            <a:chExt cx="972109" cy="1585200"/>
          </a:xfrm>
        </p:grpSpPr>
        <p:sp>
          <p:nvSpPr>
            <p:cNvPr id="50254" name="流程图: 过程 45"/>
            <p:cNvSpPr/>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en-US" altLang="zh-CN" sz="2400" b="1" dirty="0"/>
            </a:p>
          </p:txBody>
        </p:sp>
        <p:sp>
          <p:nvSpPr>
            <p:cNvPr id="50255" name="流程图: 过程 46"/>
            <p:cNvSpPr/>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3</a:t>
              </a:r>
              <a:endParaRPr lang="en-US" altLang="zh-CN" sz="2800" b="1" dirty="0"/>
            </a:p>
          </p:txBody>
        </p:sp>
        <p:sp>
          <p:nvSpPr>
            <p:cNvPr id="50256" name="流程图: 过程 47"/>
            <p:cNvSpPr/>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2</a:t>
              </a:r>
              <a:endParaRPr lang="zh-CN" altLang="en-US" sz="2800" b="1" dirty="0"/>
            </a:p>
          </p:txBody>
        </p:sp>
        <p:cxnSp>
          <p:nvCxnSpPr>
            <p:cNvPr id="50257" name="直接箭头连接符 48"/>
            <p:cNvCxnSpPr/>
            <p:nvPr/>
          </p:nvCxnSpPr>
          <p:spPr>
            <a:xfrm flipH="1">
              <a:off x="755576" y="4290129"/>
              <a:ext cx="360041" cy="0"/>
            </a:xfrm>
            <a:prstGeom prst="straightConnector1">
              <a:avLst/>
            </a:prstGeom>
            <a:ln w="31750" cap="flat" cmpd="sng">
              <a:solidFill>
                <a:schemeClr val="tx1"/>
              </a:solidFill>
              <a:prstDash val="solid"/>
              <a:headEnd type="none" w="med" len="med"/>
              <a:tailEnd type="triangle" w="med" len="med"/>
            </a:ln>
          </p:spPr>
        </p:cxnSp>
        <p:sp>
          <p:nvSpPr>
            <p:cNvPr id="50258" name="流程图: 过程 49"/>
            <p:cNvSpPr/>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59" name="流程图: 过程 50"/>
            <p:cNvSpPr/>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FF66FF"/>
                  </a:solidFill>
                </a:rPr>
                <a:t>0</a:t>
              </a:r>
              <a:endParaRPr lang="zh-CN" altLang="en-US" sz="2400" b="1" dirty="0">
                <a:solidFill>
                  <a:srgbClr val="FF66FF"/>
                </a:solidFill>
              </a:endParaRPr>
            </a:p>
          </p:txBody>
        </p:sp>
        <p:sp>
          <p:nvSpPr>
            <p:cNvPr id="50260" name="流程图: 过程 51"/>
            <p:cNvSpPr/>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FF66FF"/>
                  </a:solidFill>
                </a:rPr>
                <a:t>0</a:t>
              </a:r>
              <a:endParaRPr lang="zh-CN" altLang="en-US" sz="2400" b="1" dirty="0">
                <a:solidFill>
                  <a:srgbClr val="FF66FF"/>
                </a:solidFill>
              </a:endParaRPr>
            </a:p>
          </p:txBody>
        </p:sp>
      </p:grpSp>
      <p:grpSp>
        <p:nvGrpSpPr>
          <p:cNvPr id="50185" name="组合 52"/>
          <p:cNvGrpSpPr/>
          <p:nvPr/>
        </p:nvGrpSpPr>
        <p:grpSpPr>
          <a:xfrm>
            <a:off x="6696075" y="2349500"/>
            <a:ext cx="971550" cy="1622425"/>
            <a:chOff x="143508" y="3538110"/>
            <a:chExt cx="972109" cy="1585200"/>
          </a:xfrm>
        </p:grpSpPr>
        <p:sp>
          <p:nvSpPr>
            <p:cNvPr id="50247" name="流程图: 过程 53"/>
            <p:cNvSpPr/>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en-US" altLang="zh-CN" sz="2400" b="1" dirty="0"/>
            </a:p>
          </p:txBody>
        </p:sp>
        <p:sp>
          <p:nvSpPr>
            <p:cNvPr id="50248" name="流程图: 过程 54"/>
            <p:cNvSpPr/>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4</a:t>
              </a:r>
              <a:endParaRPr lang="en-US" altLang="zh-CN" sz="2800" b="1" dirty="0"/>
            </a:p>
          </p:txBody>
        </p:sp>
        <p:sp>
          <p:nvSpPr>
            <p:cNvPr id="50249" name="流程图: 过程 55"/>
            <p:cNvSpPr/>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2</a:t>
              </a:r>
              <a:endParaRPr lang="en-US" altLang="zh-CN" sz="2800" b="1" dirty="0"/>
            </a:p>
          </p:txBody>
        </p:sp>
        <p:cxnSp>
          <p:nvCxnSpPr>
            <p:cNvPr id="50250" name="直接箭头连接符 56"/>
            <p:cNvCxnSpPr/>
            <p:nvPr/>
          </p:nvCxnSpPr>
          <p:spPr>
            <a:xfrm flipH="1">
              <a:off x="755576" y="4839805"/>
              <a:ext cx="360041" cy="0"/>
            </a:xfrm>
            <a:prstGeom prst="straightConnector1">
              <a:avLst/>
            </a:prstGeom>
            <a:ln w="31750" cap="flat" cmpd="sng">
              <a:solidFill>
                <a:schemeClr val="tx1"/>
              </a:solidFill>
              <a:prstDash val="solid"/>
              <a:headEnd type="none" w="med" len="med"/>
              <a:tailEnd type="triangle" w="med" len="med"/>
            </a:ln>
          </p:spPr>
        </p:cxnSp>
        <p:sp>
          <p:nvSpPr>
            <p:cNvPr id="50251" name="流程图: 过程 57"/>
            <p:cNvSpPr/>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52" name="流程图: 过程 58"/>
            <p:cNvSpPr/>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53" name="流程图: 过程 59"/>
            <p:cNvSpPr/>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zh-CN" altLang="en-US" sz="2400" b="1" dirty="0"/>
            </a:p>
          </p:txBody>
        </p:sp>
      </p:grpSp>
      <p:sp>
        <p:nvSpPr>
          <p:cNvPr id="62" name="文本框 61"/>
          <p:cNvSpPr txBox="1"/>
          <p:nvPr/>
        </p:nvSpPr>
        <p:spPr>
          <a:xfrm>
            <a:off x="541338" y="4365625"/>
            <a:ext cx="7615238" cy="521970"/>
          </a:xfrm>
          <a:prstGeom prst="rect">
            <a:avLst/>
          </a:prstGeom>
          <a:noFill/>
        </p:spPr>
        <p:txBody>
          <a:bodyPr>
            <a:spAutoFit/>
          </a:bodyPr>
          <a:lstStyle/>
          <a:p>
            <a:pPr marR="0" defTabSz="914400">
              <a:buClrTx/>
              <a:buSzTx/>
              <a:buFontTx/>
              <a:buNone/>
              <a:defRPr/>
            </a:pPr>
            <a:r>
              <a:rPr kumimoji="0" lang="en-US" altLang="zh-CN" kern="1200" cap="none" spc="0" normalizeH="0" baseline="0" noProof="0" dirty="0">
                <a:solidFill>
                  <a:srgbClr val="000000"/>
                </a:solidFill>
                <a:latin typeface="+mn-ea"/>
                <a:ea typeface="宋体" panose="02010600030101010101" pitchFamily="2" charset="-122"/>
                <a:cs typeface="+mn-cs"/>
              </a:rPr>
              <a:t>3 </a:t>
            </a:r>
            <a:r>
              <a:rPr kumimoji="0" lang="zh-CN" altLang="en-US" kern="1200" cap="none" spc="0" normalizeH="0" baseline="0" noProof="0" dirty="0">
                <a:solidFill>
                  <a:srgbClr val="000000"/>
                </a:solidFill>
                <a:latin typeface="+mn-ea"/>
                <a:ea typeface="宋体" panose="02010600030101010101" pitchFamily="2" charset="-122"/>
                <a:cs typeface="+mn-cs"/>
              </a:rPr>
              <a:t>      </a:t>
            </a:r>
            <a:r>
              <a:rPr kumimoji="0" lang="en-US" altLang="zh-CN" kern="1200" cap="none" spc="0" normalizeH="0" baseline="0" noProof="0" dirty="0">
                <a:solidFill>
                  <a:srgbClr val="000000"/>
                </a:solidFill>
                <a:latin typeface="+mn-ea"/>
                <a:ea typeface="宋体" panose="02010600030101010101" pitchFamily="2" charset="-122"/>
                <a:cs typeface="+mn-cs"/>
              </a:rPr>
              <a:t>1     </a:t>
            </a:r>
            <a:r>
              <a:rPr kumimoji="0" lang="zh-CN" altLang="en-US" kern="1200" cap="none" spc="0" normalizeH="0" baseline="0" noProof="0" dirty="0">
                <a:solidFill>
                  <a:srgbClr val="000000"/>
                </a:solidFill>
                <a:latin typeface="+mn-ea"/>
                <a:ea typeface="宋体" panose="02010600030101010101" pitchFamily="2" charset="-122"/>
                <a:cs typeface="+mn-cs"/>
              </a:rPr>
              <a:t> </a:t>
            </a:r>
            <a:r>
              <a:rPr kumimoji="0" lang="en-US" altLang="zh-CN" kern="1200" cap="none" spc="0" normalizeH="0" baseline="0" noProof="0" dirty="0">
                <a:solidFill>
                  <a:srgbClr val="000000"/>
                </a:solidFill>
                <a:latin typeface="+mn-ea"/>
                <a:ea typeface="宋体" panose="02010600030101010101" pitchFamily="2" charset="-122"/>
                <a:cs typeface="+mn-cs"/>
              </a:rPr>
              <a:t>0      </a:t>
            </a:r>
            <a:r>
              <a:rPr kumimoji="0" lang="zh-CN" altLang="en-US" kern="1200" cap="none" spc="0" normalizeH="0" baseline="0" noProof="0" dirty="0">
                <a:solidFill>
                  <a:srgbClr val="000000"/>
                </a:solidFill>
                <a:latin typeface="+mn-ea"/>
                <a:ea typeface="宋体" panose="02010600030101010101" pitchFamily="2" charset="-122"/>
                <a:cs typeface="+mn-cs"/>
              </a:rPr>
              <a:t> </a:t>
            </a:r>
            <a:r>
              <a:rPr kumimoji="0" lang="en-US" altLang="zh-CN" kern="1200" cap="none" spc="0" normalizeH="0" baseline="0" noProof="0" dirty="0">
                <a:solidFill>
                  <a:srgbClr val="000000"/>
                </a:solidFill>
                <a:latin typeface="+mn-ea"/>
                <a:ea typeface="宋体" panose="02010600030101010101" pitchFamily="2" charset="-122"/>
                <a:cs typeface="+mn-cs"/>
              </a:rPr>
              <a:t>3       4 </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grpSp>
        <p:nvGrpSpPr>
          <p:cNvPr id="50187" name="组合 62"/>
          <p:cNvGrpSpPr/>
          <p:nvPr/>
        </p:nvGrpSpPr>
        <p:grpSpPr>
          <a:xfrm>
            <a:off x="7956550" y="2312988"/>
            <a:ext cx="971550" cy="1622425"/>
            <a:chOff x="143508" y="3538110"/>
            <a:chExt cx="972109" cy="1585200"/>
          </a:xfrm>
        </p:grpSpPr>
        <p:sp>
          <p:nvSpPr>
            <p:cNvPr id="50240" name="流程图: 过程 63"/>
            <p:cNvSpPr/>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en-US" altLang="zh-CN" sz="2400" b="1" dirty="0"/>
            </a:p>
          </p:txBody>
        </p:sp>
        <p:sp>
          <p:nvSpPr>
            <p:cNvPr id="50241" name="流程图: 过程 64"/>
            <p:cNvSpPr/>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4</a:t>
              </a:r>
              <a:endParaRPr lang="en-US" altLang="zh-CN" sz="2800" b="1" dirty="0"/>
            </a:p>
          </p:txBody>
        </p:sp>
        <p:sp>
          <p:nvSpPr>
            <p:cNvPr id="50242" name="流程图: 过程 65"/>
            <p:cNvSpPr/>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0</a:t>
              </a:r>
              <a:endParaRPr lang="en-US" altLang="zh-CN" sz="2800" b="1" dirty="0"/>
            </a:p>
          </p:txBody>
        </p:sp>
        <p:cxnSp>
          <p:nvCxnSpPr>
            <p:cNvPr id="50243" name="直接箭头连接符 66"/>
            <p:cNvCxnSpPr/>
            <p:nvPr/>
          </p:nvCxnSpPr>
          <p:spPr>
            <a:xfrm flipH="1">
              <a:off x="755576" y="3784377"/>
              <a:ext cx="360041" cy="0"/>
            </a:xfrm>
            <a:prstGeom prst="straightConnector1">
              <a:avLst/>
            </a:prstGeom>
            <a:ln w="31750" cap="flat" cmpd="sng">
              <a:solidFill>
                <a:schemeClr val="tx1"/>
              </a:solidFill>
              <a:prstDash val="solid"/>
              <a:headEnd type="none" w="med" len="med"/>
              <a:tailEnd type="triangle" w="med" len="med"/>
            </a:ln>
          </p:spPr>
        </p:cxnSp>
        <p:sp>
          <p:nvSpPr>
            <p:cNvPr id="50244" name="流程图: 过程 67"/>
            <p:cNvSpPr/>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45" name="流程图: 过程 68"/>
            <p:cNvSpPr/>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46" name="流程图: 过程 69"/>
            <p:cNvSpPr/>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grpSp>
      <p:grpSp>
        <p:nvGrpSpPr>
          <p:cNvPr id="50188" name="组合 70"/>
          <p:cNvGrpSpPr/>
          <p:nvPr/>
        </p:nvGrpSpPr>
        <p:grpSpPr>
          <a:xfrm>
            <a:off x="309563" y="4797425"/>
            <a:ext cx="971550" cy="1622425"/>
            <a:chOff x="143508" y="3538110"/>
            <a:chExt cx="972109" cy="1585200"/>
          </a:xfrm>
        </p:grpSpPr>
        <p:sp>
          <p:nvSpPr>
            <p:cNvPr id="50233" name="流程图: 过程 71"/>
            <p:cNvSpPr/>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3</a:t>
              </a:r>
              <a:endParaRPr lang="en-US" altLang="zh-CN" sz="2400" b="1" dirty="0"/>
            </a:p>
          </p:txBody>
        </p:sp>
        <p:sp>
          <p:nvSpPr>
            <p:cNvPr id="50234" name="流程图: 过程 72"/>
            <p:cNvSpPr/>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4</a:t>
              </a:r>
              <a:endParaRPr lang="en-US" altLang="zh-CN" sz="2800" b="1" dirty="0"/>
            </a:p>
          </p:txBody>
        </p:sp>
        <p:sp>
          <p:nvSpPr>
            <p:cNvPr id="50235" name="流程图: 过程 73"/>
            <p:cNvSpPr/>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0</a:t>
              </a:r>
              <a:endParaRPr lang="en-US" altLang="zh-CN" sz="2800" b="1" dirty="0"/>
            </a:p>
          </p:txBody>
        </p:sp>
        <p:cxnSp>
          <p:nvCxnSpPr>
            <p:cNvPr id="50236" name="直接箭头连接符 74"/>
            <p:cNvCxnSpPr/>
            <p:nvPr/>
          </p:nvCxnSpPr>
          <p:spPr>
            <a:xfrm flipH="1">
              <a:off x="755576" y="4326556"/>
              <a:ext cx="360041" cy="0"/>
            </a:xfrm>
            <a:prstGeom prst="straightConnector1">
              <a:avLst/>
            </a:prstGeom>
            <a:ln w="31750" cap="flat" cmpd="sng">
              <a:solidFill>
                <a:schemeClr val="tx1"/>
              </a:solidFill>
              <a:prstDash val="solid"/>
              <a:headEnd type="none" w="med" len="med"/>
              <a:tailEnd type="triangle" w="med" len="med"/>
            </a:ln>
          </p:spPr>
        </p:cxnSp>
        <p:sp>
          <p:nvSpPr>
            <p:cNvPr id="50237" name="流程图: 过程 75"/>
            <p:cNvSpPr/>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38" name="流程图: 过程 76"/>
            <p:cNvSpPr/>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FF66FF"/>
                  </a:solidFill>
                </a:rPr>
                <a:t>0</a:t>
              </a:r>
              <a:endParaRPr lang="zh-CN" altLang="en-US" sz="2400" b="1" dirty="0">
                <a:solidFill>
                  <a:srgbClr val="FF66FF"/>
                </a:solidFill>
              </a:endParaRPr>
            </a:p>
          </p:txBody>
        </p:sp>
        <p:sp>
          <p:nvSpPr>
            <p:cNvPr id="50239" name="流程图: 过程 77"/>
            <p:cNvSpPr/>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FF66FF"/>
                  </a:solidFill>
                </a:rPr>
                <a:t>0</a:t>
              </a:r>
              <a:endParaRPr lang="zh-CN" altLang="en-US" sz="2400" b="1" dirty="0">
                <a:solidFill>
                  <a:srgbClr val="FF66FF"/>
                </a:solidFill>
              </a:endParaRPr>
            </a:p>
          </p:txBody>
        </p:sp>
      </p:grpSp>
      <p:grpSp>
        <p:nvGrpSpPr>
          <p:cNvPr id="50189" name="组合 78"/>
          <p:cNvGrpSpPr/>
          <p:nvPr/>
        </p:nvGrpSpPr>
        <p:grpSpPr>
          <a:xfrm>
            <a:off x="1747838" y="4797425"/>
            <a:ext cx="971550" cy="1622425"/>
            <a:chOff x="143508" y="3538110"/>
            <a:chExt cx="972109" cy="1585200"/>
          </a:xfrm>
        </p:grpSpPr>
        <p:sp>
          <p:nvSpPr>
            <p:cNvPr id="50226" name="流程图: 过程 79"/>
            <p:cNvSpPr/>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3</a:t>
              </a:r>
              <a:endParaRPr lang="en-US" altLang="zh-CN" sz="2400" b="1" dirty="0"/>
            </a:p>
          </p:txBody>
        </p:sp>
        <p:sp>
          <p:nvSpPr>
            <p:cNvPr id="50227" name="流程图: 过程 80"/>
            <p:cNvSpPr/>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1</a:t>
              </a:r>
              <a:endParaRPr lang="en-US" altLang="zh-CN" sz="2800" b="1" dirty="0"/>
            </a:p>
          </p:txBody>
        </p:sp>
        <p:sp>
          <p:nvSpPr>
            <p:cNvPr id="50228" name="流程图: 过程 81"/>
            <p:cNvSpPr/>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0</a:t>
              </a:r>
              <a:endParaRPr lang="en-US" altLang="zh-CN" sz="2800" b="1" dirty="0"/>
            </a:p>
          </p:txBody>
        </p:sp>
        <p:cxnSp>
          <p:nvCxnSpPr>
            <p:cNvPr id="50229" name="直接箭头连接符 82"/>
            <p:cNvCxnSpPr/>
            <p:nvPr/>
          </p:nvCxnSpPr>
          <p:spPr>
            <a:xfrm flipH="1">
              <a:off x="755576" y="4862132"/>
              <a:ext cx="360041" cy="0"/>
            </a:xfrm>
            <a:prstGeom prst="straightConnector1">
              <a:avLst/>
            </a:prstGeom>
            <a:ln w="31750" cap="flat" cmpd="sng">
              <a:solidFill>
                <a:schemeClr val="tx1"/>
              </a:solidFill>
              <a:prstDash val="solid"/>
              <a:headEnd type="none" w="med" len="med"/>
              <a:tailEnd type="triangle" w="med" len="med"/>
            </a:ln>
          </p:spPr>
        </p:cxnSp>
        <p:sp>
          <p:nvSpPr>
            <p:cNvPr id="50230" name="流程图: 过程 83"/>
            <p:cNvSpPr/>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31" name="流程图: 过程 84"/>
            <p:cNvSpPr/>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32" name="流程图: 过程 85"/>
            <p:cNvSpPr/>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zh-CN" altLang="en-US" sz="2400" b="1" dirty="0"/>
            </a:p>
          </p:txBody>
        </p:sp>
      </p:grpSp>
      <p:grpSp>
        <p:nvGrpSpPr>
          <p:cNvPr id="50190" name="组合 86"/>
          <p:cNvGrpSpPr/>
          <p:nvPr/>
        </p:nvGrpSpPr>
        <p:grpSpPr>
          <a:xfrm>
            <a:off x="3070225" y="4797425"/>
            <a:ext cx="973138" cy="1622425"/>
            <a:chOff x="143508" y="3538110"/>
            <a:chExt cx="972109" cy="1585200"/>
          </a:xfrm>
        </p:grpSpPr>
        <p:sp>
          <p:nvSpPr>
            <p:cNvPr id="50219" name="流程图: 过程 87"/>
            <p:cNvSpPr/>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3</a:t>
              </a:r>
              <a:endParaRPr lang="en-US" altLang="zh-CN" sz="2400" b="1" dirty="0"/>
            </a:p>
          </p:txBody>
        </p:sp>
        <p:sp>
          <p:nvSpPr>
            <p:cNvPr id="50220" name="流程图: 过程 88"/>
            <p:cNvSpPr/>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1</a:t>
              </a:r>
              <a:endParaRPr lang="en-US" altLang="zh-CN" sz="2800" b="1" dirty="0"/>
            </a:p>
          </p:txBody>
        </p:sp>
        <p:sp>
          <p:nvSpPr>
            <p:cNvPr id="50221" name="流程图: 过程 89"/>
            <p:cNvSpPr/>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0</a:t>
              </a:r>
              <a:endParaRPr lang="en-US" altLang="zh-CN" sz="2800" b="1" dirty="0"/>
            </a:p>
          </p:txBody>
        </p:sp>
        <p:cxnSp>
          <p:nvCxnSpPr>
            <p:cNvPr id="50222" name="直接箭头连接符 90"/>
            <p:cNvCxnSpPr/>
            <p:nvPr/>
          </p:nvCxnSpPr>
          <p:spPr>
            <a:xfrm flipH="1">
              <a:off x="755576" y="4862132"/>
              <a:ext cx="360041" cy="0"/>
            </a:xfrm>
            <a:prstGeom prst="straightConnector1">
              <a:avLst/>
            </a:prstGeom>
            <a:ln w="31750" cap="flat" cmpd="sng">
              <a:solidFill>
                <a:schemeClr val="tx1"/>
              </a:solidFill>
              <a:prstDash val="solid"/>
              <a:headEnd type="none" w="med" len="med"/>
              <a:tailEnd type="triangle" w="med" len="med"/>
            </a:ln>
          </p:spPr>
        </p:cxnSp>
        <p:sp>
          <p:nvSpPr>
            <p:cNvPr id="50223" name="流程图: 过程 91"/>
            <p:cNvSpPr/>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24" name="流程图: 过程 92"/>
            <p:cNvSpPr/>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25" name="流程图: 过程 93"/>
            <p:cNvSpPr/>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FF0000"/>
                  </a:solidFill>
                </a:rPr>
                <a:t>1</a:t>
              </a:r>
              <a:endParaRPr lang="zh-CN" altLang="en-US" sz="2400" b="1" dirty="0">
                <a:solidFill>
                  <a:srgbClr val="FF0000"/>
                </a:solidFill>
              </a:endParaRPr>
            </a:p>
          </p:txBody>
        </p:sp>
      </p:grpSp>
      <p:grpSp>
        <p:nvGrpSpPr>
          <p:cNvPr id="50191" name="组合 94"/>
          <p:cNvGrpSpPr/>
          <p:nvPr/>
        </p:nvGrpSpPr>
        <p:grpSpPr>
          <a:xfrm>
            <a:off x="4608513" y="4795838"/>
            <a:ext cx="971550" cy="1620837"/>
            <a:chOff x="143508" y="3538110"/>
            <a:chExt cx="972109" cy="1585200"/>
          </a:xfrm>
        </p:grpSpPr>
        <p:sp>
          <p:nvSpPr>
            <p:cNvPr id="50212" name="流程图: 过程 95"/>
            <p:cNvSpPr/>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3</a:t>
              </a:r>
              <a:endParaRPr lang="en-US" altLang="zh-CN" sz="2400" b="1" dirty="0"/>
            </a:p>
          </p:txBody>
        </p:sp>
        <p:sp>
          <p:nvSpPr>
            <p:cNvPr id="50213" name="流程图: 过程 96"/>
            <p:cNvSpPr/>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1</a:t>
              </a:r>
              <a:endParaRPr lang="en-US" altLang="zh-CN" sz="2800" b="1" dirty="0"/>
            </a:p>
          </p:txBody>
        </p:sp>
        <p:sp>
          <p:nvSpPr>
            <p:cNvPr id="50214" name="流程图: 过程 97"/>
            <p:cNvSpPr/>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0</a:t>
              </a:r>
              <a:endParaRPr lang="zh-CN" altLang="en-US" sz="2800" b="1" dirty="0"/>
            </a:p>
          </p:txBody>
        </p:sp>
        <p:cxnSp>
          <p:nvCxnSpPr>
            <p:cNvPr id="50215" name="直接箭头连接符 98"/>
            <p:cNvCxnSpPr/>
            <p:nvPr/>
          </p:nvCxnSpPr>
          <p:spPr>
            <a:xfrm flipH="1">
              <a:off x="755576" y="4862132"/>
              <a:ext cx="360041" cy="0"/>
            </a:xfrm>
            <a:prstGeom prst="straightConnector1">
              <a:avLst/>
            </a:prstGeom>
            <a:ln w="31750" cap="flat" cmpd="sng">
              <a:solidFill>
                <a:schemeClr val="tx1"/>
              </a:solidFill>
              <a:prstDash val="solid"/>
              <a:headEnd type="none" w="med" len="med"/>
              <a:tailEnd type="triangle" w="med" len="med"/>
            </a:ln>
          </p:spPr>
        </p:cxnSp>
        <p:sp>
          <p:nvSpPr>
            <p:cNvPr id="50216" name="流程图: 过程 99"/>
            <p:cNvSpPr/>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17" name="流程图: 过程 100"/>
            <p:cNvSpPr/>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sp>
          <p:nvSpPr>
            <p:cNvPr id="50218" name="流程图: 过程 101"/>
            <p:cNvSpPr/>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grpSp>
      <p:grpSp>
        <p:nvGrpSpPr>
          <p:cNvPr id="50192" name="组合 102"/>
          <p:cNvGrpSpPr/>
          <p:nvPr/>
        </p:nvGrpSpPr>
        <p:grpSpPr>
          <a:xfrm>
            <a:off x="6048375" y="4795838"/>
            <a:ext cx="971550" cy="1620837"/>
            <a:chOff x="143508" y="3538110"/>
            <a:chExt cx="972109" cy="1585200"/>
          </a:xfrm>
        </p:grpSpPr>
        <p:sp>
          <p:nvSpPr>
            <p:cNvPr id="50205" name="流程图: 过程 103"/>
            <p:cNvSpPr/>
            <p:nvPr/>
          </p:nvSpPr>
          <p:spPr>
            <a:xfrm>
              <a:off x="143508" y="3538110"/>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3</a:t>
              </a:r>
              <a:endParaRPr lang="en-US" altLang="zh-CN" sz="2400" b="1" dirty="0"/>
            </a:p>
          </p:txBody>
        </p:sp>
        <p:sp>
          <p:nvSpPr>
            <p:cNvPr id="50206" name="流程图: 过程 104"/>
            <p:cNvSpPr/>
            <p:nvPr/>
          </p:nvSpPr>
          <p:spPr>
            <a:xfrm>
              <a:off x="143509" y="4059958"/>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1</a:t>
              </a:r>
              <a:endParaRPr lang="en-US" altLang="zh-CN" sz="2800" b="1" dirty="0"/>
            </a:p>
          </p:txBody>
        </p:sp>
        <p:sp>
          <p:nvSpPr>
            <p:cNvPr id="50207" name="流程图: 过程 105"/>
            <p:cNvSpPr/>
            <p:nvPr/>
          </p:nvSpPr>
          <p:spPr>
            <a:xfrm>
              <a:off x="143508" y="4583250"/>
              <a:ext cx="324037"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t>4</a:t>
              </a:r>
              <a:endParaRPr lang="en-US" altLang="zh-CN" sz="2800" b="1" dirty="0"/>
            </a:p>
          </p:txBody>
        </p:sp>
        <p:cxnSp>
          <p:nvCxnSpPr>
            <p:cNvPr id="50208" name="直接箭头连接符 106"/>
            <p:cNvCxnSpPr/>
            <p:nvPr/>
          </p:nvCxnSpPr>
          <p:spPr>
            <a:xfrm flipH="1">
              <a:off x="755576" y="3716072"/>
              <a:ext cx="360041" cy="0"/>
            </a:xfrm>
            <a:prstGeom prst="straightConnector1">
              <a:avLst/>
            </a:prstGeom>
            <a:ln w="31750" cap="flat" cmpd="sng">
              <a:solidFill>
                <a:schemeClr val="tx1"/>
              </a:solidFill>
              <a:prstDash val="solid"/>
              <a:headEnd type="none" w="med" len="med"/>
              <a:tailEnd type="triangle" w="med" len="med"/>
            </a:ln>
          </p:spPr>
        </p:cxnSp>
        <p:sp>
          <p:nvSpPr>
            <p:cNvPr id="50209" name="流程图: 过程 107"/>
            <p:cNvSpPr/>
            <p:nvPr/>
          </p:nvSpPr>
          <p:spPr>
            <a:xfrm>
              <a:off x="467545" y="3544334"/>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zh-CN" altLang="en-US" sz="2400" b="1" dirty="0"/>
            </a:p>
          </p:txBody>
        </p:sp>
        <p:sp>
          <p:nvSpPr>
            <p:cNvPr id="50210" name="流程图: 过程 108"/>
            <p:cNvSpPr/>
            <p:nvPr/>
          </p:nvSpPr>
          <p:spPr>
            <a:xfrm>
              <a:off x="467545" y="4061192"/>
              <a:ext cx="324036" cy="540060"/>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0</a:t>
              </a:r>
              <a:endParaRPr lang="zh-CN" altLang="en-US" sz="2400" b="1" dirty="0"/>
            </a:p>
          </p:txBody>
        </p:sp>
        <p:sp>
          <p:nvSpPr>
            <p:cNvPr id="50211" name="流程图: 过程 109"/>
            <p:cNvSpPr/>
            <p:nvPr/>
          </p:nvSpPr>
          <p:spPr>
            <a:xfrm>
              <a:off x="467545" y="4590574"/>
              <a:ext cx="324036" cy="532736"/>
            </a:xfrm>
            <a:prstGeom prst="flowChartProcess">
              <a:avLst/>
            </a:prstGeom>
            <a:solidFill>
              <a:schemeClr val="accent1"/>
            </a:solidFill>
            <a:ln w="31750"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t>1</a:t>
              </a:r>
              <a:endParaRPr lang="zh-CN" altLang="en-US" sz="2400" b="1" dirty="0"/>
            </a:p>
          </p:txBody>
        </p:sp>
      </p:grpSp>
      <p:sp>
        <p:nvSpPr>
          <p:cNvPr id="50193" name="文本框 19"/>
          <p:cNvSpPr txBox="1"/>
          <p:nvPr/>
        </p:nvSpPr>
        <p:spPr>
          <a:xfrm>
            <a:off x="90488" y="3971925"/>
            <a:ext cx="6477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000000"/>
                </a:solidFill>
              </a:rPr>
              <a:t>缺页</a:t>
            </a:r>
            <a:endParaRPr lang="zh-CN" altLang="en-US" sz="1800" b="1" dirty="0">
              <a:solidFill>
                <a:srgbClr val="000000"/>
              </a:solidFill>
            </a:endParaRPr>
          </a:p>
        </p:txBody>
      </p:sp>
      <p:sp>
        <p:nvSpPr>
          <p:cNvPr id="50194" name="文本框 111"/>
          <p:cNvSpPr txBox="1"/>
          <p:nvPr/>
        </p:nvSpPr>
        <p:spPr>
          <a:xfrm>
            <a:off x="1223963" y="3962400"/>
            <a:ext cx="6477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000000"/>
                </a:solidFill>
              </a:rPr>
              <a:t>缺页</a:t>
            </a:r>
            <a:endParaRPr lang="zh-CN" altLang="en-US" sz="1800" b="1" dirty="0">
              <a:solidFill>
                <a:srgbClr val="000000"/>
              </a:solidFill>
            </a:endParaRPr>
          </a:p>
        </p:txBody>
      </p:sp>
      <p:sp>
        <p:nvSpPr>
          <p:cNvPr id="50195" name="文本框 112"/>
          <p:cNvSpPr txBox="1"/>
          <p:nvPr/>
        </p:nvSpPr>
        <p:spPr>
          <a:xfrm>
            <a:off x="2411413" y="4005263"/>
            <a:ext cx="6477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000000"/>
                </a:solidFill>
              </a:rPr>
              <a:t>缺页</a:t>
            </a:r>
            <a:endParaRPr lang="zh-CN" altLang="en-US" sz="1800" b="1" dirty="0">
              <a:solidFill>
                <a:srgbClr val="000000"/>
              </a:solidFill>
            </a:endParaRPr>
          </a:p>
        </p:txBody>
      </p:sp>
      <p:sp>
        <p:nvSpPr>
          <p:cNvPr id="50196" name="文本框 113"/>
          <p:cNvSpPr txBox="1"/>
          <p:nvPr/>
        </p:nvSpPr>
        <p:spPr>
          <a:xfrm>
            <a:off x="5284788" y="3994150"/>
            <a:ext cx="649287"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000000"/>
                </a:solidFill>
              </a:rPr>
              <a:t>缺页</a:t>
            </a:r>
            <a:endParaRPr lang="zh-CN" altLang="en-US" sz="1800" b="1" dirty="0">
              <a:solidFill>
                <a:srgbClr val="000000"/>
              </a:solidFill>
            </a:endParaRPr>
          </a:p>
        </p:txBody>
      </p:sp>
      <p:sp>
        <p:nvSpPr>
          <p:cNvPr id="50197" name="椭圆 56319"/>
          <p:cNvSpPr/>
          <p:nvPr/>
        </p:nvSpPr>
        <p:spPr>
          <a:xfrm>
            <a:off x="4989513" y="1958975"/>
            <a:ext cx="1382712" cy="2570163"/>
          </a:xfrm>
          <a:prstGeom prst="ellipse">
            <a:avLst/>
          </a:prstGeom>
          <a:noFill/>
          <a:ln w="38100" cap="flat" cmpd="sng">
            <a:solidFill>
              <a:srgbClr val="FF66FF"/>
            </a:solidFill>
            <a:prstDash val="dash"/>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50198" name="文本框 116"/>
          <p:cNvSpPr txBox="1"/>
          <p:nvPr/>
        </p:nvSpPr>
        <p:spPr>
          <a:xfrm>
            <a:off x="6662738" y="4005263"/>
            <a:ext cx="647700" cy="3698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000000"/>
                </a:solidFill>
              </a:rPr>
              <a:t>缺页</a:t>
            </a:r>
            <a:endParaRPr lang="zh-CN" altLang="en-US" sz="1800" b="1" dirty="0">
              <a:solidFill>
                <a:srgbClr val="000000"/>
              </a:solidFill>
            </a:endParaRPr>
          </a:p>
        </p:txBody>
      </p:sp>
      <p:sp>
        <p:nvSpPr>
          <p:cNvPr id="50199" name="文本框 117"/>
          <p:cNvSpPr txBox="1"/>
          <p:nvPr/>
        </p:nvSpPr>
        <p:spPr>
          <a:xfrm>
            <a:off x="7942263" y="3975100"/>
            <a:ext cx="6477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000000"/>
                </a:solidFill>
              </a:rPr>
              <a:t>缺页</a:t>
            </a:r>
            <a:endParaRPr lang="zh-CN" altLang="en-US" sz="1800" b="1" dirty="0">
              <a:solidFill>
                <a:srgbClr val="000000"/>
              </a:solidFill>
            </a:endParaRPr>
          </a:p>
        </p:txBody>
      </p:sp>
      <p:sp>
        <p:nvSpPr>
          <p:cNvPr id="50200" name="文本框 118"/>
          <p:cNvSpPr txBox="1"/>
          <p:nvPr/>
        </p:nvSpPr>
        <p:spPr>
          <a:xfrm>
            <a:off x="269875" y="6381750"/>
            <a:ext cx="6477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000000"/>
                </a:solidFill>
              </a:rPr>
              <a:t>缺页</a:t>
            </a:r>
            <a:endParaRPr lang="zh-CN" altLang="en-US" sz="1800" b="1" dirty="0">
              <a:solidFill>
                <a:srgbClr val="000000"/>
              </a:solidFill>
            </a:endParaRPr>
          </a:p>
        </p:txBody>
      </p:sp>
      <p:sp>
        <p:nvSpPr>
          <p:cNvPr id="50201" name="椭圆 119"/>
          <p:cNvSpPr/>
          <p:nvPr/>
        </p:nvSpPr>
        <p:spPr>
          <a:xfrm>
            <a:off x="-76200" y="4348163"/>
            <a:ext cx="1382713" cy="2570162"/>
          </a:xfrm>
          <a:prstGeom prst="ellipse">
            <a:avLst/>
          </a:prstGeom>
          <a:noFill/>
          <a:ln w="38100" cap="flat" cmpd="sng">
            <a:solidFill>
              <a:srgbClr val="FF66FF"/>
            </a:solidFill>
            <a:prstDash val="dash"/>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50202" name="文本框 120"/>
          <p:cNvSpPr txBox="1"/>
          <p:nvPr/>
        </p:nvSpPr>
        <p:spPr>
          <a:xfrm>
            <a:off x="1763713" y="6408738"/>
            <a:ext cx="6477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000000"/>
                </a:solidFill>
              </a:rPr>
              <a:t>缺页</a:t>
            </a:r>
            <a:endParaRPr lang="zh-CN" altLang="en-US" sz="1800" b="1" dirty="0">
              <a:solidFill>
                <a:srgbClr val="000000"/>
              </a:solidFill>
            </a:endParaRPr>
          </a:p>
        </p:txBody>
      </p:sp>
      <p:sp>
        <p:nvSpPr>
          <p:cNvPr id="50203" name="文本框 121"/>
          <p:cNvSpPr txBox="1"/>
          <p:nvPr/>
        </p:nvSpPr>
        <p:spPr>
          <a:xfrm>
            <a:off x="6119813" y="6408738"/>
            <a:ext cx="64770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1800" b="1" dirty="0">
                <a:solidFill>
                  <a:srgbClr val="000000"/>
                </a:solidFill>
              </a:rPr>
              <a:t>缺页</a:t>
            </a:r>
            <a:endParaRPr lang="zh-CN" altLang="en-US" sz="1800" b="1" dirty="0">
              <a:solidFill>
                <a:srgbClr val="000000"/>
              </a:solidFill>
            </a:endParaRPr>
          </a:p>
        </p:txBody>
      </p:sp>
      <p:sp>
        <p:nvSpPr>
          <p:cNvPr id="124" name="文本框 123"/>
          <p:cNvSpPr txBox="1"/>
          <p:nvPr/>
        </p:nvSpPr>
        <p:spPr>
          <a:xfrm>
            <a:off x="7343775" y="5049838"/>
            <a:ext cx="1987550" cy="954088"/>
          </a:xfrm>
          <a:prstGeom prst="rect">
            <a:avLst/>
          </a:prstGeom>
          <a:noFill/>
        </p:spPr>
        <p:txBody>
          <a:bodyPr>
            <a:spAutoFit/>
          </a:bodyPr>
          <a:lstStyle/>
          <a:p>
            <a:pPr marR="0" defTabSz="914400">
              <a:buClrTx/>
              <a:buSzTx/>
              <a:buFontTx/>
              <a:buNone/>
              <a:defRPr/>
            </a:pPr>
            <a:r>
              <a:rPr kumimoji="0" lang="zh-CN" altLang="en-US" kern="1200" cap="none" spc="0" normalizeH="0" baseline="0" noProof="0" dirty="0">
                <a:solidFill>
                  <a:srgbClr val="000000"/>
                </a:solidFill>
                <a:latin typeface="+mn-ea"/>
                <a:ea typeface="宋体" panose="02010600030101010101" pitchFamily="2" charset="-122"/>
                <a:cs typeface="+mn-cs"/>
              </a:rPr>
              <a:t>缺页</a:t>
            </a:r>
            <a:r>
              <a:rPr kumimoji="0" lang="en-US" altLang="zh-CN" kern="1200" cap="none" spc="0" normalizeH="0" baseline="0" noProof="0" dirty="0">
                <a:solidFill>
                  <a:srgbClr val="000000"/>
                </a:solidFill>
                <a:latin typeface="+mn-ea"/>
                <a:ea typeface="宋体" panose="02010600030101010101" pitchFamily="2" charset="-122"/>
                <a:cs typeface="+mn-cs"/>
              </a:rPr>
              <a:t>9</a:t>
            </a:r>
            <a:r>
              <a:rPr kumimoji="0" lang="zh-CN" altLang="en-US" kern="1200" cap="none" spc="0" normalizeH="0" baseline="0" noProof="0" dirty="0">
                <a:solidFill>
                  <a:srgbClr val="000000"/>
                </a:solidFill>
                <a:latin typeface="+mn-ea"/>
                <a:ea typeface="宋体" panose="02010600030101010101" pitchFamily="2" charset="-122"/>
                <a:cs typeface="+mn-cs"/>
              </a:rPr>
              <a:t>次</a:t>
            </a:r>
            <a:endParaRPr kumimoji="0" lang="en-US" altLang="zh-CN" kern="1200" cap="none" spc="0" normalizeH="0" baseline="0" noProof="0" dirty="0">
              <a:solidFill>
                <a:srgbClr val="000000"/>
              </a:solidFill>
              <a:latin typeface="+mn-ea"/>
              <a:ea typeface="宋体" panose="02010600030101010101" pitchFamily="2" charset="-122"/>
              <a:cs typeface="+mn-cs"/>
            </a:endParaRPr>
          </a:p>
          <a:p>
            <a:pPr marR="0" defTabSz="914400">
              <a:buClrTx/>
              <a:buSzTx/>
              <a:buFontTx/>
              <a:buNone/>
              <a:defRPr/>
            </a:pPr>
            <a:r>
              <a:rPr kumimoji="0" lang="zh-CN" altLang="en-US" kern="1200" cap="none" spc="0" normalizeH="0" baseline="0" noProof="0" dirty="0">
                <a:solidFill>
                  <a:srgbClr val="000000"/>
                </a:solidFill>
                <a:latin typeface="+mn-ea"/>
                <a:ea typeface="宋体" panose="02010600030101010101" pitchFamily="2" charset="-122"/>
                <a:cs typeface="+mn-cs"/>
              </a:rPr>
              <a:t>缺页率</a:t>
            </a:r>
            <a:r>
              <a:rPr kumimoji="0" lang="en-US" altLang="zh-CN" kern="1200" cap="none" spc="0" normalizeH="0" baseline="0" noProof="0" dirty="0">
                <a:solidFill>
                  <a:srgbClr val="000000"/>
                </a:solidFill>
                <a:latin typeface="+mn-ea"/>
                <a:ea typeface="宋体" panose="02010600030101010101" pitchFamily="2" charset="-122"/>
                <a:cs typeface="+mn-cs"/>
              </a:rPr>
              <a:t>75%</a:t>
            </a: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
        <p:nvSpPr>
          <p:cNvPr id="2" name="椭圆 56319"/>
          <p:cNvSpPr/>
          <p:nvPr>
            <p:custDataLst>
              <p:tags r:id="rId1"/>
            </p:custDataLst>
          </p:nvPr>
        </p:nvSpPr>
        <p:spPr>
          <a:xfrm>
            <a:off x="5752465" y="4420235"/>
            <a:ext cx="1382395" cy="2479040"/>
          </a:xfrm>
          <a:prstGeom prst="ellipse">
            <a:avLst/>
          </a:prstGeom>
          <a:noFill/>
          <a:ln w="38100" cap="flat" cmpd="sng">
            <a:solidFill>
              <a:srgbClr val="FF66FF"/>
            </a:solidFill>
            <a:prstDash val="dash"/>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Tree>
  </p:cSld>
  <p:clrMapOvr>
    <a:masterClrMapping/>
  </p:clrMapOvr>
  <p:transition>
    <p:blinds/>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Text Box 2"/>
          <p:cNvSpPr txBox="1"/>
          <p:nvPr/>
        </p:nvSpPr>
        <p:spPr>
          <a:xfrm>
            <a:off x="503238" y="692150"/>
            <a:ext cx="34607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chemeClr val="hlink"/>
                </a:solidFill>
                <a:latin typeface="Times New Roman" panose="02020603050405020304" pitchFamily="18" charset="0"/>
              </a:rPr>
              <a:t>2. </a:t>
            </a:r>
            <a:r>
              <a:rPr lang="zh-CN" altLang="en-US" sz="2400" b="1" dirty="0">
                <a:solidFill>
                  <a:schemeClr val="hlink"/>
                </a:solidFill>
                <a:latin typeface="Times New Roman" panose="02020603050405020304" pitchFamily="18" charset="0"/>
              </a:rPr>
              <a:t>改进型</a:t>
            </a:r>
            <a:r>
              <a:rPr lang="en-US" altLang="zh-CN" sz="2400" b="1" dirty="0">
                <a:solidFill>
                  <a:schemeClr val="hlink"/>
                </a:solidFill>
                <a:latin typeface="Times New Roman" panose="02020603050405020304" pitchFamily="18" charset="0"/>
              </a:rPr>
              <a:t>Clock</a:t>
            </a:r>
            <a:r>
              <a:rPr lang="zh-CN" altLang="en-US" sz="2400" b="1" dirty="0">
                <a:solidFill>
                  <a:schemeClr val="hlink"/>
                </a:solidFill>
                <a:latin typeface="Times New Roman" panose="02020603050405020304" pitchFamily="18" charset="0"/>
              </a:rPr>
              <a:t>置换算法</a:t>
            </a:r>
            <a:r>
              <a:rPr lang="zh-CN" altLang="en-US" sz="2400" b="1" dirty="0">
                <a:latin typeface="Times New Roman" panose="02020603050405020304" pitchFamily="18" charset="0"/>
              </a:rPr>
              <a:t> </a:t>
            </a:r>
            <a:endParaRPr lang="zh-CN" altLang="en-US" sz="2400" b="1" dirty="0">
              <a:latin typeface="Times New Roman" panose="02020603050405020304" pitchFamily="18" charset="0"/>
            </a:endParaRPr>
          </a:p>
        </p:txBody>
      </p:sp>
      <p:sp>
        <p:nvSpPr>
          <p:cNvPr id="52227" name="AutoShape 4"/>
          <p:cNvSpPr/>
          <p:nvPr/>
        </p:nvSpPr>
        <p:spPr>
          <a:xfrm>
            <a:off x="4176713" y="260350"/>
            <a:ext cx="3852862" cy="936625"/>
          </a:xfrm>
          <a:prstGeom prst="wedgeRoundRectCallout">
            <a:avLst>
              <a:gd name="adj1" fmla="val -59065"/>
              <a:gd name="adj2" fmla="val 33389"/>
              <a:gd name="adj3" fmla="val 16667"/>
            </a:avLst>
          </a:prstGeom>
          <a:solidFill>
            <a:srgbClr val="CC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chemeClr val="hlink"/>
                </a:solidFill>
              </a:rPr>
              <a:t>同时考虑页面的使用情况和修改情况。</a:t>
            </a:r>
            <a:endParaRPr lang="zh-CN" altLang="en-US" sz="2400" b="1" dirty="0">
              <a:solidFill>
                <a:schemeClr val="hlink"/>
              </a:solidFill>
            </a:endParaRPr>
          </a:p>
        </p:txBody>
      </p:sp>
      <p:sp>
        <p:nvSpPr>
          <p:cNvPr id="52228" name="Text Box 5"/>
          <p:cNvSpPr txBox="1"/>
          <p:nvPr/>
        </p:nvSpPr>
        <p:spPr>
          <a:xfrm>
            <a:off x="539750" y="1952625"/>
            <a:ext cx="7488238" cy="2678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000000"/>
                </a:solidFill>
              </a:rPr>
              <a:t>      </a:t>
            </a:r>
            <a:r>
              <a:rPr lang="zh-CN" altLang="en-US" sz="2400" b="1" dirty="0">
                <a:solidFill>
                  <a:srgbClr val="000000"/>
                </a:solidFill>
              </a:rPr>
              <a:t>在将一个页面换出时</a:t>
            </a:r>
            <a:r>
              <a:rPr lang="en-US" altLang="zh-CN" sz="2400" b="1" dirty="0">
                <a:solidFill>
                  <a:srgbClr val="000000"/>
                </a:solidFill>
              </a:rPr>
              <a:t>,</a:t>
            </a:r>
            <a:r>
              <a:rPr lang="zh-CN" altLang="en-US" sz="2400" b="1" dirty="0">
                <a:solidFill>
                  <a:srgbClr val="000000"/>
                </a:solidFill>
              </a:rPr>
              <a:t>若该页已被修改过</a:t>
            </a:r>
            <a:r>
              <a:rPr lang="en-US" altLang="zh-CN" sz="2400" b="1" dirty="0">
                <a:solidFill>
                  <a:srgbClr val="000000"/>
                </a:solidFill>
              </a:rPr>
              <a:t>,</a:t>
            </a:r>
            <a:r>
              <a:rPr lang="zh-CN" altLang="en-US" sz="2400" b="1" dirty="0">
                <a:solidFill>
                  <a:srgbClr val="000000"/>
                </a:solidFill>
              </a:rPr>
              <a:t>便将该页重新写回磁盘</a:t>
            </a:r>
            <a:r>
              <a:rPr lang="en-US" altLang="zh-CN" sz="2400" b="1" dirty="0">
                <a:solidFill>
                  <a:srgbClr val="000000"/>
                </a:solidFill>
              </a:rPr>
              <a:t>;</a:t>
            </a:r>
            <a:r>
              <a:rPr lang="zh-CN" altLang="en-US" sz="2400" b="1" dirty="0">
                <a:solidFill>
                  <a:srgbClr val="000000"/>
                </a:solidFill>
              </a:rPr>
              <a:t>如果该页未被修改过</a:t>
            </a:r>
            <a:r>
              <a:rPr lang="en-US" altLang="zh-CN" sz="2400" b="1" dirty="0">
                <a:solidFill>
                  <a:srgbClr val="000000"/>
                </a:solidFill>
              </a:rPr>
              <a:t>,</a:t>
            </a:r>
            <a:r>
              <a:rPr lang="zh-CN" altLang="en-US" sz="2400" b="1" dirty="0">
                <a:solidFill>
                  <a:srgbClr val="000000"/>
                </a:solidFill>
              </a:rPr>
              <a:t>则不必将它写回磁盘。</a:t>
            </a:r>
            <a:endParaRPr lang="zh-CN" altLang="en-US" sz="2400" b="1" dirty="0">
              <a:solidFill>
                <a:srgbClr val="000000"/>
              </a:solidFill>
            </a:endParaRPr>
          </a:p>
          <a:p>
            <a:pPr marL="0" lvl="0" indent="0" eaLnBrk="1" hangingPunct="1">
              <a:spcBef>
                <a:spcPct val="50000"/>
              </a:spcBef>
              <a:buClrTx/>
              <a:buSzTx/>
              <a:buFontTx/>
              <a:buNone/>
            </a:pPr>
            <a:endParaRPr lang="zh-CN" altLang="en-US" sz="2400" b="1" dirty="0">
              <a:solidFill>
                <a:srgbClr val="000000"/>
              </a:solidFill>
            </a:endParaRPr>
          </a:p>
          <a:p>
            <a:pPr marL="0" lvl="0" indent="0" eaLnBrk="1" hangingPunct="1">
              <a:spcBef>
                <a:spcPct val="50000"/>
              </a:spcBef>
              <a:buClrTx/>
              <a:buSzTx/>
              <a:buFontTx/>
              <a:buNone/>
            </a:pPr>
            <a:r>
              <a:rPr lang="zh-CN" altLang="en-US" sz="2400" b="1" dirty="0">
                <a:solidFill>
                  <a:srgbClr val="000000"/>
                </a:solidFill>
              </a:rPr>
              <a:t>     改进型</a:t>
            </a:r>
            <a:r>
              <a:rPr lang="en-US" altLang="zh-CN" sz="2400" b="1" dirty="0">
                <a:solidFill>
                  <a:srgbClr val="000000"/>
                </a:solidFill>
              </a:rPr>
              <a:t>Clock</a:t>
            </a:r>
            <a:r>
              <a:rPr lang="zh-CN" altLang="en-US" sz="2400" b="1" dirty="0">
                <a:solidFill>
                  <a:srgbClr val="000000"/>
                </a:solidFill>
              </a:rPr>
              <a:t>算法：在</a:t>
            </a:r>
            <a:r>
              <a:rPr lang="en-US" altLang="zh-CN" sz="2400" b="1" dirty="0">
                <a:solidFill>
                  <a:srgbClr val="000000"/>
                </a:solidFill>
              </a:rPr>
              <a:t>Clock</a:t>
            </a:r>
            <a:r>
              <a:rPr lang="zh-CN" altLang="en-US" sz="2400" b="1" dirty="0">
                <a:solidFill>
                  <a:srgbClr val="000000"/>
                </a:solidFill>
              </a:rPr>
              <a:t>算法的访问位</a:t>
            </a:r>
            <a:r>
              <a:rPr lang="en-US" altLang="zh-CN" sz="2400" b="1" dirty="0">
                <a:solidFill>
                  <a:srgbClr val="000000"/>
                </a:solidFill>
              </a:rPr>
              <a:t>A</a:t>
            </a:r>
            <a:r>
              <a:rPr lang="zh-CN" altLang="en-US" sz="2400" b="1" dirty="0">
                <a:solidFill>
                  <a:srgbClr val="000000"/>
                </a:solidFill>
              </a:rPr>
              <a:t>基础上加一个修改位</a:t>
            </a:r>
            <a:r>
              <a:rPr lang="en-US" altLang="zh-CN" sz="2400" b="1" dirty="0">
                <a:solidFill>
                  <a:srgbClr val="000000"/>
                </a:solidFill>
              </a:rPr>
              <a:t>M</a:t>
            </a:r>
            <a:r>
              <a:rPr lang="zh-CN" altLang="en-US" sz="2400" b="1" dirty="0">
                <a:solidFill>
                  <a:srgbClr val="000000"/>
                </a:solidFill>
              </a:rPr>
              <a:t>。</a:t>
            </a:r>
            <a:endParaRPr lang="zh-CN" altLang="en-US" sz="2400" b="1" dirty="0">
              <a:solidFill>
                <a:srgbClr val="000000"/>
              </a:solidFill>
            </a:endParaRPr>
          </a:p>
        </p:txBody>
      </p:sp>
    </p:spTree>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4"/>
          <p:cNvSpPr txBox="1"/>
          <p:nvPr/>
        </p:nvSpPr>
        <p:spPr>
          <a:xfrm>
            <a:off x="395288" y="1341438"/>
            <a:ext cx="8305800" cy="35448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just" eaLnBrk="1" hangingPunct="1">
              <a:lnSpc>
                <a:spcPct val="130000"/>
              </a:lnSpc>
              <a:spcBef>
                <a:spcPct val="50000"/>
              </a:spcBef>
              <a:buClrTx/>
              <a:buSzTx/>
              <a:buFontTx/>
              <a:buNone/>
            </a:pPr>
            <a:r>
              <a:rPr lang="en-US" altLang="zh-CN" sz="2400" dirty="0">
                <a:latin typeface="Times New Roman" panose="02020603050405020304" pitchFamily="18" charset="0"/>
              </a:rPr>
              <a:t>       </a:t>
            </a:r>
            <a:r>
              <a:rPr lang="zh-CN" altLang="en-US" sz="2000" b="1" dirty="0">
                <a:solidFill>
                  <a:srgbClr val="000000"/>
                </a:solidFill>
                <a:latin typeface="Times New Roman" panose="02020603050405020304" pitchFamily="18" charset="0"/>
              </a:rPr>
              <a:t>由访问位</a:t>
            </a:r>
            <a:r>
              <a:rPr lang="en-US" altLang="zh-CN" sz="2000" b="1" dirty="0">
                <a:solidFill>
                  <a:srgbClr val="000000"/>
                </a:solidFill>
                <a:latin typeface="Times New Roman" panose="02020603050405020304" pitchFamily="18" charset="0"/>
              </a:rPr>
              <a:t>A</a:t>
            </a:r>
            <a:r>
              <a:rPr lang="zh-CN" altLang="en-US" sz="2000" b="1" dirty="0">
                <a:solidFill>
                  <a:srgbClr val="000000"/>
                </a:solidFill>
                <a:latin typeface="Times New Roman" panose="02020603050405020304" pitchFamily="18" charset="0"/>
              </a:rPr>
              <a:t>和修改位</a:t>
            </a:r>
            <a:r>
              <a:rPr lang="en-US" altLang="zh-CN" sz="2000" b="1" dirty="0">
                <a:solidFill>
                  <a:srgbClr val="000000"/>
                </a:solidFill>
                <a:latin typeface="Times New Roman" panose="02020603050405020304" pitchFamily="18" charset="0"/>
              </a:rPr>
              <a:t>M</a:t>
            </a:r>
            <a:r>
              <a:rPr lang="zh-CN" altLang="en-US" sz="2000" b="1" dirty="0">
                <a:solidFill>
                  <a:srgbClr val="000000"/>
                </a:solidFill>
                <a:latin typeface="Times New Roman" panose="02020603050405020304" pitchFamily="18" charset="0"/>
              </a:rPr>
              <a:t>可以组合成下面四种类型的页面：</a:t>
            </a:r>
            <a:endParaRPr lang="zh-CN" altLang="en-US" sz="2000" b="1" dirty="0">
              <a:solidFill>
                <a:srgbClr val="000000"/>
              </a:solidFill>
              <a:latin typeface="Times New Roman" panose="02020603050405020304" pitchFamily="18" charset="0"/>
            </a:endParaRPr>
          </a:p>
          <a:p>
            <a:pPr marL="0" lvl="0" indent="0" algn="just" eaLnBrk="1" hangingPunct="1">
              <a:lnSpc>
                <a:spcPct val="130000"/>
              </a:lnSpc>
              <a:spcBef>
                <a:spcPct val="50000"/>
              </a:spcBef>
              <a:buClrTx/>
              <a:buSzTx/>
              <a:buFontTx/>
              <a:buNone/>
            </a:pPr>
            <a:r>
              <a:rPr lang="zh-CN" altLang="en-US" sz="2000" b="1" dirty="0">
                <a:solidFill>
                  <a:srgbClr val="000000"/>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1</a:t>
            </a:r>
            <a:r>
              <a:rPr lang="zh-CN" altLang="en-US" sz="2000" b="1" dirty="0">
                <a:solidFill>
                  <a:srgbClr val="000000"/>
                </a:solidFill>
                <a:latin typeface="Times New Roman" panose="02020603050405020304" pitchFamily="18" charset="0"/>
              </a:rPr>
              <a:t>类</a:t>
            </a:r>
            <a:r>
              <a:rPr lang="en-US" altLang="zh-CN" sz="2000" b="1" dirty="0">
                <a:solidFill>
                  <a:srgbClr val="000000"/>
                </a:solidFill>
                <a:latin typeface="Times New Roman" panose="02020603050405020304" pitchFamily="18" charset="0"/>
              </a:rPr>
              <a:t>(A=0, M=0): </a:t>
            </a:r>
            <a:r>
              <a:rPr lang="zh-CN" altLang="en-US" sz="2000" b="1" dirty="0">
                <a:solidFill>
                  <a:srgbClr val="000000"/>
                </a:solidFill>
                <a:latin typeface="Times New Roman" panose="02020603050405020304" pitchFamily="18" charset="0"/>
              </a:rPr>
              <a:t>表示该页最近既未被访问，又未被修改，是最佳淘汰页。</a:t>
            </a:r>
            <a:endParaRPr lang="zh-CN" altLang="en-US" sz="2000" b="1" dirty="0">
              <a:solidFill>
                <a:srgbClr val="000000"/>
              </a:solidFill>
              <a:latin typeface="Times New Roman" panose="02020603050405020304" pitchFamily="18" charset="0"/>
            </a:endParaRPr>
          </a:p>
          <a:p>
            <a:pPr marL="0" lvl="0" indent="0" algn="just" eaLnBrk="1" hangingPunct="1">
              <a:lnSpc>
                <a:spcPct val="130000"/>
              </a:lnSpc>
              <a:spcBef>
                <a:spcPct val="50000"/>
              </a:spcBef>
              <a:buClrTx/>
              <a:buSzTx/>
              <a:buFontTx/>
              <a:buNone/>
            </a:pPr>
            <a:r>
              <a:rPr lang="zh-CN" altLang="en-US" sz="2000" b="1" dirty="0">
                <a:solidFill>
                  <a:srgbClr val="000000"/>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2</a:t>
            </a:r>
            <a:r>
              <a:rPr lang="zh-CN" altLang="en-US" sz="2000" b="1" dirty="0">
                <a:solidFill>
                  <a:srgbClr val="000000"/>
                </a:solidFill>
                <a:latin typeface="Times New Roman" panose="02020603050405020304" pitchFamily="18" charset="0"/>
              </a:rPr>
              <a:t>类</a:t>
            </a:r>
            <a:r>
              <a:rPr lang="en-US" altLang="zh-CN" sz="2000" b="1" dirty="0">
                <a:solidFill>
                  <a:srgbClr val="000000"/>
                </a:solidFill>
                <a:latin typeface="Times New Roman" panose="02020603050405020304" pitchFamily="18" charset="0"/>
              </a:rPr>
              <a:t>(A=0, M=1)</a:t>
            </a:r>
            <a:r>
              <a:rPr lang="zh-CN" altLang="en-US" sz="2000" b="1" dirty="0">
                <a:solidFill>
                  <a:srgbClr val="000000"/>
                </a:solidFill>
                <a:latin typeface="Times New Roman" panose="02020603050405020304" pitchFamily="18" charset="0"/>
              </a:rPr>
              <a:t>： 表示该页最近未被访问，但已被修改，并不是很好的淘汰页。</a:t>
            </a:r>
            <a:endParaRPr lang="zh-CN" altLang="en-US" sz="2000" b="1" dirty="0">
              <a:solidFill>
                <a:srgbClr val="000000"/>
              </a:solidFill>
              <a:latin typeface="Times New Roman" panose="02020603050405020304" pitchFamily="18" charset="0"/>
            </a:endParaRPr>
          </a:p>
          <a:p>
            <a:pPr marL="0" lvl="0" indent="0" algn="just" eaLnBrk="1" hangingPunct="1">
              <a:lnSpc>
                <a:spcPct val="130000"/>
              </a:lnSpc>
              <a:spcBef>
                <a:spcPct val="50000"/>
              </a:spcBef>
              <a:buClrTx/>
              <a:buSzTx/>
              <a:buFontTx/>
              <a:buNone/>
            </a:pPr>
            <a:r>
              <a:rPr lang="zh-CN" altLang="en-US" sz="2000" b="1" dirty="0">
                <a:solidFill>
                  <a:srgbClr val="000000"/>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3</a:t>
            </a:r>
            <a:r>
              <a:rPr lang="zh-CN" altLang="en-US" sz="2000" b="1" dirty="0">
                <a:solidFill>
                  <a:srgbClr val="000000"/>
                </a:solidFill>
                <a:latin typeface="Times New Roman" panose="02020603050405020304" pitchFamily="18" charset="0"/>
              </a:rPr>
              <a:t>类</a:t>
            </a:r>
            <a:r>
              <a:rPr lang="en-US" altLang="zh-CN" sz="2000" b="1" dirty="0">
                <a:solidFill>
                  <a:srgbClr val="000000"/>
                </a:solidFill>
                <a:latin typeface="Times New Roman" panose="02020603050405020304" pitchFamily="18" charset="0"/>
              </a:rPr>
              <a:t>(A=1, M=0)</a:t>
            </a:r>
            <a:r>
              <a:rPr lang="zh-CN" altLang="en-US" sz="2000" b="1" dirty="0">
                <a:solidFill>
                  <a:srgbClr val="000000"/>
                </a:solidFill>
                <a:latin typeface="Times New Roman" panose="02020603050405020304" pitchFamily="18" charset="0"/>
              </a:rPr>
              <a:t>： 最近已被访问， 但未被修改，该页有可能再被访问。</a:t>
            </a:r>
            <a:endParaRPr lang="zh-CN" altLang="en-US" sz="2000" b="1" dirty="0">
              <a:solidFill>
                <a:srgbClr val="000000"/>
              </a:solidFill>
              <a:latin typeface="Times New Roman" panose="02020603050405020304" pitchFamily="18" charset="0"/>
            </a:endParaRPr>
          </a:p>
          <a:p>
            <a:pPr marL="0" lvl="0" indent="0" eaLnBrk="1" hangingPunct="1">
              <a:lnSpc>
                <a:spcPct val="130000"/>
              </a:lnSpc>
              <a:spcBef>
                <a:spcPct val="50000"/>
              </a:spcBef>
              <a:buClrTx/>
              <a:buSzTx/>
              <a:buFontTx/>
              <a:buNone/>
            </a:pPr>
            <a:r>
              <a:rPr lang="zh-CN" altLang="en-US" sz="2000" b="1" dirty="0">
                <a:solidFill>
                  <a:srgbClr val="000000"/>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4</a:t>
            </a:r>
            <a:r>
              <a:rPr lang="zh-CN" altLang="en-US" sz="2000" b="1" dirty="0">
                <a:solidFill>
                  <a:srgbClr val="000000"/>
                </a:solidFill>
                <a:latin typeface="Times New Roman" panose="02020603050405020304" pitchFamily="18" charset="0"/>
              </a:rPr>
              <a:t>类</a:t>
            </a:r>
            <a:r>
              <a:rPr lang="en-US" altLang="zh-CN" sz="2000" b="1" dirty="0">
                <a:solidFill>
                  <a:srgbClr val="000000"/>
                </a:solidFill>
                <a:latin typeface="Times New Roman" panose="02020603050405020304" pitchFamily="18" charset="0"/>
              </a:rPr>
              <a:t>(A=1, M=1): </a:t>
            </a:r>
            <a:r>
              <a:rPr lang="zh-CN" altLang="en-US" sz="2000" b="1" dirty="0">
                <a:solidFill>
                  <a:srgbClr val="000000"/>
                </a:solidFill>
                <a:latin typeface="Times New Roman" panose="02020603050405020304" pitchFamily="18" charset="0"/>
              </a:rPr>
              <a:t>最近已被访问且被修改，该页可能再被访问。 </a:t>
            </a:r>
            <a:endParaRPr lang="zh-CN" altLang="en-US" sz="2000" b="1" dirty="0">
              <a:solidFill>
                <a:srgbClr val="000000"/>
              </a:solidFill>
              <a:latin typeface="Times New Roman" panose="02020603050405020304" pitchFamily="18" charset="0"/>
            </a:endParaRPr>
          </a:p>
        </p:txBody>
      </p:sp>
    </p:spTree>
  </p:cSld>
  <p:clrMapOvr>
    <a:masterClrMapping/>
  </p:clrMapOvr>
  <p:transition>
    <p:blinds/>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Text Box 2"/>
          <p:cNvSpPr txBox="1"/>
          <p:nvPr/>
        </p:nvSpPr>
        <p:spPr>
          <a:xfrm>
            <a:off x="468313" y="476250"/>
            <a:ext cx="8229600" cy="5703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just" eaLnBrk="1" hangingPunct="1">
              <a:lnSpc>
                <a:spcPct val="130000"/>
              </a:lnSpc>
              <a:spcBef>
                <a:spcPct val="50000"/>
              </a:spcBef>
              <a:buClrTx/>
              <a:buSzTx/>
              <a:buFontTx/>
              <a:buNone/>
            </a:pPr>
            <a:r>
              <a:rPr lang="en-US" altLang="zh-CN" sz="2400" dirty="0">
                <a:latin typeface="Times New Roman" panose="02020603050405020304" pitchFamily="18" charset="0"/>
              </a:rPr>
              <a:t>    </a:t>
            </a:r>
            <a:r>
              <a:rPr lang="zh-CN" altLang="en-US" sz="2000" b="1" dirty="0">
                <a:latin typeface="Times New Roman" panose="02020603050405020304" pitchFamily="18" charset="0"/>
              </a:rPr>
              <a:t>其执行过程可分成以下四步（和教材中的三步思路一样）：</a:t>
            </a:r>
            <a:endParaRPr lang="zh-CN" altLang="en-US" sz="2000" b="1" dirty="0">
              <a:latin typeface="Times New Roman" panose="02020603050405020304" pitchFamily="18" charset="0"/>
            </a:endParaRPr>
          </a:p>
          <a:p>
            <a:pPr marL="0" lvl="0" indent="0" algn="just" eaLnBrk="1" hangingPunct="1">
              <a:lnSpc>
                <a:spcPct val="130000"/>
              </a:lnSpc>
              <a:spcBef>
                <a:spcPct val="50000"/>
              </a:spcBef>
              <a:buClrTx/>
              <a:buSzTx/>
              <a:buFontTx/>
              <a:buNone/>
            </a:pPr>
            <a:r>
              <a:rPr lang="zh-CN" altLang="en-US" sz="2000" b="1" dirty="0">
                <a:latin typeface="Times New Roman" panose="02020603050405020304" pitchFamily="18" charset="0"/>
              </a:rPr>
              <a:t>       </a:t>
            </a:r>
            <a:r>
              <a:rPr lang="en-US" altLang="zh-CN" sz="2000" b="1" dirty="0">
                <a:latin typeface="Times New Roman" panose="02020603050405020304" pitchFamily="18" charset="0"/>
              </a:rPr>
              <a:t>(1) </a:t>
            </a:r>
            <a:r>
              <a:rPr lang="zh-CN" altLang="en-US" sz="2000" b="1" dirty="0">
                <a:latin typeface="Times New Roman" panose="02020603050405020304" pitchFamily="18" charset="0"/>
              </a:rPr>
              <a:t>从指针所指示的</a:t>
            </a:r>
            <a:r>
              <a:rPr lang="zh-CN" altLang="en-US" sz="2000" b="1" dirty="0">
                <a:solidFill>
                  <a:schemeClr val="hlink"/>
                </a:solidFill>
                <a:latin typeface="Times New Roman" panose="02020603050405020304" pitchFamily="18" charset="0"/>
              </a:rPr>
              <a:t>当前位置</a:t>
            </a:r>
            <a:r>
              <a:rPr lang="zh-CN" altLang="en-US" sz="2000" b="1" dirty="0">
                <a:latin typeface="Times New Roman" panose="02020603050405020304" pitchFamily="18" charset="0"/>
              </a:rPr>
              <a:t>开始， 扫描循环队列， 寻找</a:t>
            </a:r>
            <a:r>
              <a:rPr lang="en-US" altLang="zh-CN" sz="2000" b="1" dirty="0">
                <a:latin typeface="Times New Roman" panose="02020603050405020304" pitchFamily="18" charset="0"/>
              </a:rPr>
              <a:t>A=0</a:t>
            </a:r>
            <a:r>
              <a:rPr lang="zh-CN" altLang="en-US" sz="2000" b="1" dirty="0">
                <a:latin typeface="Times New Roman" panose="02020603050405020304" pitchFamily="18" charset="0"/>
              </a:rPr>
              <a:t>且</a:t>
            </a:r>
            <a:r>
              <a:rPr lang="en-US" altLang="zh-CN" sz="2000" b="1" dirty="0">
                <a:latin typeface="Times New Roman" panose="02020603050405020304" pitchFamily="18" charset="0"/>
              </a:rPr>
              <a:t>M=0</a:t>
            </a:r>
            <a:r>
              <a:rPr lang="zh-CN" altLang="en-US" sz="2000" b="1" dirty="0">
                <a:latin typeface="Times New Roman" panose="02020603050405020304" pitchFamily="18" charset="0"/>
              </a:rPr>
              <a:t>的第一类页面， 将所遇到的第一个页面作为所选中的淘汰页。 在第一次扫描期间不改变访问位</a:t>
            </a:r>
            <a:r>
              <a:rPr lang="en-US" altLang="zh-CN" sz="2000" b="1" dirty="0">
                <a:latin typeface="Times New Roman" panose="02020603050405020304" pitchFamily="18" charset="0"/>
              </a:rPr>
              <a:t>A</a:t>
            </a:r>
            <a:r>
              <a:rPr lang="zh-CN" altLang="en-US" sz="2000" b="1" dirty="0">
                <a:latin typeface="Times New Roman" panose="02020603050405020304" pitchFamily="18" charset="0"/>
              </a:rPr>
              <a:t>（</a:t>
            </a:r>
            <a:r>
              <a:rPr lang="zh-CN" altLang="en-US" sz="2000" b="1" dirty="0">
                <a:solidFill>
                  <a:srgbClr val="CC3300"/>
                </a:solidFill>
                <a:latin typeface="Times New Roman" panose="02020603050405020304" pitchFamily="18" charset="0"/>
              </a:rPr>
              <a:t>改变访问位会对第</a:t>
            </a:r>
            <a:r>
              <a:rPr lang="en-US" altLang="zh-CN" sz="2000" b="1" dirty="0">
                <a:solidFill>
                  <a:srgbClr val="CC3300"/>
                </a:solidFill>
                <a:latin typeface="Times New Roman" panose="02020603050405020304" pitchFamily="18" charset="0"/>
              </a:rPr>
              <a:t>2</a:t>
            </a:r>
            <a:r>
              <a:rPr lang="zh-CN" altLang="en-US" sz="2000" b="1" dirty="0">
                <a:solidFill>
                  <a:srgbClr val="CC3300"/>
                </a:solidFill>
                <a:latin typeface="Times New Roman" panose="02020603050405020304" pitchFamily="18" charset="0"/>
              </a:rPr>
              <a:t>步产生影响</a:t>
            </a:r>
            <a:r>
              <a:rPr lang="zh-CN" altLang="en-US" sz="2000" b="1" dirty="0">
                <a:latin typeface="Times New Roman" panose="02020603050405020304" pitchFamily="18" charset="0"/>
              </a:rPr>
              <a:t>）。</a:t>
            </a:r>
            <a:endParaRPr lang="zh-CN" altLang="en-US" sz="2000" b="1" dirty="0">
              <a:latin typeface="Times New Roman" panose="02020603050405020304" pitchFamily="18" charset="0"/>
            </a:endParaRPr>
          </a:p>
          <a:p>
            <a:pPr marL="0" lvl="0" indent="0" algn="just" eaLnBrk="1" hangingPunct="1">
              <a:lnSpc>
                <a:spcPct val="130000"/>
              </a:lnSpc>
              <a:spcBef>
                <a:spcPct val="50000"/>
              </a:spcBef>
              <a:buClrTx/>
              <a:buSzTx/>
              <a:buFontTx/>
              <a:buNone/>
            </a:pPr>
            <a:r>
              <a:rPr lang="zh-CN" altLang="en-US" sz="2000" b="1" dirty="0">
                <a:latin typeface="Times New Roman" panose="02020603050405020304" pitchFamily="18" charset="0"/>
              </a:rPr>
              <a:t>       </a:t>
            </a:r>
            <a:r>
              <a:rPr lang="en-US" altLang="zh-CN" sz="2000" b="1" dirty="0">
                <a:latin typeface="Times New Roman" panose="02020603050405020304" pitchFamily="18" charset="0"/>
              </a:rPr>
              <a:t>(2) </a:t>
            </a:r>
            <a:r>
              <a:rPr lang="zh-CN" altLang="en-US" sz="2000" b="1" dirty="0">
                <a:latin typeface="Times New Roman" panose="02020603050405020304" pitchFamily="18" charset="0"/>
              </a:rPr>
              <a:t>如果第一步失败，即查找一周后未遇到第一类页面， 则开始第二轮扫描，寻找</a:t>
            </a:r>
            <a:r>
              <a:rPr lang="en-US" altLang="zh-CN" sz="2000" b="1" dirty="0">
                <a:latin typeface="Times New Roman" panose="02020603050405020304" pitchFamily="18" charset="0"/>
              </a:rPr>
              <a:t>A=0</a:t>
            </a:r>
            <a:r>
              <a:rPr lang="zh-CN" altLang="en-US" sz="2000" b="1" dirty="0">
                <a:latin typeface="Times New Roman" panose="02020603050405020304" pitchFamily="18" charset="0"/>
              </a:rPr>
              <a:t>且</a:t>
            </a:r>
            <a:r>
              <a:rPr lang="en-US" altLang="zh-CN" sz="2000" b="1" dirty="0">
                <a:latin typeface="Times New Roman" panose="02020603050405020304" pitchFamily="18" charset="0"/>
              </a:rPr>
              <a:t>M=1</a:t>
            </a:r>
            <a:r>
              <a:rPr lang="zh-CN" altLang="en-US" sz="2000" b="1" dirty="0">
                <a:latin typeface="Times New Roman" panose="02020603050405020304" pitchFamily="18" charset="0"/>
              </a:rPr>
              <a:t>的第二类页面，将所遇到的第一个这类页面作为淘汰页。在第二轮扫描期间，将所有扫描过的页面的访问位都</a:t>
            </a:r>
            <a:r>
              <a:rPr lang="zh-CN" altLang="en-US" sz="2000" b="1" dirty="0">
                <a:solidFill>
                  <a:srgbClr val="008000"/>
                </a:solidFill>
                <a:latin typeface="Times New Roman" panose="02020603050405020304" pitchFamily="18" charset="0"/>
              </a:rPr>
              <a:t>置</a:t>
            </a:r>
            <a:r>
              <a:rPr lang="en-US" altLang="zh-CN" sz="2000" b="1" dirty="0">
                <a:solidFill>
                  <a:srgbClr val="008000"/>
                </a:solidFill>
                <a:latin typeface="Times New Roman" panose="02020603050405020304" pitchFamily="18" charset="0"/>
              </a:rPr>
              <a:t>0</a:t>
            </a:r>
            <a:r>
              <a:rPr lang="zh-CN" altLang="en-US" sz="2000" b="1" dirty="0">
                <a:latin typeface="Times New Roman" panose="02020603050405020304" pitchFamily="18" charset="0"/>
              </a:rPr>
              <a:t>。</a:t>
            </a:r>
            <a:endParaRPr lang="zh-CN" altLang="en-US" sz="2000" b="1" dirty="0">
              <a:latin typeface="Times New Roman" panose="02020603050405020304" pitchFamily="18" charset="0"/>
            </a:endParaRPr>
          </a:p>
          <a:p>
            <a:pPr marL="0" lvl="0" indent="0" algn="just" eaLnBrk="1" hangingPunct="1">
              <a:lnSpc>
                <a:spcPct val="130000"/>
              </a:lnSpc>
              <a:spcBef>
                <a:spcPct val="50000"/>
              </a:spcBef>
              <a:buClrTx/>
              <a:buSzTx/>
              <a:buFontTx/>
              <a:buNone/>
            </a:pPr>
            <a:r>
              <a:rPr lang="zh-CN" altLang="en-US" sz="2000" b="1" dirty="0">
                <a:latin typeface="Times New Roman" panose="02020603050405020304" pitchFamily="18" charset="0"/>
              </a:rPr>
              <a:t>      </a:t>
            </a:r>
            <a:r>
              <a:rPr lang="en-US" altLang="zh-CN" sz="2000" b="1" dirty="0">
                <a:latin typeface="Times New Roman" panose="02020603050405020304" pitchFamily="18" charset="0"/>
              </a:rPr>
              <a:t>(3) </a:t>
            </a:r>
            <a:r>
              <a:rPr lang="zh-CN" altLang="en-US" sz="2000" b="1" dirty="0"/>
              <a:t>第三遍找</a:t>
            </a:r>
            <a:r>
              <a:rPr lang="en-US" altLang="zh-CN" sz="2000" b="1" dirty="0"/>
              <a:t>A=0,M=0</a:t>
            </a:r>
            <a:r>
              <a:rPr lang="zh-CN" altLang="en-US" sz="2000" b="1" dirty="0"/>
              <a:t>的页面</a:t>
            </a:r>
            <a:r>
              <a:rPr lang="en-US" altLang="zh-CN" sz="2000" b="1" dirty="0"/>
              <a:t>,</a:t>
            </a:r>
            <a:r>
              <a:rPr lang="zh-CN" altLang="en-US" sz="2000" b="1" dirty="0"/>
              <a:t>有则淘汰（</a:t>
            </a:r>
            <a:r>
              <a:rPr lang="zh-CN" altLang="en-US" sz="2000" b="1" dirty="0">
                <a:solidFill>
                  <a:srgbClr val="990000"/>
                </a:solidFill>
              </a:rPr>
              <a:t>其实这里的</a:t>
            </a:r>
            <a:r>
              <a:rPr lang="en-US" altLang="zh-CN" sz="2000" b="1" dirty="0">
                <a:solidFill>
                  <a:srgbClr val="990000"/>
                </a:solidFill>
              </a:rPr>
              <a:t>A=0,M=0</a:t>
            </a:r>
            <a:r>
              <a:rPr lang="zh-CN" altLang="en-US" sz="2000" b="1" dirty="0">
                <a:solidFill>
                  <a:srgbClr val="990000"/>
                </a:solidFill>
              </a:rPr>
              <a:t>的页面是由</a:t>
            </a:r>
            <a:r>
              <a:rPr lang="en-US" altLang="zh-CN" sz="2000" b="1" dirty="0">
                <a:solidFill>
                  <a:srgbClr val="990000"/>
                </a:solidFill>
              </a:rPr>
              <a:t>A=1,M=0</a:t>
            </a:r>
            <a:r>
              <a:rPr lang="zh-CN" altLang="en-US" sz="2000" b="1" dirty="0">
                <a:solidFill>
                  <a:srgbClr val="990000"/>
                </a:solidFill>
              </a:rPr>
              <a:t>的页面被第</a:t>
            </a:r>
            <a:r>
              <a:rPr lang="en-US" altLang="zh-CN" sz="2000" b="1" dirty="0">
                <a:solidFill>
                  <a:srgbClr val="990000"/>
                </a:solidFill>
              </a:rPr>
              <a:t>2</a:t>
            </a:r>
            <a:r>
              <a:rPr lang="zh-CN" altLang="en-US" sz="2000" b="1" dirty="0">
                <a:solidFill>
                  <a:srgbClr val="990000"/>
                </a:solidFill>
              </a:rPr>
              <a:t>步修改形成的</a:t>
            </a:r>
            <a:r>
              <a:rPr lang="zh-CN" altLang="en-US" sz="2000" b="1" dirty="0"/>
              <a:t>）。</a:t>
            </a:r>
            <a:endParaRPr lang="zh-CN" altLang="en-US" sz="2000" b="1" dirty="0"/>
          </a:p>
          <a:p>
            <a:pPr marL="0" lvl="0" indent="0" algn="just" eaLnBrk="1" hangingPunct="1">
              <a:lnSpc>
                <a:spcPct val="130000"/>
              </a:lnSpc>
              <a:spcBef>
                <a:spcPct val="50000"/>
              </a:spcBef>
              <a:buClrTx/>
              <a:buSzTx/>
              <a:buFontTx/>
              <a:buNone/>
            </a:pPr>
            <a:r>
              <a:rPr lang="zh-CN" altLang="en-US" sz="2000" b="1" dirty="0"/>
              <a:t>      </a:t>
            </a:r>
            <a:r>
              <a:rPr lang="en-US" altLang="zh-CN" sz="2000" b="1" dirty="0"/>
              <a:t>(4)</a:t>
            </a:r>
            <a:r>
              <a:rPr lang="zh-CN" altLang="en-US" sz="2000" b="1" dirty="0"/>
              <a:t>第四遍找</a:t>
            </a:r>
            <a:r>
              <a:rPr lang="en-US" altLang="zh-CN" sz="2000" b="1" dirty="0"/>
              <a:t>A=0,M=1</a:t>
            </a:r>
            <a:r>
              <a:rPr lang="zh-CN" altLang="en-US" sz="2000" b="1" dirty="0"/>
              <a:t>的页面</a:t>
            </a:r>
            <a:r>
              <a:rPr lang="en-US" altLang="zh-CN" sz="2000" b="1" dirty="0"/>
              <a:t>,(</a:t>
            </a:r>
            <a:r>
              <a:rPr lang="zh-CN" altLang="en-US" sz="2000" b="1" dirty="0"/>
              <a:t>肯定会找到）。</a:t>
            </a:r>
            <a:r>
              <a:rPr lang="zh-CN" altLang="en-US" sz="2000" b="1" dirty="0">
                <a:solidFill>
                  <a:srgbClr val="990000"/>
                </a:solidFill>
              </a:rPr>
              <a:t>其实这里的</a:t>
            </a:r>
            <a:r>
              <a:rPr lang="en-US" altLang="zh-CN" sz="2000" b="1" dirty="0">
                <a:solidFill>
                  <a:srgbClr val="990000"/>
                </a:solidFill>
              </a:rPr>
              <a:t>A=0,M=1</a:t>
            </a:r>
            <a:r>
              <a:rPr lang="zh-CN" altLang="en-US" sz="2000" b="1" dirty="0">
                <a:solidFill>
                  <a:srgbClr val="990000"/>
                </a:solidFill>
              </a:rPr>
              <a:t>的页面是由</a:t>
            </a:r>
            <a:r>
              <a:rPr lang="en-US" altLang="zh-CN" sz="2000" b="1" dirty="0">
                <a:solidFill>
                  <a:srgbClr val="990000"/>
                </a:solidFill>
              </a:rPr>
              <a:t>A=1,M=1</a:t>
            </a:r>
            <a:r>
              <a:rPr lang="zh-CN" altLang="en-US" sz="2000" b="1" dirty="0">
                <a:solidFill>
                  <a:srgbClr val="990000"/>
                </a:solidFill>
              </a:rPr>
              <a:t>的页面被第</a:t>
            </a:r>
            <a:r>
              <a:rPr lang="en-US" altLang="zh-CN" sz="2000" b="1" dirty="0">
                <a:solidFill>
                  <a:srgbClr val="990000"/>
                </a:solidFill>
              </a:rPr>
              <a:t>2</a:t>
            </a:r>
            <a:r>
              <a:rPr lang="zh-CN" altLang="en-US" sz="2000" b="1" dirty="0">
                <a:solidFill>
                  <a:srgbClr val="990000"/>
                </a:solidFill>
              </a:rPr>
              <a:t>步修改形成的）</a:t>
            </a:r>
            <a:endParaRPr lang="zh-CN" altLang="en-US" sz="2000" b="1" dirty="0"/>
          </a:p>
          <a:p>
            <a:pPr marL="0" lvl="0" indent="0" algn="just" eaLnBrk="1" hangingPunct="1">
              <a:lnSpc>
                <a:spcPct val="130000"/>
              </a:lnSpc>
              <a:spcBef>
                <a:spcPct val="50000"/>
              </a:spcBef>
              <a:buClrTx/>
              <a:buSzTx/>
              <a:buFontTx/>
              <a:buNone/>
            </a:pPr>
            <a:endParaRPr lang="en-US" altLang="zh-CN" sz="2000" b="1" dirty="0">
              <a:latin typeface="Times New Roman" panose="02020603050405020304" pitchFamily="18" charset="0"/>
            </a:endParaRPr>
          </a:p>
        </p:txBody>
      </p:sp>
    </p:spTree>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4"/>
          <p:cNvSpPr txBox="1"/>
          <p:nvPr/>
        </p:nvSpPr>
        <p:spPr>
          <a:xfrm>
            <a:off x="914400" y="1066800"/>
            <a:ext cx="4918075"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latin typeface="Times New Roman" panose="02020603050405020304" pitchFamily="18" charset="0"/>
              </a:rPr>
              <a:t>5.3.4  </a:t>
            </a:r>
            <a:r>
              <a:rPr lang="zh-CN" altLang="en-US" sz="2800" b="1" dirty="0">
                <a:latin typeface="Times New Roman" panose="02020603050405020304" pitchFamily="18" charset="0"/>
              </a:rPr>
              <a:t>其它置换算法</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自学内容</a:t>
            </a:r>
            <a:r>
              <a:rPr lang="en-US" altLang="zh-CN" sz="2800" b="1" dirty="0">
                <a:latin typeface="Times New Roman" panose="02020603050405020304" pitchFamily="18" charset="0"/>
              </a:rPr>
              <a:t>) </a:t>
            </a:r>
            <a:endParaRPr lang="en-US" altLang="zh-CN" sz="2800" b="1" dirty="0">
              <a:latin typeface="Times New Roman" panose="02020603050405020304" pitchFamily="18" charset="0"/>
            </a:endParaRPr>
          </a:p>
        </p:txBody>
      </p:sp>
      <p:sp>
        <p:nvSpPr>
          <p:cNvPr id="57347" name="Text Box 5"/>
          <p:cNvSpPr txBox="1"/>
          <p:nvPr/>
        </p:nvSpPr>
        <p:spPr>
          <a:xfrm>
            <a:off x="914400" y="2438400"/>
            <a:ext cx="7234238" cy="15525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457200" lvl="0" indent="-457200" eaLnBrk="1" hangingPunct="1">
              <a:spcBef>
                <a:spcPct val="0"/>
              </a:spcBef>
              <a:buClrTx/>
              <a:buSzTx/>
              <a:buFontTx/>
              <a:buAutoNum type="arabicPeriod"/>
            </a:pPr>
            <a:r>
              <a:rPr lang="zh-CN" altLang="en-US" sz="2400" b="1" dirty="0">
                <a:solidFill>
                  <a:srgbClr val="000000"/>
                </a:solidFill>
                <a:latin typeface="Times New Roman" panose="02020603050405020304" pitchFamily="18" charset="0"/>
              </a:rPr>
              <a:t>最少使用</a:t>
            </a:r>
            <a:r>
              <a:rPr lang="en-US" altLang="zh-CN" sz="2400" b="1" dirty="0">
                <a:solidFill>
                  <a:srgbClr val="000000"/>
                </a:solidFill>
                <a:latin typeface="Times New Roman" panose="02020603050405020304" pitchFamily="18" charset="0"/>
              </a:rPr>
              <a:t>(LFU</a:t>
            </a:r>
            <a:r>
              <a:rPr lang="zh-CN" altLang="en-US" sz="2400" b="1" dirty="0">
                <a:solidFill>
                  <a:srgbClr val="000000"/>
                </a:solidFill>
                <a:latin typeface="Times New Roman" panose="02020603050405020304" pitchFamily="18" charset="0"/>
              </a:rPr>
              <a:t>： </a:t>
            </a:r>
            <a:r>
              <a:rPr lang="en-US" altLang="zh-CN" sz="2400" b="1" dirty="0">
                <a:solidFill>
                  <a:srgbClr val="000000"/>
                </a:solidFill>
                <a:latin typeface="Times New Roman" panose="02020603050405020304" pitchFamily="18" charset="0"/>
              </a:rPr>
              <a:t>Least Frequently Used)</a:t>
            </a:r>
            <a:r>
              <a:rPr lang="zh-CN" altLang="en-US" sz="2400" b="1" dirty="0">
                <a:solidFill>
                  <a:srgbClr val="000000"/>
                </a:solidFill>
                <a:latin typeface="Times New Roman" panose="02020603050405020304" pitchFamily="18" charset="0"/>
              </a:rPr>
              <a:t>置换算法</a:t>
            </a:r>
            <a:endParaRPr lang="zh-CN" altLang="en-US" sz="2400" b="1" dirty="0">
              <a:solidFill>
                <a:srgbClr val="000000"/>
              </a:solidFill>
              <a:latin typeface="Times New Roman" panose="02020603050405020304" pitchFamily="18" charset="0"/>
            </a:endParaRPr>
          </a:p>
          <a:p>
            <a:pPr marL="457200" lvl="0" indent="-457200" eaLnBrk="1" hangingPunct="1">
              <a:spcBef>
                <a:spcPct val="0"/>
              </a:spcBef>
              <a:buClrTx/>
              <a:buSzTx/>
              <a:buFontTx/>
              <a:buNone/>
            </a:pPr>
            <a:endParaRPr lang="zh-CN" altLang="en-US" sz="2400" b="1" dirty="0">
              <a:solidFill>
                <a:srgbClr val="000000"/>
              </a:solidFill>
              <a:latin typeface="Times New Roman" panose="02020603050405020304" pitchFamily="18" charset="0"/>
            </a:endParaRPr>
          </a:p>
          <a:p>
            <a:pPr marL="457200" lvl="0" indent="-457200" eaLnBrk="1" hangingPunct="1">
              <a:spcBef>
                <a:spcPct val="0"/>
              </a:spcBef>
              <a:buClrTx/>
              <a:buSzTx/>
              <a:buFontTx/>
              <a:buNone/>
            </a:pPr>
            <a:endParaRPr lang="zh-CN" altLang="en-US" sz="2400" b="1" dirty="0">
              <a:solidFill>
                <a:srgbClr val="000000"/>
              </a:solidFill>
              <a:latin typeface="Times New Roman" panose="02020603050405020304" pitchFamily="18" charset="0"/>
            </a:endParaRPr>
          </a:p>
          <a:p>
            <a:pPr marL="457200" lvl="0" indent="-457200" eaLnBrk="1" hangingPunct="1">
              <a:spcBef>
                <a:spcPct val="0"/>
              </a:spcBef>
              <a:buClrTx/>
              <a:buSzTx/>
              <a:buFontTx/>
              <a:buNone/>
            </a:pPr>
            <a:r>
              <a:rPr lang="en-US" altLang="zh-CN" sz="2400" b="1" dirty="0">
                <a:solidFill>
                  <a:srgbClr val="000000"/>
                </a:solidFill>
                <a:latin typeface="Times New Roman" panose="02020603050405020304" pitchFamily="18" charset="0"/>
              </a:rPr>
              <a:t>2. </a:t>
            </a:r>
            <a:r>
              <a:rPr lang="zh-CN" altLang="en-US" sz="2400" b="1" dirty="0">
                <a:solidFill>
                  <a:srgbClr val="000000"/>
                </a:solidFill>
                <a:latin typeface="Times New Roman" panose="02020603050405020304" pitchFamily="18" charset="0"/>
              </a:rPr>
              <a:t>页面缓冲算法</a:t>
            </a:r>
            <a:r>
              <a:rPr lang="en-US" altLang="zh-CN" sz="2400" b="1" dirty="0">
                <a:solidFill>
                  <a:srgbClr val="000000"/>
                </a:solidFill>
                <a:latin typeface="Times New Roman" panose="02020603050405020304" pitchFamily="18" charset="0"/>
              </a:rPr>
              <a:t>(PBA</a:t>
            </a:r>
            <a:r>
              <a:rPr lang="zh-CN" altLang="en-US" sz="2400" b="1" dirty="0">
                <a:solidFill>
                  <a:srgbClr val="000000"/>
                </a:solidFill>
                <a:latin typeface="Times New Roman" panose="02020603050405020304" pitchFamily="18" charset="0"/>
              </a:rPr>
              <a:t>： </a:t>
            </a:r>
            <a:r>
              <a:rPr lang="en-US" altLang="zh-CN" sz="2400" b="1" dirty="0">
                <a:solidFill>
                  <a:srgbClr val="000000"/>
                </a:solidFill>
                <a:latin typeface="Times New Roman" panose="02020603050405020304" pitchFamily="18" charset="0"/>
              </a:rPr>
              <a:t>Page Buffering Algorithm)</a:t>
            </a:r>
            <a:r>
              <a:rPr lang="en-US" altLang="zh-CN" sz="2400" b="1" dirty="0">
                <a:latin typeface="Times New Roman" panose="02020603050405020304" pitchFamily="18" charset="0"/>
              </a:rPr>
              <a:t> </a:t>
            </a:r>
            <a:endParaRPr lang="en-US" altLang="zh-CN" sz="2400" dirty="0">
              <a:latin typeface="Times New Roman" panose="02020603050405020304" pitchFamily="18" charset="0"/>
            </a:endParaRPr>
          </a:p>
        </p:txBody>
      </p:sp>
    </p:spTree>
  </p:cSld>
  <p:clrMapOvr>
    <a:masterClrMapping/>
  </p:clrMapOvr>
  <p:transition>
    <p:blinds/>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Grp="1" noRot="1"/>
          </p:cNvSpPr>
          <p:nvPr>
            <p:ph type="body" sz="half" idx="1"/>
          </p:nvPr>
        </p:nvSpPr>
        <p:spPr>
          <a:xfrm>
            <a:off x="381000" y="381000"/>
            <a:ext cx="8153400" cy="1524000"/>
          </a:xfrm>
        </p:spPr>
        <p:txBody>
          <a:bodyPr vert="horz" wrap="square" lIns="91440" tIns="45720" rIns="91440" bIns="45720" anchor="t" anchorCtr="0"/>
          <a:lstStyle/>
          <a:p>
            <a:pPr eaLnBrk="1" hangingPunct="1">
              <a:lnSpc>
                <a:spcPct val="125000"/>
              </a:lnSpc>
              <a:buClr>
                <a:schemeClr val="hlink"/>
              </a:buClr>
              <a:buSzPct val="70000"/>
              <a:buFont typeface="Wingdings" panose="05000000000000000000" pitchFamily="2" charset="2"/>
              <a:buNone/>
            </a:pPr>
            <a:r>
              <a:rPr lang="zh-CN" altLang="en-US" sz="2000" b="1" dirty="0"/>
              <a:t>（</a:t>
            </a:r>
            <a:r>
              <a:rPr lang="en-US" altLang="zh-CN" sz="2000" b="1" dirty="0"/>
              <a:t>10</a:t>
            </a:r>
            <a:r>
              <a:rPr lang="zh-CN" altLang="en-US" sz="2000" b="1" dirty="0"/>
              <a:t>年）</a:t>
            </a:r>
            <a:r>
              <a:rPr lang="zh-CN" altLang="en-US" sz="2000" b="1" dirty="0">
                <a:solidFill>
                  <a:srgbClr val="000000"/>
                </a:solidFill>
              </a:rPr>
              <a:t>设某计算机的逻辑地址空间和物理地址空间均为</a:t>
            </a:r>
            <a:r>
              <a:rPr lang="en-US" altLang="zh-CN" sz="2000" b="1" dirty="0">
                <a:solidFill>
                  <a:srgbClr val="000000"/>
                </a:solidFill>
              </a:rPr>
              <a:t>64 KB</a:t>
            </a:r>
            <a:r>
              <a:rPr lang="zh-CN" altLang="en-US" sz="2000" b="1" dirty="0">
                <a:solidFill>
                  <a:srgbClr val="000000"/>
                </a:solidFill>
              </a:rPr>
              <a:t>，按字节编址。若某进程最多需要</a:t>
            </a:r>
            <a:r>
              <a:rPr lang="en-US" altLang="zh-CN" sz="2000" b="1" dirty="0">
                <a:solidFill>
                  <a:srgbClr val="000000"/>
                </a:solidFill>
              </a:rPr>
              <a:t>6</a:t>
            </a:r>
            <a:r>
              <a:rPr lang="zh-CN" altLang="en-US" sz="2000" b="1" dirty="0">
                <a:solidFill>
                  <a:srgbClr val="000000"/>
                </a:solidFill>
              </a:rPr>
              <a:t>页（</a:t>
            </a:r>
            <a:r>
              <a:rPr lang="en-US" altLang="zh-CN" sz="2000" b="1" dirty="0">
                <a:solidFill>
                  <a:srgbClr val="000000"/>
                </a:solidFill>
              </a:rPr>
              <a:t>Page</a:t>
            </a:r>
            <a:r>
              <a:rPr lang="zh-CN" altLang="en-US" sz="2000" b="1" dirty="0">
                <a:solidFill>
                  <a:srgbClr val="000000"/>
                </a:solidFill>
              </a:rPr>
              <a:t>）数据存储空间，页的大小为</a:t>
            </a:r>
            <a:r>
              <a:rPr lang="en-US" altLang="zh-CN" sz="2000" b="1" dirty="0">
                <a:solidFill>
                  <a:srgbClr val="000000"/>
                </a:solidFill>
              </a:rPr>
              <a:t>1 KB</a:t>
            </a:r>
            <a:r>
              <a:rPr lang="zh-CN" altLang="en-US" sz="2000" b="1" dirty="0">
                <a:solidFill>
                  <a:srgbClr val="000000"/>
                </a:solidFill>
              </a:rPr>
              <a:t>，操作系统采用固定分配局部置换策略为此进程分配</a:t>
            </a:r>
            <a:r>
              <a:rPr lang="en-US" altLang="zh-CN" sz="2000" b="1" dirty="0">
                <a:solidFill>
                  <a:srgbClr val="000000"/>
                </a:solidFill>
              </a:rPr>
              <a:t>4</a:t>
            </a:r>
            <a:r>
              <a:rPr lang="zh-CN" altLang="en-US" sz="2000" b="1" dirty="0">
                <a:solidFill>
                  <a:srgbClr val="000000"/>
                </a:solidFill>
              </a:rPr>
              <a:t>个页框（</a:t>
            </a:r>
            <a:r>
              <a:rPr lang="en-US" altLang="zh-CN" sz="2000" b="1" dirty="0">
                <a:solidFill>
                  <a:srgbClr val="000000"/>
                </a:solidFill>
              </a:rPr>
              <a:t>Page Frame</a:t>
            </a:r>
            <a:r>
              <a:rPr lang="zh-CN" altLang="en-US" sz="2000" b="1" dirty="0">
                <a:solidFill>
                  <a:srgbClr val="000000"/>
                </a:solidFill>
              </a:rPr>
              <a:t>）。在时刻</a:t>
            </a:r>
            <a:r>
              <a:rPr lang="en-US" altLang="zh-CN" sz="2000" b="1" dirty="0">
                <a:solidFill>
                  <a:srgbClr val="000000"/>
                </a:solidFill>
              </a:rPr>
              <a:t>260</a:t>
            </a:r>
            <a:r>
              <a:rPr lang="zh-CN" altLang="en-US" sz="2000" b="1" dirty="0">
                <a:solidFill>
                  <a:srgbClr val="000000"/>
                </a:solidFill>
              </a:rPr>
              <a:t>前</a:t>
            </a:r>
            <a:r>
              <a:rPr lang="en-US" altLang="zh-CN" sz="2000" b="1" dirty="0">
                <a:solidFill>
                  <a:srgbClr val="000000"/>
                </a:solidFill>
              </a:rPr>
              <a:t>,</a:t>
            </a:r>
            <a:r>
              <a:rPr lang="zh-CN" altLang="en-US" sz="2000" b="1" dirty="0">
                <a:solidFill>
                  <a:srgbClr val="000000"/>
                </a:solidFill>
              </a:rPr>
              <a:t>该进程访问情况如下表所示（访问位即使用位）。</a:t>
            </a:r>
            <a:endParaRPr lang="zh-CN" altLang="en-US" sz="2000" b="1" dirty="0">
              <a:solidFill>
                <a:srgbClr val="000000"/>
              </a:solidFill>
            </a:endParaRPr>
          </a:p>
        </p:txBody>
      </p:sp>
      <p:graphicFrame>
        <p:nvGraphicFramePr>
          <p:cNvPr id="110733" name="Group 141"/>
          <p:cNvGraphicFramePr>
            <a:graphicFrameLocks noGrp="1"/>
          </p:cNvGraphicFramePr>
          <p:nvPr>
            <p:ph sz="half" idx="1"/>
          </p:nvPr>
        </p:nvGraphicFramePr>
        <p:xfrm>
          <a:off x="2514600" y="2590800"/>
          <a:ext cx="4724400" cy="1860550"/>
        </p:xfrm>
        <a:graphic>
          <a:graphicData uri="http://schemas.openxmlformats.org/drawingml/2006/table">
            <a:tbl>
              <a:tblPr/>
              <a:tblGrid>
                <a:gridCol w="877888"/>
                <a:gridCol w="1103312"/>
                <a:gridCol w="1566863"/>
                <a:gridCol w="1176337"/>
              </a:tblGrid>
              <a:tr h="36588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页号</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页框号</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装入时刻</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访问位</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701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88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230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88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88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160</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58403" name="Rectangle 136"/>
          <p:cNvSpPr/>
          <p:nvPr/>
        </p:nvSpPr>
        <p:spPr>
          <a:xfrm>
            <a:off x="381000" y="4572000"/>
            <a:ext cx="8458200" cy="16160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000000"/>
                </a:solidFill>
              </a:rPr>
              <a:t>当该进程执行到时刻</a:t>
            </a:r>
            <a:r>
              <a:rPr lang="en-US" altLang="zh-CN" sz="2000" b="1" dirty="0">
                <a:solidFill>
                  <a:srgbClr val="000000"/>
                </a:solidFill>
              </a:rPr>
              <a:t>260</a:t>
            </a:r>
            <a:r>
              <a:rPr lang="zh-CN" altLang="en-US" sz="2000" b="1" dirty="0">
                <a:solidFill>
                  <a:srgbClr val="000000"/>
                </a:solidFill>
              </a:rPr>
              <a:t>时，要访问逻辑地址为</a:t>
            </a:r>
            <a:r>
              <a:rPr lang="en-US" altLang="zh-CN" sz="2000" b="1" dirty="0">
                <a:solidFill>
                  <a:srgbClr val="000000"/>
                </a:solidFill>
              </a:rPr>
              <a:t>17CAH</a:t>
            </a:r>
            <a:r>
              <a:rPr lang="zh-CN" altLang="en-US" sz="2000" b="1" dirty="0">
                <a:solidFill>
                  <a:srgbClr val="000000"/>
                </a:solidFill>
              </a:rPr>
              <a:t>的数据。请回答下列问题：</a:t>
            </a:r>
            <a:endParaRPr lang="zh-CN" altLang="en-US" sz="2000" b="1" dirty="0">
              <a:solidFill>
                <a:srgbClr val="000000"/>
              </a:solidFill>
            </a:endParaRPr>
          </a:p>
          <a:p>
            <a:pPr marL="0" lvl="0" indent="0" eaLnBrk="1" hangingPunct="1">
              <a:spcBef>
                <a:spcPct val="0"/>
              </a:spcBef>
              <a:buClrTx/>
              <a:buSzTx/>
              <a:buFontTx/>
              <a:buNone/>
            </a:pPr>
            <a:r>
              <a:rPr lang="zh-CN" altLang="en-US" sz="2000" b="1" dirty="0">
                <a:solidFill>
                  <a:srgbClr val="000000"/>
                </a:solidFill>
              </a:rPr>
              <a:t>（</a:t>
            </a:r>
            <a:r>
              <a:rPr lang="en-US" altLang="zh-CN" sz="2000" b="1" dirty="0">
                <a:solidFill>
                  <a:srgbClr val="000000"/>
                </a:solidFill>
              </a:rPr>
              <a:t>1</a:t>
            </a:r>
            <a:r>
              <a:rPr lang="zh-CN" altLang="en-US" sz="2000" b="1" dirty="0">
                <a:solidFill>
                  <a:srgbClr val="000000"/>
                </a:solidFill>
              </a:rPr>
              <a:t>）该逻辑地址对应的页号是多少？ </a:t>
            </a:r>
            <a:endParaRPr lang="zh-CN" altLang="en-US" sz="2000" b="1" dirty="0">
              <a:solidFill>
                <a:srgbClr val="000000"/>
              </a:solidFill>
            </a:endParaRPr>
          </a:p>
          <a:p>
            <a:pPr marL="0" lvl="0" indent="0" eaLnBrk="1" hangingPunct="1">
              <a:spcBef>
                <a:spcPct val="0"/>
              </a:spcBef>
              <a:buClrTx/>
              <a:buSzTx/>
              <a:buFontTx/>
              <a:buNone/>
            </a:pPr>
            <a:r>
              <a:rPr lang="zh-CN" altLang="en-US" sz="2000" b="1" dirty="0">
                <a:solidFill>
                  <a:srgbClr val="000000"/>
                </a:solidFill>
              </a:rPr>
              <a:t>（</a:t>
            </a:r>
            <a:r>
              <a:rPr lang="en-US" altLang="zh-CN" sz="2000" b="1" dirty="0">
                <a:solidFill>
                  <a:srgbClr val="000000"/>
                </a:solidFill>
              </a:rPr>
              <a:t>2</a:t>
            </a:r>
            <a:r>
              <a:rPr lang="zh-CN" altLang="en-US" sz="2000" b="1" dirty="0">
                <a:solidFill>
                  <a:srgbClr val="000000"/>
                </a:solidFill>
              </a:rPr>
              <a:t>）若采用先进先出（</a:t>
            </a:r>
            <a:r>
              <a:rPr lang="en-US" altLang="zh-CN" sz="2000" b="1" dirty="0">
                <a:solidFill>
                  <a:srgbClr val="000000"/>
                </a:solidFill>
              </a:rPr>
              <a:t>FIFO</a:t>
            </a:r>
            <a:r>
              <a:rPr lang="zh-CN" altLang="en-US" sz="2000" b="1" dirty="0">
                <a:solidFill>
                  <a:srgbClr val="000000"/>
                </a:solidFill>
              </a:rPr>
              <a:t>）置换算法，该逻辑地址对应的物理地址是多少？要求给出计算过程。</a:t>
            </a:r>
            <a:endParaRPr lang="zh-CN" altLang="en-US" sz="2000" b="1" dirty="0">
              <a:solidFill>
                <a:srgbClr val="000000"/>
              </a:solidFill>
            </a:endParaRPr>
          </a:p>
        </p:txBody>
      </p:sp>
      <p:sp>
        <p:nvSpPr>
          <p:cNvPr id="5" name="圆角矩形标注 4"/>
          <p:cNvSpPr>
            <a:spLocks noChangeArrowheads="1"/>
          </p:cNvSpPr>
          <p:nvPr/>
        </p:nvSpPr>
        <p:spPr bwMode="auto">
          <a:xfrm>
            <a:off x="3368675" y="3429000"/>
            <a:ext cx="4860925" cy="1371600"/>
          </a:xfrm>
          <a:prstGeom prst="wedgeRoundRectCallout">
            <a:avLst>
              <a:gd name="adj1" fmla="val -45750"/>
              <a:gd name="adj2" fmla="val 82407"/>
              <a:gd name="adj3" fmla="val 16667"/>
            </a:avLst>
          </a:prstGeom>
          <a:solidFill>
            <a:schemeClr val="accent1"/>
          </a:solidFill>
          <a:ln w="25400" algn="ctr">
            <a:solidFill>
              <a:srgbClr val="95ADBC"/>
            </a:solidFill>
            <a:miter lim="800000"/>
          </a:ln>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a:t>
            </a:r>
            <a:r>
              <a:rPr kumimoji="0" lang="en-US" altLang="zh-CN" sz="2000" b="1" i="0" u="none" strike="noStrike" kern="1200" cap="none" spc="0" normalizeH="0" baseline="0" noProof="0" dirty="0">
                <a:ln>
                  <a:noFill/>
                </a:ln>
                <a:solidFill>
                  <a:srgbClr val="000000"/>
                </a:solidFill>
                <a:effectLst/>
                <a:uLnTx/>
                <a:uFillTx/>
                <a:latin typeface="+mn-lt"/>
                <a:ea typeface="+mn-ea"/>
                <a:cs typeface="+mn-cs"/>
              </a:rPr>
              <a:t>1</a:t>
            </a: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）因</a:t>
            </a:r>
            <a:r>
              <a:rPr kumimoji="0" lang="en-US" altLang="zh-CN" sz="2000" b="1" i="0" u="none" strike="noStrike" kern="1200" cap="none" spc="0" normalizeH="0" baseline="0" noProof="0" dirty="0">
                <a:ln>
                  <a:noFill/>
                </a:ln>
                <a:solidFill>
                  <a:srgbClr val="000000"/>
                </a:solidFill>
                <a:effectLst/>
                <a:uLnTx/>
                <a:uFillTx/>
                <a:latin typeface="+mn-lt"/>
                <a:ea typeface="+mn-ea"/>
                <a:cs typeface="+mn-cs"/>
              </a:rPr>
              <a:t>17CAH = </a:t>
            </a:r>
            <a:r>
              <a:rPr kumimoji="0" lang="en-US" altLang="zh-CN" sz="2000" b="1" i="0" u="none" strike="noStrike" kern="1200" cap="none" spc="0" normalizeH="0" baseline="0" noProof="0" dirty="0">
                <a:ln>
                  <a:noFill/>
                </a:ln>
                <a:solidFill>
                  <a:srgbClr val="FF0000"/>
                </a:solidFill>
                <a:effectLst/>
                <a:uLnTx/>
                <a:uFillTx/>
                <a:latin typeface="+mn-lt"/>
                <a:ea typeface="+mn-ea"/>
                <a:cs typeface="+mn-cs"/>
              </a:rPr>
              <a:t>0001 01</a:t>
            </a:r>
            <a:r>
              <a:rPr kumimoji="0" lang="en-US" altLang="zh-CN" sz="2000" b="1" i="0" u="none" strike="noStrike" kern="1200" cap="none" spc="0" normalizeH="0" baseline="0" noProof="0" dirty="0">
                <a:ln>
                  <a:noFill/>
                </a:ln>
                <a:solidFill>
                  <a:srgbClr val="000000"/>
                </a:solidFill>
                <a:effectLst/>
                <a:uLnTx/>
                <a:uFillTx/>
                <a:latin typeface="+mn-lt"/>
                <a:ea typeface="+mn-ea"/>
                <a:cs typeface="+mn-cs"/>
              </a:rPr>
              <a:t>11 1100 1010B</a:t>
            </a: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，表示页号的位为左边</a:t>
            </a:r>
            <a:r>
              <a:rPr kumimoji="0" lang="en-US" altLang="zh-CN" sz="2000" b="1" i="0" u="none" strike="noStrike" kern="1200" cap="none" spc="0" normalizeH="0" baseline="0" noProof="0" dirty="0">
                <a:ln>
                  <a:noFill/>
                </a:ln>
                <a:solidFill>
                  <a:srgbClr val="000000"/>
                </a:solidFill>
                <a:effectLst/>
                <a:uLnTx/>
                <a:uFillTx/>
                <a:latin typeface="+mn-lt"/>
                <a:ea typeface="+mn-ea"/>
                <a:cs typeface="+mn-cs"/>
              </a:rPr>
              <a:t>6</a:t>
            </a: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位，所以页号为</a:t>
            </a:r>
            <a:r>
              <a:rPr kumimoji="0" lang="en-US" altLang="zh-CN" sz="2000" b="1" i="0" u="none" strike="noStrike" kern="1200" cap="none" spc="0" normalizeH="0" baseline="0" noProof="0" dirty="0">
                <a:ln>
                  <a:noFill/>
                </a:ln>
                <a:solidFill>
                  <a:srgbClr val="000000"/>
                </a:solidFill>
                <a:effectLst/>
                <a:uLnTx/>
                <a:uFillTx/>
                <a:latin typeface="+mn-lt"/>
                <a:ea typeface="+mn-ea"/>
                <a:cs typeface="+mn-cs"/>
              </a:rPr>
              <a:t>5</a:t>
            </a: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lt1"/>
              </a:solidFill>
              <a:effectLst/>
              <a:uLnTx/>
              <a:uFillTx/>
              <a:latin typeface="+mn-lt"/>
              <a:ea typeface="+mn-ea"/>
              <a:cs typeface="+mn-cs"/>
            </a:endParaRPr>
          </a:p>
        </p:txBody>
      </p:sp>
      <p:sp>
        <p:nvSpPr>
          <p:cNvPr id="6" name="圆角矩形标注 5"/>
          <p:cNvSpPr/>
          <p:nvPr/>
        </p:nvSpPr>
        <p:spPr>
          <a:xfrm>
            <a:off x="3505200" y="3657600"/>
            <a:ext cx="5257800" cy="1676400"/>
          </a:xfrm>
          <a:prstGeom prst="wedgeRoundRectCallout">
            <a:avLst>
              <a:gd name="adj1" fmla="val -57540"/>
              <a:gd name="adj2" fmla="val 8148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a:t>
            </a:r>
            <a:r>
              <a:rPr kumimoji="0" lang="en-US" altLang="zh-CN" sz="2000" b="1" i="0" u="none" strike="noStrike" kern="1200" cap="none" spc="0" normalizeH="0" baseline="0" noProof="0" dirty="0">
                <a:ln>
                  <a:noFill/>
                </a:ln>
                <a:solidFill>
                  <a:srgbClr val="000000"/>
                </a:solidFill>
                <a:effectLst/>
                <a:uLnTx/>
                <a:uFillTx/>
                <a:latin typeface="+mn-lt"/>
                <a:ea typeface="+mn-ea"/>
                <a:cs typeface="+mn-cs"/>
              </a:rPr>
              <a:t>2</a:t>
            </a: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）根据</a:t>
            </a:r>
            <a:r>
              <a:rPr kumimoji="0" lang="en-US" altLang="zh-CN" sz="2000" b="1" i="0" u="none" strike="noStrike" kern="1200" cap="none" spc="0" normalizeH="0" baseline="0" noProof="0" dirty="0">
                <a:ln>
                  <a:noFill/>
                </a:ln>
                <a:solidFill>
                  <a:srgbClr val="000000"/>
                </a:solidFill>
                <a:effectLst/>
                <a:uLnTx/>
                <a:uFillTx/>
                <a:latin typeface="+mn-lt"/>
                <a:ea typeface="+mn-ea"/>
                <a:cs typeface="+mn-cs"/>
              </a:rPr>
              <a:t>FIFO</a:t>
            </a: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算法，需要替换装入时间最早的页，故需要置换装入时间最早的</a:t>
            </a:r>
            <a:r>
              <a:rPr kumimoji="0" lang="en-US" altLang="zh-CN" sz="2000" b="1" i="0" u="none" strike="noStrike" kern="1200" cap="none" spc="0" normalizeH="0" baseline="0" noProof="0" dirty="0">
                <a:ln>
                  <a:noFill/>
                </a:ln>
                <a:solidFill>
                  <a:srgbClr val="000000"/>
                </a:solidFill>
                <a:effectLst/>
                <a:uLnTx/>
                <a:uFillTx/>
                <a:latin typeface="+mn-lt"/>
                <a:ea typeface="+mn-ea"/>
                <a:cs typeface="+mn-cs"/>
              </a:rPr>
              <a:t>0</a:t>
            </a: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号页，即将</a:t>
            </a:r>
            <a:r>
              <a:rPr kumimoji="0" lang="en-US" altLang="zh-CN" sz="2000" b="1" i="0" u="none" strike="noStrike" kern="1200" cap="none" spc="0" normalizeH="0" baseline="0" noProof="0" dirty="0">
                <a:ln>
                  <a:noFill/>
                </a:ln>
                <a:solidFill>
                  <a:srgbClr val="000000"/>
                </a:solidFill>
                <a:effectLst/>
                <a:uLnTx/>
                <a:uFillTx/>
                <a:latin typeface="+mn-lt"/>
                <a:ea typeface="+mn-ea"/>
                <a:cs typeface="+mn-cs"/>
              </a:rPr>
              <a:t>5</a:t>
            </a: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号页装入</a:t>
            </a:r>
            <a:r>
              <a:rPr kumimoji="0" lang="en-US" altLang="zh-CN" sz="2000" b="1" i="0" u="none" strike="noStrike" kern="1200" cap="none" spc="0" normalizeH="0" baseline="0" noProof="0" dirty="0">
                <a:ln>
                  <a:noFill/>
                </a:ln>
                <a:solidFill>
                  <a:srgbClr val="000000"/>
                </a:solidFill>
                <a:effectLst/>
                <a:uLnTx/>
                <a:uFillTx/>
                <a:latin typeface="+mn-lt"/>
                <a:ea typeface="+mn-ea"/>
                <a:cs typeface="+mn-cs"/>
              </a:rPr>
              <a:t>7</a:t>
            </a: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号页框中，所以物理地址为</a:t>
            </a:r>
            <a:r>
              <a:rPr kumimoji="0" lang="en-US" altLang="zh-CN" sz="2000" b="1" i="0" u="none" strike="noStrike" kern="1200" cap="none" spc="0" normalizeH="0" baseline="0" noProof="0" dirty="0">
                <a:ln>
                  <a:noFill/>
                </a:ln>
                <a:solidFill>
                  <a:srgbClr val="FF0000"/>
                </a:solidFill>
                <a:effectLst/>
                <a:uLnTx/>
                <a:uFillTx/>
                <a:latin typeface="+mn-lt"/>
                <a:ea typeface="+mn-ea"/>
                <a:cs typeface="+mn-cs"/>
              </a:rPr>
              <a:t>0001 11</a:t>
            </a:r>
            <a:r>
              <a:rPr kumimoji="0" lang="en-US" altLang="zh-CN" sz="2000" b="1" i="0" u="none" strike="noStrike" kern="1200" cap="none" spc="0" normalizeH="0" baseline="0" noProof="0" dirty="0">
                <a:ln>
                  <a:noFill/>
                </a:ln>
                <a:solidFill>
                  <a:srgbClr val="000000"/>
                </a:solidFill>
                <a:effectLst/>
                <a:uLnTx/>
                <a:uFillTx/>
                <a:latin typeface="+mn-lt"/>
                <a:ea typeface="+mn-ea"/>
                <a:cs typeface="+mn-cs"/>
              </a:rPr>
              <a:t>11 1100 1010B</a:t>
            </a: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，换算成十六进制，为</a:t>
            </a:r>
            <a:r>
              <a:rPr kumimoji="0" lang="en-US" altLang="zh-CN" sz="2000" b="1" i="0" u="none" strike="noStrike" kern="1200" cap="none" spc="0" normalizeH="0" baseline="0" noProof="0" dirty="0">
                <a:ln>
                  <a:noFill/>
                </a:ln>
                <a:solidFill>
                  <a:srgbClr val="000000"/>
                </a:solidFill>
                <a:effectLst/>
                <a:uLnTx/>
                <a:uFillTx/>
                <a:latin typeface="+mn-lt"/>
                <a:ea typeface="+mn-ea"/>
                <a:cs typeface="+mn-cs"/>
              </a:rPr>
              <a:t>1FCAH</a:t>
            </a: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a:t>
            </a:r>
            <a:endParaRPr kumimoji="0" lang="zh-CN" altLang="en-US" sz="2000" b="1"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4"/>
          <p:cNvPicPr>
            <a:picLocks noChangeAspect="1"/>
          </p:cNvPicPr>
          <p:nvPr/>
        </p:nvPicPr>
        <p:blipFill>
          <a:blip r:embed="rId1"/>
          <a:stretch>
            <a:fillRect/>
          </a:stretch>
        </p:blipFill>
        <p:spPr>
          <a:xfrm>
            <a:off x="3048000" y="1879600"/>
            <a:ext cx="3657600" cy="2684463"/>
          </a:xfrm>
          <a:prstGeom prst="rect">
            <a:avLst/>
          </a:prstGeom>
          <a:noFill/>
          <a:ln w="9525">
            <a:noFill/>
          </a:ln>
        </p:spPr>
      </p:pic>
      <p:sp>
        <p:nvSpPr>
          <p:cNvPr id="59395" name="Rectangle 5"/>
          <p:cNvSpPr/>
          <p:nvPr/>
        </p:nvSpPr>
        <p:spPr>
          <a:xfrm>
            <a:off x="647700" y="728663"/>
            <a:ext cx="7391400" cy="15525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000000"/>
                </a:solidFill>
              </a:rPr>
              <a:t>（</a:t>
            </a:r>
            <a:r>
              <a:rPr lang="en-US" altLang="zh-CN" sz="2400" b="1" dirty="0">
                <a:solidFill>
                  <a:srgbClr val="000000"/>
                </a:solidFill>
              </a:rPr>
              <a:t>3</a:t>
            </a:r>
            <a:r>
              <a:rPr lang="zh-CN" altLang="en-US" sz="2400" b="1" dirty="0">
                <a:solidFill>
                  <a:srgbClr val="000000"/>
                </a:solidFill>
              </a:rPr>
              <a:t>）若采用时钟（</a:t>
            </a:r>
            <a:r>
              <a:rPr lang="en-US" altLang="zh-CN" sz="2400" b="1" dirty="0">
                <a:solidFill>
                  <a:srgbClr val="000000"/>
                </a:solidFill>
              </a:rPr>
              <a:t>CLOCK</a:t>
            </a:r>
            <a:r>
              <a:rPr lang="zh-CN" altLang="en-US" sz="2400" b="1" dirty="0">
                <a:solidFill>
                  <a:srgbClr val="000000"/>
                </a:solidFill>
              </a:rPr>
              <a:t>）置换算法，该逻辑地址对应的物理地址是多少？要求给出计算过程（设搜索下一页的指针沿顺时针方向移动，且当前指向</a:t>
            </a:r>
            <a:r>
              <a:rPr lang="en-US" altLang="zh-CN" sz="2400" b="1" dirty="0">
                <a:solidFill>
                  <a:srgbClr val="000000"/>
                </a:solidFill>
              </a:rPr>
              <a:t>2</a:t>
            </a:r>
            <a:r>
              <a:rPr lang="zh-CN" altLang="en-US" sz="2400" b="1" dirty="0">
                <a:solidFill>
                  <a:srgbClr val="000000"/>
                </a:solidFill>
              </a:rPr>
              <a:t>号页框，示意图如下）。</a:t>
            </a:r>
            <a:endParaRPr lang="zh-CN" altLang="en-US" sz="2400" b="1" dirty="0">
              <a:solidFill>
                <a:srgbClr val="000000"/>
              </a:solidFill>
            </a:endParaRPr>
          </a:p>
        </p:txBody>
      </p:sp>
      <p:graphicFrame>
        <p:nvGraphicFramePr>
          <p:cNvPr id="4" name="Group 141"/>
          <p:cNvGraphicFramePr/>
          <p:nvPr/>
        </p:nvGraphicFramePr>
        <p:xfrm>
          <a:off x="2514600" y="4797425"/>
          <a:ext cx="4724400" cy="1860550"/>
        </p:xfrm>
        <a:graphic>
          <a:graphicData uri="http://schemas.openxmlformats.org/drawingml/2006/table">
            <a:tbl>
              <a:tblPr/>
              <a:tblGrid>
                <a:gridCol w="877888"/>
                <a:gridCol w="1103312"/>
                <a:gridCol w="1566863"/>
                <a:gridCol w="1176337"/>
              </a:tblGrid>
              <a:tr h="36588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页号</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页框号</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装入时刻</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访问位</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701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88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230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88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88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160</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blinds/>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noRot="1"/>
          </p:cNvSpPr>
          <p:nvPr>
            <p:ph idx="1"/>
          </p:nvPr>
        </p:nvSpPr>
        <p:spPr>
          <a:xfrm>
            <a:off x="457200" y="533400"/>
            <a:ext cx="8382000" cy="5867400"/>
          </a:xfrm>
        </p:spPr>
        <p:txBody>
          <a:bodyPr vert="horz" wrap="square" lIns="91440" tIns="45720" rIns="91440" bIns="45720" anchor="t" anchorCtr="0"/>
          <a:lstStyle/>
          <a:p>
            <a:pPr eaLnBrk="1" hangingPunct="1">
              <a:buNone/>
            </a:pPr>
            <a:r>
              <a:rPr lang="zh-CN" altLang="en-US" sz="2000" b="1" dirty="0">
                <a:solidFill>
                  <a:srgbClr val="000000"/>
                </a:solidFill>
              </a:rPr>
              <a:t>解：</a:t>
            </a:r>
            <a:endParaRPr lang="zh-CN" altLang="en-US" sz="2000" b="1" dirty="0">
              <a:solidFill>
                <a:srgbClr val="000000"/>
              </a:solidFill>
            </a:endParaRPr>
          </a:p>
          <a:p>
            <a:pPr eaLnBrk="1" hangingPunct="1">
              <a:buNone/>
            </a:pPr>
            <a:r>
              <a:rPr lang="zh-CN" altLang="en-US" sz="2400" b="1" dirty="0">
                <a:solidFill>
                  <a:srgbClr val="000000"/>
                </a:solidFill>
              </a:rPr>
              <a:t>（</a:t>
            </a:r>
            <a:r>
              <a:rPr lang="en-US" altLang="zh-CN" sz="2400" b="1" dirty="0">
                <a:solidFill>
                  <a:srgbClr val="000000"/>
                </a:solidFill>
              </a:rPr>
              <a:t>3</a:t>
            </a:r>
            <a:r>
              <a:rPr lang="zh-CN" altLang="en-US" sz="2400" b="1" dirty="0">
                <a:solidFill>
                  <a:srgbClr val="000000"/>
                </a:solidFill>
              </a:rPr>
              <a:t>）根据</a:t>
            </a:r>
            <a:r>
              <a:rPr lang="en-US" altLang="zh-CN" sz="2400" b="1" dirty="0">
                <a:solidFill>
                  <a:srgbClr val="000000"/>
                </a:solidFill>
              </a:rPr>
              <a:t>CLOCK</a:t>
            </a:r>
            <a:r>
              <a:rPr lang="zh-CN" altLang="en-US" sz="2400" b="1" dirty="0">
                <a:solidFill>
                  <a:srgbClr val="000000"/>
                </a:solidFill>
              </a:rPr>
              <a:t>算法，如果当前指针所指页框的使用位为</a:t>
            </a:r>
            <a:r>
              <a:rPr lang="en-US" altLang="zh-CN" sz="2400" b="1" dirty="0">
                <a:solidFill>
                  <a:srgbClr val="000000"/>
                </a:solidFill>
              </a:rPr>
              <a:t>0</a:t>
            </a:r>
            <a:r>
              <a:rPr lang="zh-CN" altLang="en-US" sz="2400" b="1" dirty="0">
                <a:solidFill>
                  <a:srgbClr val="000000"/>
                </a:solidFill>
              </a:rPr>
              <a:t>，则替换该页；否则将使用位清零，并将指针指向下一个页框，继续查找。根据题设和示意图，将从</a:t>
            </a:r>
            <a:r>
              <a:rPr lang="en-US" altLang="zh-CN" sz="2400" b="1" dirty="0">
                <a:solidFill>
                  <a:srgbClr val="000000"/>
                </a:solidFill>
              </a:rPr>
              <a:t>2</a:t>
            </a:r>
            <a:r>
              <a:rPr lang="zh-CN" altLang="en-US" sz="2400" b="1" dirty="0">
                <a:solidFill>
                  <a:srgbClr val="000000"/>
                </a:solidFill>
              </a:rPr>
              <a:t>号页框开始，前</a:t>
            </a:r>
            <a:r>
              <a:rPr lang="en-US" altLang="zh-CN" sz="2400" b="1" dirty="0">
                <a:solidFill>
                  <a:srgbClr val="000000"/>
                </a:solidFill>
              </a:rPr>
              <a:t>4</a:t>
            </a:r>
            <a:r>
              <a:rPr lang="zh-CN" altLang="en-US" sz="2400" b="1" dirty="0">
                <a:solidFill>
                  <a:srgbClr val="000000"/>
                </a:solidFill>
              </a:rPr>
              <a:t>次查找页框号的顺序为</a:t>
            </a:r>
            <a:r>
              <a:rPr lang="en-US" altLang="zh-CN" sz="2400" b="1" dirty="0">
                <a:solidFill>
                  <a:srgbClr val="000000"/>
                </a:solidFill>
              </a:rPr>
              <a:t>2</a:t>
            </a:r>
            <a:r>
              <a:rPr lang="en-US" altLang="zh-CN" sz="2400" b="1" dirty="0">
                <a:solidFill>
                  <a:srgbClr val="000000"/>
                </a:solidFill>
                <a:sym typeface="Wingdings" panose="05000000000000000000" pitchFamily="2" charset="2"/>
              </a:rPr>
              <a:t></a:t>
            </a:r>
            <a:r>
              <a:rPr lang="en-US" altLang="zh-CN" sz="2400" b="1" dirty="0">
                <a:solidFill>
                  <a:srgbClr val="000000"/>
                </a:solidFill>
              </a:rPr>
              <a:t>4</a:t>
            </a:r>
            <a:r>
              <a:rPr lang="en-US" altLang="zh-CN" sz="2400" b="1" dirty="0">
                <a:solidFill>
                  <a:srgbClr val="000000"/>
                </a:solidFill>
                <a:sym typeface="Wingdings" panose="05000000000000000000" pitchFamily="2" charset="2"/>
              </a:rPr>
              <a:t></a:t>
            </a:r>
            <a:r>
              <a:rPr lang="en-US" altLang="zh-CN" sz="2400" b="1" dirty="0">
                <a:solidFill>
                  <a:srgbClr val="000000"/>
                </a:solidFill>
              </a:rPr>
              <a:t>7</a:t>
            </a:r>
            <a:r>
              <a:rPr lang="en-US" altLang="zh-CN" sz="2400" b="1" dirty="0">
                <a:solidFill>
                  <a:srgbClr val="000000"/>
                </a:solidFill>
                <a:sym typeface="Wingdings" panose="05000000000000000000" pitchFamily="2" charset="2"/>
              </a:rPr>
              <a:t></a:t>
            </a:r>
            <a:r>
              <a:rPr lang="en-US" altLang="zh-CN" sz="2400" b="1" dirty="0">
                <a:solidFill>
                  <a:srgbClr val="000000"/>
                </a:solidFill>
              </a:rPr>
              <a:t>9</a:t>
            </a:r>
            <a:r>
              <a:rPr lang="zh-CN" altLang="en-US" sz="2400" b="1" dirty="0">
                <a:solidFill>
                  <a:srgbClr val="000000"/>
                </a:solidFill>
              </a:rPr>
              <a:t>，并将对应页框的使用位清零。在第</a:t>
            </a:r>
            <a:r>
              <a:rPr lang="en-US" altLang="zh-CN" sz="2400" b="1" dirty="0">
                <a:solidFill>
                  <a:srgbClr val="000000"/>
                </a:solidFill>
              </a:rPr>
              <a:t>5</a:t>
            </a:r>
            <a:r>
              <a:rPr lang="zh-CN" altLang="en-US" sz="2400" b="1" dirty="0">
                <a:solidFill>
                  <a:srgbClr val="000000"/>
                </a:solidFill>
              </a:rPr>
              <a:t>次查找中，指针指向</a:t>
            </a:r>
            <a:r>
              <a:rPr lang="en-US" altLang="zh-CN" sz="2400" b="1" dirty="0">
                <a:solidFill>
                  <a:srgbClr val="000000"/>
                </a:solidFill>
              </a:rPr>
              <a:t>2</a:t>
            </a:r>
            <a:r>
              <a:rPr lang="zh-CN" altLang="en-US" sz="2400" b="1" dirty="0">
                <a:solidFill>
                  <a:srgbClr val="000000"/>
                </a:solidFill>
              </a:rPr>
              <a:t>号页框，因</a:t>
            </a:r>
            <a:r>
              <a:rPr lang="en-US" altLang="zh-CN" sz="2400" b="1" dirty="0">
                <a:solidFill>
                  <a:srgbClr val="000000"/>
                </a:solidFill>
              </a:rPr>
              <a:t>2</a:t>
            </a:r>
            <a:r>
              <a:rPr lang="zh-CN" altLang="en-US" sz="2400" b="1" dirty="0">
                <a:solidFill>
                  <a:srgbClr val="000000"/>
                </a:solidFill>
              </a:rPr>
              <a:t>号页框的使用位为</a:t>
            </a:r>
            <a:r>
              <a:rPr lang="en-US" altLang="zh-CN" sz="2400" b="1" dirty="0">
                <a:solidFill>
                  <a:srgbClr val="000000"/>
                </a:solidFill>
              </a:rPr>
              <a:t>0</a:t>
            </a:r>
            <a:r>
              <a:rPr lang="zh-CN" altLang="en-US" sz="2400" b="1" dirty="0">
                <a:solidFill>
                  <a:srgbClr val="000000"/>
                </a:solidFill>
              </a:rPr>
              <a:t>，故淘汰</a:t>
            </a:r>
            <a:r>
              <a:rPr lang="en-US" altLang="zh-CN" sz="2400" b="1" dirty="0">
                <a:solidFill>
                  <a:srgbClr val="000000"/>
                </a:solidFill>
              </a:rPr>
              <a:t>2</a:t>
            </a:r>
            <a:r>
              <a:rPr lang="zh-CN" altLang="en-US" sz="2400" b="1" dirty="0">
                <a:solidFill>
                  <a:srgbClr val="000000"/>
                </a:solidFill>
              </a:rPr>
              <a:t>号页框对应的</a:t>
            </a:r>
            <a:r>
              <a:rPr lang="en-US" altLang="zh-CN" sz="2400" b="1" dirty="0">
                <a:solidFill>
                  <a:srgbClr val="000000"/>
                </a:solidFill>
              </a:rPr>
              <a:t>2</a:t>
            </a:r>
            <a:r>
              <a:rPr lang="zh-CN" altLang="en-US" sz="2400" b="1" dirty="0">
                <a:solidFill>
                  <a:srgbClr val="000000"/>
                </a:solidFill>
              </a:rPr>
              <a:t>号页，把</a:t>
            </a:r>
            <a:r>
              <a:rPr lang="en-US" altLang="zh-CN" sz="2400" b="1" dirty="0">
                <a:solidFill>
                  <a:srgbClr val="000000"/>
                </a:solidFill>
              </a:rPr>
              <a:t>5</a:t>
            </a:r>
            <a:r>
              <a:rPr lang="zh-CN" altLang="en-US" sz="2400" b="1" dirty="0">
                <a:solidFill>
                  <a:srgbClr val="000000"/>
                </a:solidFill>
              </a:rPr>
              <a:t>号页装入</a:t>
            </a:r>
            <a:r>
              <a:rPr lang="en-US" altLang="zh-CN" sz="2400" b="1" dirty="0">
                <a:solidFill>
                  <a:srgbClr val="000000"/>
                </a:solidFill>
              </a:rPr>
              <a:t>2</a:t>
            </a:r>
            <a:r>
              <a:rPr lang="zh-CN" altLang="en-US" sz="2400" b="1" dirty="0">
                <a:solidFill>
                  <a:srgbClr val="000000"/>
                </a:solidFill>
              </a:rPr>
              <a:t>号页框中，并将对应使用位设置为</a:t>
            </a:r>
            <a:r>
              <a:rPr lang="en-US" altLang="zh-CN" sz="2400" b="1" dirty="0">
                <a:solidFill>
                  <a:srgbClr val="000000"/>
                </a:solidFill>
              </a:rPr>
              <a:t>1</a:t>
            </a:r>
            <a:r>
              <a:rPr lang="zh-CN" altLang="en-US" sz="2400" b="1" dirty="0">
                <a:solidFill>
                  <a:srgbClr val="000000"/>
                </a:solidFill>
              </a:rPr>
              <a:t>，所以对应的物理地址为</a:t>
            </a:r>
            <a:r>
              <a:rPr lang="en-US" altLang="zh-CN" sz="2400" b="1" dirty="0">
                <a:solidFill>
                  <a:srgbClr val="FF0000"/>
                </a:solidFill>
              </a:rPr>
              <a:t>0000 10</a:t>
            </a:r>
            <a:r>
              <a:rPr lang="en-US" altLang="zh-CN" sz="2400" b="1" dirty="0">
                <a:solidFill>
                  <a:srgbClr val="000000"/>
                </a:solidFill>
              </a:rPr>
              <a:t>11 1100 1010B</a:t>
            </a:r>
            <a:r>
              <a:rPr lang="zh-CN" altLang="en-US" sz="2400" b="1" dirty="0">
                <a:solidFill>
                  <a:srgbClr val="000000"/>
                </a:solidFill>
              </a:rPr>
              <a:t>，换算成十六进制，为</a:t>
            </a:r>
            <a:r>
              <a:rPr lang="en-US" altLang="zh-CN" sz="2400" b="1" dirty="0">
                <a:solidFill>
                  <a:srgbClr val="000000"/>
                </a:solidFill>
              </a:rPr>
              <a:t>0BCAH</a:t>
            </a:r>
            <a:r>
              <a:rPr lang="zh-CN" altLang="en-US" sz="2400" b="1" dirty="0">
                <a:solidFill>
                  <a:srgbClr val="000000"/>
                </a:solidFill>
              </a:rPr>
              <a:t>。</a:t>
            </a:r>
            <a:endParaRPr lang="zh-CN" altLang="en-US" sz="2400" b="1" dirty="0">
              <a:solidFill>
                <a:srgbClr val="000000"/>
              </a:solidFill>
            </a:endParaRPr>
          </a:p>
        </p:txBody>
      </p:sp>
    </p:spTree>
  </p:cSld>
  <p:clrMapOvr>
    <a:masterClrMapping/>
  </p:clrMapOvr>
  <p:transition>
    <p:blinds/>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42" name="组合 26"/>
          <p:cNvGrpSpPr/>
          <p:nvPr/>
        </p:nvGrpSpPr>
        <p:grpSpPr>
          <a:xfrm>
            <a:off x="-280987" y="325438"/>
            <a:ext cx="7086600" cy="6546850"/>
            <a:chOff x="2057400" y="311150"/>
            <a:chExt cx="7086600" cy="6546850"/>
          </a:xfrm>
        </p:grpSpPr>
        <p:graphicFrame>
          <p:nvGraphicFramePr>
            <p:cNvPr id="61447" name="Object 3"/>
            <p:cNvGraphicFramePr>
              <a:graphicFrameLocks noChangeAspect="1"/>
            </p:cNvGraphicFramePr>
            <p:nvPr/>
          </p:nvGraphicFramePr>
          <p:xfrm>
            <a:off x="2057400" y="311150"/>
            <a:ext cx="7086600" cy="6546850"/>
          </p:xfrm>
          <a:graphic>
            <a:graphicData uri="http://schemas.openxmlformats.org/presentationml/2006/ole">
              <mc:AlternateContent xmlns:mc="http://schemas.openxmlformats.org/markup-compatibility/2006">
                <mc:Choice xmlns:v="urn:schemas-microsoft-com:vml" Requires="v">
                  <p:oleObj spid="_x0000_s2" name="" r:id="rId1" imgW="4747260" imgH="4389120" progId="Visio.Drawing.4">
                    <p:embed/>
                  </p:oleObj>
                </mc:Choice>
                <mc:Fallback>
                  <p:oleObj name="" r:id="rId1" imgW="4747260" imgH="4389120" progId="Visio.Drawing.4">
                    <p:embed/>
                    <p:pic>
                      <p:nvPicPr>
                        <p:cNvPr id="0" name="图片 3087"/>
                        <p:cNvPicPr/>
                        <p:nvPr/>
                      </p:nvPicPr>
                      <p:blipFill>
                        <a:blip r:embed="rId2"/>
                        <a:stretch>
                          <a:fillRect/>
                        </a:stretch>
                      </p:blipFill>
                      <p:spPr>
                        <a:xfrm>
                          <a:off x="2057400" y="311150"/>
                          <a:ext cx="7086600" cy="6546850"/>
                        </a:xfrm>
                        <a:prstGeom prst="rect">
                          <a:avLst/>
                        </a:prstGeom>
                        <a:noFill/>
                        <a:ln w="38100">
                          <a:noFill/>
                          <a:miter/>
                        </a:ln>
                      </p:spPr>
                    </p:pic>
                  </p:oleObj>
                </mc:Fallback>
              </mc:AlternateContent>
            </a:graphicData>
          </a:graphic>
        </p:graphicFrame>
        <p:sp>
          <p:nvSpPr>
            <p:cNvPr id="61448" name="矩形 1"/>
            <p:cNvSpPr/>
            <p:nvPr/>
          </p:nvSpPr>
          <p:spPr>
            <a:xfrm>
              <a:off x="7020272" y="1376772"/>
              <a:ext cx="1368152" cy="108012"/>
            </a:xfrm>
            <a:prstGeom prst="rect">
              <a:avLst/>
            </a:prstGeom>
            <a:solidFill>
              <a:schemeClr val="bg1"/>
            </a:solid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61449" name="矩形 2"/>
            <p:cNvSpPr/>
            <p:nvPr/>
          </p:nvSpPr>
          <p:spPr>
            <a:xfrm flipH="1">
              <a:off x="8316416" y="1484784"/>
              <a:ext cx="282966" cy="2340260"/>
            </a:xfrm>
            <a:prstGeom prst="rect">
              <a:avLst/>
            </a:prstGeom>
            <a:solidFill>
              <a:schemeClr val="bg1"/>
            </a:solid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cxnSp>
          <p:nvCxnSpPr>
            <p:cNvPr id="61450" name="直接箭头连接符 4"/>
            <p:cNvCxnSpPr/>
            <p:nvPr/>
          </p:nvCxnSpPr>
          <p:spPr>
            <a:xfrm flipH="1">
              <a:off x="7010560" y="3825044"/>
              <a:ext cx="919224" cy="0"/>
            </a:xfrm>
            <a:prstGeom prst="straightConnector1">
              <a:avLst/>
            </a:prstGeom>
            <a:ln w="9525" cap="flat" cmpd="sng">
              <a:solidFill>
                <a:srgbClr val="000000"/>
              </a:solidFill>
              <a:prstDash val="solid"/>
              <a:headEnd type="none" w="med" len="med"/>
              <a:tailEnd type="stealth" w="med" len="lg"/>
            </a:ln>
          </p:spPr>
        </p:cxnSp>
        <p:grpSp>
          <p:nvGrpSpPr>
            <p:cNvPr id="61451" name="组合 20"/>
            <p:cNvGrpSpPr/>
            <p:nvPr/>
          </p:nvGrpSpPr>
          <p:grpSpPr>
            <a:xfrm>
              <a:off x="7940075" y="3681029"/>
              <a:ext cx="366624" cy="297418"/>
              <a:chOff x="9488248" y="3639348"/>
              <a:chExt cx="448347" cy="399574"/>
            </a:xfrm>
          </p:grpSpPr>
          <p:sp>
            <p:nvSpPr>
              <p:cNvPr id="44" name="弧形 43"/>
              <p:cNvSpPr/>
              <p:nvPr/>
            </p:nvSpPr>
            <p:spPr bwMode="auto">
              <a:xfrm>
                <a:off x="9504513" y="3646262"/>
                <a:ext cx="390214" cy="324181"/>
              </a:xfrm>
              <a:prstGeom prst="arc">
                <a:avLst/>
              </a:prstGeom>
              <a:noFill/>
              <a:ln w="9525" cap="flat" cmpd="sng" algn="ctr">
                <a:solidFill>
                  <a:srgbClr val="000000"/>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5" name="弧形 44"/>
              <p:cNvSpPr/>
              <p:nvPr/>
            </p:nvSpPr>
            <p:spPr bwMode="auto">
              <a:xfrm rot="16200000">
                <a:off x="9513794" y="3615051"/>
                <a:ext cx="398828" cy="448455"/>
              </a:xfrm>
              <a:prstGeom prst="arc">
                <a:avLst/>
              </a:prstGeom>
              <a:noFill/>
              <a:ln w="9525" cap="flat" cmpd="sng" algn="ctr">
                <a:solidFill>
                  <a:srgbClr val="000000"/>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cxnSp>
          <p:nvCxnSpPr>
            <p:cNvPr id="61452" name="直接连接符 24"/>
            <p:cNvCxnSpPr>
              <a:stCxn id="44" idx="2"/>
            </p:cNvCxnSpPr>
            <p:nvPr/>
          </p:nvCxnSpPr>
          <p:spPr>
            <a:xfrm>
              <a:off x="8271657" y="3806815"/>
              <a:ext cx="90443" cy="18229"/>
            </a:xfrm>
            <a:prstGeom prst="line">
              <a:avLst/>
            </a:prstGeom>
            <a:ln w="9525" cap="flat" cmpd="sng">
              <a:solidFill>
                <a:schemeClr val="tx1"/>
              </a:solidFill>
              <a:prstDash val="solid"/>
              <a:headEnd type="none" w="med" len="med"/>
              <a:tailEnd type="none" w="med" len="med"/>
            </a:ln>
          </p:spPr>
        </p:cxnSp>
      </p:grpSp>
      <p:sp>
        <p:nvSpPr>
          <p:cNvPr id="31" name="Rectangle 2"/>
          <p:cNvSpPr txBox="1">
            <a:spLocks noRot="1" noChangeArrowheads="1"/>
          </p:cNvSpPr>
          <p:nvPr/>
        </p:nvSpPr>
        <p:spPr bwMode="auto">
          <a:xfrm>
            <a:off x="4572000" y="-63500"/>
            <a:ext cx="4435475" cy="779463"/>
          </a:xfrm>
          <a:prstGeom prst="rect">
            <a:avLst/>
          </a:prstGeom>
          <a:noFill/>
          <a:ln>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defRPr/>
            </a:pPr>
            <a:r>
              <a:rPr kumimoji="0" lang="en-US" altLang="zh-CN" sz="2400" b="1" i="0" u="none" strike="noStrike" kern="0" cap="none" spc="0" normalizeH="0" baseline="0" noProof="0" dirty="0">
                <a:ln>
                  <a:noFill/>
                </a:ln>
                <a:solidFill>
                  <a:srgbClr val="FF0000"/>
                </a:solidFill>
                <a:effectLst/>
                <a:uLnTx/>
                <a:uFillTx/>
                <a:latin typeface="+mn-lt"/>
                <a:ea typeface="+mn-ea"/>
                <a:cs typeface="+mn-cs"/>
              </a:rPr>
              <a:t>5.3.5 </a:t>
            </a:r>
            <a:r>
              <a:rPr kumimoji="0" lang="zh-CN" altLang="en-US" sz="2400" b="1" i="0" u="none" strike="noStrike" kern="0" cap="none" spc="0" normalizeH="0" baseline="0" noProof="0" dirty="0">
                <a:ln>
                  <a:noFill/>
                </a:ln>
                <a:solidFill>
                  <a:srgbClr val="FF0000"/>
                </a:solidFill>
                <a:effectLst/>
                <a:uLnTx/>
                <a:uFillTx/>
                <a:latin typeface="+mn-lt"/>
                <a:ea typeface="+mn-ea"/>
                <a:cs typeface="+mn-cs"/>
              </a:rPr>
              <a:t>访问内存的有效时间</a:t>
            </a:r>
            <a:r>
              <a:rPr kumimoji="0" lang="en-US" altLang="zh-CN" sz="2400" b="1" i="0" u="none" strike="noStrike" kern="0" cap="none" spc="0" normalizeH="0" baseline="0" noProof="0" dirty="0">
                <a:ln>
                  <a:noFill/>
                </a:ln>
                <a:solidFill>
                  <a:srgbClr val="FF0000"/>
                </a:solidFill>
                <a:effectLst/>
                <a:uLnTx/>
                <a:uFillTx/>
                <a:latin typeface="+mn-lt"/>
                <a:ea typeface="+mn-ea"/>
                <a:cs typeface="+mn-cs"/>
              </a:rPr>
              <a:t>EAT</a:t>
            </a:r>
            <a:endParaRPr kumimoji="0" lang="en-US" altLang="zh-CN" sz="2400" b="1" i="0" u="none" strike="noStrike" kern="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defRPr/>
            </a:pP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             </a:t>
            </a:r>
            <a:r>
              <a:rPr kumimoji="0" lang="zh-CN" altLang="en-US" sz="20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mn-lt"/>
                <a:ea typeface="+mn-ea"/>
                <a:cs typeface="+mn-cs"/>
              </a:rPr>
              <a:t>  如</a:t>
            </a:r>
            <a:r>
              <a:rPr kumimoji="0" lang="en-US" altLang="zh-CN" sz="20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mn-lt"/>
                <a:ea typeface="+mn-ea"/>
                <a:cs typeface="+mn-cs"/>
              </a:rPr>
              <a:t>:</a:t>
            </a:r>
            <a:r>
              <a:rPr kumimoji="0" lang="zh-CN" altLang="en-US" sz="20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mn-lt"/>
                <a:ea typeface="+mn-ea"/>
                <a:cs typeface="+mn-cs"/>
              </a:rPr>
              <a:t> </a:t>
            </a:r>
            <a:r>
              <a:rPr kumimoji="0" lang="en-US" altLang="zh-CN" sz="20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mn-lt"/>
                <a:ea typeface="+mn-ea"/>
                <a:cs typeface="+mn-cs"/>
              </a:rPr>
              <a:t>LOAD  1,2500</a:t>
            </a:r>
            <a:endParaRPr kumimoji="0" lang="en-US" altLang="zh-CN" sz="20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mn-lt"/>
              <a:ea typeface="+mn-ea"/>
              <a:cs typeface="+mn-cs"/>
            </a:endParaRPr>
          </a:p>
          <a:p>
            <a:pPr marL="342900" marR="0" lvl="0" indent="-342900" algn="l"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defRPr/>
            </a:pPr>
            <a:r>
              <a:rPr kumimoji="0" lang="en-US" altLang="zh-CN" sz="20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mn-lt"/>
                <a:ea typeface="+mn-ea"/>
                <a:cs typeface="+mn-cs"/>
              </a:rPr>
              <a:t>                                 </a:t>
            </a:r>
            <a:r>
              <a:rPr kumimoji="0" lang="zh-CN" altLang="en-US" sz="20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mn-lt"/>
                <a:ea typeface="+mn-ea"/>
                <a:cs typeface="+mn-cs"/>
              </a:rPr>
              <a:t>经过：地址变换</a:t>
            </a:r>
            <a:endParaRPr kumimoji="0" lang="zh-CN" altLang="en-US" sz="20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mn-lt"/>
              <a:ea typeface="+mn-ea"/>
              <a:cs typeface="+mn-cs"/>
            </a:endParaRPr>
          </a:p>
          <a:p>
            <a:pPr marL="342900" marR="0" lvl="0" indent="-342900" algn="l"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defRPr/>
            </a:pPr>
            <a:r>
              <a:rPr kumimoji="0" lang="zh-CN" altLang="en-US" sz="20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mn-lt"/>
                <a:ea typeface="+mn-ea"/>
                <a:cs typeface="+mn-cs"/>
              </a:rPr>
              <a:t> </a:t>
            </a:r>
            <a:r>
              <a:rPr kumimoji="0" lang="en-US" altLang="zh-CN" sz="20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mn-lt"/>
                <a:ea typeface="+mn-ea"/>
                <a:cs typeface="+mn-cs"/>
              </a:rPr>
              <a:t>                                     </a:t>
            </a:r>
            <a:r>
              <a:rPr kumimoji="0" lang="zh-CN" altLang="en-US" sz="20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mn-lt"/>
                <a:ea typeface="+mn-ea"/>
                <a:cs typeface="+mn-cs"/>
              </a:rPr>
              <a:t>到内存取数据</a:t>
            </a:r>
            <a:endParaRPr kumimoji="0" lang="en-US" altLang="zh-CN" sz="2000" b="1" i="0" u="none" strike="noStrike" kern="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base" latinLnBrk="0" hangingPunct="1">
              <a:lnSpc>
                <a:spcPct val="150000"/>
              </a:lnSpc>
              <a:spcBef>
                <a:spcPct val="0"/>
              </a:spcBef>
              <a:spcAft>
                <a:spcPct val="0"/>
              </a:spcAft>
              <a:buClr>
                <a:schemeClr val="hlink"/>
              </a:buClr>
              <a:buSzPct val="70000"/>
              <a:buFont typeface="Wingdings" panose="05000000000000000000" pitchFamily="2" charset="2"/>
              <a:buNone/>
              <a:defRPr/>
            </a:pPr>
            <a:endParaRPr kumimoji="0" lang="zh-CN" altLang="en-US" sz="2400" b="1" i="0" u="none" strike="noStrike" kern="0" cap="none" spc="0" normalizeH="0" baseline="0" noProof="0" dirty="0">
              <a:ln>
                <a:noFill/>
              </a:ln>
              <a:solidFill>
                <a:srgbClr val="008000"/>
              </a:solidFill>
              <a:effectLst/>
              <a:uLnTx/>
              <a:uFillTx/>
              <a:latin typeface="+mn-lt"/>
              <a:ea typeface="+mn-ea"/>
              <a:cs typeface="+mn-cs"/>
            </a:endParaRPr>
          </a:p>
        </p:txBody>
      </p:sp>
      <p:sp>
        <p:nvSpPr>
          <p:cNvPr id="13" name="文本框 12"/>
          <p:cNvSpPr txBox="1"/>
          <p:nvPr/>
        </p:nvSpPr>
        <p:spPr>
          <a:xfrm>
            <a:off x="6083618" y="1556703"/>
            <a:ext cx="3081338" cy="1128713"/>
          </a:xfrm>
          <a:prstGeom prst="rect">
            <a:avLst/>
          </a:prstGeom>
          <a:noFill/>
        </p:spPr>
        <p:txBody>
          <a:bodyPr>
            <a:spAutoFit/>
          </a:bodyPr>
          <a:lstStyle/>
          <a:p>
            <a:pPr marR="0" defTabSz="914400" eaLnBrk="1" hangingPunct="1">
              <a:lnSpc>
                <a:spcPct val="150000"/>
              </a:lnSpc>
              <a:buClrTx/>
              <a:buSzTx/>
              <a:buFont typeface="Wingdings" panose="05000000000000000000" pitchFamily="2" charset="2"/>
              <a:buNone/>
              <a:defRPr/>
            </a:pPr>
            <a:r>
              <a:rPr kumimoji="0" lang="zh-CN" altLang="en-US" sz="2400" kern="0" cap="none" spc="0" normalizeH="0" baseline="0" noProof="0" dirty="0">
                <a:solidFill>
                  <a:srgbClr val="000000"/>
                </a:solidFill>
                <a:latin typeface="Arial" panose="020B0604020202020204" pitchFamily="34" charset="0"/>
                <a:ea typeface="宋体" panose="02010600030101010101" pitchFamily="2" charset="-122"/>
                <a:cs typeface="+mn-cs"/>
              </a:rPr>
              <a:t>访问快表的时间为</a:t>
            </a:r>
            <a:r>
              <a:rPr kumimoji="0" lang="zh-CN" altLang="zh-CN" sz="2400" kern="1200" cap="none" spc="0" normalizeH="0" baseline="0" noProof="0" dirty="0">
                <a:solidFill>
                  <a:srgbClr val="000000"/>
                </a:solidFill>
                <a:latin typeface="Arial" panose="020B0604020202020204" pitchFamily="34" charset="0"/>
                <a:ea typeface="宋体" panose="02010600030101010101" pitchFamily="2" charset="-122"/>
                <a:cs typeface="+mn-cs"/>
              </a:rPr>
              <a:t>λ</a:t>
            </a:r>
            <a:endParaRPr kumimoji="0" lang="en-US" altLang="zh-CN" sz="2400" kern="1200" cap="none" spc="0" normalizeH="0" baseline="0" noProof="0" dirty="0">
              <a:solidFill>
                <a:srgbClr val="000000"/>
              </a:solidFill>
              <a:latin typeface="Arial" panose="020B0604020202020204" pitchFamily="34" charset="0"/>
              <a:ea typeface="宋体" panose="02010600030101010101" pitchFamily="2" charset="-122"/>
              <a:cs typeface="+mn-cs"/>
            </a:endParaRPr>
          </a:p>
          <a:p>
            <a:pPr marR="0" defTabSz="914400" eaLnBrk="1" hangingPunct="1">
              <a:lnSpc>
                <a:spcPct val="150000"/>
              </a:lnSpc>
              <a:buClrTx/>
              <a:buSzTx/>
              <a:buFont typeface="Wingdings" panose="05000000000000000000" pitchFamily="2" charset="2"/>
              <a:buNone/>
              <a:defRPr/>
            </a:pPr>
            <a:r>
              <a:rPr kumimoji="0" lang="zh-CN" altLang="en-US" sz="2400" kern="0" cap="none" spc="0" normalizeH="0" baseline="0" noProof="0" dirty="0">
                <a:solidFill>
                  <a:srgbClr val="000000"/>
                </a:solidFill>
                <a:latin typeface="Arial" panose="020B0604020202020204" pitchFamily="34" charset="0"/>
                <a:ea typeface="宋体" panose="02010600030101010101" pitchFamily="2" charset="-122"/>
                <a:cs typeface="+mn-cs"/>
              </a:rPr>
              <a:t>访问内存时间为</a:t>
            </a:r>
            <a:r>
              <a:rPr kumimoji="0" lang="en-US" altLang="zh-CN" sz="2400" kern="0" cap="none" spc="0" normalizeH="0" baseline="0" noProof="0" dirty="0">
                <a:solidFill>
                  <a:srgbClr val="000000"/>
                </a:solidFill>
                <a:latin typeface="Arial" panose="020B0604020202020204" pitchFamily="34" charset="0"/>
                <a:ea typeface="宋体" panose="02010600030101010101" pitchFamily="2" charset="-122"/>
                <a:cs typeface="+mn-cs"/>
              </a:rPr>
              <a:t>t</a:t>
            </a:r>
            <a:endParaRPr kumimoji="0" lang="en-US" altLang="zh-CN" sz="2400" kern="0" cap="none" spc="0" normalizeH="0" baseline="0" noProof="0" dirty="0">
              <a:solidFill>
                <a:srgbClr val="000000"/>
              </a:solidFill>
              <a:latin typeface="Arial" panose="020B0604020202020204" pitchFamily="34" charset="0"/>
              <a:ea typeface="宋体" panose="02010600030101010101" pitchFamily="2" charset="-122"/>
              <a:cs typeface="+mn-cs"/>
            </a:endParaRPr>
          </a:p>
        </p:txBody>
      </p:sp>
      <p:sp>
        <p:nvSpPr>
          <p:cNvPr id="17" name="文本框 16"/>
          <p:cNvSpPr txBox="1"/>
          <p:nvPr/>
        </p:nvSpPr>
        <p:spPr>
          <a:xfrm>
            <a:off x="6119813" y="2852738"/>
            <a:ext cx="3027363" cy="2399665"/>
          </a:xfrm>
          <a:prstGeom prst="rect">
            <a:avLst/>
          </a:prstGeom>
          <a:noFill/>
        </p:spPr>
        <p:txBody>
          <a:bodyPr>
            <a:spAutoFit/>
          </a:bodyPr>
          <a:lstStyle/>
          <a:p>
            <a:pPr marR="0" defTabSz="914400" eaLnBrk="1" hangingPunct="1">
              <a:lnSpc>
                <a:spcPts val="3000"/>
              </a:lnSpc>
              <a:buClrTx/>
              <a:buSzTx/>
              <a:buFont typeface="Wingdings" panose="05000000000000000000" pitchFamily="2" charset="2"/>
              <a:buNone/>
              <a:defRPr/>
            </a:pPr>
            <a:r>
              <a:rPr kumimoji="0" lang="zh-CN" altLang="en-US" kern="0" cap="none" spc="0" normalizeH="0" baseline="0" noProof="0" dirty="0">
                <a:solidFill>
                  <a:srgbClr val="00B050"/>
                </a:solidFill>
                <a:latin typeface="Arial" panose="020B0604020202020204" pitchFamily="34" charset="0"/>
                <a:ea typeface="宋体" panose="02010600030101010101" pitchFamily="2" charset="-122"/>
                <a:cs typeface="+mn-cs"/>
              </a:rPr>
              <a:t>（</a:t>
            </a:r>
            <a:r>
              <a:rPr kumimoji="0" lang="en-US" altLang="zh-CN" kern="0" cap="none" spc="0" normalizeH="0" baseline="0" noProof="0" dirty="0">
                <a:solidFill>
                  <a:srgbClr val="00B050"/>
                </a:solidFill>
                <a:latin typeface="Arial" panose="020B0604020202020204" pitchFamily="34" charset="0"/>
                <a:ea typeface="宋体" panose="02010600030101010101" pitchFamily="2" charset="-122"/>
                <a:cs typeface="+mn-cs"/>
              </a:rPr>
              <a:t>1</a:t>
            </a:r>
            <a:r>
              <a:rPr kumimoji="0" lang="zh-CN" altLang="en-US" kern="0" cap="none" spc="0" normalizeH="0" baseline="0" noProof="0" dirty="0">
                <a:solidFill>
                  <a:srgbClr val="00B050"/>
                </a:solidFill>
                <a:latin typeface="Arial" panose="020B0604020202020204" pitchFamily="34" charset="0"/>
                <a:ea typeface="宋体" panose="02010600030101010101" pitchFamily="2" charset="-122"/>
                <a:cs typeface="+mn-cs"/>
              </a:rPr>
              <a:t>）被访问的页在内存，对应的页表项在快表中</a:t>
            </a:r>
            <a:endParaRPr kumimoji="0" lang="zh-CN" altLang="en-US" kern="0" cap="none" spc="0" normalizeH="0" baseline="0" noProof="0" dirty="0">
              <a:solidFill>
                <a:srgbClr val="00B050"/>
              </a:solidFill>
              <a:latin typeface="Arial" panose="020B0604020202020204" pitchFamily="34" charset="0"/>
              <a:ea typeface="宋体" panose="02010600030101010101" pitchFamily="2" charset="-122"/>
              <a:cs typeface="+mn-cs"/>
            </a:endParaRPr>
          </a:p>
          <a:p>
            <a:pPr marR="0" defTabSz="914400" eaLnBrk="1" hangingPunct="1">
              <a:lnSpc>
                <a:spcPts val="3000"/>
              </a:lnSpc>
              <a:buClrTx/>
              <a:buSzTx/>
              <a:buFont typeface="Wingdings" panose="05000000000000000000" pitchFamily="2" charset="2"/>
              <a:buNone/>
              <a:defRPr/>
            </a:pPr>
            <a:r>
              <a:rPr lang="zh-CN" altLang="en-US" kern="0" noProof="0" dirty="0">
                <a:solidFill>
                  <a:srgbClr val="000000"/>
                </a:solidFill>
                <a:sym typeface="+mn-ea"/>
              </a:rPr>
              <a:t>查找</a:t>
            </a:r>
            <a:r>
              <a:rPr kumimoji="0" lang="en-US" altLang="zh-CN" cap="none" spc="0" normalizeH="0" baseline="0" noProof="0" dirty="0">
                <a:solidFill>
                  <a:srgbClr val="000000"/>
                </a:solidFill>
                <a:latin typeface="Arial" panose="020B0604020202020204" pitchFamily="34" charset="0"/>
                <a:ea typeface="宋体" panose="02010600030101010101" pitchFamily="2" charset="-122"/>
                <a:cs typeface="+mn-cs"/>
              </a:rPr>
              <a:t>快表</a:t>
            </a:r>
            <a:r>
              <a:rPr lang="en-US" altLang="zh-CN" noProof="0" dirty="0">
                <a:solidFill>
                  <a:srgbClr val="000000"/>
                </a:solidFill>
                <a:sym typeface="+mn-ea"/>
              </a:rPr>
              <a:t>λ</a:t>
            </a:r>
            <a:endParaRPr kumimoji="0" lang="en-US" altLang="zh-CN" cap="none" spc="0" normalizeH="0" baseline="0" noProof="0" dirty="0">
              <a:solidFill>
                <a:srgbClr val="000000"/>
              </a:solidFill>
              <a:latin typeface="Arial" panose="020B0604020202020204" pitchFamily="34" charset="0"/>
              <a:ea typeface="宋体" panose="02010600030101010101" pitchFamily="2" charset="-122"/>
              <a:cs typeface="+mn-cs"/>
            </a:endParaRPr>
          </a:p>
          <a:p>
            <a:pPr marR="0" defTabSz="914400" eaLnBrk="1" hangingPunct="1">
              <a:lnSpc>
                <a:spcPts val="3000"/>
              </a:lnSpc>
              <a:buClrTx/>
              <a:buSzTx/>
              <a:buFont typeface="Wingdings" panose="05000000000000000000" pitchFamily="2" charset="2"/>
              <a:buNone/>
              <a:defRPr/>
            </a:pPr>
            <a:r>
              <a:rPr kumimoji="0" lang="en-US" altLang="zh-CN" cap="none" spc="0" normalizeH="0" baseline="0" noProof="0" dirty="0">
                <a:solidFill>
                  <a:srgbClr val="000000"/>
                </a:solidFill>
                <a:latin typeface="Arial" panose="020B0604020202020204" pitchFamily="34" charset="0"/>
                <a:ea typeface="宋体" panose="02010600030101010101" pitchFamily="2" charset="-122"/>
                <a:cs typeface="+mn-cs"/>
              </a:rPr>
              <a:t>访问物理地址</a:t>
            </a:r>
            <a:r>
              <a:rPr lang="en-US" altLang="zh-CN" noProof="0" dirty="0">
                <a:solidFill>
                  <a:srgbClr val="000000"/>
                </a:solidFill>
                <a:sym typeface="+mn-ea"/>
              </a:rPr>
              <a:t>t</a:t>
            </a:r>
            <a:endParaRPr kumimoji="0" lang="zh-CN" altLang="en-US" kern="1200" cap="none" spc="0" normalizeH="0" baseline="0" noProof="0" dirty="0">
              <a:solidFill>
                <a:srgbClr val="000000"/>
              </a:solidFill>
              <a:latin typeface="Arial" panose="020B0604020202020204" pitchFamily="34" charset="0"/>
              <a:ea typeface="宋体" panose="02010600030101010101" pitchFamily="2" charset="-122"/>
              <a:cs typeface="+mn-cs"/>
            </a:endParaRPr>
          </a:p>
          <a:p>
            <a:pPr marR="0" defTabSz="914400" eaLnBrk="1" hangingPunct="1">
              <a:lnSpc>
                <a:spcPts val="3000"/>
              </a:lnSpc>
              <a:buClrTx/>
              <a:buSzTx/>
              <a:buFont typeface="Wingdings" panose="05000000000000000000" pitchFamily="2" charset="2"/>
              <a:buNone/>
              <a:defRPr/>
            </a:pPr>
            <a:r>
              <a:rPr kumimoji="0" lang="en-US" altLang="zh-CN" kern="0" cap="none" spc="0" normalizeH="0" baseline="0" noProof="0" dirty="0">
                <a:solidFill>
                  <a:srgbClr val="000000"/>
                </a:solidFill>
                <a:latin typeface="Arial" panose="020B0604020202020204" pitchFamily="34" charset="0"/>
                <a:ea typeface="宋体" panose="02010600030101010101" pitchFamily="2" charset="-122"/>
                <a:cs typeface="+mn-cs"/>
              </a:rPr>
              <a:t>EAT=</a:t>
            </a:r>
            <a:r>
              <a:rPr kumimoji="0" lang="zh-CN" altLang="zh-CN" kern="1200" cap="none" spc="0" normalizeH="0" baseline="0" noProof="0" dirty="0">
                <a:solidFill>
                  <a:srgbClr val="000000"/>
                </a:solidFill>
                <a:latin typeface="Arial" panose="020B0604020202020204" pitchFamily="34" charset="0"/>
                <a:ea typeface="宋体" panose="02010600030101010101" pitchFamily="2" charset="-122"/>
                <a:cs typeface="+mn-cs"/>
              </a:rPr>
              <a:t> λ</a:t>
            </a:r>
            <a:r>
              <a:rPr kumimoji="0" lang="en-US" altLang="zh-CN" kern="1200" cap="none" spc="0" normalizeH="0" baseline="0" noProof="0" dirty="0">
                <a:solidFill>
                  <a:srgbClr val="000000"/>
                </a:solidFill>
                <a:latin typeface="Arial" panose="020B0604020202020204" pitchFamily="34" charset="0"/>
                <a:ea typeface="宋体" panose="02010600030101010101" pitchFamily="2" charset="-122"/>
                <a:cs typeface="+mn-cs"/>
              </a:rPr>
              <a:t>+t</a:t>
            </a:r>
            <a:endParaRPr kumimoji="0" lang="zh-CN" altLang="en-US" kern="1200" cap="none" spc="0" normalizeH="0" baseline="0" noProof="0" dirty="0">
              <a:solidFill>
                <a:srgbClr val="000000"/>
              </a:solidFill>
              <a:latin typeface="Arial" panose="020B0604020202020204" pitchFamily="34" charset="0"/>
              <a:ea typeface="宋体" panose="02010600030101010101" pitchFamily="2" charset="-122"/>
              <a:cs typeface="+mn-cs"/>
            </a:endParaRPr>
          </a:p>
        </p:txBody>
      </p:sp>
      <p:cxnSp>
        <p:nvCxnSpPr>
          <p:cNvPr id="4" name="直接连接符 3"/>
          <p:cNvCxnSpPr/>
          <p:nvPr/>
        </p:nvCxnSpPr>
        <p:spPr>
          <a:xfrm flipH="1">
            <a:off x="4789170" y="1310005"/>
            <a:ext cx="1270" cy="354965"/>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5" name="直接连接符 4"/>
          <p:cNvCxnSpPr/>
          <p:nvPr/>
        </p:nvCxnSpPr>
        <p:spPr>
          <a:xfrm flipH="1">
            <a:off x="4809490" y="1863725"/>
            <a:ext cx="1270" cy="354965"/>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6" name="直接连接符 5"/>
          <p:cNvCxnSpPr/>
          <p:nvPr/>
        </p:nvCxnSpPr>
        <p:spPr>
          <a:xfrm flipH="1">
            <a:off x="5724525" y="2456815"/>
            <a:ext cx="1270" cy="1871980"/>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8" name="直接连接符 7"/>
          <p:cNvCxnSpPr/>
          <p:nvPr/>
        </p:nvCxnSpPr>
        <p:spPr>
          <a:xfrm flipH="1">
            <a:off x="4794250" y="603885"/>
            <a:ext cx="1270" cy="354965"/>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9" name="直接连接符 8"/>
          <p:cNvCxnSpPr/>
          <p:nvPr/>
        </p:nvCxnSpPr>
        <p:spPr>
          <a:xfrm flipH="1">
            <a:off x="4687570" y="4401185"/>
            <a:ext cx="1036955" cy="6985"/>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10" name="直接连接符 9"/>
          <p:cNvCxnSpPr/>
          <p:nvPr/>
        </p:nvCxnSpPr>
        <p:spPr>
          <a:xfrm flipH="1">
            <a:off x="4752340" y="4444365"/>
            <a:ext cx="7620" cy="1108710"/>
          </a:xfrm>
          <a:prstGeom prst="line">
            <a:avLst/>
          </a:prstGeom>
          <a:solidFill>
            <a:schemeClr val="accent1"/>
          </a:solidFill>
          <a:ln w="28575" cap="flat" cmpd="sng" algn="ctr">
            <a:solidFill>
              <a:srgbClr val="FF0000"/>
            </a:solidFill>
            <a:prstDash val="sysDot"/>
            <a:round/>
            <a:headEnd type="none" w="med" len="med"/>
            <a:tailEnd type="triangle" w="med" len="med"/>
          </a:ln>
        </p:spPr>
      </p:cxnSp>
    </p:spTree>
  </p:cSld>
  <p:clrMapOvr>
    <a:masterClrMapping/>
  </p:clrMapOvr>
  <p:transition>
    <p:blinds/>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42" name="组合 26"/>
          <p:cNvGrpSpPr/>
          <p:nvPr/>
        </p:nvGrpSpPr>
        <p:grpSpPr>
          <a:xfrm>
            <a:off x="-280987" y="325438"/>
            <a:ext cx="7086600" cy="6546850"/>
            <a:chOff x="2057400" y="311150"/>
            <a:chExt cx="7086600" cy="6546850"/>
          </a:xfrm>
        </p:grpSpPr>
        <p:graphicFrame>
          <p:nvGraphicFramePr>
            <p:cNvPr id="61447" name="Object 3"/>
            <p:cNvGraphicFramePr>
              <a:graphicFrameLocks noChangeAspect="1"/>
            </p:cNvGraphicFramePr>
            <p:nvPr/>
          </p:nvGraphicFramePr>
          <p:xfrm>
            <a:off x="2057400" y="311150"/>
            <a:ext cx="7086600" cy="6546850"/>
          </p:xfrm>
          <a:graphic>
            <a:graphicData uri="http://schemas.openxmlformats.org/presentationml/2006/ole">
              <mc:AlternateContent xmlns:mc="http://schemas.openxmlformats.org/markup-compatibility/2006">
                <mc:Choice xmlns:v="urn:schemas-microsoft-com:vml" Requires="v">
                  <p:oleObj spid="_x0000_s2" name="" r:id="rId1" imgW="4747260" imgH="4389120" progId="Visio.Drawing.4">
                    <p:embed/>
                  </p:oleObj>
                </mc:Choice>
                <mc:Fallback>
                  <p:oleObj name="" r:id="rId1" imgW="4747260" imgH="4389120" progId="Visio.Drawing.4">
                    <p:embed/>
                    <p:pic>
                      <p:nvPicPr>
                        <p:cNvPr id="0" name="图片 3087"/>
                        <p:cNvPicPr/>
                        <p:nvPr/>
                      </p:nvPicPr>
                      <p:blipFill>
                        <a:blip r:embed="rId2"/>
                        <a:stretch>
                          <a:fillRect/>
                        </a:stretch>
                      </p:blipFill>
                      <p:spPr>
                        <a:xfrm>
                          <a:off x="2057400" y="311150"/>
                          <a:ext cx="7086600" cy="6546850"/>
                        </a:xfrm>
                        <a:prstGeom prst="rect">
                          <a:avLst/>
                        </a:prstGeom>
                        <a:noFill/>
                        <a:ln w="38100">
                          <a:noFill/>
                          <a:miter/>
                        </a:ln>
                      </p:spPr>
                    </p:pic>
                  </p:oleObj>
                </mc:Fallback>
              </mc:AlternateContent>
            </a:graphicData>
          </a:graphic>
        </p:graphicFrame>
        <p:sp>
          <p:nvSpPr>
            <p:cNvPr id="61448" name="矩形 1"/>
            <p:cNvSpPr/>
            <p:nvPr/>
          </p:nvSpPr>
          <p:spPr>
            <a:xfrm>
              <a:off x="7020272" y="1376772"/>
              <a:ext cx="1368152" cy="108012"/>
            </a:xfrm>
            <a:prstGeom prst="rect">
              <a:avLst/>
            </a:prstGeom>
            <a:solidFill>
              <a:schemeClr val="bg1"/>
            </a:solid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61449" name="矩形 2"/>
            <p:cNvSpPr/>
            <p:nvPr/>
          </p:nvSpPr>
          <p:spPr>
            <a:xfrm flipH="1">
              <a:off x="8316416" y="1484784"/>
              <a:ext cx="282966" cy="2340260"/>
            </a:xfrm>
            <a:prstGeom prst="rect">
              <a:avLst/>
            </a:prstGeom>
            <a:solidFill>
              <a:schemeClr val="bg1"/>
            </a:solid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cxnSp>
          <p:nvCxnSpPr>
            <p:cNvPr id="61450" name="直接箭头连接符 4"/>
            <p:cNvCxnSpPr/>
            <p:nvPr/>
          </p:nvCxnSpPr>
          <p:spPr>
            <a:xfrm flipH="1">
              <a:off x="7010560" y="3825044"/>
              <a:ext cx="919224" cy="0"/>
            </a:xfrm>
            <a:prstGeom prst="straightConnector1">
              <a:avLst/>
            </a:prstGeom>
            <a:ln w="9525" cap="flat" cmpd="sng">
              <a:solidFill>
                <a:srgbClr val="000000"/>
              </a:solidFill>
              <a:prstDash val="solid"/>
              <a:headEnd type="none" w="med" len="med"/>
              <a:tailEnd type="stealth" w="med" len="lg"/>
            </a:ln>
          </p:spPr>
        </p:cxnSp>
        <p:grpSp>
          <p:nvGrpSpPr>
            <p:cNvPr id="61451" name="组合 20"/>
            <p:cNvGrpSpPr/>
            <p:nvPr/>
          </p:nvGrpSpPr>
          <p:grpSpPr>
            <a:xfrm>
              <a:off x="7940075" y="3681029"/>
              <a:ext cx="366624" cy="297418"/>
              <a:chOff x="9488248" y="3639348"/>
              <a:chExt cx="448347" cy="399574"/>
            </a:xfrm>
          </p:grpSpPr>
          <p:sp>
            <p:nvSpPr>
              <p:cNvPr id="44" name="弧形 43"/>
              <p:cNvSpPr/>
              <p:nvPr/>
            </p:nvSpPr>
            <p:spPr bwMode="auto">
              <a:xfrm>
                <a:off x="9504513" y="3646262"/>
                <a:ext cx="390214" cy="324181"/>
              </a:xfrm>
              <a:prstGeom prst="arc">
                <a:avLst/>
              </a:prstGeom>
              <a:noFill/>
              <a:ln w="9525" cap="flat" cmpd="sng" algn="ctr">
                <a:solidFill>
                  <a:srgbClr val="000000"/>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5" name="弧形 44"/>
              <p:cNvSpPr/>
              <p:nvPr/>
            </p:nvSpPr>
            <p:spPr bwMode="auto">
              <a:xfrm rot="16200000">
                <a:off x="9513794" y="3615051"/>
                <a:ext cx="398828" cy="448455"/>
              </a:xfrm>
              <a:prstGeom prst="arc">
                <a:avLst/>
              </a:prstGeom>
              <a:noFill/>
              <a:ln w="9525" cap="flat" cmpd="sng" algn="ctr">
                <a:solidFill>
                  <a:srgbClr val="000000"/>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cxnSp>
          <p:nvCxnSpPr>
            <p:cNvPr id="61452" name="直接连接符 24"/>
            <p:cNvCxnSpPr>
              <a:stCxn id="44" idx="2"/>
            </p:cNvCxnSpPr>
            <p:nvPr/>
          </p:nvCxnSpPr>
          <p:spPr>
            <a:xfrm>
              <a:off x="8271657" y="3806815"/>
              <a:ext cx="90443" cy="18229"/>
            </a:xfrm>
            <a:prstGeom prst="line">
              <a:avLst/>
            </a:prstGeom>
            <a:ln w="9525" cap="flat" cmpd="sng">
              <a:solidFill>
                <a:schemeClr val="tx1"/>
              </a:solidFill>
              <a:prstDash val="solid"/>
              <a:headEnd type="none" w="med" len="med"/>
              <a:tailEnd type="none" w="med" len="med"/>
            </a:ln>
          </p:spPr>
        </p:cxnSp>
      </p:grpSp>
      <p:sp>
        <p:nvSpPr>
          <p:cNvPr id="31" name="Rectangle 2"/>
          <p:cNvSpPr txBox="1">
            <a:spLocks noRot="1" noChangeArrowheads="1"/>
          </p:cNvSpPr>
          <p:nvPr/>
        </p:nvSpPr>
        <p:spPr bwMode="auto">
          <a:xfrm>
            <a:off x="4572000" y="-63500"/>
            <a:ext cx="4435475" cy="779463"/>
          </a:xfrm>
          <a:prstGeom prst="rect">
            <a:avLst/>
          </a:prstGeom>
          <a:noFill/>
          <a:ln>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defRPr/>
            </a:pPr>
            <a:r>
              <a:rPr kumimoji="0" lang="en-US" altLang="zh-CN" sz="2400" b="1" i="0" u="none" strike="noStrike" kern="0" cap="none" spc="0" normalizeH="0" baseline="0" noProof="0" dirty="0">
                <a:ln>
                  <a:noFill/>
                </a:ln>
                <a:solidFill>
                  <a:srgbClr val="FF0000"/>
                </a:solidFill>
                <a:effectLst/>
                <a:uLnTx/>
                <a:uFillTx/>
                <a:latin typeface="+mn-lt"/>
                <a:ea typeface="+mn-ea"/>
                <a:cs typeface="+mn-cs"/>
              </a:rPr>
              <a:t>5.3.5 </a:t>
            </a:r>
            <a:r>
              <a:rPr kumimoji="0" lang="zh-CN" altLang="en-US" sz="2400" b="1" i="0" u="none" strike="noStrike" kern="0" cap="none" spc="0" normalizeH="0" baseline="0" noProof="0" dirty="0">
                <a:ln>
                  <a:noFill/>
                </a:ln>
                <a:solidFill>
                  <a:srgbClr val="FF0000"/>
                </a:solidFill>
                <a:effectLst/>
                <a:uLnTx/>
                <a:uFillTx/>
                <a:latin typeface="+mn-lt"/>
                <a:ea typeface="+mn-ea"/>
                <a:cs typeface="+mn-cs"/>
              </a:rPr>
              <a:t>访问内存的有效时间</a:t>
            </a:r>
            <a:r>
              <a:rPr kumimoji="0" lang="en-US" altLang="zh-CN" sz="2400" b="1" i="0" u="none" strike="noStrike" kern="0" cap="none" spc="0" normalizeH="0" baseline="0" noProof="0" dirty="0">
                <a:ln>
                  <a:noFill/>
                </a:ln>
                <a:solidFill>
                  <a:srgbClr val="FF0000"/>
                </a:solidFill>
                <a:effectLst/>
                <a:uLnTx/>
                <a:uFillTx/>
                <a:latin typeface="+mn-lt"/>
                <a:ea typeface="+mn-ea"/>
                <a:cs typeface="+mn-cs"/>
              </a:rPr>
              <a:t>EAT</a:t>
            </a:r>
            <a:endParaRPr kumimoji="0" lang="en-US" altLang="zh-CN" sz="2400" b="1" i="0" u="none" strike="noStrike" kern="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defRPr/>
            </a:pP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             </a:t>
            </a:r>
            <a:r>
              <a:rPr kumimoji="0" lang="zh-CN" altLang="en-US" sz="20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mn-lt"/>
                <a:ea typeface="+mn-ea"/>
                <a:cs typeface="+mn-cs"/>
              </a:rPr>
              <a:t>  如</a:t>
            </a:r>
            <a:r>
              <a:rPr kumimoji="0" lang="en-US" altLang="zh-CN" sz="20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mn-lt"/>
                <a:ea typeface="+mn-ea"/>
                <a:cs typeface="+mn-cs"/>
              </a:rPr>
              <a:t>:</a:t>
            </a:r>
            <a:r>
              <a:rPr kumimoji="0" lang="zh-CN" altLang="en-US" sz="20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mn-lt"/>
                <a:ea typeface="+mn-ea"/>
                <a:cs typeface="+mn-cs"/>
              </a:rPr>
              <a:t> </a:t>
            </a:r>
            <a:r>
              <a:rPr kumimoji="0" lang="en-US" altLang="zh-CN" sz="20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mn-lt"/>
                <a:ea typeface="+mn-ea"/>
                <a:cs typeface="+mn-cs"/>
              </a:rPr>
              <a:t>LOAD  1,2500</a:t>
            </a:r>
            <a:endParaRPr kumimoji="0" lang="en-US" altLang="zh-CN" sz="2000" b="1" i="0" u="none" strike="noStrike" kern="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base" latinLnBrk="0" hangingPunct="1">
              <a:lnSpc>
                <a:spcPct val="150000"/>
              </a:lnSpc>
              <a:spcBef>
                <a:spcPct val="0"/>
              </a:spcBef>
              <a:spcAft>
                <a:spcPct val="0"/>
              </a:spcAft>
              <a:buClr>
                <a:schemeClr val="hlink"/>
              </a:buClr>
              <a:buSzPct val="70000"/>
              <a:buFont typeface="Wingdings" panose="05000000000000000000" pitchFamily="2" charset="2"/>
              <a:buNone/>
              <a:defRPr/>
            </a:pPr>
            <a:endParaRPr kumimoji="0" lang="zh-CN" altLang="en-US" sz="2400" b="1" i="0" u="none" strike="noStrike" kern="0" cap="none" spc="0" normalizeH="0" baseline="0" noProof="0" dirty="0">
              <a:ln>
                <a:noFill/>
              </a:ln>
              <a:solidFill>
                <a:srgbClr val="008000"/>
              </a:solidFill>
              <a:effectLst/>
              <a:uLnTx/>
              <a:uFillTx/>
              <a:latin typeface="+mn-lt"/>
              <a:ea typeface="+mn-ea"/>
              <a:cs typeface="+mn-cs"/>
            </a:endParaRPr>
          </a:p>
        </p:txBody>
      </p:sp>
      <p:sp>
        <p:nvSpPr>
          <p:cNvPr id="13" name="文本框 12"/>
          <p:cNvSpPr txBox="1"/>
          <p:nvPr/>
        </p:nvSpPr>
        <p:spPr>
          <a:xfrm>
            <a:off x="5938838" y="1290638"/>
            <a:ext cx="3081338" cy="1128713"/>
          </a:xfrm>
          <a:prstGeom prst="rect">
            <a:avLst/>
          </a:prstGeom>
          <a:noFill/>
        </p:spPr>
        <p:txBody>
          <a:bodyPr>
            <a:spAutoFit/>
          </a:bodyPr>
          <a:lstStyle/>
          <a:p>
            <a:pPr marR="0" defTabSz="914400" eaLnBrk="1" hangingPunct="1">
              <a:lnSpc>
                <a:spcPct val="150000"/>
              </a:lnSpc>
              <a:buClrTx/>
              <a:buSzTx/>
              <a:buFont typeface="Wingdings" panose="05000000000000000000" pitchFamily="2" charset="2"/>
              <a:buNone/>
              <a:defRPr/>
            </a:pPr>
            <a:r>
              <a:rPr kumimoji="0" lang="zh-CN" altLang="en-US" sz="2400" kern="0" cap="none" spc="0" normalizeH="0" baseline="0" noProof="0" dirty="0">
                <a:solidFill>
                  <a:srgbClr val="000000"/>
                </a:solidFill>
                <a:latin typeface="Arial" panose="020B0604020202020204" pitchFamily="34" charset="0"/>
                <a:ea typeface="宋体" panose="02010600030101010101" pitchFamily="2" charset="-122"/>
                <a:cs typeface="+mn-cs"/>
              </a:rPr>
              <a:t>访问快表的时间为</a:t>
            </a:r>
            <a:r>
              <a:rPr kumimoji="0" lang="zh-CN" altLang="zh-CN" sz="2400" kern="1200" cap="none" spc="0" normalizeH="0" baseline="0" noProof="0" dirty="0">
                <a:solidFill>
                  <a:srgbClr val="000000"/>
                </a:solidFill>
                <a:latin typeface="Arial" panose="020B0604020202020204" pitchFamily="34" charset="0"/>
                <a:ea typeface="宋体" panose="02010600030101010101" pitchFamily="2" charset="-122"/>
                <a:cs typeface="+mn-cs"/>
              </a:rPr>
              <a:t>λ</a:t>
            </a:r>
            <a:endParaRPr kumimoji="0" lang="en-US" altLang="zh-CN" sz="2400" kern="1200" cap="none" spc="0" normalizeH="0" baseline="0" noProof="0" dirty="0">
              <a:solidFill>
                <a:srgbClr val="000000"/>
              </a:solidFill>
              <a:latin typeface="Arial" panose="020B0604020202020204" pitchFamily="34" charset="0"/>
              <a:ea typeface="宋体" panose="02010600030101010101" pitchFamily="2" charset="-122"/>
              <a:cs typeface="+mn-cs"/>
            </a:endParaRPr>
          </a:p>
          <a:p>
            <a:pPr marR="0" defTabSz="914400" eaLnBrk="1" hangingPunct="1">
              <a:lnSpc>
                <a:spcPct val="150000"/>
              </a:lnSpc>
              <a:buClrTx/>
              <a:buSzTx/>
              <a:buFont typeface="Wingdings" panose="05000000000000000000" pitchFamily="2" charset="2"/>
              <a:buNone/>
              <a:defRPr/>
            </a:pPr>
            <a:r>
              <a:rPr kumimoji="0" lang="zh-CN" altLang="en-US" sz="2400" kern="0" cap="none" spc="0" normalizeH="0" baseline="0" noProof="0" dirty="0">
                <a:solidFill>
                  <a:srgbClr val="000000"/>
                </a:solidFill>
                <a:latin typeface="Arial" panose="020B0604020202020204" pitchFamily="34" charset="0"/>
                <a:ea typeface="宋体" panose="02010600030101010101" pitchFamily="2" charset="-122"/>
                <a:cs typeface="+mn-cs"/>
              </a:rPr>
              <a:t>访问内存时间为</a:t>
            </a:r>
            <a:r>
              <a:rPr kumimoji="0" lang="en-US" altLang="zh-CN" sz="2400" kern="0" cap="none" spc="0" normalizeH="0" baseline="0" noProof="0" dirty="0">
                <a:solidFill>
                  <a:srgbClr val="000000"/>
                </a:solidFill>
                <a:latin typeface="Arial" panose="020B0604020202020204" pitchFamily="34" charset="0"/>
                <a:ea typeface="宋体" panose="02010600030101010101" pitchFamily="2" charset="-122"/>
                <a:cs typeface="+mn-cs"/>
              </a:rPr>
              <a:t>t</a:t>
            </a:r>
            <a:endParaRPr kumimoji="0" lang="en-US" altLang="zh-CN" sz="2400" kern="0" cap="none" spc="0" normalizeH="0" baseline="0" noProof="0" dirty="0">
              <a:solidFill>
                <a:srgbClr val="000000"/>
              </a:solidFill>
              <a:latin typeface="Arial" panose="020B0604020202020204" pitchFamily="34" charset="0"/>
              <a:ea typeface="宋体" panose="02010600030101010101" pitchFamily="2" charset="-122"/>
              <a:cs typeface="+mn-cs"/>
            </a:endParaRPr>
          </a:p>
        </p:txBody>
      </p:sp>
      <p:cxnSp>
        <p:nvCxnSpPr>
          <p:cNvPr id="4" name="直接连接符 3"/>
          <p:cNvCxnSpPr/>
          <p:nvPr/>
        </p:nvCxnSpPr>
        <p:spPr>
          <a:xfrm flipH="1">
            <a:off x="4789170" y="1310005"/>
            <a:ext cx="1270" cy="354965"/>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5" name="直接连接符 4"/>
          <p:cNvCxnSpPr/>
          <p:nvPr/>
        </p:nvCxnSpPr>
        <p:spPr>
          <a:xfrm flipH="1">
            <a:off x="4809490" y="1863725"/>
            <a:ext cx="1270" cy="354965"/>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8" name="直接连接符 7"/>
          <p:cNvCxnSpPr/>
          <p:nvPr/>
        </p:nvCxnSpPr>
        <p:spPr>
          <a:xfrm flipH="1">
            <a:off x="4794250" y="603885"/>
            <a:ext cx="1270" cy="354965"/>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10" name="直接连接符 9"/>
          <p:cNvCxnSpPr/>
          <p:nvPr/>
        </p:nvCxnSpPr>
        <p:spPr>
          <a:xfrm flipH="1">
            <a:off x="4752340" y="4220845"/>
            <a:ext cx="36195" cy="1332230"/>
          </a:xfrm>
          <a:prstGeom prst="line">
            <a:avLst/>
          </a:prstGeom>
          <a:solidFill>
            <a:schemeClr val="accent1"/>
          </a:solidFill>
          <a:ln w="28575" cap="flat" cmpd="sng" algn="ctr">
            <a:solidFill>
              <a:srgbClr val="FF0000"/>
            </a:solidFill>
            <a:prstDash val="sysDot"/>
            <a:round/>
            <a:headEnd type="none" w="med" len="med"/>
            <a:tailEnd type="triangle" w="med" len="med"/>
          </a:ln>
        </p:spPr>
      </p:cxnSp>
      <p:sp>
        <p:nvSpPr>
          <p:cNvPr id="15" name="文本框 14"/>
          <p:cNvSpPr txBox="1"/>
          <p:nvPr/>
        </p:nvSpPr>
        <p:spPr>
          <a:xfrm>
            <a:off x="5960745" y="2872740"/>
            <a:ext cx="3103563" cy="3169285"/>
          </a:xfrm>
          <a:prstGeom prst="rect">
            <a:avLst/>
          </a:prstGeom>
          <a:noFill/>
        </p:spPr>
        <p:txBody>
          <a:bodyPr>
            <a:spAutoFit/>
          </a:bodyPr>
          <a:lstStyle/>
          <a:p>
            <a:pPr marR="0" defTabSz="914400" eaLnBrk="1" hangingPunct="1">
              <a:lnSpc>
                <a:spcPts val="3000"/>
              </a:lnSpc>
              <a:buClrTx/>
              <a:buSzTx/>
              <a:buFont typeface="Wingdings" panose="05000000000000000000" pitchFamily="2" charset="2"/>
              <a:buNone/>
              <a:defRPr/>
            </a:pPr>
            <a:r>
              <a:rPr kumimoji="0" lang="zh-CN" altLang="en-US" kern="0" cap="none" spc="0" normalizeH="0" baseline="0" noProof="0" dirty="0">
                <a:solidFill>
                  <a:srgbClr val="00B050"/>
                </a:solidFill>
                <a:latin typeface="Arial" panose="020B0604020202020204" pitchFamily="34" charset="0"/>
                <a:ea typeface="宋体" panose="02010600030101010101" pitchFamily="2" charset="-122"/>
                <a:cs typeface="+mn-cs"/>
              </a:rPr>
              <a:t>（</a:t>
            </a:r>
            <a:r>
              <a:rPr kumimoji="0" lang="en-US" altLang="zh-CN" kern="0" cap="none" spc="0" normalizeH="0" baseline="0" noProof="0" dirty="0">
                <a:solidFill>
                  <a:srgbClr val="00B050"/>
                </a:solidFill>
                <a:latin typeface="Arial" panose="020B0604020202020204" pitchFamily="34" charset="0"/>
                <a:ea typeface="宋体" panose="02010600030101010101" pitchFamily="2" charset="-122"/>
                <a:cs typeface="+mn-cs"/>
              </a:rPr>
              <a:t>2</a:t>
            </a:r>
            <a:r>
              <a:rPr kumimoji="0" lang="zh-CN" altLang="en-US" kern="0" cap="none" spc="0" normalizeH="0" baseline="0" noProof="0" dirty="0">
                <a:solidFill>
                  <a:srgbClr val="00B050"/>
                </a:solidFill>
                <a:latin typeface="Arial" panose="020B0604020202020204" pitchFamily="34" charset="0"/>
                <a:ea typeface="宋体" panose="02010600030101010101" pitchFamily="2" charset="-122"/>
                <a:cs typeface="+mn-cs"/>
              </a:rPr>
              <a:t>）被访问的页在内存，对应的页表项不在快表中</a:t>
            </a:r>
            <a:endParaRPr kumimoji="0" lang="zh-CN" altLang="en-US" kern="0" cap="none" spc="0" normalizeH="0" baseline="0" noProof="0" dirty="0">
              <a:solidFill>
                <a:srgbClr val="00B050"/>
              </a:solidFill>
              <a:latin typeface="Arial" panose="020B0604020202020204" pitchFamily="34" charset="0"/>
              <a:ea typeface="宋体" panose="02010600030101010101" pitchFamily="2" charset="-122"/>
              <a:cs typeface="+mn-cs"/>
            </a:endParaRPr>
          </a:p>
          <a:p>
            <a:pPr marR="0" defTabSz="914400" eaLnBrk="1" hangingPunct="1">
              <a:lnSpc>
                <a:spcPts val="3000"/>
              </a:lnSpc>
              <a:buClrTx/>
              <a:buSzTx/>
              <a:buFont typeface="Wingdings" panose="05000000000000000000" pitchFamily="2" charset="2"/>
              <a:buNone/>
              <a:defRPr/>
            </a:pPr>
            <a:r>
              <a:rPr lang="zh-CN" altLang="en-US" kern="0" noProof="0" dirty="0">
                <a:solidFill>
                  <a:srgbClr val="000000"/>
                </a:solidFill>
                <a:sym typeface="+mn-ea"/>
              </a:rPr>
              <a:t>查找</a:t>
            </a:r>
            <a:r>
              <a:rPr lang="en-US" altLang="zh-CN" noProof="0" dirty="0">
                <a:solidFill>
                  <a:srgbClr val="000000"/>
                </a:solidFill>
                <a:sym typeface="+mn-ea"/>
              </a:rPr>
              <a:t>快表</a:t>
            </a:r>
            <a:r>
              <a:rPr lang="en-US" altLang="zh-CN" noProof="0" dirty="0">
                <a:solidFill>
                  <a:srgbClr val="000000"/>
                </a:solidFill>
                <a:sym typeface="+mn-ea"/>
              </a:rPr>
              <a:t>λ</a:t>
            </a:r>
            <a:endParaRPr lang="en-US" altLang="zh-CN" noProof="0" dirty="0">
              <a:solidFill>
                <a:srgbClr val="000000"/>
              </a:solidFill>
              <a:sym typeface="+mn-ea"/>
            </a:endParaRPr>
          </a:p>
          <a:p>
            <a:pPr marR="0" defTabSz="914400" eaLnBrk="1" hangingPunct="1">
              <a:lnSpc>
                <a:spcPts val="3000"/>
              </a:lnSpc>
              <a:buClrTx/>
              <a:buSzTx/>
              <a:buFont typeface="Wingdings" panose="05000000000000000000" pitchFamily="2" charset="2"/>
              <a:buNone/>
              <a:defRPr/>
            </a:pPr>
            <a:r>
              <a:rPr lang="zh-CN" altLang="en-US" kern="0" noProof="0" dirty="0">
                <a:solidFill>
                  <a:srgbClr val="000000"/>
                </a:solidFill>
                <a:sym typeface="+mn-ea"/>
              </a:rPr>
              <a:t>查找</a:t>
            </a:r>
            <a:r>
              <a:rPr lang="zh-CN" altLang="en-US" noProof="0" dirty="0">
                <a:solidFill>
                  <a:srgbClr val="000000"/>
                </a:solidFill>
                <a:sym typeface="+mn-ea"/>
              </a:rPr>
              <a:t>页表</a:t>
            </a:r>
            <a:r>
              <a:rPr lang="en-US" altLang="zh-CN" noProof="0" dirty="0">
                <a:solidFill>
                  <a:srgbClr val="000000"/>
                </a:solidFill>
                <a:sym typeface="+mn-ea"/>
              </a:rPr>
              <a:t>t</a:t>
            </a:r>
            <a:endParaRPr kumimoji="0" lang="en-US" altLang="zh-CN" cap="none" spc="0" normalizeH="0" baseline="0" noProof="0" dirty="0">
              <a:solidFill>
                <a:srgbClr val="000000"/>
              </a:solidFill>
              <a:latin typeface="Arial" panose="020B0604020202020204" pitchFamily="34" charset="0"/>
              <a:ea typeface="宋体" panose="02010600030101010101" pitchFamily="2" charset="-122"/>
              <a:cs typeface="+mn-cs"/>
            </a:endParaRPr>
          </a:p>
          <a:p>
            <a:pPr marR="0" defTabSz="914400" eaLnBrk="1" hangingPunct="1">
              <a:lnSpc>
                <a:spcPts val="3000"/>
              </a:lnSpc>
              <a:buClrTx/>
              <a:buSzTx/>
              <a:buFont typeface="Wingdings" panose="05000000000000000000" pitchFamily="2" charset="2"/>
              <a:buNone/>
              <a:defRPr/>
            </a:pPr>
            <a:r>
              <a:rPr kumimoji="0" lang="zh-CN" altLang="en-US" cap="none" spc="0" normalizeH="0" baseline="0" noProof="0" dirty="0">
                <a:solidFill>
                  <a:srgbClr val="000000"/>
                </a:solidFill>
                <a:latin typeface="Arial" panose="020B0604020202020204" pitchFamily="34" charset="0"/>
                <a:ea typeface="宋体" panose="02010600030101010101" pitchFamily="2" charset="-122"/>
                <a:cs typeface="+mn-cs"/>
              </a:rPr>
              <a:t>更新块表</a:t>
            </a:r>
            <a:r>
              <a:rPr lang="en-US" altLang="zh-CN" noProof="0" dirty="0">
                <a:solidFill>
                  <a:srgbClr val="000000"/>
                </a:solidFill>
                <a:sym typeface="+mn-ea"/>
              </a:rPr>
              <a:t>λ</a:t>
            </a:r>
            <a:endParaRPr lang="en-US" altLang="zh-CN" noProof="0" dirty="0">
              <a:solidFill>
                <a:srgbClr val="000000"/>
              </a:solidFill>
              <a:sym typeface="+mn-ea"/>
            </a:endParaRPr>
          </a:p>
          <a:p>
            <a:pPr marR="0" defTabSz="914400" eaLnBrk="1" hangingPunct="1">
              <a:lnSpc>
                <a:spcPts val="3000"/>
              </a:lnSpc>
              <a:buClrTx/>
              <a:buSzTx/>
              <a:buFont typeface="Wingdings" panose="05000000000000000000" pitchFamily="2" charset="2"/>
              <a:buNone/>
              <a:defRPr/>
            </a:pPr>
            <a:r>
              <a:rPr lang="en-US" altLang="zh-CN" noProof="0" dirty="0">
                <a:solidFill>
                  <a:srgbClr val="000000"/>
                </a:solidFill>
                <a:sym typeface="+mn-ea"/>
              </a:rPr>
              <a:t>访问物理地址</a:t>
            </a:r>
            <a:r>
              <a:rPr lang="en-US" altLang="zh-CN" noProof="0" dirty="0">
                <a:solidFill>
                  <a:srgbClr val="000000"/>
                </a:solidFill>
                <a:sym typeface="+mn-ea"/>
              </a:rPr>
              <a:t>t</a:t>
            </a:r>
            <a:endParaRPr kumimoji="0" lang="en-US" altLang="zh-CN" kern="0" cap="none" spc="0" normalizeH="0" baseline="0" noProof="0" dirty="0">
              <a:solidFill>
                <a:srgbClr val="00B050"/>
              </a:solidFill>
              <a:latin typeface="Arial" panose="020B0604020202020204" pitchFamily="34" charset="0"/>
              <a:ea typeface="宋体" panose="02010600030101010101" pitchFamily="2" charset="-122"/>
              <a:cs typeface="+mn-cs"/>
            </a:endParaRPr>
          </a:p>
          <a:p>
            <a:pPr marR="0" defTabSz="914400" eaLnBrk="1" hangingPunct="1">
              <a:lnSpc>
                <a:spcPts val="3000"/>
              </a:lnSpc>
              <a:buClrTx/>
              <a:buSzTx/>
              <a:buFont typeface="Wingdings" panose="05000000000000000000" pitchFamily="2" charset="2"/>
              <a:buNone/>
              <a:defRPr/>
            </a:pPr>
            <a:r>
              <a:rPr kumimoji="0" lang="en-US" altLang="zh-CN" kern="0" cap="none" spc="0" normalizeH="0" baseline="0" noProof="0" dirty="0">
                <a:solidFill>
                  <a:srgbClr val="000000"/>
                </a:solidFill>
                <a:latin typeface="Arial" panose="020B0604020202020204" pitchFamily="34" charset="0"/>
                <a:ea typeface="宋体" panose="02010600030101010101" pitchFamily="2" charset="-122"/>
                <a:cs typeface="+mn-cs"/>
              </a:rPr>
              <a:t>EAT=</a:t>
            </a:r>
            <a:r>
              <a:rPr kumimoji="0" lang="zh-CN" altLang="zh-CN" kern="1200" cap="none" spc="0" normalizeH="0" baseline="0" noProof="0" dirty="0">
                <a:solidFill>
                  <a:srgbClr val="000000"/>
                </a:solidFill>
                <a:latin typeface="Arial" panose="020B0604020202020204" pitchFamily="34" charset="0"/>
                <a:ea typeface="宋体" panose="02010600030101010101" pitchFamily="2" charset="-122"/>
                <a:cs typeface="+mn-cs"/>
              </a:rPr>
              <a:t> λ</a:t>
            </a:r>
            <a:r>
              <a:rPr kumimoji="0" lang="en-US" altLang="zh-CN" kern="1200" cap="none" spc="0" normalizeH="0" baseline="0" noProof="0" dirty="0">
                <a:solidFill>
                  <a:srgbClr val="000000"/>
                </a:solidFill>
                <a:latin typeface="Arial" panose="020B0604020202020204" pitchFamily="34" charset="0"/>
                <a:ea typeface="宋体" panose="02010600030101010101" pitchFamily="2" charset="-122"/>
                <a:cs typeface="+mn-cs"/>
              </a:rPr>
              <a:t>+t+</a:t>
            </a:r>
            <a:r>
              <a:rPr kumimoji="0" lang="zh-CN" altLang="zh-CN" kern="1200" cap="none" spc="0" normalizeH="0" baseline="0" noProof="0" dirty="0">
                <a:solidFill>
                  <a:srgbClr val="000000"/>
                </a:solidFill>
                <a:latin typeface="Arial" panose="020B0604020202020204" pitchFamily="34" charset="0"/>
                <a:ea typeface="宋体" panose="02010600030101010101" pitchFamily="2" charset="-122"/>
                <a:cs typeface="+mn-cs"/>
              </a:rPr>
              <a:t>λ</a:t>
            </a:r>
            <a:r>
              <a:rPr kumimoji="0" lang="en-US" altLang="zh-CN" kern="1200" cap="none" spc="0" normalizeH="0" baseline="0" noProof="0" dirty="0">
                <a:solidFill>
                  <a:srgbClr val="000000"/>
                </a:solidFill>
                <a:latin typeface="Arial" panose="020B0604020202020204" pitchFamily="34" charset="0"/>
                <a:ea typeface="宋体" panose="02010600030101010101" pitchFamily="2" charset="-122"/>
                <a:cs typeface="+mn-cs"/>
              </a:rPr>
              <a:t>+t</a:t>
            </a:r>
            <a:endParaRPr kumimoji="0" lang="zh-CN" altLang="en-US" kern="1200" cap="none" spc="0" normalizeH="0" baseline="0" noProof="0" dirty="0">
              <a:solidFill>
                <a:srgbClr val="000000"/>
              </a:solidFill>
              <a:latin typeface="Arial" panose="020B0604020202020204" pitchFamily="34" charset="0"/>
              <a:ea typeface="宋体" panose="02010600030101010101" pitchFamily="2" charset="-122"/>
              <a:cs typeface="+mn-cs"/>
            </a:endParaRPr>
          </a:p>
        </p:txBody>
      </p:sp>
      <p:cxnSp>
        <p:nvCxnSpPr>
          <p:cNvPr id="3" name="直接连接符 2"/>
          <p:cNvCxnSpPr/>
          <p:nvPr/>
        </p:nvCxnSpPr>
        <p:spPr>
          <a:xfrm flipH="1">
            <a:off x="4794250" y="2559685"/>
            <a:ext cx="1270" cy="354965"/>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6" name="直接连接符 5"/>
          <p:cNvCxnSpPr/>
          <p:nvPr/>
        </p:nvCxnSpPr>
        <p:spPr>
          <a:xfrm flipH="1">
            <a:off x="4794250" y="3057525"/>
            <a:ext cx="1270" cy="354965"/>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11" name="直接连接符 10"/>
          <p:cNvCxnSpPr/>
          <p:nvPr/>
        </p:nvCxnSpPr>
        <p:spPr>
          <a:xfrm flipH="1">
            <a:off x="4794250" y="3733165"/>
            <a:ext cx="1270" cy="354965"/>
          </a:xfrm>
          <a:prstGeom prst="line">
            <a:avLst/>
          </a:prstGeom>
          <a:solidFill>
            <a:schemeClr val="accent1"/>
          </a:solidFill>
          <a:ln w="28575" cap="flat" cmpd="sng" algn="ctr">
            <a:solidFill>
              <a:srgbClr val="FF0000"/>
            </a:solidFill>
            <a:prstDash val="sysDot"/>
            <a:round/>
            <a:headEnd type="none" w="med" len="med"/>
            <a:tailEnd type="triangle" w="med" len="med"/>
          </a:ln>
        </p:spPr>
      </p:cxnSp>
    </p:spTree>
  </p:cSld>
  <p:clrMapOvr>
    <a:masterClrMapping/>
  </p:clrMapOvr>
  <p:transition>
    <p:blinds/>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矩形 1"/>
          <p:cNvSpPr/>
          <p:nvPr/>
        </p:nvSpPr>
        <p:spPr>
          <a:xfrm>
            <a:off x="4674235" y="1338263"/>
            <a:ext cx="1368425" cy="107950"/>
          </a:xfrm>
          <a:prstGeom prst="rect">
            <a:avLst/>
          </a:prstGeom>
          <a:solidFill>
            <a:schemeClr val="bg1"/>
          </a:solid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63491" name="矩形 2"/>
          <p:cNvSpPr/>
          <p:nvPr/>
        </p:nvSpPr>
        <p:spPr>
          <a:xfrm flipH="1">
            <a:off x="5970588" y="1446213"/>
            <a:ext cx="46037" cy="2339975"/>
          </a:xfrm>
          <a:prstGeom prst="rect">
            <a:avLst/>
          </a:prstGeom>
          <a:solidFill>
            <a:schemeClr val="bg1"/>
          </a:solid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grpSp>
        <p:nvGrpSpPr>
          <p:cNvPr id="63492" name="组合 26"/>
          <p:cNvGrpSpPr/>
          <p:nvPr/>
        </p:nvGrpSpPr>
        <p:grpSpPr>
          <a:xfrm>
            <a:off x="-174625" y="320675"/>
            <a:ext cx="7086600" cy="6546850"/>
            <a:chOff x="2057400" y="311150"/>
            <a:chExt cx="7086600" cy="6546850"/>
          </a:xfrm>
        </p:grpSpPr>
        <p:graphicFrame>
          <p:nvGraphicFramePr>
            <p:cNvPr id="63494" name="Object 3"/>
            <p:cNvGraphicFramePr>
              <a:graphicFrameLocks noChangeAspect="1"/>
            </p:cNvGraphicFramePr>
            <p:nvPr/>
          </p:nvGraphicFramePr>
          <p:xfrm>
            <a:off x="2057400" y="311150"/>
            <a:ext cx="7086600" cy="6546850"/>
          </p:xfrm>
          <a:graphic>
            <a:graphicData uri="http://schemas.openxmlformats.org/presentationml/2006/ole">
              <mc:AlternateContent xmlns:mc="http://schemas.openxmlformats.org/markup-compatibility/2006">
                <mc:Choice xmlns:v="urn:schemas-microsoft-com:vml" Requires="v">
                  <p:oleObj spid="_x0000_s2" name="" r:id="rId1" imgW="4747260" imgH="4389120" progId="Visio.Drawing.4">
                    <p:embed/>
                  </p:oleObj>
                </mc:Choice>
                <mc:Fallback>
                  <p:oleObj name="" r:id="rId1" imgW="4747260" imgH="4389120" progId="Visio.Drawing.4">
                    <p:embed/>
                    <p:pic>
                      <p:nvPicPr>
                        <p:cNvPr id="0" name="图片 3088"/>
                        <p:cNvPicPr/>
                        <p:nvPr/>
                      </p:nvPicPr>
                      <p:blipFill>
                        <a:blip r:embed="rId2"/>
                        <a:stretch>
                          <a:fillRect/>
                        </a:stretch>
                      </p:blipFill>
                      <p:spPr>
                        <a:xfrm>
                          <a:off x="2057400" y="311150"/>
                          <a:ext cx="7086600" cy="6546850"/>
                        </a:xfrm>
                        <a:prstGeom prst="rect">
                          <a:avLst/>
                        </a:prstGeom>
                        <a:noFill/>
                        <a:ln w="38100">
                          <a:noFill/>
                          <a:miter/>
                        </a:ln>
                      </p:spPr>
                    </p:pic>
                  </p:oleObj>
                </mc:Fallback>
              </mc:AlternateContent>
            </a:graphicData>
          </a:graphic>
        </p:graphicFrame>
        <p:sp>
          <p:nvSpPr>
            <p:cNvPr id="63495" name="矩形 1"/>
            <p:cNvSpPr/>
            <p:nvPr/>
          </p:nvSpPr>
          <p:spPr>
            <a:xfrm>
              <a:off x="7020272" y="1376772"/>
              <a:ext cx="1368152" cy="108012"/>
            </a:xfrm>
            <a:prstGeom prst="rect">
              <a:avLst/>
            </a:prstGeom>
            <a:solidFill>
              <a:schemeClr val="bg1"/>
            </a:solid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63496" name="矩形 2"/>
            <p:cNvSpPr/>
            <p:nvPr/>
          </p:nvSpPr>
          <p:spPr>
            <a:xfrm flipH="1">
              <a:off x="8316416" y="1484784"/>
              <a:ext cx="282966" cy="2340260"/>
            </a:xfrm>
            <a:prstGeom prst="rect">
              <a:avLst/>
            </a:prstGeom>
            <a:solidFill>
              <a:schemeClr val="bg1"/>
            </a:solid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cxnSp>
          <p:nvCxnSpPr>
            <p:cNvPr id="63497" name="直接箭头连接符 4"/>
            <p:cNvCxnSpPr/>
            <p:nvPr/>
          </p:nvCxnSpPr>
          <p:spPr>
            <a:xfrm flipH="1">
              <a:off x="7010560" y="3825044"/>
              <a:ext cx="919224" cy="0"/>
            </a:xfrm>
            <a:prstGeom prst="straightConnector1">
              <a:avLst/>
            </a:prstGeom>
            <a:ln w="9525" cap="flat" cmpd="sng">
              <a:solidFill>
                <a:srgbClr val="000000"/>
              </a:solidFill>
              <a:prstDash val="solid"/>
              <a:headEnd type="none" w="med" len="med"/>
              <a:tailEnd type="stealth" w="med" len="lg"/>
            </a:ln>
          </p:spPr>
        </p:cxnSp>
        <p:grpSp>
          <p:nvGrpSpPr>
            <p:cNvPr id="63498" name="组合 20"/>
            <p:cNvGrpSpPr/>
            <p:nvPr/>
          </p:nvGrpSpPr>
          <p:grpSpPr>
            <a:xfrm>
              <a:off x="7940075" y="3681029"/>
              <a:ext cx="366624" cy="297418"/>
              <a:chOff x="9488248" y="3639348"/>
              <a:chExt cx="448347" cy="399574"/>
            </a:xfrm>
          </p:grpSpPr>
          <p:sp>
            <p:nvSpPr>
              <p:cNvPr id="21" name="弧形 20"/>
              <p:cNvSpPr/>
              <p:nvPr/>
            </p:nvSpPr>
            <p:spPr bwMode="auto">
              <a:xfrm>
                <a:off x="9504513" y="3646262"/>
                <a:ext cx="390215" cy="324181"/>
              </a:xfrm>
              <a:prstGeom prst="arc">
                <a:avLst/>
              </a:prstGeom>
              <a:noFill/>
              <a:ln w="9525" cap="flat" cmpd="sng" algn="ctr">
                <a:solidFill>
                  <a:srgbClr val="000000"/>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 name="弧形 21"/>
              <p:cNvSpPr/>
              <p:nvPr/>
            </p:nvSpPr>
            <p:spPr bwMode="auto">
              <a:xfrm rot="16200000">
                <a:off x="9513798" y="3615049"/>
                <a:ext cx="398827" cy="448456"/>
              </a:xfrm>
              <a:prstGeom prst="arc">
                <a:avLst/>
              </a:prstGeom>
              <a:noFill/>
              <a:ln w="9525" cap="flat" cmpd="sng" algn="ctr">
                <a:solidFill>
                  <a:srgbClr val="000000"/>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cxnSp>
          <p:nvCxnSpPr>
            <p:cNvPr id="63499" name="直接连接符 24"/>
            <p:cNvCxnSpPr>
              <a:stCxn id="21" idx="2"/>
            </p:cNvCxnSpPr>
            <p:nvPr/>
          </p:nvCxnSpPr>
          <p:spPr>
            <a:xfrm>
              <a:off x="8271657" y="3806815"/>
              <a:ext cx="90443" cy="18229"/>
            </a:xfrm>
            <a:prstGeom prst="line">
              <a:avLst/>
            </a:prstGeom>
            <a:ln w="9525" cap="flat" cmpd="sng">
              <a:solidFill>
                <a:schemeClr val="tx1"/>
              </a:solidFill>
              <a:prstDash val="solid"/>
              <a:headEnd type="none" w="med" len="med"/>
              <a:tailEnd type="none" w="med" len="med"/>
            </a:ln>
          </p:spPr>
        </p:cxnSp>
      </p:grpSp>
      <p:sp>
        <p:nvSpPr>
          <p:cNvPr id="23" name="文本框 22"/>
          <p:cNvSpPr txBox="1"/>
          <p:nvPr/>
        </p:nvSpPr>
        <p:spPr>
          <a:xfrm>
            <a:off x="6211888" y="1447800"/>
            <a:ext cx="2565400" cy="4324350"/>
          </a:xfrm>
          <a:prstGeom prst="rect">
            <a:avLst/>
          </a:prstGeom>
          <a:noFill/>
        </p:spPr>
        <p:txBody>
          <a:bodyPr>
            <a:spAutoFit/>
          </a:bodyPr>
          <a:lstStyle/>
          <a:p>
            <a:pPr marR="0" defTabSz="914400" eaLnBrk="1" hangingPunct="1">
              <a:lnSpc>
                <a:spcPts val="3000"/>
              </a:lnSpc>
              <a:buClrTx/>
              <a:buSzTx/>
              <a:buFont typeface="Wingdings" panose="05000000000000000000" pitchFamily="2" charset="2"/>
              <a:buNone/>
              <a:defRPr/>
            </a:pPr>
            <a:r>
              <a:rPr kumimoji="0" lang="zh-CN" altLang="en-US" kern="0" cap="none" spc="0" normalizeH="0" baseline="0" noProof="0" dirty="0">
                <a:solidFill>
                  <a:srgbClr val="00B050"/>
                </a:solidFill>
                <a:latin typeface="Arial" panose="020B0604020202020204" pitchFamily="34" charset="0"/>
                <a:ea typeface="宋体" panose="02010600030101010101" pitchFamily="2" charset="-122"/>
                <a:cs typeface="+mn-cs"/>
              </a:rPr>
              <a:t>（</a:t>
            </a:r>
            <a:r>
              <a:rPr kumimoji="0" lang="en-US" altLang="zh-CN" kern="0" cap="none" spc="0" normalizeH="0" baseline="0" noProof="0" dirty="0">
                <a:solidFill>
                  <a:srgbClr val="00B050"/>
                </a:solidFill>
                <a:latin typeface="Arial" panose="020B0604020202020204" pitchFamily="34" charset="0"/>
                <a:ea typeface="宋体" panose="02010600030101010101" pitchFamily="2" charset="-122"/>
                <a:cs typeface="+mn-cs"/>
              </a:rPr>
              <a:t>3</a:t>
            </a:r>
            <a:r>
              <a:rPr kumimoji="0" lang="zh-CN" altLang="en-US" kern="0" cap="none" spc="0" normalizeH="0" baseline="0" noProof="0" dirty="0">
                <a:solidFill>
                  <a:srgbClr val="00B050"/>
                </a:solidFill>
                <a:latin typeface="Arial" panose="020B0604020202020204" pitchFamily="34" charset="0"/>
                <a:ea typeface="宋体" panose="02010600030101010101" pitchFamily="2" charset="-122"/>
                <a:cs typeface="+mn-cs"/>
              </a:rPr>
              <a:t>）被访问的页不在内存</a:t>
            </a:r>
            <a:endParaRPr kumimoji="0" lang="en-US" altLang="zh-CN" kern="0" cap="none" spc="0" normalizeH="0" baseline="0" noProof="0" dirty="0">
              <a:solidFill>
                <a:srgbClr val="00B050"/>
              </a:solidFill>
              <a:latin typeface="Arial" panose="020B0604020202020204" pitchFamily="34" charset="0"/>
              <a:ea typeface="宋体" panose="02010600030101010101" pitchFamily="2" charset="-122"/>
              <a:cs typeface="+mn-cs"/>
            </a:endParaRPr>
          </a:p>
          <a:p>
            <a:pPr marR="0" defTabSz="914400" eaLnBrk="1" hangingPunct="1">
              <a:lnSpc>
                <a:spcPts val="3000"/>
              </a:lnSpc>
              <a:buClrTx/>
              <a:buSzTx/>
              <a:buFont typeface="Wingdings" panose="05000000000000000000" pitchFamily="2" charset="2"/>
              <a:buNone/>
              <a:defRPr/>
            </a:pPr>
            <a:endParaRPr kumimoji="0" lang="en-US" altLang="zh-CN" kern="0" cap="none" spc="0" normalizeH="0" baseline="0" noProof="0" dirty="0">
              <a:solidFill>
                <a:srgbClr val="000000"/>
              </a:solidFill>
              <a:latin typeface="Arial" panose="020B0604020202020204" pitchFamily="34" charset="0"/>
              <a:ea typeface="宋体" panose="02010600030101010101" pitchFamily="2" charset="-122"/>
              <a:cs typeface="+mn-cs"/>
            </a:endParaRPr>
          </a:p>
          <a:p>
            <a:pPr marR="0" defTabSz="914400" eaLnBrk="1" hangingPunct="1">
              <a:lnSpc>
                <a:spcPts val="3000"/>
              </a:lnSpc>
              <a:buClrTx/>
              <a:buSzTx/>
              <a:buFont typeface="Wingdings" panose="05000000000000000000" pitchFamily="2" charset="2"/>
              <a:buNone/>
              <a:defRPr/>
            </a:pPr>
            <a:r>
              <a:rPr kumimoji="0" lang="zh-CN" altLang="en-US" kern="0" cap="none" spc="0" normalizeH="0" baseline="0" noProof="0" dirty="0">
                <a:solidFill>
                  <a:srgbClr val="000000"/>
                </a:solidFill>
                <a:latin typeface="Arial" panose="020B0604020202020204" pitchFamily="34" charset="0"/>
                <a:ea typeface="宋体" panose="02010600030101010101" pitchFamily="2" charset="-122"/>
                <a:cs typeface="+mn-cs"/>
              </a:rPr>
              <a:t>查找快表</a:t>
            </a:r>
            <a:r>
              <a:rPr kumimoji="0" lang="zh-CN" altLang="zh-CN" kern="1200" cap="none" spc="0" normalizeH="0" baseline="0" noProof="0" dirty="0">
                <a:solidFill>
                  <a:srgbClr val="000000"/>
                </a:solidFill>
                <a:latin typeface="Arial" panose="020B0604020202020204" pitchFamily="34" charset="0"/>
                <a:ea typeface="宋体" panose="02010600030101010101" pitchFamily="2" charset="-122"/>
                <a:cs typeface="+mn-cs"/>
              </a:rPr>
              <a:t>λ </a:t>
            </a:r>
            <a:r>
              <a:rPr kumimoji="0" lang="zh-CN" altLang="en-US" kern="0" cap="none" spc="0" normalizeH="0" baseline="0" noProof="0" dirty="0">
                <a:solidFill>
                  <a:srgbClr val="000000"/>
                </a:solidFill>
                <a:latin typeface="Arial" panose="020B0604020202020204" pitchFamily="34" charset="0"/>
                <a:ea typeface="宋体" panose="02010600030101010101" pitchFamily="2" charset="-122"/>
                <a:cs typeface="+mn-cs"/>
              </a:rPr>
              <a:t>、查找页表</a:t>
            </a:r>
            <a:r>
              <a:rPr kumimoji="0" lang="en-US" altLang="zh-CN" kern="0" cap="none" spc="0" normalizeH="0" baseline="0" noProof="0" dirty="0">
                <a:solidFill>
                  <a:srgbClr val="000000"/>
                </a:solidFill>
                <a:latin typeface="Arial" panose="020B0604020202020204" pitchFamily="34" charset="0"/>
                <a:ea typeface="宋体" panose="02010600030101010101" pitchFamily="2" charset="-122"/>
                <a:cs typeface="+mn-cs"/>
              </a:rPr>
              <a:t>t</a:t>
            </a:r>
            <a:r>
              <a:rPr kumimoji="0" lang="zh-CN" altLang="en-US" kern="0" cap="none" spc="0" normalizeH="0" baseline="0" noProof="0" dirty="0">
                <a:solidFill>
                  <a:srgbClr val="000000"/>
                </a:solidFill>
                <a:latin typeface="Arial" panose="020B0604020202020204" pitchFamily="34" charset="0"/>
                <a:ea typeface="宋体" panose="02010600030101010101" pitchFamily="2" charset="-122"/>
                <a:cs typeface="+mn-cs"/>
              </a:rPr>
              <a:t>、</a:t>
            </a:r>
            <a:endParaRPr kumimoji="0" lang="en-US" altLang="zh-CN" kern="0" cap="none" spc="0" normalizeH="0" baseline="0" noProof="0" dirty="0">
              <a:solidFill>
                <a:srgbClr val="000000"/>
              </a:solidFill>
              <a:latin typeface="Arial" panose="020B0604020202020204" pitchFamily="34" charset="0"/>
              <a:ea typeface="宋体" panose="02010600030101010101" pitchFamily="2" charset="-122"/>
              <a:cs typeface="+mn-cs"/>
            </a:endParaRPr>
          </a:p>
          <a:p>
            <a:pPr marR="0" defTabSz="914400" eaLnBrk="1" hangingPunct="1">
              <a:lnSpc>
                <a:spcPts val="3000"/>
              </a:lnSpc>
              <a:buClrTx/>
              <a:buSzTx/>
              <a:buFont typeface="Wingdings" panose="05000000000000000000" pitchFamily="2" charset="2"/>
              <a:buNone/>
              <a:defRPr/>
            </a:pPr>
            <a:r>
              <a:rPr kumimoji="0" lang="zh-CN" altLang="en-US" kern="0" cap="none" spc="0" normalizeH="0" baseline="0" noProof="0" dirty="0">
                <a:solidFill>
                  <a:srgbClr val="000000"/>
                </a:solidFill>
                <a:latin typeface="Arial" panose="020B0604020202020204" pitchFamily="34" charset="0"/>
                <a:ea typeface="宋体" panose="02010600030101010101" pitchFamily="2" charset="-122"/>
                <a:cs typeface="+mn-cs"/>
              </a:rPr>
              <a:t>处理缺页中断</a:t>
            </a:r>
            <a:r>
              <a:rPr kumimoji="0" lang="en-US" altLang="zh-CN" kern="0" cap="none" spc="0" normalizeH="0" baseline="0" noProof="0" dirty="0">
                <a:solidFill>
                  <a:srgbClr val="000000"/>
                </a:solidFill>
                <a:latin typeface="Arial" panose="020B0604020202020204" pitchFamily="34" charset="0"/>
                <a:ea typeface="宋体" panose="02010600030101010101" pitchFamily="2" charset="-122"/>
                <a:cs typeface="+mn-cs"/>
              </a:rPr>
              <a:t>ε</a:t>
            </a:r>
            <a:r>
              <a:rPr kumimoji="0" lang="zh-CN" altLang="en-US" kern="0" cap="none" spc="0" normalizeH="0" baseline="0" noProof="0" dirty="0">
                <a:solidFill>
                  <a:srgbClr val="000000"/>
                </a:solidFill>
                <a:latin typeface="Arial" panose="020B0604020202020204" pitchFamily="34" charset="0"/>
                <a:ea typeface="宋体" panose="02010600030101010101" pitchFamily="2" charset="-122"/>
                <a:cs typeface="+mn-cs"/>
              </a:rPr>
              <a:t>、更新快表</a:t>
            </a:r>
            <a:r>
              <a:rPr kumimoji="0" lang="zh-CN" altLang="zh-CN" kern="1200" cap="none" spc="0" normalizeH="0" baseline="0" noProof="0" dirty="0">
                <a:solidFill>
                  <a:srgbClr val="000000"/>
                </a:solidFill>
                <a:latin typeface="Arial" panose="020B0604020202020204" pitchFamily="34" charset="0"/>
                <a:ea typeface="宋体" panose="02010600030101010101" pitchFamily="2" charset="-122"/>
                <a:cs typeface="+mn-cs"/>
              </a:rPr>
              <a:t>λ </a:t>
            </a:r>
            <a:r>
              <a:rPr kumimoji="0" lang="zh-CN" altLang="en-US" kern="0" cap="none" spc="0" normalizeH="0" baseline="0" noProof="0" dirty="0">
                <a:solidFill>
                  <a:srgbClr val="000000"/>
                </a:solidFill>
                <a:latin typeface="Arial" panose="020B0604020202020204" pitchFamily="34" charset="0"/>
                <a:ea typeface="宋体" panose="02010600030101010101" pitchFamily="2" charset="-122"/>
                <a:cs typeface="+mn-cs"/>
              </a:rPr>
              <a:t>、访问物理地址</a:t>
            </a:r>
            <a:r>
              <a:rPr kumimoji="0" lang="en-US" altLang="zh-CN" kern="0" cap="none" spc="0" normalizeH="0" baseline="0" noProof="0" dirty="0">
                <a:solidFill>
                  <a:srgbClr val="000000"/>
                </a:solidFill>
                <a:latin typeface="Arial" panose="020B0604020202020204" pitchFamily="34" charset="0"/>
                <a:ea typeface="宋体" panose="02010600030101010101" pitchFamily="2" charset="-122"/>
                <a:cs typeface="+mn-cs"/>
              </a:rPr>
              <a:t>t</a:t>
            </a:r>
            <a:endParaRPr kumimoji="0" lang="en-US" altLang="zh-CN" kern="0" cap="none" spc="0" normalizeH="0" baseline="0" noProof="0" dirty="0">
              <a:solidFill>
                <a:srgbClr val="000000"/>
              </a:solidFill>
              <a:latin typeface="Arial" panose="020B0604020202020204" pitchFamily="34" charset="0"/>
              <a:ea typeface="宋体" panose="02010600030101010101" pitchFamily="2" charset="-122"/>
              <a:cs typeface="+mn-cs"/>
            </a:endParaRPr>
          </a:p>
          <a:p>
            <a:pPr marR="0" defTabSz="914400" eaLnBrk="1" hangingPunct="1">
              <a:lnSpc>
                <a:spcPts val="3000"/>
              </a:lnSpc>
              <a:buClrTx/>
              <a:buSzTx/>
              <a:buFont typeface="Wingdings" panose="05000000000000000000" pitchFamily="2" charset="2"/>
              <a:buNone/>
              <a:defRPr/>
            </a:pPr>
            <a:endParaRPr kumimoji="0" lang="en-US" altLang="zh-CN" kern="0" cap="none" spc="0" normalizeH="0" baseline="0" noProof="0" dirty="0">
              <a:solidFill>
                <a:srgbClr val="000000"/>
              </a:solidFill>
              <a:latin typeface="Arial" panose="020B0604020202020204" pitchFamily="34" charset="0"/>
              <a:ea typeface="宋体" panose="02010600030101010101" pitchFamily="2" charset="-122"/>
              <a:cs typeface="+mn-cs"/>
            </a:endParaRPr>
          </a:p>
          <a:p>
            <a:pPr marR="0" defTabSz="914400" eaLnBrk="1" hangingPunct="1">
              <a:lnSpc>
                <a:spcPts val="3000"/>
              </a:lnSpc>
              <a:buClrTx/>
              <a:buSzTx/>
              <a:buFont typeface="Wingdings" panose="05000000000000000000" pitchFamily="2" charset="2"/>
              <a:buNone/>
              <a:defRPr/>
            </a:pPr>
            <a:r>
              <a:rPr kumimoji="0" lang="en-US" altLang="zh-CN" kern="0" cap="none" spc="0" normalizeH="0" baseline="0" noProof="0" dirty="0">
                <a:solidFill>
                  <a:srgbClr val="000000"/>
                </a:solidFill>
                <a:latin typeface="Arial" panose="020B0604020202020204" pitchFamily="34" charset="0"/>
                <a:ea typeface="宋体" panose="02010600030101010101" pitchFamily="2" charset="-122"/>
                <a:cs typeface="+mn-cs"/>
              </a:rPr>
              <a:t>ETA=</a:t>
            </a:r>
            <a:r>
              <a:rPr kumimoji="0" lang="zh-CN" altLang="zh-CN" kern="1200" cap="none" spc="0" normalizeH="0" baseline="0" noProof="0" dirty="0">
                <a:solidFill>
                  <a:srgbClr val="000000"/>
                </a:solidFill>
                <a:latin typeface="Arial" panose="020B0604020202020204" pitchFamily="34" charset="0"/>
                <a:ea typeface="宋体" panose="02010600030101010101" pitchFamily="2" charset="-122"/>
                <a:cs typeface="+mn-cs"/>
              </a:rPr>
              <a:t>λ</a:t>
            </a:r>
            <a:r>
              <a:rPr kumimoji="0" lang="en-US" altLang="zh-CN" kern="1200" cap="none" spc="0" normalizeH="0" baseline="0" noProof="0" dirty="0">
                <a:solidFill>
                  <a:srgbClr val="000000"/>
                </a:solidFill>
                <a:latin typeface="Arial" panose="020B0604020202020204" pitchFamily="34" charset="0"/>
                <a:ea typeface="宋体" panose="02010600030101010101" pitchFamily="2" charset="-122"/>
                <a:cs typeface="+mn-cs"/>
              </a:rPr>
              <a:t>+</a:t>
            </a:r>
            <a:r>
              <a:rPr kumimoji="0" lang="en-US" altLang="zh-CN" kern="0" cap="none" spc="0" normalizeH="0" baseline="0" noProof="0" dirty="0" err="1">
                <a:solidFill>
                  <a:srgbClr val="000000"/>
                </a:solidFill>
                <a:latin typeface="Arial" panose="020B0604020202020204" pitchFamily="34" charset="0"/>
                <a:ea typeface="宋体" panose="02010600030101010101" pitchFamily="2" charset="-122"/>
                <a:cs typeface="+mn-cs"/>
              </a:rPr>
              <a:t>t</a:t>
            </a:r>
            <a:r>
              <a:rPr kumimoji="0" lang="en-US" altLang="zh-CN" kern="1200" cap="none" spc="0" normalizeH="0" baseline="0" noProof="0" dirty="0" err="1">
                <a:solidFill>
                  <a:srgbClr val="000000"/>
                </a:solidFill>
                <a:latin typeface="Arial" panose="020B0604020202020204" pitchFamily="34" charset="0"/>
                <a:ea typeface="宋体" panose="02010600030101010101" pitchFamily="2" charset="-122"/>
                <a:cs typeface="+mn-cs"/>
              </a:rPr>
              <a:t>+</a:t>
            </a:r>
            <a:r>
              <a:rPr kumimoji="0" lang="en-US" altLang="zh-CN" kern="0" cap="none" spc="0" normalizeH="0" baseline="0" noProof="0" dirty="0" err="1">
                <a:solidFill>
                  <a:srgbClr val="000000"/>
                </a:solidFill>
                <a:latin typeface="Arial" panose="020B0604020202020204" pitchFamily="34" charset="0"/>
                <a:ea typeface="宋体" panose="02010600030101010101" pitchFamily="2" charset="-122"/>
                <a:cs typeface="+mn-cs"/>
              </a:rPr>
              <a:t>ε</a:t>
            </a:r>
            <a:r>
              <a:rPr kumimoji="0" lang="en-US" altLang="zh-CN" kern="1200" cap="none" spc="0" normalizeH="0" baseline="0" noProof="0" dirty="0">
                <a:solidFill>
                  <a:srgbClr val="000000"/>
                </a:solidFill>
                <a:latin typeface="Arial" panose="020B0604020202020204" pitchFamily="34" charset="0"/>
                <a:ea typeface="宋体" panose="02010600030101010101" pitchFamily="2" charset="-122"/>
                <a:cs typeface="+mn-cs"/>
              </a:rPr>
              <a:t>+</a:t>
            </a:r>
            <a:r>
              <a:rPr kumimoji="0" lang="zh-CN" altLang="zh-CN" kern="1200" cap="none" spc="0" normalizeH="0" baseline="0" noProof="0" dirty="0">
                <a:solidFill>
                  <a:srgbClr val="000000"/>
                </a:solidFill>
                <a:latin typeface="Arial" panose="020B0604020202020204" pitchFamily="34" charset="0"/>
                <a:ea typeface="宋体" panose="02010600030101010101" pitchFamily="2" charset="-122"/>
                <a:cs typeface="+mn-cs"/>
              </a:rPr>
              <a:t>λ</a:t>
            </a:r>
            <a:r>
              <a:rPr kumimoji="0" lang="en-US" altLang="zh-CN" kern="1200" cap="none" spc="0" normalizeH="0" baseline="0" noProof="0" dirty="0">
                <a:solidFill>
                  <a:srgbClr val="000000"/>
                </a:solidFill>
                <a:latin typeface="Arial" panose="020B0604020202020204" pitchFamily="34" charset="0"/>
                <a:ea typeface="宋体" panose="02010600030101010101" pitchFamily="2" charset="-122"/>
                <a:cs typeface="+mn-cs"/>
              </a:rPr>
              <a:t>+</a:t>
            </a:r>
            <a:r>
              <a:rPr kumimoji="0" lang="en-US" altLang="zh-CN" kern="0" cap="none" spc="0" normalizeH="0" baseline="0" noProof="0" dirty="0">
                <a:solidFill>
                  <a:srgbClr val="000000"/>
                </a:solidFill>
                <a:latin typeface="Arial" panose="020B0604020202020204" pitchFamily="34" charset="0"/>
                <a:ea typeface="宋体" panose="02010600030101010101" pitchFamily="2" charset="-122"/>
                <a:cs typeface="+mn-cs"/>
              </a:rPr>
              <a:t>t</a:t>
            </a:r>
            <a:endParaRPr kumimoji="0" lang="en-US" altLang="zh-CN" kern="0" cap="none" spc="0" normalizeH="0" baseline="0" noProof="0" dirty="0">
              <a:solidFill>
                <a:srgbClr val="000000"/>
              </a:solidFill>
              <a:latin typeface="Arial" panose="020B0604020202020204" pitchFamily="34" charset="0"/>
              <a:ea typeface="宋体" panose="02010600030101010101" pitchFamily="2" charset="-122"/>
              <a:cs typeface="+mn-cs"/>
            </a:endParaRPr>
          </a:p>
        </p:txBody>
      </p:sp>
      <p:cxnSp>
        <p:nvCxnSpPr>
          <p:cNvPr id="4" name="直接连接符 3"/>
          <p:cNvCxnSpPr/>
          <p:nvPr/>
        </p:nvCxnSpPr>
        <p:spPr>
          <a:xfrm flipH="1">
            <a:off x="4860290" y="1310005"/>
            <a:ext cx="1270" cy="354965"/>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5" name="直接连接符 4"/>
          <p:cNvCxnSpPr/>
          <p:nvPr/>
        </p:nvCxnSpPr>
        <p:spPr>
          <a:xfrm flipH="1">
            <a:off x="4880610" y="1863725"/>
            <a:ext cx="1270" cy="354965"/>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8" name="直接连接符 7"/>
          <p:cNvCxnSpPr/>
          <p:nvPr/>
        </p:nvCxnSpPr>
        <p:spPr>
          <a:xfrm flipH="1">
            <a:off x="4865370" y="603885"/>
            <a:ext cx="1270" cy="354965"/>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3" name="直接连接符 2"/>
          <p:cNvCxnSpPr/>
          <p:nvPr/>
        </p:nvCxnSpPr>
        <p:spPr>
          <a:xfrm flipH="1">
            <a:off x="4865370" y="2559685"/>
            <a:ext cx="1270" cy="354965"/>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6" name="直接连接符 5"/>
          <p:cNvCxnSpPr/>
          <p:nvPr/>
        </p:nvCxnSpPr>
        <p:spPr>
          <a:xfrm flipH="1">
            <a:off x="4865370" y="3057525"/>
            <a:ext cx="1270" cy="354965"/>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7" name="直接连接符 6"/>
          <p:cNvCxnSpPr/>
          <p:nvPr/>
        </p:nvCxnSpPr>
        <p:spPr>
          <a:xfrm flipH="1" flipV="1">
            <a:off x="2967990" y="3373755"/>
            <a:ext cx="829310" cy="3175"/>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16" name="直接连接符 15"/>
          <p:cNvCxnSpPr/>
          <p:nvPr/>
        </p:nvCxnSpPr>
        <p:spPr>
          <a:xfrm>
            <a:off x="1577975" y="6453505"/>
            <a:ext cx="4438650" cy="36830"/>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17" name="直接连接符 16"/>
          <p:cNvCxnSpPr/>
          <p:nvPr/>
        </p:nvCxnSpPr>
        <p:spPr>
          <a:xfrm flipV="1">
            <a:off x="6048375" y="3931920"/>
            <a:ext cx="0" cy="2414270"/>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19" name="直接连接符 18"/>
          <p:cNvCxnSpPr/>
          <p:nvPr/>
        </p:nvCxnSpPr>
        <p:spPr>
          <a:xfrm flipH="1" flipV="1">
            <a:off x="4860290" y="3921760"/>
            <a:ext cx="1115695" cy="11430"/>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20" name="直接连接符 19"/>
          <p:cNvCxnSpPr/>
          <p:nvPr/>
        </p:nvCxnSpPr>
        <p:spPr>
          <a:xfrm>
            <a:off x="4860290" y="4006850"/>
            <a:ext cx="0" cy="1546225"/>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24" name="直接连接符 23"/>
          <p:cNvCxnSpPr/>
          <p:nvPr/>
        </p:nvCxnSpPr>
        <p:spPr>
          <a:xfrm flipV="1">
            <a:off x="2967990" y="908685"/>
            <a:ext cx="0" cy="2414270"/>
          </a:xfrm>
          <a:prstGeom prst="line">
            <a:avLst/>
          </a:prstGeom>
          <a:solidFill>
            <a:schemeClr val="accent1"/>
          </a:solidFill>
          <a:ln w="28575" cap="flat" cmpd="sng" algn="ctr">
            <a:solidFill>
              <a:srgbClr val="FF0000"/>
            </a:solidFill>
            <a:prstDash val="sysDot"/>
            <a:round/>
            <a:headEnd type="none" w="med" len="med"/>
            <a:tailEnd type="none" w="med" len="med"/>
          </a:ln>
        </p:spPr>
      </p:cxnSp>
      <p:cxnSp>
        <p:nvCxnSpPr>
          <p:cNvPr id="25" name="直接连接符 24"/>
          <p:cNvCxnSpPr/>
          <p:nvPr/>
        </p:nvCxnSpPr>
        <p:spPr>
          <a:xfrm flipH="1">
            <a:off x="1548130" y="836295"/>
            <a:ext cx="1367790" cy="0"/>
          </a:xfrm>
          <a:prstGeom prst="line">
            <a:avLst/>
          </a:prstGeom>
          <a:solidFill>
            <a:schemeClr val="accent1"/>
          </a:solidFill>
          <a:ln w="28575" cap="flat" cmpd="sng" algn="ctr">
            <a:solidFill>
              <a:srgbClr val="FF0000"/>
            </a:solidFill>
            <a:prstDash val="sysDot"/>
            <a:round/>
            <a:headEnd type="none" w="med" len="med"/>
            <a:tailEnd type="triangle" w="med" len="med"/>
          </a:ln>
        </p:spPr>
      </p:cxnSp>
      <p:cxnSp>
        <p:nvCxnSpPr>
          <p:cNvPr id="27" name="直接连接符 26"/>
          <p:cNvCxnSpPr/>
          <p:nvPr/>
        </p:nvCxnSpPr>
        <p:spPr>
          <a:xfrm flipH="1">
            <a:off x="1619885" y="923290"/>
            <a:ext cx="16510" cy="5494020"/>
          </a:xfrm>
          <a:prstGeom prst="line">
            <a:avLst/>
          </a:prstGeom>
          <a:solidFill>
            <a:schemeClr val="accent1"/>
          </a:solidFill>
          <a:ln w="28575" cap="flat" cmpd="sng" algn="ctr">
            <a:solidFill>
              <a:srgbClr val="FF0000"/>
            </a:solidFill>
            <a:prstDash val="sysDot"/>
            <a:round/>
            <a:headEnd type="none" w="med" len="med"/>
            <a:tailEnd type="triangle" w="med" len="med"/>
          </a:ln>
        </p:spPr>
      </p:cxnSp>
      <p:sp>
        <p:nvSpPr>
          <p:cNvPr id="31" name="Rectangle 2"/>
          <p:cNvSpPr txBox="1">
            <a:spLocks noRot="1" noChangeArrowheads="1"/>
          </p:cNvSpPr>
          <p:nvPr/>
        </p:nvSpPr>
        <p:spPr bwMode="auto">
          <a:xfrm>
            <a:off x="4572000" y="-63500"/>
            <a:ext cx="4435475" cy="779463"/>
          </a:xfrm>
          <a:prstGeom prst="rect">
            <a:avLst/>
          </a:prstGeom>
          <a:noFill/>
          <a:ln>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defRPr/>
            </a:pPr>
            <a:r>
              <a:rPr kumimoji="0" lang="en-US" altLang="zh-CN" sz="2400" b="1" i="0" u="none" strike="noStrike" kern="0" cap="none" spc="0" normalizeH="0" baseline="0" noProof="0" dirty="0">
                <a:ln>
                  <a:noFill/>
                </a:ln>
                <a:solidFill>
                  <a:srgbClr val="FF0000"/>
                </a:solidFill>
                <a:effectLst/>
                <a:uLnTx/>
                <a:uFillTx/>
                <a:latin typeface="+mn-lt"/>
                <a:ea typeface="+mn-ea"/>
                <a:cs typeface="+mn-cs"/>
              </a:rPr>
              <a:t>5.3.5 </a:t>
            </a:r>
            <a:r>
              <a:rPr kumimoji="0" lang="zh-CN" altLang="en-US" sz="2400" b="1" i="0" u="none" strike="noStrike" kern="0" cap="none" spc="0" normalizeH="0" baseline="0" noProof="0" dirty="0">
                <a:ln>
                  <a:noFill/>
                </a:ln>
                <a:solidFill>
                  <a:srgbClr val="FF0000"/>
                </a:solidFill>
                <a:effectLst/>
                <a:uLnTx/>
                <a:uFillTx/>
                <a:latin typeface="+mn-lt"/>
                <a:ea typeface="+mn-ea"/>
                <a:cs typeface="+mn-cs"/>
              </a:rPr>
              <a:t>访问内存的有效时间</a:t>
            </a:r>
            <a:r>
              <a:rPr kumimoji="0" lang="en-US" altLang="zh-CN" sz="2400" b="1" i="0" u="none" strike="noStrike" kern="0" cap="none" spc="0" normalizeH="0" baseline="0" noProof="0" dirty="0">
                <a:ln>
                  <a:noFill/>
                </a:ln>
                <a:solidFill>
                  <a:srgbClr val="FF0000"/>
                </a:solidFill>
                <a:effectLst/>
                <a:uLnTx/>
                <a:uFillTx/>
                <a:latin typeface="+mn-lt"/>
                <a:ea typeface="+mn-ea"/>
                <a:cs typeface="+mn-cs"/>
              </a:rPr>
              <a:t>EAT</a:t>
            </a:r>
            <a:endParaRPr kumimoji="0" lang="en-US" altLang="zh-CN" sz="2400" b="1" i="0" u="none" strike="noStrike" kern="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defRPr/>
            </a:pPr>
            <a:r>
              <a:rPr kumimoji="0" lang="zh-CN" altLang="en-US" sz="2000" b="1" i="0" u="none" strike="noStrike" kern="1200" cap="none" spc="0" normalizeH="0" baseline="0" noProof="0" dirty="0">
                <a:ln>
                  <a:noFill/>
                </a:ln>
                <a:solidFill>
                  <a:srgbClr val="000000"/>
                </a:solidFill>
                <a:effectLst/>
                <a:uLnTx/>
                <a:uFillTx/>
                <a:latin typeface="+mn-lt"/>
                <a:ea typeface="+mn-ea"/>
                <a:cs typeface="+mn-cs"/>
              </a:rPr>
              <a:t>             </a:t>
            </a:r>
            <a:r>
              <a:rPr kumimoji="0" lang="zh-CN" altLang="en-US" sz="20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mn-lt"/>
                <a:ea typeface="+mn-ea"/>
                <a:cs typeface="+mn-cs"/>
              </a:rPr>
              <a:t>  如</a:t>
            </a:r>
            <a:r>
              <a:rPr kumimoji="0" lang="en-US" altLang="zh-CN" sz="20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mn-lt"/>
                <a:ea typeface="+mn-ea"/>
                <a:cs typeface="+mn-cs"/>
              </a:rPr>
              <a:t>:</a:t>
            </a:r>
            <a:r>
              <a:rPr kumimoji="0" lang="zh-CN" altLang="en-US" sz="20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mn-lt"/>
                <a:ea typeface="+mn-ea"/>
                <a:cs typeface="+mn-cs"/>
              </a:rPr>
              <a:t> </a:t>
            </a:r>
            <a:r>
              <a:rPr kumimoji="0" lang="en-US" altLang="zh-CN" sz="20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mn-lt"/>
                <a:ea typeface="+mn-ea"/>
                <a:cs typeface="+mn-cs"/>
              </a:rPr>
              <a:t>LOAD  1,2500</a:t>
            </a:r>
            <a:endParaRPr kumimoji="0" lang="en-US" altLang="zh-CN" sz="2000" b="1" i="0" u="none" strike="noStrike" kern="0" cap="none" spc="0" normalizeH="0" baseline="0" noProof="0" dirty="0">
              <a:ln>
                <a:noFill/>
              </a:ln>
              <a:solidFill>
                <a:srgbClr val="FF0000"/>
              </a:solidFill>
              <a:effectLst/>
              <a:uLnTx/>
              <a:uFillTx/>
              <a:latin typeface="+mn-lt"/>
              <a:ea typeface="+mn-ea"/>
              <a:cs typeface="+mn-cs"/>
            </a:endParaRPr>
          </a:p>
          <a:p>
            <a:pPr marL="342900" marR="0" lvl="0" indent="-342900" algn="l" defTabSz="914400" rtl="0" eaLnBrk="1" fontAlgn="base" latinLnBrk="0" hangingPunct="1">
              <a:lnSpc>
                <a:spcPct val="150000"/>
              </a:lnSpc>
              <a:spcBef>
                <a:spcPct val="0"/>
              </a:spcBef>
              <a:spcAft>
                <a:spcPct val="0"/>
              </a:spcAft>
              <a:buClr>
                <a:schemeClr val="hlink"/>
              </a:buClr>
              <a:buSzPct val="70000"/>
              <a:buFont typeface="Wingdings" panose="05000000000000000000" pitchFamily="2" charset="2"/>
              <a:buNone/>
              <a:defRPr/>
            </a:pPr>
            <a:endParaRPr kumimoji="0" lang="zh-CN" altLang="en-US" sz="2400" b="1" i="0" u="none" strike="noStrike" kern="0" cap="none" spc="0" normalizeH="0" baseline="0" noProof="0" dirty="0">
              <a:ln>
                <a:noFill/>
              </a:ln>
              <a:solidFill>
                <a:srgbClr val="008000"/>
              </a:solidFill>
              <a:effectLst/>
              <a:uLnTx/>
              <a:uFillTx/>
              <a:latin typeface="+mn-lt"/>
              <a:ea typeface="+mn-ea"/>
              <a:cs typeface="+mn-cs"/>
            </a:endParaRPr>
          </a:p>
        </p:txBody>
      </p:sp>
    </p:spTree>
  </p:cSld>
  <p:clrMapOvr>
    <a:masterClrMapping/>
  </p:clrMapOvr>
  <p:transition>
    <p:blinds/>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p:cNvSpPr>
          <p:nvPr>
            <p:ph type="body" sz="half" idx="1"/>
          </p:nvPr>
        </p:nvSpPr>
        <p:spPr>
          <a:xfrm>
            <a:off x="228600" y="2819400"/>
            <a:ext cx="8839200" cy="3733800"/>
          </a:xfrm>
        </p:spPr>
        <p:txBody>
          <a:bodyPr vert="horz" wrap="square" lIns="91440" tIns="45720" rIns="91440" bIns="45720" anchor="t" anchorCtr="0"/>
          <a:lstStyle/>
          <a:p>
            <a:pPr eaLnBrk="1" hangingPunct="1">
              <a:lnSpc>
                <a:spcPct val="120000"/>
              </a:lnSpc>
              <a:buClr>
                <a:schemeClr val="hlink"/>
              </a:buClr>
              <a:buSzPct val="70000"/>
              <a:buFont typeface="Wingdings" panose="05000000000000000000" pitchFamily="2" charset="2"/>
              <a:buNone/>
            </a:pPr>
            <a:r>
              <a:rPr lang="en-US" altLang="zh-CN" sz="2000" b="1" dirty="0">
                <a:solidFill>
                  <a:srgbClr val="000000"/>
                </a:solidFill>
              </a:rPr>
              <a:t>           </a:t>
            </a:r>
            <a:r>
              <a:rPr lang="zh-CN" altLang="en-US" sz="2000" b="1" dirty="0">
                <a:solidFill>
                  <a:srgbClr val="000000"/>
                </a:solidFill>
              </a:rPr>
              <a:t>页面大小为</a:t>
            </a:r>
            <a:r>
              <a:rPr lang="en-US" altLang="zh-CN" sz="2000" b="1" dirty="0">
                <a:solidFill>
                  <a:srgbClr val="000000"/>
                </a:solidFill>
              </a:rPr>
              <a:t>4KB</a:t>
            </a:r>
            <a:r>
              <a:rPr lang="zh-CN" altLang="en-US" sz="2000" b="1" dirty="0">
                <a:solidFill>
                  <a:srgbClr val="000000"/>
                </a:solidFill>
              </a:rPr>
              <a:t>，一次内存的访问时间是</a:t>
            </a:r>
            <a:r>
              <a:rPr lang="en-US" altLang="zh-CN" sz="2000" b="1" dirty="0">
                <a:solidFill>
                  <a:srgbClr val="000000"/>
                </a:solidFill>
              </a:rPr>
              <a:t>100ns</a:t>
            </a:r>
            <a:r>
              <a:rPr lang="zh-CN" altLang="en-US" sz="2000" b="1" dirty="0">
                <a:solidFill>
                  <a:srgbClr val="000000"/>
                </a:solidFill>
              </a:rPr>
              <a:t>，一次快表（</a:t>
            </a:r>
            <a:r>
              <a:rPr lang="en-US" altLang="zh-CN" sz="2000" b="1" dirty="0">
                <a:solidFill>
                  <a:srgbClr val="000000"/>
                </a:solidFill>
              </a:rPr>
              <a:t>TLB</a:t>
            </a:r>
            <a:r>
              <a:rPr lang="zh-CN" altLang="en-US" sz="2000" b="1" dirty="0">
                <a:solidFill>
                  <a:srgbClr val="000000"/>
                </a:solidFill>
              </a:rPr>
              <a:t>）的访问时间是</a:t>
            </a:r>
            <a:r>
              <a:rPr lang="en-US" altLang="zh-CN" sz="2000" b="1" dirty="0">
                <a:solidFill>
                  <a:srgbClr val="000000"/>
                </a:solidFill>
              </a:rPr>
              <a:t>10ns</a:t>
            </a:r>
            <a:r>
              <a:rPr lang="zh-CN" altLang="en-US" sz="2000" b="1" dirty="0">
                <a:solidFill>
                  <a:srgbClr val="000000"/>
                </a:solidFill>
              </a:rPr>
              <a:t>，处理一次缺页的平均时间为</a:t>
            </a:r>
            <a:r>
              <a:rPr lang="en-US" altLang="zh-CN" sz="2000" b="1" dirty="0">
                <a:solidFill>
                  <a:srgbClr val="000000"/>
                </a:solidFill>
              </a:rPr>
              <a:t>10</a:t>
            </a:r>
            <a:r>
              <a:rPr lang="en-US" altLang="zh-CN" sz="2000" b="1" baseline="30000" dirty="0">
                <a:solidFill>
                  <a:srgbClr val="000000"/>
                </a:solidFill>
              </a:rPr>
              <a:t>8</a:t>
            </a:r>
            <a:r>
              <a:rPr lang="en-US" altLang="zh-CN" sz="2000" b="1" dirty="0">
                <a:solidFill>
                  <a:srgbClr val="000000"/>
                </a:solidFill>
              </a:rPr>
              <a:t>ns</a:t>
            </a:r>
            <a:r>
              <a:rPr lang="zh-CN" altLang="en-US" sz="2000" b="1" dirty="0">
                <a:solidFill>
                  <a:srgbClr val="000000"/>
                </a:solidFill>
              </a:rPr>
              <a:t>（</a:t>
            </a:r>
            <a:r>
              <a:rPr lang="zh-CN" altLang="en-US" sz="2000" b="1" dirty="0">
                <a:solidFill>
                  <a:srgbClr val="00B050"/>
                </a:solidFill>
              </a:rPr>
              <a:t>已含更新</a:t>
            </a:r>
            <a:r>
              <a:rPr lang="en-US" altLang="zh-CN" sz="2000" b="1" dirty="0">
                <a:solidFill>
                  <a:srgbClr val="00B050"/>
                </a:solidFill>
              </a:rPr>
              <a:t>TLB</a:t>
            </a:r>
            <a:r>
              <a:rPr lang="zh-CN" altLang="en-US" sz="2000" b="1" dirty="0">
                <a:solidFill>
                  <a:srgbClr val="00B050"/>
                </a:solidFill>
              </a:rPr>
              <a:t>和页表的时间</a:t>
            </a:r>
            <a:r>
              <a:rPr lang="zh-CN" altLang="en-US" sz="2000" b="1" dirty="0">
                <a:solidFill>
                  <a:srgbClr val="000000"/>
                </a:solidFill>
              </a:rPr>
              <a:t>），进程的驻留集大小固定为</a:t>
            </a:r>
            <a:r>
              <a:rPr lang="en-US" altLang="zh-CN" sz="2000" b="1" dirty="0">
                <a:solidFill>
                  <a:srgbClr val="000000"/>
                </a:solidFill>
              </a:rPr>
              <a:t>2</a:t>
            </a:r>
            <a:r>
              <a:rPr lang="zh-CN" altLang="en-US" sz="2000" b="1" dirty="0">
                <a:solidFill>
                  <a:srgbClr val="000000"/>
                </a:solidFill>
              </a:rPr>
              <a:t>，采用最近最少使用置换算法（</a:t>
            </a:r>
            <a:r>
              <a:rPr lang="en-US" altLang="zh-CN" sz="2000" b="1" dirty="0">
                <a:solidFill>
                  <a:srgbClr val="000000"/>
                </a:solidFill>
              </a:rPr>
              <a:t>LRU</a:t>
            </a:r>
            <a:r>
              <a:rPr lang="zh-CN" altLang="en-US" sz="2000" b="1" dirty="0">
                <a:solidFill>
                  <a:srgbClr val="000000"/>
                </a:solidFill>
              </a:rPr>
              <a:t>）和局部淘汰策略。假设①</a:t>
            </a:r>
            <a:r>
              <a:rPr lang="en-US" altLang="zh-CN" sz="2000" b="1" dirty="0">
                <a:solidFill>
                  <a:srgbClr val="000000"/>
                </a:solidFill>
              </a:rPr>
              <a:t>TLB</a:t>
            </a:r>
            <a:r>
              <a:rPr lang="zh-CN" altLang="en-US" sz="2000" b="1" dirty="0">
                <a:solidFill>
                  <a:srgbClr val="000000"/>
                </a:solidFill>
              </a:rPr>
              <a:t>初始为空；②地址转换时先访问</a:t>
            </a:r>
            <a:r>
              <a:rPr lang="en-US" altLang="zh-CN" sz="2000" b="1" dirty="0">
                <a:solidFill>
                  <a:srgbClr val="000000"/>
                </a:solidFill>
              </a:rPr>
              <a:t>TLB</a:t>
            </a:r>
            <a:r>
              <a:rPr lang="zh-CN" altLang="en-US" sz="2000" b="1" dirty="0">
                <a:solidFill>
                  <a:srgbClr val="000000"/>
                </a:solidFill>
              </a:rPr>
              <a:t>，若</a:t>
            </a:r>
            <a:r>
              <a:rPr lang="en-US" altLang="zh-CN" sz="2000" b="1" dirty="0">
                <a:solidFill>
                  <a:srgbClr val="000000"/>
                </a:solidFill>
              </a:rPr>
              <a:t>TLB</a:t>
            </a:r>
            <a:r>
              <a:rPr lang="zh-CN" altLang="en-US" sz="2000" b="1" dirty="0">
                <a:solidFill>
                  <a:srgbClr val="000000"/>
                </a:solidFill>
              </a:rPr>
              <a:t>未命中，再访问页表（忽略访问页表之后的</a:t>
            </a:r>
            <a:r>
              <a:rPr lang="en-US" altLang="zh-CN" sz="2000" b="1" dirty="0">
                <a:solidFill>
                  <a:srgbClr val="000000"/>
                </a:solidFill>
              </a:rPr>
              <a:t>TLB</a:t>
            </a:r>
            <a:r>
              <a:rPr lang="zh-CN" altLang="en-US" sz="2000" b="1" dirty="0">
                <a:solidFill>
                  <a:srgbClr val="000000"/>
                </a:solidFill>
              </a:rPr>
              <a:t>更新时间）；③有效位为</a:t>
            </a:r>
            <a:r>
              <a:rPr lang="en-US" altLang="zh-CN" sz="2000" b="1" dirty="0">
                <a:solidFill>
                  <a:srgbClr val="000000"/>
                </a:solidFill>
              </a:rPr>
              <a:t>0</a:t>
            </a:r>
            <a:r>
              <a:rPr lang="zh-CN" altLang="en-US" sz="2000" b="1" dirty="0">
                <a:solidFill>
                  <a:srgbClr val="000000"/>
                </a:solidFill>
              </a:rPr>
              <a:t>表示页面不在内存，产生缺页中断，缺页中断处理后，返回到产生缺页中断的指令处重新执行。设有虚地址访问序列</a:t>
            </a:r>
            <a:r>
              <a:rPr lang="en-US" altLang="zh-CN" sz="2000" b="1" dirty="0">
                <a:solidFill>
                  <a:srgbClr val="000000"/>
                </a:solidFill>
              </a:rPr>
              <a:t>2362H</a:t>
            </a:r>
            <a:r>
              <a:rPr lang="zh-CN" altLang="en-US" sz="2000" b="1" dirty="0">
                <a:solidFill>
                  <a:srgbClr val="000000"/>
                </a:solidFill>
              </a:rPr>
              <a:t>、</a:t>
            </a:r>
            <a:r>
              <a:rPr lang="en-US" altLang="zh-CN" sz="2000" b="1" dirty="0">
                <a:solidFill>
                  <a:srgbClr val="000000"/>
                </a:solidFill>
              </a:rPr>
              <a:t>1565H</a:t>
            </a:r>
            <a:r>
              <a:rPr lang="zh-CN" altLang="en-US" sz="2000" b="1" dirty="0">
                <a:solidFill>
                  <a:srgbClr val="000000"/>
                </a:solidFill>
              </a:rPr>
              <a:t>、</a:t>
            </a:r>
            <a:r>
              <a:rPr lang="en-US" altLang="zh-CN" sz="2000" b="1" dirty="0">
                <a:solidFill>
                  <a:srgbClr val="000000"/>
                </a:solidFill>
              </a:rPr>
              <a:t>25A5H</a:t>
            </a:r>
            <a:r>
              <a:rPr lang="zh-CN" altLang="en-US" sz="2000" b="1" dirty="0">
                <a:solidFill>
                  <a:srgbClr val="000000"/>
                </a:solidFill>
              </a:rPr>
              <a:t>，请问：</a:t>
            </a:r>
            <a:endParaRPr lang="zh-CN" altLang="en-US" sz="2000" b="1" dirty="0">
              <a:solidFill>
                <a:srgbClr val="000000"/>
              </a:solidFill>
            </a:endParaRPr>
          </a:p>
          <a:p>
            <a:pPr eaLnBrk="1" hangingPunct="1">
              <a:lnSpc>
                <a:spcPct val="120000"/>
              </a:lnSpc>
              <a:buClr>
                <a:schemeClr val="hlink"/>
              </a:buClr>
              <a:buSzPct val="70000"/>
              <a:buFont typeface="Wingdings" panose="05000000000000000000" pitchFamily="2" charset="2"/>
              <a:buNone/>
            </a:pPr>
            <a:r>
              <a:rPr lang="zh-CN" altLang="en-US" sz="2000" b="1" dirty="0">
                <a:solidFill>
                  <a:srgbClr val="000000"/>
                </a:solidFill>
              </a:rPr>
              <a:t>（</a:t>
            </a:r>
            <a:r>
              <a:rPr lang="en-US" altLang="zh-CN" sz="2000" b="1" dirty="0">
                <a:solidFill>
                  <a:srgbClr val="000000"/>
                </a:solidFill>
              </a:rPr>
              <a:t>1</a:t>
            </a:r>
            <a:r>
              <a:rPr lang="zh-CN" altLang="en-US" sz="2000" b="1" dirty="0">
                <a:solidFill>
                  <a:srgbClr val="000000"/>
                </a:solidFill>
              </a:rPr>
              <a:t>）依次访问上述三个虚地址，各需多少时间？给出计算过程。</a:t>
            </a:r>
            <a:endParaRPr lang="zh-CN" altLang="en-US" sz="2000" b="1" dirty="0">
              <a:solidFill>
                <a:srgbClr val="000000"/>
              </a:solidFill>
            </a:endParaRPr>
          </a:p>
          <a:p>
            <a:pPr eaLnBrk="1" hangingPunct="1">
              <a:lnSpc>
                <a:spcPct val="120000"/>
              </a:lnSpc>
              <a:buClr>
                <a:schemeClr val="hlink"/>
              </a:buClr>
              <a:buSzPct val="70000"/>
              <a:buFont typeface="Wingdings" panose="05000000000000000000" pitchFamily="2" charset="2"/>
              <a:buNone/>
            </a:pPr>
            <a:r>
              <a:rPr lang="zh-CN" altLang="en-US" sz="2000" b="1" dirty="0">
                <a:solidFill>
                  <a:srgbClr val="000000"/>
                </a:solidFill>
              </a:rPr>
              <a:t>（</a:t>
            </a:r>
            <a:r>
              <a:rPr lang="en-US" altLang="zh-CN" sz="2000" b="1" dirty="0">
                <a:solidFill>
                  <a:srgbClr val="000000"/>
                </a:solidFill>
              </a:rPr>
              <a:t>2</a:t>
            </a:r>
            <a:r>
              <a:rPr lang="zh-CN" altLang="en-US" sz="2000" b="1" dirty="0">
                <a:solidFill>
                  <a:srgbClr val="000000"/>
                </a:solidFill>
              </a:rPr>
              <a:t>）基于上述访问序列，虚地址</a:t>
            </a:r>
            <a:r>
              <a:rPr lang="en-US" altLang="zh-CN" sz="2000" b="1" dirty="0">
                <a:solidFill>
                  <a:srgbClr val="000000"/>
                </a:solidFill>
              </a:rPr>
              <a:t>1565H</a:t>
            </a:r>
            <a:r>
              <a:rPr lang="zh-CN" altLang="en-US" sz="2000" b="1" dirty="0">
                <a:solidFill>
                  <a:srgbClr val="000000"/>
                </a:solidFill>
              </a:rPr>
              <a:t>的物理地址是多少？请说明理由。</a:t>
            </a:r>
            <a:endParaRPr lang="zh-CN" altLang="en-US" sz="2000" b="1" dirty="0">
              <a:solidFill>
                <a:srgbClr val="000000"/>
              </a:solidFill>
            </a:endParaRPr>
          </a:p>
        </p:txBody>
      </p:sp>
      <p:graphicFrame>
        <p:nvGraphicFramePr>
          <p:cNvPr id="139267" name="Group 3"/>
          <p:cNvGraphicFramePr>
            <a:graphicFrameLocks noGrp="1"/>
          </p:cNvGraphicFramePr>
          <p:nvPr>
            <p:ph sz="half" idx="1"/>
          </p:nvPr>
        </p:nvGraphicFramePr>
        <p:xfrm>
          <a:off x="609600" y="1143000"/>
          <a:ext cx="7543800" cy="1463676"/>
        </p:xfrm>
        <a:graphic>
          <a:graphicData uri="http://schemas.openxmlformats.org/drawingml/2006/table">
            <a:tbl>
              <a:tblPr/>
              <a:tblGrid>
                <a:gridCol w="1066800"/>
                <a:gridCol w="3962400"/>
                <a:gridCol w="2514600"/>
              </a:tblGrid>
              <a:tr h="365919">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页号</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页框（</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Page Frame</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）号</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有效位（存在）</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919">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101H</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919">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919">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254H</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5561" name="Rectangle 25"/>
          <p:cNvSpPr/>
          <p:nvPr/>
        </p:nvSpPr>
        <p:spPr>
          <a:xfrm>
            <a:off x="457200" y="741363"/>
            <a:ext cx="789622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80000"/>
              </a:lnSpc>
              <a:buNone/>
            </a:pPr>
            <a:r>
              <a:rPr lang="zh-CN" altLang="en-US" sz="2000" b="1" dirty="0"/>
              <a:t>（</a:t>
            </a:r>
            <a:r>
              <a:rPr lang="en-US" altLang="zh-CN" sz="2000" b="1" dirty="0"/>
              <a:t>09</a:t>
            </a:r>
            <a:r>
              <a:rPr lang="zh-CN" altLang="en-US" sz="2000" b="1" dirty="0"/>
              <a:t>年）请求分页管理系统中，假设某进程的页表内容如下表所示：</a:t>
            </a:r>
            <a:r>
              <a:rPr lang="zh-CN" altLang="en-US" sz="1800" b="1" dirty="0"/>
              <a:t> </a:t>
            </a:r>
            <a:endParaRPr lang="zh-CN" altLang="en-US" sz="1800" b="1" dirty="0"/>
          </a:p>
        </p:txBody>
      </p:sp>
    </p:spTree>
  </p:cSld>
  <p:clrMapOvr>
    <a:masterClrMapping/>
  </p:clrMapOvr>
  <p:transition>
    <p:blinds/>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9267" name="Group 3"/>
          <p:cNvGraphicFramePr>
            <a:graphicFrameLocks noGrp="1"/>
          </p:cNvGraphicFramePr>
          <p:nvPr>
            <p:ph sz="half" idx="1"/>
          </p:nvPr>
        </p:nvGraphicFramePr>
        <p:xfrm>
          <a:off x="609600" y="1143000"/>
          <a:ext cx="7543800" cy="1463676"/>
        </p:xfrm>
        <a:graphic>
          <a:graphicData uri="http://schemas.openxmlformats.org/drawingml/2006/table">
            <a:tbl>
              <a:tblPr/>
              <a:tblGrid>
                <a:gridCol w="1066800"/>
                <a:gridCol w="3962400"/>
                <a:gridCol w="2514600"/>
              </a:tblGrid>
              <a:tr h="365919">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页号</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页框（</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Page Frame</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）号</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有效位（存在）</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919">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101H</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919">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919">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254H</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40" marB="457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6584" name="Rectangle 25"/>
          <p:cNvSpPr/>
          <p:nvPr/>
        </p:nvSpPr>
        <p:spPr>
          <a:xfrm>
            <a:off x="457200" y="741363"/>
            <a:ext cx="7896225" cy="336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80000"/>
              </a:lnSpc>
              <a:buNone/>
            </a:pPr>
            <a:r>
              <a:rPr lang="zh-CN" altLang="en-US" sz="2000" b="1" dirty="0"/>
              <a:t>（</a:t>
            </a:r>
            <a:r>
              <a:rPr lang="en-US" altLang="zh-CN" sz="2000" b="1" dirty="0"/>
              <a:t>09</a:t>
            </a:r>
            <a:r>
              <a:rPr lang="zh-CN" altLang="en-US" sz="2000" b="1" dirty="0"/>
              <a:t>年）请求分页管理系统中，假设某进程的页表内容如下表所示：</a:t>
            </a:r>
            <a:r>
              <a:rPr lang="zh-CN" altLang="en-US" sz="1800" b="1" dirty="0"/>
              <a:t> </a:t>
            </a:r>
            <a:endParaRPr lang="zh-CN" altLang="en-US" sz="1800" b="1" dirty="0"/>
          </a:p>
        </p:txBody>
      </p:sp>
      <p:graphicFrame>
        <p:nvGraphicFramePr>
          <p:cNvPr id="58545" name="Group 177"/>
          <p:cNvGraphicFramePr>
            <a:graphicFrameLocks noGrp="1"/>
          </p:cNvGraphicFramePr>
          <p:nvPr>
            <p:custDataLst>
              <p:tags r:id="rId1"/>
            </p:custDataLst>
          </p:nvPr>
        </p:nvGraphicFramePr>
        <p:xfrm>
          <a:off x="2819400" y="2778125"/>
          <a:ext cx="6172201" cy="3316352"/>
        </p:xfrm>
        <a:graphic>
          <a:graphicData uri="http://schemas.openxmlformats.org/drawingml/2006/table">
            <a:tbl>
              <a:tblPr/>
              <a:tblGrid>
                <a:gridCol w="995516"/>
                <a:gridCol w="833120"/>
                <a:gridCol w="990763"/>
                <a:gridCol w="963563"/>
                <a:gridCol w="1093837"/>
                <a:gridCol w="1295402"/>
              </a:tblGrid>
              <a:tr h="1188663">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2" marB="4569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查快表</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查内存页表</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缺页中断，更新快表</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内存物理地址访问数据</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共计</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67244">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2362H</a:t>
                      </a:r>
                      <a:endPar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T="45692" marB="4569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10ns</a:t>
                      </a:r>
                      <a:endPar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100ns</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rPr>
                        <a:t>100ns</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rPr>
                        <a:t>210ns</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98500">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rPr>
                        <a:t>1565H</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T="45692" marB="4569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rPr>
                        <a:t>10ns</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100ns</a:t>
                      </a:r>
                      <a:endPar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 10</a:t>
                      </a:r>
                      <a:r>
                        <a:rPr kumimoji="0" lang="en-US" altLang="zh-CN" sz="2000" b="1" i="0" u="none" strike="noStrike" cap="none" normalizeH="0" baseline="30000" dirty="0">
                          <a:ln>
                            <a:noFill/>
                          </a:ln>
                          <a:solidFill>
                            <a:srgbClr val="000000"/>
                          </a:solidFill>
                          <a:effectLst/>
                          <a:latin typeface="Arial" panose="020B0604020202020204" pitchFamily="34" charset="0"/>
                          <a:ea typeface="宋体" panose="02010600030101010101" pitchFamily="2" charset="-122"/>
                        </a:rPr>
                        <a:t>8</a:t>
                      </a:r>
                      <a:r>
                        <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ns</a:t>
                      </a:r>
                      <a:endPar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100ns</a:t>
                      </a:r>
                      <a:endPar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约</a:t>
                      </a:r>
                      <a:r>
                        <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10</a:t>
                      </a:r>
                      <a:r>
                        <a:rPr kumimoji="0" lang="en-US" altLang="zh-CN" sz="2000" b="1" i="0" u="none" strike="noStrike" cap="none" normalizeH="0" baseline="30000" dirty="0">
                          <a:ln>
                            <a:noFill/>
                          </a:ln>
                          <a:solidFill>
                            <a:srgbClr val="000000"/>
                          </a:solidFill>
                          <a:effectLst/>
                          <a:latin typeface="Arial" panose="020B0604020202020204" pitchFamily="34" charset="0"/>
                          <a:ea typeface="宋体" panose="02010600030101010101" pitchFamily="2" charset="-122"/>
                        </a:rPr>
                        <a:t>8</a:t>
                      </a:r>
                      <a:r>
                        <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ns</a:t>
                      </a:r>
                      <a:endPar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1944">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rPr>
                        <a:t>25A5H</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T="45692" marB="4569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rPr>
                        <a:t>10ns</a:t>
                      </a:r>
                      <a:endParaRPr kumimoji="0" lang="en-US" altLang="zh-CN" sz="20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100ns</a:t>
                      </a:r>
                      <a:endPar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110ns</a:t>
                      </a:r>
                      <a:endPar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T="45692" marB="4569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 name="Group 177"/>
          <p:cNvGraphicFramePr>
            <a:graphicFrameLocks noGrp="1"/>
          </p:cNvGraphicFramePr>
          <p:nvPr/>
        </p:nvGraphicFramePr>
        <p:xfrm>
          <a:off x="152400" y="4241800"/>
          <a:ext cx="2438400" cy="1811339"/>
        </p:xfrm>
        <a:graphic>
          <a:graphicData uri="http://schemas.openxmlformats.org/drawingml/2006/table">
            <a:tbl>
              <a:tblPr/>
              <a:tblGrid>
                <a:gridCol w="1094123"/>
                <a:gridCol w="1344277"/>
              </a:tblGrid>
              <a:tr h="369271">
                <a:tc gridSpan="2">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快表</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64" marB="4566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marT="45693" marB="456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5233">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r>
                        <a:rPr kumimoji="0" lang="en-US" altLang="zh-CN" sz="2000" b="0"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2</a:t>
                      </a:r>
                      <a:endParaRPr kumimoji="0" lang="en-US" altLang="zh-CN" sz="2000" b="0"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txBody>
                  <a:tcPr marT="45664" marB="456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254H</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64" marB="456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109">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r>
                        <a:rPr kumimoji="0" lang="en-US" altLang="zh-CN" sz="2000" b="0"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1</a:t>
                      </a:r>
                      <a:endParaRPr kumimoji="0" lang="en-US" altLang="zh-CN" sz="2000" b="0"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txBody>
                  <a:tcPr marT="45664" marB="456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defRPr/>
                      </a:pPr>
                      <a:r>
                        <a:rPr kumimoji="0" lang="en-US" altLang="zh-CN" sz="2000" b="0"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101H</a:t>
                      </a:r>
                      <a:endParaRPr kumimoji="0" lang="en-US" altLang="zh-CN" sz="2000" b="0"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txBody>
                  <a:tcPr marT="45664" marB="456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1726">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T="45664" marB="4566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en-US" altLang="zh-CN" sz="20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T="45664" marB="4566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blinds/>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p:nvPr/>
        </p:nvSpPr>
        <p:spPr>
          <a:xfrm>
            <a:off x="228600" y="762000"/>
            <a:ext cx="8458200" cy="420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lnSpc>
                <a:spcPct val="125000"/>
              </a:lnSpc>
              <a:spcBef>
                <a:spcPct val="0"/>
              </a:spcBef>
              <a:buClrTx/>
              <a:buSzTx/>
              <a:buFontTx/>
              <a:buNone/>
            </a:pPr>
            <a:r>
              <a:rPr lang="zh-CN" altLang="zh-CN" sz="2400" b="1" dirty="0"/>
              <a:t>【解析】 本题考查页式存储器管理的相关内容，包括页表项计算及缺页中断处理等 。</a:t>
            </a:r>
            <a:endParaRPr lang="zh-CN" altLang="zh-CN" sz="2400" b="1" dirty="0"/>
          </a:p>
          <a:p>
            <a:pPr marL="0" lvl="0" indent="0" eaLnBrk="1" hangingPunct="1">
              <a:lnSpc>
                <a:spcPct val="125000"/>
              </a:lnSpc>
              <a:spcBef>
                <a:spcPct val="0"/>
              </a:spcBef>
              <a:buClrTx/>
              <a:buSzTx/>
              <a:buFontTx/>
              <a:buNone/>
            </a:pPr>
            <a:r>
              <a:rPr lang="zh-CN" altLang="zh-CN" sz="2400" b="1" dirty="0">
                <a:solidFill>
                  <a:srgbClr val="000000"/>
                </a:solidFill>
              </a:rPr>
              <a:t>（ 1 ）</a:t>
            </a:r>
            <a:r>
              <a:rPr lang="zh-CN" altLang="zh-CN" sz="2400" b="1" dirty="0">
                <a:solidFill>
                  <a:srgbClr val="FF0000"/>
                </a:solidFill>
              </a:rPr>
              <a:t>因为每页大小为 4KB ，页内位移为 12 位（二进制位）或 3 位（十六进制位 ） ，逻辑地址 2362H 的页号为第一个 16 进制位</a:t>
            </a:r>
            <a:r>
              <a:rPr lang="zh-CN" altLang="zh-CN" sz="2400" b="1" dirty="0">
                <a:solidFill>
                  <a:srgbClr val="000000"/>
                </a:solidFill>
              </a:rPr>
              <a:t>（也可转化为二进制，得 </a:t>
            </a:r>
            <a:r>
              <a:rPr lang="zh-CN" altLang="zh-CN" sz="2000" b="1" dirty="0">
                <a:solidFill>
                  <a:srgbClr val="000000"/>
                </a:solidFill>
              </a:rPr>
              <a:t>0002 0011 0110 0010B</a:t>
            </a:r>
            <a:r>
              <a:rPr lang="zh-CN" altLang="zh-CN" sz="2400" b="1" dirty="0">
                <a:solidFill>
                  <a:srgbClr val="000000"/>
                </a:solidFill>
              </a:rPr>
              <a:t> ，则对应的页号为前四个二进制位 ） ，即为 2 ，通过查询页表得知，该页在内存，但初始 TLB为空，因此 2362H 的访问时间为 10ns （访问 TLB ） + 100ns （访问页表） + 100ns （访问内存单元） = 210ns 。</a:t>
            </a:r>
            <a:endParaRPr lang="zh-CN" altLang="zh-CN" sz="2400" b="1" dirty="0">
              <a:solidFill>
                <a:srgbClr val="000000"/>
              </a:solidFill>
            </a:endParaRPr>
          </a:p>
        </p:txBody>
      </p:sp>
    </p:spTree>
  </p:cSld>
  <p:clrMapOvr>
    <a:masterClrMapping/>
  </p:clrMapOvr>
  <p:transition>
    <p:blinds/>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p:cNvSpPr>
          <p:nvPr>
            <p:ph idx="1"/>
          </p:nvPr>
        </p:nvSpPr>
        <p:spPr>
          <a:xfrm>
            <a:off x="304800" y="609600"/>
            <a:ext cx="8305800" cy="5562600"/>
          </a:xfrm>
        </p:spPr>
        <p:txBody>
          <a:bodyPr vert="horz" wrap="square" lIns="91440" tIns="45720" rIns="91440" bIns="45720" anchor="t" anchorCtr="0"/>
          <a:lstStyle/>
          <a:p>
            <a:pPr eaLnBrk="1" hangingPunct="1">
              <a:lnSpc>
                <a:spcPct val="120000"/>
              </a:lnSpc>
              <a:buNone/>
            </a:pPr>
            <a:r>
              <a:rPr lang="en-US" altLang="zh-CN" sz="2400" b="1" dirty="0">
                <a:solidFill>
                  <a:srgbClr val="000000"/>
                </a:solidFill>
              </a:rPr>
              <a:t>            </a:t>
            </a:r>
            <a:r>
              <a:rPr lang="zh-CN" altLang="zh-CN" sz="2400" b="1" dirty="0">
                <a:solidFill>
                  <a:srgbClr val="000000"/>
                </a:solidFill>
              </a:rPr>
              <a:t>同理逻辑地址 1565H 对应的页号为 1 ， 该页不在内存 ， 出现缺页中断 ， 缺页中断处理后 ，返回到产生缺页中断的指令处重新执行 ， 需要访问一次 TLB 。 所以 ， 1565H 的访问时间为 10ns（访问 TLB ） +100ns （访问页表） + 10</a:t>
            </a:r>
            <a:r>
              <a:rPr lang="zh-CN" altLang="zh-CN" sz="2400" b="1" baseline="30000" dirty="0">
                <a:solidFill>
                  <a:srgbClr val="000000"/>
                </a:solidFill>
              </a:rPr>
              <a:t>8</a:t>
            </a:r>
            <a:r>
              <a:rPr lang="zh-CN" altLang="zh-CN" sz="2400" b="1" dirty="0">
                <a:solidFill>
                  <a:srgbClr val="000000"/>
                </a:solidFill>
              </a:rPr>
              <a:t>ns （调页） </a:t>
            </a:r>
            <a:r>
              <a:rPr lang="en-US" altLang="zh-CN" sz="2400" b="1" dirty="0">
                <a:solidFill>
                  <a:srgbClr val="000000"/>
                </a:solidFill>
              </a:rPr>
              <a:t> </a:t>
            </a:r>
            <a:r>
              <a:rPr lang="zh-CN" altLang="zh-CN" sz="2400" b="1" dirty="0">
                <a:solidFill>
                  <a:srgbClr val="000000"/>
                </a:solidFill>
              </a:rPr>
              <a:t>+ 100ns （访问内存单元） ≈ 10</a:t>
            </a:r>
            <a:r>
              <a:rPr lang="zh-CN" altLang="zh-CN" sz="2400" b="1" baseline="30000" dirty="0">
                <a:solidFill>
                  <a:srgbClr val="000000"/>
                </a:solidFill>
              </a:rPr>
              <a:t>8</a:t>
            </a:r>
            <a:r>
              <a:rPr lang="zh-CN" altLang="zh-CN" sz="2400" b="1" dirty="0">
                <a:solidFill>
                  <a:srgbClr val="000000"/>
                </a:solidFill>
              </a:rPr>
              <a:t>ns 。</a:t>
            </a:r>
            <a:endParaRPr lang="zh-CN" altLang="zh-CN" sz="2400" b="1" dirty="0">
              <a:solidFill>
                <a:srgbClr val="000000"/>
              </a:solidFill>
            </a:endParaRPr>
          </a:p>
          <a:p>
            <a:pPr eaLnBrk="1" hangingPunct="1">
              <a:lnSpc>
                <a:spcPct val="120000"/>
              </a:lnSpc>
              <a:buNone/>
            </a:pPr>
            <a:endParaRPr lang="zh-CN" altLang="en-US" sz="2400" b="1" dirty="0">
              <a:solidFill>
                <a:srgbClr val="000000"/>
              </a:solidFill>
            </a:endParaRPr>
          </a:p>
          <a:p>
            <a:pPr eaLnBrk="1" hangingPunct="1">
              <a:lnSpc>
                <a:spcPct val="120000"/>
              </a:lnSpc>
              <a:buNone/>
            </a:pPr>
            <a:r>
              <a:rPr lang="zh-CN" altLang="en-US" sz="2400" b="1" dirty="0">
                <a:solidFill>
                  <a:srgbClr val="000000"/>
                </a:solidFill>
              </a:rPr>
              <a:t>           </a:t>
            </a:r>
            <a:r>
              <a:rPr lang="zh-CN" altLang="zh-CN" sz="2400" b="1" dirty="0">
                <a:solidFill>
                  <a:srgbClr val="000000"/>
                </a:solidFill>
              </a:rPr>
              <a:t>逻辑地址 25A5H 对应的页号为 2 ， 该页在内存 ， TLB 命中 ， 所以 ， 25A5H 的访问时间 =10ns（访问 TLB ）+100ns （访问内存单元）=110ns 。</a:t>
            </a:r>
            <a:endParaRPr lang="zh-CN" altLang="en-US" sz="2400" b="1" dirty="0">
              <a:solidFill>
                <a:srgbClr val="000000"/>
              </a:solidFill>
            </a:endParaRPr>
          </a:p>
          <a:p>
            <a:pPr eaLnBrk="1" hangingPunct="1">
              <a:lnSpc>
                <a:spcPct val="80000"/>
              </a:lnSpc>
            </a:pPr>
            <a:endParaRPr lang="en-US" altLang="zh-CN" sz="1600" dirty="0"/>
          </a:p>
        </p:txBody>
      </p:sp>
    </p:spTree>
  </p:cSld>
  <p:clrMapOvr>
    <a:masterClrMapping/>
  </p:clrMapOvr>
  <p:transition>
    <p:blinds/>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p:cNvSpPr>
          <p:nvPr>
            <p:ph idx="1"/>
          </p:nvPr>
        </p:nvSpPr>
        <p:spPr>
          <a:xfrm>
            <a:off x="381000" y="1066800"/>
            <a:ext cx="8229600" cy="5029200"/>
          </a:xfrm>
        </p:spPr>
        <p:txBody>
          <a:bodyPr vert="horz" wrap="square" lIns="91440" tIns="45720" rIns="91440" bIns="45720" anchor="t" anchorCtr="0"/>
          <a:lstStyle/>
          <a:p>
            <a:pPr eaLnBrk="1" hangingPunct="1">
              <a:lnSpc>
                <a:spcPct val="120000"/>
              </a:lnSpc>
              <a:buNone/>
            </a:pPr>
            <a:r>
              <a:rPr lang="zh-CN" altLang="en-US" sz="2400" b="1" dirty="0">
                <a:solidFill>
                  <a:srgbClr val="000000"/>
                </a:solidFill>
              </a:rPr>
              <a:t>（ </a:t>
            </a:r>
            <a:r>
              <a:rPr lang="en-US" altLang="zh-CN" sz="2400" b="1" dirty="0">
                <a:solidFill>
                  <a:srgbClr val="000000"/>
                </a:solidFill>
              </a:rPr>
              <a:t>2 </a:t>
            </a:r>
            <a:r>
              <a:rPr lang="zh-CN" altLang="en-US" sz="2400" b="1" dirty="0">
                <a:solidFill>
                  <a:srgbClr val="000000"/>
                </a:solidFill>
              </a:rPr>
              <a:t>） </a:t>
            </a:r>
            <a:r>
              <a:rPr lang="en-US" altLang="zh-CN" sz="2400" b="1" dirty="0">
                <a:solidFill>
                  <a:srgbClr val="000000"/>
                </a:solidFill>
              </a:rPr>
              <a:t>1565H </a:t>
            </a:r>
            <a:r>
              <a:rPr lang="zh-CN" altLang="en-US" sz="2400" b="1" dirty="0">
                <a:solidFill>
                  <a:srgbClr val="000000"/>
                </a:solidFill>
              </a:rPr>
              <a:t>对应的物理地址是 </a:t>
            </a:r>
            <a:r>
              <a:rPr lang="en-US" altLang="zh-CN" sz="2400" b="1" dirty="0">
                <a:solidFill>
                  <a:srgbClr val="000000"/>
                </a:solidFill>
              </a:rPr>
              <a:t>101565H </a:t>
            </a:r>
            <a:r>
              <a:rPr lang="zh-CN" altLang="en-US" sz="2400" b="1" dirty="0">
                <a:solidFill>
                  <a:srgbClr val="000000"/>
                </a:solidFill>
              </a:rPr>
              <a:t>；在上一题中，当访问</a:t>
            </a:r>
            <a:r>
              <a:rPr lang="en-US" altLang="zh-CN" sz="2400" b="1" dirty="0">
                <a:solidFill>
                  <a:srgbClr val="000000"/>
                </a:solidFill>
              </a:rPr>
              <a:t>1565H </a:t>
            </a:r>
            <a:r>
              <a:rPr lang="zh-CN" altLang="en-US" sz="2400" b="1" dirty="0">
                <a:solidFill>
                  <a:srgbClr val="000000"/>
                </a:solidFill>
              </a:rPr>
              <a:t>时产生缺页中断时，内存中已经有</a:t>
            </a:r>
            <a:r>
              <a:rPr lang="en-US" altLang="zh-CN" sz="2400" b="1" dirty="0">
                <a:solidFill>
                  <a:srgbClr val="000000"/>
                </a:solidFill>
              </a:rPr>
              <a:t>2</a:t>
            </a:r>
            <a:r>
              <a:rPr lang="zh-CN" altLang="en-US" sz="2400" b="1" dirty="0">
                <a:solidFill>
                  <a:srgbClr val="000000"/>
                </a:solidFill>
              </a:rPr>
              <a:t>页， 达到驻留集大小上限，应选出一页换出，由于在之前刚访问过</a:t>
            </a:r>
            <a:r>
              <a:rPr lang="en-US" altLang="zh-CN" sz="2400" b="1" dirty="0">
                <a:solidFill>
                  <a:srgbClr val="000000"/>
                </a:solidFill>
              </a:rPr>
              <a:t>2362H</a:t>
            </a:r>
            <a:r>
              <a:rPr lang="zh-CN" altLang="en-US" sz="2400" b="1" dirty="0">
                <a:solidFill>
                  <a:srgbClr val="000000"/>
                </a:solidFill>
              </a:rPr>
              <a:t>地址，</a:t>
            </a:r>
            <a:r>
              <a:rPr lang="en-US" altLang="zh-CN" sz="2400" b="1" dirty="0">
                <a:solidFill>
                  <a:srgbClr val="000000"/>
                </a:solidFill>
              </a:rPr>
              <a:t>2</a:t>
            </a:r>
            <a:r>
              <a:rPr lang="zh-CN" altLang="en-US" sz="2400" b="1" dirty="0">
                <a:solidFill>
                  <a:srgbClr val="000000"/>
                </a:solidFill>
              </a:rPr>
              <a:t>号页面刚被访问，因此根据 </a:t>
            </a:r>
            <a:r>
              <a:rPr lang="en-US" altLang="zh-CN" sz="2400" b="1" dirty="0">
                <a:solidFill>
                  <a:srgbClr val="000000"/>
                </a:solidFill>
              </a:rPr>
              <a:t>LRU </a:t>
            </a:r>
            <a:r>
              <a:rPr lang="zh-CN" altLang="en-US" sz="2400" b="1" dirty="0">
                <a:solidFill>
                  <a:srgbClr val="000000"/>
                </a:solidFill>
              </a:rPr>
              <a:t>算法，淘汰</a:t>
            </a:r>
            <a:r>
              <a:rPr lang="en-US" altLang="zh-CN" sz="2400" b="1" dirty="0">
                <a:solidFill>
                  <a:srgbClr val="000000"/>
                </a:solidFill>
              </a:rPr>
              <a:t>0</a:t>
            </a:r>
            <a:r>
              <a:rPr lang="zh-CN" altLang="en-US" sz="2400" b="1" dirty="0">
                <a:solidFill>
                  <a:srgbClr val="000000"/>
                </a:solidFill>
              </a:rPr>
              <a:t>号页面，即页框号为</a:t>
            </a:r>
            <a:r>
              <a:rPr lang="en-US" altLang="zh-CN" sz="2400" b="1" dirty="0">
                <a:solidFill>
                  <a:srgbClr val="000000"/>
                </a:solidFill>
              </a:rPr>
              <a:t>101H </a:t>
            </a:r>
            <a:r>
              <a:rPr lang="zh-CN" altLang="en-US" sz="2400" b="1" dirty="0">
                <a:solidFill>
                  <a:srgbClr val="000000"/>
                </a:solidFill>
              </a:rPr>
              <a:t>的页面</a:t>
            </a:r>
            <a:r>
              <a:rPr lang="zh-CN" altLang="en-US" sz="2400" dirty="0">
                <a:solidFill>
                  <a:srgbClr val="000000"/>
                </a:solidFill>
              </a:rPr>
              <a:t>，</a:t>
            </a:r>
            <a:r>
              <a:rPr lang="zh-CN" altLang="en-US" sz="2400" b="1" dirty="0">
                <a:solidFill>
                  <a:srgbClr val="000000"/>
                </a:solidFill>
              </a:rPr>
              <a:t>换入</a:t>
            </a:r>
            <a:r>
              <a:rPr lang="en-US" altLang="zh-CN" sz="2400" b="1" dirty="0">
                <a:solidFill>
                  <a:srgbClr val="000000"/>
                </a:solidFill>
              </a:rPr>
              <a:t>1</a:t>
            </a:r>
            <a:r>
              <a:rPr lang="zh-CN" altLang="en-US" sz="2400" b="1" dirty="0">
                <a:solidFill>
                  <a:srgbClr val="000000"/>
                </a:solidFill>
              </a:rPr>
              <a:t>号页面到</a:t>
            </a:r>
            <a:r>
              <a:rPr lang="en-US" altLang="zh-CN" sz="2400" b="1" dirty="0">
                <a:solidFill>
                  <a:srgbClr val="000000"/>
                </a:solidFill>
              </a:rPr>
              <a:t>101H</a:t>
            </a:r>
            <a:r>
              <a:rPr lang="zh-CN" altLang="en-US" sz="2400" b="1" dirty="0">
                <a:solidFill>
                  <a:srgbClr val="000000"/>
                </a:solidFill>
              </a:rPr>
              <a:t>页框中，所以虚地址 </a:t>
            </a:r>
            <a:r>
              <a:rPr lang="en-US" altLang="zh-CN" sz="2400" b="1" dirty="0">
                <a:solidFill>
                  <a:srgbClr val="000000"/>
                </a:solidFill>
              </a:rPr>
              <a:t>1565H </a:t>
            </a:r>
            <a:r>
              <a:rPr lang="zh-CN" altLang="en-US" sz="2400" b="1" dirty="0">
                <a:solidFill>
                  <a:srgbClr val="000000"/>
                </a:solidFill>
              </a:rPr>
              <a:t>的物理地址为页框号</a:t>
            </a:r>
            <a:r>
              <a:rPr lang="en-US" altLang="zh-CN" sz="2400" b="1" dirty="0">
                <a:solidFill>
                  <a:srgbClr val="000000"/>
                </a:solidFill>
              </a:rPr>
              <a:t>101H</a:t>
            </a:r>
            <a:r>
              <a:rPr lang="zh-CN" altLang="en-US" sz="2400" b="1" dirty="0">
                <a:solidFill>
                  <a:srgbClr val="000000"/>
                </a:solidFill>
              </a:rPr>
              <a:t>与页内位移 </a:t>
            </a:r>
            <a:r>
              <a:rPr lang="en-US" altLang="zh-CN" sz="2400" b="1" dirty="0">
                <a:solidFill>
                  <a:srgbClr val="000000"/>
                </a:solidFill>
              </a:rPr>
              <a:t>565H</a:t>
            </a:r>
            <a:r>
              <a:rPr lang="zh-CN" altLang="en-US" sz="2400" b="1" dirty="0">
                <a:solidFill>
                  <a:srgbClr val="000000"/>
                </a:solidFill>
              </a:rPr>
              <a:t>的组合，即</a:t>
            </a:r>
            <a:r>
              <a:rPr lang="en-US" altLang="zh-CN" sz="2400" b="1" dirty="0">
                <a:solidFill>
                  <a:srgbClr val="000000"/>
                </a:solidFill>
              </a:rPr>
              <a:t>101565H </a:t>
            </a:r>
            <a:r>
              <a:rPr lang="zh-CN" altLang="en-US" sz="2400" b="1" dirty="0">
                <a:solidFill>
                  <a:srgbClr val="000000"/>
                </a:solidFill>
              </a:rPr>
              <a:t>。</a:t>
            </a:r>
            <a:endParaRPr lang="zh-CN" altLang="en-US" sz="2400" b="1" dirty="0">
              <a:solidFill>
                <a:srgbClr val="000000"/>
              </a:solidFill>
            </a:endParaRPr>
          </a:p>
        </p:txBody>
      </p:sp>
    </p:spTree>
  </p:cSld>
  <p:clrMapOvr>
    <a:masterClrMapping/>
  </p:clrMapOvr>
  <p:transition>
    <p:blinds/>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p:cNvSpPr>
          <p:nvPr>
            <p:ph idx="1"/>
          </p:nvPr>
        </p:nvSpPr>
        <p:spPr>
          <a:xfrm>
            <a:off x="431800" y="1136650"/>
            <a:ext cx="7848600" cy="4321175"/>
          </a:xfrm>
        </p:spPr>
        <p:txBody>
          <a:bodyPr vert="horz" wrap="square" lIns="91440" tIns="45720" rIns="91440" bIns="45720" anchor="t" anchorCtr="0"/>
          <a:lstStyle/>
          <a:p>
            <a:pPr eaLnBrk="1" hangingPunct="1">
              <a:lnSpc>
                <a:spcPct val="150000"/>
              </a:lnSpc>
              <a:spcBef>
                <a:spcPct val="0"/>
              </a:spcBef>
              <a:buNone/>
            </a:pPr>
            <a:r>
              <a:rPr lang="en-US" altLang="zh-CN" sz="2400" b="1" dirty="0">
                <a:solidFill>
                  <a:srgbClr val="FF0000"/>
                </a:solidFill>
              </a:rPr>
              <a:t>            </a:t>
            </a:r>
            <a:r>
              <a:rPr lang="zh-CN" altLang="en-US" sz="2400" b="1" dirty="0">
                <a:solidFill>
                  <a:srgbClr val="FF0000"/>
                </a:solidFill>
              </a:rPr>
              <a:t>抖动现象：</a:t>
            </a:r>
            <a:r>
              <a:rPr lang="zh-CN" altLang="en-US" sz="2400" b="1" dirty="0">
                <a:solidFill>
                  <a:srgbClr val="000000"/>
                </a:solidFill>
              </a:rPr>
              <a:t>进程运行过程中，刚刚被淘汰的页面很快被重新调入，调入不久再次被淘汰，如此反复，以致大部分处理机时间都用于页面置换，只有小部分时间用于进程的实际运行。</a:t>
            </a:r>
            <a:endParaRPr lang="en-US" altLang="zh-CN" sz="2400" b="1" dirty="0">
              <a:solidFill>
                <a:srgbClr val="000000"/>
              </a:solidFill>
            </a:endParaRPr>
          </a:p>
          <a:p>
            <a:pPr eaLnBrk="1" hangingPunct="1">
              <a:lnSpc>
                <a:spcPct val="150000"/>
              </a:lnSpc>
              <a:spcBef>
                <a:spcPct val="0"/>
              </a:spcBef>
              <a:buNone/>
            </a:pPr>
            <a:endParaRPr lang="en-US" altLang="zh-CN" sz="2400" b="1" dirty="0">
              <a:solidFill>
                <a:srgbClr val="000000"/>
              </a:solidFill>
            </a:endParaRPr>
          </a:p>
          <a:p>
            <a:pPr eaLnBrk="1" hangingPunct="1">
              <a:lnSpc>
                <a:spcPct val="150000"/>
              </a:lnSpc>
              <a:spcBef>
                <a:spcPct val="0"/>
              </a:spcBef>
              <a:buNone/>
            </a:pPr>
            <a:r>
              <a:rPr lang="zh-CN" altLang="en-US" sz="2400" b="1" dirty="0">
                <a:solidFill>
                  <a:srgbClr val="000000"/>
                </a:solidFill>
              </a:rPr>
              <a:t>        </a:t>
            </a:r>
            <a:r>
              <a:rPr lang="zh-CN" altLang="en-US" sz="2400" b="1" dirty="0">
                <a:solidFill>
                  <a:schemeClr val="hlink"/>
                </a:solidFill>
              </a:rPr>
              <a:t>抖动产生原因：</a:t>
            </a:r>
            <a:r>
              <a:rPr lang="zh-CN" altLang="en-US" sz="2400" b="1" dirty="0"/>
              <a:t>系统中运行的进程太多，导致分配给每个进程的物理块太少，</a:t>
            </a:r>
            <a:r>
              <a:rPr lang="zh-CN" altLang="en-US" sz="2400" b="1" dirty="0">
                <a:solidFill>
                  <a:srgbClr val="000000"/>
                </a:solidFill>
              </a:rPr>
              <a:t> 进程在运行时，频繁地出现缺页，需要</a:t>
            </a:r>
            <a:r>
              <a:rPr lang="en-US" altLang="zh-CN" sz="2400" b="1" dirty="0">
                <a:solidFill>
                  <a:srgbClr val="000000"/>
                </a:solidFill>
              </a:rPr>
              <a:t>OS</a:t>
            </a:r>
            <a:r>
              <a:rPr lang="zh-CN" altLang="en-US" sz="2400" b="1" dirty="0">
                <a:solidFill>
                  <a:srgbClr val="000000"/>
                </a:solidFill>
              </a:rPr>
              <a:t>将访问的页面从磁盘调入内存。</a:t>
            </a:r>
            <a:endParaRPr lang="zh-CN" altLang="en-US" sz="2400" b="1" dirty="0">
              <a:solidFill>
                <a:srgbClr val="000000"/>
              </a:solidFill>
            </a:endParaRPr>
          </a:p>
          <a:p>
            <a:pPr eaLnBrk="1" hangingPunct="1">
              <a:lnSpc>
                <a:spcPct val="120000"/>
              </a:lnSpc>
              <a:buNone/>
            </a:pPr>
            <a:r>
              <a:rPr lang="zh-CN" altLang="en-US" sz="2400" b="1" dirty="0">
                <a:solidFill>
                  <a:srgbClr val="000000"/>
                </a:solidFill>
              </a:rPr>
              <a:t>           </a:t>
            </a:r>
            <a:endParaRPr lang="en-US" altLang="zh-CN" sz="2400" b="1" dirty="0">
              <a:solidFill>
                <a:srgbClr val="000000"/>
              </a:solidFill>
            </a:endParaRPr>
          </a:p>
        </p:txBody>
      </p:sp>
      <p:sp>
        <p:nvSpPr>
          <p:cNvPr id="71683" name="Text Box 3"/>
          <p:cNvSpPr txBox="1"/>
          <p:nvPr/>
        </p:nvSpPr>
        <p:spPr>
          <a:xfrm>
            <a:off x="684213" y="549275"/>
            <a:ext cx="3344862"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b="1" dirty="0">
                <a:solidFill>
                  <a:schemeClr val="hlink"/>
                </a:solidFill>
                <a:latin typeface="Times New Roman" panose="02020603050405020304" pitchFamily="18" charset="0"/>
              </a:rPr>
              <a:t>5.4  “</a:t>
            </a:r>
            <a:r>
              <a:rPr lang="zh-CN" altLang="en-US" b="1" dirty="0">
                <a:solidFill>
                  <a:schemeClr val="hlink"/>
                </a:solidFill>
                <a:latin typeface="Times New Roman" panose="02020603050405020304" pitchFamily="18" charset="0"/>
              </a:rPr>
              <a:t>抖动”</a:t>
            </a:r>
            <a:r>
              <a:rPr lang="zh-CN" altLang="en-US" b="1" dirty="0">
                <a:latin typeface="Times New Roman" panose="02020603050405020304" pitchFamily="18" charset="0"/>
              </a:rPr>
              <a:t> </a:t>
            </a:r>
            <a:endParaRPr lang="zh-CN" altLang="en-US" b="1" dirty="0">
              <a:latin typeface="Times New Roman" panose="02020603050405020304" pitchFamily="18" charset="0"/>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0962">
                                            <p:txEl>
                                              <p:pRg st="3" end="3"/>
                                            </p:txEl>
                                          </p:spTgt>
                                        </p:tgtEl>
                                        <p:attrNameLst>
                                          <p:attrName>style.visibility</p:attrName>
                                        </p:attrNameLst>
                                      </p:cBhvr>
                                      <p:to>
                                        <p:strVal val="visible"/>
                                      </p:to>
                                    </p:set>
                                    <p:anim calcmode="lin" valueType="num">
                                      <p:cBhvr additive="base">
                                        <p:cTn id="7" dur="500" fill="hold"/>
                                        <p:tgtEl>
                                          <p:spTgt spid="40962">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6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内容占位符 2"/>
          <p:cNvSpPr>
            <a:spLocks noGrp="1"/>
          </p:cNvSpPr>
          <p:nvPr>
            <p:ph idx="1"/>
          </p:nvPr>
        </p:nvSpPr>
        <p:spPr>
          <a:xfrm>
            <a:off x="377825" y="441325"/>
            <a:ext cx="8388350" cy="3886200"/>
          </a:xfrm>
        </p:spPr>
        <p:txBody>
          <a:bodyPr vert="horz" wrap="square" lIns="91440" tIns="45720" rIns="91440" bIns="45720" anchor="t" anchorCtr="0"/>
          <a:lstStyle/>
          <a:p>
            <a:pPr marL="0" indent="0">
              <a:lnSpc>
                <a:spcPct val="150000"/>
              </a:lnSpc>
              <a:buNone/>
            </a:pPr>
            <a:r>
              <a:rPr lang="zh-CN" altLang="en-US" sz="2400" b="1" dirty="0">
                <a:solidFill>
                  <a:srgbClr val="FF0000"/>
                </a:solidFill>
              </a:rPr>
              <a:t>工作集：</a:t>
            </a:r>
            <a:r>
              <a:rPr lang="zh-CN" altLang="en-US" sz="2400" b="1" dirty="0">
                <a:solidFill>
                  <a:srgbClr val="000000"/>
                </a:solidFill>
              </a:rPr>
              <a:t>在某段时间间隔</a:t>
            </a:r>
            <a:r>
              <a:rPr lang="el-GR" altLang="zh-CN" sz="2400" b="1" dirty="0">
                <a:solidFill>
                  <a:srgbClr val="000000"/>
                </a:solidFill>
              </a:rPr>
              <a:t>Δ</a:t>
            </a:r>
            <a:r>
              <a:rPr lang="zh-CN" altLang="en-US" sz="2400" b="1" dirty="0">
                <a:solidFill>
                  <a:srgbClr val="000000"/>
                </a:solidFill>
              </a:rPr>
              <a:t>里，进程</a:t>
            </a:r>
            <a:r>
              <a:rPr lang="zh-CN" altLang="en-US" sz="2400" b="1" dirty="0"/>
              <a:t>实际要访问</a:t>
            </a:r>
            <a:r>
              <a:rPr lang="zh-CN" altLang="en-US" sz="2400" b="1" dirty="0">
                <a:solidFill>
                  <a:srgbClr val="000000"/>
                </a:solidFill>
              </a:rPr>
              <a:t>的页面的集合。</a:t>
            </a:r>
            <a:r>
              <a:rPr lang="zh-CN" altLang="en-US" sz="2400" b="1" dirty="0">
                <a:solidFill>
                  <a:srgbClr val="006600"/>
                </a:solidFill>
              </a:rPr>
              <a:t>用过去某段时间内的行为作为将来某段时间行为的近似。</a:t>
            </a:r>
            <a:endParaRPr lang="en-US" altLang="zh-CN" sz="2400" b="1" dirty="0">
              <a:solidFill>
                <a:srgbClr val="000000"/>
              </a:solidFill>
            </a:endParaRPr>
          </a:p>
          <a:p>
            <a:pPr marL="0" indent="0">
              <a:lnSpc>
                <a:spcPct val="150000"/>
              </a:lnSpc>
              <a:buNone/>
            </a:pPr>
            <a:r>
              <a:rPr lang="zh-CN" altLang="en-US" sz="2400" b="1" dirty="0">
                <a:solidFill>
                  <a:srgbClr val="000000"/>
                </a:solidFill>
              </a:rPr>
              <a:t>      用</a:t>
            </a:r>
            <a:r>
              <a:rPr lang="en-US" altLang="zh-CN" sz="2400" b="1" dirty="0">
                <a:solidFill>
                  <a:srgbClr val="000000"/>
                </a:solidFill>
              </a:rPr>
              <a:t>w(t,</a:t>
            </a:r>
            <a:r>
              <a:rPr lang="el-GR" altLang="zh-CN" sz="2400" b="1" dirty="0">
                <a:solidFill>
                  <a:srgbClr val="000000"/>
                </a:solidFill>
              </a:rPr>
              <a:t> Δ</a:t>
            </a:r>
            <a:r>
              <a:rPr lang="en-US" altLang="zh-CN" sz="2400" b="1" dirty="0">
                <a:solidFill>
                  <a:srgbClr val="000000"/>
                </a:solidFill>
              </a:rPr>
              <a:t>)</a:t>
            </a:r>
            <a:r>
              <a:rPr lang="zh-CN" altLang="en-US" sz="2400" b="1" dirty="0">
                <a:solidFill>
                  <a:srgbClr val="000000"/>
                </a:solidFill>
              </a:rPr>
              <a:t>表示</a:t>
            </a:r>
            <a:r>
              <a:rPr lang="en-US" altLang="zh-CN" sz="2400" b="1" dirty="0">
                <a:solidFill>
                  <a:srgbClr val="000000"/>
                </a:solidFill>
              </a:rPr>
              <a:t>t-</a:t>
            </a:r>
            <a:r>
              <a:rPr lang="el-GR" altLang="zh-CN" sz="2400" b="1" dirty="0">
                <a:solidFill>
                  <a:srgbClr val="000000"/>
                </a:solidFill>
              </a:rPr>
              <a:t>Δ</a:t>
            </a:r>
            <a:r>
              <a:rPr lang="zh-CN" altLang="en-US" sz="2400" b="1" dirty="0">
                <a:solidFill>
                  <a:srgbClr val="000000"/>
                </a:solidFill>
              </a:rPr>
              <a:t>到</a:t>
            </a:r>
            <a:r>
              <a:rPr lang="en-US" altLang="zh-CN" sz="2400" b="1" dirty="0">
                <a:solidFill>
                  <a:srgbClr val="000000"/>
                </a:solidFill>
              </a:rPr>
              <a:t>t</a:t>
            </a:r>
            <a:r>
              <a:rPr lang="zh-CN" altLang="en-US" sz="2400" b="1" dirty="0">
                <a:solidFill>
                  <a:srgbClr val="000000"/>
                </a:solidFill>
              </a:rPr>
              <a:t>之间进程所访问的</a:t>
            </a:r>
            <a:r>
              <a:rPr lang="zh-CN" altLang="en-US" sz="2400" b="1" dirty="0">
                <a:solidFill>
                  <a:srgbClr val="006600"/>
                </a:solidFill>
              </a:rPr>
              <a:t>不同页面</a:t>
            </a:r>
            <a:r>
              <a:rPr lang="zh-CN" altLang="en-US" sz="2400" b="1" dirty="0">
                <a:solidFill>
                  <a:srgbClr val="000000"/>
                </a:solidFill>
              </a:rPr>
              <a:t>，则</a:t>
            </a:r>
            <a:r>
              <a:rPr lang="en-US" altLang="zh-CN" sz="2400" b="1" dirty="0">
                <a:solidFill>
                  <a:srgbClr val="000000"/>
                </a:solidFill>
              </a:rPr>
              <a:t>w(t,</a:t>
            </a:r>
            <a:r>
              <a:rPr lang="el-GR" altLang="zh-CN" sz="2400" b="1" dirty="0">
                <a:solidFill>
                  <a:srgbClr val="000000"/>
                </a:solidFill>
              </a:rPr>
              <a:t> Δ</a:t>
            </a:r>
            <a:r>
              <a:rPr lang="en-US" altLang="zh-CN" sz="2400" b="1" dirty="0">
                <a:solidFill>
                  <a:srgbClr val="000000"/>
                </a:solidFill>
              </a:rPr>
              <a:t>)</a:t>
            </a:r>
            <a:r>
              <a:rPr lang="zh-CN" altLang="en-US" sz="2400" b="1" dirty="0">
                <a:solidFill>
                  <a:srgbClr val="000000"/>
                </a:solidFill>
              </a:rPr>
              <a:t>即为</a:t>
            </a:r>
            <a:r>
              <a:rPr lang="zh-CN" altLang="en-US" sz="2400" b="1" dirty="0">
                <a:solidFill>
                  <a:srgbClr val="FF0000"/>
                </a:solidFill>
              </a:rPr>
              <a:t>进程在时间</a:t>
            </a:r>
            <a:r>
              <a:rPr lang="en-US" altLang="zh-CN" sz="2400" b="1" dirty="0">
                <a:solidFill>
                  <a:srgbClr val="FF0000"/>
                </a:solidFill>
              </a:rPr>
              <a:t>t</a:t>
            </a:r>
            <a:r>
              <a:rPr lang="zh-CN" altLang="en-US" sz="2400" b="1" dirty="0">
                <a:solidFill>
                  <a:srgbClr val="FF0000"/>
                </a:solidFill>
              </a:rPr>
              <a:t>的工作集</a:t>
            </a:r>
            <a:r>
              <a:rPr lang="zh-CN" altLang="en-US" sz="2400" b="1" dirty="0">
                <a:solidFill>
                  <a:srgbClr val="000000"/>
                </a:solidFill>
              </a:rPr>
              <a:t>。</a:t>
            </a:r>
            <a:r>
              <a:rPr lang="el-GR" altLang="zh-CN" sz="2400" b="1" dirty="0">
                <a:solidFill>
                  <a:srgbClr val="000000"/>
                </a:solidFill>
              </a:rPr>
              <a:t> </a:t>
            </a:r>
            <a:r>
              <a:rPr lang="zh-CN" altLang="en-US" sz="2400" b="1" dirty="0">
                <a:solidFill>
                  <a:srgbClr val="000000"/>
                </a:solidFill>
              </a:rPr>
              <a:t>变量</a:t>
            </a:r>
            <a:r>
              <a:rPr lang="el-GR" altLang="zh-CN" sz="2400" b="1" dirty="0">
                <a:solidFill>
                  <a:srgbClr val="000000"/>
                </a:solidFill>
              </a:rPr>
              <a:t>Δ</a:t>
            </a:r>
            <a:r>
              <a:rPr lang="zh-CN" altLang="en-US" sz="2400" b="1" dirty="0">
                <a:solidFill>
                  <a:srgbClr val="000000"/>
                </a:solidFill>
              </a:rPr>
              <a:t>称为工作集的“窗口尺寸”。</a:t>
            </a:r>
            <a:endParaRPr lang="en-US" altLang="zh-CN" sz="2400" b="1" dirty="0">
              <a:solidFill>
                <a:srgbClr val="000000"/>
              </a:solidFill>
            </a:endParaRPr>
          </a:p>
          <a:p>
            <a:pPr marL="0" indent="0">
              <a:buNone/>
            </a:pPr>
            <a:endParaRPr lang="zh-CN" altLang="en-US" dirty="0"/>
          </a:p>
        </p:txBody>
      </p:sp>
      <p:sp>
        <p:nvSpPr>
          <p:cNvPr id="3" name="内容占位符 2"/>
          <p:cNvSpPr txBox="1">
            <a:spLocks noChangeArrowheads="1"/>
          </p:cNvSpPr>
          <p:nvPr/>
        </p:nvSpPr>
        <p:spPr bwMode="auto">
          <a:xfrm>
            <a:off x="369888" y="3376613"/>
            <a:ext cx="8388350" cy="1900238"/>
          </a:xfrm>
          <a:prstGeom prst="rect">
            <a:avLst/>
          </a:prstGeom>
          <a:solidFill>
            <a:schemeClr val="bg1"/>
          </a:solidFill>
          <a:ln>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a:lstStyle>
          <a:p>
            <a:pPr marL="0" marR="0" lvl="0" indent="0" algn="l" defTabSz="914400" rtl="0" eaLnBrk="0" fontAlgn="base" latinLnBrk="1" hangingPunct="0">
              <a:lnSpc>
                <a:spcPct val="150000"/>
              </a:lnSpc>
              <a:spcBef>
                <a:spcPct val="20000"/>
              </a:spcBef>
              <a:spcAft>
                <a:spcPct val="0"/>
              </a:spcAft>
              <a:buClr>
                <a:schemeClr val="hlink"/>
              </a:buClr>
              <a:buSzPct val="70000"/>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mn-lt"/>
                <a:ea typeface="+mn-ea"/>
                <a:cs typeface="+mn-cs"/>
              </a:rPr>
              <a:t>例：如果</a:t>
            </a:r>
            <a:r>
              <a:rPr kumimoji="0" lang="el-GR" altLang="zh-CN" sz="2400" b="1" i="0" u="none" strike="noStrike" kern="0" cap="none" spc="0" normalizeH="0" baseline="0" noProof="0" dirty="0">
                <a:ln>
                  <a:noFill/>
                </a:ln>
                <a:solidFill>
                  <a:srgbClr val="000000"/>
                </a:solidFill>
                <a:effectLst/>
                <a:uLnTx/>
                <a:uFillTx/>
                <a:latin typeface="+mn-lt"/>
                <a:ea typeface="+mn-ea"/>
                <a:cs typeface="+mn-cs"/>
              </a:rPr>
              <a:t>Δ</a:t>
            </a:r>
            <a:r>
              <a:rPr kumimoji="0" lang="en-US" altLang="zh-CN" sz="2400" b="1" i="0" u="none" strike="noStrike" kern="0" cap="none" spc="0" normalizeH="0" baseline="0" noProof="0" dirty="0">
                <a:ln>
                  <a:noFill/>
                </a:ln>
                <a:solidFill>
                  <a:srgbClr val="000000"/>
                </a:solidFill>
                <a:effectLst/>
                <a:uLnTx/>
                <a:uFillTx/>
                <a:latin typeface="+mn-lt"/>
                <a:ea typeface="+mn-ea"/>
                <a:cs typeface="+mn-cs"/>
              </a:rPr>
              <a:t>=10</a:t>
            </a:r>
            <a:r>
              <a:rPr kumimoji="0" lang="zh-CN" altLang="en-US" sz="2400" b="1" i="0" u="none" strike="noStrike" kern="0" cap="none" spc="0" normalizeH="0" baseline="0" noProof="0" dirty="0">
                <a:ln>
                  <a:noFill/>
                </a:ln>
                <a:solidFill>
                  <a:srgbClr val="000000"/>
                </a:solidFill>
                <a:effectLst/>
                <a:uLnTx/>
                <a:uFillTx/>
                <a:latin typeface="+mn-lt"/>
                <a:ea typeface="+mn-ea"/>
                <a:cs typeface="+mn-cs"/>
              </a:rPr>
              <a:t>，在</a:t>
            </a:r>
            <a:r>
              <a:rPr kumimoji="0" lang="en-US" altLang="zh-CN" sz="2400" b="1" i="0" u="none" strike="noStrike" kern="0" cap="none" spc="0" normalizeH="0" baseline="0" noProof="0" dirty="0">
                <a:ln>
                  <a:noFill/>
                </a:ln>
                <a:solidFill>
                  <a:srgbClr val="000000"/>
                </a:solidFill>
                <a:effectLst/>
                <a:uLnTx/>
                <a:uFillTx/>
                <a:latin typeface="+mn-lt"/>
                <a:ea typeface="+mn-ea"/>
                <a:cs typeface="+mn-cs"/>
              </a:rPr>
              <a:t>t1</a:t>
            </a:r>
            <a:r>
              <a:rPr kumimoji="0" lang="zh-CN" altLang="en-US" sz="2400" b="1" i="0" u="none" strike="noStrike" kern="0" cap="none" spc="0" normalizeH="0" baseline="0" noProof="0" dirty="0">
                <a:ln>
                  <a:noFill/>
                </a:ln>
                <a:solidFill>
                  <a:srgbClr val="000000"/>
                </a:solidFill>
                <a:effectLst/>
                <a:uLnTx/>
                <a:uFillTx/>
                <a:latin typeface="+mn-lt"/>
                <a:ea typeface="+mn-ea"/>
                <a:cs typeface="+mn-cs"/>
              </a:rPr>
              <a:t>时刻的工作集是</a:t>
            </a:r>
            <a:r>
              <a:rPr kumimoji="0" lang="en-US" altLang="zh-CN" sz="2400" b="1" i="0" u="none" strike="noStrike" kern="0" cap="none" spc="0" normalizeH="0" baseline="0" noProof="0" dirty="0">
                <a:ln>
                  <a:noFill/>
                </a:ln>
                <a:solidFill>
                  <a:srgbClr val="000000"/>
                </a:solidFill>
                <a:effectLst/>
                <a:uLnTx/>
                <a:uFillTx/>
                <a:latin typeface="+mn-lt"/>
                <a:ea typeface="+mn-ea"/>
                <a:cs typeface="+mn-cs"/>
              </a:rPr>
              <a:t>w(t1,</a:t>
            </a:r>
            <a:r>
              <a:rPr kumimoji="0" lang="el-GR" altLang="zh-CN" sz="2400" b="1" i="0" u="none" strike="noStrike" kern="0" cap="none" spc="0" normalizeH="0" baseline="0" noProof="0" dirty="0">
                <a:ln>
                  <a:noFill/>
                </a:ln>
                <a:solidFill>
                  <a:srgbClr val="000000"/>
                </a:solidFill>
                <a:effectLst/>
                <a:uLnTx/>
                <a:uFillTx/>
                <a:latin typeface="+mn-lt"/>
                <a:ea typeface="+mn-ea"/>
                <a:cs typeface="+mn-cs"/>
              </a:rPr>
              <a:t> </a:t>
            </a:r>
            <a:r>
              <a:rPr kumimoji="0" lang="en-US" altLang="zh-CN" sz="2400" b="1" i="0" u="none" strike="noStrike" kern="0" cap="none" spc="0" normalizeH="0" baseline="0" noProof="0" dirty="0">
                <a:ln>
                  <a:noFill/>
                </a:ln>
                <a:solidFill>
                  <a:srgbClr val="000000"/>
                </a:solidFill>
                <a:effectLst/>
                <a:uLnTx/>
                <a:uFillTx/>
                <a:latin typeface="+mn-lt"/>
                <a:ea typeface="+mn-ea"/>
                <a:cs typeface="+mn-cs"/>
              </a:rPr>
              <a:t>10)={1,2,5,6,7}</a:t>
            </a:r>
            <a:r>
              <a:rPr kumimoji="0" lang="zh-CN" altLang="en-US" sz="2400" b="1" i="0" u="none" strike="noStrike" kern="0" cap="none" spc="0" normalizeH="0" baseline="0" noProof="0" dirty="0">
                <a:ln>
                  <a:noFill/>
                </a:ln>
                <a:solidFill>
                  <a:srgbClr val="000000"/>
                </a:solidFill>
                <a:effectLst/>
                <a:uLnTx/>
                <a:uFillTx/>
                <a:latin typeface="+mn-lt"/>
                <a:ea typeface="+mn-ea"/>
                <a:cs typeface="+mn-cs"/>
              </a:rPr>
              <a:t>，在</a:t>
            </a:r>
            <a:r>
              <a:rPr kumimoji="0" lang="en-US" altLang="zh-CN" sz="2400" b="1" i="0" u="none" strike="noStrike" kern="0" cap="none" spc="0" normalizeH="0" baseline="0" noProof="0" dirty="0">
                <a:ln>
                  <a:noFill/>
                </a:ln>
                <a:solidFill>
                  <a:srgbClr val="000000"/>
                </a:solidFill>
                <a:effectLst/>
                <a:uLnTx/>
                <a:uFillTx/>
                <a:latin typeface="+mn-lt"/>
                <a:ea typeface="+mn-ea"/>
                <a:cs typeface="+mn-cs"/>
              </a:rPr>
              <a:t>t2</a:t>
            </a:r>
            <a:r>
              <a:rPr kumimoji="0" lang="zh-CN" altLang="en-US" sz="2400" b="1" i="0" u="none" strike="noStrike" kern="0" cap="none" spc="0" normalizeH="0" baseline="0" noProof="0" dirty="0">
                <a:ln>
                  <a:noFill/>
                </a:ln>
                <a:solidFill>
                  <a:srgbClr val="000000"/>
                </a:solidFill>
                <a:effectLst/>
                <a:uLnTx/>
                <a:uFillTx/>
                <a:latin typeface="+mn-lt"/>
                <a:ea typeface="+mn-ea"/>
                <a:cs typeface="+mn-cs"/>
              </a:rPr>
              <a:t>时刻的工作集是</a:t>
            </a:r>
            <a:r>
              <a:rPr kumimoji="0" lang="en-US" altLang="zh-CN" sz="2400" b="1" i="0" u="none" strike="noStrike" kern="0" cap="none" spc="0" normalizeH="0" baseline="0" noProof="0" dirty="0">
                <a:ln>
                  <a:noFill/>
                </a:ln>
                <a:solidFill>
                  <a:srgbClr val="000000"/>
                </a:solidFill>
                <a:effectLst/>
                <a:uLnTx/>
                <a:uFillTx/>
                <a:latin typeface="+mn-lt"/>
                <a:ea typeface="+mn-ea"/>
                <a:cs typeface="+mn-cs"/>
              </a:rPr>
              <a:t>w(t2,</a:t>
            </a:r>
            <a:r>
              <a:rPr kumimoji="0" lang="el-GR" altLang="zh-CN" sz="2400" b="1" i="0" u="none" strike="noStrike" kern="0" cap="none" spc="0" normalizeH="0" baseline="0" noProof="0" dirty="0">
                <a:ln>
                  <a:noFill/>
                </a:ln>
                <a:solidFill>
                  <a:srgbClr val="000000"/>
                </a:solidFill>
                <a:effectLst/>
                <a:uLnTx/>
                <a:uFillTx/>
                <a:latin typeface="+mn-lt"/>
                <a:ea typeface="+mn-ea"/>
                <a:cs typeface="+mn-cs"/>
              </a:rPr>
              <a:t> </a:t>
            </a:r>
            <a:r>
              <a:rPr kumimoji="0" lang="en-US" altLang="zh-CN" sz="2400" b="1" i="0" u="none" strike="noStrike" kern="0" cap="none" spc="0" normalizeH="0" baseline="0" noProof="0" dirty="0">
                <a:ln>
                  <a:noFill/>
                </a:ln>
                <a:solidFill>
                  <a:srgbClr val="000000"/>
                </a:solidFill>
                <a:effectLst/>
                <a:uLnTx/>
                <a:uFillTx/>
                <a:latin typeface="+mn-lt"/>
                <a:ea typeface="+mn-ea"/>
                <a:cs typeface="+mn-cs"/>
              </a:rPr>
              <a:t>10)={3,4}</a:t>
            </a:r>
            <a:r>
              <a:rPr kumimoji="0" lang="zh-CN" altLang="en-US" sz="2400" b="1" i="0" u="none" strike="noStrike" kern="0" cap="none" spc="0" normalizeH="0" baseline="0" noProof="0" dirty="0">
                <a:ln>
                  <a:noFill/>
                </a:ln>
                <a:solidFill>
                  <a:srgbClr val="000000"/>
                </a:solidFill>
                <a:effectLst/>
                <a:uLnTx/>
                <a:uFillTx/>
                <a:latin typeface="+mn-lt"/>
                <a:ea typeface="+mn-ea"/>
                <a:cs typeface="+mn-cs"/>
              </a:rPr>
              <a:t>。</a:t>
            </a:r>
            <a:endParaRPr kumimoji="0" lang="en-US" altLang="zh-CN" sz="2400" b="1" i="0" u="none" strike="noStrike" kern="0" cap="none" spc="0" normalizeH="0" baseline="0" noProof="0" dirty="0">
              <a:ln>
                <a:noFill/>
              </a:ln>
              <a:solidFill>
                <a:srgbClr val="000000"/>
              </a:solidFill>
              <a:effectLst/>
              <a:uLnTx/>
              <a:uFillTx/>
              <a:latin typeface="+mn-lt"/>
              <a:ea typeface="+mn-ea"/>
              <a:cs typeface="+mn-cs"/>
            </a:endParaRPr>
          </a:p>
          <a:p>
            <a:pPr marL="0" marR="0" lvl="0" indent="0" algn="l" defTabSz="914400" rtl="0" eaLnBrk="0" fontAlgn="base" latinLnBrk="1" hangingPunct="0">
              <a:lnSpc>
                <a:spcPct val="150000"/>
              </a:lnSpc>
              <a:spcBef>
                <a:spcPct val="20000"/>
              </a:spcBef>
              <a:spcAft>
                <a:spcPct val="0"/>
              </a:spcAft>
              <a:buClr>
                <a:schemeClr val="hlink"/>
              </a:buClr>
              <a:buSzPct val="70000"/>
              <a:buFont typeface="Wingdings" panose="05000000000000000000" pitchFamily="2" charset="2"/>
              <a:buNone/>
              <a:defRPr/>
            </a:pPr>
            <a:r>
              <a:rPr kumimoji="0" lang="en-US" altLang="zh-CN" sz="2000" b="1" i="0" u="none" strike="noStrike" kern="0" cap="none" spc="0" normalizeH="0" baseline="0" noProof="0" dirty="0">
                <a:ln>
                  <a:noFill/>
                </a:ln>
                <a:solidFill>
                  <a:srgbClr val="000000"/>
                </a:solidFill>
                <a:effectLst/>
                <a:uLnTx/>
                <a:uFillTx/>
                <a:latin typeface="+mn-lt"/>
                <a:ea typeface="+mn-ea"/>
                <a:cs typeface="+mn-cs"/>
              </a:rPr>
              <a:t>… </a:t>
            </a:r>
            <a:r>
              <a:rPr kumimoji="0" lang="en-US" altLang="zh-CN" sz="2000" b="1" i="0" u="none" strike="noStrike" kern="0" cap="none" spc="0" normalizeH="0" baseline="0" noProof="0" dirty="0">
                <a:ln>
                  <a:noFill/>
                </a:ln>
                <a:solidFill>
                  <a:srgbClr val="FF0000"/>
                </a:solidFill>
                <a:effectLst/>
                <a:uLnTx/>
                <a:uFillTx/>
                <a:latin typeface="+mn-lt"/>
                <a:ea typeface="+mn-ea"/>
                <a:cs typeface="+mn-cs"/>
              </a:rPr>
              <a:t>2 6 1 5 7 </a:t>
            </a:r>
            <a:r>
              <a:rPr kumimoji="0" lang="en-US" altLang="zh-CN" sz="2000" b="1" i="0" u="none" strike="noStrike" kern="0" cap="none" spc="0" normalizeH="0" baseline="0" noProof="0" dirty="0">
                <a:ln>
                  <a:noFill/>
                </a:ln>
                <a:solidFill>
                  <a:srgbClr val="006600"/>
                </a:solidFill>
                <a:effectLst/>
                <a:uLnTx/>
                <a:uFillTx/>
                <a:latin typeface="+mn-lt"/>
                <a:ea typeface="+mn-ea"/>
                <a:cs typeface="+mn-cs"/>
              </a:rPr>
              <a:t>7 7 7 5 1 </a:t>
            </a:r>
            <a:r>
              <a:rPr kumimoji="0" lang="en-US" altLang="zh-CN" sz="2000" b="1" i="0" u="none" strike="noStrike" kern="0" cap="none" spc="0" normalizeH="0" baseline="0" noProof="0" dirty="0">
                <a:ln>
                  <a:noFill/>
                </a:ln>
                <a:solidFill>
                  <a:srgbClr val="000000"/>
                </a:solidFill>
                <a:effectLst/>
                <a:uLnTx/>
                <a:uFillTx/>
                <a:latin typeface="+mn-lt"/>
                <a:ea typeface="+mn-ea"/>
                <a:cs typeface="+mn-cs"/>
              </a:rPr>
              <a:t>6 2 3 4 1 2 </a:t>
            </a:r>
            <a:r>
              <a:rPr kumimoji="0" lang="en-US" altLang="zh-CN" sz="2000" b="1" i="0" u="none" strike="noStrike" kern="0" cap="none" spc="0" normalizeH="0" baseline="0" noProof="0" dirty="0">
                <a:ln>
                  <a:noFill/>
                </a:ln>
                <a:solidFill>
                  <a:srgbClr val="FF0000"/>
                </a:solidFill>
                <a:effectLst/>
                <a:uLnTx/>
                <a:uFillTx/>
                <a:latin typeface="+mn-lt"/>
                <a:ea typeface="+mn-ea"/>
                <a:cs typeface="+mn-cs"/>
              </a:rPr>
              <a:t>3 4 4 4 3 </a:t>
            </a:r>
            <a:r>
              <a:rPr kumimoji="0" lang="en-US" altLang="zh-CN" sz="2000" b="1" i="0" u="none" strike="noStrike" kern="0" cap="none" spc="0" normalizeH="0" baseline="0" noProof="0" dirty="0">
                <a:ln>
                  <a:noFill/>
                </a:ln>
                <a:solidFill>
                  <a:srgbClr val="006600"/>
                </a:solidFill>
                <a:effectLst/>
                <a:uLnTx/>
                <a:uFillTx/>
                <a:latin typeface="+mn-lt"/>
                <a:ea typeface="+mn-ea"/>
                <a:cs typeface="+mn-cs"/>
              </a:rPr>
              <a:t>4 3 4 4 4 </a:t>
            </a:r>
            <a:r>
              <a:rPr kumimoji="0" lang="en-US" altLang="zh-CN" sz="2000" b="1" i="0" u="none" strike="noStrike" kern="0" cap="none" spc="0" normalizeH="0" baseline="0" noProof="0" dirty="0">
                <a:ln>
                  <a:noFill/>
                </a:ln>
                <a:solidFill>
                  <a:srgbClr val="000000"/>
                </a:solidFill>
                <a:effectLst/>
                <a:uLnTx/>
                <a:uFillTx/>
                <a:latin typeface="+mn-lt"/>
                <a:ea typeface="+mn-ea"/>
                <a:cs typeface="+mn-cs"/>
              </a:rPr>
              <a:t>1 3 2 3 4 4 4 3 4 …</a:t>
            </a:r>
            <a:endParaRPr kumimoji="0" lang="en-US" altLang="zh-CN" sz="2000" b="1" i="0" u="none" strike="noStrike" kern="0" cap="none" spc="0" normalizeH="0" baseline="0" noProof="0" dirty="0">
              <a:ln>
                <a:noFill/>
              </a:ln>
              <a:solidFill>
                <a:srgbClr val="000000"/>
              </a:solidFill>
              <a:effectLst/>
              <a:uLnTx/>
              <a:uFillTx/>
              <a:latin typeface="+mn-lt"/>
              <a:ea typeface="+mn-ea"/>
              <a:cs typeface="+mn-cs"/>
            </a:endParaRPr>
          </a:p>
          <a:p>
            <a:pPr marL="0" marR="0" lvl="0" indent="0" algn="l" defTabSz="914400" rtl="0" eaLnBrk="0" fontAlgn="base" latinLnBrk="1" hangingPunct="0">
              <a:lnSpc>
                <a:spcPct val="150000"/>
              </a:lnSpc>
              <a:spcBef>
                <a:spcPct val="20000"/>
              </a:spcBef>
              <a:spcAft>
                <a:spcPct val="0"/>
              </a:spcAft>
              <a:buClr>
                <a:schemeClr val="hlink"/>
              </a:buClr>
              <a:buSzPct val="70000"/>
              <a:buFont typeface="Wingdings" panose="05000000000000000000" pitchFamily="2" charset="2"/>
              <a:buNone/>
              <a:defRPr/>
            </a:pPr>
            <a:endParaRPr kumimoji="0" lang="en-US" altLang="zh-CN" sz="2400" b="1" i="0" u="none" strike="noStrike" kern="0" cap="none" spc="0" normalizeH="0" baseline="0" noProof="0" dirty="0">
              <a:ln>
                <a:noFill/>
              </a:ln>
              <a:solidFill>
                <a:srgbClr val="000000"/>
              </a:solidFill>
              <a:effectLst/>
              <a:uLnTx/>
              <a:uFillTx/>
              <a:latin typeface="+mn-lt"/>
              <a:ea typeface="+mn-ea"/>
              <a:cs typeface="+mn-cs"/>
            </a:endParaRPr>
          </a:p>
          <a:p>
            <a:pPr marL="0" marR="0" lvl="0" indent="0" algn="l" defTabSz="914400" rtl="0" eaLnBrk="0" fontAlgn="base" latinLnBrk="1" hangingPunct="0">
              <a:lnSpc>
                <a:spcPct val="150000"/>
              </a:lnSpc>
              <a:spcBef>
                <a:spcPct val="20000"/>
              </a:spcBef>
              <a:spcAft>
                <a:spcPct val="0"/>
              </a:spcAft>
              <a:buClr>
                <a:schemeClr val="hlink"/>
              </a:buClr>
              <a:buSzPct val="70000"/>
              <a:buFont typeface="Wingdings" panose="05000000000000000000" pitchFamily="2" charset="2"/>
              <a:buNone/>
              <a:defRPr/>
            </a:pPr>
            <a:endParaRPr kumimoji="0" lang="en-US" altLang="zh-CN" sz="2400" b="1" i="0" u="none" strike="noStrike" kern="0" cap="none" spc="0" normalizeH="0" baseline="0" noProof="0" dirty="0">
              <a:ln>
                <a:noFill/>
              </a:ln>
              <a:solidFill>
                <a:srgbClr val="000000"/>
              </a:solidFill>
              <a:effectLst/>
              <a:uLnTx/>
              <a:uFillTx/>
              <a:latin typeface="+mn-lt"/>
              <a:ea typeface="+mn-ea"/>
              <a:cs typeface="+mn-cs"/>
            </a:endParaRPr>
          </a:p>
        </p:txBody>
      </p:sp>
      <p:grpSp>
        <p:nvGrpSpPr>
          <p:cNvPr id="72708" name="组合 23"/>
          <p:cNvGrpSpPr/>
          <p:nvPr/>
        </p:nvGrpSpPr>
        <p:grpSpPr>
          <a:xfrm>
            <a:off x="792163" y="5060950"/>
            <a:ext cx="2087562" cy="1152525"/>
            <a:chOff x="786770" y="3872562"/>
            <a:chExt cx="2376264" cy="1152128"/>
          </a:xfrm>
        </p:grpSpPr>
        <p:grpSp>
          <p:nvGrpSpPr>
            <p:cNvPr id="72716" name="组合 10"/>
            <p:cNvGrpSpPr/>
            <p:nvPr/>
          </p:nvGrpSpPr>
          <p:grpSpPr>
            <a:xfrm>
              <a:off x="786770" y="3872562"/>
              <a:ext cx="2376264" cy="1152128"/>
              <a:chOff x="1007604" y="4113076"/>
              <a:chExt cx="2376264" cy="1152128"/>
            </a:xfrm>
          </p:grpSpPr>
          <p:cxnSp>
            <p:nvCxnSpPr>
              <p:cNvPr id="72718" name="直接箭头连接符 7"/>
              <p:cNvCxnSpPr/>
              <p:nvPr/>
            </p:nvCxnSpPr>
            <p:spPr>
              <a:xfrm>
                <a:off x="1007604" y="4797152"/>
                <a:ext cx="2376264" cy="0"/>
              </a:xfrm>
              <a:prstGeom prst="straightConnector1">
                <a:avLst/>
              </a:prstGeom>
              <a:ln w="38100" cap="flat" cmpd="sng">
                <a:solidFill>
                  <a:schemeClr val="tx1"/>
                </a:solidFill>
                <a:prstDash val="solid"/>
                <a:headEnd type="triangle" w="lg" len="med"/>
                <a:tailEnd type="triangle" w="lg" len="med"/>
              </a:ln>
            </p:spPr>
          </p:cxnSp>
          <p:cxnSp>
            <p:nvCxnSpPr>
              <p:cNvPr id="72719" name="直接箭头连接符 9"/>
              <p:cNvCxnSpPr/>
              <p:nvPr/>
            </p:nvCxnSpPr>
            <p:spPr>
              <a:xfrm flipV="1">
                <a:off x="3383868" y="4113076"/>
                <a:ext cx="0" cy="1152128"/>
              </a:xfrm>
              <a:prstGeom prst="straightConnector1">
                <a:avLst/>
              </a:prstGeom>
              <a:ln w="38100" cap="flat" cmpd="sng">
                <a:solidFill>
                  <a:schemeClr val="tx1"/>
                </a:solidFill>
                <a:prstDash val="solid"/>
                <a:headEnd type="none" w="med" len="med"/>
                <a:tailEnd type="triangle" w="lg" len="med"/>
              </a:ln>
            </p:spPr>
          </p:cxnSp>
        </p:grpSp>
        <p:sp>
          <p:nvSpPr>
            <p:cNvPr id="72717" name="文本框 14"/>
            <p:cNvSpPr txBox="1"/>
            <p:nvPr/>
          </p:nvSpPr>
          <p:spPr>
            <a:xfrm>
              <a:off x="1740880" y="4071681"/>
              <a:ext cx="756077" cy="40011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l-GR" altLang="zh-CN" sz="2000" b="1" dirty="0"/>
                <a:t>Δ</a:t>
              </a:r>
              <a:endParaRPr lang="zh-CN" altLang="en-US" sz="2000" b="1" dirty="0"/>
            </a:p>
          </p:txBody>
        </p:sp>
      </p:grpSp>
      <p:grpSp>
        <p:nvGrpSpPr>
          <p:cNvPr id="72709" name="组合 24"/>
          <p:cNvGrpSpPr/>
          <p:nvPr/>
        </p:nvGrpSpPr>
        <p:grpSpPr>
          <a:xfrm>
            <a:off x="4176713" y="5049838"/>
            <a:ext cx="2087562" cy="1152525"/>
            <a:chOff x="3923928" y="3861048"/>
            <a:chExt cx="2376264" cy="1152128"/>
          </a:xfrm>
        </p:grpSpPr>
        <p:grpSp>
          <p:nvGrpSpPr>
            <p:cNvPr id="72712" name="组合 11"/>
            <p:cNvGrpSpPr/>
            <p:nvPr/>
          </p:nvGrpSpPr>
          <p:grpSpPr>
            <a:xfrm>
              <a:off x="3923928" y="3861048"/>
              <a:ext cx="2376264" cy="1152128"/>
              <a:chOff x="1007604" y="4113076"/>
              <a:chExt cx="2376264" cy="1152128"/>
            </a:xfrm>
          </p:grpSpPr>
          <p:cxnSp>
            <p:nvCxnSpPr>
              <p:cNvPr id="72714" name="直接箭头连接符 12"/>
              <p:cNvCxnSpPr/>
              <p:nvPr/>
            </p:nvCxnSpPr>
            <p:spPr>
              <a:xfrm>
                <a:off x="1007604" y="4797152"/>
                <a:ext cx="2376264" cy="0"/>
              </a:xfrm>
              <a:prstGeom prst="straightConnector1">
                <a:avLst/>
              </a:prstGeom>
              <a:ln w="38100" cap="flat" cmpd="sng">
                <a:solidFill>
                  <a:schemeClr val="tx1"/>
                </a:solidFill>
                <a:prstDash val="solid"/>
                <a:headEnd type="triangle" w="lg" len="med"/>
                <a:tailEnd type="triangle" w="lg" len="med"/>
              </a:ln>
            </p:spPr>
          </p:cxnSp>
          <p:cxnSp>
            <p:nvCxnSpPr>
              <p:cNvPr id="72715" name="直接箭头连接符 13"/>
              <p:cNvCxnSpPr/>
              <p:nvPr/>
            </p:nvCxnSpPr>
            <p:spPr>
              <a:xfrm flipV="1">
                <a:off x="3383868" y="4113076"/>
                <a:ext cx="0" cy="1152128"/>
              </a:xfrm>
              <a:prstGeom prst="straightConnector1">
                <a:avLst/>
              </a:prstGeom>
              <a:ln w="38100" cap="flat" cmpd="sng">
                <a:solidFill>
                  <a:schemeClr val="tx1"/>
                </a:solidFill>
                <a:prstDash val="solid"/>
                <a:headEnd type="none" w="med" len="med"/>
                <a:tailEnd type="triangle" w="lg" len="med"/>
              </a:ln>
            </p:spPr>
          </p:cxnSp>
        </p:grpSp>
        <p:sp>
          <p:nvSpPr>
            <p:cNvPr id="72713" name="文本框 17"/>
            <p:cNvSpPr txBox="1"/>
            <p:nvPr/>
          </p:nvSpPr>
          <p:spPr>
            <a:xfrm>
              <a:off x="5004052" y="4077073"/>
              <a:ext cx="756077" cy="40011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l-GR" altLang="zh-CN" sz="2000" b="1" dirty="0"/>
                <a:t>Δ</a:t>
              </a:r>
              <a:endParaRPr lang="zh-CN" altLang="en-US" sz="2000" b="1" dirty="0"/>
            </a:p>
          </p:txBody>
        </p:sp>
      </p:grpSp>
      <p:sp>
        <p:nvSpPr>
          <p:cNvPr id="72710" name="文本框 20"/>
          <p:cNvSpPr txBox="1"/>
          <p:nvPr/>
        </p:nvSpPr>
        <p:spPr>
          <a:xfrm>
            <a:off x="2663825" y="6273800"/>
            <a:ext cx="755650"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n-US" altLang="zh-CN" sz="2000" b="1" dirty="0"/>
              <a:t>t1</a:t>
            </a:r>
            <a:endParaRPr lang="zh-CN" altLang="en-US" sz="2000" b="1" dirty="0"/>
          </a:p>
        </p:txBody>
      </p:sp>
      <p:sp>
        <p:nvSpPr>
          <p:cNvPr id="72711" name="文本框 22"/>
          <p:cNvSpPr txBox="1"/>
          <p:nvPr/>
        </p:nvSpPr>
        <p:spPr>
          <a:xfrm>
            <a:off x="6048375" y="6235700"/>
            <a:ext cx="742950"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n-US" altLang="zh-CN" sz="2000" b="1" dirty="0"/>
              <a:t>t2</a:t>
            </a:r>
            <a:endParaRPr lang="zh-CN" altLang="en-US" sz="2000" b="1" dirty="0"/>
          </a:p>
        </p:txBody>
      </p:sp>
    </p:spTree>
  </p:cSld>
  <p:clrMapOvr>
    <a:masterClrMapping/>
  </p:clrMapOvr>
  <p:transition>
    <p:blinds/>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内容占位符 2"/>
          <p:cNvSpPr>
            <a:spLocks noGrp="1"/>
          </p:cNvSpPr>
          <p:nvPr>
            <p:ph idx="1"/>
          </p:nvPr>
        </p:nvSpPr>
        <p:spPr>
          <a:xfrm>
            <a:off x="468313" y="534988"/>
            <a:ext cx="8388350" cy="1901825"/>
          </a:xfrm>
          <a:solidFill>
            <a:schemeClr val="bg1">
              <a:alpha val="100000"/>
            </a:schemeClr>
          </a:solidFill>
        </p:spPr>
        <p:txBody>
          <a:bodyPr vert="horz" wrap="square" lIns="91440" tIns="45720" rIns="91440" bIns="45720" anchor="t" anchorCtr="0"/>
          <a:lstStyle/>
          <a:p>
            <a:pPr marL="0" indent="0" latinLnBrk="1">
              <a:lnSpc>
                <a:spcPct val="150000"/>
              </a:lnSpc>
              <a:buNone/>
            </a:pPr>
            <a:r>
              <a:rPr lang="zh-CN" altLang="en-US" sz="2400" b="1" dirty="0">
                <a:solidFill>
                  <a:srgbClr val="000000"/>
                </a:solidFill>
              </a:rPr>
              <a:t>例：如果</a:t>
            </a:r>
            <a:r>
              <a:rPr lang="el-GR" altLang="zh-CN" sz="2400" b="1" dirty="0">
                <a:solidFill>
                  <a:srgbClr val="000000"/>
                </a:solidFill>
              </a:rPr>
              <a:t>Δ</a:t>
            </a:r>
            <a:r>
              <a:rPr lang="en-US" altLang="zh-CN" sz="2400" b="1" dirty="0">
                <a:solidFill>
                  <a:srgbClr val="000000"/>
                </a:solidFill>
              </a:rPr>
              <a:t>=10</a:t>
            </a:r>
            <a:r>
              <a:rPr lang="zh-CN" altLang="en-US" sz="2400" b="1" dirty="0">
                <a:solidFill>
                  <a:srgbClr val="000000"/>
                </a:solidFill>
              </a:rPr>
              <a:t>，在</a:t>
            </a:r>
            <a:r>
              <a:rPr lang="en-US" altLang="zh-CN" sz="2400" b="1" dirty="0">
                <a:solidFill>
                  <a:srgbClr val="000000"/>
                </a:solidFill>
              </a:rPr>
              <a:t>t1</a:t>
            </a:r>
            <a:r>
              <a:rPr lang="zh-CN" altLang="en-US" sz="2400" b="1" dirty="0">
                <a:solidFill>
                  <a:srgbClr val="000000"/>
                </a:solidFill>
              </a:rPr>
              <a:t>时刻的工作集是</a:t>
            </a:r>
            <a:r>
              <a:rPr lang="en-US" altLang="zh-CN" sz="2400" b="1" dirty="0">
                <a:solidFill>
                  <a:srgbClr val="000000"/>
                </a:solidFill>
              </a:rPr>
              <a:t>w(t1,</a:t>
            </a:r>
            <a:r>
              <a:rPr lang="el-GR" altLang="zh-CN" sz="2400" b="1" dirty="0">
                <a:solidFill>
                  <a:srgbClr val="000000"/>
                </a:solidFill>
              </a:rPr>
              <a:t> </a:t>
            </a:r>
            <a:r>
              <a:rPr lang="en-US" altLang="zh-CN" sz="2400" b="1" dirty="0">
                <a:solidFill>
                  <a:srgbClr val="000000"/>
                </a:solidFill>
              </a:rPr>
              <a:t>10)={1,2,5,6,7}</a:t>
            </a:r>
            <a:r>
              <a:rPr lang="zh-CN" altLang="en-US" sz="2400" b="1" dirty="0">
                <a:solidFill>
                  <a:srgbClr val="000000"/>
                </a:solidFill>
              </a:rPr>
              <a:t>，在</a:t>
            </a:r>
            <a:r>
              <a:rPr lang="en-US" altLang="zh-CN" sz="2400" b="1" dirty="0">
                <a:solidFill>
                  <a:srgbClr val="000000"/>
                </a:solidFill>
              </a:rPr>
              <a:t>t2</a:t>
            </a:r>
            <a:r>
              <a:rPr lang="zh-CN" altLang="en-US" sz="2400" b="1" dirty="0">
                <a:solidFill>
                  <a:srgbClr val="000000"/>
                </a:solidFill>
              </a:rPr>
              <a:t>时刻的工作集</a:t>
            </a:r>
            <a:r>
              <a:rPr lang="en-US" altLang="zh-CN" sz="2400" b="1" dirty="0">
                <a:solidFill>
                  <a:srgbClr val="000000"/>
                </a:solidFill>
              </a:rPr>
              <a:t>w(t2,</a:t>
            </a:r>
            <a:r>
              <a:rPr lang="el-GR" altLang="zh-CN" sz="2400" b="1" dirty="0">
                <a:solidFill>
                  <a:srgbClr val="000000"/>
                </a:solidFill>
              </a:rPr>
              <a:t> </a:t>
            </a:r>
            <a:r>
              <a:rPr lang="en-US" altLang="zh-CN" sz="2400" b="1" dirty="0">
                <a:solidFill>
                  <a:srgbClr val="000000"/>
                </a:solidFill>
              </a:rPr>
              <a:t>10)={3,4}</a:t>
            </a:r>
            <a:r>
              <a:rPr lang="zh-CN" altLang="en-US" sz="2400" b="1" dirty="0">
                <a:solidFill>
                  <a:srgbClr val="000000"/>
                </a:solidFill>
              </a:rPr>
              <a:t>。</a:t>
            </a:r>
            <a:endParaRPr lang="en-US" altLang="zh-CN" sz="2400" b="1" dirty="0">
              <a:solidFill>
                <a:srgbClr val="000000"/>
              </a:solidFill>
            </a:endParaRPr>
          </a:p>
          <a:p>
            <a:pPr marL="0" indent="0" latinLnBrk="1">
              <a:lnSpc>
                <a:spcPct val="150000"/>
              </a:lnSpc>
              <a:buNone/>
            </a:pPr>
            <a:r>
              <a:rPr lang="en-US" altLang="zh-CN" sz="2000" b="1" dirty="0">
                <a:solidFill>
                  <a:srgbClr val="000000"/>
                </a:solidFill>
              </a:rPr>
              <a:t>… </a:t>
            </a:r>
            <a:r>
              <a:rPr lang="en-US" altLang="zh-CN" sz="2000" b="1" dirty="0">
                <a:solidFill>
                  <a:srgbClr val="FF0000"/>
                </a:solidFill>
              </a:rPr>
              <a:t>2 6 1 5 7 </a:t>
            </a:r>
            <a:r>
              <a:rPr lang="en-US" altLang="zh-CN" sz="2000" b="1" dirty="0">
                <a:solidFill>
                  <a:srgbClr val="006600"/>
                </a:solidFill>
              </a:rPr>
              <a:t>7 7 7 5 1 </a:t>
            </a:r>
            <a:r>
              <a:rPr lang="en-US" altLang="zh-CN" sz="2000" b="1" dirty="0">
                <a:solidFill>
                  <a:srgbClr val="000000"/>
                </a:solidFill>
              </a:rPr>
              <a:t>6 2 3 4 1 2 </a:t>
            </a:r>
            <a:r>
              <a:rPr lang="en-US" altLang="zh-CN" sz="2000" b="1" dirty="0">
                <a:solidFill>
                  <a:srgbClr val="FF0000"/>
                </a:solidFill>
              </a:rPr>
              <a:t>3 4 4 4 3 </a:t>
            </a:r>
            <a:r>
              <a:rPr lang="en-US" altLang="zh-CN" sz="2000" b="1" dirty="0">
                <a:solidFill>
                  <a:srgbClr val="006600"/>
                </a:solidFill>
              </a:rPr>
              <a:t>4 3 4 4 4 </a:t>
            </a:r>
            <a:r>
              <a:rPr lang="en-US" altLang="zh-CN" sz="2000" b="1" dirty="0">
                <a:solidFill>
                  <a:srgbClr val="000000"/>
                </a:solidFill>
              </a:rPr>
              <a:t>1 3 2 3 4 4 4 3 4 …</a:t>
            </a:r>
            <a:endParaRPr lang="en-US" altLang="zh-CN" sz="2000" b="1" dirty="0">
              <a:solidFill>
                <a:srgbClr val="000000"/>
              </a:solidFill>
            </a:endParaRPr>
          </a:p>
          <a:p>
            <a:pPr marL="0" indent="0" latinLnBrk="1">
              <a:lnSpc>
                <a:spcPct val="150000"/>
              </a:lnSpc>
              <a:buNone/>
            </a:pPr>
            <a:endParaRPr lang="en-US" altLang="zh-CN" sz="2400" b="1" dirty="0">
              <a:solidFill>
                <a:srgbClr val="000000"/>
              </a:solidFill>
            </a:endParaRPr>
          </a:p>
          <a:p>
            <a:pPr marL="0" indent="0" latinLnBrk="1">
              <a:lnSpc>
                <a:spcPct val="150000"/>
              </a:lnSpc>
              <a:buNone/>
            </a:pPr>
            <a:endParaRPr lang="en-US" altLang="zh-CN" sz="2400" b="1" dirty="0">
              <a:solidFill>
                <a:srgbClr val="000000"/>
              </a:solidFill>
            </a:endParaRPr>
          </a:p>
        </p:txBody>
      </p:sp>
      <p:grpSp>
        <p:nvGrpSpPr>
          <p:cNvPr id="73731" name="组合 23"/>
          <p:cNvGrpSpPr/>
          <p:nvPr/>
        </p:nvGrpSpPr>
        <p:grpSpPr>
          <a:xfrm>
            <a:off x="792163" y="2457450"/>
            <a:ext cx="2087562" cy="1152525"/>
            <a:chOff x="786770" y="3872562"/>
            <a:chExt cx="2376264" cy="1152128"/>
          </a:xfrm>
        </p:grpSpPr>
        <p:grpSp>
          <p:nvGrpSpPr>
            <p:cNvPr id="73740" name="组合 10"/>
            <p:cNvGrpSpPr/>
            <p:nvPr/>
          </p:nvGrpSpPr>
          <p:grpSpPr>
            <a:xfrm>
              <a:off x="786770" y="3872562"/>
              <a:ext cx="2376264" cy="1152128"/>
              <a:chOff x="1007604" y="4113076"/>
              <a:chExt cx="2376264" cy="1152128"/>
            </a:xfrm>
          </p:grpSpPr>
          <p:cxnSp>
            <p:nvCxnSpPr>
              <p:cNvPr id="73742" name="直接箭头连接符 7"/>
              <p:cNvCxnSpPr/>
              <p:nvPr/>
            </p:nvCxnSpPr>
            <p:spPr>
              <a:xfrm>
                <a:off x="1007604" y="4797152"/>
                <a:ext cx="2376264" cy="0"/>
              </a:xfrm>
              <a:prstGeom prst="straightConnector1">
                <a:avLst/>
              </a:prstGeom>
              <a:ln w="38100" cap="flat" cmpd="sng">
                <a:solidFill>
                  <a:schemeClr val="tx1"/>
                </a:solidFill>
                <a:prstDash val="solid"/>
                <a:headEnd type="triangle" w="lg" len="med"/>
                <a:tailEnd type="triangle" w="lg" len="med"/>
              </a:ln>
            </p:spPr>
          </p:cxnSp>
          <p:cxnSp>
            <p:nvCxnSpPr>
              <p:cNvPr id="73743" name="直接箭头连接符 9"/>
              <p:cNvCxnSpPr/>
              <p:nvPr/>
            </p:nvCxnSpPr>
            <p:spPr>
              <a:xfrm flipV="1">
                <a:off x="3383868" y="4113076"/>
                <a:ext cx="0" cy="1152128"/>
              </a:xfrm>
              <a:prstGeom prst="straightConnector1">
                <a:avLst/>
              </a:prstGeom>
              <a:ln w="38100" cap="flat" cmpd="sng">
                <a:solidFill>
                  <a:schemeClr val="tx1"/>
                </a:solidFill>
                <a:prstDash val="solid"/>
                <a:headEnd type="none" w="med" len="med"/>
                <a:tailEnd type="triangle" w="lg" len="med"/>
              </a:ln>
            </p:spPr>
          </p:cxnSp>
        </p:grpSp>
        <p:sp>
          <p:nvSpPr>
            <p:cNvPr id="73741" name="文本框 14"/>
            <p:cNvSpPr txBox="1"/>
            <p:nvPr/>
          </p:nvSpPr>
          <p:spPr>
            <a:xfrm>
              <a:off x="1740880" y="4071681"/>
              <a:ext cx="756077" cy="40011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l-GR" altLang="zh-CN" sz="2000" b="1" dirty="0"/>
                <a:t>Δ</a:t>
              </a:r>
              <a:endParaRPr lang="zh-CN" altLang="en-US" sz="2000" b="1" dirty="0"/>
            </a:p>
          </p:txBody>
        </p:sp>
      </p:grpSp>
      <p:grpSp>
        <p:nvGrpSpPr>
          <p:cNvPr id="73732" name="组合 24"/>
          <p:cNvGrpSpPr/>
          <p:nvPr/>
        </p:nvGrpSpPr>
        <p:grpSpPr>
          <a:xfrm>
            <a:off x="4132263" y="2457450"/>
            <a:ext cx="2089150" cy="1152525"/>
            <a:chOff x="3923928" y="3861048"/>
            <a:chExt cx="2376264" cy="1152128"/>
          </a:xfrm>
        </p:grpSpPr>
        <p:grpSp>
          <p:nvGrpSpPr>
            <p:cNvPr id="73736" name="组合 11"/>
            <p:cNvGrpSpPr/>
            <p:nvPr/>
          </p:nvGrpSpPr>
          <p:grpSpPr>
            <a:xfrm>
              <a:off x="3923928" y="3861048"/>
              <a:ext cx="2376264" cy="1152128"/>
              <a:chOff x="1007604" y="4113076"/>
              <a:chExt cx="2376264" cy="1152128"/>
            </a:xfrm>
          </p:grpSpPr>
          <p:cxnSp>
            <p:nvCxnSpPr>
              <p:cNvPr id="73738" name="直接箭头连接符 12"/>
              <p:cNvCxnSpPr/>
              <p:nvPr/>
            </p:nvCxnSpPr>
            <p:spPr>
              <a:xfrm>
                <a:off x="1007604" y="4797152"/>
                <a:ext cx="2376264" cy="0"/>
              </a:xfrm>
              <a:prstGeom prst="straightConnector1">
                <a:avLst/>
              </a:prstGeom>
              <a:ln w="38100" cap="flat" cmpd="sng">
                <a:solidFill>
                  <a:schemeClr val="tx1"/>
                </a:solidFill>
                <a:prstDash val="solid"/>
                <a:headEnd type="triangle" w="lg" len="med"/>
                <a:tailEnd type="triangle" w="lg" len="med"/>
              </a:ln>
            </p:spPr>
          </p:cxnSp>
          <p:cxnSp>
            <p:nvCxnSpPr>
              <p:cNvPr id="73739" name="直接箭头连接符 13"/>
              <p:cNvCxnSpPr/>
              <p:nvPr/>
            </p:nvCxnSpPr>
            <p:spPr>
              <a:xfrm flipV="1">
                <a:off x="3383868" y="4113076"/>
                <a:ext cx="0" cy="1152128"/>
              </a:xfrm>
              <a:prstGeom prst="straightConnector1">
                <a:avLst/>
              </a:prstGeom>
              <a:ln w="38100" cap="flat" cmpd="sng">
                <a:solidFill>
                  <a:schemeClr val="tx1"/>
                </a:solidFill>
                <a:prstDash val="solid"/>
                <a:headEnd type="none" w="med" len="med"/>
                <a:tailEnd type="triangle" w="lg" len="med"/>
              </a:ln>
            </p:spPr>
          </p:cxnSp>
        </p:grpSp>
        <p:sp>
          <p:nvSpPr>
            <p:cNvPr id="73737" name="文本框 17"/>
            <p:cNvSpPr txBox="1"/>
            <p:nvPr/>
          </p:nvSpPr>
          <p:spPr>
            <a:xfrm>
              <a:off x="5004052" y="4077073"/>
              <a:ext cx="756077" cy="40011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l-GR" altLang="zh-CN" sz="2000" b="1" dirty="0"/>
                <a:t>Δ</a:t>
              </a:r>
              <a:endParaRPr lang="zh-CN" altLang="en-US" sz="2000" b="1" dirty="0"/>
            </a:p>
          </p:txBody>
        </p:sp>
      </p:grpSp>
      <p:sp>
        <p:nvSpPr>
          <p:cNvPr id="73733" name="文本框 20"/>
          <p:cNvSpPr txBox="1"/>
          <p:nvPr/>
        </p:nvSpPr>
        <p:spPr>
          <a:xfrm>
            <a:off x="2700338" y="3757613"/>
            <a:ext cx="755650"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n-US" altLang="zh-CN" sz="2000" b="1" dirty="0"/>
              <a:t>t1</a:t>
            </a:r>
            <a:endParaRPr lang="zh-CN" altLang="en-US" sz="2000" b="1" dirty="0"/>
          </a:p>
        </p:txBody>
      </p:sp>
      <p:sp>
        <p:nvSpPr>
          <p:cNvPr id="73734" name="文本框 22"/>
          <p:cNvSpPr txBox="1"/>
          <p:nvPr/>
        </p:nvSpPr>
        <p:spPr>
          <a:xfrm>
            <a:off x="6084888" y="3746500"/>
            <a:ext cx="742950" cy="4000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en-US" altLang="zh-CN" sz="2000" b="1" dirty="0"/>
              <a:t>t2</a:t>
            </a:r>
            <a:endParaRPr lang="zh-CN" altLang="en-US" sz="2000" b="1" dirty="0"/>
          </a:p>
        </p:txBody>
      </p:sp>
      <p:sp>
        <p:nvSpPr>
          <p:cNvPr id="73735" name="文本框 15"/>
          <p:cNvSpPr txBox="1"/>
          <p:nvPr/>
        </p:nvSpPr>
        <p:spPr>
          <a:xfrm>
            <a:off x="468313" y="4362450"/>
            <a:ext cx="8207375" cy="19383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spcBef>
                <a:spcPct val="0"/>
              </a:spcBef>
              <a:buClrTx/>
              <a:buSzTx/>
              <a:buFontTx/>
              <a:buNone/>
            </a:pPr>
            <a:r>
              <a:rPr lang="zh-CN" altLang="en-US" sz="2400" b="1" dirty="0">
                <a:solidFill>
                  <a:srgbClr val="FF0000"/>
                </a:solidFill>
              </a:rPr>
              <a:t>工作集反映了进程在接下来一段时间内很有可能会频繁访问的页面集合。</a:t>
            </a:r>
            <a:r>
              <a:rPr lang="zh-CN" altLang="en-US" sz="2400" b="1" dirty="0">
                <a:solidFill>
                  <a:srgbClr val="000000"/>
                </a:solidFill>
              </a:rPr>
              <a:t>因此，若分配给进程的物理块小于工作集大小，则该进程就很有可能频繁缺页，所以为了防止抖动现象，一般来说分配给进程的物理块数（即驻留集大小）要大于工作集大小。 </a:t>
            </a:r>
            <a:endParaRPr lang="zh-CN" altLang="en-US" sz="2400" b="1" dirty="0">
              <a:solidFill>
                <a:srgbClr val="FF0000"/>
              </a:solidFill>
            </a:endParaRPr>
          </a:p>
        </p:txBody>
      </p:sp>
    </p:spTree>
  </p:cSld>
  <p:clrMapOvr>
    <a:masterClrMapping/>
  </p:clrMapOvr>
  <p:transition>
    <p:blinds/>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内容占位符 2"/>
          <p:cNvSpPr>
            <a:spLocks noGrp="1"/>
          </p:cNvSpPr>
          <p:nvPr>
            <p:ph idx="1"/>
          </p:nvPr>
        </p:nvSpPr>
        <p:spPr>
          <a:xfrm>
            <a:off x="0" y="23813"/>
            <a:ext cx="8540750" cy="468312"/>
          </a:xfrm>
          <a:solidFill>
            <a:schemeClr val="bg1">
              <a:alpha val="100000"/>
            </a:schemeClr>
          </a:solidFill>
        </p:spPr>
        <p:txBody>
          <a:bodyPr vert="horz" wrap="square" lIns="91440" tIns="45720" rIns="91440" bIns="45720" anchor="t" anchorCtr="0"/>
          <a:lstStyle/>
          <a:p>
            <a:pPr marL="0" indent="0">
              <a:buNone/>
            </a:pPr>
            <a:r>
              <a:rPr lang="zh-CN" altLang="en-US" sz="2400" dirty="0"/>
              <a:t>工作集是</a:t>
            </a:r>
            <a:r>
              <a:rPr lang="el-GR" altLang="zh-CN" sz="2400" b="1" dirty="0">
                <a:solidFill>
                  <a:srgbClr val="000000"/>
                </a:solidFill>
              </a:rPr>
              <a:t>Δ</a:t>
            </a:r>
            <a:r>
              <a:rPr lang="zh-CN" altLang="en-US" sz="2400" dirty="0"/>
              <a:t>的非降函数</a:t>
            </a:r>
            <a:r>
              <a:rPr lang="en-US" altLang="zh-CN" sz="2400" b="1" dirty="0">
                <a:solidFill>
                  <a:srgbClr val="000000"/>
                </a:solidFill>
              </a:rPr>
              <a:t>w(t,</a:t>
            </a:r>
            <a:r>
              <a:rPr lang="el-GR" altLang="zh-CN" sz="2400" b="1" dirty="0">
                <a:solidFill>
                  <a:srgbClr val="000000"/>
                </a:solidFill>
              </a:rPr>
              <a:t> Δ</a:t>
            </a:r>
            <a:r>
              <a:rPr lang="en-US" altLang="zh-CN" sz="2400" b="1" dirty="0">
                <a:solidFill>
                  <a:srgbClr val="000000"/>
                </a:solidFill>
              </a:rPr>
              <a:t>) </a:t>
            </a:r>
            <a:r>
              <a:rPr lang="zh-CN" altLang="en-US" sz="2400" dirty="0">
                <a:solidFill>
                  <a:srgbClr val="666666"/>
                </a:solidFill>
              </a:rPr>
              <a:t> </a:t>
            </a:r>
            <a:r>
              <a:rPr lang="zh-CN" altLang="en-US" sz="2400" dirty="0">
                <a:solidFill>
                  <a:srgbClr val="333333"/>
                </a:solidFill>
              </a:rPr>
              <a:t>⊆</a:t>
            </a:r>
            <a:r>
              <a:rPr lang="en-US" altLang="zh-CN" sz="2400" b="1" dirty="0">
                <a:solidFill>
                  <a:srgbClr val="000000"/>
                </a:solidFill>
              </a:rPr>
              <a:t>w(t,</a:t>
            </a:r>
            <a:r>
              <a:rPr lang="el-GR" altLang="zh-CN" sz="2400" b="1" dirty="0">
                <a:solidFill>
                  <a:srgbClr val="000000"/>
                </a:solidFill>
              </a:rPr>
              <a:t> Δ</a:t>
            </a:r>
            <a:r>
              <a:rPr lang="en-US" altLang="zh-CN" sz="2400" b="1" dirty="0">
                <a:solidFill>
                  <a:srgbClr val="000000"/>
                </a:solidFill>
              </a:rPr>
              <a:t>+1) </a:t>
            </a:r>
            <a:r>
              <a:rPr lang="zh-CN" altLang="en-US" sz="2400" dirty="0">
                <a:solidFill>
                  <a:srgbClr val="666666"/>
                </a:solidFill>
              </a:rPr>
              <a:t> </a:t>
            </a:r>
            <a:endParaRPr lang="zh-CN" altLang="en-US" sz="2400" dirty="0"/>
          </a:p>
        </p:txBody>
      </p:sp>
      <p:graphicFrame>
        <p:nvGraphicFramePr>
          <p:cNvPr id="5" name="表格 4"/>
          <p:cNvGraphicFramePr>
            <a:graphicFrameLocks noGrp="1"/>
          </p:cNvGraphicFramePr>
          <p:nvPr/>
        </p:nvGraphicFramePr>
        <p:xfrm>
          <a:off x="935038" y="1304925"/>
          <a:ext cx="546100" cy="5472112"/>
        </p:xfrm>
        <a:graphic>
          <a:graphicData uri="http://schemas.openxmlformats.org/drawingml/2006/table">
            <a:tbl>
              <a:tblPr firstRow="1" bandRow="1">
                <a:tableStyleId>{5C22544A-7EE6-4342-B048-85BDC9FD1C3A}</a:tableStyleId>
              </a:tblPr>
              <a:tblGrid>
                <a:gridCol w="546100"/>
              </a:tblGrid>
              <a:tr h="342007">
                <a:tc>
                  <a:txBody>
                    <a:bodyPr/>
                    <a:lstStyle/>
                    <a:p>
                      <a:r>
                        <a:rPr lang="en-US" altLang="zh-CN" sz="1600" dirty="0">
                          <a:solidFill>
                            <a:schemeClr val="tx1"/>
                          </a:solidFill>
                        </a:rPr>
                        <a:t>24</a:t>
                      </a:r>
                      <a:endParaRPr lang="zh-CN" altLang="en-US" sz="1600" dirty="0">
                        <a:solidFill>
                          <a:schemeClr val="tx1"/>
                        </a:solidFill>
                      </a:endParaRPr>
                    </a:p>
                  </a:txBody>
                  <a:tcPr marL="91426" marR="91426" marT="45721" marB="45721">
                    <a:gradFill>
                      <a:gsLst>
                        <a:gs pos="83000">
                          <a:schemeClr val="accent1">
                            <a:lumMod val="45000"/>
                            <a:lumOff val="55000"/>
                          </a:schemeClr>
                        </a:gs>
                        <a:gs pos="100000">
                          <a:schemeClr val="accent1">
                            <a:lumMod val="30000"/>
                            <a:lumOff val="70000"/>
                          </a:schemeClr>
                        </a:gs>
                      </a:gsLst>
                      <a:lin ang="5400000" scaled="1"/>
                    </a:gradFill>
                  </a:tcPr>
                </a:tc>
              </a:tr>
              <a:tr h="342007">
                <a:tc>
                  <a:txBody>
                    <a:bodyPr/>
                    <a:lstStyle/>
                    <a:p>
                      <a:r>
                        <a:rPr lang="en-US" altLang="zh-CN" sz="1600" b="1" dirty="0"/>
                        <a:t>15</a:t>
                      </a:r>
                      <a:endParaRPr lang="zh-CN" altLang="en-US" sz="1600" b="1" dirty="0"/>
                    </a:p>
                  </a:txBody>
                  <a:tcPr marL="91426" marR="91426" marT="45721" marB="45721">
                    <a:gradFill>
                      <a:gsLst>
                        <a:gs pos="83000">
                          <a:schemeClr val="accent1">
                            <a:lumMod val="45000"/>
                            <a:lumOff val="55000"/>
                          </a:schemeClr>
                        </a:gs>
                        <a:gs pos="100000">
                          <a:schemeClr val="accent1">
                            <a:lumMod val="30000"/>
                            <a:lumOff val="70000"/>
                          </a:schemeClr>
                        </a:gs>
                      </a:gsLst>
                      <a:lin ang="5400000" scaled="1"/>
                    </a:gradFill>
                  </a:tcPr>
                </a:tc>
              </a:tr>
              <a:tr h="342007">
                <a:tc>
                  <a:txBody>
                    <a:bodyPr/>
                    <a:lstStyle/>
                    <a:p>
                      <a:r>
                        <a:rPr lang="en-US" altLang="zh-CN" sz="1600" b="1" dirty="0"/>
                        <a:t>18</a:t>
                      </a:r>
                      <a:endParaRPr lang="zh-CN" altLang="en-US" sz="1600" b="1" dirty="0"/>
                    </a:p>
                  </a:txBody>
                  <a:tcPr marL="91426" marR="91426" marT="45721" marB="45721">
                    <a:gradFill>
                      <a:gsLst>
                        <a:gs pos="83000">
                          <a:schemeClr val="accent1">
                            <a:lumMod val="45000"/>
                            <a:lumOff val="55000"/>
                          </a:schemeClr>
                        </a:gs>
                        <a:gs pos="100000">
                          <a:schemeClr val="accent1">
                            <a:lumMod val="30000"/>
                            <a:lumOff val="70000"/>
                          </a:schemeClr>
                        </a:gs>
                      </a:gsLst>
                      <a:lin ang="5400000" scaled="1"/>
                    </a:gradFill>
                  </a:tcPr>
                </a:tc>
              </a:tr>
              <a:tr h="342007">
                <a:tc>
                  <a:txBody>
                    <a:bodyPr/>
                    <a:lstStyle/>
                    <a:p>
                      <a:r>
                        <a:rPr lang="en-US" altLang="zh-CN" sz="1600" b="1" dirty="0"/>
                        <a:t>23</a:t>
                      </a:r>
                      <a:endParaRPr lang="zh-CN" altLang="en-US" sz="1600" b="1" dirty="0"/>
                    </a:p>
                  </a:txBody>
                  <a:tcPr marL="91426" marR="91426" marT="45721" marB="45721">
                    <a:gradFill>
                      <a:gsLst>
                        <a:gs pos="83000">
                          <a:schemeClr val="accent1">
                            <a:lumMod val="45000"/>
                            <a:lumOff val="55000"/>
                          </a:schemeClr>
                        </a:gs>
                        <a:gs pos="100000">
                          <a:schemeClr val="accent1">
                            <a:lumMod val="30000"/>
                            <a:lumOff val="70000"/>
                          </a:schemeClr>
                        </a:gs>
                      </a:gsLst>
                      <a:lin ang="5400000" scaled="1"/>
                    </a:gradFill>
                  </a:tcPr>
                </a:tc>
              </a:tr>
              <a:tr h="342007">
                <a:tc>
                  <a:txBody>
                    <a:bodyPr/>
                    <a:lstStyle/>
                    <a:p>
                      <a:r>
                        <a:rPr lang="en-US" altLang="zh-CN" sz="1600" b="1" dirty="0"/>
                        <a:t>24</a:t>
                      </a:r>
                      <a:endParaRPr lang="zh-CN" altLang="en-US" sz="1600" b="1" dirty="0"/>
                    </a:p>
                  </a:txBody>
                  <a:tcPr marL="91426" marR="91426" marT="45721" marB="45721">
                    <a:gradFill>
                      <a:gsLst>
                        <a:gs pos="83000">
                          <a:schemeClr val="accent1">
                            <a:lumMod val="45000"/>
                            <a:lumOff val="55000"/>
                          </a:schemeClr>
                        </a:gs>
                        <a:gs pos="100000">
                          <a:schemeClr val="accent1">
                            <a:lumMod val="30000"/>
                            <a:lumOff val="70000"/>
                          </a:schemeClr>
                        </a:gs>
                      </a:gsLst>
                      <a:lin ang="5400000" scaled="1"/>
                    </a:gradFill>
                  </a:tcPr>
                </a:tc>
              </a:tr>
              <a:tr h="342007">
                <a:tc>
                  <a:txBody>
                    <a:bodyPr/>
                    <a:lstStyle/>
                    <a:p>
                      <a:r>
                        <a:rPr lang="en-US" altLang="zh-CN" sz="1600" b="1" dirty="0"/>
                        <a:t>17</a:t>
                      </a:r>
                      <a:endParaRPr lang="zh-CN" altLang="en-US" sz="1600" b="1" dirty="0"/>
                    </a:p>
                  </a:txBody>
                  <a:tcPr marL="91426" marR="91426" marT="45721" marB="45721">
                    <a:gradFill>
                      <a:gsLst>
                        <a:gs pos="83000">
                          <a:schemeClr val="accent1">
                            <a:lumMod val="45000"/>
                            <a:lumOff val="55000"/>
                          </a:schemeClr>
                        </a:gs>
                        <a:gs pos="100000">
                          <a:schemeClr val="accent1">
                            <a:lumMod val="30000"/>
                            <a:lumOff val="70000"/>
                          </a:schemeClr>
                        </a:gs>
                      </a:gsLst>
                      <a:lin ang="5400000" scaled="1"/>
                    </a:gradFill>
                  </a:tcPr>
                </a:tc>
              </a:tr>
              <a:tr h="342007">
                <a:tc>
                  <a:txBody>
                    <a:bodyPr/>
                    <a:lstStyle/>
                    <a:p>
                      <a:r>
                        <a:rPr lang="en-US" altLang="zh-CN" sz="1600" b="1" dirty="0"/>
                        <a:t>18</a:t>
                      </a:r>
                      <a:endParaRPr lang="zh-CN" altLang="en-US" sz="1600" b="1" dirty="0"/>
                    </a:p>
                  </a:txBody>
                  <a:tcPr marL="91426" marR="91426" marT="45721" marB="45721">
                    <a:gradFill>
                      <a:gsLst>
                        <a:gs pos="83000">
                          <a:schemeClr val="accent1">
                            <a:lumMod val="45000"/>
                            <a:lumOff val="55000"/>
                          </a:schemeClr>
                        </a:gs>
                        <a:gs pos="100000">
                          <a:schemeClr val="accent1">
                            <a:lumMod val="30000"/>
                            <a:lumOff val="70000"/>
                          </a:schemeClr>
                        </a:gs>
                      </a:gsLst>
                      <a:lin ang="5400000" scaled="1"/>
                    </a:gradFill>
                  </a:tcPr>
                </a:tc>
              </a:tr>
              <a:tr h="342007">
                <a:tc>
                  <a:txBody>
                    <a:bodyPr/>
                    <a:lstStyle/>
                    <a:p>
                      <a:r>
                        <a:rPr lang="en-US" altLang="zh-CN" sz="1600" b="1" dirty="0"/>
                        <a:t>24</a:t>
                      </a:r>
                      <a:endParaRPr lang="zh-CN" altLang="en-US" sz="1600" b="1" dirty="0"/>
                    </a:p>
                  </a:txBody>
                  <a:tcPr marL="91426" marR="91426" marT="45721" marB="45721">
                    <a:gradFill>
                      <a:gsLst>
                        <a:gs pos="83000">
                          <a:schemeClr val="accent1">
                            <a:lumMod val="45000"/>
                            <a:lumOff val="55000"/>
                          </a:schemeClr>
                        </a:gs>
                        <a:gs pos="100000">
                          <a:schemeClr val="accent1">
                            <a:lumMod val="30000"/>
                            <a:lumOff val="70000"/>
                          </a:schemeClr>
                        </a:gs>
                      </a:gsLst>
                      <a:lin ang="5400000" scaled="1"/>
                    </a:gradFill>
                  </a:tcPr>
                </a:tc>
              </a:tr>
              <a:tr h="342007">
                <a:tc>
                  <a:txBody>
                    <a:bodyPr/>
                    <a:lstStyle/>
                    <a:p>
                      <a:r>
                        <a:rPr lang="en-US" altLang="zh-CN" sz="1600" b="1" dirty="0"/>
                        <a:t>18</a:t>
                      </a:r>
                      <a:endParaRPr lang="zh-CN" altLang="en-US" sz="1600" b="1" dirty="0"/>
                    </a:p>
                  </a:txBody>
                  <a:tcPr marL="91426" marR="91426" marT="45721" marB="45721">
                    <a:gradFill>
                      <a:gsLst>
                        <a:gs pos="83000">
                          <a:schemeClr val="accent1">
                            <a:lumMod val="45000"/>
                            <a:lumOff val="55000"/>
                          </a:schemeClr>
                        </a:gs>
                        <a:gs pos="100000">
                          <a:schemeClr val="accent1">
                            <a:lumMod val="30000"/>
                            <a:lumOff val="70000"/>
                          </a:schemeClr>
                        </a:gs>
                      </a:gsLst>
                      <a:lin ang="5400000" scaled="1"/>
                    </a:gradFill>
                  </a:tcPr>
                </a:tc>
              </a:tr>
              <a:tr h="342007">
                <a:tc>
                  <a:txBody>
                    <a:bodyPr/>
                    <a:lstStyle/>
                    <a:p>
                      <a:r>
                        <a:rPr lang="en-US" altLang="zh-CN" sz="1600" b="1" dirty="0"/>
                        <a:t>17</a:t>
                      </a:r>
                      <a:endParaRPr lang="zh-CN" altLang="en-US" sz="1600" b="1" dirty="0"/>
                    </a:p>
                  </a:txBody>
                  <a:tcPr marL="91426" marR="91426" marT="45721" marB="45721">
                    <a:gradFill>
                      <a:gsLst>
                        <a:gs pos="83000">
                          <a:schemeClr val="accent1">
                            <a:lumMod val="45000"/>
                            <a:lumOff val="55000"/>
                          </a:schemeClr>
                        </a:gs>
                        <a:gs pos="100000">
                          <a:schemeClr val="accent1">
                            <a:lumMod val="30000"/>
                            <a:lumOff val="70000"/>
                          </a:schemeClr>
                        </a:gs>
                      </a:gsLst>
                      <a:lin ang="5400000" scaled="1"/>
                    </a:gradFill>
                  </a:tcPr>
                </a:tc>
              </a:tr>
              <a:tr h="342007">
                <a:tc>
                  <a:txBody>
                    <a:bodyPr/>
                    <a:lstStyle/>
                    <a:p>
                      <a:r>
                        <a:rPr lang="en-US" altLang="zh-CN" sz="1600" b="1" dirty="0"/>
                        <a:t>17</a:t>
                      </a:r>
                      <a:endParaRPr lang="zh-CN" altLang="en-US" sz="1600" b="1" dirty="0"/>
                    </a:p>
                  </a:txBody>
                  <a:tcPr marL="91426" marR="91426" marT="45721" marB="45721">
                    <a:gradFill>
                      <a:gsLst>
                        <a:gs pos="83000">
                          <a:schemeClr val="accent1">
                            <a:lumMod val="45000"/>
                            <a:lumOff val="55000"/>
                          </a:schemeClr>
                        </a:gs>
                        <a:gs pos="100000">
                          <a:schemeClr val="accent1">
                            <a:lumMod val="30000"/>
                            <a:lumOff val="70000"/>
                          </a:schemeClr>
                        </a:gs>
                      </a:gsLst>
                      <a:lin ang="5400000" scaled="1"/>
                    </a:gradFill>
                  </a:tcPr>
                </a:tc>
              </a:tr>
              <a:tr h="342007">
                <a:tc>
                  <a:txBody>
                    <a:bodyPr/>
                    <a:lstStyle/>
                    <a:p>
                      <a:r>
                        <a:rPr lang="en-US" altLang="zh-CN" sz="1600" b="1" dirty="0"/>
                        <a:t>15</a:t>
                      </a:r>
                      <a:endParaRPr lang="zh-CN" altLang="en-US" sz="1600" b="1" dirty="0"/>
                    </a:p>
                  </a:txBody>
                  <a:tcPr marL="91426" marR="91426" marT="45721" marB="45721">
                    <a:gradFill>
                      <a:gsLst>
                        <a:gs pos="83000">
                          <a:schemeClr val="accent1">
                            <a:lumMod val="45000"/>
                            <a:lumOff val="55000"/>
                          </a:schemeClr>
                        </a:gs>
                        <a:gs pos="100000">
                          <a:schemeClr val="accent1">
                            <a:lumMod val="30000"/>
                            <a:lumOff val="70000"/>
                          </a:schemeClr>
                        </a:gs>
                      </a:gsLst>
                      <a:lin ang="5400000" scaled="1"/>
                    </a:gradFill>
                  </a:tcPr>
                </a:tc>
              </a:tr>
              <a:tr h="342007">
                <a:tc>
                  <a:txBody>
                    <a:bodyPr/>
                    <a:lstStyle/>
                    <a:p>
                      <a:r>
                        <a:rPr lang="en-US" altLang="zh-CN" sz="1600" b="1" dirty="0"/>
                        <a:t>24</a:t>
                      </a:r>
                      <a:endParaRPr lang="zh-CN" altLang="en-US" sz="1600" b="1" dirty="0"/>
                    </a:p>
                  </a:txBody>
                  <a:tcPr marL="91426" marR="91426" marT="45721" marB="45721">
                    <a:gradFill>
                      <a:gsLst>
                        <a:gs pos="83000">
                          <a:schemeClr val="accent1">
                            <a:lumMod val="45000"/>
                            <a:lumOff val="55000"/>
                          </a:schemeClr>
                        </a:gs>
                        <a:gs pos="100000">
                          <a:schemeClr val="accent1">
                            <a:lumMod val="30000"/>
                            <a:lumOff val="70000"/>
                          </a:schemeClr>
                        </a:gs>
                      </a:gsLst>
                      <a:lin ang="5400000" scaled="1"/>
                    </a:gradFill>
                  </a:tcPr>
                </a:tc>
              </a:tr>
              <a:tr h="342007">
                <a:tc>
                  <a:txBody>
                    <a:bodyPr/>
                    <a:lstStyle/>
                    <a:p>
                      <a:r>
                        <a:rPr lang="en-US" altLang="zh-CN" sz="1600" b="1" dirty="0"/>
                        <a:t>17</a:t>
                      </a:r>
                      <a:endParaRPr lang="zh-CN" altLang="en-US" sz="1600" b="1" dirty="0"/>
                    </a:p>
                  </a:txBody>
                  <a:tcPr marL="91426" marR="91426" marT="45721" marB="45721">
                    <a:gradFill>
                      <a:gsLst>
                        <a:gs pos="83000">
                          <a:schemeClr val="accent1">
                            <a:lumMod val="45000"/>
                            <a:lumOff val="55000"/>
                          </a:schemeClr>
                        </a:gs>
                        <a:gs pos="100000">
                          <a:schemeClr val="accent1">
                            <a:lumMod val="30000"/>
                            <a:lumOff val="70000"/>
                          </a:schemeClr>
                        </a:gs>
                      </a:gsLst>
                      <a:lin ang="5400000" scaled="1"/>
                    </a:gradFill>
                  </a:tcPr>
                </a:tc>
              </a:tr>
              <a:tr h="342007">
                <a:tc>
                  <a:txBody>
                    <a:bodyPr/>
                    <a:lstStyle/>
                    <a:p>
                      <a:r>
                        <a:rPr lang="en-US" altLang="zh-CN" sz="1600" b="1" dirty="0"/>
                        <a:t>24</a:t>
                      </a:r>
                      <a:endParaRPr lang="zh-CN" altLang="en-US" sz="1600" b="1" dirty="0"/>
                    </a:p>
                  </a:txBody>
                  <a:tcPr marL="91426" marR="91426" marT="45721" marB="45721">
                    <a:gradFill>
                      <a:gsLst>
                        <a:gs pos="83000">
                          <a:schemeClr val="accent1">
                            <a:lumMod val="45000"/>
                            <a:lumOff val="55000"/>
                          </a:schemeClr>
                        </a:gs>
                        <a:gs pos="100000">
                          <a:schemeClr val="accent1">
                            <a:lumMod val="30000"/>
                            <a:lumOff val="70000"/>
                          </a:schemeClr>
                        </a:gs>
                      </a:gsLst>
                      <a:lin ang="5400000" scaled="1"/>
                    </a:gradFill>
                  </a:tcPr>
                </a:tc>
              </a:tr>
              <a:tr h="342007">
                <a:tc>
                  <a:txBody>
                    <a:bodyPr/>
                    <a:lstStyle/>
                    <a:p>
                      <a:r>
                        <a:rPr lang="en-US" altLang="zh-CN" sz="1600" b="1" dirty="0"/>
                        <a:t>18</a:t>
                      </a:r>
                      <a:endParaRPr lang="zh-CN" altLang="en-US" sz="1600" b="1" dirty="0"/>
                    </a:p>
                  </a:txBody>
                  <a:tcPr marL="91426" marR="91426" marT="45721" marB="45721">
                    <a:gradFill>
                      <a:gsLst>
                        <a:gs pos="83000">
                          <a:schemeClr val="accent1">
                            <a:lumMod val="45000"/>
                            <a:lumOff val="55000"/>
                          </a:schemeClr>
                        </a:gs>
                        <a:gs pos="100000">
                          <a:schemeClr val="accent1">
                            <a:lumMod val="30000"/>
                            <a:lumOff val="70000"/>
                          </a:schemeClr>
                        </a:gs>
                      </a:gsLst>
                      <a:lin ang="5400000" scaled="1"/>
                    </a:gradFill>
                  </a:tcPr>
                </a:tc>
              </a:tr>
            </a:tbl>
          </a:graphicData>
        </a:graphic>
      </p:graphicFrame>
      <p:graphicFrame>
        <p:nvGraphicFramePr>
          <p:cNvPr id="7" name="表格 4"/>
          <p:cNvGraphicFramePr>
            <a:graphicFrameLocks noGrp="1"/>
          </p:cNvGraphicFramePr>
          <p:nvPr/>
        </p:nvGraphicFramePr>
        <p:xfrm>
          <a:off x="2663825" y="1270000"/>
          <a:ext cx="1465263" cy="5502272"/>
        </p:xfrm>
        <a:graphic>
          <a:graphicData uri="http://schemas.openxmlformats.org/drawingml/2006/table">
            <a:tbl>
              <a:tblPr firstRow="1" bandRow="1">
                <a:tableStyleId>{5C22544A-7EE6-4342-B048-85BDC9FD1C3A}</a:tableStyleId>
              </a:tblPr>
              <a:tblGrid>
                <a:gridCol w="1465263"/>
              </a:tblGrid>
              <a:tr h="343892">
                <a:tc>
                  <a:txBody>
                    <a:bodyPr/>
                    <a:lstStyle/>
                    <a:p>
                      <a:pPr algn="ctr"/>
                      <a:r>
                        <a:rPr lang="en-US" altLang="zh-CN" sz="1600" b="1" dirty="0">
                          <a:solidFill>
                            <a:srgbClr val="000000"/>
                          </a:solidFill>
                        </a:rPr>
                        <a:t>24</a:t>
                      </a:r>
                      <a:endParaRPr lang="zh-CN" altLang="en-US" sz="1600" b="1" dirty="0">
                        <a:solidFill>
                          <a:srgbClr val="000000"/>
                        </a:solidFill>
                      </a:endParaRPr>
                    </a:p>
                  </a:txBody>
                  <a:tcPr marL="91460" marR="91460" marT="45724" marB="45724">
                    <a:gradFill>
                      <a:gsLst>
                        <a:gs pos="83000">
                          <a:srgbClr val="FF99FF"/>
                        </a:gs>
                        <a:gs pos="100000">
                          <a:schemeClr val="accent1">
                            <a:lumMod val="30000"/>
                            <a:lumOff val="70000"/>
                          </a:schemeClr>
                        </a:gs>
                      </a:gsLst>
                      <a:lin ang="5400000" scaled="1"/>
                    </a:gradFill>
                  </a:tcPr>
                </a:tc>
              </a:tr>
              <a:tr h="343892">
                <a:tc>
                  <a:txBody>
                    <a:bodyPr/>
                    <a:lstStyle/>
                    <a:p>
                      <a:pPr algn="ctr"/>
                      <a:r>
                        <a:rPr lang="en-US" altLang="zh-CN" sz="1600" b="1" dirty="0">
                          <a:solidFill>
                            <a:srgbClr val="000000"/>
                          </a:solidFill>
                        </a:rPr>
                        <a:t>24,15</a:t>
                      </a:r>
                      <a:endParaRPr lang="zh-CN" altLang="en-US" sz="1600" b="1" dirty="0">
                        <a:solidFill>
                          <a:srgbClr val="000000"/>
                        </a:solidFill>
                      </a:endParaRPr>
                    </a:p>
                  </a:txBody>
                  <a:tcPr marL="91460" marR="91460" marT="45724" marB="45724">
                    <a:gradFill>
                      <a:gsLst>
                        <a:gs pos="83000">
                          <a:srgbClr val="FF99FF"/>
                        </a:gs>
                        <a:gs pos="100000">
                          <a:schemeClr val="accent1">
                            <a:lumMod val="30000"/>
                            <a:lumOff val="70000"/>
                          </a:schemeClr>
                        </a:gs>
                      </a:gsLst>
                      <a:lin ang="5400000" scaled="1"/>
                    </a:gradFill>
                  </a:tcPr>
                </a:tc>
              </a:tr>
              <a:tr h="343892">
                <a:tc>
                  <a:txBody>
                    <a:bodyPr/>
                    <a:lstStyle/>
                    <a:p>
                      <a:pPr algn="ctr"/>
                      <a:r>
                        <a:rPr lang="en-US" altLang="zh-CN" sz="1600" b="1" dirty="0">
                          <a:solidFill>
                            <a:srgbClr val="000000"/>
                          </a:solidFill>
                        </a:rPr>
                        <a:t>24,15,18</a:t>
                      </a:r>
                      <a:endParaRPr lang="zh-CN" altLang="en-US" sz="1600" b="1" dirty="0">
                        <a:solidFill>
                          <a:srgbClr val="000000"/>
                        </a:solidFill>
                      </a:endParaRPr>
                    </a:p>
                  </a:txBody>
                  <a:tcPr marL="91460" marR="91460" marT="45724" marB="45724">
                    <a:gradFill>
                      <a:gsLst>
                        <a:gs pos="83000">
                          <a:srgbClr val="FF99FF"/>
                        </a:gs>
                        <a:gs pos="100000">
                          <a:schemeClr val="accent1">
                            <a:lumMod val="30000"/>
                            <a:lumOff val="70000"/>
                          </a:schemeClr>
                        </a:gs>
                      </a:gsLst>
                      <a:lin ang="5400000" scaled="1"/>
                    </a:gradFill>
                  </a:tcPr>
                </a:tc>
              </a:tr>
              <a:tr h="343892">
                <a:tc>
                  <a:txBody>
                    <a:bodyPr/>
                    <a:lstStyle/>
                    <a:p>
                      <a:pPr algn="ctr"/>
                      <a:r>
                        <a:rPr lang="en-US" altLang="zh-CN" sz="1600" b="1" dirty="0">
                          <a:solidFill>
                            <a:srgbClr val="000000"/>
                          </a:solidFill>
                        </a:rPr>
                        <a:t>15.18.23</a:t>
                      </a:r>
                      <a:endParaRPr lang="zh-CN" altLang="en-US" sz="1600" b="1" dirty="0">
                        <a:solidFill>
                          <a:srgbClr val="000000"/>
                        </a:solidFill>
                      </a:endParaRPr>
                    </a:p>
                  </a:txBody>
                  <a:tcPr marL="91460" marR="91460" marT="45724" marB="45724">
                    <a:gradFill>
                      <a:gsLst>
                        <a:gs pos="83000">
                          <a:srgbClr val="FF99FF"/>
                        </a:gs>
                        <a:gs pos="100000">
                          <a:schemeClr val="accent1">
                            <a:lumMod val="30000"/>
                            <a:lumOff val="70000"/>
                          </a:schemeClr>
                        </a:gs>
                      </a:gsLst>
                      <a:lin ang="5400000" scaled="1"/>
                    </a:gradFill>
                  </a:tcPr>
                </a:tc>
              </a:tr>
              <a:tr h="343892">
                <a:tc>
                  <a:txBody>
                    <a:bodyPr/>
                    <a:lstStyle/>
                    <a:p>
                      <a:pPr algn="ctr"/>
                      <a:r>
                        <a:rPr lang="en-US" altLang="zh-CN" sz="1600" b="1" dirty="0">
                          <a:solidFill>
                            <a:srgbClr val="000000"/>
                          </a:solidFill>
                        </a:rPr>
                        <a:t>18,23,24</a:t>
                      </a:r>
                      <a:endParaRPr lang="zh-CN" altLang="en-US" sz="1600" b="1" dirty="0">
                        <a:solidFill>
                          <a:srgbClr val="000000"/>
                        </a:solidFill>
                      </a:endParaRPr>
                    </a:p>
                  </a:txBody>
                  <a:tcPr marL="91460" marR="91460" marT="45724" marB="45724">
                    <a:gradFill>
                      <a:gsLst>
                        <a:gs pos="83000">
                          <a:srgbClr val="FF99FF"/>
                        </a:gs>
                        <a:gs pos="100000">
                          <a:schemeClr val="accent1">
                            <a:lumMod val="30000"/>
                            <a:lumOff val="70000"/>
                          </a:schemeClr>
                        </a:gs>
                      </a:gsLst>
                      <a:lin ang="5400000" scaled="1"/>
                    </a:gradFill>
                  </a:tcPr>
                </a:tc>
              </a:tr>
              <a:tr h="343892">
                <a:tc>
                  <a:txBody>
                    <a:bodyPr/>
                    <a:lstStyle/>
                    <a:p>
                      <a:pPr algn="ctr"/>
                      <a:r>
                        <a:rPr lang="en-US" altLang="zh-CN" sz="1600" b="1" dirty="0">
                          <a:solidFill>
                            <a:srgbClr val="000000"/>
                          </a:solidFill>
                        </a:rPr>
                        <a:t>23,24,17</a:t>
                      </a:r>
                      <a:endParaRPr lang="zh-CN" altLang="en-US" sz="1600" b="1" dirty="0">
                        <a:solidFill>
                          <a:srgbClr val="000000"/>
                        </a:solidFill>
                      </a:endParaRPr>
                    </a:p>
                  </a:txBody>
                  <a:tcPr marL="91460" marR="91460" marT="45724" marB="45724">
                    <a:gradFill>
                      <a:gsLst>
                        <a:gs pos="83000">
                          <a:srgbClr val="FF99FF"/>
                        </a:gs>
                        <a:gs pos="100000">
                          <a:schemeClr val="accent1">
                            <a:lumMod val="30000"/>
                            <a:lumOff val="70000"/>
                          </a:schemeClr>
                        </a:gs>
                      </a:gsLst>
                      <a:lin ang="5400000" scaled="1"/>
                    </a:gradFill>
                  </a:tcPr>
                </a:tc>
              </a:tr>
              <a:tr h="343892">
                <a:tc>
                  <a:txBody>
                    <a:bodyPr/>
                    <a:lstStyle/>
                    <a:p>
                      <a:pPr algn="ctr"/>
                      <a:r>
                        <a:rPr lang="en-US" altLang="zh-CN" sz="1600" b="1" dirty="0">
                          <a:solidFill>
                            <a:srgbClr val="000000"/>
                          </a:solidFill>
                        </a:rPr>
                        <a:t>24,17,18</a:t>
                      </a:r>
                      <a:endParaRPr lang="zh-CN" altLang="en-US" sz="1600" b="1" dirty="0">
                        <a:solidFill>
                          <a:srgbClr val="000000"/>
                        </a:solidFill>
                      </a:endParaRPr>
                    </a:p>
                  </a:txBody>
                  <a:tcPr marL="91460" marR="91460" marT="45724" marB="45724">
                    <a:gradFill>
                      <a:gsLst>
                        <a:gs pos="83000">
                          <a:srgbClr val="FF99FF"/>
                        </a:gs>
                        <a:gs pos="100000">
                          <a:schemeClr val="accent1">
                            <a:lumMod val="30000"/>
                            <a:lumOff val="70000"/>
                          </a:schemeClr>
                        </a:gs>
                      </a:gsLst>
                      <a:lin ang="5400000" scaled="1"/>
                    </a:gradFill>
                  </a:tcPr>
                </a:tc>
              </a:tr>
              <a:tr h="343892">
                <a:tc>
                  <a:txBody>
                    <a:bodyPr/>
                    <a:lstStyle/>
                    <a:p>
                      <a:pPr algn="ctr"/>
                      <a:r>
                        <a:rPr lang="en-US" altLang="zh-CN" sz="1600" b="1" dirty="0">
                          <a:solidFill>
                            <a:srgbClr val="000000"/>
                          </a:solidFill>
                        </a:rPr>
                        <a:t>----</a:t>
                      </a:r>
                      <a:endParaRPr lang="zh-CN" altLang="en-US" sz="1600" b="1" dirty="0">
                        <a:solidFill>
                          <a:srgbClr val="000000"/>
                        </a:solidFill>
                      </a:endParaRPr>
                    </a:p>
                  </a:txBody>
                  <a:tcPr marL="91460" marR="91460" marT="45724" marB="45724">
                    <a:gradFill>
                      <a:gsLst>
                        <a:gs pos="83000">
                          <a:srgbClr val="FF99FF"/>
                        </a:gs>
                        <a:gs pos="100000">
                          <a:schemeClr val="accent1">
                            <a:lumMod val="30000"/>
                            <a:lumOff val="70000"/>
                          </a:schemeClr>
                        </a:gs>
                      </a:gsLst>
                      <a:lin ang="5400000" scaled="1"/>
                    </a:gradFill>
                  </a:tcPr>
                </a:tc>
              </a:tr>
              <a:tr h="343892">
                <a:tc>
                  <a:txBody>
                    <a:bodyPr/>
                    <a:lstStyle/>
                    <a:p>
                      <a:pPr algn="ctr"/>
                      <a:r>
                        <a:rPr lang="en-US" altLang="zh-CN" sz="1600" b="1" dirty="0">
                          <a:solidFill>
                            <a:srgbClr val="000000"/>
                          </a:solidFill>
                        </a:rPr>
                        <a:t>18,24</a:t>
                      </a:r>
                      <a:endParaRPr lang="zh-CN" altLang="en-US" sz="1600" b="1" dirty="0">
                        <a:solidFill>
                          <a:srgbClr val="000000"/>
                        </a:solidFill>
                      </a:endParaRPr>
                    </a:p>
                  </a:txBody>
                  <a:tcPr marL="91460" marR="91460" marT="45724" marB="45724">
                    <a:gradFill>
                      <a:gsLst>
                        <a:gs pos="83000">
                          <a:srgbClr val="FF99FF"/>
                        </a:gs>
                        <a:gs pos="100000">
                          <a:schemeClr val="accent1">
                            <a:lumMod val="30000"/>
                            <a:lumOff val="70000"/>
                          </a:schemeClr>
                        </a:gs>
                      </a:gsLst>
                      <a:lin ang="5400000" scaled="1"/>
                    </a:gradFill>
                  </a:tcPr>
                </a:tc>
              </a:tr>
              <a:tr h="343892">
                <a:tc>
                  <a:txBody>
                    <a:bodyPr/>
                    <a:lstStyle/>
                    <a:p>
                      <a:pPr algn="ctr"/>
                      <a:r>
                        <a:rPr lang="en-US" altLang="zh-CN" sz="1600" b="1" dirty="0">
                          <a:solidFill>
                            <a:srgbClr val="000000"/>
                          </a:solidFill>
                        </a:rPr>
                        <a:t>24,18,17</a:t>
                      </a:r>
                      <a:endParaRPr lang="zh-CN" altLang="en-US" sz="1600" b="1" dirty="0">
                        <a:solidFill>
                          <a:srgbClr val="000000"/>
                        </a:solidFill>
                      </a:endParaRPr>
                    </a:p>
                  </a:txBody>
                  <a:tcPr marL="91460" marR="91460" marT="45724" marB="45724">
                    <a:gradFill>
                      <a:gsLst>
                        <a:gs pos="83000">
                          <a:srgbClr val="FF99FF"/>
                        </a:gs>
                        <a:gs pos="100000">
                          <a:schemeClr val="accent1">
                            <a:lumMod val="30000"/>
                            <a:lumOff val="70000"/>
                          </a:schemeClr>
                        </a:gs>
                      </a:gsLst>
                      <a:lin ang="5400000" scaled="1"/>
                    </a:gradFill>
                  </a:tcPr>
                </a:tc>
              </a:tr>
              <a:tr h="343892">
                <a:tc>
                  <a:txBody>
                    <a:bodyPr/>
                    <a:lstStyle/>
                    <a:p>
                      <a:pPr algn="ctr"/>
                      <a:r>
                        <a:rPr lang="en-US" altLang="zh-CN" sz="1600" b="1" dirty="0">
                          <a:solidFill>
                            <a:srgbClr val="000000"/>
                          </a:solidFill>
                        </a:rPr>
                        <a:t>18,17</a:t>
                      </a:r>
                      <a:endParaRPr lang="zh-CN" altLang="en-US" sz="1600" b="1" dirty="0">
                        <a:solidFill>
                          <a:srgbClr val="000000"/>
                        </a:solidFill>
                      </a:endParaRPr>
                    </a:p>
                  </a:txBody>
                  <a:tcPr marL="91460" marR="91460" marT="45724" marB="45724">
                    <a:gradFill>
                      <a:gsLst>
                        <a:gs pos="83000">
                          <a:srgbClr val="FF99FF"/>
                        </a:gs>
                        <a:gs pos="100000">
                          <a:schemeClr val="accent1">
                            <a:lumMod val="30000"/>
                            <a:lumOff val="70000"/>
                          </a:schemeClr>
                        </a:gs>
                      </a:gsLst>
                      <a:lin ang="5400000" scaled="1"/>
                    </a:gradFill>
                  </a:tcPr>
                </a:tc>
              </a:tr>
              <a:tr h="343892">
                <a:tc>
                  <a:txBody>
                    <a:bodyPr/>
                    <a:lstStyle/>
                    <a:p>
                      <a:pPr algn="ctr"/>
                      <a:r>
                        <a:rPr lang="en-US" altLang="zh-CN" sz="1600" b="1" dirty="0">
                          <a:solidFill>
                            <a:srgbClr val="000000"/>
                          </a:solidFill>
                        </a:rPr>
                        <a:t>17,15</a:t>
                      </a:r>
                      <a:endParaRPr lang="zh-CN" altLang="en-US" sz="1600" b="1" dirty="0">
                        <a:solidFill>
                          <a:srgbClr val="000000"/>
                        </a:solidFill>
                      </a:endParaRPr>
                    </a:p>
                  </a:txBody>
                  <a:tcPr marL="91460" marR="91460" marT="45724" marB="45724">
                    <a:gradFill>
                      <a:gsLst>
                        <a:gs pos="83000">
                          <a:srgbClr val="FF99FF"/>
                        </a:gs>
                        <a:gs pos="100000">
                          <a:schemeClr val="accent1">
                            <a:lumMod val="30000"/>
                            <a:lumOff val="70000"/>
                          </a:schemeClr>
                        </a:gs>
                      </a:gsLst>
                      <a:lin ang="5400000" scaled="1"/>
                    </a:gradFill>
                  </a:tcPr>
                </a:tc>
              </a:tr>
              <a:tr h="343892">
                <a:tc>
                  <a:txBody>
                    <a:bodyPr/>
                    <a:lstStyle/>
                    <a:p>
                      <a:pPr algn="ctr"/>
                      <a:r>
                        <a:rPr lang="en-US" altLang="zh-CN" sz="1600" b="1" dirty="0">
                          <a:solidFill>
                            <a:srgbClr val="000000"/>
                          </a:solidFill>
                        </a:rPr>
                        <a:t>17,15,24</a:t>
                      </a:r>
                      <a:endParaRPr lang="zh-CN" altLang="en-US" sz="1600" b="1" dirty="0">
                        <a:solidFill>
                          <a:srgbClr val="000000"/>
                        </a:solidFill>
                      </a:endParaRPr>
                    </a:p>
                  </a:txBody>
                  <a:tcPr marL="91460" marR="91460" marT="45724" marB="45724">
                    <a:gradFill>
                      <a:gsLst>
                        <a:gs pos="83000">
                          <a:srgbClr val="FF99FF"/>
                        </a:gs>
                        <a:gs pos="100000">
                          <a:schemeClr val="accent1">
                            <a:lumMod val="30000"/>
                            <a:lumOff val="70000"/>
                          </a:schemeClr>
                        </a:gs>
                      </a:gsLst>
                      <a:lin ang="5400000" scaled="1"/>
                    </a:gradFill>
                  </a:tcPr>
                </a:tc>
              </a:tr>
              <a:tr h="343892">
                <a:tc>
                  <a:txBody>
                    <a:bodyPr/>
                    <a:lstStyle/>
                    <a:p>
                      <a:pPr algn="ctr"/>
                      <a:r>
                        <a:rPr lang="en-US" altLang="zh-CN" sz="1600" b="1" dirty="0">
                          <a:solidFill>
                            <a:srgbClr val="000000"/>
                          </a:solidFill>
                        </a:rPr>
                        <a:t>---</a:t>
                      </a:r>
                      <a:endParaRPr lang="zh-CN" altLang="en-US" sz="1600" b="1" dirty="0">
                        <a:solidFill>
                          <a:srgbClr val="000000"/>
                        </a:solidFill>
                      </a:endParaRPr>
                    </a:p>
                  </a:txBody>
                  <a:tcPr marL="91460" marR="91460" marT="45724" marB="45724">
                    <a:gradFill>
                      <a:gsLst>
                        <a:gs pos="83000">
                          <a:srgbClr val="FF99FF"/>
                        </a:gs>
                        <a:gs pos="100000">
                          <a:schemeClr val="accent1">
                            <a:lumMod val="30000"/>
                            <a:lumOff val="70000"/>
                          </a:schemeClr>
                        </a:gs>
                      </a:gsLst>
                      <a:lin ang="5400000" scaled="1"/>
                    </a:gradFill>
                  </a:tcPr>
                </a:tc>
              </a:tr>
              <a:tr h="343892">
                <a:tc>
                  <a:txBody>
                    <a:bodyPr/>
                    <a:lstStyle/>
                    <a:p>
                      <a:pPr algn="ctr"/>
                      <a:r>
                        <a:rPr lang="en-US" altLang="zh-CN" sz="1600" b="1" dirty="0">
                          <a:solidFill>
                            <a:srgbClr val="000000"/>
                          </a:solidFill>
                        </a:rPr>
                        <a:t>24,17</a:t>
                      </a:r>
                      <a:endParaRPr lang="zh-CN" altLang="en-US" sz="1600" b="1" dirty="0">
                        <a:solidFill>
                          <a:srgbClr val="000000"/>
                        </a:solidFill>
                      </a:endParaRPr>
                    </a:p>
                  </a:txBody>
                  <a:tcPr marL="91460" marR="91460" marT="45724" marB="45724">
                    <a:gradFill>
                      <a:gsLst>
                        <a:gs pos="83000">
                          <a:srgbClr val="FF99FF"/>
                        </a:gs>
                        <a:gs pos="100000">
                          <a:schemeClr val="accent1">
                            <a:lumMod val="30000"/>
                            <a:lumOff val="70000"/>
                          </a:schemeClr>
                        </a:gs>
                      </a:gsLst>
                      <a:lin ang="5400000" scaled="1"/>
                    </a:gradFill>
                  </a:tcPr>
                </a:tc>
              </a:tr>
              <a:tr h="343892">
                <a:tc>
                  <a:txBody>
                    <a:bodyPr/>
                    <a:lstStyle/>
                    <a:p>
                      <a:pPr algn="ctr"/>
                      <a:r>
                        <a:rPr lang="en-US" altLang="zh-CN" sz="1600" b="1" dirty="0">
                          <a:solidFill>
                            <a:srgbClr val="000000"/>
                          </a:solidFill>
                        </a:rPr>
                        <a:t>17,24,18</a:t>
                      </a:r>
                      <a:endParaRPr lang="zh-CN" altLang="en-US" sz="1600" b="1" dirty="0">
                        <a:solidFill>
                          <a:srgbClr val="000000"/>
                        </a:solidFill>
                      </a:endParaRPr>
                    </a:p>
                  </a:txBody>
                  <a:tcPr marL="91460" marR="91460" marT="45724" marB="45724">
                    <a:gradFill>
                      <a:gsLst>
                        <a:gs pos="83000">
                          <a:srgbClr val="FF99FF"/>
                        </a:gs>
                        <a:gs pos="100000">
                          <a:schemeClr val="accent1">
                            <a:lumMod val="30000"/>
                            <a:lumOff val="70000"/>
                          </a:schemeClr>
                        </a:gs>
                      </a:gsLst>
                      <a:lin ang="5400000" scaled="1"/>
                    </a:gradFill>
                  </a:tcPr>
                </a:tc>
              </a:tr>
            </a:tbl>
          </a:graphicData>
        </a:graphic>
      </p:graphicFrame>
      <p:graphicFrame>
        <p:nvGraphicFramePr>
          <p:cNvPr id="9" name="表格 4"/>
          <p:cNvGraphicFramePr>
            <a:graphicFrameLocks noGrp="1"/>
          </p:cNvGraphicFramePr>
          <p:nvPr/>
        </p:nvGraphicFramePr>
        <p:xfrm>
          <a:off x="4284663" y="1270000"/>
          <a:ext cx="2009775" cy="5472112"/>
        </p:xfrm>
        <a:graphic>
          <a:graphicData uri="http://schemas.openxmlformats.org/drawingml/2006/table">
            <a:tbl>
              <a:tblPr firstRow="1" bandRow="1">
                <a:tableStyleId>{5C22544A-7EE6-4342-B048-85BDC9FD1C3A}</a:tableStyleId>
              </a:tblPr>
              <a:tblGrid>
                <a:gridCol w="2009775"/>
              </a:tblGrid>
              <a:tr h="342007">
                <a:tc>
                  <a:txBody>
                    <a:bodyPr/>
                    <a:lstStyle/>
                    <a:p>
                      <a:pPr algn="ctr"/>
                      <a:r>
                        <a:rPr lang="en-US" altLang="zh-CN" sz="1600" b="1" dirty="0">
                          <a:solidFill>
                            <a:srgbClr val="000000"/>
                          </a:solidFill>
                        </a:rPr>
                        <a:t>24</a:t>
                      </a:r>
                      <a:endParaRPr lang="zh-CN" altLang="en-US" sz="1600" b="1" dirty="0">
                        <a:solidFill>
                          <a:srgbClr val="000000"/>
                        </a:solidFill>
                      </a:endParaRPr>
                    </a:p>
                  </a:txBody>
                  <a:tcPr marL="91412" marR="91412" marT="45721" marB="45721">
                    <a:solidFill>
                      <a:srgbClr val="FF99FF"/>
                    </a:solidFill>
                  </a:tcPr>
                </a:tc>
              </a:tr>
              <a:tr h="342007">
                <a:tc>
                  <a:txBody>
                    <a:bodyPr/>
                    <a:lstStyle/>
                    <a:p>
                      <a:pPr algn="ctr"/>
                      <a:r>
                        <a:rPr lang="en-US" altLang="zh-CN" sz="1600" b="1" dirty="0">
                          <a:solidFill>
                            <a:srgbClr val="000000"/>
                          </a:solidFill>
                        </a:rPr>
                        <a:t>24,15</a:t>
                      </a:r>
                      <a:endParaRPr lang="zh-CN" altLang="en-US" sz="1600" b="1" dirty="0">
                        <a:solidFill>
                          <a:srgbClr val="000000"/>
                        </a:solidFill>
                      </a:endParaRPr>
                    </a:p>
                  </a:txBody>
                  <a:tcPr marL="91412" marR="91412" marT="45721" marB="45721">
                    <a:solidFill>
                      <a:srgbClr val="FF99FF"/>
                    </a:solidFill>
                  </a:tcPr>
                </a:tc>
              </a:tr>
              <a:tr h="342007">
                <a:tc>
                  <a:txBody>
                    <a:bodyPr/>
                    <a:lstStyle/>
                    <a:p>
                      <a:pPr algn="ctr"/>
                      <a:r>
                        <a:rPr lang="en-US" altLang="zh-CN" sz="1600" b="1" dirty="0">
                          <a:solidFill>
                            <a:srgbClr val="000000"/>
                          </a:solidFill>
                        </a:rPr>
                        <a:t>24,15,18</a:t>
                      </a:r>
                      <a:endParaRPr lang="zh-CN" altLang="en-US" sz="1600" b="1" dirty="0">
                        <a:solidFill>
                          <a:srgbClr val="000000"/>
                        </a:solidFill>
                      </a:endParaRPr>
                    </a:p>
                  </a:txBody>
                  <a:tcPr marL="91412" marR="91412" marT="45721" marB="45721">
                    <a:solidFill>
                      <a:srgbClr val="FF99FF"/>
                    </a:solidFill>
                  </a:tcPr>
                </a:tc>
              </a:tr>
              <a:tr h="34200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1" dirty="0">
                          <a:solidFill>
                            <a:srgbClr val="000000"/>
                          </a:solidFill>
                        </a:rPr>
                        <a:t>24,15,18,23</a:t>
                      </a:r>
                      <a:endParaRPr lang="zh-CN" altLang="en-US" sz="1600" b="1" dirty="0">
                        <a:solidFill>
                          <a:srgbClr val="000000"/>
                        </a:solidFill>
                      </a:endParaRPr>
                    </a:p>
                  </a:txBody>
                  <a:tcPr marL="91412" marR="91412" marT="45721" marB="45721">
                    <a:solidFill>
                      <a:srgbClr val="FF99FF"/>
                    </a:solidFill>
                  </a:tcPr>
                </a:tc>
              </a:tr>
              <a:tr h="342007">
                <a:tc>
                  <a:txBody>
                    <a:bodyPr/>
                    <a:lstStyle/>
                    <a:p>
                      <a:pPr algn="ctr"/>
                      <a:r>
                        <a:rPr lang="en-US" altLang="zh-CN" sz="1600" b="1" dirty="0">
                          <a:solidFill>
                            <a:srgbClr val="000000"/>
                          </a:solidFill>
                        </a:rPr>
                        <a:t>-----</a:t>
                      </a:r>
                      <a:endParaRPr lang="zh-CN" altLang="en-US" sz="1600" b="1" dirty="0">
                        <a:solidFill>
                          <a:srgbClr val="000000"/>
                        </a:solidFill>
                      </a:endParaRPr>
                    </a:p>
                  </a:txBody>
                  <a:tcPr marL="91412" marR="91412" marT="45721" marB="45721">
                    <a:solidFill>
                      <a:srgbClr val="FF99FF"/>
                    </a:solidFill>
                  </a:tcPr>
                </a:tc>
              </a:tr>
              <a:tr h="342007">
                <a:tc>
                  <a:txBody>
                    <a:bodyPr/>
                    <a:lstStyle/>
                    <a:p>
                      <a:pPr algn="ctr"/>
                      <a:r>
                        <a:rPr lang="en-US" altLang="zh-CN" sz="1600" b="1" dirty="0">
                          <a:solidFill>
                            <a:srgbClr val="000000"/>
                          </a:solidFill>
                        </a:rPr>
                        <a:t>18,23,24,17</a:t>
                      </a:r>
                      <a:endParaRPr lang="zh-CN" altLang="en-US" sz="1600" b="1" dirty="0">
                        <a:solidFill>
                          <a:srgbClr val="000000"/>
                        </a:solidFill>
                      </a:endParaRPr>
                    </a:p>
                  </a:txBody>
                  <a:tcPr marL="91412" marR="91412" marT="45721" marB="45721">
                    <a:solidFill>
                      <a:srgbClr val="FF99FF"/>
                    </a:solidFill>
                  </a:tcPr>
                </a:tc>
              </a:tr>
              <a:tr h="342007">
                <a:tc>
                  <a:txBody>
                    <a:bodyPr/>
                    <a:lstStyle/>
                    <a:p>
                      <a:pPr algn="ctr"/>
                      <a:r>
                        <a:rPr lang="en-US" altLang="zh-CN" sz="1600" b="1" dirty="0">
                          <a:solidFill>
                            <a:srgbClr val="000000"/>
                          </a:solidFill>
                        </a:rPr>
                        <a:t>-----</a:t>
                      </a:r>
                      <a:endParaRPr lang="zh-CN" altLang="en-US" sz="1600" b="1" dirty="0">
                        <a:solidFill>
                          <a:srgbClr val="000000"/>
                        </a:solidFill>
                      </a:endParaRPr>
                    </a:p>
                  </a:txBody>
                  <a:tcPr marL="91412" marR="91412" marT="45721" marB="45721">
                    <a:solidFill>
                      <a:srgbClr val="FF99FF"/>
                    </a:solidFill>
                  </a:tcPr>
                </a:tc>
              </a:tr>
              <a:tr h="342007">
                <a:tc>
                  <a:txBody>
                    <a:bodyPr/>
                    <a:lstStyle/>
                    <a:p>
                      <a:pPr algn="ctr"/>
                      <a:r>
                        <a:rPr lang="en-US" altLang="zh-CN" sz="1600" b="1" dirty="0">
                          <a:solidFill>
                            <a:srgbClr val="000000"/>
                          </a:solidFill>
                        </a:rPr>
                        <a:t>24,17,18</a:t>
                      </a:r>
                      <a:endParaRPr lang="zh-CN" altLang="en-US" sz="1600" b="1" dirty="0">
                        <a:solidFill>
                          <a:srgbClr val="000000"/>
                        </a:solidFill>
                      </a:endParaRPr>
                    </a:p>
                  </a:txBody>
                  <a:tcPr marL="91412" marR="91412" marT="45721" marB="45721">
                    <a:solidFill>
                      <a:srgbClr val="FF99FF"/>
                    </a:solidFill>
                  </a:tcPr>
                </a:tc>
              </a:tr>
              <a:tr h="342007">
                <a:tc>
                  <a:txBody>
                    <a:bodyPr/>
                    <a:lstStyle/>
                    <a:p>
                      <a:pPr algn="ctr"/>
                      <a:r>
                        <a:rPr lang="en-US" altLang="zh-CN" sz="1600" b="1" dirty="0">
                          <a:solidFill>
                            <a:srgbClr val="000000"/>
                          </a:solidFill>
                        </a:rPr>
                        <a:t>-----</a:t>
                      </a:r>
                      <a:endParaRPr lang="zh-CN" altLang="en-US" sz="1600" b="1" dirty="0">
                        <a:solidFill>
                          <a:srgbClr val="000000"/>
                        </a:solidFill>
                      </a:endParaRPr>
                    </a:p>
                  </a:txBody>
                  <a:tcPr marL="91412" marR="91412" marT="45721" marB="45721">
                    <a:solidFill>
                      <a:srgbClr val="FF99FF"/>
                    </a:solidFill>
                  </a:tcPr>
                </a:tc>
              </a:tr>
              <a:tr h="342007">
                <a:tc>
                  <a:txBody>
                    <a:bodyPr/>
                    <a:lstStyle/>
                    <a:p>
                      <a:pPr algn="ctr"/>
                      <a:r>
                        <a:rPr lang="en-US" altLang="zh-CN" sz="1600" b="1" dirty="0">
                          <a:solidFill>
                            <a:srgbClr val="000000"/>
                          </a:solidFill>
                        </a:rPr>
                        <a:t>-----</a:t>
                      </a:r>
                      <a:endParaRPr lang="zh-CN" altLang="en-US" sz="1600" b="1" dirty="0">
                        <a:solidFill>
                          <a:srgbClr val="000000"/>
                        </a:solidFill>
                      </a:endParaRPr>
                    </a:p>
                  </a:txBody>
                  <a:tcPr marL="91412" marR="91412" marT="45721" marB="45721">
                    <a:solidFill>
                      <a:srgbClr val="FF99FF"/>
                    </a:solidFill>
                  </a:tcPr>
                </a:tc>
              </a:tr>
              <a:tr h="342007">
                <a:tc>
                  <a:txBody>
                    <a:bodyPr/>
                    <a:lstStyle/>
                    <a:p>
                      <a:pPr algn="ctr"/>
                      <a:r>
                        <a:rPr lang="en-US" altLang="zh-CN" sz="1600" b="1" dirty="0">
                          <a:solidFill>
                            <a:srgbClr val="000000"/>
                          </a:solidFill>
                        </a:rPr>
                        <a:t>-----</a:t>
                      </a:r>
                      <a:endParaRPr lang="zh-CN" altLang="en-US" sz="1600" b="1" dirty="0">
                        <a:solidFill>
                          <a:srgbClr val="000000"/>
                        </a:solidFill>
                      </a:endParaRPr>
                    </a:p>
                  </a:txBody>
                  <a:tcPr marL="91412" marR="91412" marT="45721" marB="45721">
                    <a:solidFill>
                      <a:srgbClr val="FF99FF"/>
                    </a:solidFill>
                  </a:tcPr>
                </a:tc>
              </a:tr>
              <a:tr h="342007">
                <a:tc>
                  <a:txBody>
                    <a:bodyPr/>
                    <a:lstStyle/>
                    <a:p>
                      <a:pPr algn="ctr"/>
                      <a:r>
                        <a:rPr lang="en-US" altLang="zh-CN" sz="1600" b="1" dirty="0">
                          <a:solidFill>
                            <a:srgbClr val="000000"/>
                          </a:solidFill>
                        </a:rPr>
                        <a:t>18,17,15</a:t>
                      </a:r>
                      <a:endParaRPr lang="zh-CN" altLang="en-US" sz="1600" b="1" dirty="0">
                        <a:solidFill>
                          <a:srgbClr val="000000"/>
                        </a:solidFill>
                      </a:endParaRPr>
                    </a:p>
                  </a:txBody>
                  <a:tcPr marL="91412" marR="91412" marT="45721" marB="45721">
                    <a:solidFill>
                      <a:srgbClr val="FF99FF"/>
                    </a:solidFill>
                  </a:tcPr>
                </a:tc>
              </a:tr>
              <a:tr h="342007">
                <a:tc>
                  <a:txBody>
                    <a:bodyPr/>
                    <a:lstStyle/>
                    <a:p>
                      <a:pPr algn="ctr"/>
                      <a:r>
                        <a:rPr lang="en-US" altLang="zh-CN" sz="1600" b="1" dirty="0">
                          <a:solidFill>
                            <a:srgbClr val="000000"/>
                          </a:solidFill>
                        </a:rPr>
                        <a:t>17,15,24</a:t>
                      </a:r>
                      <a:endParaRPr lang="zh-CN" altLang="en-US" sz="1600" b="1" dirty="0">
                        <a:solidFill>
                          <a:srgbClr val="000000"/>
                        </a:solidFill>
                      </a:endParaRPr>
                    </a:p>
                  </a:txBody>
                  <a:tcPr marL="91412" marR="91412" marT="45721" marB="45721">
                    <a:solidFill>
                      <a:srgbClr val="FF99FF"/>
                    </a:solidFill>
                  </a:tcPr>
                </a:tc>
              </a:tr>
              <a:tr h="342007">
                <a:tc>
                  <a:txBody>
                    <a:bodyPr/>
                    <a:lstStyle/>
                    <a:p>
                      <a:pPr algn="ctr"/>
                      <a:r>
                        <a:rPr lang="en-US" altLang="zh-CN" sz="1600" b="1" dirty="0">
                          <a:solidFill>
                            <a:srgbClr val="000000"/>
                          </a:solidFill>
                        </a:rPr>
                        <a:t>----</a:t>
                      </a:r>
                      <a:endParaRPr lang="zh-CN" altLang="en-US" sz="1600" b="1" dirty="0">
                        <a:solidFill>
                          <a:srgbClr val="000000"/>
                        </a:solidFill>
                      </a:endParaRPr>
                    </a:p>
                  </a:txBody>
                  <a:tcPr marL="91412" marR="91412" marT="45721" marB="45721">
                    <a:solidFill>
                      <a:srgbClr val="FF99FF"/>
                    </a:solidFill>
                  </a:tcPr>
                </a:tc>
              </a:tr>
              <a:tr h="342007">
                <a:tc>
                  <a:txBody>
                    <a:bodyPr/>
                    <a:lstStyle/>
                    <a:p>
                      <a:pPr algn="ctr"/>
                      <a:r>
                        <a:rPr lang="en-US" altLang="zh-CN" sz="1600" b="1" dirty="0">
                          <a:solidFill>
                            <a:srgbClr val="000000"/>
                          </a:solidFill>
                        </a:rPr>
                        <a:t>----</a:t>
                      </a:r>
                      <a:endParaRPr lang="zh-CN" altLang="en-US" sz="1600" b="1" dirty="0">
                        <a:solidFill>
                          <a:srgbClr val="000000"/>
                        </a:solidFill>
                      </a:endParaRPr>
                    </a:p>
                  </a:txBody>
                  <a:tcPr marL="91412" marR="91412" marT="45721" marB="45721">
                    <a:solidFill>
                      <a:srgbClr val="FF99FF"/>
                    </a:solidFill>
                  </a:tcPr>
                </a:tc>
              </a:tr>
              <a:tr h="342007">
                <a:tc>
                  <a:txBody>
                    <a:bodyPr/>
                    <a:lstStyle/>
                    <a:p>
                      <a:pPr algn="ctr"/>
                      <a:r>
                        <a:rPr lang="en-US" altLang="zh-CN" sz="1600" b="1" dirty="0">
                          <a:solidFill>
                            <a:srgbClr val="000000"/>
                          </a:solidFill>
                        </a:rPr>
                        <a:t>24,17,18</a:t>
                      </a:r>
                      <a:endParaRPr lang="zh-CN" altLang="en-US" sz="1600" b="1" dirty="0">
                        <a:solidFill>
                          <a:srgbClr val="000000"/>
                        </a:solidFill>
                      </a:endParaRPr>
                    </a:p>
                  </a:txBody>
                  <a:tcPr marL="91412" marR="91412" marT="45721" marB="45721">
                    <a:solidFill>
                      <a:srgbClr val="FF99FF"/>
                    </a:solidFill>
                  </a:tcPr>
                </a:tc>
              </a:tr>
            </a:tbl>
          </a:graphicData>
        </a:graphic>
      </p:graphicFrame>
      <p:graphicFrame>
        <p:nvGraphicFramePr>
          <p:cNvPr id="11" name="表格 4"/>
          <p:cNvGraphicFramePr>
            <a:graphicFrameLocks noGrp="1"/>
          </p:cNvGraphicFramePr>
          <p:nvPr/>
        </p:nvGraphicFramePr>
        <p:xfrm>
          <a:off x="6372225" y="1300163"/>
          <a:ext cx="2201863" cy="5472112"/>
        </p:xfrm>
        <a:graphic>
          <a:graphicData uri="http://schemas.openxmlformats.org/drawingml/2006/table">
            <a:tbl>
              <a:tblPr firstRow="1" bandRow="1">
                <a:tableStyleId>{5C22544A-7EE6-4342-B048-85BDC9FD1C3A}</a:tableStyleId>
              </a:tblPr>
              <a:tblGrid>
                <a:gridCol w="2201863"/>
              </a:tblGrid>
              <a:tr h="342007">
                <a:tc>
                  <a:txBody>
                    <a:bodyPr/>
                    <a:lstStyle/>
                    <a:p>
                      <a:pPr algn="ctr"/>
                      <a:r>
                        <a:rPr lang="en-US" altLang="zh-CN" sz="1600" b="1" dirty="0">
                          <a:solidFill>
                            <a:srgbClr val="000000"/>
                          </a:solidFill>
                        </a:rPr>
                        <a:t>24</a:t>
                      </a:r>
                      <a:endParaRPr lang="zh-CN" altLang="en-US" sz="1600" b="1" dirty="0">
                        <a:solidFill>
                          <a:srgbClr val="000000"/>
                        </a:solidFill>
                      </a:endParaRPr>
                    </a:p>
                  </a:txBody>
                  <a:tcPr marL="91415" marR="91415" marT="45721" marB="45721">
                    <a:gradFill>
                      <a:gsLst>
                        <a:gs pos="83000">
                          <a:srgbClr val="FF99FF"/>
                        </a:gs>
                        <a:gs pos="100000">
                          <a:schemeClr val="accent1">
                            <a:lumMod val="30000"/>
                            <a:lumOff val="70000"/>
                          </a:schemeClr>
                        </a:gs>
                      </a:gsLst>
                      <a:lin ang="5400000" scaled="1"/>
                    </a:gradFill>
                  </a:tcPr>
                </a:tc>
              </a:tr>
              <a:tr h="342007">
                <a:tc>
                  <a:txBody>
                    <a:bodyPr/>
                    <a:lstStyle/>
                    <a:p>
                      <a:pPr algn="ctr"/>
                      <a:r>
                        <a:rPr lang="en-US" altLang="zh-CN" sz="1600" b="1" dirty="0">
                          <a:solidFill>
                            <a:srgbClr val="000000"/>
                          </a:solidFill>
                        </a:rPr>
                        <a:t>24,15</a:t>
                      </a:r>
                      <a:endParaRPr lang="zh-CN" altLang="en-US" sz="1600" b="1" dirty="0">
                        <a:solidFill>
                          <a:srgbClr val="000000"/>
                        </a:solidFill>
                      </a:endParaRPr>
                    </a:p>
                  </a:txBody>
                  <a:tcPr marL="91415" marR="91415" marT="45721" marB="45721">
                    <a:gradFill>
                      <a:gsLst>
                        <a:gs pos="83000">
                          <a:srgbClr val="FF99FF"/>
                        </a:gs>
                        <a:gs pos="100000">
                          <a:schemeClr val="accent1">
                            <a:lumMod val="30000"/>
                            <a:lumOff val="70000"/>
                          </a:schemeClr>
                        </a:gs>
                      </a:gsLst>
                      <a:lin ang="5400000" scaled="1"/>
                    </a:gradFill>
                  </a:tcPr>
                </a:tc>
              </a:tr>
              <a:tr h="342007">
                <a:tc>
                  <a:txBody>
                    <a:bodyPr/>
                    <a:lstStyle/>
                    <a:p>
                      <a:pPr algn="ctr"/>
                      <a:r>
                        <a:rPr lang="en-US" altLang="zh-CN" sz="1600" b="1" dirty="0">
                          <a:solidFill>
                            <a:srgbClr val="000000"/>
                          </a:solidFill>
                        </a:rPr>
                        <a:t>24,15,18</a:t>
                      </a:r>
                      <a:endParaRPr lang="zh-CN" altLang="en-US" sz="1600" b="1" dirty="0">
                        <a:solidFill>
                          <a:srgbClr val="000000"/>
                        </a:solidFill>
                      </a:endParaRPr>
                    </a:p>
                  </a:txBody>
                  <a:tcPr marL="91415" marR="91415" marT="45721" marB="45721">
                    <a:gradFill>
                      <a:gsLst>
                        <a:gs pos="83000">
                          <a:srgbClr val="FF99FF"/>
                        </a:gs>
                        <a:gs pos="100000">
                          <a:schemeClr val="accent1">
                            <a:lumMod val="30000"/>
                            <a:lumOff val="70000"/>
                          </a:schemeClr>
                        </a:gs>
                      </a:gsLst>
                      <a:lin ang="5400000" scaled="1"/>
                    </a:gradFill>
                  </a:tcPr>
                </a:tc>
              </a:tr>
              <a:tr h="342007">
                <a:tc>
                  <a:txBody>
                    <a:bodyPr/>
                    <a:lstStyle/>
                    <a:p>
                      <a:pPr algn="ctr"/>
                      <a:r>
                        <a:rPr lang="en-US" altLang="zh-CN" sz="1600" b="1" dirty="0">
                          <a:solidFill>
                            <a:srgbClr val="000000"/>
                          </a:solidFill>
                        </a:rPr>
                        <a:t>24,15,18,23</a:t>
                      </a:r>
                      <a:endParaRPr lang="zh-CN" altLang="en-US" sz="1600" b="1" dirty="0">
                        <a:solidFill>
                          <a:srgbClr val="000000"/>
                        </a:solidFill>
                      </a:endParaRPr>
                    </a:p>
                  </a:txBody>
                  <a:tcPr marL="91415" marR="91415" marT="45721" marB="45721">
                    <a:gradFill>
                      <a:gsLst>
                        <a:gs pos="83000">
                          <a:srgbClr val="FF99FF"/>
                        </a:gs>
                        <a:gs pos="100000">
                          <a:schemeClr val="accent1">
                            <a:lumMod val="30000"/>
                            <a:lumOff val="70000"/>
                          </a:schemeClr>
                        </a:gs>
                      </a:gsLst>
                      <a:lin ang="5400000" scaled="1"/>
                    </a:gradFill>
                  </a:tcPr>
                </a:tc>
              </a:tr>
              <a:tr h="342007">
                <a:tc>
                  <a:txBody>
                    <a:bodyPr/>
                    <a:lstStyle/>
                    <a:p>
                      <a:pPr algn="ctr"/>
                      <a:r>
                        <a:rPr lang="en-US" altLang="zh-CN" sz="1600" b="1" dirty="0">
                          <a:solidFill>
                            <a:srgbClr val="000000"/>
                          </a:solidFill>
                        </a:rPr>
                        <a:t>----</a:t>
                      </a:r>
                      <a:endParaRPr lang="zh-CN" altLang="en-US" sz="1600" b="1" dirty="0">
                        <a:solidFill>
                          <a:srgbClr val="000000"/>
                        </a:solidFill>
                      </a:endParaRPr>
                    </a:p>
                  </a:txBody>
                  <a:tcPr marL="91415" marR="91415" marT="45721" marB="45721">
                    <a:gradFill>
                      <a:gsLst>
                        <a:gs pos="83000">
                          <a:srgbClr val="FF99FF"/>
                        </a:gs>
                        <a:gs pos="100000">
                          <a:schemeClr val="accent1">
                            <a:lumMod val="30000"/>
                            <a:lumOff val="70000"/>
                          </a:schemeClr>
                        </a:gs>
                      </a:gsLst>
                      <a:lin ang="5400000" scaled="1"/>
                    </a:gradFill>
                  </a:tcPr>
                </a:tc>
              </a:tr>
              <a:tr h="342007">
                <a:tc>
                  <a:txBody>
                    <a:bodyPr/>
                    <a:lstStyle/>
                    <a:p>
                      <a:pPr algn="ctr"/>
                      <a:r>
                        <a:rPr lang="en-US" altLang="zh-CN" sz="1600" b="1" dirty="0">
                          <a:solidFill>
                            <a:srgbClr val="000000"/>
                          </a:solidFill>
                        </a:rPr>
                        <a:t>15,18,23,24,17</a:t>
                      </a:r>
                      <a:endParaRPr lang="zh-CN" altLang="en-US" sz="1600" b="1" dirty="0">
                        <a:solidFill>
                          <a:srgbClr val="000000"/>
                        </a:solidFill>
                      </a:endParaRPr>
                    </a:p>
                  </a:txBody>
                  <a:tcPr marL="91415" marR="91415" marT="45721" marB="45721">
                    <a:gradFill>
                      <a:gsLst>
                        <a:gs pos="83000">
                          <a:srgbClr val="FF99FF"/>
                        </a:gs>
                        <a:gs pos="100000">
                          <a:schemeClr val="accent1">
                            <a:lumMod val="30000"/>
                            <a:lumOff val="70000"/>
                          </a:schemeClr>
                        </a:gs>
                      </a:gsLst>
                      <a:lin ang="5400000" scaled="1"/>
                    </a:gradFill>
                  </a:tcPr>
                </a:tc>
              </a:tr>
              <a:tr h="342007">
                <a:tc>
                  <a:txBody>
                    <a:bodyPr/>
                    <a:lstStyle/>
                    <a:p>
                      <a:pPr algn="ctr"/>
                      <a:r>
                        <a:rPr lang="en-US" altLang="zh-CN" sz="1600" b="1" dirty="0">
                          <a:solidFill>
                            <a:srgbClr val="000000"/>
                          </a:solidFill>
                        </a:rPr>
                        <a:t>18,23,24,17</a:t>
                      </a:r>
                      <a:endParaRPr lang="zh-CN" altLang="en-US" sz="1600" b="1" dirty="0">
                        <a:solidFill>
                          <a:srgbClr val="000000"/>
                        </a:solidFill>
                      </a:endParaRPr>
                    </a:p>
                  </a:txBody>
                  <a:tcPr marL="91415" marR="91415" marT="45721" marB="45721">
                    <a:gradFill>
                      <a:gsLst>
                        <a:gs pos="83000">
                          <a:srgbClr val="FF99FF"/>
                        </a:gs>
                        <a:gs pos="100000">
                          <a:schemeClr val="accent1">
                            <a:lumMod val="30000"/>
                            <a:lumOff val="70000"/>
                          </a:schemeClr>
                        </a:gs>
                      </a:gsLst>
                      <a:lin ang="5400000" scaled="1"/>
                    </a:gradFill>
                  </a:tcPr>
                </a:tc>
              </a:tr>
              <a:tr h="342007">
                <a:tc>
                  <a:txBody>
                    <a:bodyPr/>
                    <a:lstStyle/>
                    <a:p>
                      <a:pPr algn="ctr"/>
                      <a:r>
                        <a:rPr lang="en-US" altLang="zh-CN" sz="1600" b="1" dirty="0">
                          <a:solidFill>
                            <a:srgbClr val="000000"/>
                          </a:solidFill>
                        </a:rPr>
                        <a:t>-----</a:t>
                      </a:r>
                      <a:endParaRPr lang="zh-CN" altLang="en-US" sz="1600" b="1" dirty="0">
                        <a:solidFill>
                          <a:srgbClr val="000000"/>
                        </a:solidFill>
                      </a:endParaRPr>
                    </a:p>
                  </a:txBody>
                  <a:tcPr marL="91415" marR="91415" marT="45721" marB="45721">
                    <a:gradFill>
                      <a:gsLst>
                        <a:gs pos="83000">
                          <a:srgbClr val="FF99FF"/>
                        </a:gs>
                        <a:gs pos="100000">
                          <a:schemeClr val="accent1">
                            <a:lumMod val="30000"/>
                            <a:lumOff val="70000"/>
                          </a:schemeClr>
                        </a:gs>
                      </a:gsLst>
                      <a:lin ang="5400000" scaled="1"/>
                    </a:gradFill>
                  </a:tcPr>
                </a:tc>
              </a:tr>
              <a:tr h="342007">
                <a:tc>
                  <a:txBody>
                    <a:bodyPr/>
                    <a:lstStyle/>
                    <a:p>
                      <a:pPr algn="ctr"/>
                      <a:r>
                        <a:rPr lang="en-US" altLang="zh-CN" sz="1600" b="1" dirty="0">
                          <a:solidFill>
                            <a:srgbClr val="000000"/>
                          </a:solidFill>
                        </a:rPr>
                        <a:t>24,17,18</a:t>
                      </a:r>
                      <a:endParaRPr lang="zh-CN" altLang="en-US" sz="1600" b="1" dirty="0">
                        <a:solidFill>
                          <a:srgbClr val="000000"/>
                        </a:solidFill>
                      </a:endParaRPr>
                    </a:p>
                  </a:txBody>
                  <a:tcPr marL="91415" marR="91415" marT="45721" marB="45721">
                    <a:gradFill>
                      <a:gsLst>
                        <a:gs pos="83000">
                          <a:srgbClr val="FF99FF"/>
                        </a:gs>
                        <a:gs pos="100000">
                          <a:schemeClr val="accent1">
                            <a:lumMod val="30000"/>
                            <a:lumOff val="70000"/>
                          </a:schemeClr>
                        </a:gs>
                      </a:gsLst>
                      <a:lin ang="5400000" scaled="1"/>
                    </a:gradFill>
                  </a:tcPr>
                </a:tc>
              </a:tr>
              <a:tr h="342007">
                <a:tc>
                  <a:txBody>
                    <a:bodyPr/>
                    <a:lstStyle/>
                    <a:p>
                      <a:pPr algn="ctr"/>
                      <a:r>
                        <a:rPr lang="en-US" altLang="zh-CN" sz="1600" b="1" dirty="0">
                          <a:solidFill>
                            <a:srgbClr val="000000"/>
                          </a:solidFill>
                        </a:rPr>
                        <a:t>-----</a:t>
                      </a:r>
                      <a:endParaRPr lang="zh-CN" altLang="en-US" sz="1600" b="1" dirty="0">
                        <a:solidFill>
                          <a:srgbClr val="000000"/>
                        </a:solidFill>
                      </a:endParaRPr>
                    </a:p>
                  </a:txBody>
                  <a:tcPr marL="91415" marR="91415" marT="45721" marB="45721">
                    <a:gradFill>
                      <a:gsLst>
                        <a:gs pos="83000">
                          <a:srgbClr val="FF99FF"/>
                        </a:gs>
                        <a:gs pos="100000">
                          <a:schemeClr val="accent1">
                            <a:lumMod val="30000"/>
                            <a:lumOff val="70000"/>
                          </a:schemeClr>
                        </a:gs>
                      </a:gsLst>
                      <a:lin ang="5400000" scaled="1"/>
                    </a:gradFill>
                  </a:tcPr>
                </a:tc>
              </a:tr>
              <a:tr h="342007">
                <a:tc>
                  <a:txBody>
                    <a:bodyPr/>
                    <a:lstStyle/>
                    <a:p>
                      <a:pPr algn="ctr"/>
                      <a:r>
                        <a:rPr lang="en-US" altLang="zh-CN" sz="1600" b="1" dirty="0">
                          <a:solidFill>
                            <a:srgbClr val="000000"/>
                          </a:solidFill>
                        </a:rPr>
                        <a:t>-----</a:t>
                      </a:r>
                      <a:endParaRPr lang="zh-CN" altLang="en-US" sz="1600" b="1" dirty="0">
                        <a:solidFill>
                          <a:srgbClr val="000000"/>
                        </a:solidFill>
                      </a:endParaRPr>
                    </a:p>
                  </a:txBody>
                  <a:tcPr marL="91415" marR="91415" marT="45721" marB="45721">
                    <a:gradFill>
                      <a:gsLst>
                        <a:gs pos="83000">
                          <a:srgbClr val="FF99FF"/>
                        </a:gs>
                        <a:gs pos="100000">
                          <a:schemeClr val="accent1">
                            <a:lumMod val="30000"/>
                            <a:lumOff val="70000"/>
                          </a:schemeClr>
                        </a:gs>
                      </a:gsLst>
                      <a:lin ang="5400000" scaled="1"/>
                    </a:gradFill>
                  </a:tcPr>
                </a:tc>
              </a:tr>
              <a:tr h="342007">
                <a:tc>
                  <a:txBody>
                    <a:bodyPr/>
                    <a:lstStyle/>
                    <a:p>
                      <a:pPr algn="ctr"/>
                      <a:r>
                        <a:rPr lang="en-US" altLang="zh-CN" sz="1600" b="1" dirty="0">
                          <a:solidFill>
                            <a:srgbClr val="000000"/>
                          </a:solidFill>
                        </a:rPr>
                        <a:t>24,18,17,15</a:t>
                      </a:r>
                      <a:endParaRPr lang="zh-CN" altLang="en-US" sz="1600" b="1" dirty="0">
                        <a:solidFill>
                          <a:srgbClr val="000000"/>
                        </a:solidFill>
                      </a:endParaRPr>
                    </a:p>
                  </a:txBody>
                  <a:tcPr marL="91415" marR="91415" marT="45721" marB="45721">
                    <a:gradFill>
                      <a:gsLst>
                        <a:gs pos="83000">
                          <a:srgbClr val="FF99FF"/>
                        </a:gs>
                        <a:gs pos="100000">
                          <a:schemeClr val="accent1">
                            <a:lumMod val="30000"/>
                            <a:lumOff val="70000"/>
                          </a:schemeClr>
                        </a:gs>
                      </a:gsLst>
                      <a:lin ang="5400000" scaled="1"/>
                    </a:gradFill>
                  </a:tcPr>
                </a:tc>
              </a:tr>
              <a:tr h="342007">
                <a:tc>
                  <a:txBody>
                    <a:bodyPr/>
                    <a:lstStyle/>
                    <a:p>
                      <a:pPr algn="ctr"/>
                      <a:r>
                        <a:rPr lang="en-US" altLang="zh-CN" sz="1600" b="1" dirty="0">
                          <a:solidFill>
                            <a:srgbClr val="000000"/>
                          </a:solidFill>
                        </a:rPr>
                        <a:t>-----</a:t>
                      </a:r>
                      <a:endParaRPr lang="zh-CN" altLang="en-US" sz="1600" b="1" dirty="0">
                        <a:solidFill>
                          <a:srgbClr val="000000"/>
                        </a:solidFill>
                      </a:endParaRPr>
                    </a:p>
                  </a:txBody>
                  <a:tcPr marL="91415" marR="91415" marT="45721" marB="45721">
                    <a:gradFill>
                      <a:gsLst>
                        <a:gs pos="83000">
                          <a:srgbClr val="FF99FF"/>
                        </a:gs>
                        <a:gs pos="100000">
                          <a:schemeClr val="accent1">
                            <a:lumMod val="30000"/>
                            <a:lumOff val="70000"/>
                          </a:schemeClr>
                        </a:gs>
                      </a:gsLst>
                      <a:lin ang="5400000" scaled="1"/>
                    </a:gradFill>
                  </a:tcPr>
                </a:tc>
              </a:tr>
              <a:tr h="342007">
                <a:tc>
                  <a:txBody>
                    <a:bodyPr/>
                    <a:lstStyle/>
                    <a:p>
                      <a:pPr algn="ctr"/>
                      <a:r>
                        <a:rPr lang="en-US" altLang="zh-CN" sz="1600" b="1" dirty="0">
                          <a:solidFill>
                            <a:srgbClr val="000000"/>
                          </a:solidFill>
                        </a:rPr>
                        <a:t>17,15,24</a:t>
                      </a:r>
                      <a:endParaRPr lang="zh-CN" altLang="en-US" sz="1600" b="1" dirty="0">
                        <a:solidFill>
                          <a:srgbClr val="000000"/>
                        </a:solidFill>
                      </a:endParaRPr>
                    </a:p>
                  </a:txBody>
                  <a:tcPr marL="91415" marR="91415" marT="45721" marB="45721">
                    <a:gradFill>
                      <a:gsLst>
                        <a:gs pos="83000">
                          <a:srgbClr val="FF99FF"/>
                        </a:gs>
                        <a:gs pos="100000">
                          <a:schemeClr val="accent1">
                            <a:lumMod val="30000"/>
                            <a:lumOff val="70000"/>
                          </a:schemeClr>
                        </a:gs>
                      </a:gsLst>
                      <a:lin ang="5400000" scaled="1"/>
                    </a:gradFill>
                  </a:tcPr>
                </a:tc>
              </a:tr>
              <a:tr h="342007">
                <a:tc>
                  <a:txBody>
                    <a:bodyPr/>
                    <a:lstStyle/>
                    <a:p>
                      <a:pPr algn="ctr"/>
                      <a:r>
                        <a:rPr lang="en-US" altLang="zh-CN" sz="1600" b="1" dirty="0">
                          <a:solidFill>
                            <a:srgbClr val="000000"/>
                          </a:solidFill>
                        </a:rPr>
                        <a:t>-----</a:t>
                      </a:r>
                      <a:endParaRPr lang="zh-CN" altLang="en-US" sz="1600" b="1" dirty="0">
                        <a:solidFill>
                          <a:srgbClr val="000000"/>
                        </a:solidFill>
                      </a:endParaRPr>
                    </a:p>
                  </a:txBody>
                  <a:tcPr marL="91415" marR="91415" marT="45721" marB="45721">
                    <a:gradFill>
                      <a:gsLst>
                        <a:gs pos="83000">
                          <a:srgbClr val="FF99FF"/>
                        </a:gs>
                        <a:gs pos="100000">
                          <a:schemeClr val="accent1">
                            <a:lumMod val="30000"/>
                            <a:lumOff val="70000"/>
                          </a:schemeClr>
                        </a:gs>
                      </a:gsLst>
                      <a:lin ang="5400000" scaled="1"/>
                    </a:gradFill>
                  </a:tcPr>
                </a:tc>
              </a:tr>
              <a:tr h="342007">
                <a:tc>
                  <a:txBody>
                    <a:bodyPr/>
                    <a:lstStyle/>
                    <a:p>
                      <a:pPr algn="ctr"/>
                      <a:r>
                        <a:rPr lang="en-US" altLang="zh-CN" sz="1600" b="1" dirty="0">
                          <a:solidFill>
                            <a:srgbClr val="000000"/>
                          </a:solidFill>
                        </a:rPr>
                        <a:t>15,24,17,18</a:t>
                      </a:r>
                      <a:endParaRPr lang="zh-CN" altLang="en-US" sz="1600" b="1" dirty="0">
                        <a:solidFill>
                          <a:srgbClr val="000000"/>
                        </a:solidFill>
                      </a:endParaRPr>
                    </a:p>
                  </a:txBody>
                  <a:tcPr marL="91415" marR="91415" marT="45721" marB="45721">
                    <a:gradFill>
                      <a:gsLst>
                        <a:gs pos="83000">
                          <a:srgbClr val="FF99FF"/>
                        </a:gs>
                        <a:gs pos="100000">
                          <a:schemeClr val="accent1">
                            <a:lumMod val="30000"/>
                            <a:lumOff val="70000"/>
                          </a:schemeClr>
                        </a:gs>
                      </a:gsLst>
                      <a:lin ang="5400000" scaled="1"/>
                    </a:gradFill>
                  </a:tcPr>
                </a:tc>
              </a:tr>
            </a:tbl>
          </a:graphicData>
        </a:graphic>
      </p:graphicFrame>
      <p:sp>
        <p:nvSpPr>
          <p:cNvPr id="12" name="内容占位符 2"/>
          <p:cNvSpPr txBox="1"/>
          <p:nvPr/>
        </p:nvSpPr>
        <p:spPr bwMode="auto">
          <a:xfrm>
            <a:off x="647700" y="785813"/>
            <a:ext cx="2087563" cy="374650"/>
          </a:xfrm>
          <a:prstGeom prst="rect">
            <a:avLst/>
          </a:prstGeom>
          <a:solidFill>
            <a:schemeClr val="bg1"/>
          </a:solidFill>
          <a:ln>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rgbClr val="FF0000"/>
                </a:solidFill>
                <a:effectLst/>
                <a:uLnTx/>
                <a:uFillTx/>
                <a:latin typeface="+mn-lt"/>
                <a:ea typeface="+mn-ea"/>
                <a:cs typeface="+mn-cs"/>
              </a:rPr>
              <a:t>引用页面序列</a:t>
            </a:r>
            <a:endParaRPr kumimoji="0" lang="zh-CN" altLang="en-US" sz="2400" b="0" i="0" u="none" strike="noStrike" kern="0" cap="none" spc="0" normalizeH="0" baseline="0" noProof="0" dirty="0">
              <a:ln>
                <a:noFill/>
              </a:ln>
              <a:solidFill>
                <a:srgbClr val="FF0000"/>
              </a:solidFill>
              <a:effectLst/>
              <a:uLnTx/>
              <a:uFillTx/>
              <a:latin typeface="+mn-lt"/>
              <a:ea typeface="+mn-ea"/>
              <a:cs typeface="+mn-cs"/>
            </a:endParaRPr>
          </a:p>
        </p:txBody>
      </p:sp>
      <p:sp>
        <p:nvSpPr>
          <p:cNvPr id="14" name="内容占位符 2"/>
          <p:cNvSpPr txBox="1"/>
          <p:nvPr/>
        </p:nvSpPr>
        <p:spPr bwMode="auto">
          <a:xfrm>
            <a:off x="3095625" y="492125"/>
            <a:ext cx="5221288" cy="460375"/>
          </a:xfrm>
          <a:prstGeom prst="rect">
            <a:avLst/>
          </a:prstGeom>
          <a:noFill/>
          <a:ln>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a:lstStyle>
          <a:p>
            <a:pPr marL="0" marR="0" lvl="0" indent="0" algn="ctr" defTabSz="914400" rtl="0" eaLnBrk="0" fontAlgn="base" latinLnBrk="0" hangingPunct="0">
              <a:lnSpc>
                <a:spcPct val="100000"/>
              </a:lnSpc>
              <a:spcBef>
                <a:spcPts val="0"/>
              </a:spcBef>
              <a:spcAft>
                <a:spcPct val="0"/>
              </a:spcAft>
              <a:buClr>
                <a:schemeClr val="hlink"/>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rgbClr val="FF0000"/>
                </a:solidFill>
                <a:effectLst/>
                <a:uLnTx/>
                <a:uFillTx/>
                <a:latin typeface="+mn-lt"/>
                <a:ea typeface="+mn-ea"/>
                <a:cs typeface="+mn-cs"/>
              </a:rPr>
              <a:t>窗口大小</a:t>
            </a:r>
            <a:endParaRPr kumimoji="0" lang="en-US" altLang="zh-CN" sz="2400" b="0" i="0" u="none" strike="noStrike" kern="0" cap="none" spc="0" normalizeH="0" baseline="0" noProof="0" dirty="0">
              <a:ln>
                <a:noFill/>
              </a:ln>
              <a:solidFill>
                <a:srgbClr val="FF0000"/>
              </a:solidFill>
              <a:effectLst/>
              <a:uLnTx/>
              <a:uFillTx/>
              <a:latin typeface="+mn-lt"/>
              <a:ea typeface="+mn-ea"/>
              <a:cs typeface="+mn-cs"/>
            </a:endParaRPr>
          </a:p>
          <a:p>
            <a:pPr marL="0" marR="0" lvl="0" indent="0" algn="ctr" defTabSz="914400" rtl="0" eaLnBrk="0" fontAlgn="base" latinLnBrk="0" hangingPunct="0">
              <a:lnSpc>
                <a:spcPct val="100000"/>
              </a:lnSpc>
              <a:spcBef>
                <a:spcPts val="0"/>
              </a:spcBef>
              <a:spcAft>
                <a:spcPct val="0"/>
              </a:spcAft>
              <a:buClr>
                <a:schemeClr val="hlink"/>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rgbClr val="FF0000"/>
                </a:solidFill>
                <a:effectLst/>
                <a:uLnTx/>
                <a:uFillTx/>
                <a:latin typeface="+mn-lt"/>
                <a:ea typeface="+mn-ea"/>
                <a:cs typeface="+mn-cs"/>
              </a:rPr>
              <a:t>3                     4                          5</a:t>
            </a:r>
            <a:endParaRPr kumimoji="0" lang="zh-CN" altLang="en-US" sz="2400" b="0" i="0" u="none" strike="noStrike" kern="0" cap="none" spc="0" normalizeH="0" baseline="0" noProof="0" dirty="0">
              <a:ln>
                <a:noFill/>
              </a:ln>
              <a:solidFill>
                <a:srgbClr val="FF0000"/>
              </a:solidFill>
              <a:effectLst/>
              <a:uLnTx/>
              <a:uFillTx/>
              <a:latin typeface="+mn-lt"/>
              <a:ea typeface="+mn-ea"/>
              <a:cs typeface="+mn-cs"/>
            </a:endParaRPr>
          </a:p>
        </p:txBody>
      </p:sp>
    </p:spTree>
  </p:cSld>
  <p:clrMapOvr>
    <a:masterClrMapping/>
  </p:clrMapOvr>
  <p:transition>
    <p:blinds/>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文本框 4"/>
          <p:cNvSpPr txBox="1">
            <a:spLocks noChangeArrowheads="1"/>
          </p:cNvSpPr>
          <p:nvPr/>
        </p:nvSpPr>
        <p:spPr bwMode="auto">
          <a:xfrm>
            <a:off x="304800" y="441325"/>
            <a:ext cx="8532813" cy="5375275"/>
          </a:xfrm>
          <a:prstGeom prst="rect">
            <a:avLst/>
          </a:prstGeom>
          <a:noFill/>
          <a:ln>
            <a:noFill/>
          </a:ln>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     工作集模型的原理：</a:t>
            </a:r>
            <a:endParaRPr kumimoji="0" lang="en-US" altLang="zh-CN" sz="24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0" fontAlgn="base" latinLnBrk="0" hangingPunct="0">
              <a:lnSpc>
                <a:spcPct val="150000"/>
              </a:lnSpc>
              <a:spcBef>
                <a:spcPct val="0"/>
              </a:spcBef>
              <a:spcAft>
                <a:spcPct val="0"/>
              </a:spcAft>
              <a:buClr>
                <a:srgbClr val="C00000"/>
              </a:buClr>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让操作系统跟踪每个进程的工作集，并为进程分配大于其工作集的物理块。落在工作集内的页面需要调入驻留集中，而落在工作集外的页面可以从驻留集中换出。</a:t>
            </a:r>
            <a:endParaRPr kumimoji="0" lang="en-US" altLang="zh-CN"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0" fontAlgn="base" latinLnBrk="0" hangingPunct="0">
              <a:lnSpc>
                <a:spcPct val="150000"/>
              </a:lnSpc>
              <a:spcBef>
                <a:spcPct val="0"/>
              </a:spcBef>
              <a:spcAft>
                <a:spcPct val="0"/>
              </a:spcAft>
              <a:buClr>
                <a:srgbClr val="C00000"/>
              </a:buClr>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若还有空闲物理块，则可以再调一个进程到内存以增加多道程序数。</a:t>
            </a:r>
            <a:endParaRPr kumimoji="0" lang="en-US" altLang="zh-CN"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0" fontAlgn="base" latinLnBrk="0" hangingPunct="0">
              <a:lnSpc>
                <a:spcPct val="150000"/>
              </a:lnSpc>
              <a:spcBef>
                <a:spcPct val="0"/>
              </a:spcBef>
              <a:spcAft>
                <a:spcPct val="0"/>
              </a:spcAft>
              <a:buClr>
                <a:srgbClr val="C00000"/>
              </a:buClr>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若所有进程的工作集之和超过了可用物理块的总数，操作系统会暂停一个进程，将其页面调出并将其物理块分配给其他进程， 防止出现抖动现象。</a:t>
            </a:r>
            <a:endParaRPr kumimoji="0" lang="zh-CN" altLang="en-US" sz="24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blinds/>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Text Box 2"/>
          <p:cNvSpPr txBox="1"/>
          <p:nvPr/>
        </p:nvSpPr>
        <p:spPr>
          <a:xfrm>
            <a:off x="1871663" y="1520825"/>
            <a:ext cx="4975225" cy="5794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b="1" dirty="0">
                <a:latin typeface="Times New Roman" panose="02020603050405020304" pitchFamily="18" charset="0"/>
              </a:rPr>
              <a:t>5.5 </a:t>
            </a:r>
            <a:r>
              <a:rPr lang="zh-CN" altLang="en-US" b="1" dirty="0">
                <a:latin typeface="Times New Roman" panose="02020603050405020304" pitchFamily="18" charset="0"/>
              </a:rPr>
              <a:t>请求分段存储管理方式 </a:t>
            </a:r>
            <a:endParaRPr lang="zh-CN" altLang="en-US" b="1" dirty="0">
              <a:latin typeface="Times New Roman" panose="02020603050405020304" pitchFamily="18" charset="0"/>
            </a:endParaRPr>
          </a:p>
        </p:txBody>
      </p:sp>
      <p:sp>
        <p:nvSpPr>
          <p:cNvPr id="78851" name="Rectangle 27"/>
          <p:cNvSpPr/>
          <p:nvPr/>
        </p:nvSpPr>
        <p:spPr>
          <a:xfrm>
            <a:off x="250825" y="2852738"/>
            <a:ext cx="8389938" cy="2232025"/>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342900" lvl="0" indent="-342900" eaLnBrk="1" hangingPunct="1">
              <a:lnSpc>
                <a:spcPct val="125000"/>
              </a:lnSpc>
              <a:spcBef>
                <a:spcPct val="0"/>
              </a:spcBef>
              <a:buNone/>
            </a:pPr>
            <a:r>
              <a:rPr lang="en-US" altLang="zh-CN" dirty="0">
                <a:latin typeface="宋体" panose="02010600030101010101" pitchFamily="2" charset="-122"/>
              </a:rPr>
              <a:t>		</a:t>
            </a:r>
            <a:r>
              <a:rPr lang="zh-CN" altLang="en-US" sz="2400" b="1" dirty="0">
                <a:solidFill>
                  <a:srgbClr val="000000"/>
                </a:solidFill>
                <a:latin typeface="宋体" panose="02010600030101010101" pitchFamily="2" charset="-122"/>
              </a:rPr>
              <a:t>虚拟段式分配又称为请求分段，在程序装入时，只需调入几个分段而不是所有的分段。随着程序的运行，如果需要访问的段不在内存，请求操作系统把需要的段调入内存。</a:t>
            </a:r>
            <a:r>
              <a:rPr lang="zh-CN" altLang="en-US" dirty="0"/>
              <a:t> </a:t>
            </a:r>
            <a:endParaRPr lang="zh-CN" altLang="en-US" dirty="0"/>
          </a:p>
        </p:txBody>
      </p:sp>
    </p:spTree>
  </p:cSld>
  <p:clrMapOvr>
    <a:masterClrMapping/>
  </p:clrMapOvr>
  <p:transition>
    <p:zoom/>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4" name="Text Box 3"/>
          <p:cNvSpPr txBox="1"/>
          <p:nvPr/>
        </p:nvSpPr>
        <p:spPr>
          <a:xfrm>
            <a:off x="468313" y="476250"/>
            <a:ext cx="4645025"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latin typeface="Times New Roman" panose="02020603050405020304" pitchFamily="18" charset="0"/>
              </a:rPr>
              <a:t>5.5.1 </a:t>
            </a:r>
            <a:r>
              <a:rPr lang="zh-CN" altLang="en-US" sz="2800" b="1" dirty="0">
                <a:latin typeface="Times New Roman" panose="02020603050405020304" pitchFamily="18" charset="0"/>
              </a:rPr>
              <a:t>请求分段中的硬件支持 </a:t>
            </a:r>
            <a:endParaRPr lang="zh-CN" altLang="en-US" sz="2800" b="1" dirty="0">
              <a:latin typeface="Times New Roman" panose="02020603050405020304" pitchFamily="18" charset="0"/>
            </a:endParaRPr>
          </a:p>
        </p:txBody>
      </p:sp>
      <p:sp>
        <p:nvSpPr>
          <p:cNvPr id="79875" name="Text Box 4"/>
          <p:cNvSpPr txBox="1"/>
          <p:nvPr/>
        </p:nvSpPr>
        <p:spPr>
          <a:xfrm>
            <a:off x="612775" y="1268413"/>
            <a:ext cx="17145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1. </a:t>
            </a:r>
            <a:r>
              <a:rPr lang="zh-CN" altLang="en-US" sz="2400" b="1" dirty="0">
                <a:latin typeface="Times New Roman" panose="02020603050405020304" pitchFamily="18" charset="0"/>
              </a:rPr>
              <a:t>段表机制</a:t>
            </a:r>
            <a:endParaRPr lang="zh-CN" altLang="en-US" sz="2400" b="1" dirty="0">
              <a:latin typeface="Times New Roman" panose="02020603050405020304" pitchFamily="18" charset="0"/>
            </a:endParaRPr>
          </a:p>
        </p:txBody>
      </p:sp>
      <p:graphicFrame>
        <p:nvGraphicFramePr>
          <p:cNvPr id="467973" name="Group 5"/>
          <p:cNvGraphicFramePr>
            <a:graphicFrameLocks noGrp="1"/>
          </p:cNvGraphicFramePr>
          <p:nvPr/>
        </p:nvGraphicFramePr>
        <p:xfrm>
          <a:off x="323850" y="2024063"/>
          <a:ext cx="8458200" cy="701675"/>
        </p:xfrm>
        <a:graphic>
          <a:graphicData uri="http://schemas.openxmlformats.org/drawingml/2006/table">
            <a:tbl>
              <a:tblPr/>
              <a:tblGrid>
                <a:gridCol w="939800"/>
                <a:gridCol w="939800"/>
                <a:gridCol w="939800"/>
                <a:gridCol w="939800"/>
                <a:gridCol w="939800"/>
                <a:gridCol w="939800"/>
                <a:gridCol w="939800"/>
                <a:gridCol w="939800"/>
                <a:gridCol w="939800"/>
              </a:tblGrid>
              <a:tr h="701675">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段名 </a:t>
                      </a: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61" marB="4576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段长 </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段的基址 </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存取方式 </a:t>
                      </a: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访问字段</a:t>
                      </a: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 </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修改位</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M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存在位</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P </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增补位 </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外存始址 </a:t>
                      </a: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61" marB="4576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67995" name="Rectangle 27"/>
          <p:cNvSpPr/>
          <p:nvPr/>
        </p:nvSpPr>
        <p:spPr>
          <a:xfrm>
            <a:off x="358775" y="3249613"/>
            <a:ext cx="8280400" cy="792162"/>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CC3300"/>
                </a:solidFill>
              </a:rPr>
              <a:t>(1) </a:t>
            </a:r>
            <a:r>
              <a:rPr lang="zh-CN" altLang="en-US" sz="2400" b="1" dirty="0">
                <a:solidFill>
                  <a:srgbClr val="CC3300"/>
                </a:solidFill>
              </a:rPr>
              <a:t>存取方式：表明本段是只执行、只读，还是允许读</a:t>
            </a:r>
            <a:r>
              <a:rPr lang="en-US" altLang="zh-CN" sz="2400" b="1" dirty="0">
                <a:solidFill>
                  <a:srgbClr val="CC3300"/>
                </a:solidFill>
              </a:rPr>
              <a:t>/</a:t>
            </a:r>
            <a:r>
              <a:rPr lang="zh-CN" altLang="en-US" sz="2400" b="1" dirty="0">
                <a:solidFill>
                  <a:srgbClr val="CC3300"/>
                </a:solidFill>
              </a:rPr>
              <a:t>写。</a:t>
            </a:r>
            <a:endParaRPr lang="zh-CN" altLang="en-US" sz="2400" b="1" dirty="0">
              <a:solidFill>
                <a:srgbClr val="CC3300"/>
              </a:solidFill>
            </a:endParaRPr>
          </a:p>
        </p:txBody>
      </p:sp>
      <p:sp>
        <p:nvSpPr>
          <p:cNvPr id="467997" name="Rectangle 29"/>
          <p:cNvSpPr/>
          <p:nvPr/>
        </p:nvSpPr>
        <p:spPr>
          <a:xfrm>
            <a:off x="358775" y="3429000"/>
            <a:ext cx="8280400" cy="792163"/>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dirty="0">
                <a:solidFill>
                  <a:schemeClr val="hlink"/>
                </a:solidFill>
              </a:rPr>
              <a:t>(2) </a:t>
            </a:r>
            <a:r>
              <a:rPr lang="zh-CN" altLang="en-US" sz="2400" dirty="0">
                <a:solidFill>
                  <a:schemeClr val="hlink"/>
                </a:solidFill>
              </a:rPr>
              <a:t>访问字段</a:t>
            </a:r>
            <a:r>
              <a:rPr lang="en-US" altLang="zh-CN" sz="2400" dirty="0">
                <a:solidFill>
                  <a:schemeClr val="hlink"/>
                </a:solidFill>
              </a:rPr>
              <a:t>A</a:t>
            </a:r>
            <a:r>
              <a:rPr lang="en-US" altLang="zh-CN" sz="2400" b="1" dirty="0">
                <a:solidFill>
                  <a:schemeClr val="hlink"/>
                </a:solidFill>
              </a:rPr>
              <a:t> </a:t>
            </a:r>
            <a:r>
              <a:rPr lang="zh-CN" altLang="en-US" sz="2400" b="1" dirty="0">
                <a:solidFill>
                  <a:schemeClr val="hlink"/>
                </a:solidFill>
              </a:rPr>
              <a:t>：用于记录该段被访问的频繁程度。</a:t>
            </a:r>
            <a:endParaRPr lang="zh-CN" altLang="en-US" sz="2400" b="1" dirty="0">
              <a:solidFill>
                <a:schemeClr val="hlink"/>
              </a:solidFill>
            </a:endParaRPr>
          </a:p>
        </p:txBody>
      </p:sp>
      <p:sp>
        <p:nvSpPr>
          <p:cNvPr id="467999" name="Rectangle 31"/>
          <p:cNvSpPr/>
          <p:nvPr/>
        </p:nvSpPr>
        <p:spPr>
          <a:xfrm>
            <a:off x="358775" y="3608388"/>
            <a:ext cx="8280400" cy="792162"/>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dirty="0">
                <a:solidFill>
                  <a:srgbClr val="CC3300"/>
                </a:solidFill>
              </a:rPr>
              <a:t>(3) </a:t>
            </a:r>
            <a:r>
              <a:rPr lang="zh-CN" altLang="en-US" sz="2400" dirty="0">
                <a:solidFill>
                  <a:srgbClr val="CC3300"/>
                </a:solidFill>
              </a:rPr>
              <a:t>修改位</a:t>
            </a:r>
            <a:r>
              <a:rPr lang="en-US" altLang="zh-CN" sz="2400" dirty="0">
                <a:solidFill>
                  <a:srgbClr val="CC3300"/>
                </a:solidFill>
              </a:rPr>
              <a:t>M</a:t>
            </a:r>
            <a:r>
              <a:rPr lang="zh-CN" altLang="en-US" sz="2400" b="1" dirty="0">
                <a:solidFill>
                  <a:schemeClr val="hlink"/>
                </a:solidFill>
              </a:rPr>
              <a:t>：用于记录该段在进入内存后是否被修改过。</a:t>
            </a:r>
            <a:endParaRPr lang="zh-CN" altLang="en-US" sz="2400" b="1" dirty="0">
              <a:solidFill>
                <a:schemeClr val="hlink"/>
              </a:solidFill>
            </a:endParaRPr>
          </a:p>
        </p:txBody>
      </p:sp>
      <p:sp>
        <p:nvSpPr>
          <p:cNvPr id="468000" name="Rectangle 32"/>
          <p:cNvSpPr/>
          <p:nvPr/>
        </p:nvSpPr>
        <p:spPr>
          <a:xfrm>
            <a:off x="358775" y="3716338"/>
            <a:ext cx="8280400" cy="792162"/>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dirty="0">
                <a:solidFill>
                  <a:srgbClr val="CC3300"/>
                </a:solidFill>
              </a:rPr>
              <a:t>(4) </a:t>
            </a:r>
            <a:r>
              <a:rPr lang="zh-CN" altLang="en-US" sz="2400" dirty="0">
                <a:solidFill>
                  <a:srgbClr val="CC3300"/>
                </a:solidFill>
              </a:rPr>
              <a:t>存在位</a:t>
            </a:r>
            <a:r>
              <a:rPr lang="en-US" altLang="zh-CN" sz="2400" dirty="0">
                <a:solidFill>
                  <a:srgbClr val="CC3300"/>
                </a:solidFill>
              </a:rPr>
              <a:t>P</a:t>
            </a:r>
            <a:r>
              <a:rPr lang="en-US" altLang="zh-CN" sz="2800" b="1" dirty="0"/>
              <a:t> </a:t>
            </a:r>
            <a:r>
              <a:rPr lang="zh-CN" altLang="en-US" sz="2400" b="1" dirty="0">
                <a:solidFill>
                  <a:schemeClr val="hlink"/>
                </a:solidFill>
              </a:rPr>
              <a:t>：记录该段是否已调入内存。</a:t>
            </a:r>
            <a:endParaRPr lang="zh-CN" altLang="en-US" sz="2400" b="1" dirty="0">
              <a:solidFill>
                <a:schemeClr val="hlink"/>
              </a:solidFill>
            </a:endParaRPr>
          </a:p>
        </p:txBody>
      </p:sp>
      <p:sp>
        <p:nvSpPr>
          <p:cNvPr id="468001" name="Rectangle 33"/>
          <p:cNvSpPr/>
          <p:nvPr/>
        </p:nvSpPr>
        <p:spPr>
          <a:xfrm>
            <a:off x="395288" y="3897313"/>
            <a:ext cx="8280400" cy="792162"/>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dirty="0">
                <a:solidFill>
                  <a:srgbClr val="CC3300"/>
                </a:solidFill>
              </a:rPr>
              <a:t>(5) </a:t>
            </a:r>
            <a:r>
              <a:rPr lang="zh-CN" altLang="en-US" sz="2400" dirty="0">
                <a:solidFill>
                  <a:srgbClr val="CC3300"/>
                </a:solidFill>
              </a:rPr>
              <a:t>增补位</a:t>
            </a:r>
            <a:r>
              <a:rPr lang="zh-CN" altLang="en-US" sz="2400" b="1" dirty="0">
                <a:solidFill>
                  <a:schemeClr val="hlink"/>
                </a:solidFill>
              </a:rPr>
              <a:t>：表明本段在运行过程中，是否做过动态增长。</a:t>
            </a:r>
            <a:endParaRPr lang="zh-CN" altLang="en-US" sz="2400" b="1" dirty="0">
              <a:solidFill>
                <a:schemeClr val="hlink"/>
              </a:solidFill>
            </a:endParaRPr>
          </a:p>
        </p:txBody>
      </p:sp>
      <p:sp>
        <p:nvSpPr>
          <p:cNvPr id="468003" name="Rectangle 35"/>
          <p:cNvSpPr/>
          <p:nvPr/>
        </p:nvSpPr>
        <p:spPr>
          <a:xfrm>
            <a:off x="395288" y="4076700"/>
            <a:ext cx="8280400" cy="792163"/>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solidFill>
                  <a:srgbClr val="CC3300"/>
                </a:solidFill>
              </a:rPr>
              <a:t>(6) </a:t>
            </a:r>
            <a:r>
              <a:rPr lang="zh-CN" altLang="en-US" sz="2400" b="1" dirty="0">
                <a:solidFill>
                  <a:srgbClr val="CC3300"/>
                </a:solidFill>
              </a:rPr>
              <a:t>外存始址</a:t>
            </a:r>
            <a:r>
              <a:rPr lang="zh-CN" altLang="en-US" sz="2400" b="1" dirty="0">
                <a:solidFill>
                  <a:schemeClr val="hlink"/>
                </a:solidFill>
              </a:rPr>
              <a:t>：表明本段在外存中的起始盘号。</a:t>
            </a:r>
            <a:endParaRPr lang="zh-CN" altLang="en-US" sz="2400" b="1" dirty="0">
              <a:solidFill>
                <a:schemeClr val="hlink"/>
              </a:solidFill>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7995"/>
                                        </p:tgtEl>
                                        <p:attrNameLst>
                                          <p:attrName>style.visibility</p:attrName>
                                        </p:attrNameLst>
                                      </p:cBhvr>
                                      <p:to>
                                        <p:strVal val="visible"/>
                                      </p:to>
                                    </p:set>
                                    <p:anim calcmode="lin" valueType="num">
                                      <p:cBhvr additive="base">
                                        <p:cTn id="7" dur="500" fill="hold"/>
                                        <p:tgtEl>
                                          <p:spTgt spid="467995"/>
                                        </p:tgtEl>
                                        <p:attrNameLst>
                                          <p:attrName>ppt_x</p:attrName>
                                        </p:attrNameLst>
                                      </p:cBhvr>
                                      <p:tavLst>
                                        <p:tav tm="0">
                                          <p:val>
                                            <p:strVal val="#ppt_x"/>
                                          </p:val>
                                        </p:tav>
                                        <p:tav tm="100000">
                                          <p:val>
                                            <p:strVal val="#ppt_x"/>
                                          </p:val>
                                        </p:tav>
                                      </p:tavLst>
                                    </p:anim>
                                    <p:anim calcmode="lin" valueType="num">
                                      <p:cBhvr additive="base">
                                        <p:cTn id="8" dur="500" fill="hold"/>
                                        <p:tgtEl>
                                          <p:spTgt spid="467995"/>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67995"/>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67997"/>
                                        </p:tgtEl>
                                        <p:attrNameLst>
                                          <p:attrName>style.visibility</p:attrName>
                                        </p:attrNameLst>
                                      </p:cBhvr>
                                      <p:to>
                                        <p:strVal val="visible"/>
                                      </p:to>
                                    </p:set>
                                    <p:anim calcmode="lin" valueType="num">
                                      <p:cBhvr additive="base">
                                        <p:cTn id="13" dur="500" fill="hold"/>
                                        <p:tgtEl>
                                          <p:spTgt spid="467997"/>
                                        </p:tgtEl>
                                        <p:attrNameLst>
                                          <p:attrName>ppt_x</p:attrName>
                                        </p:attrNameLst>
                                      </p:cBhvr>
                                      <p:tavLst>
                                        <p:tav tm="0">
                                          <p:val>
                                            <p:strVal val="#ppt_x"/>
                                          </p:val>
                                        </p:tav>
                                        <p:tav tm="100000">
                                          <p:val>
                                            <p:strVal val="#ppt_x"/>
                                          </p:val>
                                        </p:tav>
                                      </p:tavLst>
                                    </p:anim>
                                    <p:anim calcmode="lin" valueType="num">
                                      <p:cBhvr additive="base">
                                        <p:cTn id="14" dur="500" fill="hold"/>
                                        <p:tgtEl>
                                          <p:spTgt spid="467997"/>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67997"/>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67999"/>
                                        </p:tgtEl>
                                        <p:attrNameLst>
                                          <p:attrName>style.visibility</p:attrName>
                                        </p:attrNameLst>
                                      </p:cBhvr>
                                      <p:to>
                                        <p:strVal val="visible"/>
                                      </p:to>
                                    </p:set>
                                    <p:anim calcmode="lin" valueType="num">
                                      <p:cBhvr additive="base">
                                        <p:cTn id="19" dur="500" fill="hold"/>
                                        <p:tgtEl>
                                          <p:spTgt spid="467999"/>
                                        </p:tgtEl>
                                        <p:attrNameLst>
                                          <p:attrName>ppt_x</p:attrName>
                                        </p:attrNameLst>
                                      </p:cBhvr>
                                      <p:tavLst>
                                        <p:tav tm="0">
                                          <p:val>
                                            <p:strVal val="#ppt_x"/>
                                          </p:val>
                                        </p:tav>
                                        <p:tav tm="100000">
                                          <p:val>
                                            <p:strVal val="#ppt_x"/>
                                          </p:val>
                                        </p:tav>
                                      </p:tavLst>
                                    </p:anim>
                                    <p:anim calcmode="lin" valueType="num">
                                      <p:cBhvr additive="base">
                                        <p:cTn id="20" dur="500" fill="hold"/>
                                        <p:tgtEl>
                                          <p:spTgt spid="467999"/>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67999"/>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68000"/>
                                        </p:tgtEl>
                                        <p:attrNameLst>
                                          <p:attrName>style.visibility</p:attrName>
                                        </p:attrNameLst>
                                      </p:cBhvr>
                                      <p:to>
                                        <p:strVal val="visible"/>
                                      </p:to>
                                    </p:set>
                                    <p:anim calcmode="lin" valueType="num">
                                      <p:cBhvr additive="base">
                                        <p:cTn id="25" dur="500" fill="hold"/>
                                        <p:tgtEl>
                                          <p:spTgt spid="468000"/>
                                        </p:tgtEl>
                                        <p:attrNameLst>
                                          <p:attrName>ppt_x</p:attrName>
                                        </p:attrNameLst>
                                      </p:cBhvr>
                                      <p:tavLst>
                                        <p:tav tm="0">
                                          <p:val>
                                            <p:strVal val="#ppt_x"/>
                                          </p:val>
                                        </p:tav>
                                        <p:tav tm="100000">
                                          <p:val>
                                            <p:strVal val="#ppt_x"/>
                                          </p:val>
                                        </p:tav>
                                      </p:tavLst>
                                    </p:anim>
                                    <p:anim calcmode="lin" valueType="num">
                                      <p:cBhvr additive="base">
                                        <p:cTn id="26" dur="500" fill="hold"/>
                                        <p:tgtEl>
                                          <p:spTgt spid="468000"/>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68000"/>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68001"/>
                                        </p:tgtEl>
                                        <p:attrNameLst>
                                          <p:attrName>style.visibility</p:attrName>
                                        </p:attrNameLst>
                                      </p:cBhvr>
                                      <p:to>
                                        <p:strVal val="visible"/>
                                      </p:to>
                                    </p:set>
                                    <p:anim calcmode="lin" valueType="num">
                                      <p:cBhvr additive="base">
                                        <p:cTn id="31" dur="500" fill="hold"/>
                                        <p:tgtEl>
                                          <p:spTgt spid="468001"/>
                                        </p:tgtEl>
                                        <p:attrNameLst>
                                          <p:attrName>ppt_x</p:attrName>
                                        </p:attrNameLst>
                                      </p:cBhvr>
                                      <p:tavLst>
                                        <p:tav tm="0">
                                          <p:val>
                                            <p:strVal val="#ppt_x"/>
                                          </p:val>
                                        </p:tav>
                                        <p:tav tm="100000">
                                          <p:val>
                                            <p:strVal val="#ppt_x"/>
                                          </p:val>
                                        </p:tav>
                                      </p:tavLst>
                                    </p:anim>
                                    <p:anim calcmode="lin" valueType="num">
                                      <p:cBhvr additive="base">
                                        <p:cTn id="32" dur="500" fill="hold"/>
                                        <p:tgtEl>
                                          <p:spTgt spid="468001"/>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68001"/>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68003"/>
                                        </p:tgtEl>
                                        <p:attrNameLst>
                                          <p:attrName>style.visibility</p:attrName>
                                        </p:attrNameLst>
                                      </p:cBhvr>
                                      <p:to>
                                        <p:strVal val="visible"/>
                                      </p:to>
                                    </p:set>
                                    <p:anim calcmode="lin" valueType="num">
                                      <p:cBhvr additive="base">
                                        <p:cTn id="37" dur="500" fill="hold"/>
                                        <p:tgtEl>
                                          <p:spTgt spid="468003"/>
                                        </p:tgtEl>
                                        <p:attrNameLst>
                                          <p:attrName>ppt_x</p:attrName>
                                        </p:attrNameLst>
                                      </p:cBhvr>
                                      <p:tavLst>
                                        <p:tav tm="0">
                                          <p:val>
                                            <p:strVal val="#ppt_x"/>
                                          </p:val>
                                        </p:tav>
                                        <p:tav tm="100000">
                                          <p:val>
                                            <p:strVal val="#ppt_x"/>
                                          </p:val>
                                        </p:tav>
                                      </p:tavLst>
                                    </p:anim>
                                    <p:anim calcmode="lin" valueType="num">
                                      <p:cBhvr additive="base">
                                        <p:cTn id="38" dur="500" fill="hold"/>
                                        <p:tgtEl>
                                          <p:spTgt spid="468003"/>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6800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995" grpId="0" animBg="1"/>
      <p:bldP spid="467997" grpId="0" animBg="1"/>
      <p:bldP spid="467999" grpId="0" animBg="1"/>
      <p:bldP spid="468000" grpId="0" animBg="1"/>
      <p:bldP spid="468001" grpId="0" animBg="1"/>
      <p:bldP spid="468003"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898" name="Text Box 2"/>
          <p:cNvSpPr txBox="1"/>
          <p:nvPr/>
        </p:nvSpPr>
        <p:spPr>
          <a:xfrm>
            <a:off x="990600" y="457200"/>
            <a:ext cx="240665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2. </a:t>
            </a:r>
            <a:r>
              <a:rPr lang="zh-CN" altLang="en-US" sz="2400" b="1" dirty="0">
                <a:latin typeface="Times New Roman" panose="02020603050405020304" pitchFamily="18" charset="0"/>
              </a:rPr>
              <a:t>缺段中断机构 </a:t>
            </a:r>
            <a:endParaRPr lang="zh-CN" altLang="en-US" sz="2400" b="1" dirty="0">
              <a:latin typeface="Times New Roman" panose="02020603050405020304" pitchFamily="18" charset="0"/>
            </a:endParaRPr>
          </a:p>
        </p:txBody>
      </p:sp>
      <p:graphicFrame>
        <p:nvGraphicFramePr>
          <p:cNvPr id="80899" name="Object 3"/>
          <p:cNvGraphicFramePr>
            <a:graphicFrameLocks noChangeAspect="1"/>
          </p:cNvGraphicFramePr>
          <p:nvPr/>
        </p:nvGraphicFramePr>
        <p:xfrm>
          <a:off x="1042988" y="908050"/>
          <a:ext cx="6719887" cy="4694238"/>
        </p:xfrm>
        <a:graphic>
          <a:graphicData uri="http://schemas.openxmlformats.org/presentationml/2006/ole">
            <mc:AlternateContent xmlns:mc="http://schemas.openxmlformats.org/markup-compatibility/2006">
              <mc:Choice xmlns:v="urn:schemas-microsoft-com:vml" Requires="v">
                <p:oleObj spid="_x0000_s2" name="" r:id="rId1" imgW="3878580" imgH="2712720" progId="Visio.Drawing.4">
                  <p:embed/>
                </p:oleObj>
              </mc:Choice>
              <mc:Fallback>
                <p:oleObj name="" r:id="rId1" imgW="3878580" imgH="2712720" progId="Visio.Drawing.4">
                  <p:embed/>
                  <p:pic>
                    <p:nvPicPr>
                      <p:cNvPr id="0" name="图片 3085"/>
                      <p:cNvPicPr/>
                      <p:nvPr/>
                    </p:nvPicPr>
                    <p:blipFill>
                      <a:blip r:embed="rId2"/>
                      <a:stretch>
                        <a:fillRect/>
                      </a:stretch>
                    </p:blipFill>
                    <p:spPr>
                      <a:xfrm>
                        <a:off x="1042988" y="908050"/>
                        <a:ext cx="6719887" cy="4694238"/>
                      </a:xfrm>
                      <a:prstGeom prst="rect">
                        <a:avLst/>
                      </a:prstGeom>
                      <a:noFill/>
                      <a:ln w="38100">
                        <a:noFill/>
                        <a:miter/>
                      </a:ln>
                    </p:spPr>
                  </p:pic>
                </p:oleObj>
              </mc:Fallback>
            </mc:AlternateContent>
          </a:graphicData>
        </a:graphic>
      </p:graphicFrame>
      <p:sp>
        <p:nvSpPr>
          <p:cNvPr id="80900" name="Rectangle 4"/>
          <p:cNvSpPr/>
          <p:nvPr/>
        </p:nvSpPr>
        <p:spPr>
          <a:xfrm>
            <a:off x="2411413" y="5661025"/>
            <a:ext cx="5360987"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latin typeface="Times New Roman" panose="02020603050405020304" pitchFamily="18" charset="0"/>
              </a:rPr>
              <a:t>请求分段系统中的中断处理过程</a:t>
            </a:r>
            <a:endParaRPr lang="zh-CN" altLang="en-US" sz="2400" b="1" dirty="0">
              <a:latin typeface="Times New Roman" panose="02020603050405020304" pitchFamily="18" charset="0"/>
            </a:endParaRPr>
          </a:p>
        </p:txBody>
      </p:sp>
    </p:spTree>
  </p:cSld>
  <p:clrMapOvr>
    <a:masterClrMapping/>
  </p:clrMapOvr>
  <p:transition>
    <p:zoom/>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22" name="Text Box 2"/>
          <p:cNvSpPr txBox="1"/>
          <p:nvPr/>
        </p:nvSpPr>
        <p:spPr>
          <a:xfrm>
            <a:off x="1143000" y="838200"/>
            <a:ext cx="24130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3. </a:t>
            </a:r>
            <a:r>
              <a:rPr lang="zh-CN" altLang="en-US" sz="2400" b="1" dirty="0">
                <a:latin typeface="Times New Roman" panose="02020603050405020304" pitchFamily="18" charset="0"/>
              </a:rPr>
              <a:t>地址变换机构 </a:t>
            </a:r>
            <a:endParaRPr lang="zh-CN" altLang="en-US" sz="2400" b="1" dirty="0">
              <a:latin typeface="Times New Roman" panose="02020603050405020304" pitchFamily="18" charset="0"/>
            </a:endParaRPr>
          </a:p>
        </p:txBody>
      </p:sp>
      <p:graphicFrame>
        <p:nvGraphicFramePr>
          <p:cNvPr id="81923" name="Object 3"/>
          <p:cNvGraphicFramePr>
            <a:graphicFrameLocks noChangeAspect="1"/>
          </p:cNvGraphicFramePr>
          <p:nvPr/>
        </p:nvGraphicFramePr>
        <p:xfrm>
          <a:off x="3348038" y="457200"/>
          <a:ext cx="3389312" cy="5780088"/>
        </p:xfrm>
        <a:graphic>
          <a:graphicData uri="http://schemas.openxmlformats.org/presentationml/2006/ole">
            <mc:AlternateContent xmlns:mc="http://schemas.openxmlformats.org/markup-compatibility/2006">
              <mc:Choice xmlns:v="urn:schemas-microsoft-com:vml" Requires="v">
                <p:oleObj spid="_x0000_s2" name="" r:id="rId1" imgW="1767840" imgH="3017520" progId="Visio.Drawing.4">
                  <p:embed/>
                </p:oleObj>
              </mc:Choice>
              <mc:Fallback>
                <p:oleObj name="" r:id="rId1" imgW="1767840" imgH="3017520" progId="Visio.Drawing.4">
                  <p:embed/>
                  <p:pic>
                    <p:nvPicPr>
                      <p:cNvPr id="0" name="图片 3086"/>
                      <p:cNvPicPr/>
                      <p:nvPr/>
                    </p:nvPicPr>
                    <p:blipFill>
                      <a:blip r:embed="rId2"/>
                      <a:stretch>
                        <a:fillRect/>
                      </a:stretch>
                    </p:blipFill>
                    <p:spPr>
                      <a:xfrm>
                        <a:off x="3348038" y="457200"/>
                        <a:ext cx="3389312" cy="5780088"/>
                      </a:xfrm>
                      <a:prstGeom prst="rect">
                        <a:avLst/>
                      </a:prstGeom>
                      <a:noFill/>
                      <a:ln w="38100">
                        <a:noFill/>
                        <a:miter/>
                      </a:ln>
                    </p:spPr>
                  </p:pic>
                </p:oleObj>
              </mc:Fallback>
            </mc:AlternateContent>
          </a:graphicData>
        </a:graphic>
      </p:graphicFrame>
    </p:spTree>
  </p:cSld>
  <p:clrMapOvr>
    <a:masterClrMapping/>
  </p:clrMapOvr>
  <p:transition>
    <p:zo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4"/>
          <p:cNvSpPr txBox="1"/>
          <p:nvPr/>
        </p:nvSpPr>
        <p:spPr>
          <a:xfrm>
            <a:off x="250825" y="728663"/>
            <a:ext cx="8675688"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000000"/>
                </a:solidFill>
              </a:rPr>
              <a:t>     </a:t>
            </a:r>
            <a:r>
              <a:rPr lang="zh-CN" altLang="en-US" sz="2400" b="1" dirty="0">
                <a:solidFill>
                  <a:srgbClr val="000000"/>
                </a:solidFill>
              </a:rPr>
              <a:t>例</a:t>
            </a:r>
            <a:r>
              <a:rPr lang="en-US" altLang="zh-CN" sz="2400" b="1" dirty="0">
                <a:solidFill>
                  <a:srgbClr val="000000"/>
                </a:solidFill>
              </a:rPr>
              <a:t>:</a:t>
            </a:r>
            <a:r>
              <a:rPr lang="zh-CN" altLang="en-US" sz="2400" b="1" dirty="0">
                <a:solidFill>
                  <a:srgbClr val="000000"/>
                </a:solidFill>
              </a:rPr>
              <a:t>假如一个程序的段表如下所示，其中存在位为</a:t>
            </a:r>
            <a:r>
              <a:rPr lang="en-US" altLang="zh-CN" sz="2400" b="1" dirty="0">
                <a:solidFill>
                  <a:srgbClr val="000000"/>
                </a:solidFill>
              </a:rPr>
              <a:t>1</a:t>
            </a:r>
            <a:r>
              <a:rPr lang="zh-CN" altLang="en-US" sz="2400" b="1" dirty="0">
                <a:solidFill>
                  <a:srgbClr val="000000"/>
                </a:solidFill>
              </a:rPr>
              <a:t>表示段在内存，存取控制字段</a:t>
            </a:r>
            <a:r>
              <a:rPr lang="en-US" altLang="zh-CN" sz="2400" b="1" dirty="0">
                <a:solidFill>
                  <a:srgbClr val="000000"/>
                </a:solidFill>
              </a:rPr>
              <a:t>W</a:t>
            </a:r>
            <a:r>
              <a:rPr lang="zh-CN" altLang="en-US" sz="2400" b="1" dirty="0">
                <a:solidFill>
                  <a:srgbClr val="000000"/>
                </a:solidFill>
              </a:rPr>
              <a:t>表示可写，</a:t>
            </a:r>
            <a:r>
              <a:rPr lang="en-US" altLang="zh-CN" sz="2400" b="1" dirty="0">
                <a:solidFill>
                  <a:srgbClr val="000000"/>
                </a:solidFill>
              </a:rPr>
              <a:t>R</a:t>
            </a:r>
            <a:r>
              <a:rPr lang="zh-CN" altLang="en-US" sz="2400" b="1" dirty="0">
                <a:solidFill>
                  <a:srgbClr val="000000"/>
                </a:solidFill>
              </a:rPr>
              <a:t>表示可读，</a:t>
            </a:r>
            <a:r>
              <a:rPr lang="en-US" altLang="zh-CN" sz="2400" b="1" dirty="0">
                <a:solidFill>
                  <a:srgbClr val="000000"/>
                </a:solidFill>
              </a:rPr>
              <a:t>E</a:t>
            </a:r>
            <a:r>
              <a:rPr lang="zh-CN" altLang="en-US" sz="2400" b="1" dirty="0">
                <a:solidFill>
                  <a:srgbClr val="000000"/>
                </a:solidFill>
              </a:rPr>
              <a:t>表示可执行。对下面的指令，在执行时会产生什么样的结果？</a:t>
            </a:r>
            <a:endParaRPr lang="zh-CN" altLang="en-US" sz="2400" b="1" dirty="0">
              <a:solidFill>
                <a:srgbClr val="000000"/>
              </a:solidFill>
            </a:endParaRPr>
          </a:p>
        </p:txBody>
      </p:sp>
      <p:graphicFrame>
        <p:nvGraphicFramePr>
          <p:cNvPr id="495681" name="Group 65"/>
          <p:cNvGraphicFramePr>
            <a:graphicFrameLocks noGrp="1"/>
          </p:cNvGraphicFramePr>
          <p:nvPr>
            <p:ph idx="1"/>
          </p:nvPr>
        </p:nvGraphicFramePr>
        <p:xfrm>
          <a:off x="395288" y="2205038"/>
          <a:ext cx="8461375" cy="2378076"/>
        </p:xfrm>
        <a:graphic>
          <a:graphicData uri="http://schemas.openxmlformats.org/drawingml/2006/table">
            <a:tbl>
              <a:tblPr/>
              <a:tblGrid>
                <a:gridCol w="1692275"/>
                <a:gridCol w="1690687"/>
                <a:gridCol w="1695450"/>
                <a:gridCol w="1690688"/>
                <a:gridCol w="1692275"/>
              </a:tblGrid>
              <a:tr h="396346">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段号</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存在位</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内存始址</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段长</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存取控制</a:t>
                      </a:r>
                      <a:endPar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100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W</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1000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30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R</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3000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200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E</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8000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80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R</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40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R</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2" name="Group 69"/>
          <p:cNvGrpSpPr/>
          <p:nvPr/>
        </p:nvGrpSpPr>
        <p:grpSpPr>
          <a:xfrm>
            <a:off x="336550" y="4889500"/>
            <a:ext cx="7632700" cy="1631950"/>
            <a:chOff x="272" y="2999"/>
            <a:chExt cx="4808" cy="1028"/>
          </a:xfrm>
        </p:grpSpPr>
        <p:sp>
          <p:nvSpPr>
            <p:cNvPr id="83008" name="Text Box 66"/>
            <p:cNvSpPr txBox="1"/>
            <p:nvPr/>
          </p:nvSpPr>
          <p:spPr>
            <a:xfrm>
              <a:off x="317" y="3067"/>
              <a:ext cx="399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endParaRPr lang="zh-CN" altLang="zh-CN" sz="2800" b="1" dirty="0"/>
            </a:p>
          </p:txBody>
        </p:sp>
        <p:sp>
          <p:nvSpPr>
            <p:cNvPr id="83009" name="Text Box 67"/>
            <p:cNvSpPr txBox="1"/>
            <p:nvPr/>
          </p:nvSpPr>
          <p:spPr>
            <a:xfrm>
              <a:off x="272" y="2999"/>
              <a:ext cx="4808" cy="250"/>
            </a:xfrm>
            <a:prstGeom prst="rect">
              <a:avLst/>
            </a:prstGeom>
            <a:solidFill>
              <a:srgbClr val="CCFFCC"/>
            </a:solid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t>(1)STORE R1,[0,70] </a:t>
              </a:r>
              <a:endParaRPr lang="en-US" altLang="zh-CN" sz="2000" b="1" dirty="0"/>
            </a:p>
          </p:txBody>
        </p:sp>
        <p:sp>
          <p:nvSpPr>
            <p:cNvPr id="83010" name="Text Box 68"/>
            <p:cNvSpPr txBox="1"/>
            <p:nvPr/>
          </p:nvSpPr>
          <p:spPr>
            <a:xfrm>
              <a:off x="272" y="3271"/>
              <a:ext cx="4808" cy="756"/>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t>从段表的第</a:t>
              </a:r>
              <a:r>
                <a:rPr lang="en-US" altLang="zh-CN" sz="2400" b="1" dirty="0"/>
                <a:t>0</a:t>
              </a:r>
              <a:r>
                <a:rPr lang="zh-CN" altLang="en-US" sz="2400" b="1" dirty="0"/>
                <a:t>项可读出第</a:t>
              </a:r>
              <a:r>
                <a:rPr lang="en-US" altLang="zh-CN" sz="2400" b="1" dirty="0"/>
                <a:t>0</a:t>
              </a:r>
              <a:r>
                <a:rPr lang="zh-CN" altLang="en-US" sz="2400" b="1" dirty="0"/>
                <a:t>段的存在位为</a:t>
              </a:r>
              <a:r>
                <a:rPr lang="en-US" altLang="zh-CN" sz="2400" b="1" dirty="0"/>
                <a:t>0,</a:t>
              </a:r>
              <a:r>
                <a:rPr lang="zh-CN" altLang="en-US" sz="2400" b="1" dirty="0"/>
                <a:t>表示未装入内存</a:t>
              </a:r>
              <a:r>
                <a:rPr lang="en-US" altLang="zh-CN" sz="2400" b="1" dirty="0"/>
                <a:t>,</a:t>
              </a:r>
              <a:r>
                <a:rPr lang="zh-CN" altLang="en-US" sz="2400" b="1" dirty="0"/>
                <a:t>因此地址变换机构将产生一缺段中断</a:t>
              </a:r>
              <a:r>
                <a:rPr lang="en-US" altLang="zh-CN" sz="2400" b="1" dirty="0"/>
                <a:t>,</a:t>
              </a:r>
              <a:r>
                <a:rPr lang="zh-CN" altLang="en-US" sz="2400" b="1" dirty="0"/>
                <a:t>以请求</a:t>
              </a:r>
              <a:r>
                <a:rPr lang="en-US" altLang="zh-CN" sz="2400" b="1" dirty="0"/>
                <a:t>OS</a:t>
              </a:r>
              <a:r>
                <a:rPr lang="zh-CN" altLang="en-US" sz="2400" b="1" dirty="0"/>
                <a:t>将其调入内存</a:t>
              </a:r>
              <a:r>
                <a:rPr lang="en-US" altLang="zh-CN" sz="2400" b="1" dirty="0"/>
                <a:t>.</a:t>
              </a:r>
              <a:endParaRPr lang="en-US" altLang="zh-CN" sz="2400" b="1" dirty="0"/>
            </a:p>
          </p:txBody>
        </p:sp>
      </p:grpSp>
      <p:grpSp>
        <p:nvGrpSpPr>
          <p:cNvPr id="3" name="Group 70"/>
          <p:cNvGrpSpPr/>
          <p:nvPr/>
        </p:nvGrpSpPr>
        <p:grpSpPr>
          <a:xfrm>
            <a:off x="407988" y="4889500"/>
            <a:ext cx="7632700" cy="1631950"/>
            <a:chOff x="272" y="2999"/>
            <a:chExt cx="4808" cy="1028"/>
          </a:xfrm>
        </p:grpSpPr>
        <p:sp>
          <p:nvSpPr>
            <p:cNvPr id="83005" name="Text Box 71"/>
            <p:cNvSpPr txBox="1"/>
            <p:nvPr/>
          </p:nvSpPr>
          <p:spPr>
            <a:xfrm>
              <a:off x="317" y="3067"/>
              <a:ext cx="399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endParaRPr lang="zh-CN" altLang="zh-CN" sz="2800" b="1" dirty="0"/>
            </a:p>
          </p:txBody>
        </p:sp>
        <p:sp>
          <p:nvSpPr>
            <p:cNvPr id="83006" name="Text Box 72"/>
            <p:cNvSpPr txBox="1"/>
            <p:nvPr/>
          </p:nvSpPr>
          <p:spPr>
            <a:xfrm>
              <a:off x="272" y="2999"/>
              <a:ext cx="4808" cy="250"/>
            </a:xfrm>
            <a:prstGeom prst="rect">
              <a:avLst/>
            </a:prstGeom>
            <a:solidFill>
              <a:srgbClr val="CCFFCC"/>
            </a:solid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t>(2)STORE R1,[1,20] </a:t>
              </a:r>
              <a:endParaRPr lang="en-US" altLang="zh-CN" sz="2000" b="1" dirty="0"/>
            </a:p>
          </p:txBody>
        </p:sp>
        <p:sp>
          <p:nvSpPr>
            <p:cNvPr id="83007" name="Text Box 73"/>
            <p:cNvSpPr txBox="1"/>
            <p:nvPr/>
          </p:nvSpPr>
          <p:spPr>
            <a:xfrm>
              <a:off x="272" y="3271"/>
              <a:ext cx="4808" cy="756"/>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t>从段表的第</a:t>
              </a:r>
              <a:r>
                <a:rPr lang="en-US" altLang="zh-CN" sz="2400" b="1" dirty="0"/>
                <a:t>1</a:t>
              </a:r>
              <a:r>
                <a:rPr lang="zh-CN" altLang="en-US" sz="2400" b="1" dirty="0"/>
                <a:t>项可看出虽然指令中的逻辑地址合法</a:t>
              </a:r>
              <a:r>
                <a:rPr lang="en-US" altLang="zh-CN" sz="2400" b="1" dirty="0"/>
                <a:t>,</a:t>
              </a:r>
              <a:r>
                <a:rPr lang="zh-CN" altLang="en-US" sz="2400" b="1" dirty="0"/>
                <a:t>段也在内存</a:t>
              </a:r>
              <a:r>
                <a:rPr lang="en-US" altLang="zh-CN" sz="2400" b="1" dirty="0"/>
                <a:t>,</a:t>
              </a:r>
              <a:r>
                <a:rPr lang="zh-CN" altLang="en-US" sz="2400" b="1" dirty="0"/>
                <a:t>但本指令对内存的访问方式</a:t>
              </a:r>
              <a:r>
                <a:rPr lang="en-US" altLang="zh-CN" sz="2400" b="1" dirty="0"/>
                <a:t>(</a:t>
              </a:r>
              <a:r>
                <a:rPr lang="zh-CN" altLang="en-US" sz="2400" b="1" dirty="0"/>
                <a:t>写</a:t>
              </a:r>
              <a:r>
                <a:rPr lang="en-US" altLang="zh-CN" sz="2400" b="1" dirty="0"/>
                <a:t>)</a:t>
              </a:r>
              <a:r>
                <a:rPr lang="zh-CN" altLang="en-US" sz="2400" b="1" dirty="0"/>
                <a:t>与控制字段</a:t>
              </a:r>
              <a:r>
                <a:rPr lang="en-US" altLang="zh-CN" sz="2400" b="1" dirty="0"/>
                <a:t>(</a:t>
              </a:r>
              <a:r>
                <a:rPr lang="zh-CN" altLang="en-US" sz="2400" b="1" dirty="0"/>
                <a:t>只读</a:t>
              </a:r>
              <a:r>
                <a:rPr lang="en-US" altLang="zh-CN" sz="2400" b="1" dirty="0"/>
                <a:t>)</a:t>
              </a:r>
              <a:r>
                <a:rPr lang="zh-CN" altLang="en-US" sz="2400" b="1" dirty="0"/>
                <a:t>不符</a:t>
              </a:r>
              <a:r>
                <a:rPr lang="en-US" altLang="zh-CN" sz="2400" b="1" dirty="0"/>
                <a:t>,</a:t>
              </a:r>
              <a:r>
                <a:rPr lang="zh-CN" altLang="en-US" sz="2400" b="1" dirty="0"/>
                <a:t>故硬件将产生保护性中断信号。</a:t>
              </a:r>
              <a:endParaRPr lang="zh-CN" altLang="en-US" sz="2400" b="1" dirty="0"/>
            </a:p>
          </p:txBody>
        </p:sp>
      </p:grpSp>
      <p:grpSp>
        <p:nvGrpSpPr>
          <p:cNvPr id="4" name="Group 74"/>
          <p:cNvGrpSpPr/>
          <p:nvPr/>
        </p:nvGrpSpPr>
        <p:grpSpPr>
          <a:xfrm>
            <a:off x="395288" y="4859338"/>
            <a:ext cx="7632700" cy="1631950"/>
            <a:chOff x="272" y="2999"/>
            <a:chExt cx="4808" cy="1028"/>
          </a:xfrm>
        </p:grpSpPr>
        <p:sp>
          <p:nvSpPr>
            <p:cNvPr id="83002" name="Text Box 75"/>
            <p:cNvSpPr txBox="1"/>
            <p:nvPr/>
          </p:nvSpPr>
          <p:spPr>
            <a:xfrm>
              <a:off x="317" y="3067"/>
              <a:ext cx="399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endParaRPr lang="zh-CN" altLang="zh-CN" sz="2800" b="1" dirty="0"/>
            </a:p>
          </p:txBody>
        </p:sp>
        <p:sp>
          <p:nvSpPr>
            <p:cNvPr id="83003" name="Text Box 76"/>
            <p:cNvSpPr txBox="1"/>
            <p:nvPr/>
          </p:nvSpPr>
          <p:spPr>
            <a:xfrm>
              <a:off x="272" y="2999"/>
              <a:ext cx="4808" cy="250"/>
            </a:xfrm>
            <a:prstGeom prst="rect">
              <a:avLst/>
            </a:prstGeom>
            <a:solidFill>
              <a:srgbClr val="CCFFCC"/>
            </a:solid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t>(3)LOAD  R1,[3,20] </a:t>
              </a:r>
              <a:endParaRPr lang="en-US" altLang="zh-CN" sz="2000" b="1" dirty="0"/>
            </a:p>
          </p:txBody>
        </p:sp>
        <p:sp>
          <p:nvSpPr>
            <p:cNvPr id="83004" name="Text Box 77"/>
            <p:cNvSpPr txBox="1"/>
            <p:nvPr/>
          </p:nvSpPr>
          <p:spPr>
            <a:xfrm>
              <a:off x="272" y="3271"/>
              <a:ext cx="4808" cy="756"/>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t>从段表的第</a:t>
              </a:r>
              <a:r>
                <a:rPr lang="en-US" altLang="zh-CN" sz="2400" b="1" dirty="0"/>
                <a:t>3</a:t>
              </a:r>
              <a:r>
                <a:rPr lang="zh-CN" altLang="en-US" sz="2400" b="1" dirty="0"/>
                <a:t>项可看出逻辑地址合法，访问方式也合法，形成物理地址</a:t>
              </a:r>
              <a:r>
                <a:rPr lang="en-US" altLang="zh-CN" sz="2400" b="1" dirty="0"/>
                <a:t>8020</a:t>
              </a:r>
              <a:r>
                <a:rPr lang="zh-CN" altLang="en-US" sz="2400" b="1" dirty="0"/>
                <a:t>后，指令将该单元的内容读到寄存器</a:t>
              </a:r>
              <a:r>
                <a:rPr lang="en-US" altLang="zh-CN" sz="2400" b="1" dirty="0"/>
                <a:t>R1</a:t>
              </a:r>
              <a:r>
                <a:rPr lang="zh-CN" altLang="en-US" sz="2400" b="1" dirty="0"/>
                <a:t>中。</a:t>
              </a:r>
              <a:endParaRPr lang="zh-CN" altLang="en-US" sz="2400" b="1" dirty="0"/>
            </a:p>
          </p:txBody>
        </p:sp>
      </p:grpSp>
      <p:grpSp>
        <p:nvGrpSpPr>
          <p:cNvPr id="5" name="Group 78"/>
          <p:cNvGrpSpPr/>
          <p:nvPr/>
        </p:nvGrpSpPr>
        <p:grpSpPr>
          <a:xfrm>
            <a:off x="382588" y="5121275"/>
            <a:ext cx="7632700" cy="1235075"/>
            <a:chOff x="272" y="2999"/>
            <a:chExt cx="4808" cy="778"/>
          </a:xfrm>
        </p:grpSpPr>
        <p:sp>
          <p:nvSpPr>
            <p:cNvPr id="82999" name="Text Box 79"/>
            <p:cNvSpPr txBox="1"/>
            <p:nvPr/>
          </p:nvSpPr>
          <p:spPr>
            <a:xfrm>
              <a:off x="317" y="3067"/>
              <a:ext cx="399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endParaRPr lang="zh-CN" altLang="zh-CN" sz="2800" b="1" dirty="0"/>
            </a:p>
          </p:txBody>
        </p:sp>
        <p:sp>
          <p:nvSpPr>
            <p:cNvPr id="83000" name="Text Box 80"/>
            <p:cNvSpPr txBox="1"/>
            <p:nvPr/>
          </p:nvSpPr>
          <p:spPr>
            <a:xfrm>
              <a:off x="272" y="2999"/>
              <a:ext cx="4808" cy="250"/>
            </a:xfrm>
            <a:prstGeom prst="rect">
              <a:avLst/>
            </a:prstGeom>
            <a:solidFill>
              <a:srgbClr val="CCFFCC"/>
            </a:solid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t>(4)LOAD  R1,[3,100] </a:t>
              </a:r>
              <a:endParaRPr lang="en-US" altLang="zh-CN" sz="2000" b="1" dirty="0"/>
            </a:p>
          </p:txBody>
        </p:sp>
        <p:sp>
          <p:nvSpPr>
            <p:cNvPr id="83001" name="Text Box 81"/>
            <p:cNvSpPr txBox="1"/>
            <p:nvPr/>
          </p:nvSpPr>
          <p:spPr>
            <a:xfrm>
              <a:off x="272" y="3254"/>
              <a:ext cx="4808" cy="523"/>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t>从段表的第</a:t>
              </a:r>
              <a:r>
                <a:rPr lang="en-US" altLang="zh-CN" sz="2400" b="1" dirty="0"/>
                <a:t>3</a:t>
              </a:r>
              <a:r>
                <a:rPr lang="zh-CN" altLang="en-US" sz="2400" b="1" dirty="0"/>
                <a:t>项可看出指令的逻辑地址中的段内地址超过了段长，地址变换机构将产生越界中断信号。</a:t>
              </a:r>
              <a:endParaRPr lang="zh-CN" altLang="en-US" sz="2400" b="1" dirty="0"/>
            </a:p>
          </p:txBody>
        </p:sp>
      </p:grpSp>
      <p:grpSp>
        <p:nvGrpSpPr>
          <p:cNvPr id="6" name="Group 82"/>
          <p:cNvGrpSpPr/>
          <p:nvPr/>
        </p:nvGrpSpPr>
        <p:grpSpPr>
          <a:xfrm>
            <a:off x="327025" y="4967288"/>
            <a:ext cx="7650163" cy="1631950"/>
            <a:chOff x="328" y="2555"/>
            <a:chExt cx="4819" cy="1028"/>
          </a:xfrm>
        </p:grpSpPr>
        <p:sp>
          <p:nvSpPr>
            <p:cNvPr id="82996" name="Text Box 83"/>
            <p:cNvSpPr txBox="1"/>
            <p:nvPr/>
          </p:nvSpPr>
          <p:spPr>
            <a:xfrm>
              <a:off x="339" y="2682"/>
              <a:ext cx="3992"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endParaRPr lang="zh-CN" altLang="zh-CN" sz="2800" b="1" dirty="0"/>
            </a:p>
          </p:txBody>
        </p:sp>
        <p:sp>
          <p:nvSpPr>
            <p:cNvPr id="82997" name="Text Box 84"/>
            <p:cNvSpPr txBox="1"/>
            <p:nvPr/>
          </p:nvSpPr>
          <p:spPr>
            <a:xfrm>
              <a:off x="328" y="2555"/>
              <a:ext cx="4808" cy="250"/>
            </a:xfrm>
            <a:prstGeom prst="rect">
              <a:avLst/>
            </a:prstGeom>
            <a:solidFill>
              <a:srgbClr val="CCFFCC"/>
            </a:solid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t>(5)JMP [2,100] </a:t>
              </a:r>
              <a:endParaRPr lang="en-US" altLang="zh-CN" sz="2000" b="1" dirty="0"/>
            </a:p>
          </p:txBody>
        </p:sp>
        <p:sp>
          <p:nvSpPr>
            <p:cNvPr id="82998" name="Text Box 85"/>
            <p:cNvSpPr txBox="1"/>
            <p:nvPr/>
          </p:nvSpPr>
          <p:spPr>
            <a:xfrm>
              <a:off x="339" y="2827"/>
              <a:ext cx="4808" cy="756"/>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t>从段表的第</a:t>
              </a:r>
              <a:r>
                <a:rPr lang="en-US" altLang="zh-CN" sz="2400" b="1" dirty="0"/>
                <a:t>2</a:t>
              </a:r>
              <a:r>
                <a:rPr lang="zh-CN" altLang="en-US" sz="2400" b="1" dirty="0"/>
                <a:t>项可看出指令的逻辑地址和访问方式都合法，形成物理地址</a:t>
              </a:r>
              <a:r>
                <a:rPr lang="en-US" altLang="zh-CN" sz="2400" b="1" dirty="0"/>
                <a:t>3100</a:t>
              </a:r>
              <a:r>
                <a:rPr lang="zh-CN" altLang="en-US" sz="2400" b="1" dirty="0"/>
                <a:t>，指令执行后，将跳转到内存单元</a:t>
              </a:r>
              <a:r>
                <a:rPr lang="en-US" altLang="zh-CN" sz="2400" b="1" dirty="0"/>
                <a:t>3100</a:t>
              </a:r>
              <a:r>
                <a:rPr lang="zh-CN" altLang="en-US" sz="2400" b="1" dirty="0"/>
                <a:t>处继续执行。</a:t>
              </a:r>
              <a:endParaRPr lang="zh-CN" altLang="en-US" sz="2400" b="1" dirty="0"/>
            </a:p>
          </p:txBody>
        </p:sp>
      </p:gr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p:nvPr/>
        </p:nvSpPr>
        <p:spPr>
          <a:xfrm>
            <a:off x="647700" y="549275"/>
            <a:ext cx="3930650" cy="519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800" b="1" dirty="0">
                <a:latin typeface="Times New Roman" panose="02020603050405020304" pitchFamily="18" charset="0"/>
              </a:rPr>
              <a:t>5.5.2 </a:t>
            </a:r>
            <a:r>
              <a:rPr lang="zh-CN" altLang="en-US" sz="2800" b="1" dirty="0">
                <a:latin typeface="Times New Roman" panose="02020603050405020304" pitchFamily="18" charset="0"/>
              </a:rPr>
              <a:t>分段的共享与保护 </a:t>
            </a:r>
            <a:endParaRPr lang="zh-CN" altLang="en-US" sz="2800" b="1" dirty="0">
              <a:latin typeface="Times New Roman" panose="02020603050405020304" pitchFamily="18" charset="0"/>
            </a:endParaRPr>
          </a:p>
        </p:txBody>
      </p:sp>
      <p:sp>
        <p:nvSpPr>
          <p:cNvPr id="83971" name="Text Box 3"/>
          <p:cNvSpPr txBox="1"/>
          <p:nvPr/>
        </p:nvSpPr>
        <p:spPr>
          <a:xfrm>
            <a:off x="1066800" y="1676400"/>
            <a:ext cx="17907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1. </a:t>
            </a:r>
            <a:r>
              <a:rPr lang="zh-CN" altLang="en-US" sz="2400" b="1" dirty="0">
                <a:latin typeface="Times New Roman" panose="02020603050405020304" pitchFamily="18" charset="0"/>
              </a:rPr>
              <a:t>共享段表 </a:t>
            </a:r>
            <a:endParaRPr lang="zh-CN" altLang="en-US" sz="2400" b="1" dirty="0">
              <a:latin typeface="Times New Roman" panose="02020603050405020304" pitchFamily="18" charset="0"/>
            </a:endParaRPr>
          </a:p>
        </p:txBody>
      </p:sp>
      <p:sp>
        <p:nvSpPr>
          <p:cNvPr id="83972" name="Text Box 4"/>
          <p:cNvSpPr txBox="1"/>
          <p:nvPr/>
        </p:nvSpPr>
        <p:spPr>
          <a:xfrm>
            <a:off x="3492500" y="5553075"/>
            <a:ext cx="2794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400" dirty="0">
                <a:latin typeface="Times New Roman" panose="02020603050405020304" pitchFamily="18" charset="0"/>
              </a:rPr>
              <a:t>共享段表项 </a:t>
            </a:r>
            <a:endParaRPr lang="zh-CN" altLang="en-US" sz="2400" dirty="0">
              <a:latin typeface="Times New Roman" panose="02020603050405020304" pitchFamily="18" charset="0"/>
            </a:endParaRPr>
          </a:p>
        </p:txBody>
      </p:sp>
      <p:sp>
        <p:nvSpPr>
          <p:cNvPr id="83973" name="AutoShape 6"/>
          <p:cNvSpPr/>
          <p:nvPr/>
        </p:nvSpPr>
        <p:spPr>
          <a:xfrm>
            <a:off x="5040313" y="1125538"/>
            <a:ext cx="3563937" cy="1150937"/>
          </a:xfrm>
          <a:prstGeom prst="wedgeRoundRectCallout">
            <a:avLst>
              <a:gd name="adj1" fmla="val -114991"/>
              <a:gd name="adj2" fmla="val 22968"/>
              <a:gd name="adj3" fmla="val 16667"/>
            </a:avLst>
          </a:prstGeom>
          <a:solidFill>
            <a:srgbClr val="CCFFFF"/>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ctr" eaLnBrk="1" hangingPunct="1">
              <a:spcBef>
                <a:spcPct val="0"/>
              </a:spcBef>
              <a:buClrTx/>
              <a:buSzTx/>
              <a:buFontTx/>
              <a:buNone/>
            </a:pPr>
            <a:r>
              <a:rPr lang="en-US" altLang="zh-CN" sz="2800" b="1" dirty="0">
                <a:solidFill>
                  <a:srgbClr val="CC3300"/>
                </a:solidFill>
              </a:rPr>
              <a:t>OS</a:t>
            </a:r>
            <a:r>
              <a:rPr lang="zh-CN" altLang="en-US" sz="2800" b="1" dirty="0">
                <a:solidFill>
                  <a:srgbClr val="CC3300"/>
                </a:solidFill>
              </a:rPr>
              <a:t>记录所有共享段的信息的数据结构</a:t>
            </a:r>
            <a:endParaRPr lang="zh-CN" altLang="en-US" sz="2800" b="1" dirty="0">
              <a:solidFill>
                <a:srgbClr val="CC3300"/>
              </a:solidFill>
            </a:endParaRPr>
          </a:p>
        </p:txBody>
      </p:sp>
      <p:grpSp>
        <p:nvGrpSpPr>
          <p:cNvPr id="83974" name="Group 66"/>
          <p:cNvGrpSpPr/>
          <p:nvPr/>
        </p:nvGrpSpPr>
        <p:grpSpPr>
          <a:xfrm>
            <a:off x="647700" y="2384425"/>
            <a:ext cx="7740650" cy="3600450"/>
            <a:chOff x="499" y="1593"/>
            <a:chExt cx="4876" cy="2268"/>
          </a:xfrm>
        </p:grpSpPr>
        <p:sp>
          <p:nvSpPr>
            <p:cNvPr id="83975" name="AutoShape 7"/>
            <p:cNvSpPr>
              <a:spLocks noChangeAspect="1" noTextEdit="1"/>
            </p:cNvSpPr>
            <p:nvPr/>
          </p:nvSpPr>
          <p:spPr>
            <a:xfrm>
              <a:off x="499" y="1593"/>
              <a:ext cx="4876" cy="2268"/>
            </a:xfrm>
            <a:prstGeom prst="rect">
              <a:avLst/>
            </a:prstGeom>
            <a:noFill/>
            <a:ln w="9525">
              <a:noFill/>
            </a:ln>
          </p:spPr>
          <p:txBody>
            <a:bodyPr/>
            <a:lstStyle/>
            <a:p>
              <a:endParaRPr lang="zh-CN" altLang="en-US"/>
            </a:p>
          </p:txBody>
        </p:sp>
        <p:sp>
          <p:nvSpPr>
            <p:cNvPr id="83976" name="Rectangle 9"/>
            <p:cNvSpPr/>
            <p:nvPr/>
          </p:nvSpPr>
          <p:spPr>
            <a:xfrm>
              <a:off x="2214" y="1816"/>
              <a:ext cx="553"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3977" name="Rectangle 10"/>
            <p:cNvSpPr/>
            <p:nvPr/>
          </p:nvSpPr>
          <p:spPr>
            <a:xfrm>
              <a:off x="2332" y="1878"/>
              <a:ext cx="32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段名</a:t>
              </a:r>
              <a:endParaRPr lang="zh-CN" altLang="en-US" sz="2800" b="1" dirty="0"/>
            </a:p>
          </p:txBody>
        </p:sp>
        <p:sp>
          <p:nvSpPr>
            <p:cNvPr id="83978" name="Rectangle 11"/>
            <p:cNvSpPr/>
            <p:nvPr/>
          </p:nvSpPr>
          <p:spPr>
            <a:xfrm>
              <a:off x="2767" y="1816"/>
              <a:ext cx="552"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3979" name="Rectangle 12"/>
            <p:cNvSpPr/>
            <p:nvPr/>
          </p:nvSpPr>
          <p:spPr>
            <a:xfrm>
              <a:off x="2896" y="1878"/>
              <a:ext cx="32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段长</a:t>
              </a:r>
              <a:endParaRPr lang="zh-CN" altLang="en-US" sz="2800" b="1" dirty="0"/>
            </a:p>
          </p:txBody>
        </p:sp>
        <p:sp>
          <p:nvSpPr>
            <p:cNvPr id="83980" name="Rectangle 13"/>
            <p:cNvSpPr/>
            <p:nvPr/>
          </p:nvSpPr>
          <p:spPr>
            <a:xfrm>
              <a:off x="3319" y="1816"/>
              <a:ext cx="728"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3981" name="Rectangle 14"/>
            <p:cNvSpPr/>
            <p:nvPr/>
          </p:nvSpPr>
          <p:spPr>
            <a:xfrm>
              <a:off x="3378" y="1878"/>
              <a:ext cx="64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内存始址</a:t>
              </a:r>
              <a:endParaRPr lang="zh-CN" altLang="en-US" sz="2800" b="1" dirty="0"/>
            </a:p>
          </p:txBody>
        </p:sp>
        <p:sp>
          <p:nvSpPr>
            <p:cNvPr id="83982" name="Rectangle 15"/>
            <p:cNvSpPr/>
            <p:nvPr/>
          </p:nvSpPr>
          <p:spPr>
            <a:xfrm>
              <a:off x="4047" y="1816"/>
              <a:ext cx="553"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3983" name="Rectangle 16"/>
            <p:cNvSpPr/>
            <p:nvPr/>
          </p:nvSpPr>
          <p:spPr>
            <a:xfrm>
              <a:off x="4165" y="1878"/>
              <a:ext cx="32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状态</a:t>
              </a:r>
              <a:endParaRPr lang="zh-CN" altLang="en-US" sz="2800" b="1" dirty="0"/>
            </a:p>
          </p:txBody>
        </p:sp>
        <p:sp>
          <p:nvSpPr>
            <p:cNvPr id="83984" name="Rectangle 17"/>
            <p:cNvSpPr/>
            <p:nvPr/>
          </p:nvSpPr>
          <p:spPr>
            <a:xfrm>
              <a:off x="4600" y="1816"/>
              <a:ext cx="728"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3985" name="Rectangle 18"/>
            <p:cNvSpPr/>
            <p:nvPr/>
          </p:nvSpPr>
          <p:spPr>
            <a:xfrm>
              <a:off x="4658" y="1878"/>
              <a:ext cx="64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外存始址</a:t>
              </a:r>
              <a:endParaRPr lang="zh-CN" altLang="en-US" sz="2800" b="1" dirty="0"/>
            </a:p>
          </p:txBody>
        </p:sp>
        <p:sp>
          <p:nvSpPr>
            <p:cNvPr id="83986" name="Rectangle 19"/>
            <p:cNvSpPr/>
            <p:nvPr/>
          </p:nvSpPr>
          <p:spPr>
            <a:xfrm>
              <a:off x="2214" y="2114"/>
              <a:ext cx="3114" cy="297"/>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3987" name="Rectangle 20"/>
            <p:cNvSpPr/>
            <p:nvPr/>
          </p:nvSpPr>
          <p:spPr>
            <a:xfrm>
              <a:off x="3131" y="2176"/>
              <a:ext cx="9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共享进程计数</a:t>
              </a:r>
              <a:endParaRPr lang="zh-CN" altLang="en-US" sz="2800" b="1" dirty="0"/>
            </a:p>
          </p:txBody>
        </p:sp>
        <p:sp>
          <p:nvSpPr>
            <p:cNvPr id="83988" name="Rectangle 21"/>
            <p:cNvSpPr/>
            <p:nvPr/>
          </p:nvSpPr>
          <p:spPr>
            <a:xfrm>
              <a:off x="4047" y="2163"/>
              <a:ext cx="391"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latin typeface="Times" pitchFamily="18" charset="0"/>
                </a:rPr>
                <a:t>count</a:t>
              </a:r>
              <a:endParaRPr lang="en-US" altLang="zh-CN" sz="2800" b="1" dirty="0"/>
            </a:p>
          </p:txBody>
        </p:sp>
        <p:sp>
          <p:nvSpPr>
            <p:cNvPr id="83989" name="Rectangle 22"/>
            <p:cNvSpPr/>
            <p:nvPr/>
          </p:nvSpPr>
          <p:spPr>
            <a:xfrm>
              <a:off x="2214" y="2411"/>
              <a:ext cx="553"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3990" name="Rectangle 23"/>
            <p:cNvSpPr/>
            <p:nvPr/>
          </p:nvSpPr>
          <p:spPr>
            <a:xfrm>
              <a:off x="2332" y="2473"/>
              <a:ext cx="32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状态</a:t>
              </a:r>
              <a:endParaRPr lang="zh-CN" altLang="en-US" sz="2800" b="1" dirty="0"/>
            </a:p>
          </p:txBody>
        </p:sp>
        <p:sp>
          <p:nvSpPr>
            <p:cNvPr id="83991" name="Rectangle 24"/>
            <p:cNvSpPr/>
            <p:nvPr/>
          </p:nvSpPr>
          <p:spPr>
            <a:xfrm>
              <a:off x="2767" y="2411"/>
              <a:ext cx="552"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3992" name="Rectangle 25"/>
            <p:cNvSpPr/>
            <p:nvPr/>
          </p:nvSpPr>
          <p:spPr>
            <a:xfrm>
              <a:off x="2814" y="2473"/>
              <a:ext cx="48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进程名</a:t>
              </a:r>
              <a:endParaRPr lang="zh-CN" altLang="en-US" sz="2800" b="1" dirty="0"/>
            </a:p>
          </p:txBody>
        </p:sp>
        <p:sp>
          <p:nvSpPr>
            <p:cNvPr id="83993" name="Rectangle 26"/>
            <p:cNvSpPr/>
            <p:nvPr/>
          </p:nvSpPr>
          <p:spPr>
            <a:xfrm>
              <a:off x="3319" y="2411"/>
              <a:ext cx="728"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3994" name="Rectangle 27"/>
            <p:cNvSpPr/>
            <p:nvPr/>
          </p:nvSpPr>
          <p:spPr>
            <a:xfrm>
              <a:off x="3460" y="2473"/>
              <a:ext cx="48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进程号</a:t>
              </a:r>
              <a:endParaRPr lang="zh-CN" altLang="en-US" sz="2800" b="1" dirty="0"/>
            </a:p>
          </p:txBody>
        </p:sp>
        <p:sp>
          <p:nvSpPr>
            <p:cNvPr id="83995" name="Rectangle 28"/>
            <p:cNvSpPr/>
            <p:nvPr/>
          </p:nvSpPr>
          <p:spPr>
            <a:xfrm>
              <a:off x="4047" y="2411"/>
              <a:ext cx="553"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3996" name="Rectangle 29"/>
            <p:cNvSpPr/>
            <p:nvPr/>
          </p:nvSpPr>
          <p:spPr>
            <a:xfrm>
              <a:off x="4165" y="2473"/>
              <a:ext cx="32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段号</a:t>
              </a:r>
              <a:endParaRPr lang="zh-CN" altLang="en-US" sz="2800" b="1" dirty="0"/>
            </a:p>
          </p:txBody>
        </p:sp>
        <p:sp>
          <p:nvSpPr>
            <p:cNvPr id="83997" name="Rectangle 30"/>
            <p:cNvSpPr/>
            <p:nvPr/>
          </p:nvSpPr>
          <p:spPr>
            <a:xfrm>
              <a:off x="4600" y="2411"/>
              <a:ext cx="728"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3998" name="Rectangle 31"/>
            <p:cNvSpPr/>
            <p:nvPr/>
          </p:nvSpPr>
          <p:spPr>
            <a:xfrm>
              <a:off x="4658" y="2473"/>
              <a:ext cx="64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存取控制</a:t>
              </a:r>
              <a:endParaRPr lang="zh-CN" altLang="en-US" sz="2800" b="1" dirty="0"/>
            </a:p>
          </p:txBody>
        </p:sp>
        <p:sp>
          <p:nvSpPr>
            <p:cNvPr id="83999" name="Rectangle 32"/>
            <p:cNvSpPr/>
            <p:nvPr/>
          </p:nvSpPr>
          <p:spPr>
            <a:xfrm>
              <a:off x="2214" y="2696"/>
              <a:ext cx="3114" cy="409"/>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4000" name="Rectangle 33"/>
            <p:cNvSpPr/>
            <p:nvPr/>
          </p:nvSpPr>
          <p:spPr>
            <a:xfrm rot="5400000">
              <a:off x="2422"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4001" name="Rectangle 34"/>
            <p:cNvSpPr/>
            <p:nvPr/>
          </p:nvSpPr>
          <p:spPr>
            <a:xfrm rot="5400000">
              <a:off x="2975"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4002" name="Rectangle 35"/>
            <p:cNvSpPr/>
            <p:nvPr/>
          </p:nvSpPr>
          <p:spPr>
            <a:xfrm rot="5400000">
              <a:off x="3609"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4003" name="Rectangle 36"/>
            <p:cNvSpPr/>
            <p:nvPr/>
          </p:nvSpPr>
          <p:spPr>
            <a:xfrm rot="5400000">
              <a:off x="4255"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4004" name="Rectangle 37"/>
            <p:cNvSpPr/>
            <p:nvPr/>
          </p:nvSpPr>
          <p:spPr>
            <a:xfrm rot="5400000">
              <a:off x="4890"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4005" name="Rectangle 38"/>
            <p:cNvSpPr/>
            <p:nvPr/>
          </p:nvSpPr>
          <p:spPr>
            <a:xfrm>
              <a:off x="546" y="1643"/>
              <a:ext cx="893" cy="297"/>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4006" name="Rectangle 39"/>
            <p:cNvSpPr/>
            <p:nvPr/>
          </p:nvSpPr>
          <p:spPr>
            <a:xfrm>
              <a:off x="546" y="1940"/>
              <a:ext cx="893" cy="297"/>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4007" name="Rectangle 40"/>
            <p:cNvSpPr/>
            <p:nvPr/>
          </p:nvSpPr>
          <p:spPr>
            <a:xfrm>
              <a:off x="546" y="2237"/>
              <a:ext cx="893" cy="286"/>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4008" name="Rectangle 41"/>
            <p:cNvSpPr/>
            <p:nvPr/>
          </p:nvSpPr>
          <p:spPr>
            <a:xfrm>
              <a:off x="546" y="2523"/>
              <a:ext cx="893" cy="1053"/>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4009" name="Rectangle 42"/>
            <p:cNvSpPr/>
            <p:nvPr/>
          </p:nvSpPr>
          <p:spPr>
            <a:xfrm rot="5400000">
              <a:off x="918" y="2954"/>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4010" name="Line 43"/>
            <p:cNvSpPr/>
            <p:nvPr/>
          </p:nvSpPr>
          <p:spPr>
            <a:xfrm flipV="1">
              <a:off x="1439" y="2151"/>
              <a:ext cx="47" cy="24"/>
            </a:xfrm>
            <a:prstGeom prst="line">
              <a:avLst/>
            </a:prstGeom>
            <a:ln w="19050" cap="flat" cmpd="sng">
              <a:solidFill>
                <a:srgbClr val="000000"/>
              </a:solidFill>
              <a:prstDash val="solid"/>
              <a:headEnd type="none" w="med" len="med"/>
              <a:tailEnd type="none" w="med" len="med"/>
            </a:ln>
          </p:spPr>
        </p:sp>
        <p:sp>
          <p:nvSpPr>
            <p:cNvPr id="84011" name="Line 44"/>
            <p:cNvSpPr/>
            <p:nvPr/>
          </p:nvSpPr>
          <p:spPr>
            <a:xfrm flipV="1">
              <a:off x="1533" y="2114"/>
              <a:ext cx="35" cy="24"/>
            </a:xfrm>
            <a:prstGeom prst="line">
              <a:avLst/>
            </a:prstGeom>
            <a:ln w="19050" cap="flat" cmpd="sng">
              <a:solidFill>
                <a:srgbClr val="000000"/>
              </a:solidFill>
              <a:prstDash val="solid"/>
              <a:headEnd type="none" w="med" len="med"/>
              <a:tailEnd type="none" w="med" len="med"/>
            </a:ln>
          </p:spPr>
        </p:sp>
        <p:sp>
          <p:nvSpPr>
            <p:cNvPr id="84012" name="Line 45"/>
            <p:cNvSpPr/>
            <p:nvPr/>
          </p:nvSpPr>
          <p:spPr>
            <a:xfrm flipV="1">
              <a:off x="1615" y="2076"/>
              <a:ext cx="35" cy="25"/>
            </a:xfrm>
            <a:prstGeom prst="line">
              <a:avLst/>
            </a:prstGeom>
            <a:ln w="19050" cap="flat" cmpd="sng">
              <a:solidFill>
                <a:srgbClr val="000000"/>
              </a:solidFill>
              <a:prstDash val="solid"/>
              <a:headEnd type="none" w="med" len="med"/>
              <a:tailEnd type="none" w="med" len="med"/>
            </a:ln>
          </p:spPr>
        </p:sp>
        <p:sp>
          <p:nvSpPr>
            <p:cNvPr id="84013" name="Line 46"/>
            <p:cNvSpPr/>
            <p:nvPr/>
          </p:nvSpPr>
          <p:spPr>
            <a:xfrm flipV="1">
              <a:off x="1697" y="2039"/>
              <a:ext cx="47" cy="13"/>
            </a:xfrm>
            <a:prstGeom prst="line">
              <a:avLst/>
            </a:prstGeom>
            <a:ln w="19050" cap="flat" cmpd="sng">
              <a:solidFill>
                <a:srgbClr val="000000"/>
              </a:solidFill>
              <a:prstDash val="solid"/>
              <a:headEnd type="none" w="med" len="med"/>
              <a:tailEnd type="none" w="med" len="med"/>
            </a:ln>
          </p:spPr>
        </p:sp>
        <p:sp>
          <p:nvSpPr>
            <p:cNvPr id="84014" name="Line 47"/>
            <p:cNvSpPr/>
            <p:nvPr/>
          </p:nvSpPr>
          <p:spPr>
            <a:xfrm flipV="1">
              <a:off x="1791" y="1990"/>
              <a:ext cx="47" cy="24"/>
            </a:xfrm>
            <a:prstGeom prst="line">
              <a:avLst/>
            </a:prstGeom>
            <a:ln w="19050" cap="flat" cmpd="sng">
              <a:solidFill>
                <a:srgbClr val="000000"/>
              </a:solidFill>
              <a:prstDash val="solid"/>
              <a:headEnd type="none" w="med" len="med"/>
              <a:tailEnd type="none" w="med" len="med"/>
            </a:ln>
          </p:spPr>
        </p:sp>
        <p:sp>
          <p:nvSpPr>
            <p:cNvPr id="84015" name="Line 48"/>
            <p:cNvSpPr/>
            <p:nvPr/>
          </p:nvSpPr>
          <p:spPr>
            <a:xfrm flipV="1">
              <a:off x="1885" y="1952"/>
              <a:ext cx="47" cy="13"/>
            </a:xfrm>
            <a:prstGeom prst="line">
              <a:avLst/>
            </a:prstGeom>
            <a:ln w="19050" cap="flat" cmpd="sng">
              <a:solidFill>
                <a:srgbClr val="000000"/>
              </a:solidFill>
              <a:prstDash val="solid"/>
              <a:headEnd type="none" w="med" len="med"/>
              <a:tailEnd type="none" w="med" len="med"/>
            </a:ln>
          </p:spPr>
        </p:sp>
        <p:sp>
          <p:nvSpPr>
            <p:cNvPr id="84016" name="Line 49"/>
            <p:cNvSpPr/>
            <p:nvPr/>
          </p:nvSpPr>
          <p:spPr>
            <a:xfrm flipV="1">
              <a:off x="1968" y="1915"/>
              <a:ext cx="47" cy="13"/>
            </a:xfrm>
            <a:prstGeom prst="line">
              <a:avLst/>
            </a:prstGeom>
            <a:ln w="19050" cap="flat" cmpd="sng">
              <a:solidFill>
                <a:srgbClr val="000000"/>
              </a:solidFill>
              <a:prstDash val="solid"/>
              <a:headEnd type="none" w="med" len="med"/>
              <a:tailEnd type="none" w="med" len="med"/>
            </a:ln>
          </p:spPr>
        </p:sp>
        <p:sp>
          <p:nvSpPr>
            <p:cNvPr id="84017" name="Line 50"/>
            <p:cNvSpPr/>
            <p:nvPr/>
          </p:nvSpPr>
          <p:spPr>
            <a:xfrm flipV="1">
              <a:off x="2050" y="1878"/>
              <a:ext cx="47" cy="12"/>
            </a:xfrm>
            <a:prstGeom prst="line">
              <a:avLst/>
            </a:prstGeom>
            <a:ln w="19050" cap="flat" cmpd="sng">
              <a:solidFill>
                <a:srgbClr val="000000"/>
              </a:solidFill>
              <a:prstDash val="solid"/>
              <a:headEnd type="none" w="med" len="med"/>
              <a:tailEnd type="none" w="med" len="med"/>
            </a:ln>
          </p:spPr>
        </p:sp>
        <p:sp>
          <p:nvSpPr>
            <p:cNvPr id="84018" name="Line 51"/>
            <p:cNvSpPr/>
            <p:nvPr/>
          </p:nvSpPr>
          <p:spPr>
            <a:xfrm flipV="1">
              <a:off x="2132" y="1828"/>
              <a:ext cx="47" cy="25"/>
            </a:xfrm>
            <a:prstGeom prst="line">
              <a:avLst/>
            </a:prstGeom>
            <a:ln w="19050" cap="flat" cmpd="sng">
              <a:solidFill>
                <a:srgbClr val="000000"/>
              </a:solidFill>
              <a:prstDash val="solid"/>
              <a:headEnd type="none" w="med" len="med"/>
              <a:tailEnd type="none" w="med" len="med"/>
            </a:ln>
          </p:spPr>
        </p:sp>
        <p:sp>
          <p:nvSpPr>
            <p:cNvPr id="84019" name="Line 52"/>
            <p:cNvSpPr/>
            <p:nvPr/>
          </p:nvSpPr>
          <p:spPr>
            <a:xfrm>
              <a:off x="1439" y="2523"/>
              <a:ext cx="35" cy="24"/>
            </a:xfrm>
            <a:prstGeom prst="line">
              <a:avLst/>
            </a:prstGeom>
            <a:ln w="19050" cap="flat" cmpd="sng">
              <a:solidFill>
                <a:srgbClr val="000000"/>
              </a:solidFill>
              <a:prstDash val="solid"/>
              <a:headEnd type="none" w="med" len="med"/>
              <a:tailEnd type="none" w="med" len="med"/>
            </a:ln>
          </p:spPr>
        </p:sp>
        <p:sp>
          <p:nvSpPr>
            <p:cNvPr id="84020" name="Line 53"/>
            <p:cNvSpPr/>
            <p:nvPr/>
          </p:nvSpPr>
          <p:spPr>
            <a:xfrm>
              <a:off x="1509" y="2572"/>
              <a:ext cx="36" cy="37"/>
            </a:xfrm>
            <a:prstGeom prst="line">
              <a:avLst/>
            </a:prstGeom>
            <a:ln w="19050" cap="flat" cmpd="sng">
              <a:solidFill>
                <a:srgbClr val="000000"/>
              </a:solidFill>
              <a:prstDash val="solid"/>
              <a:headEnd type="none" w="med" len="med"/>
              <a:tailEnd type="none" w="med" len="med"/>
            </a:ln>
          </p:spPr>
        </p:sp>
        <p:sp>
          <p:nvSpPr>
            <p:cNvPr id="84021" name="Line 54"/>
            <p:cNvSpPr/>
            <p:nvPr/>
          </p:nvSpPr>
          <p:spPr>
            <a:xfrm>
              <a:off x="1592" y="2634"/>
              <a:ext cx="35" cy="25"/>
            </a:xfrm>
            <a:prstGeom prst="line">
              <a:avLst/>
            </a:prstGeom>
            <a:ln w="19050" cap="flat" cmpd="sng">
              <a:solidFill>
                <a:srgbClr val="000000"/>
              </a:solidFill>
              <a:prstDash val="solid"/>
              <a:headEnd type="none" w="med" len="med"/>
              <a:tailEnd type="none" w="med" len="med"/>
            </a:ln>
          </p:spPr>
        </p:sp>
        <p:sp>
          <p:nvSpPr>
            <p:cNvPr id="84022" name="Line 55"/>
            <p:cNvSpPr/>
            <p:nvPr/>
          </p:nvSpPr>
          <p:spPr>
            <a:xfrm>
              <a:off x="1655" y="2682"/>
              <a:ext cx="42" cy="39"/>
            </a:xfrm>
            <a:prstGeom prst="line">
              <a:avLst/>
            </a:prstGeom>
            <a:ln w="19050" cap="flat" cmpd="sng">
              <a:solidFill>
                <a:srgbClr val="000000"/>
              </a:solidFill>
              <a:prstDash val="solid"/>
              <a:headEnd type="none" w="med" len="med"/>
              <a:tailEnd type="none" w="med" len="med"/>
            </a:ln>
          </p:spPr>
        </p:sp>
        <p:sp>
          <p:nvSpPr>
            <p:cNvPr id="84023" name="Line 56"/>
            <p:cNvSpPr/>
            <p:nvPr/>
          </p:nvSpPr>
          <p:spPr>
            <a:xfrm>
              <a:off x="1733" y="2746"/>
              <a:ext cx="35" cy="24"/>
            </a:xfrm>
            <a:prstGeom prst="line">
              <a:avLst/>
            </a:prstGeom>
            <a:ln w="19050" cap="flat" cmpd="sng">
              <a:solidFill>
                <a:srgbClr val="000000"/>
              </a:solidFill>
              <a:prstDash val="solid"/>
              <a:headEnd type="none" w="med" len="med"/>
              <a:tailEnd type="none" w="med" len="med"/>
            </a:ln>
          </p:spPr>
        </p:sp>
        <p:sp>
          <p:nvSpPr>
            <p:cNvPr id="84024" name="Line 57"/>
            <p:cNvSpPr/>
            <p:nvPr/>
          </p:nvSpPr>
          <p:spPr>
            <a:xfrm>
              <a:off x="1803" y="2795"/>
              <a:ext cx="35" cy="25"/>
            </a:xfrm>
            <a:prstGeom prst="line">
              <a:avLst/>
            </a:prstGeom>
            <a:ln w="19050" cap="flat" cmpd="sng">
              <a:solidFill>
                <a:srgbClr val="000000"/>
              </a:solidFill>
              <a:prstDash val="solid"/>
              <a:headEnd type="none" w="med" len="med"/>
              <a:tailEnd type="none" w="med" len="med"/>
            </a:ln>
          </p:spPr>
        </p:sp>
        <p:sp>
          <p:nvSpPr>
            <p:cNvPr id="84025" name="Line 58"/>
            <p:cNvSpPr/>
            <p:nvPr/>
          </p:nvSpPr>
          <p:spPr>
            <a:xfrm>
              <a:off x="1874" y="2845"/>
              <a:ext cx="35" cy="37"/>
            </a:xfrm>
            <a:prstGeom prst="line">
              <a:avLst/>
            </a:prstGeom>
            <a:ln w="19050" cap="flat" cmpd="sng">
              <a:solidFill>
                <a:srgbClr val="000000"/>
              </a:solidFill>
              <a:prstDash val="solid"/>
              <a:headEnd type="none" w="med" len="med"/>
              <a:tailEnd type="none" w="med" len="med"/>
            </a:ln>
          </p:spPr>
        </p:sp>
        <p:sp>
          <p:nvSpPr>
            <p:cNvPr id="84026" name="Line 59"/>
            <p:cNvSpPr/>
            <p:nvPr/>
          </p:nvSpPr>
          <p:spPr>
            <a:xfrm>
              <a:off x="1944" y="2907"/>
              <a:ext cx="35" cy="24"/>
            </a:xfrm>
            <a:prstGeom prst="line">
              <a:avLst/>
            </a:prstGeom>
            <a:ln w="19050" cap="flat" cmpd="sng">
              <a:solidFill>
                <a:srgbClr val="000000"/>
              </a:solidFill>
              <a:prstDash val="solid"/>
              <a:headEnd type="none" w="med" len="med"/>
              <a:tailEnd type="none" w="med" len="med"/>
            </a:ln>
          </p:spPr>
        </p:sp>
        <p:sp>
          <p:nvSpPr>
            <p:cNvPr id="84027" name="Line 60"/>
            <p:cNvSpPr/>
            <p:nvPr/>
          </p:nvSpPr>
          <p:spPr>
            <a:xfrm>
              <a:off x="2015" y="2956"/>
              <a:ext cx="35" cy="25"/>
            </a:xfrm>
            <a:prstGeom prst="line">
              <a:avLst/>
            </a:prstGeom>
            <a:ln w="19050" cap="flat" cmpd="sng">
              <a:solidFill>
                <a:srgbClr val="000000"/>
              </a:solidFill>
              <a:prstDash val="solid"/>
              <a:headEnd type="none" w="med" len="med"/>
              <a:tailEnd type="none" w="med" len="med"/>
            </a:ln>
          </p:spPr>
        </p:sp>
        <p:sp>
          <p:nvSpPr>
            <p:cNvPr id="84028" name="Line 61"/>
            <p:cNvSpPr/>
            <p:nvPr/>
          </p:nvSpPr>
          <p:spPr>
            <a:xfrm>
              <a:off x="2085" y="3006"/>
              <a:ext cx="35" cy="25"/>
            </a:xfrm>
            <a:prstGeom prst="line">
              <a:avLst/>
            </a:prstGeom>
            <a:ln w="19050" cap="flat" cmpd="sng">
              <a:solidFill>
                <a:srgbClr val="000000"/>
              </a:solidFill>
              <a:prstDash val="solid"/>
              <a:headEnd type="none" w="med" len="med"/>
              <a:tailEnd type="none" w="med" len="med"/>
            </a:ln>
          </p:spPr>
        </p:sp>
        <p:sp>
          <p:nvSpPr>
            <p:cNvPr id="84029" name="Line 62"/>
            <p:cNvSpPr/>
            <p:nvPr/>
          </p:nvSpPr>
          <p:spPr>
            <a:xfrm>
              <a:off x="2156" y="3068"/>
              <a:ext cx="47" cy="25"/>
            </a:xfrm>
            <a:prstGeom prst="line">
              <a:avLst/>
            </a:prstGeom>
            <a:ln w="19050" cap="flat" cmpd="sng">
              <a:solidFill>
                <a:srgbClr val="000000"/>
              </a:solidFill>
              <a:prstDash val="solid"/>
              <a:headEnd type="none" w="med" len="med"/>
              <a:tailEnd type="none" w="med" len="med"/>
            </a:ln>
          </p:spPr>
        </p:sp>
        <p:sp>
          <p:nvSpPr>
            <p:cNvPr id="84030" name="Freeform 63"/>
            <p:cNvSpPr/>
            <p:nvPr/>
          </p:nvSpPr>
          <p:spPr>
            <a:xfrm>
              <a:off x="2073" y="1816"/>
              <a:ext cx="141" cy="87"/>
            </a:xfrm>
            <a:custGeom>
              <a:avLst/>
              <a:gdLst>
                <a:gd name="txL" fmla="*/ 0 w 141"/>
                <a:gd name="txT" fmla="*/ 0 h 87"/>
                <a:gd name="txR" fmla="*/ 141 w 141"/>
                <a:gd name="txB" fmla="*/ 87 h 87"/>
              </a:gdLst>
              <a:ahLst/>
              <a:cxnLst>
                <a:cxn ang="0">
                  <a:pos x="0" y="37"/>
                </a:cxn>
                <a:cxn ang="0">
                  <a:pos x="36" y="50"/>
                </a:cxn>
                <a:cxn ang="0">
                  <a:pos x="24" y="87"/>
                </a:cxn>
                <a:cxn ang="0">
                  <a:pos x="141" y="0"/>
                </a:cxn>
                <a:cxn ang="0">
                  <a:pos x="0" y="37"/>
                </a:cxn>
              </a:cxnLst>
              <a:rect l="txL" t="txT" r="txR" b="txB"/>
              <a:pathLst>
                <a:path w="141" h="87">
                  <a:moveTo>
                    <a:pt x="0" y="37"/>
                  </a:moveTo>
                  <a:lnTo>
                    <a:pt x="36" y="50"/>
                  </a:lnTo>
                  <a:lnTo>
                    <a:pt x="24" y="87"/>
                  </a:lnTo>
                  <a:lnTo>
                    <a:pt x="141" y="0"/>
                  </a:lnTo>
                  <a:lnTo>
                    <a:pt x="0" y="37"/>
                  </a:lnTo>
                  <a:close/>
                </a:path>
              </a:pathLst>
            </a:custGeom>
            <a:solidFill>
              <a:srgbClr val="000000">
                <a:alpha val="100000"/>
              </a:srgbClr>
            </a:solid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4031" name="Freeform 64"/>
            <p:cNvSpPr/>
            <p:nvPr/>
          </p:nvSpPr>
          <p:spPr>
            <a:xfrm>
              <a:off x="2073" y="2993"/>
              <a:ext cx="130" cy="112"/>
            </a:xfrm>
            <a:custGeom>
              <a:avLst/>
              <a:gdLst>
                <a:gd name="txL" fmla="*/ 0 w 130"/>
                <a:gd name="txT" fmla="*/ 0 h 112"/>
                <a:gd name="txR" fmla="*/ 130 w 130"/>
                <a:gd name="txB" fmla="*/ 112 h 112"/>
              </a:gdLst>
              <a:ahLst/>
              <a:cxnLst>
                <a:cxn ang="0">
                  <a:pos x="36" y="0"/>
                </a:cxn>
                <a:cxn ang="0">
                  <a:pos x="36" y="38"/>
                </a:cxn>
                <a:cxn ang="0">
                  <a:pos x="0" y="38"/>
                </a:cxn>
                <a:cxn ang="0">
                  <a:pos x="130" y="112"/>
                </a:cxn>
                <a:cxn ang="0">
                  <a:pos x="36" y="0"/>
                </a:cxn>
              </a:cxnLst>
              <a:rect l="txL" t="txT" r="txR" b="txB"/>
              <a:pathLst>
                <a:path w="130" h="112">
                  <a:moveTo>
                    <a:pt x="36" y="0"/>
                  </a:moveTo>
                  <a:lnTo>
                    <a:pt x="36" y="38"/>
                  </a:lnTo>
                  <a:lnTo>
                    <a:pt x="0" y="38"/>
                  </a:lnTo>
                  <a:lnTo>
                    <a:pt x="130" y="112"/>
                  </a:lnTo>
                  <a:lnTo>
                    <a:pt x="36" y="0"/>
                  </a:lnTo>
                  <a:close/>
                </a:path>
              </a:pathLst>
            </a:custGeom>
            <a:solidFill>
              <a:srgbClr val="000000">
                <a:alpha val="100000"/>
              </a:srgbClr>
            </a:solid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4032" name="Rectangle 65"/>
            <p:cNvSpPr/>
            <p:nvPr/>
          </p:nvSpPr>
          <p:spPr>
            <a:xfrm>
              <a:off x="687" y="3613"/>
              <a:ext cx="64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共享段表</a:t>
              </a:r>
              <a:endParaRPr lang="zh-CN" altLang="en-US" sz="2800" b="1" dirty="0"/>
            </a:p>
          </p:txBody>
        </p:sp>
      </p:grpSp>
    </p:spTree>
  </p:cSld>
  <p:clrMapOvr>
    <a:masterClrMapping/>
  </p:clrMapOvr>
  <p:transition>
    <p:blinds/>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Box 2"/>
          <p:cNvSpPr txBox="1"/>
          <p:nvPr/>
        </p:nvSpPr>
        <p:spPr>
          <a:xfrm>
            <a:off x="-34290" y="45085"/>
            <a:ext cx="3435985" cy="460375"/>
          </a:xfrm>
          <a:prstGeom prst="rect">
            <a:avLst/>
          </a:prstGeom>
          <a:solidFill>
            <a:schemeClr val="bg1"/>
          </a:solidFill>
          <a:ln w="9525">
            <a:noFill/>
          </a:ln>
        </p:spPr>
        <p:txBody>
          <a:bodyPr wrap="squar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2. </a:t>
            </a:r>
            <a:r>
              <a:rPr lang="zh-CN" altLang="en-US" sz="2400" b="1" dirty="0">
                <a:latin typeface="Times New Roman" panose="02020603050405020304" pitchFamily="18" charset="0"/>
              </a:rPr>
              <a:t>共享段的分配与回收 </a:t>
            </a:r>
            <a:endParaRPr lang="zh-CN" altLang="en-US" sz="2400" b="1" dirty="0">
              <a:latin typeface="Times New Roman" panose="02020603050405020304" pitchFamily="18" charset="0"/>
            </a:endParaRPr>
          </a:p>
        </p:txBody>
      </p:sp>
      <p:sp>
        <p:nvSpPr>
          <p:cNvPr id="84995" name="Text Box 3"/>
          <p:cNvSpPr txBox="1"/>
          <p:nvPr/>
        </p:nvSpPr>
        <p:spPr>
          <a:xfrm>
            <a:off x="179705" y="3030220"/>
            <a:ext cx="8648065" cy="3784600"/>
          </a:xfrm>
          <a:prstGeom prst="rect">
            <a:avLst/>
          </a:prstGeom>
          <a:solidFill>
            <a:schemeClr val="bg1"/>
          </a:solidFill>
          <a:ln w="9525">
            <a:noFill/>
          </a:ln>
        </p:spPr>
        <p:txBody>
          <a:bodyPr wrap="squar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just" eaLnBrk="1" hangingPunct="1">
              <a:lnSpc>
                <a:spcPts val="3200"/>
              </a:lnSpc>
              <a:spcBef>
                <a:spcPct val="0"/>
              </a:spcBef>
              <a:buClrTx/>
              <a:buSzTx/>
              <a:buFontTx/>
              <a:buNone/>
            </a:pPr>
            <a:r>
              <a:rPr lang="en-US" altLang="zh-CN" sz="2000" dirty="0">
                <a:latin typeface="Times New Roman" panose="02020603050405020304" pitchFamily="18" charset="0"/>
              </a:rPr>
              <a:t>       </a:t>
            </a:r>
            <a:r>
              <a:rPr lang="en-US" altLang="zh-CN" sz="2000" b="1" dirty="0">
                <a:solidFill>
                  <a:srgbClr val="000000"/>
                </a:solidFill>
                <a:latin typeface="Times New Roman" panose="02020603050405020304" pitchFamily="18" charset="0"/>
              </a:rPr>
              <a:t>1) </a:t>
            </a:r>
            <a:r>
              <a:rPr lang="zh-CN" altLang="en-US" sz="2000" b="1" dirty="0">
                <a:solidFill>
                  <a:srgbClr val="000000"/>
                </a:solidFill>
                <a:latin typeface="Times New Roman" panose="02020603050405020304" pitchFamily="18" charset="0"/>
              </a:rPr>
              <a:t>共享段的分配</a:t>
            </a:r>
            <a:endParaRPr lang="zh-CN" altLang="en-US" sz="2000" b="1" dirty="0">
              <a:solidFill>
                <a:srgbClr val="000000"/>
              </a:solidFill>
              <a:latin typeface="Times New Roman" panose="02020603050405020304" pitchFamily="18" charset="0"/>
            </a:endParaRPr>
          </a:p>
          <a:p>
            <a:pPr marL="0" lvl="0" indent="0" algn="just" eaLnBrk="1" hangingPunct="1">
              <a:lnSpc>
                <a:spcPts val="3200"/>
              </a:lnSpc>
              <a:spcBef>
                <a:spcPct val="0"/>
              </a:spcBef>
              <a:buClrTx/>
              <a:buSzTx/>
              <a:buFontTx/>
              <a:buNone/>
            </a:pPr>
            <a:r>
              <a:rPr lang="zh-CN" altLang="en-US" sz="2000" b="1" dirty="0">
                <a:solidFill>
                  <a:srgbClr val="000000"/>
                </a:solidFill>
                <a:latin typeface="Times New Roman" panose="02020603050405020304" pitchFamily="18" charset="0"/>
              </a:rPr>
              <a:t>       在为共享段分配内存时，对</a:t>
            </a:r>
            <a:r>
              <a:rPr lang="zh-CN" altLang="en-US" sz="2000" b="1" dirty="0">
                <a:solidFill>
                  <a:srgbClr val="FF0000"/>
                </a:solidFill>
                <a:latin typeface="Times New Roman" panose="02020603050405020304" pitchFamily="18" charset="0"/>
              </a:rPr>
              <a:t>第一个请求使用该共享段的进程</a:t>
            </a:r>
            <a:r>
              <a:rPr lang="zh-CN" altLang="en-US" sz="2000" b="1" dirty="0">
                <a:solidFill>
                  <a:srgbClr val="000000"/>
                </a:solidFill>
                <a:latin typeface="Times New Roman" panose="02020603050405020304" pitchFamily="18" charset="0"/>
              </a:rPr>
              <a:t>，由系统为该共享段分配一物理区，再把共享段调入该区，同时将该区的</a:t>
            </a:r>
            <a:r>
              <a:rPr lang="zh-CN" altLang="en-US" sz="2000" b="1" dirty="0">
                <a:solidFill>
                  <a:schemeClr val="tx1"/>
                </a:solidFill>
                <a:latin typeface="Times New Roman" panose="02020603050405020304" pitchFamily="18" charset="0"/>
              </a:rPr>
              <a:t>始址</a:t>
            </a:r>
            <a:r>
              <a:rPr lang="zh-CN" altLang="en-US" sz="2000" b="1" dirty="0">
                <a:solidFill>
                  <a:srgbClr val="000000"/>
                </a:solidFill>
                <a:latin typeface="Times New Roman" panose="02020603050405020304" pitchFamily="18" charset="0"/>
              </a:rPr>
              <a:t>填入</a:t>
            </a:r>
            <a:r>
              <a:rPr lang="zh-CN" altLang="en-US" sz="2000" b="1" dirty="0">
                <a:solidFill>
                  <a:srgbClr val="FF0000"/>
                </a:solidFill>
                <a:latin typeface="Times New Roman" panose="02020603050405020304" pitchFamily="18" charset="0"/>
              </a:rPr>
              <a:t>请求进程的段表</a:t>
            </a:r>
            <a:r>
              <a:rPr lang="zh-CN" altLang="en-US" sz="2000" b="1" dirty="0">
                <a:solidFill>
                  <a:srgbClr val="000000"/>
                </a:solidFill>
                <a:latin typeface="Times New Roman" panose="02020603050405020304" pitchFamily="18" charset="0"/>
              </a:rPr>
              <a:t>的相应项中，还须在</a:t>
            </a:r>
            <a:r>
              <a:rPr lang="zh-CN" altLang="en-US" sz="2000" b="1" dirty="0">
                <a:latin typeface="Times New Roman" panose="02020603050405020304" pitchFamily="18" charset="0"/>
              </a:rPr>
              <a:t>共享段表</a:t>
            </a:r>
            <a:r>
              <a:rPr lang="zh-CN" altLang="en-US" sz="2000" b="1" dirty="0">
                <a:solidFill>
                  <a:srgbClr val="000000"/>
                </a:solidFill>
                <a:latin typeface="Times New Roman" panose="02020603050405020304" pitchFamily="18" charset="0"/>
              </a:rPr>
              <a:t>中增加一表项，填写有关数据，把</a:t>
            </a:r>
            <a:r>
              <a:rPr lang="en-US" altLang="zh-CN" sz="2000" b="1" dirty="0">
                <a:solidFill>
                  <a:srgbClr val="000000"/>
                </a:solidFill>
                <a:latin typeface="Times New Roman" panose="02020603050405020304" pitchFamily="18" charset="0"/>
              </a:rPr>
              <a:t>count</a:t>
            </a:r>
            <a:r>
              <a:rPr lang="zh-CN" altLang="en-US" sz="2000" b="1" dirty="0">
                <a:solidFill>
                  <a:srgbClr val="000000"/>
                </a:solidFill>
                <a:latin typeface="Times New Roman" panose="02020603050405020304" pitchFamily="18" charset="0"/>
              </a:rPr>
              <a:t>置为</a:t>
            </a:r>
            <a:r>
              <a:rPr lang="en-US" altLang="zh-CN" sz="2000" b="1" dirty="0">
                <a:solidFill>
                  <a:srgbClr val="000000"/>
                </a:solidFill>
                <a:latin typeface="Times New Roman" panose="02020603050405020304" pitchFamily="18" charset="0"/>
              </a:rPr>
              <a:t>1</a:t>
            </a:r>
            <a:r>
              <a:rPr lang="zh-CN" altLang="en-US" sz="2000" b="1" dirty="0">
                <a:solidFill>
                  <a:srgbClr val="000000"/>
                </a:solidFill>
                <a:latin typeface="Times New Roman" panose="02020603050405020304" pitchFamily="18" charset="0"/>
              </a:rPr>
              <a:t>；之后，当又有其它进程需要调用该共享段时，由于该共享段已被调入内存，故此时无须再为该段分配内存，而只需在</a:t>
            </a:r>
            <a:r>
              <a:rPr lang="zh-CN" altLang="en-US" sz="2000" b="1" dirty="0">
                <a:solidFill>
                  <a:srgbClr val="00B050"/>
                </a:solidFill>
                <a:latin typeface="Times New Roman" panose="02020603050405020304" pitchFamily="18" charset="0"/>
              </a:rPr>
              <a:t>调用进程的段表</a:t>
            </a:r>
            <a:r>
              <a:rPr lang="zh-CN" altLang="en-US" sz="2000" b="1" dirty="0">
                <a:solidFill>
                  <a:srgbClr val="000000"/>
                </a:solidFill>
                <a:latin typeface="Times New Roman" panose="02020603050405020304" pitchFamily="18" charset="0"/>
              </a:rPr>
              <a:t>中，增加一表项，填写该共享段的物理地址；在</a:t>
            </a:r>
            <a:r>
              <a:rPr lang="zh-CN" altLang="en-US" sz="2000" b="1" dirty="0">
                <a:latin typeface="Times New Roman" panose="02020603050405020304" pitchFamily="18" charset="0"/>
              </a:rPr>
              <a:t>共享段的段表</a:t>
            </a:r>
            <a:r>
              <a:rPr lang="zh-CN" altLang="en-US" sz="2000" b="1" dirty="0">
                <a:solidFill>
                  <a:srgbClr val="000000"/>
                </a:solidFill>
                <a:latin typeface="Times New Roman" panose="02020603050405020304" pitchFamily="18" charset="0"/>
              </a:rPr>
              <a:t>中，填上调用进程的进程名、存取控制等，再执行</a:t>
            </a:r>
            <a:r>
              <a:rPr lang="en-US" altLang="zh-CN" sz="2000" b="1" dirty="0">
                <a:solidFill>
                  <a:srgbClr val="000000"/>
                </a:solidFill>
                <a:latin typeface="Times New Roman" panose="02020603050405020304" pitchFamily="18" charset="0"/>
              </a:rPr>
              <a:t>count∶=count+1</a:t>
            </a:r>
            <a:r>
              <a:rPr lang="zh-CN" altLang="en-US" sz="2000" b="1" dirty="0">
                <a:solidFill>
                  <a:srgbClr val="000000"/>
                </a:solidFill>
                <a:latin typeface="Times New Roman" panose="02020603050405020304" pitchFamily="18" charset="0"/>
              </a:rPr>
              <a:t>操作，以表明有两个进程共享该段。 </a:t>
            </a:r>
            <a:endParaRPr lang="zh-CN" altLang="en-US" sz="2000" b="1" dirty="0">
              <a:solidFill>
                <a:srgbClr val="000000"/>
              </a:solidFill>
              <a:latin typeface="Times New Roman" panose="02020603050405020304" pitchFamily="18" charset="0"/>
            </a:endParaRPr>
          </a:p>
        </p:txBody>
      </p:sp>
      <p:grpSp>
        <p:nvGrpSpPr>
          <p:cNvPr id="27" name="组合 26"/>
          <p:cNvGrpSpPr/>
          <p:nvPr/>
        </p:nvGrpSpPr>
        <p:grpSpPr>
          <a:xfrm>
            <a:off x="1008380" y="45085"/>
            <a:ext cx="8097520" cy="3411855"/>
            <a:chOff x="1644" y="71"/>
            <a:chExt cx="12752" cy="5373"/>
          </a:xfrm>
        </p:grpSpPr>
        <p:grpSp>
          <p:nvGrpSpPr>
            <p:cNvPr id="84996" name="Group 66"/>
            <p:cNvGrpSpPr/>
            <p:nvPr/>
          </p:nvGrpSpPr>
          <p:grpSpPr>
            <a:xfrm>
              <a:off x="5046" y="71"/>
              <a:ext cx="9350" cy="4222"/>
              <a:chOff x="499" y="1593"/>
              <a:chExt cx="4876" cy="2282"/>
            </a:xfrm>
          </p:grpSpPr>
          <p:sp>
            <p:nvSpPr>
              <p:cNvPr id="84997" name="AutoShape 7"/>
              <p:cNvSpPr>
                <a:spLocks noChangeAspect="1" noTextEdit="1"/>
              </p:cNvSpPr>
              <p:nvPr/>
            </p:nvSpPr>
            <p:spPr>
              <a:xfrm>
                <a:off x="499" y="1593"/>
                <a:ext cx="4876" cy="2268"/>
              </a:xfrm>
              <a:prstGeom prst="rect">
                <a:avLst/>
              </a:prstGeom>
              <a:noFill/>
              <a:ln w="9525">
                <a:noFill/>
              </a:ln>
            </p:spPr>
            <p:txBody>
              <a:bodyPr/>
              <a:lstStyle/>
              <a:p>
                <a:endParaRPr lang="zh-CN" altLang="en-US"/>
              </a:p>
            </p:txBody>
          </p:sp>
          <p:sp>
            <p:nvSpPr>
              <p:cNvPr id="84998" name="Rectangle 9"/>
              <p:cNvSpPr/>
              <p:nvPr/>
            </p:nvSpPr>
            <p:spPr>
              <a:xfrm>
                <a:off x="2214" y="1816"/>
                <a:ext cx="553"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4999" name="Rectangle 10"/>
              <p:cNvSpPr/>
              <p:nvPr/>
            </p:nvSpPr>
            <p:spPr>
              <a:xfrm>
                <a:off x="2332" y="1878"/>
                <a:ext cx="337"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段名</a:t>
                </a:r>
                <a:endParaRPr lang="zh-CN" altLang="en-US" sz="1600" b="1" dirty="0"/>
              </a:p>
            </p:txBody>
          </p:sp>
          <p:sp>
            <p:nvSpPr>
              <p:cNvPr id="85000" name="Rectangle 11"/>
              <p:cNvSpPr/>
              <p:nvPr/>
            </p:nvSpPr>
            <p:spPr>
              <a:xfrm>
                <a:off x="2767" y="1816"/>
                <a:ext cx="552"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01" name="Rectangle 12"/>
              <p:cNvSpPr/>
              <p:nvPr/>
            </p:nvSpPr>
            <p:spPr>
              <a:xfrm>
                <a:off x="2896" y="1878"/>
                <a:ext cx="337"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段长</a:t>
                </a:r>
                <a:endParaRPr lang="zh-CN" altLang="en-US" sz="1600" b="1" dirty="0"/>
              </a:p>
            </p:txBody>
          </p:sp>
          <p:sp>
            <p:nvSpPr>
              <p:cNvPr id="85002" name="Rectangle 13"/>
              <p:cNvSpPr/>
              <p:nvPr/>
            </p:nvSpPr>
            <p:spPr>
              <a:xfrm>
                <a:off x="3319" y="1816"/>
                <a:ext cx="728"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03" name="Rectangle 14"/>
              <p:cNvSpPr/>
              <p:nvPr/>
            </p:nvSpPr>
            <p:spPr>
              <a:xfrm>
                <a:off x="3378" y="1878"/>
                <a:ext cx="674"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内存始址</a:t>
                </a:r>
                <a:endParaRPr lang="zh-CN" altLang="en-US" sz="1600" b="1" dirty="0"/>
              </a:p>
            </p:txBody>
          </p:sp>
          <p:sp>
            <p:nvSpPr>
              <p:cNvPr id="85004" name="Rectangle 15"/>
              <p:cNvSpPr/>
              <p:nvPr/>
            </p:nvSpPr>
            <p:spPr>
              <a:xfrm>
                <a:off x="4047" y="1816"/>
                <a:ext cx="553"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05" name="Rectangle 16"/>
              <p:cNvSpPr/>
              <p:nvPr/>
            </p:nvSpPr>
            <p:spPr>
              <a:xfrm>
                <a:off x="4165" y="1878"/>
                <a:ext cx="337"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状态</a:t>
                </a:r>
                <a:endParaRPr lang="zh-CN" altLang="en-US" sz="1600" b="1" dirty="0"/>
              </a:p>
            </p:txBody>
          </p:sp>
          <p:sp>
            <p:nvSpPr>
              <p:cNvPr id="85006" name="Rectangle 17"/>
              <p:cNvSpPr/>
              <p:nvPr/>
            </p:nvSpPr>
            <p:spPr>
              <a:xfrm>
                <a:off x="4600" y="1816"/>
                <a:ext cx="728"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07" name="Rectangle 18"/>
              <p:cNvSpPr/>
              <p:nvPr/>
            </p:nvSpPr>
            <p:spPr>
              <a:xfrm>
                <a:off x="4658" y="1878"/>
                <a:ext cx="674"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外存始址</a:t>
                </a:r>
                <a:endParaRPr lang="zh-CN" altLang="en-US" sz="1600" b="1" dirty="0"/>
              </a:p>
            </p:txBody>
          </p:sp>
          <p:sp>
            <p:nvSpPr>
              <p:cNvPr id="85008" name="Rectangle 19"/>
              <p:cNvSpPr/>
              <p:nvPr/>
            </p:nvSpPr>
            <p:spPr>
              <a:xfrm>
                <a:off x="2214" y="2114"/>
                <a:ext cx="3114" cy="297"/>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09" name="Rectangle 20"/>
              <p:cNvSpPr/>
              <p:nvPr/>
            </p:nvSpPr>
            <p:spPr>
              <a:xfrm>
                <a:off x="3131" y="2176"/>
                <a:ext cx="1019"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共享进程计数</a:t>
                </a:r>
                <a:endParaRPr lang="zh-CN" altLang="en-US" sz="1600" b="1" dirty="0"/>
              </a:p>
            </p:txBody>
          </p:sp>
          <p:sp>
            <p:nvSpPr>
              <p:cNvPr id="85010" name="Rectangle 21"/>
              <p:cNvSpPr/>
              <p:nvPr/>
            </p:nvSpPr>
            <p:spPr>
              <a:xfrm>
                <a:off x="4165" y="2138"/>
                <a:ext cx="391"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FF0000"/>
                    </a:solidFill>
                    <a:latin typeface="Times" pitchFamily="18" charset="0"/>
                  </a:rPr>
                  <a:t>count</a:t>
                </a:r>
                <a:endParaRPr lang="en-US" altLang="zh-CN" sz="2000" b="1" dirty="0">
                  <a:solidFill>
                    <a:srgbClr val="FF0000"/>
                  </a:solidFill>
                  <a:latin typeface="Times" pitchFamily="18" charset="0"/>
                </a:endParaRPr>
              </a:p>
            </p:txBody>
          </p:sp>
          <p:sp>
            <p:nvSpPr>
              <p:cNvPr id="85011" name="Rectangle 22"/>
              <p:cNvSpPr/>
              <p:nvPr/>
            </p:nvSpPr>
            <p:spPr>
              <a:xfrm>
                <a:off x="2214" y="2411"/>
                <a:ext cx="553"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12" name="Rectangle 23"/>
              <p:cNvSpPr/>
              <p:nvPr/>
            </p:nvSpPr>
            <p:spPr>
              <a:xfrm>
                <a:off x="2332" y="2473"/>
                <a:ext cx="337"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状态</a:t>
                </a:r>
                <a:endParaRPr lang="zh-CN" altLang="en-US" sz="1600" b="1" dirty="0"/>
              </a:p>
            </p:txBody>
          </p:sp>
          <p:sp>
            <p:nvSpPr>
              <p:cNvPr id="85013" name="Rectangle 24"/>
              <p:cNvSpPr/>
              <p:nvPr/>
            </p:nvSpPr>
            <p:spPr>
              <a:xfrm>
                <a:off x="2767" y="2411"/>
                <a:ext cx="552"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14" name="Rectangle 25"/>
              <p:cNvSpPr/>
              <p:nvPr/>
            </p:nvSpPr>
            <p:spPr>
              <a:xfrm>
                <a:off x="2814" y="2473"/>
                <a:ext cx="506"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进程名</a:t>
                </a:r>
                <a:endParaRPr lang="zh-CN" altLang="en-US" sz="1600" b="1" dirty="0"/>
              </a:p>
            </p:txBody>
          </p:sp>
          <p:sp>
            <p:nvSpPr>
              <p:cNvPr id="85015" name="Rectangle 26"/>
              <p:cNvSpPr/>
              <p:nvPr/>
            </p:nvSpPr>
            <p:spPr>
              <a:xfrm>
                <a:off x="3319" y="2411"/>
                <a:ext cx="728"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16" name="Rectangle 27"/>
              <p:cNvSpPr/>
              <p:nvPr/>
            </p:nvSpPr>
            <p:spPr>
              <a:xfrm>
                <a:off x="3460" y="2473"/>
                <a:ext cx="506"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进程号</a:t>
                </a:r>
                <a:endParaRPr lang="zh-CN" altLang="en-US" sz="1600" b="1" dirty="0"/>
              </a:p>
            </p:txBody>
          </p:sp>
          <p:sp>
            <p:nvSpPr>
              <p:cNvPr id="85017" name="Rectangle 28"/>
              <p:cNvSpPr/>
              <p:nvPr/>
            </p:nvSpPr>
            <p:spPr>
              <a:xfrm>
                <a:off x="4047" y="2411"/>
                <a:ext cx="553"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18" name="Rectangle 29"/>
              <p:cNvSpPr/>
              <p:nvPr/>
            </p:nvSpPr>
            <p:spPr>
              <a:xfrm>
                <a:off x="4165" y="2473"/>
                <a:ext cx="337"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段号</a:t>
                </a:r>
                <a:endParaRPr lang="zh-CN" altLang="en-US" sz="1600" b="1" dirty="0"/>
              </a:p>
            </p:txBody>
          </p:sp>
          <p:sp>
            <p:nvSpPr>
              <p:cNvPr id="85019" name="Rectangle 30"/>
              <p:cNvSpPr/>
              <p:nvPr/>
            </p:nvSpPr>
            <p:spPr>
              <a:xfrm>
                <a:off x="4600" y="2411"/>
                <a:ext cx="728"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20" name="Rectangle 31"/>
              <p:cNvSpPr/>
              <p:nvPr/>
            </p:nvSpPr>
            <p:spPr>
              <a:xfrm>
                <a:off x="4667" y="2440"/>
                <a:ext cx="679"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存取控制</a:t>
                </a:r>
                <a:endParaRPr lang="zh-CN" altLang="en-US" sz="1600" b="1" dirty="0"/>
              </a:p>
            </p:txBody>
          </p:sp>
          <p:sp>
            <p:nvSpPr>
              <p:cNvPr id="85021" name="Rectangle 32"/>
              <p:cNvSpPr/>
              <p:nvPr/>
            </p:nvSpPr>
            <p:spPr>
              <a:xfrm>
                <a:off x="2214" y="2696"/>
                <a:ext cx="3114" cy="409"/>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22" name="Rectangle 33"/>
              <p:cNvSpPr/>
              <p:nvPr/>
            </p:nvSpPr>
            <p:spPr>
              <a:xfrm rot="5400000">
                <a:off x="2422"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5023" name="Rectangle 34"/>
              <p:cNvSpPr/>
              <p:nvPr/>
            </p:nvSpPr>
            <p:spPr>
              <a:xfrm rot="5400000">
                <a:off x="2975"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5024" name="Rectangle 35"/>
              <p:cNvSpPr/>
              <p:nvPr/>
            </p:nvSpPr>
            <p:spPr>
              <a:xfrm rot="5400000">
                <a:off x="3609"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5025" name="Rectangle 36"/>
              <p:cNvSpPr/>
              <p:nvPr/>
            </p:nvSpPr>
            <p:spPr>
              <a:xfrm rot="5400000">
                <a:off x="4255"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5026" name="Rectangle 37"/>
              <p:cNvSpPr/>
              <p:nvPr/>
            </p:nvSpPr>
            <p:spPr>
              <a:xfrm rot="5400000">
                <a:off x="4890"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5027" name="Rectangle 38"/>
              <p:cNvSpPr/>
              <p:nvPr/>
            </p:nvSpPr>
            <p:spPr>
              <a:xfrm>
                <a:off x="546" y="1643"/>
                <a:ext cx="893" cy="297"/>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28" name="Rectangle 39"/>
              <p:cNvSpPr/>
              <p:nvPr/>
            </p:nvSpPr>
            <p:spPr>
              <a:xfrm>
                <a:off x="546" y="1940"/>
                <a:ext cx="893" cy="297"/>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29" name="Rectangle 40"/>
              <p:cNvSpPr/>
              <p:nvPr/>
            </p:nvSpPr>
            <p:spPr>
              <a:xfrm>
                <a:off x="546" y="2237"/>
                <a:ext cx="893" cy="286"/>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30" name="Rectangle 41"/>
              <p:cNvSpPr/>
              <p:nvPr/>
            </p:nvSpPr>
            <p:spPr>
              <a:xfrm>
                <a:off x="546" y="2523"/>
                <a:ext cx="893" cy="1053"/>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31" name="Rectangle 42"/>
              <p:cNvSpPr/>
              <p:nvPr/>
            </p:nvSpPr>
            <p:spPr>
              <a:xfrm rot="5400000">
                <a:off x="918" y="2954"/>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5032" name="Line 43"/>
              <p:cNvSpPr/>
              <p:nvPr/>
            </p:nvSpPr>
            <p:spPr>
              <a:xfrm flipV="1">
                <a:off x="1439" y="2151"/>
                <a:ext cx="47" cy="24"/>
              </a:xfrm>
              <a:prstGeom prst="line">
                <a:avLst/>
              </a:prstGeom>
              <a:ln w="19050" cap="flat" cmpd="sng">
                <a:solidFill>
                  <a:srgbClr val="000000"/>
                </a:solidFill>
                <a:prstDash val="solid"/>
                <a:headEnd type="none" w="med" len="med"/>
                <a:tailEnd type="none" w="med" len="med"/>
              </a:ln>
            </p:spPr>
          </p:sp>
          <p:sp>
            <p:nvSpPr>
              <p:cNvPr id="85033" name="Line 44"/>
              <p:cNvSpPr/>
              <p:nvPr/>
            </p:nvSpPr>
            <p:spPr>
              <a:xfrm flipV="1">
                <a:off x="1533" y="2114"/>
                <a:ext cx="35" cy="24"/>
              </a:xfrm>
              <a:prstGeom prst="line">
                <a:avLst/>
              </a:prstGeom>
              <a:ln w="19050" cap="flat" cmpd="sng">
                <a:solidFill>
                  <a:srgbClr val="000000"/>
                </a:solidFill>
                <a:prstDash val="solid"/>
                <a:headEnd type="none" w="med" len="med"/>
                <a:tailEnd type="none" w="med" len="med"/>
              </a:ln>
            </p:spPr>
          </p:sp>
          <p:sp>
            <p:nvSpPr>
              <p:cNvPr id="85034" name="Line 45"/>
              <p:cNvSpPr/>
              <p:nvPr/>
            </p:nvSpPr>
            <p:spPr>
              <a:xfrm flipV="1">
                <a:off x="1615" y="2076"/>
                <a:ext cx="35" cy="25"/>
              </a:xfrm>
              <a:prstGeom prst="line">
                <a:avLst/>
              </a:prstGeom>
              <a:ln w="19050" cap="flat" cmpd="sng">
                <a:solidFill>
                  <a:srgbClr val="000000"/>
                </a:solidFill>
                <a:prstDash val="solid"/>
                <a:headEnd type="none" w="med" len="med"/>
                <a:tailEnd type="none" w="med" len="med"/>
              </a:ln>
            </p:spPr>
          </p:sp>
          <p:sp>
            <p:nvSpPr>
              <p:cNvPr id="85035" name="Line 46"/>
              <p:cNvSpPr/>
              <p:nvPr/>
            </p:nvSpPr>
            <p:spPr>
              <a:xfrm flipV="1">
                <a:off x="1697" y="2039"/>
                <a:ext cx="47" cy="13"/>
              </a:xfrm>
              <a:prstGeom prst="line">
                <a:avLst/>
              </a:prstGeom>
              <a:ln w="19050" cap="flat" cmpd="sng">
                <a:solidFill>
                  <a:srgbClr val="000000"/>
                </a:solidFill>
                <a:prstDash val="solid"/>
                <a:headEnd type="none" w="med" len="med"/>
                <a:tailEnd type="none" w="med" len="med"/>
              </a:ln>
            </p:spPr>
          </p:sp>
          <p:sp>
            <p:nvSpPr>
              <p:cNvPr id="85036" name="Line 47"/>
              <p:cNvSpPr/>
              <p:nvPr/>
            </p:nvSpPr>
            <p:spPr>
              <a:xfrm flipV="1">
                <a:off x="1791" y="1990"/>
                <a:ext cx="47" cy="24"/>
              </a:xfrm>
              <a:prstGeom prst="line">
                <a:avLst/>
              </a:prstGeom>
              <a:ln w="19050" cap="flat" cmpd="sng">
                <a:solidFill>
                  <a:srgbClr val="000000"/>
                </a:solidFill>
                <a:prstDash val="solid"/>
                <a:headEnd type="none" w="med" len="med"/>
                <a:tailEnd type="none" w="med" len="med"/>
              </a:ln>
            </p:spPr>
          </p:sp>
          <p:sp>
            <p:nvSpPr>
              <p:cNvPr id="85037" name="Line 48"/>
              <p:cNvSpPr/>
              <p:nvPr/>
            </p:nvSpPr>
            <p:spPr>
              <a:xfrm flipV="1">
                <a:off x="1885" y="1952"/>
                <a:ext cx="47" cy="13"/>
              </a:xfrm>
              <a:prstGeom prst="line">
                <a:avLst/>
              </a:prstGeom>
              <a:ln w="19050" cap="flat" cmpd="sng">
                <a:solidFill>
                  <a:srgbClr val="000000"/>
                </a:solidFill>
                <a:prstDash val="solid"/>
                <a:headEnd type="none" w="med" len="med"/>
                <a:tailEnd type="none" w="med" len="med"/>
              </a:ln>
            </p:spPr>
          </p:sp>
          <p:sp>
            <p:nvSpPr>
              <p:cNvPr id="85038" name="Line 49"/>
              <p:cNvSpPr/>
              <p:nvPr/>
            </p:nvSpPr>
            <p:spPr>
              <a:xfrm flipV="1">
                <a:off x="1968" y="1915"/>
                <a:ext cx="47" cy="13"/>
              </a:xfrm>
              <a:prstGeom prst="line">
                <a:avLst/>
              </a:prstGeom>
              <a:ln w="19050" cap="flat" cmpd="sng">
                <a:solidFill>
                  <a:srgbClr val="000000"/>
                </a:solidFill>
                <a:prstDash val="solid"/>
                <a:headEnd type="none" w="med" len="med"/>
                <a:tailEnd type="none" w="med" len="med"/>
              </a:ln>
            </p:spPr>
          </p:sp>
          <p:sp>
            <p:nvSpPr>
              <p:cNvPr id="85039" name="Line 50"/>
              <p:cNvSpPr/>
              <p:nvPr/>
            </p:nvSpPr>
            <p:spPr>
              <a:xfrm flipV="1">
                <a:off x="2050" y="1878"/>
                <a:ext cx="47" cy="12"/>
              </a:xfrm>
              <a:prstGeom prst="line">
                <a:avLst/>
              </a:prstGeom>
              <a:ln w="19050" cap="flat" cmpd="sng">
                <a:solidFill>
                  <a:srgbClr val="000000"/>
                </a:solidFill>
                <a:prstDash val="solid"/>
                <a:headEnd type="none" w="med" len="med"/>
                <a:tailEnd type="none" w="med" len="med"/>
              </a:ln>
            </p:spPr>
          </p:sp>
          <p:sp>
            <p:nvSpPr>
              <p:cNvPr id="85040" name="Line 51"/>
              <p:cNvSpPr/>
              <p:nvPr/>
            </p:nvSpPr>
            <p:spPr>
              <a:xfrm flipV="1">
                <a:off x="2132" y="1828"/>
                <a:ext cx="47" cy="25"/>
              </a:xfrm>
              <a:prstGeom prst="line">
                <a:avLst/>
              </a:prstGeom>
              <a:ln w="19050" cap="flat" cmpd="sng">
                <a:solidFill>
                  <a:srgbClr val="000000"/>
                </a:solidFill>
                <a:prstDash val="solid"/>
                <a:headEnd type="none" w="med" len="med"/>
                <a:tailEnd type="none" w="med" len="med"/>
              </a:ln>
            </p:spPr>
          </p:sp>
          <p:sp>
            <p:nvSpPr>
              <p:cNvPr id="85041" name="Line 52"/>
              <p:cNvSpPr/>
              <p:nvPr/>
            </p:nvSpPr>
            <p:spPr>
              <a:xfrm>
                <a:off x="1439" y="2523"/>
                <a:ext cx="35" cy="24"/>
              </a:xfrm>
              <a:prstGeom prst="line">
                <a:avLst/>
              </a:prstGeom>
              <a:ln w="19050" cap="flat" cmpd="sng">
                <a:solidFill>
                  <a:srgbClr val="000000"/>
                </a:solidFill>
                <a:prstDash val="solid"/>
                <a:headEnd type="none" w="med" len="med"/>
                <a:tailEnd type="none" w="med" len="med"/>
              </a:ln>
            </p:spPr>
          </p:sp>
          <p:sp>
            <p:nvSpPr>
              <p:cNvPr id="85042" name="Line 53"/>
              <p:cNvSpPr/>
              <p:nvPr/>
            </p:nvSpPr>
            <p:spPr>
              <a:xfrm>
                <a:off x="1509" y="2572"/>
                <a:ext cx="36" cy="37"/>
              </a:xfrm>
              <a:prstGeom prst="line">
                <a:avLst/>
              </a:prstGeom>
              <a:ln w="19050" cap="flat" cmpd="sng">
                <a:solidFill>
                  <a:srgbClr val="000000"/>
                </a:solidFill>
                <a:prstDash val="solid"/>
                <a:headEnd type="none" w="med" len="med"/>
                <a:tailEnd type="none" w="med" len="med"/>
              </a:ln>
            </p:spPr>
          </p:sp>
          <p:sp>
            <p:nvSpPr>
              <p:cNvPr id="85043" name="Line 54"/>
              <p:cNvSpPr/>
              <p:nvPr/>
            </p:nvSpPr>
            <p:spPr>
              <a:xfrm>
                <a:off x="1592" y="2634"/>
                <a:ext cx="35" cy="25"/>
              </a:xfrm>
              <a:prstGeom prst="line">
                <a:avLst/>
              </a:prstGeom>
              <a:ln w="19050" cap="flat" cmpd="sng">
                <a:solidFill>
                  <a:srgbClr val="000000"/>
                </a:solidFill>
                <a:prstDash val="solid"/>
                <a:headEnd type="none" w="med" len="med"/>
                <a:tailEnd type="none" w="med" len="med"/>
              </a:ln>
            </p:spPr>
          </p:sp>
          <p:sp>
            <p:nvSpPr>
              <p:cNvPr id="85044" name="Line 55"/>
              <p:cNvSpPr/>
              <p:nvPr/>
            </p:nvSpPr>
            <p:spPr>
              <a:xfrm>
                <a:off x="1655" y="2682"/>
                <a:ext cx="42" cy="39"/>
              </a:xfrm>
              <a:prstGeom prst="line">
                <a:avLst/>
              </a:prstGeom>
              <a:ln w="19050" cap="flat" cmpd="sng">
                <a:solidFill>
                  <a:srgbClr val="000000"/>
                </a:solidFill>
                <a:prstDash val="solid"/>
                <a:headEnd type="none" w="med" len="med"/>
                <a:tailEnd type="none" w="med" len="med"/>
              </a:ln>
            </p:spPr>
          </p:sp>
          <p:sp>
            <p:nvSpPr>
              <p:cNvPr id="85045" name="Line 56"/>
              <p:cNvSpPr/>
              <p:nvPr/>
            </p:nvSpPr>
            <p:spPr>
              <a:xfrm>
                <a:off x="1733" y="2746"/>
                <a:ext cx="35" cy="24"/>
              </a:xfrm>
              <a:prstGeom prst="line">
                <a:avLst/>
              </a:prstGeom>
              <a:ln w="19050" cap="flat" cmpd="sng">
                <a:solidFill>
                  <a:srgbClr val="000000"/>
                </a:solidFill>
                <a:prstDash val="solid"/>
                <a:headEnd type="none" w="med" len="med"/>
                <a:tailEnd type="none" w="med" len="med"/>
              </a:ln>
            </p:spPr>
          </p:sp>
          <p:sp>
            <p:nvSpPr>
              <p:cNvPr id="85046" name="Line 57"/>
              <p:cNvSpPr/>
              <p:nvPr/>
            </p:nvSpPr>
            <p:spPr>
              <a:xfrm>
                <a:off x="1803" y="2795"/>
                <a:ext cx="35" cy="25"/>
              </a:xfrm>
              <a:prstGeom prst="line">
                <a:avLst/>
              </a:prstGeom>
              <a:ln w="19050" cap="flat" cmpd="sng">
                <a:solidFill>
                  <a:srgbClr val="000000"/>
                </a:solidFill>
                <a:prstDash val="solid"/>
                <a:headEnd type="none" w="med" len="med"/>
                <a:tailEnd type="none" w="med" len="med"/>
              </a:ln>
            </p:spPr>
          </p:sp>
          <p:sp>
            <p:nvSpPr>
              <p:cNvPr id="85047" name="Line 58"/>
              <p:cNvSpPr/>
              <p:nvPr/>
            </p:nvSpPr>
            <p:spPr>
              <a:xfrm>
                <a:off x="1874" y="2845"/>
                <a:ext cx="35" cy="37"/>
              </a:xfrm>
              <a:prstGeom prst="line">
                <a:avLst/>
              </a:prstGeom>
              <a:ln w="19050" cap="flat" cmpd="sng">
                <a:solidFill>
                  <a:srgbClr val="000000"/>
                </a:solidFill>
                <a:prstDash val="solid"/>
                <a:headEnd type="none" w="med" len="med"/>
                <a:tailEnd type="none" w="med" len="med"/>
              </a:ln>
            </p:spPr>
          </p:sp>
          <p:sp>
            <p:nvSpPr>
              <p:cNvPr id="85048" name="Line 59"/>
              <p:cNvSpPr/>
              <p:nvPr/>
            </p:nvSpPr>
            <p:spPr>
              <a:xfrm>
                <a:off x="1944" y="2907"/>
                <a:ext cx="35" cy="24"/>
              </a:xfrm>
              <a:prstGeom prst="line">
                <a:avLst/>
              </a:prstGeom>
              <a:ln w="19050" cap="flat" cmpd="sng">
                <a:solidFill>
                  <a:srgbClr val="000000"/>
                </a:solidFill>
                <a:prstDash val="solid"/>
                <a:headEnd type="none" w="med" len="med"/>
                <a:tailEnd type="none" w="med" len="med"/>
              </a:ln>
            </p:spPr>
          </p:sp>
          <p:sp>
            <p:nvSpPr>
              <p:cNvPr id="85049" name="Line 60"/>
              <p:cNvSpPr/>
              <p:nvPr/>
            </p:nvSpPr>
            <p:spPr>
              <a:xfrm>
                <a:off x="2015" y="2956"/>
                <a:ext cx="35" cy="25"/>
              </a:xfrm>
              <a:prstGeom prst="line">
                <a:avLst/>
              </a:prstGeom>
              <a:ln w="19050" cap="flat" cmpd="sng">
                <a:solidFill>
                  <a:srgbClr val="000000"/>
                </a:solidFill>
                <a:prstDash val="solid"/>
                <a:headEnd type="none" w="med" len="med"/>
                <a:tailEnd type="none" w="med" len="med"/>
              </a:ln>
            </p:spPr>
          </p:sp>
          <p:sp>
            <p:nvSpPr>
              <p:cNvPr id="85050" name="Line 61"/>
              <p:cNvSpPr/>
              <p:nvPr/>
            </p:nvSpPr>
            <p:spPr>
              <a:xfrm>
                <a:off x="2085" y="3006"/>
                <a:ext cx="35" cy="25"/>
              </a:xfrm>
              <a:prstGeom prst="line">
                <a:avLst/>
              </a:prstGeom>
              <a:ln w="19050" cap="flat" cmpd="sng">
                <a:solidFill>
                  <a:srgbClr val="000000"/>
                </a:solidFill>
                <a:prstDash val="solid"/>
                <a:headEnd type="none" w="med" len="med"/>
                <a:tailEnd type="none" w="med" len="med"/>
              </a:ln>
            </p:spPr>
          </p:sp>
          <p:sp>
            <p:nvSpPr>
              <p:cNvPr id="85051" name="Line 62"/>
              <p:cNvSpPr/>
              <p:nvPr/>
            </p:nvSpPr>
            <p:spPr>
              <a:xfrm>
                <a:off x="2156" y="3068"/>
                <a:ext cx="47" cy="25"/>
              </a:xfrm>
              <a:prstGeom prst="line">
                <a:avLst/>
              </a:prstGeom>
              <a:ln w="19050" cap="flat" cmpd="sng">
                <a:solidFill>
                  <a:srgbClr val="000000"/>
                </a:solidFill>
                <a:prstDash val="solid"/>
                <a:headEnd type="none" w="med" len="med"/>
                <a:tailEnd type="none" w="med" len="med"/>
              </a:ln>
            </p:spPr>
          </p:sp>
          <p:sp>
            <p:nvSpPr>
              <p:cNvPr id="85052" name="Freeform 63"/>
              <p:cNvSpPr/>
              <p:nvPr/>
            </p:nvSpPr>
            <p:spPr>
              <a:xfrm>
                <a:off x="2073" y="1816"/>
                <a:ext cx="141" cy="87"/>
              </a:xfrm>
              <a:custGeom>
                <a:avLst/>
                <a:gdLst>
                  <a:gd name="txL" fmla="*/ 0 w 141"/>
                  <a:gd name="txT" fmla="*/ 0 h 87"/>
                  <a:gd name="txR" fmla="*/ 141 w 141"/>
                  <a:gd name="txB" fmla="*/ 87 h 87"/>
                </a:gdLst>
                <a:ahLst/>
                <a:cxnLst>
                  <a:cxn ang="0">
                    <a:pos x="0" y="37"/>
                  </a:cxn>
                  <a:cxn ang="0">
                    <a:pos x="36" y="50"/>
                  </a:cxn>
                  <a:cxn ang="0">
                    <a:pos x="24" y="87"/>
                  </a:cxn>
                  <a:cxn ang="0">
                    <a:pos x="141" y="0"/>
                  </a:cxn>
                  <a:cxn ang="0">
                    <a:pos x="0" y="37"/>
                  </a:cxn>
                </a:cxnLst>
                <a:rect l="txL" t="txT" r="txR" b="txB"/>
                <a:pathLst>
                  <a:path w="141" h="87">
                    <a:moveTo>
                      <a:pt x="0" y="37"/>
                    </a:moveTo>
                    <a:lnTo>
                      <a:pt x="36" y="50"/>
                    </a:lnTo>
                    <a:lnTo>
                      <a:pt x="24" y="87"/>
                    </a:lnTo>
                    <a:lnTo>
                      <a:pt x="141" y="0"/>
                    </a:lnTo>
                    <a:lnTo>
                      <a:pt x="0" y="37"/>
                    </a:lnTo>
                    <a:close/>
                  </a:path>
                </a:pathLst>
              </a:custGeom>
              <a:solidFill>
                <a:srgbClr val="000000">
                  <a:alpha val="100000"/>
                </a:srgbClr>
              </a:solid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5053" name="Freeform 64"/>
              <p:cNvSpPr/>
              <p:nvPr/>
            </p:nvSpPr>
            <p:spPr>
              <a:xfrm>
                <a:off x="2073" y="2993"/>
                <a:ext cx="130" cy="112"/>
              </a:xfrm>
              <a:custGeom>
                <a:avLst/>
                <a:gdLst>
                  <a:gd name="txL" fmla="*/ 0 w 130"/>
                  <a:gd name="txT" fmla="*/ 0 h 112"/>
                  <a:gd name="txR" fmla="*/ 130 w 130"/>
                  <a:gd name="txB" fmla="*/ 112 h 112"/>
                </a:gdLst>
                <a:ahLst/>
                <a:cxnLst>
                  <a:cxn ang="0">
                    <a:pos x="36" y="0"/>
                  </a:cxn>
                  <a:cxn ang="0">
                    <a:pos x="36" y="38"/>
                  </a:cxn>
                  <a:cxn ang="0">
                    <a:pos x="0" y="38"/>
                  </a:cxn>
                  <a:cxn ang="0">
                    <a:pos x="130" y="112"/>
                  </a:cxn>
                  <a:cxn ang="0">
                    <a:pos x="36" y="0"/>
                  </a:cxn>
                </a:cxnLst>
                <a:rect l="txL" t="txT" r="txR" b="txB"/>
                <a:pathLst>
                  <a:path w="130" h="112">
                    <a:moveTo>
                      <a:pt x="36" y="0"/>
                    </a:moveTo>
                    <a:lnTo>
                      <a:pt x="36" y="38"/>
                    </a:lnTo>
                    <a:lnTo>
                      <a:pt x="0" y="38"/>
                    </a:lnTo>
                    <a:lnTo>
                      <a:pt x="130" y="112"/>
                    </a:lnTo>
                    <a:lnTo>
                      <a:pt x="36" y="0"/>
                    </a:lnTo>
                    <a:close/>
                  </a:path>
                </a:pathLst>
              </a:custGeom>
              <a:solidFill>
                <a:srgbClr val="000000">
                  <a:alpha val="100000"/>
                </a:srgbClr>
              </a:solid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5054" name="Rectangle 65"/>
              <p:cNvSpPr/>
              <p:nvPr/>
            </p:nvSpPr>
            <p:spPr>
              <a:xfrm>
                <a:off x="555" y="3613"/>
                <a:ext cx="848" cy="2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000000"/>
                    </a:solidFill>
                    <a:latin typeface="宋体" panose="02010600030101010101" pitchFamily="2" charset="-122"/>
                  </a:rPr>
                  <a:t>共享段表</a:t>
                </a:r>
                <a:endParaRPr lang="zh-CN" altLang="en-US" sz="2800" b="1" dirty="0"/>
              </a:p>
            </p:txBody>
          </p:sp>
        </p:grpSp>
        <p:sp>
          <p:nvSpPr>
            <p:cNvPr id="3" name="流程图: 过程 2"/>
            <p:cNvSpPr/>
            <p:nvPr/>
          </p:nvSpPr>
          <p:spPr>
            <a:xfrm>
              <a:off x="1644" y="1405"/>
              <a:ext cx="1418" cy="2835"/>
            </a:xfrm>
            <a:prstGeom prst="flowChartProcess">
              <a:avLst/>
            </a:prstGeom>
            <a:noFill/>
            <a:ln w="22225" cap="flat" cmpd="sng" algn="ctr">
              <a:solidFill>
                <a:srgbClr val="0033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4" name="Rectangle 65"/>
            <p:cNvSpPr/>
            <p:nvPr/>
          </p:nvSpPr>
          <p:spPr>
            <a:xfrm>
              <a:off x="1937" y="4232"/>
              <a:ext cx="804" cy="48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000000"/>
                  </a:solidFill>
                  <a:latin typeface="宋体" panose="02010600030101010101" pitchFamily="2" charset="-122"/>
                </a:rPr>
                <a:t>内存</a:t>
              </a:r>
              <a:endParaRPr lang="zh-CN" altLang="en-US" sz="2000" b="1" dirty="0">
                <a:solidFill>
                  <a:srgbClr val="000000"/>
                </a:solidFill>
                <a:latin typeface="宋体" panose="02010600030101010101" pitchFamily="2" charset="-122"/>
              </a:endParaRPr>
            </a:p>
          </p:txBody>
        </p:sp>
        <p:cxnSp>
          <p:nvCxnSpPr>
            <p:cNvPr id="7" name="直接连接符 6"/>
            <p:cNvCxnSpPr/>
            <p:nvPr/>
          </p:nvCxnSpPr>
          <p:spPr>
            <a:xfrm flipV="1">
              <a:off x="3061" y="1261"/>
              <a:ext cx="2041" cy="1077"/>
            </a:xfrm>
            <a:prstGeom prst="line">
              <a:avLst/>
            </a:prstGeom>
            <a:solidFill>
              <a:schemeClr val="accent1"/>
            </a:solidFill>
            <a:ln w="19050" cap="flat" cmpd="sng" algn="ctr">
              <a:solidFill>
                <a:srgbClr val="003300"/>
              </a:solidFill>
              <a:prstDash val="solid"/>
              <a:round/>
              <a:headEnd type="arrow" w="lg" len="lg"/>
              <a:tailEnd type="none" w="med" len="med"/>
            </a:ln>
          </p:spPr>
        </p:cxnSp>
        <p:cxnSp>
          <p:nvCxnSpPr>
            <p:cNvPr id="8" name="直接连接符 7"/>
            <p:cNvCxnSpPr/>
            <p:nvPr/>
          </p:nvCxnSpPr>
          <p:spPr>
            <a:xfrm flipV="1">
              <a:off x="3060" y="1771"/>
              <a:ext cx="2098" cy="1191"/>
            </a:xfrm>
            <a:prstGeom prst="line">
              <a:avLst/>
            </a:prstGeom>
            <a:solidFill>
              <a:schemeClr val="accent1"/>
            </a:solidFill>
            <a:ln w="19050" cap="flat" cmpd="sng" algn="ctr">
              <a:solidFill>
                <a:srgbClr val="003300"/>
              </a:solidFill>
              <a:prstDash val="solid"/>
              <a:round/>
              <a:headEnd type="arrow" w="lg" len="lg"/>
              <a:tailEnd type="none" w="med" len="med"/>
            </a:ln>
          </p:spPr>
        </p:cxnSp>
        <p:sp>
          <p:nvSpPr>
            <p:cNvPr id="9" name="矩形 8"/>
            <p:cNvSpPr/>
            <p:nvPr/>
          </p:nvSpPr>
          <p:spPr>
            <a:xfrm>
              <a:off x="1645" y="2319"/>
              <a:ext cx="1417" cy="667"/>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nvGrpSpPr>
            <p:cNvPr id="13" name="组合 12"/>
            <p:cNvGrpSpPr/>
            <p:nvPr/>
          </p:nvGrpSpPr>
          <p:grpSpPr>
            <a:xfrm>
              <a:off x="8097" y="3345"/>
              <a:ext cx="1810" cy="2099"/>
              <a:chOff x="8097" y="3345"/>
              <a:chExt cx="1810" cy="2099"/>
            </a:xfrm>
          </p:grpSpPr>
          <p:sp>
            <p:nvSpPr>
              <p:cNvPr id="10" name="流程图: 过程 9"/>
              <p:cNvSpPr/>
              <p:nvPr/>
            </p:nvSpPr>
            <p:spPr>
              <a:xfrm>
                <a:off x="8172" y="3345"/>
                <a:ext cx="1489" cy="1631"/>
              </a:xfrm>
              <a:prstGeom prst="flowChartProcess">
                <a:avLst/>
              </a:prstGeom>
              <a:noFill/>
              <a:ln w="22225" cap="flat" cmpd="sng" algn="ctr">
                <a:solidFill>
                  <a:srgbClr val="0033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1" name="矩形 10"/>
              <p:cNvSpPr/>
              <p:nvPr/>
            </p:nvSpPr>
            <p:spPr>
              <a:xfrm>
                <a:off x="8174" y="3728"/>
                <a:ext cx="1468" cy="57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2" name="Rectangle 65"/>
              <p:cNvSpPr/>
              <p:nvPr/>
            </p:nvSpPr>
            <p:spPr>
              <a:xfrm>
                <a:off x="8097" y="4960"/>
                <a:ext cx="1810" cy="48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l" eaLnBrk="1" hangingPunct="1">
                  <a:spcBef>
                    <a:spcPct val="0"/>
                  </a:spcBef>
                  <a:buClrTx/>
                  <a:buSzTx/>
                  <a:buFontTx/>
                  <a:buNone/>
                </a:pPr>
                <a:r>
                  <a:rPr lang="en-US" altLang="zh-CN" sz="2000" b="1" dirty="0">
                    <a:solidFill>
                      <a:srgbClr val="000000"/>
                    </a:solidFill>
                    <a:latin typeface="宋体" panose="02010600030101010101" pitchFamily="2" charset="-122"/>
                    <a:sym typeface="+mn-ea"/>
                  </a:rPr>
                  <a:t>A</a:t>
                </a:r>
                <a:r>
                  <a:rPr lang="zh-CN" altLang="en-US" sz="2000" b="1" dirty="0">
                    <a:solidFill>
                      <a:srgbClr val="000000"/>
                    </a:solidFill>
                    <a:latin typeface="宋体" panose="02010600030101010101" pitchFamily="2" charset="-122"/>
                  </a:rPr>
                  <a:t>进程段表</a:t>
                </a:r>
                <a:endParaRPr lang="zh-CN" altLang="en-US" sz="2800" b="1" dirty="0"/>
              </a:p>
            </p:txBody>
          </p:sp>
        </p:grpSp>
        <p:grpSp>
          <p:nvGrpSpPr>
            <p:cNvPr id="14" name="组合 13"/>
            <p:cNvGrpSpPr/>
            <p:nvPr/>
          </p:nvGrpSpPr>
          <p:grpSpPr>
            <a:xfrm>
              <a:off x="10444" y="3321"/>
              <a:ext cx="1847" cy="2099"/>
              <a:chOff x="8172" y="3345"/>
              <a:chExt cx="1847" cy="2099"/>
            </a:xfrm>
          </p:grpSpPr>
          <p:sp>
            <p:nvSpPr>
              <p:cNvPr id="15" name="流程图: 过程 14"/>
              <p:cNvSpPr/>
              <p:nvPr/>
            </p:nvSpPr>
            <p:spPr>
              <a:xfrm>
                <a:off x="8172" y="3345"/>
                <a:ext cx="1489" cy="1631"/>
              </a:xfrm>
              <a:prstGeom prst="flowChartProcess">
                <a:avLst/>
              </a:prstGeom>
              <a:noFill/>
              <a:ln w="22225" cap="flat" cmpd="sng" algn="ctr">
                <a:solidFill>
                  <a:srgbClr val="0033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6" name="矩形 15"/>
              <p:cNvSpPr/>
              <p:nvPr/>
            </p:nvSpPr>
            <p:spPr>
              <a:xfrm>
                <a:off x="8174" y="3728"/>
                <a:ext cx="1468" cy="57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7" name="Rectangle 65"/>
              <p:cNvSpPr/>
              <p:nvPr/>
            </p:nvSpPr>
            <p:spPr>
              <a:xfrm>
                <a:off x="8209" y="4960"/>
                <a:ext cx="1810" cy="48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00"/>
                    </a:solidFill>
                    <a:latin typeface="宋体" panose="02010600030101010101" pitchFamily="2" charset="-122"/>
                  </a:rPr>
                  <a:t>B</a:t>
                </a:r>
                <a:r>
                  <a:rPr lang="zh-CN" altLang="en-US" sz="2000" b="1" dirty="0">
                    <a:solidFill>
                      <a:srgbClr val="000000"/>
                    </a:solidFill>
                    <a:latin typeface="宋体" panose="02010600030101010101" pitchFamily="2" charset="-122"/>
                  </a:rPr>
                  <a:t>进程段表</a:t>
                </a:r>
                <a:endParaRPr lang="zh-CN" altLang="en-US" sz="2800" b="1" dirty="0"/>
              </a:p>
            </p:txBody>
          </p:sp>
        </p:grpSp>
        <p:cxnSp>
          <p:nvCxnSpPr>
            <p:cNvPr id="18" name="直接连接符 17"/>
            <p:cNvCxnSpPr/>
            <p:nvPr/>
          </p:nvCxnSpPr>
          <p:spPr>
            <a:xfrm flipH="1">
              <a:off x="9071" y="3735"/>
              <a:ext cx="1" cy="588"/>
            </a:xfrm>
            <a:prstGeom prst="line">
              <a:avLst/>
            </a:prstGeom>
            <a:solidFill>
              <a:schemeClr val="accent1"/>
            </a:solidFill>
            <a:ln w="15875" cap="flat" cmpd="sng" algn="ctr">
              <a:solidFill>
                <a:schemeClr val="tx1"/>
              </a:solidFill>
              <a:prstDash val="solid"/>
              <a:round/>
              <a:headEnd type="none" w="med" len="med"/>
              <a:tailEnd type="none" w="med" len="med"/>
            </a:ln>
          </p:spPr>
        </p:cxnSp>
        <p:cxnSp>
          <p:nvCxnSpPr>
            <p:cNvPr id="19" name="直接连接符 18"/>
            <p:cNvCxnSpPr/>
            <p:nvPr/>
          </p:nvCxnSpPr>
          <p:spPr>
            <a:xfrm flipH="1">
              <a:off x="11399" y="3711"/>
              <a:ext cx="1" cy="588"/>
            </a:xfrm>
            <a:prstGeom prst="line">
              <a:avLst/>
            </a:prstGeom>
            <a:solidFill>
              <a:schemeClr val="accent1"/>
            </a:solidFill>
            <a:ln w="15875" cap="flat" cmpd="sng" algn="ctr">
              <a:solidFill>
                <a:schemeClr val="tx1"/>
              </a:solidFill>
              <a:prstDash val="solid"/>
              <a:round/>
              <a:headEnd type="none" w="med" len="med"/>
              <a:tailEnd type="none" w="med" len="med"/>
            </a:ln>
          </p:spPr>
        </p:cxnSp>
        <p:cxnSp>
          <p:nvCxnSpPr>
            <p:cNvPr id="22" name="曲线连接符 21"/>
            <p:cNvCxnSpPr/>
            <p:nvPr/>
          </p:nvCxnSpPr>
          <p:spPr>
            <a:xfrm rot="10800000">
              <a:off x="3230" y="2394"/>
              <a:ext cx="8447" cy="1587"/>
            </a:xfrm>
            <a:prstGeom prst="curvedConnector3">
              <a:avLst>
                <a:gd name="adj1" fmla="val 49994"/>
              </a:avLst>
            </a:prstGeom>
            <a:solidFill>
              <a:schemeClr val="accent1"/>
            </a:solidFill>
            <a:ln w="15875" cap="flat" cmpd="sng" algn="ctr">
              <a:solidFill>
                <a:srgbClr val="003300"/>
              </a:solidFill>
              <a:prstDash val="solid"/>
              <a:round/>
              <a:headEnd type="none" w="lg" len="lg"/>
              <a:tailEnd type="arrow" w="lg" len="lg"/>
            </a:ln>
          </p:spPr>
        </p:cxnSp>
        <p:cxnSp>
          <p:nvCxnSpPr>
            <p:cNvPr id="23" name="曲线连接符 22"/>
            <p:cNvCxnSpPr/>
            <p:nvPr/>
          </p:nvCxnSpPr>
          <p:spPr>
            <a:xfrm rot="10800000">
              <a:off x="3060" y="2387"/>
              <a:ext cx="6293" cy="1646"/>
            </a:xfrm>
            <a:prstGeom prst="curvedConnector3">
              <a:avLst>
                <a:gd name="adj1" fmla="val 49992"/>
              </a:avLst>
            </a:prstGeom>
            <a:solidFill>
              <a:schemeClr val="accent1"/>
            </a:solidFill>
            <a:ln w="15875" cap="flat" cmpd="sng" algn="ctr">
              <a:solidFill>
                <a:srgbClr val="003300"/>
              </a:solidFill>
              <a:prstDash val="solid"/>
              <a:round/>
              <a:headEnd type="none" w="lg" len="lg"/>
              <a:tailEnd type="arrow" w="lg" len="lg"/>
            </a:ln>
          </p:spPr>
        </p:cxnSp>
        <p:sp>
          <p:nvSpPr>
            <p:cNvPr id="25" name="文本框 24"/>
            <p:cNvSpPr txBox="1"/>
            <p:nvPr/>
          </p:nvSpPr>
          <p:spPr>
            <a:xfrm>
              <a:off x="9695" y="2060"/>
              <a:ext cx="732" cy="1016"/>
            </a:xfrm>
            <a:prstGeom prst="rect">
              <a:avLst/>
            </a:prstGeom>
            <a:noFill/>
          </p:spPr>
          <p:txBody>
            <a:bodyPr wrap="square" rtlCol="0" anchor="t">
              <a:spAutoFit/>
            </a:bodyPr>
            <a:lstStyle/>
            <a:p>
              <a:r>
                <a:rPr lang="en-US" altLang="zh-CN" sz="1800" dirty="0">
                  <a:solidFill>
                    <a:schemeClr val="tx1"/>
                  </a:solidFill>
                  <a:effectLst>
                    <a:outerShdw blurRad="38100" dist="19050" dir="2700000" algn="tl" rotWithShape="0">
                      <a:schemeClr val="dk1">
                        <a:alpha val="40000"/>
                      </a:schemeClr>
                    </a:outerShdw>
                  </a:effectLst>
                  <a:latin typeface="宋体" panose="02010600030101010101" pitchFamily="2" charset="-122"/>
                  <a:sym typeface="+mn-ea"/>
                </a:rPr>
                <a:t>A</a:t>
              </a:r>
              <a:endParaRPr lang="en-US" altLang="zh-CN" sz="1800" dirty="0">
                <a:solidFill>
                  <a:schemeClr val="tx1"/>
                </a:solidFill>
                <a:effectLst>
                  <a:outerShdw blurRad="38100" dist="19050" dir="2700000" algn="tl" rotWithShape="0">
                    <a:schemeClr val="dk1">
                      <a:alpha val="40000"/>
                    </a:schemeClr>
                  </a:outerShdw>
                </a:effectLst>
                <a:latin typeface="宋体" panose="02010600030101010101" pitchFamily="2" charset="-122"/>
                <a:sym typeface="+mn-ea"/>
              </a:endParaRPr>
            </a:p>
            <a:p>
              <a:r>
                <a:rPr lang="en-US" altLang="zh-CN" sz="1800" dirty="0">
                  <a:solidFill>
                    <a:schemeClr val="tx1"/>
                  </a:solidFill>
                  <a:effectLst>
                    <a:outerShdw blurRad="38100" dist="19050" dir="2700000" algn="tl" rotWithShape="0">
                      <a:schemeClr val="dk1">
                        <a:alpha val="40000"/>
                      </a:schemeClr>
                    </a:outerShdw>
                  </a:effectLst>
                  <a:latin typeface="宋体" panose="02010600030101010101" pitchFamily="2" charset="-122"/>
                  <a:sym typeface="+mn-ea"/>
                </a:rPr>
                <a:t>B</a:t>
              </a:r>
              <a:endParaRPr lang="en-US" altLang="zh-CN" sz="1800" dirty="0">
                <a:solidFill>
                  <a:schemeClr val="tx1"/>
                </a:solidFill>
                <a:effectLst>
                  <a:outerShdw blurRad="38100" dist="19050" dir="2700000" algn="tl" rotWithShape="0">
                    <a:schemeClr val="dk1">
                      <a:alpha val="40000"/>
                    </a:schemeClr>
                  </a:outerShdw>
                </a:effectLst>
                <a:latin typeface="宋体" panose="02010600030101010101" pitchFamily="2" charset="-122"/>
                <a:sym typeface="+mn-ea"/>
              </a:endParaRPr>
            </a:p>
          </p:txBody>
        </p:sp>
      </p:grpSp>
    </p:spTree>
  </p:cSld>
  <p:clrMapOvr>
    <a:masterClrMapping/>
  </p:clrMapOvr>
  <p:transition>
    <p:blinds/>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p:nvPr/>
        </p:nvSpPr>
        <p:spPr>
          <a:xfrm>
            <a:off x="461963" y="3109913"/>
            <a:ext cx="8142287" cy="31353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just" eaLnBrk="1" hangingPunct="1">
              <a:lnSpc>
                <a:spcPct val="160000"/>
              </a:lnSpc>
              <a:spcBef>
                <a:spcPct val="50000"/>
              </a:spcBef>
              <a:buClrTx/>
              <a:buSzTx/>
              <a:buFontTx/>
              <a:buNone/>
            </a:pPr>
            <a:r>
              <a:rPr lang="en-US" altLang="zh-CN" sz="2000" b="1" dirty="0">
                <a:latin typeface="Times New Roman" panose="02020603050405020304" pitchFamily="18" charset="0"/>
              </a:rPr>
              <a:t>         2) </a:t>
            </a:r>
            <a:r>
              <a:rPr lang="zh-CN" altLang="en-US" sz="2000" b="1" dirty="0">
                <a:latin typeface="Times New Roman" panose="02020603050405020304" pitchFamily="18" charset="0"/>
              </a:rPr>
              <a:t>共享段的回收</a:t>
            </a:r>
            <a:endParaRPr lang="zh-CN" altLang="en-US" sz="2000" b="1" dirty="0">
              <a:latin typeface="Times New Roman" panose="02020603050405020304" pitchFamily="18" charset="0"/>
            </a:endParaRPr>
          </a:p>
          <a:p>
            <a:pPr marL="0" lvl="0" indent="0" algn="just" eaLnBrk="1" hangingPunct="1">
              <a:lnSpc>
                <a:spcPct val="160000"/>
              </a:lnSpc>
              <a:spcBef>
                <a:spcPct val="50000"/>
              </a:spcBef>
              <a:buClrTx/>
              <a:buSzTx/>
              <a:buFontTx/>
              <a:buNone/>
            </a:pPr>
            <a:r>
              <a:rPr lang="zh-CN" altLang="en-US" sz="2000" b="1" dirty="0">
                <a:latin typeface="Times New Roman" panose="02020603050405020304" pitchFamily="18" charset="0"/>
              </a:rPr>
              <a:t>        </a:t>
            </a:r>
            <a:r>
              <a:rPr lang="zh-CN" altLang="en-US" sz="2000" b="1" dirty="0">
                <a:solidFill>
                  <a:srgbClr val="000000"/>
                </a:solidFill>
                <a:latin typeface="Times New Roman" panose="02020603050405020304" pitchFamily="18" charset="0"/>
              </a:rPr>
              <a:t>当共享此段的某进程不再需要该段时，应将该段释放，包括撤消在</a:t>
            </a:r>
            <a:r>
              <a:rPr lang="zh-CN" altLang="en-US" sz="2000" b="1" dirty="0">
                <a:solidFill>
                  <a:srgbClr val="FF0000"/>
                </a:solidFill>
                <a:latin typeface="Times New Roman" panose="02020603050405020304" pitchFamily="18" charset="0"/>
              </a:rPr>
              <a:t>该进程段表中</a:t>
            </a:r>
            <a:r>
              <a:rPr lang="zh-CN" altLang="en-US" sz="2000" b="1" dirty="0">
                <a:solidFill>
                  <a:srgbClr val="000000"/>
                </a:solidFill>
                <a:latin typeface="Times New Roman" panose="02020603050405020304" pitchFamily="18" charset="0"/>
              </a:rPr>
              <a:t>共享段所对应的表项，以及执行</a:t>
            </a:r>
            <a:r>
              <a:rPr lang="en-US" altLang="zh-CN" sz="2000" b="1" dirty="0">
                <a:solidFill>
                  <a:srgbClr val="000000"/>
                </a:solidFill>
                <a:latin typeface="Times New Roman" panose="02020603050405020304" pitchFamily="18" charset="0"/>
              </a:rPr>
              <a:t>count∶=count-1</a:t>
            </a:r>
            <a:r>
              <a:rPr lang="zh-CN" altLang="en-US" sz="2000" b="1" dirty="0">
                <a:solidFill>
                  <a:srgbClr val="000000"/>
                </a:solidFill>
                <a:latin typeface="Times New Roman" panose="02020603050405020304" pitchFamily="18" charset="0"/>
              </a:rPr>
              <a:t>操作，若结果为</a:t>
            </a:r>
            <a:r>
              <a:rPr lang="en-US" altLang="zh-CN" sz="2000" b="1" dirty="0">
                <a:solidFill>
                  <a:srgbClr val="000000"/>
                </a:solidFill>
                <a:latin typeface="Times New Roman" panose="02020603050405020304" pitchFamily="18" charset="0"/>
              </a:rPr>
              <a:t>0</a:t>
            </a:r>
            <a:r>
              <a:rPr lang="zh-CN" altLang="en-US" sz="2000" b="1" dirty="0">
                <a:solidFill>
                  <a:srgbClr val="000000"/>
                </a:solidFill>
                <a:latin typeface="Times New Roman" panose="02020603050405020304" pitchFamily="18" charset="0"/>
              </a:rPr>
              <a:t>，则须由系统回收该共享段的物理内存，以及取消在</a:t>
            </a:r>
            <a:r>
              <a:rPr lang="zh-CN" altLang="en-US" sz="2000" b="1" dirty="0">
                <a:solidFill>
                  <a:srgbClr val="FF0000"/>
                </a:solidFill>
                <a:latin typeface="Times New Roman" panose="02020603050405020304" pitchFamily="18" charset="0"/>
              </a:rPr>
              <a:t>共享段表</a:t>
            </a:r>
            <a:r>
              <a:rPr lang="zh-CN" altLang="en-US" sz="2000" b="1" dirty="0">
                <a:solidFill>
                  <a:srgbClr val="000000"/>
                </a:solidFill>
                <a:latin typeface="Times New Roman" panose="02020603050405020304" pitchFamily="18" charset="0"/>
              </a:rPr>
              <a:t>中该段所对应的表项，表明此时已没有进程使用该段；否则</a:t>
            </a:r>
            <a:r>
              <a:rPr lang="en-US" altLang="zh-CN" sz="2000" b="1" dirty="0">
                <a:solidFill>
                  <a:srgbClr val="000000"/>
                </a:solidFill>
                <a:latin typeface="Times New Roman" panose="02020603050405020304" pitchFamily="18" charset="0"/>
              </a:rPr>
              <a:t>(</a:t>
            </a:r>
            <a:r>
              <a:rPr lang="zh-CN" altLang="en-US" sz="2000" b="1" dirty="0">
                <a:solidFill>
                  <a:srgbClr val="000000"/>
                </a:solidFill>
                <a:latin typeface="Times New Roman" panose="02020603050405020304" pitchFamily="18" charset="0"/>
              </a:rPr>
              <a:t>减</a:t>
            </a:r>
            <a:r>
              <a:rPr lang="en-US" altLang="zh-CN" sz="2000" b="1" dirty="0">
                <a:solidFill>
                  <a:srgbClr val="000000"/>
                </a:solidFill>
                <a:latin typeface="Times New Roman" panose="02020603050405020304" pitchFamily="18" charset="0"/>
              </a:rPr>
              <a:t>1</a:t>
            </a:r>
            <a:r>
              <a:rPr lang="zh-CN" altLang="en-US" sz="2000" b="1" dirty="0">
                <a:solidFill>
                  <a:srgbClr val="000000"/>
                </a:solidFill>
                <a:latin typeface="Times New Roman" panose="02020603050405020304" pitchFamily="18" charset="0"/>
              </a:rPr>
              <a:t>结果不为</a:t>
            </a:r>
            <a:r>
              <a:rPr lang="en-US" altLang="zh-CN" sz="2000" b="1" dirty="0">
                <a:solidFill>
                  <a:srgbClr val="000000"/>
                </a:solidFill>
                <a:latin typeface="Times New Roman" panose="02020603050405020304" pitchFamily="18" charset="0"/>
              </a:rPr>
              <a:t>0)</a:t>
            </a:r>
            <a:r>
              <a:rPr lang="zh-CN" altLang="en-US" sz="2000" b="1" dirty="0">
                <a:solidFill>
                  <a:srgbClr val="000000"/>
                </a:solidFill>
                <a:latin typeface="Times New Roman" panose="02020603050405020304" pitchFamily="18" charset="0"/>
              </a:rPr>
              <a:t>， </a:t>
            </a:r>
            <a:r>
              <a:rPr lang="zh-CN" altLang="en-US" sz="2000" b="1" dirty="0">
                <a:solidFill>
                  <a:srgbClr val="002AAE"/>
                </a:solidFill>
                <a:latin typeface="Times New Roman" panose="02020603050405020304" pitchFamily="18" charset="0"/>
              </a:rPr>
              <a:t>则只是取消</a:t>
            </a:r>
            <a:r>
              <a:rPr lang="zh-CN" altLang="en-US" sz="2000" b="1" dirty="0">
                <a:solidFill>
                  <a:srgbClr val="FF0000"/>
                </a:solidFill>
                <a:latin typeface="Times New Roman" panose="02020603050405020304" pitchFamily="18" charset="0"/>
              </a:rPr>
              <a:t>该进程</a:t>
            </a:r>
            <a:r>
              <a:rPr lang="zh-CN" altLang="en-US" sz="2000" b="1" dirty="0">
                <a:solidFill>
                  <a:srgbClr val="002AAE"/>
                </a:solidFill>
                <a:latin typeface="Times New Roman" panose="02020603050405020304" pitchFamily="18" charset="0"/>
              </a:rPr>
              <a:t>在共享段表中的有关记录。</a:t>
            </a:r>
            <a:r>
              <a:rPr lang="zh-CN" altLang="en-US" sz="2000" dirty="0">
                <a:solidFill>
                  <a:srgbClr val="002AAE"/>
                </a:solidFill>
                <a:latin typeface="Times New Roman" panose="02020603050405020304" pitchFamily="18" charset="0"/>
              </a:rPr>
              <a:t> </a:t>
            </a:r>
            <a:endParaRPr lang="zh-CN" altLang="en-US" sz="2000" dirty="0">
              <a:solidFill>
                <a:srgbClr val="002AAE"/>
              </a:solidFill>
              <a:latin typeface="Times New Roman" panose="02020603050405020304" pitchFamily="18" charset="0"/>
            </a:endParaRPr>
          </a:p>
        </p:txBody>
      </p:sp>
      <p:grpSp>
        <p:nvGrpSpPr>
          <p:cNvPr id="27" name="组合 26"/>
          <p:cNvGrpSpPr/>
          <p:nvPr/>
        </p:nvGrpSpPr>
        <p:grpSpPr>
          <a:xfrm>
            <a:off x="1008380" y="45085"/>
            <a:ext cx="8062843" cy="3411855"/>
            <a:chOff x="1644" y="71"/>
            <a:chExt cx="12697" cy="5373"/>
          </a:xfrm>
        </p:grpSpPr>
        <p:grpSp>
          <p:nvGrpSpPr>
            <p:cNvPr id="84996" name="Group 66"/>
            <p:cNvGrpSpPr/>
            <p:nvPr/>
          </p:nvGrpSpPr>
          <p:grpSpPr>
            <a:xfrm>
              <a:off x="4822" y="71"/>
              <a:ext cx="9519" cy="4222"/>
              <a:chOff x="382" y="1593"/>
              <a:chExt cx="4964" cy="2282"/>
            </a:xfrm>
          </p:grpSpPr>
          <p:sp>
            <p:nvSpPr>
              <p:cNvPr id="84997" name="AutoShape 7"/>
              <p:cNvSpPr>
                <a:spLocks noChangeAspect="1" noTextEdit="1"/>
              </p:cNvSpPr>
              <p:nvPr/>
            </p:nvSpPr>
            <p:spPr>
              <a:xfrm>
                <a:off x="382" y="1593"/>
                <a:ext cx="4876" cy="2268"/>
              </a:xfrm>
              <a:prstGeom prst="rect">
                <a:avLst/>
              </a:prstGeom>
              <a:noFill/>
              <a:ln w="9525">
                <a:noFill/>
              </a:ln>
            </p:spPr>
            <p:txBody>
              <a:bodyPr/>
              <a:lstStyle/>
              <a:p>
                <a:endParaRPr lang="zh-CN" altLang="en-US"/>
              </a:p>
            </p:txBody>
          </p:sp>
          <p:sp>
            <p:nvSpPr>
              <p:cNvPr id="84998" name="Rectangle 9"/>
              <p:cNvSpPr/>
              <p:nvPr/>
            </p:nvSpPr>
            <p:spPr>
              <a:xfrm>
                <a:off x="2214" y="1816"/>
                <a:ext cx="553"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4999" name="Rectangle 10"/>
              <p:cNvSpPr/>
              <p:nvPr/>
            </p:nvSpPr>
            <p:spPr>
              <a:xfrm>
                <a:off x="2332" y="1878"/>
                <a:ext cx="337"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段名</a:t>
                </a:r>
                <a:endParaRPr lang="zh-CN" altLang="en-US" sz="1600" b="1" dirty="0"/>
              </a:p>
            </p:txBody>
          </p:sp>
          <p:sp>
            <p:nvSpPr>
              <p:cNvPr id="85000" name="Rectangle 11"/>
              <p:cNvSpPr/>
              <p:nvPr/>
            </p:nvSpPr>
            <p:spPr>
              <a:xfrm>
                <a:off x="2767" y="1816"/>
                <a:ext cx="552"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01" name="Rectangle 12"/>
              <p:cNvSpPr/>
              <p:nvPr/>
            </p:nvSpPr>
            <p:spPr>
              <a:xfrm>
                <a:off x="2896" y="1878"/>
                <a:ext cx="337"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段长</a:t>
                </a:r>
                <a:endParaRPr lang="zh-CN" altLang="en-US" sz="1600" b="1" dirty="0"/>
              </a:p>
            </p:txBody>
          </p:sp>
          <p:sp>
            <p:nvSpPr>
              <p:cNvPr id="85002" name="Rectangle 13"/>
              <p:cNvSpPr/>
              <p:nvPr/>
            </p:nvSpPr>
            <p:spPr>
              <a:xfrm>
                <a:off x="3319" y="1816"/>
                <a:ext cx="728"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03" name="Rectangle 14"/>
              <p:cNvSpPr/>
              <p:nvPr/>
            </p:nvSpPr>
            <p:spPr>
              <a:xfrm>
                <a:off x="3378" y="1878"/>
                <a:ext cx="674"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内存始址</a:t>
                </a:r>
                <a:endParaRPr lang="zh-CN" altLang="en-US" sz="1600" b="1" dirty="0"/>
              </a:p>
            </p:txBody>
          </p:sp>
          <p:sp>
            <p:nvSpPr>
              <p:cNvPr id="85004" name="Rectangle 15"/>
              <p:cNvSpPr/>
              <p:nvPr/>
            </p:nvSpPr>
            <p:spPr>
              <a:xfrm>
                <a:off x="4047" y="1816"/>
                <a:ext cx="553"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05" name="Rectangle 16"/>
              <p:cNvSpPr/>
              <p:nvPr/>
            </p:nvSpPr>
            <p:spPr>
              <a:xfrm>
                <a:off x="4165" y="1878"/>
                <a:ext cx="337"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状态</a:t>
                </a:r>
                <a:endParaRPr lang="zh-CN" altLang="en-US" sz="1600" b="1" dirty="0"/>
              </a:p>
            </p:txBody>
          </p:sp>
          <p:sp>
            <p:nvSpPr>
              <p:cNvPr id="85006" name="Rectangle 17"/>
              <p:cNvSpPr/>
              <p:nvPr/>
            </p:nvSpPr>
            <p:spPr>
              <a:xfrm>
                <a:off x="4600" y="1816"/>
                <a:ext cx="728"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07" name="Rectangle 18"/>
              <p:cNvSpPr/>
              <p:nvPr/>
            </p:nvSpPr>
            <p:spPr>
              <a:xfrm>
                <a:off x="4658" y="1878"/>
                <a:ext cx="674"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外存始址</a:t>
                </a:r>
                <a:endParaRPr lang="zh-CN" altLang="en-US" sz="1600" b="1" dirty="0"/>
              </a:p>
            </p:txBody>
          </p:sp>
          <p:sp>
            <p:nvSpPr>
              <p:cNvPr id="85008" name="Rectangle 19"/>
              <p:cNvSpPr/>
              <p:nvPr/>
            </p:nvSpPr>
            <p:spPr>
              <a:xfrm>
                <a:off x="2214" y="2114"/>
                <a:ext cx="3114" cy="297"/>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09" name="Rectangle 20"/>
              <p:cNvSpPr/>
              <p:nvPr/>
            </p:nvSpPr>
            <p:spPr>
              <a:xfrm>
                <a:off x="3131" y="2176"/>
                <a:ext cx="1019"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共享进程计数</a:t>
                </a:r>
                <a:endParaRPr lang="zh-CN" altLang="en-US" sz="1600" b="1" dirty="0"/>
              </a:p>
            </p:txBody>
          </p:sp>
          <p:sp>
            <p:nvSpPr>
              <p:cNvPr id="85010" name="Rectangle 21"/>
              <p:cNvSpPr/>
              <p:nvPr/>
            </p:nvSpPr>
            <p:spPr>
              <a:xfrm>
                <a:off x="4165" y="2138"/>
                <a:ext cx="391"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FF0000"/>
                    </a:solidFill>
                    <a:latin typeface="Times" pitchFamily="18" charset="0"/>
                  </a:rPr>
                  <a:t>count</a:t>
                </a:r>
                <a:endParaRPr lang="en-US" altLang="zh-CN" sz="2000" b="1" dirty="0">
                  <a:solidFill>
                    <a:srgbClr val="FF0000"/>
                  </a:solidFill>
                  <a:latin typeface="Times" pitchFamily="18" charset="0"/>
                </a:endParaRPr>
              </a:p>
            </p:txBody>
          </p:sp>
          <p:sp>
            <p:nvSpPr>
              <p:cNvPr id="85011" name="Rectangle 22"/>
              <p:cNvSpPr/>
              <p:nvPr/>
            </p:nvSpPr>
            <p:spPr>
              <a:xfrm>
                <a:off x="2214" y="2411"/>
                <a:ext cx="553"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12" name="Rectangle 23"/>
              <p:cNvSpPr/>
              <p:nvPr/>
            </p:nvSpPr>
            <p:spPr>
              <a:xfrm>
                <a:off x="2332" y="2473"/>
                <a:ext cx="337"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状态</a:t>
                </a:r>
                <a:endParaRPr lang="zh-CN" altLang="en-US" sz="1600" b="1" dirty="0"/>
              </a:p>
            </p:txBody>
          </p:sp>
          <p:sp>
            <p:nvSpPr>
              <p:cNvPr id="85013" name="Rectangle 24"/>
              <p:cNvSpPr/>
              <p:nvPr/>
            </p:nvSpPr>
            <p:spPr>
              <a:xfrm>
                <a:off x="2767" y="2411"/>
                <a:ext cx="552"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14" name="Rectangle 25"/>
              <p:cNvSpPr/>
              <p:nvPr/>
            </p:nvSpPr>
            <p:spPr>
              <a:xfrm>
                <a:off x="2814" y="2473"/>
                <a:ext cx="506"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进程名</a:t>
                </a:r>
                <a:endParaRPr lang="zh-CN" altLang="en-US" sz="1600" b="1" dirty="0"/>
              </a:p>
            </p:txBody>
          </p:sp>
          <p:sp>
            <p:nvSpPr>
              <p:cNvPr id="85015" name="Rectangle 26"/>
              <p:cNvSpPr/>
              <p:nvPr/>
            </p:nvSpPr>
            <p:spPr>
              <a:xfrm>
                <a:off x="3319" y="2411"/>
                <a:ext cx="728"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16" name="Rectangle 27"/>
              <p:cNvSpPr/>
              <p:nvPr/>
            </p:nvSpPr>
            <p:spPr>
              <a:xfrm>
                <a:off x="3460" y="2473"/>
                <a:ext cx="506"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进程号</a:t>
                </a:r>
                <a:endParaRPr lang="zh-CN" altLang="en-US" sz="1600" b="1" dirty="0"/>
              </a:p>
            </p:txBody>
          </p:sp>
          <p:sp>
            <p:nvSpPr>
              <p:cNvPr id="85017" name="Rectangle 28"/>
              <p:cNvSpPr/>
              <p:nvPr/>
            </p:nvSpPr>
            <p:spPr>
              <a:xfrm>
                <a:off x="4047" y="2411"/>
                <a:ext cx="553"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18" name="Rectangle 29"/>
              <p:cNvSpPr/>
              <p:nvPr/>
            </p:nvSpPr>
            <p:spPr>
              <a:xfrm>
                <a:off x="4165" y="2473"/>
                <a:ext cx="337"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段号</a:t>
                </a:r>
                <a:endParaRPr lang="zh-CN" altLang="en-US" sz="1600" b="1" dirty="0"/>
              </a:p>
            </p:txBody>
          </p:sp>
          <p:sp>
            <p:nvSpPr>
              <p:cNvPr id="85019" name="Rectangle 30"/>
              <p:cNvSpPr/>
              <p:nvPr/>
            </p:nvSpPr>
            <p:spPr>
              <a:xfrm>
                <a:off x="4600" y="2411"/>
                <a:ext cx="728"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20" name="Rectangle 31"/>
              <p:cNvSpPr/>
              <p:nvPr/>
            </p:nvSpPr>
            <p:spPr>
              <a:xfrm>
                <a:off x="4667" y="2440"/>
                <a:ext cx="679" cy="21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000000"/>
                    </a:solidFill>
                    <a:latin typeface="宋体" panose="02010600030101010101" pitchFamily="2" charset="-122"/>
                  </a:rPr>
                  <a:t>存取控制</a:t>
                </a:r>
                <a:endParaRPr lang="zh-CN" altLang="en-US" sz="1600" b="1" dirty="0"/>
              </a:p>
            </p:txBody>
          </p:sp>
          <p:sp>
            <p:nvSpPr>
              <p:cNvPr id="85021" name="Rectangle 32"/>
              <p:cNvSpPr/>
              <p:nvPr/>
            </p:nvSpPr>
            <p:spPr>
              <a:xfrm>
                <a:off x="2214" y="2696"/>
                <a:ext cx="3114" cy="409"/>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22" name="Rectangle 33"/>
              <p:cNvSpPr/>
              <p:nvPr/>
            </p:nvSpPr>
            <p:spPr>
              <a:xfrm rot="5400000">
                <a:off x="2422"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5023" name="Rectangle 34"/>
              <p:cNvSpPr/>
              <p:nvPr/>
            </p:nvSpPr>
            <p:spPr>
              <a:xfrm rot="5400000">
                <a:off x="2975"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5024" name="Rectangle 35"/>
              <p:cNvSpPr/>
              <p:nvPr/>
            </p:nvSpPr>
            <p:spPr>
              <a:xfrm rot="5400000">
                <a:off x="3609"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5025" name="Rectangle 36"/>
              <p:cNvSpPr/>
              <p:nvPr/>
            </p:nvSpPr>
            <p:spPr>
              <a:xfrm rot="5400000">
                <a:off x="4255"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5026" name="Rectangle 37"/>
              <p:cNvSpPr/>
              <p:nvPr/>
            </p:nvSpPr>
            <p:spPr>
              <a:xfrm rot="5400000">
                <a:off x="4890"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5027" name="Rectangle 38"/>
              <p:cNvSpPr/>
              <p:nvPr/>
            </p:nvSpPr>
            <p:spPr>
              <a:xfrm>
                <a:off x="546" y="1643"/>
                <a:ext cx="893" cy="297"/>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28" name="Rectangle 39"/>
              <p:cNvSpPr/>
              <p:nvPr/>
            </p:nvSpPr>
            <p:spPr>
              <a:xfrm>
                <a:off x="546" y="1940"/>
                <a:ext cx="893" cy="297"/>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29" name="Rectangle 40"/>
              <p:cNvSpPr/>
              <p:nvPr/>
            </p:nvSpPr>
            <p:spPr>
              <a:xfrm>
                <a:off x="546" y="2237"/>
                <a:ext cx="893" cy="286"/>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30" name="Rectangle 41"/>
              <p:cNvSpPr/>
              <p:nvPr/>
            </p:nvSpPr>
            <p:spPr>
              <a:xfrm>
                <a:off x="546" y="2523"/>
                <a:ext cx="893" cy="1053"/>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5031" name="Rectangle 42"/>
              <p:cNvSpPr/>
              <p:nvPr/>
            </p:nvSpPr>
            <p:spPr>
              <a:xfrm rot="5400000">
                <a:off x="918" y="2954"/>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5032" name="Line 43"/>
              <p:cNvSpPr/>
              <p:nvPr/>
            </p:nvSpPr>
            <p:spPr>
              <a:xfrm flipV="1">
                <a:off x="1439" y="2151"/>
                <a:ext cx="47" cy="24"/>
              </a:xfrm>
              <a:prstGeom prst="line">
                <a:avLst/>
              </a:prstGeom>
              <a:ln w="19050" cap="flat" cmpd="sng">
                <a:solidFill>
                  <a:srgbClr val="000000"/>
                </a:solidFill>
                <a:prstDash val="solid"/>
                <a:headEnd type="none" w="med" len="med"/>
                <a:tailEnd type="none" w="med" len="med"/>
              </a:ln>
            </p:spPr>
          </p:sp>
          <p:sp>
            <p:nvSpPr>
              <p:cNvPr id="85033" name="Line 44"/>
              <p:cNvSpPr/>
              <p:nvPr/>
            </p:nvSpPr>
            <p:spPr>
              <a:xfrm flipV="1">
                <a:off x="1533" y="2114"/>
                <a:ext cx="35" cy="24"/>
              </a:xfrm>
              <a:prstGeom prst="line">
                <a:avLst/>
              </a:prstGeom>
              <a:ln w="19050" cap="flat" cmpd="sng">
                <a:solidFill>
                  <a:srgbClr val="000000"/>
                </a:solidFill>
                <a:prstDash val="solid"/>
                <a:headEnd type="none" w="med" len="med"/>
                <a:tailEnd type="none" w="med" len="med"/>
              </a:ln>
            </p:spPr>
          </p:sp>
          <p:sp>
            <p:nvSpPr>
              <p:cNvPr id="85034" name="Line 45"/>
              <p:cNvSpPr/>
              <p:nvPr/>
            </p:nvSpPr>
            <p:spPr>
              <a:xfrm flipV="1">
                <a:off x="1615" y="2076"/>
                <a:ext cx="35" cy="25"/>
              </a:xfrm>
              <a:prstGeom prst="line">
                <a:avLst/>
              </a:prstGeom>
              <a:ln w="19050" cap="flat" cmpd="sng">
                <a:solidFill>
                  <a:srgbClr val="000000"/>
                </a:solidFill>
                <a:prstDash val="solid"/>
                <a:headEnd type="none" w="med" len="med"/>
                <a:tailEnd type="none" w="med" len="med"/>
              </a:ln>
            </p:spPr>
          </p:sp>
          <p:sp>
            <p:nvSpPr>
              <p:cNvPr id="85035" name="Line 46"/>
              <p:cNvSpPr/>
              <p:nvPr/>
            </p:nvSpPr>
            <p:spPr>
              <a:xfrm flipV="1">
                <a:off x="1697" y="2039"/>
                <a:ext cx="47" cy="13"/>
              </a:xfrm>
              <a:prstGeom prst="line">
                <a:avLst/>
              </a:prstGeom>
              <a:ln w="19050" cap="flat" cmpd="sng">
                <a:solidFill>
                  <a:srgbClr val="000000"/>
                </a:solidFill>
                <a:prstDash val="solid"/>
                <a:headEnd type="none" w="med" len="med"/>
                <a:tailEnd type="none" w="med" len="med"/>
              </a:ln>
            </p:spPr>
          </p:sp>
          <p:sp>
            <p:nvSpPr>
              <p:cNvPr id="85036" name="Line 47"/>
              <p:cNvSpPr/>
              <p:nvPr/>
            </p:nvSpPr>
            <p:spPr>
              <a:xfrm flipV="1">
                <a:off x="1791" y="1990"/>
                <a:ext cx="47" cy="24"/>
              </a:xfrm>
              <a:prstGeom prst="line">
                <a:avLst/>
              </a:prstGeom>
              <a:ln w="19050" cap="flat" cmpd="sng">
                <a:solidFill>
                  <a:srgbClr val="000000"/>
                </a:solidFill>
                <a:prstDash val="solid"/>
                <a:headEnd type="none" w="med" len="med"/>
                <a:tailEnd type="none" w="med" len="med"/>
              </a:ln>
            </p:spPr>
          </p:sp>
          <p:sp>
            <p:nvSpPr>
              <p:cNvPr id="85037" name="Line 48"/>
              <p:cNvSpPr/>
              <p:nvPr/>
            </p:nvSpPr>
            <p:spPr>
              <a:xfrm flipV="1">
                <a:off x="1885" y="1952"/>
                <a:ext cx="47" cy="13"/>
              </a:xfrm>
              <a:prstGeom prst="line">
                <a:avLst/>
              </a:prstGeom>
              <a:ln w="19050" cap="flat" cmpd="sng">
                <a:solidFill>
                  <a:srgbClr val="000000"/>
                </a:solidFill>
                <a:prstDash val="solid"/>
                <a:headEnd type="none" w="med" len="med"/>
                <a:tailEnd type="none" w="med" len="med"/>
              </a:ln>
            </p:spPr>
          </p:sp>
          <p:sp>
            <p:nvSpPr>
              <p:cNvPr id="85038" name="Line 49"/>
              <p:cNvSpPr/>
              <p:nvPr/>
            </p:nvSpPr>
            <p:spPr>
              <a:xfrm flipV="1">
                <a:off x="1968" y="1915"/>
                <a:ext cx="47" cy="13"/>
              </a:xfrm>
              <a:prstGeom prst="line">
                <a:avLst/>
              </a:prstGeom>
              <a:ln w="19050" cap="flat" cmpd="sng">
                <a:solidFill>
                  <a:srgbClr val="000000"/>
                </a:solidFill>
                <a:prstDash val="solid"/>
                <a:headEnd type="none" w="med" len="med"/>
                <a:tailEnd type="none" w="med" len="med"/>
              </a:ln>
            </p:spPr>
          </p:sp>
          <p:sp>
            <p:nvSpPr>
              <p:cNvPr id="85039" name="Line 50"/>
              <p:cNvSpPr/>
              <p:nvPr/>
            </p:nvSpPr>
            <p:spPr>
              <a:xfrm flipV="1">
                <a:off x="2050" y="1878"/>
                <a:ext cx="47" cy="12"/>
              </a:xfrm>
              <a:prstGeom prst="line">
                <a:avLst/>
              </a:prstGeom>
              <a:ln w="19050" cap="flat" cmpd="sng">
                <a:solidFill>
                  <a:srgbClr val="000000"/>
                </a:solidFill>
                <a:prstDash val="solid"/>
                <a:headEnd type="none" w="med" len="med"/>
                <a:tailEnd type="none" w="med" len="med"/>
              </a:ln>
            </p:spPr>
          </p:sp>
          <p:sp>
            <p:nvSpPr>
              <p:cNvPr id="85040" name="Line 51"/>
              <p:cNvSpPr/>
              <p:nvPr/>
            </p:nvSpPr>
            <p:spPr>
              <a:xfrm flipV="1">
                <a:off x="2132" y="1828"/>
                <a:ext cx="47" cy="25"/>
              </a:xfrm>
              <a:prstGeom prst="line">
                <a:avLst/>
              </a:prstGeom>
              <a:ln w="19050" cap="flat" cmpd="sng">
                <a:solidFill>
                  <a:srgbClr val="000000"/>
                </a:solidFill>
                <a:prstDash val="solid"/>
                <a:headEnd type="none" w="med" len="med"/>
                <a:tailEnd type="none" w="med" len="med"/>
              </a:ln>
            </p:spPr>
          </p:sp>
          <p:sp>
            <p:nvSpPr>
              <p:cNvPr id="85041" name="Line 52"/>
              <p:cNvSpPr/>
              <p:nvPr/>
            </p:nvSpPr>
            <p:spPr>
              <a:xfrm>
                <a:off x="1439" y="2523"/>
                <a:ext cx="35" cy="24"/>
              </a:xfrm>
              <a:prstGeom prst="line">
                <a:avLst/>
              </a:prstGeom>
              <a:ln w="19050" cap="flat" cmpd="sng">
                <a:solidFill>
                  <a:srgbClr val="000000"/>
                </a:solidFill>
                <a:prstDash val="solid"/>
                <a:headEnd type="none" w="med" len="med"/>
                <a:tailEnd type="none" w="med" len="med"/>
              </a:ln>
            </p:spPr>
          </p:sp>
          <p:sp>
            <p:nvSpPr>
              <p:cNvPr id="85042" name="Line 53"/>
              <p:cNvSpPr/>
              <p:nvPr/>
            </p:nvSpPr>
            <p:spPr>
              <a:xfrm>
                <a:off x="1509" y="2572"/>
                <a:ext cx="36" cy="37"/>
              </a:xfrm>
              <a:prstGeom prst="line">
                <a:avLst/>
              </a:prstGeom>
              <a:ln w="19050" cap="flat" cmpd="sng">
                <a:solidFill>
                  <a:srgbClr val="000000"/>
                </a:solidFill>
                <a:prstDash val="solid"/>
                <a:headEnd type="none" w="med" len="med"/>
                <a:tailEnd type="none" w="med" len="med"/>
              </a:ln>
            </p:spPr>
          </p:sp>
          <p:sp>
            <p:nvSpPr>
              <p:cNvPr id="85043" name="Line 54"/>
              <p:cNvSpPr/>
              <p:nvPr/>
            </p:nvSpPr>
            <p:spPr>
              <a:xfrm>
                <a:off x="1592" y="2634"/>
                <a:ext cx="35" cy="25"/>
              </a:xfrm>
              <a:prstGeom prst="line">
                <a:avLst/>
              </a:prstGeom>
              <a:ln w="19050" cap="flat" cmpd="sng">
                <a:solidFill>
                  <a:srgbClr val="000000"/>
                </a:solidFill>
                <a:prstDash val="solid"/>
                <a:headEnd type="none" w="med" len="med"/>
                <a:tailEnd type="none" w="med" len="med"/>
              </a:ln>
            </p:spPr>
          </p:sp>
          <p:sp>
            <p:nvSpPr>
              <p:cNvPr id="85044" name="Line 55"/>
              <p:cNvSpPr/>
              <p:nvPr/>
            </p:nvSpPr>
            <p:spPr>
              <a:xfrm>
                <a:off x="1655" y="2682"/>
                <a:ext cx="42" cy="39"/>
              </a:xfrm>
              <a:prstGeom prst="line">
                <a:avLst/>
              </a:prstGeom>
              <a:ln w="19050" cap="flat" cmpd="sng">
                <a:solidFill>
                  <a:srgbClr val="000000"/>
                </a:solidFill>
                <a:prstDash val="solid"/>
                <a:headEnd type="none" w="med" len="med"/>
                <a:tailEnd type="none" w="med" len="med"/>
              </a:ln>
            </p:spPr>
          </p:sp>
          <p:sp>
            <p:nvSpPr>
              <p:cNvPr id="85045" name="Line 56"/>
              <p:cNvSpPr/>
              <p:nvPr/>
            </p:nvSpPr>
            <p:spPr>
              <a:xfrm>
                <a:off x="1733" y="2746"/>
                <a:ext cx="35" cy="24"/>
              </a:xfrm>
              <a:prstGeom prst="line">
                <a:avLst/>
              </a:prstGeom>
              <a:ln w="19050" cap="flat" cmpd="sng">
                <a:solidFill>
                  <a:srgbClr val="000000"/>
                </a:solidFill>
                <a:prstDash val="solid"/>
                <a:headEnd type="none" w="med" len="med"/>
                <a:tailEnd type="none" w="med" len="med"/>
              </a:ln>
            </p:spPr>
          </p:sp>
          <p:sp>
            <p:nvSpPr>
              <p:cNvPr id="85046" name="Line 57"/>
              <p:cNvSpPr/>
              <p:nvPr/>
            </p:nvSpPr>
            <p:spPr>
              <a:xfrm>
                <a:off x="1803" y="2795"/>
                <a:ext cx="35" cy="25"/>
              </a:xfrm>
              <a:prstGeom prst="line">
                <a:avLst/>
              </a:prstGeom>
              <a:ln w="19050" cap="flat" cmpd="sng">
                <a:solidFill>
                  <a:srgbClr val="000000"/>
                </a:solidFill>
                <a:prstDash val="solid"/>
                <a:headEnd type="none" w="med" len="med"/>
                <a:tailEnd type="none" w="med" len="med"/>
              </a:ln>
            </p:spPr>
          </p:sp>
          <p:sp>
            <p:nvSpPr>
              <p:cNvPr id="85047" name="Line 58"/>
              <p:cNvSpPr/>
              <p:nvPr/>
            </p:nvSpPr>
            <p:spPr>
              <a:xfrm>
                <a:off x="1874" y="2845"/>
                <a:ext cx="35" cy="37"/>
              </a:xfrm>
              <a:prstGeom prst="line">
                <a:avLst/>
              </a:prstGeom>
              <a:ln w="19050" cap="flat" cmpd="sng">
                <a:solidFill>
                  <a:srgbClr val="000000"/>
                </a:solidFill>
                <a:prstDash val="solid"/>
                <a:headEnd type="none" w="med" len="med"/>
                <a:tailEnd type="none" w="med" len="med"/>
              </a:ln>
            </p:spPr>
          </p:sp>
          <p:sp>
            <p:nvSpPr>
              <p:cNvPr id="85048" name="Line 59"/>
              <p:cNvSpPr/>
              <p:nvPr/>
            </p:nvSpPr>
            <p:spPr>
              <a:xfrm>
                <a:off x="1944" y="2907"/>
                <a:ext cx="35" cy="24"/>
              </a:xfrm>
              <a:prstGeom prst="line">
                <a:avLst/>
              </a:prstGeom>
              <a:ln w="19050" cap="flat" cmpd="sng">
                <a:solidFill>
                  <a:srgbClr val="000000"/>
                </a:solidFill>
                <a:prstDash val="solid"/>
                <a:headEnd type="none" w="med" len="med"/>
                <a:tailEnd type="none" w="med" len="med"/>
              </a:ln>
            </p:spPr>
          </p:sp>
          <p:sp>
            <p:nvSpPr>
              <p:cNvPr id="85049" name="Line 60"/>
              <p:cNvSpPr/>
              <p:nvPr/>
            </p:nvSpPr>
            <p:spPr>
              <a:xfrm>
                <a:off x="2015" y="2956"/>
                <a:ext cx="35" cy="25"/>
              </a:xfrm>
              <a:prstGeom prst="line">
                <a:avLst/>
              </a:prstGeom>
              <a:ln w="19050" cap="flat" cmpd="sng">
                <a:solidFill>
                  <a:srgbClr val="000000"/>
                </a:solidFill>
                <a:prstDash val="solid"/>
                <a:headEnd type="none" w="med" len="med"/>
                <a:tailEnd type="none" w="med" len="med"/>
              </a:ln>
            </p:spPr>
          </p:sp>
          <p:sp>
            <p:nvSpPr>
              <p:cNvPr id="85050" name="Line 61"/>
              <p:cNvSpPr/>
              <p:nvPr/>
            </p:nvSpPr>
            <p:spPr>
              <a:xfrm>
                <a:off x="2085" y="3006"/>
                <a:ext cx="35" cy="25"/>
              </a:xfrm>
              <a:prstGeom prst="line">
                <a:avLst/>
              </a:prstGeom>
              <a:ln w="19050" cap="flat" cmpd="sng">
                <a:solidFill>
                  <a:srgbClr val="000000"/>
                </a:solidFill>
                <a:prstDash val="solid"/>
                <a:headEnd type="none" w="med" len="med"/>
                <a:tailEnd type="none" w="med" len="med"/>
              </a:ln>
            </p:spPr>
          </p:sp>
          <p:sp>
            <p:nvSpPr>
              <p:cNvPr id="85051" name="Line 62"/>
              <p:cNvSpPr/>
              <p:nvPr/>
            </p:nvSpPr>
            <p:spPr>
              <a:xfrm>
                <a:off x="2156" y="3068"/>
                <a:ext cx="47" cy="25"/>
              </a:xfrm>
              <a:prstGeom prst="line">
                <a:avLst/>
              </a:prstGeom>
              <a:ln w="19050" cap="flat" cmpd="sng">
                <a:solidFill>
                  <a:srgbClr val="000000"/>
                </a:solidFill>
                <a:prstDash val="solid"/>
                <a:headEnd type="none" w="med" len="med"/>
                <a:tailEnd type="none" w="med" len="med"/>
              </a:ln>
            </p:spPr>
          </p:sp>
          <p:sp>
            <p:nvSpPr>
              <p:cNvPr id="85052" name="Freeform 63"/>
              <p:cNvSpPr/>
              <p:nvPr/>
            </p:nvSpPr>
            <p:spPr>
              <a:xfrm>
                <a:off x="2073" y="1816"/>
                <a:ext cx="141" cy="87"/>
              </a:xfrm>
              <a:custGeom>
                <a:avLst/>
                <a:gdLst>
                  <a:gd name="txL" fmla="*/ 0 w 141"/>
                  <a:gd name="txT" fmla="*/ 0 h 87"/>
                  <a:gd name="txR" fmla="*/ 141 w 141"/>
                  <a:gd name="txB" fmla="*/ 87 h 87"/>
                </a:gdLst>
                <a:ahLst/>
                <a:cxnLst>
                  <a:cxn ang="0">
                    <a:pos x="0" y="37"/>
                  </a:cxn>
                  <a:cxn ang="0">
                    <a:pos x="36" y="50"/>
                  </a:cxn>
                  <a:cxn ang="0">
                    <a:pos x="24" y="87"/>
                  </a:cxn>
                  <a:cxn ang="0">
                    <a:pos x="141" y="0"/>
                  </a:cxn>
                  <a:cxn ang="0">
                    <a:pos x="0" y="37"/>
                  </a:cxn>
                </a:cxnLst>
                <a:rect l="txL" t="txT" r="txR" b="txB"/>
                <a:pathLst>
                  <a:path w="141" h="87">
                    <a:moveTo>
                      <a:pt x="0" y="37"/>
                    </a:moveTo>
                    <a:lnTo>
                      <a:pt x="36" y="50"/>
                    </a:lnTo>
                    <a:lnTo>
                      <a:pt x="24" y="87"/>
                    </a:lnTo>
                    <a:lnTo>
                      <a:pt x="141" y="0"/>
                    </a:lnTo>
                    <a:lnTo>
                      <a:pt x="0" y="37"/>
                    </a:lnTo>
                    <a:close/>
                  </a:path>
                </a:pathLst>
              </a:custGeom>
              <a:solidFill>
                <a:srgbClr val="000000">
                  <a:alpha val="100000"/>
                </a:srgbClr>
              </a:solid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5053" name="Freeform 64"/>
              <p:cNvSpPr/>
              <p:nvPr/>
            </p:nvSpPr>
            <p:spPr>
              <a:xfrm>
                <a:off x="2073" y="2993"/>
                <a:ext cx="130" cy="112"/>
              </a:xfrm>
              <a:custGeom>
                <a:avLst/>
                <a:gdLst>
                  <a:gd name="txL" fmla="*/ 0 w 130"/>
                  <a:gd name="txT" fmla="*/ 0 h 112"/>
                  <a:gd name="txR" fmla="*/ 130 w 130"/>
                  <a:gd name="txB" fmla="*/ 112 h 112"/>
                </a:gdLst>
                <a:ahLst/>
                <a:cxnLst>
                  <a:cxn ang="0">
                    <a:pos x="36" y="0"/>
                  </a:cxn>
                  <a:cxn ang="0">
                    <a:pos x="36" y="38"/>
                  </a:cxn>
                  <a:cxn ang="0">
                    <a:pos x="0" y="38"/>
                  </a:cxn>
                  <a:cxn ang="0">
                    <a:pos x="130" y="112"/>
                  </a:cxn>
                  <a:cxn ang="0">
                    <a:pos x="36" y="0"/>
                  </a:cxn>
                </a:cxnLst>
                <a:rect l="txL" t="txT" r="txR" b="txB"/>
                <a:pathLst>
                  <a:path w="130" h="112">
                    <a:moveTo>
                      <a:pt x="36" y="0"/>
                    </a:moveTo>
                    <a:lnTo>
                      <a:pt x="36" y="38"/>
                    </a:lnTo>
                    <a:lnTo>
                      <a:pt x="0" y="38"/>
                    </a:lnTo>
                    <a:lnTo>
                      <a:pt x="130" y="112"/>
                    </a:lnTo>
                    <a:lnTo>
                      <a:pt x="36" y="0"/>
                    </a:lnTo>
                    <a:close/>
                  </a:path>
                </a:pathLst>
              </a:custGeom>
              <a:solidFill>
                <a:srgbClr val="000000">
                  <a:alpha val="100000"/>
                </a:srgbClr>
              </a:solid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5054" name="Rectangle 65"/>
              <p:cNvSpPr/>
              <p:nvPr/>
            </p:nvSpPr>
            <p:spPr>
              <a:xfrm>
                <a:off x="555" y="3613"/>
                <a:ext cx="848" cy="2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000000"/>
                    </a:solidFill>
                    <a:latin typeface="宋体" panose="02010600030101010101" pitchFamily="2" charset="-122"/>
                  </a:rPr>
                  <a:t>共享段表</a:t>
                </a:r>
                <a:endParaRPr lang="zh-CN" altLang="en-US" sz="2800" b="1" dirty="0"/>
              </a:p>
            </p:txBody>
          </p:sp>
        </p:grpSp>
        <p:sp>
          <p:nvSpPr>
            <p:cNvPr id="3" name="流程图: 过程 2"/>
            <p:cNvSpPr/>
            <p:nvPr/>
          </p:nvSpPr>
          <p:spPr>
            <a:xfrm>
              <a:off x="1644" y="1405"/>
              <a:ext cx="1418" cy="2835"/>
            </a:xfrm>
            <a:prstGeom prst="flowChartProcess">
              <a:avLst/>
            </a:prstGeom>
            <a:noFill/>
            <a:ln w="22225" cap="flat" cmpd="sng" algn="ctr">
              <a:solidFill>
                <a:srgbClr val="0033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4" name="Rectangle 65"/>
            <p:cNvSpPr/>
            <p:nvPr/>
          </p:nvSpPr>
          <p:spPr>
            <a:xfrm>
              <a:off x="1937" y="4232"/>
              <a:ext cx="804" cy="48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000000"/>
                  </a:solidFill>
                  <a:latin typeface="宋体" panose="02010600030101010101" pitchFamily="2" charset="-122"/>
                </a:rPr>
                <a:t>内存</a:t>
              </a:r>
              <a:endParaRPr lang="zh-CN" altLang="en-US" sz="2000" b="1" dirty="0">
                <a:solidFill>
                  <a:srgbClr val="000000"/>
                </a:solidFill>
                <a:latin typeface="宋体" panose="02010600030101010101" pitchFamily="2" charset="-122"/>
              </a:endParaRPr>
            </a:p>
          </p:txBody>
        </p:sp>
        <p:cxnSp>
          <p:nvCxnSpPr>
            <p:cNvPr id="7" name="直接连接符 6"/>
            <p:cNvCxnSpPr/>
            <p:nvPr/>
          </p:nvCxnSpPr>
          <p:spPr>
            <a:xfrm flipV="1">
              <a:off x="3061" y="1261"/>
              <a:ext cx="2041" cy="1077"/>
            </a:xfrm>
            <a:prstGeom prst="line">
              <a:avLst/>
            </a:prstGeom>
            <a:solidFill>
              <a:schemeClr val="accent1"/>
            </a:solidFill>
            <a:ln w="19050" cap="flat" cmpd="sng" algn="ctr">
              <a:solidFill>
                <a:srgbClr val="003300"/>
              </a:solidFill>
              <a:prstDash val="solid"/>
              <a:round/>
              <a:headEnd type="arrow" w="lg" len="lg"/>
              <a:tailEnd type="none" w="med" len="med"/>
            </a:ln>
          </p:spPr>
        </p:cxnSp>
        <p:cxnSp>
          <p:nvCxnSpPr>
            <p:cNvPr id="8" name="直接连接符 7"/>
            <p:cNvCxnSpPr/>
            <p:nvPr/>
          </p:nvCxnSpPr>
          <p:spPr>
            <a:xfrm flipV="1">
              <a:off x="3060" y="1771"/>
              <a:ext cx="2098" cy="1191"/>
            </a:xfrm>
            <a:prstGeom prst="line">
              <a:avLst/>
            </a:prstGeom>
            <a:solidFill>
              <a:schemeClr val="accent1"/>
            </a:solidFill>
            <a:ln w="19050" cap="flat" cmpd="sng" algn="ctr">
              <a:solidFill>
                <a:srgbClr val="003300"/>
              </a:solidFill>
              <a:prstDash val="solid"/>
              <a:round/>
              <a:headEnd type="arrow" w="lg" len="lg"/>
              <a:tailEnd type="none" w="med" len="med"/>
            </a:ln>
          </p:spPr>
        </p:cxnSp>
        <p:sp>
          <p:nvSpPr>
            <p:cNvPr id="9" name="矩形 8"/>
            <p:cNvSpPr/>
            <p:nvPr/>
          </p:nvSpPr>
          <p:spPr>
            <a:xfrm>
              <a:off x="1645" y="2319"/>
              <a:ext cx="1417" cy="667"/>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nvGrpSpPr>
            <p:cNvPr id="13" name="组合 12"/>
            <p:cNvGrpSpPr/>
            <p:nvPr/>
          </p:nvGrpSpPr>
          <p:grpSpPr>
            <a:xfrm>
              <a:off x="8097" y="3345"/>
              <a:ext cx="1810" cy="2099"/>
              <a:chOff x="8097" y="3345"/>
              <a:chExt cx="1810" cy="2099"/>
            </a:xfrm>
          </p:grpSpPr>
          <p:sp>
            <p:nvSpPr>
              <p:cNvPr id="10" name="流程图: 过程 9"/>
              <p:cNvSpPr/>
              <p:nvPr/>
            </p:nvSpPr>
            <p:spPr>
              <a:xfrm>
                <a:off x="8172" y="3345"/>
                <a:ext cx="1489" cy="1631"/>
              </a:xfrm>
              <a:prstGeom prst="flowChartProcess">
                <a:avLst/>
              </a:prstGeom>
              <a:noFill/>
              <a:ln w="22225" cap="flat" cmpd="sng" algn="ctr">
                <a:solidFill>
                  <a:srgbClr val="0033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1" name="矩形 10"/>
              <p:cNvSpPr/>
              <p:nvPr/>
            </p:nvSpPr>
            <p:spPr>
              <a:xfrm>
                <a:off x="8174" y="3728"/>
                <a:ext cx="1468" cy="57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2" name="Rectangle 65"/>
              <p:cNvSpPr/>
              <p:nvPr/>
            </p:nvSpPr>
            <p:spPr>
              <a:xfrm>
                <a:off x="8097" y="4960"/>
                <a:ext cx="1810" cy="48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algn="l" eaLnBrk="1" hangingPunct="1">
                  <a:spcBef>
                    <a:spcPct val="0"/>
                  </a:spcBef>
                  <a:buClrTx/>
                  <a:buSzTx/>
                  <a:buFontTx/>
                  <a:buNone/>
                </a:pPr>
                <a:r>
                  <a:rPr lang="en-US" altLang="zh-CN" sz="2000" b="1" dirty="0">
                    <a:solidFill>
                      <a:srgbClr val="000000"/>
                    </a:solidFill>
                    <a:latin typeface="宋体" panose="02010600030101010101" pitchFamily="2" charset="-122"/>
                    <a:sym typeface="+mn-ea"/>
                  </a:rPr>
                  <a:t>A</a:t>
                </a:r>
                <a:r>
                  <a:rPr lang="zh-CN" altLang="en-US" sz="2000" b="1" dirty="0">
                    <a:solidFill>
                      <a:srgbClr val="000000"/>
                    </a:solidFill>
                    <a:latin typeface="宋体" panose="02010600030101010101" pitchFamily="2" charset="-122"/>
                  </a:rPr>
                  <a:t>进程段表</a:t>
                </a:r>
                <a:endParaRPr lang="zh-CN" altLang="en-US" sz="2800" b="1" dirty="0"/>
              </a:p>
            </p:txBody>
          </p:sp>
        </p:grpSp>
        <p:grpSp>
          <p:nvGrpSpPr>
            <p:cNvPr id="14" name="组合 13"/>
            <p:cNvGrpSpPr/>
            <p:nvPr/>
          </p:nvGrpSpPr>
          <p:grpSpPr>
            <a:xfrm>
              <a:off x="10444" y="3321"/>
              <a:ext cx="1847" cy="2099"/>
              <a:chOff x="8172" y="3345"/>
              <a:chExt cx="1847" cy="2099"/>
            </a:xfrm>
          </p:grpSpPr>
          <p:sp>
            <p:nvSpPr>
              <p:cNvPr id="15" name="流程图: 过程 14"/>
              <p:cNvSpPr/>
              <p:nvPr/>
            </p:nvSpPr>
            <p:spPr>
              <a:xfrm>
                <a:off x="8172" y="3345"/>
                <a:ext cx="1489" cy="1631"/>
              </a:xfrm>
              <a:prstGeom prst="flowChartProcess">
                <a:avLst/>
              </a:prstGeom>
              <a:noFill/>
              <a:ln w="22225" cap="flat" cmpd="sng" algn="ctr">
                <a:solidFill>
                  <a:srgbClr val="003300"/>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6" name="矩形 15"/>
              <p:cNvSpPr/>
              <p:nvPr/>
            </p:nvSpPr>
            <p:spPr>
              <a:xfrm>
                <a:off x="8174" y="3728"/>
                <a:ext cx="1468" cy="57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7" name="Rectangle 65"/>
              <p:cNvSpPr/>
              <p:nvPr/>
            </p:nvSpPr>
            <p:spPr>
              <a:xfrm>
                <a:off x="8209" y="4960"/>
                <a:ext cx="1810" cy="48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b="1" dirty="0">
                    <a:solidFill>
                      <a:srgbClr val="000000"/>
                    </a:solidFill>
                    <a:latin typeface="宋体" panose="02010600030101010101" pitchFamily="2" charset="-122"/>
                  </a:rPr>
                  <a:t>B</a:t>
                </a:r>
                <a:r>
                  <a:rPr lang="zh-CN" altLang="en-US" sz="2000" b="1" dirty="0">
                    <a:solidFill>
                      <a:srgbClr val="000000"/>
                    </a:solidFill>
                    <a:latin typeface="宋体" panose="02010600030101010101" pitchFamily="2" charset="-122"/>
                  </a:rPr>
                  <a:t>进程段表</a:t>
                </a:r>
                <a:endParaRPr lang="zh-CN" altLang="en-US" sz="2800" b="1" dirty="0"/>
              </a:p>
            </p:txBody>
          </p:sp>
        </p:grpSp>
        <p:cxnSp>
          <p:nvCxnSpPr>
            <p:cNvPr id="18" name="直接连接符 17"/>
            <p:cNvCxnSpPr/>
            <p:nvPr/>
          </p:nvCxnSpPr>
          <p:spPr>
            <a:xfrm flipH="1">
              <a:off x="9071" y="3735"/>
              <a:ext cx="1" cy="588"/>
            </a:xfrm>
            <a:prstGeom prst="line">
              <a:avLst/>
            </a:prstGeom>
            <a:solidFill>
              <a:schemeClr val="accent1"/>
            </a:solidFill>
            <a:ln w="15875" cap="flat" cmpd="sng" algn="ctr">
              <a:solidFill>
                <a:schemeClr val="tx1"/>
              </a:solidFill>
              <a:prstDash val="solid"/>
              <a:round/>
              <a:headEnd type="none" w="med" len="med"/>
              <a:tailEnd type="none" w="med" len="med"/>
            </a:ln>
          </p:spPr>
        </p:cxnSp>
        <p:cxnSp>
          <p:nvCxnSpPr>
            <p:cNvPr id="19" name="直接连接符 18"/>
            <p:cNvCxnSpPr/>
            <p:nvPr/>
          </p:nvCxnSpPr>
          <p:spPr>
            <a:xfrm flipH="1">
              <a:off x="11399" y="3711"/>
              <a:ext cx="1" cy="588"/>
            </a:xfrm>
            <a:prstGeom prst="line">
              <a:avLst/>
            </a:prstGeom>
            <a:solidFill>
              <a:schemeClr val="accent1"/>
            </a:solidFill>
            <a:ln w="15875" cap="flat" cmpd="sng" algn="ctr">
              <a:solidFill>
                <a:schemeClr val="tx1"/>
              </a:solidFill>
              <a:prstDash val="solid"/>
              <a:round/>
              <a:headEnd type="none" w="med" len="med"/>
              <a:tailEnd type="none" w="med" len="med"/>
            </a:ln>
          </p:spPr>
        </p:cxnSp>
        <p:cxnSp>
          <p:nvCxnSpPr>
            <p:cNvPr id="22" name="曲线连接符 21"/>
            <p:cNvCxnSpPr/>
            <p:nvPr/>
          </p:nvCxnSpPr>
          <p:spPr>
            <a:xfrm rot="10800000">
              <a:off x="3230" y="2394"/>
              <a:ext cx="8447" cy="1587"/>
            </a:xfrm>
            <a:prstGeom prst="curvedConnector3">
              <a:avLst>
                <a:gd name="adj1" fmla="val 49994"/>
              </a:avLst>
            </a:prstGeom>
            <a:solidFill>
              <a:schemeClr val="accent1"/>
            </a:solidFill>
            <a:ln w="15875" cap="flat" cmpd="sng" algn="ctr">
              <a:solidFill>
                <a:srgbClr val="003300"/>
              </a:solidFill>
              <a:prstDash val="solid"/>
              <a:round/>
              <a:headEnd type="none" w="lg" len="lg"/>
              <a:tailEnd type="arrow" w="lg" len="lg"/>
            </a:ln>
          </p:spPr>
        </p:cxnSp>
        <p:cxnSp>
          <p:nvCxnSpPr>
            <p:cNvPr id="23" name="曲线连接符 22"/>
            <p:cNvCxnSpPr/>
            <p:nvPr/>
          </p:nvCxnSpPr>
          <p:spPr>
            <a:xfrm rot="10800000">
              <a:off x="3060" y="2387"/>
              <a:ext cx="6293" cy="1646"/>
            </a:xfrm>
            <a:prstGeom prst="curvedConnector3">
              <a:avLst>
                <a:gd name="adj1" fmla="val 49992"/>
              </a:avLst>
            </a:prstGeom>
            <a:solidFill>
              <a:schemeClr val="accent1"/>
            </a:solidFill>
            <a:ln w="15875" cap="flat" cmpd="sng" algn="ctr">
              <a:solidFill>
                <a:srgbClr val="003300"/>
              </a:solidFill>
              <a:prstDash val="solid"/>
              <a:round/>
              <a:headEnd type="none" w="lg" len="lg"/>
              <a:tailEnd type="arrow" w="lg" len="lg"/>
            </a:ln>
          </p:spPr>
        </p:cxnSp>
        <p:sp>
          <p:nvSpPr>
            <p:cNvPr id="25" name="文本框 24"/>
            <p:cNvSpPr txBox="1"/>
            <p:nvPr/>
          </p:nvSpPr>
          <p:spPr>
            <a:xfrm>
              <a:off x="9695" y="2060"/>
              <a:ext cx="732" cy="1016"/>
            </a:xfrm>
            <a:prstGeom prst="rect">
              <a:avLst/>
            </a:prstGeom>
            <a:noFill/>
          </p:spPr>
          <p:txBody>
            <a:bodyPr wrap="square" rtlCol="0" anchor="t">
              <a:spAutoFit/>
            </a:bodyPr>
            <a:lstStyle/>
            <a:p>
              <a:r>
                <a:rPr lang="en-US" altLang="zh-CN" sz="1800" dirty="0">
                  <a:solidFill>
                    <a:schemeClr val="tx1"/>
                  </a:solidFill>
                  <a:effectLst>
                    <a:outerShdw blurRad="38100" dist="19050" dir="2700000" algn="tl" rotWithShape="0">
                      <a:schemeClr val="dk1">
                        <a:alpha val="40000"/>
                      </a:schemeClr>
                    </a:outerShdw>
                  </a:effectLst>
                  <a:latin typeface="宋体" panose="02010600030101010101" pitchFamily="2" charset="-122"/>
                  <a:sym typeface="+mn-ea"/>
                </a:rPr>
                <a:t>A</a:t>
              </a:r>
              <a:endParaRPr lang="en-US" altLang="zh-CN" sz="1800" dirty="0">
                <a:solidFill>
                  <a:schemeClr val="tx1"/>
                </a:solidFill>
                <a:effectLst>
                  <a:outerShdw blurRad="38100" dist="19050" dir="2700000" algn="tl" rotWithShape="0">
                    <a:schemeClr val="dk1">
                      <a:alpha val="40000"/>
                    </a:schemeClr>
                  </a:outerShdw>
                </a:effectLst>
                <a:latin typeface="宋体" panose="02010600030101010101" pitchFamily="2" charset="-122"/>
                <a:sym typeface="+mn-ea"/>
              </a:endParaRPr>
            </a:p>
            <a:p>
              <a:r>
                <a:rPr lang="en-US" altLang="zh-CN" sz="1800" dirty="0">
                  <a:solidFill>
                    <a:schemeClr val="tx1"/>
                  </a:solidFill>
                  <a:effectLst>
                    <a:outerShdw blurRad="38100" dist="19050" dir="2700000" algn="tl" rotWithShape="0">
                      <a:schemeClr val="dk1">
                        <a:alpha val="40000"/>
                      </a:schemeClr>
                    </a:outerShdw>
                  </a:effectLst>
                  <a:latin typeface="宋体" panose="02010600030101010101" pitchFamily="2" charset="-122"/>
                  <a:sym typeface="+mn-ea"/>
                </a:rPr>
                <a:t>B</a:t>
              </a:r>
              <a:endParaRPr lang="en-US" altLang="zh-CN" sz="1800" dirty="0">
                <a:solidFill>
                  <a:schemeClr val="tx1"/>
                </a:solidFill>
                <a:effectLst>
                  <a:outerShdw blurRad="38100" dist="19050" dir="2700000" algn="tl" rotWithShape="0">
                    <a:schemeClr val="dk1">
                      <a:alpha val="40000"/>
                    </a:schemeClr>
                  </a:outerShdw>
                </a:effectLst>
                <a:latin typeface="宋体" panose="02010600030101010101" pitchFamily="2" charset="-122"/>
                <a:sym typeface="+mn-ea"/>
              </a:endParaRPr>
            </a:p>
          </p:txBody>
        </p:sp>
      </p:grpSp>
    </p:spTree>
  </p:cSld>
  <p:clrMapOvr>
    <a:masterClrMapping/>
  </p:clrMapOvr>
  <p:transition>
    <p:blinds/>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p:cNvSpPr txBox="1"/>
          <p:nvPr/>
        </p:nvSpPr>
        <p:spPr>
          <a:xfrm>
            <a:off x="898843" y="692468"/>
            <a:ext cx="1790700"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400" b="1" dirty="0">
                <a:latin typeface="Times New Roman" panose="02020603050405020304" pitchFamily="18" charset="0"/>
              </a:rPr>
              <a:t>3. </a:t>
            </a:r>
            <a:r>
              <a:rPr lang="zh-CN" altLang="en-US" sz="2400" b="1" dirty="0">
                <a:latin typeface="Times New Roman" panose="02020603050405020304" pitchFamily="18" charset="0"/>
              </a:rPr>
              <a:t>分段保护 </a:t>
            </a:r>
            <a:endParaRPr lang="zh-CN" altLang="en-US" sz="2400" b="1" dirty="0">
              <a:latin typeface="Times New Roman" panose="02020603050405020304" pitchFamily="18" charset="0"/>
            </a:endParaRPr>
          </a:p>
        </p:txBody>
      </p:sp>
      <p:sp>
        <p:nvSpPr>
          <p:cNvPr id="87043" name="Text Box 3"/>
          <p:cNvSpPr txBox="1"/>
          <p:nvPr/>
        </p:nvSpPr>
        <p:spPr>
          <a:xfrm>
            <a:off x="179705" y="2386013"/>
            <a:ext cx="8569325" cy="418846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457200" lvl="0" indent="-457200" eaLnBrk="1" hangingPunct="1">
              <a:lnSpc>
                <a:spcPct val="185000"/>
              </a:lnSpc>
              <a:spcBef>
                <a:spcPct val="0"/>
              </a:spcBef>
              <a:buClrTx/>
              <a:buSzTx/>
              <a:buFontTx/>
              <a:buAutoNum type="arabicParenR"/>
            </a:pPr>
            <a:r>
              <a:rPr lang="zh-CN" altLang="en-US" sz="2400" b="1" dirty="0">
                <a:solidFill>
                  <a:srgbClr val="000000"/>
                </a:solidFill>
                <a:latin typeface="Times New Roman" panose="02020603050405020304" pitchFamily="18" charset="0"/>
              </a:rPr>
              <a:t>越界检查</a:t>
            </a:r>
            <a:r>
              <a:rPr lang="en-US" altLang="zh-CN" sz="2400" b="1" dirty="0">
                <a:solidFill>
                  <a:srgbClr val="CC3300"/>
                </a:solidFill>
                <a:latin typeface="Times New Roman" panose="02020603050405020304" pitchFamily="18" charset="0"/>
              </a:rPr>
              <a:t>(</a:t>
            </a:r>
            <a:r>
              <a:rPr lang="zh-CN" altLang="en-US" sz="2400" b="1" dirty="0">
                <a:solidFill>
                  <a:srgbClr val="CC3300"/>
                </a:solidFill>
                <a:latin typeface="Times New Roman" panose="02020603050405020304" pitchFamily="18" charset="0"/>
              </a:rPr>
              <a:t>通过段号和段长的比较</a:t>
            </a:r>
            <a:r>
              <a:rPr lang="en-US" altLang="zh-CN" sz="2400" b="1" dirty="0">
                <a:solidFill>
                  <a:srgbClr val="CC3300"/>
                </a:solidFill>
                <a:latin typeface="Times New Roman" panose="02020603050405020304" pitchFamily="18" charset="0"/>
              </a:rPr>
              <a:t>)</a:t>
            </a:r>
            <a:r>
              <a:rPr lang="zh-CN" altLang="en-US" sz="2400" b="1" dirty="0">
                <a:solidFill>
                  <a:srgbClr val="CC3300"/>
                </a:solidFill>
                <a:latin typeface="Times New Roman" panose="02020603050405020304" pitchFamily="18" charset="0"/>
              </a:rPr>
              <a:t>，</a:t>
            </a:r>
            <a:r>
              <a:rPr lang="zh-CN" altLang="en-US" sz="2400" b="1" dirty="0">
                <a:solidFill>
                  <a:srgbClr val="003300"/>
                </a:solidFill>
                <a:latin typeface="Times New Roman" panose="02020603050405020304" pitchFamily="18" charset="0"/>
              </a:rPr>
              <a:t>保证每个进程不越界。</a:t>
            </a:r>
            <a:r>
              <a:rPr lang="en-US" altLang="zh-CN" sz="2400" b="1" dirty="0">
                <a:solidFill>
                  <a:srgbClr val="003300"/>
                </a:solidFill>
                <a:latin typeface="Times New Roman" panose="02020603050405020304" pitchFamily="18" charset="0"/>
              </a:rPr>
              <a:t> </a:t>
            </a:r>
            <a:endParaRPr lang="en-US" altLang="zh-CN" sz="2400" b="1" dirty="0">
              <a:solidFill>
                <a:srgbClr val="003300"/>
              </a:solidFill>
              <a:latin typeface="Times New Roman" panose="02020603050405020304" pitchFamily="18" charset="0"/>
            </a:endParaRPr>
          </a:p>
          <a:p>
            <a:pPr marL="457200" lvl="0" indent="-457200" eaLnBrk="1" hangingPunct="1">
              <a:lnSpc>
                <a:spcPct val="185000"/>
              </a:lnSpc>
              <a:spcBef>
                <a:spcPct val="0"/>
              </a:spcBef>
              <a:buClrTx/>
              <a:buSzTx/>
              <a:buFontTx/>
              <a:buNone/>
            </a:pPr>
            <a:r>
              <a:rPr lang="en-US" altLang="zh-CN" sz="2400" b="1" dirty="0">
                <a:solidFill>
                  <a:srgbClr val="000000"/>
                </a:solidFill>
                <a:latin typeface="Times New Roman" panose="02020603050405020304" pitchFamily="18" charset="0"/>
              </a:rPr>
              <a:t>2) </a:t>
            </a:r>
            <a:r>
              <a:rPr lang="zh-CN" altLang="en-US" sz="2400" b="1" dirty="0">
                <a:solidFill>
                  <a:srgbClr val="000000"/>
                </a:solidFill>
                <a:latin typeface="Times New Roman" panose="02020603050405020304" pitchFamily="18" charset="0"/>
              </a:rPr>
              <a:t>存取控制检查  </a:t>
            </a:r>
            <a:r>
              <a:rPr lang="en-US" altLang="zh-CN" sz="2400" b="1" dirty="0">
                <a:solidFill>
                  <a:srgbClr val="000000"/>
                </a:solidFill>
                <a:latin typeface="Times New Roman" panose="02020603050405020304" pitchFamily="18" charset="0"/>
              </a:rPr>
              <a:t>(1)</a:t>
            </a:r>
            <a:r>
              <a:rPr lang="zh-CN" altLang="en-US" sz="2400" b="1" dirty="0">
                <a:solidFill>
                  <a:srgbClr val="000000"/>
                </a:solidFill>
                <a:latin typeface="Times New Roman" panose="02020603050405020304" pitchFamily="18" charset="0"/>
              </a:rPr>
              <a:t>只读  </a:t>
            </a:r>
            <a:r>
              <a:rPr lang="en-US" altLang="zh-CN" sz="2400" b="1" dirty="0">
                <a:solidFill>
                  <a:srgbClr val="000000"/>
                </a:solidFill>
                <a:latin typeface="Times New Roman" panose="02020603050405020304" pitchFamily="18" charset="0"/>
              </a:rPr>
              <a:t>(2) </a:t>
            </a:r>
            <a:r>
              <a:rPr lang="zh-CN" altLang="en-US" sz="2400" b="1" dirty="0">
                <a:solidFill>
                  <a:srgbClr val="000000"/>
                </a:solidFill>
                <a:latin typeface="Times New Roman" panose="02020603050405020304" pitchFamily="18" charset="0"/>
              </a:rPr>
              <a:t>只执行 </a:t>
            </a:r>
            <a:r>
              <a:rPr lang="en-US" altLang="zh-CN" sz="2400" b="1" dirty="0">
                <a:solidFill>
                  <a:srgbClr val="000000"/>
                </a:solidFill>
                <a:latin typeface="Times New Roman" panose="02020603050405020304" pitchFamily="18" charset="0"/>
              </a:rPr>
              <a:t>(3) </a:t>
            </a:r>
            <a:r>
              <a:rPr lang="zh-CN" altLang="en-US" sz="2400" b="1" dirty="0">
                <a:solidFill>
                  <a:srgbClr val="000000"/>
                </a:solidFill>
                <a:latin typeface="Times New Roman" panose="02020603050405020304" pitchFamily="18" charset="0"/>
              </a:rPr>
              <a:t>读</a:t>
            </a:r>
            <a:r>
              <a:rPr lang="en-US" altLang="zh-CN" sz="2400" b="1" dirty="0">
                <a:solidFill>
                  <a:srgbClr val="000000"/>
                </a:solidFill>
                <a:latin typeface="Times New Roman" panose="02020603050405020304" pitchFamily="18" charset="0"/>
              </a:rPr>
              <a:t>/</a:t>
            </a:r>
            <a:r>
              <a:rPr lang="zh-CN" altLang="en-US" sz="2400" b="1" dirty="0">
                <a:solidFill>
                  <a:srgbClr val="000000"/>
                </a:solidFill>
                <a:latin typeface="Times New Roman" panose="02020603050405020304" pitchFamily="18" charset="0"/>
              </a:rPr>
              <a:t>写 </a:t>
            </a:r>
            <a:r>
              <a:rPr lang="zh-CN" altLang="en-US" sz="2400" b="1" dirty="0">
                <a:solidFill>
                  <a:srgbClr val="CC3300"/>
                </a:solidFill>
                <a:latin typeface="Times New Roman" panose="02020603050405020304" pitchFamily="18" charset="0"/>
              </a:rPr>
              <a:t>（存取控制字段）</a:t>
            </a:r>
            <a:endParaRPr lang="zh-CN" altLang="en-US" sz="2400" b="1" dirty="0">
              <a:solidFill>
                <a:srgbClr val="CC3300"/>
              </a:solidFill>
              <a:latin typeface="Times New Roman" panose="02020603050405020304" pitchFamily="18" charset="0"/>
            </a:endParaRPr>
          </a:p>
          <a:p>
            <a:pPr marL="457200" lvl="0" indent="-457200" eaLnBrk="1" hangingPunct="1">
              <a:lnSpc>
                <a:spcPct val="185000"/>
              </a:lnSpc>
              <a:spcBef>
                <a:spcPct val="0"/>
              </a:spcBef>
              <a:buClrTx/>
              <a:buSzTx/>
              <a:buFontTx/>
              <a:buNone/>
            </a:pPr>
            <a:r>
              <a:rPr lang="zh-CN" altLang="en-US" sz="2400" b="1" dirty="0">
                <a:solidFill>
                  <a:srgbClr val="003300"/>
                </a:solidFill>
                <a:latin typeface="Times New Roman" panose="02020603050405020304" pitchFamily="18" charset="0"/>
              </a:rPr>
              <a:t>对共享段而言，非常重要。</a:t>
            </a:r>
            <a:endParaRPr lang="zh-CN" altLang="en-US" sz="2400" b="1" dirty="0">
              <a:solidFill>
                <a:srgbClr val="003300"/>
              </a:solidFill>
              <a:latin typeface="Times New Roman" panose="02020603050405020304" pitchFamily="18" charset="0"/>
            </a:endParaRPr>
          </a:p>
          <a:p>
            <a:pPr marL="457200" lvl="0" indent="-457200" eaLnBrk="1" hangingPunct="1">
              <a:lnSpc>
                <a:spcPct val="185000"/>
              </a:lnSpc>
              <a:spcBef>
                <a:spcPct val="0"/>
              </a:spcBef>
              <a:buClrTx/>
              <a:buSzTx/>
              <a:buFontTx/>
              <a:buNone/>
            </a:pPr>
            <a:r>
              <a:rPr lang="en-US" altLang="zh-CN" sz="2400" b="1" dirty="0">
                <a:solidFill>
                  <a:srgbClr val="000000"/>
                </a:solidFill>
                <a:latin typeface="Times New Roman" panose="02020603050405020304" pitchFamily="18" charset="0"/>
              </a:rPr>
              <a:t>3) </a:t>
            </a:r>
            <a:r>
              <a:rPr lang="zh-CN" altLang="en-US" sz="2400" b="1" dirty="0">
                <a:solidFill>
                  <a:srgbClr val="000000"/>
                </a:solidFill>
                <a:latin typeface="Times New Roman" panose="02020603050405020304" pitchFamily="18" charset="0"/>
              </a:rPr>
              <a:t>环保护机构 </a:t>
            </a:r>
            <a:endParaRPr lang="zh-CN" altLang="en-US" sz="2400" b="1" dirty="0">
              <a:solidFill>
                <a:srgbClr val="000000"/>
              </a:solidFill>
              <a:latin typeface="Times New Roman" panose="02020603050405020304" pitchFamily="18" charset="0"/>
            </a:endParaRPr>
          </a:p>
          <a:p>
            <a:pPr marL="457200" lvl="0" indent="-457200" eaLnBrk="1" hangingPunct="1">
              <a:lnSpc>
                <a:spcPct val="185000"/>
              </a:lnSpc>
              <a:spcBef>
                <a:spcPct val="0"/>
              </a:spcBef>
              <a:buClrTx/>
              <a:buSzTx/>
              <a:buFontTx/>
              <a:buChar char="•"/>
            </a:pPr>
            <a:r>
              <a:rPr lang="zh-CN" altLang="en-US" sz="2400" b="1" dirty="0">
                <a:solidFill>
                  <a:srgbClr val="000000"/>
                </a:solidFill>
                <a:latin typeface="Times New Roman" panose="02020603050405020304" pitchFamily="18" charset="0"/>
              </a:rPr>
              <a:t>一个程序可以</a:t>
            </a:r>
            <a:r>
              <a:rPr lang="zh-CN" altLang="en-US" sz="2400" b="1" dirty="0">
                <a:solidFill>
                  <a:srgbClr val="FF0000"/>
                </a:solidFill>
                <a:latin typeface="Times New Roman" panose="02020603050405020304" pitchFamily="18" charset="0"/>
              </a:rPr>
              <a:t>访问</a:t>
            </a:r>
            <a:r>
              <a:rPr lang="zh-CN" altLang="en-US" sz="2400" b="1" dirty="0">
                <a:solidFill>
                  <a:srgbClr val="000000"/>
                </a:solidFill>
                <a:latin typeface="Times New Roman" panose="02020603050405020304" pitchFamily="18" charset="0"/>
              </a:rPr>
              <a:t>驻留在相同环或较低特权环中的数据。 </a:t>
            </a:r>
            <a:endParaRPr lang="zh-CN" altLang="en-US" sz="2400" b="1" dirty="0">
              <a:solidFill>
                <a:srgbClr val="000000"/>
              </a:solidFill>
              <a:latin typeface="Times New Roman" panose="02020603050405020304" pitchFamily="18" charset="0"/>
            </a:endParaRPr>
          </a:p>
          <a:p>
            <a:pPr marL="457200" lvl="0" indent="-457200" eaLnBrk="1" hangingPunct="1">
              <a:lnSpc>
                <a:spcPct val="185000"/>
              </a:lnSpc>
              <a:spcBef>
                <a:spcPct val="0"/>
              </a:spcBef>
              <a:buClrTx/>
              <a:buSzTx/>
              <a:buFontTx/>
              <a:buChar char="•"/>
            </a:pPr>
            <a:r>
              <a:rPr lang="zh-CN" altLang="en-US" sz="2400" b="1" dirty="0">
                <a:solidFill>
                  <a:srgbClr val="000000"/>
                </a:solidFill>
                <a:latin typeface="Times New Roman" panose="02020603050405020304" pitchFamily="18" charset="0"/>
              </a:rPr>
              <a:t>一个程序可以</a:t>
            </a:r>
            <a:r>
              <a:rPr lang="zh-CN" altLang="en-US" sz="2400" b="1" dirty="0">
                <a:solidFill>
                  <a:srgbClr val="FF0000"/>
                </a:solidFill>
                <a:latin typeface="Times New Roman" panose="02020603050405020304" pitchFamily="18" charset="0"/>
              </a:rPr>
              <a:t>调用</a:t>
            </a:r>
            <a:r>
              <a:rPr lang="zh-CN" altLang="en-US" sz="2400" b="1" dirty="0">
                <a:solidFill>
                  <a:srgbClr val="000000"/>
                </a:solidFill>
                <a:latin typeface="Times New Roman" panose="02020603050405020304" pitchFamily="18" charset="0"/>
              </a:rPr>
              <a:t>驻留在相同环或较高特权环中的服务。</a:t>
            </a:r>
            <a:r>
              <a:rPr lang="zh-CN" altLang="en-US" sz="2400" dirty="0">
                <a:latin typeface="Times New Roman" panose="02020603050405020304" pitchFamily="18" charset="0"/>
              </a:rPr>
              <a:t> </a:t>
            </a:r>
            <a:endParaRPr lang="zh-CN" altLang="en-US" sz="2400" dirty="0">
              <a:latin typeface="Times New Roman" panose="02020603050405020304" pitchFamily="18" charset="0"/>
            </a:endParaRPr>
          </a:p>
        </p:txBody>
      </p:sp>
      <p:grpSp>
        <p:nvGrpSpPr>
          <p:cNvPr id="87044" name="Group 43"/>
          <p:cNvGrpSpPr/>
          <p:nvPr/>
        </p:nvGrpSpPr>
        <p:grpSpPr>
          <a:xfrm>
            <a:off x="3537585" y="332423"/>
            <a:ext cx="4943475" cy="2046287"/>
            <a:chOff x="2214" y="1816"/>
            <a:chExt cx="3114" cy="1289"/>
          </a:xfrm>
        </p:grpSpPr>
        <p:sp>
          <p:nvSpPr>
            <p:cNvPr id="87045" name="Rectangle 5"/>
            <p:cNvSpPr/>
            <p:nvPr/>
          </p:nvSpPr>
          <p:spPr>
            <a:xfrm>
              <a:off x="2214" y="1816"/>
              <a:ext cx="553"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7046" name="Rectangle 6"/>
            <p:cNvSpPr/>
            <p:nvPr/>
          </p:nvSpPr>
          <p:spPr>
            <a:xfrm>
              <a:off x="2332" y="1878"/>
              <a:ext cx="32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段名</a:t>
              </a:r>
              <a:endParaRPr lang="zh-CN" altLang="en-US" sz="2800" b="1" dirty="0"/>
            </a:p>
          </p:txBody>
        </p:sp>
        <p:sp>
          <p:nvSpPr>
            <p:cNvPr id="87047" name="Rectangle 7"/>
            <p:cNvSpPr/>
            <p:nvPr/>
          </p:nvSpPr>
          <p:spPr>
            <a:xfrm>
              <a:off x="2767" y="1816"/>
              <a:ext cx="552"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7048" name="Rectangle 8"/>
            <p:cNvSpPr/>
            <p:nvPr/>
          </p:nvSpPr>
          <p:spPr>
            <a:xfrm>
              <a:off x="2896" y="1878"/>
              <a:ext cx="32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段长</a:t>
              </a:r>
              <a:endParaRPr lang="zh-CN" altLang="en-US" sz="2800" b="1" dirty="0"/>
            </a:p>
          </p:txBody>
        </p:sp>
        <p:sp>
          <p:nvSpPr>
            <p:cNvPr id="87049" name="Rectangle 9"/>
            <p:cNvSpPr/>
            <p:nvPr/>
          </p:nvSpPr>
          <p:spPr>
            <a:xfrm>
              <a:off x="3319" y="1816"/>
              <a:ext cx="728"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7050" name="Rectangle 10"/>
            <p:cNvSpPr/>
            <p:nvPr/>
          </p:nvSpPr>
          <p:spPr>
            <a:xfrm>
              <a:off x="3378" y="1878"/>
              <a:ext cx="64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内存始址</a:t>
              </a:r>
              <a:endParaRPr lang="zh-CN" altLang="en-US" sz="2800" b="1" dirty="0"/>
            </a:p>
          </p:txBody>
        </p:sp>
        <p:sp>
          <p:nvSpPr>
            <p:cNvPr id="87051" name="Rectangle 11"/>
            <p:cNvSpPr/>
            <p:nvPr/>
          </p:nvSpPr>
          <p:spPr>
            <a:xfrm>
              <a:off x="4047" y="1816"/>
              <a:ext cx="553"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7052" name="Rectangle 12"/>
            <p:cNvSpPr/>
            <p:nvPr/>
          </p:nvSpPr>
          <p:spPr>
            <a:xfrm>
              <a:off x="4165" y="1878"/>
              <a:ext cx="32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状态</a:t>
              </a:r>
              <a:endParaRPr lang="zh-CN" altLang="en-US" sz="2800" b="1" dirty="0"/>
            </a:p>
          </p:txBody>
        </p:sp>
        <p:sp>
          <p:nvSpPr>
            <p:cNvPr id="87053" name="Rectangle 13"/>
            <p:cNvSpPr/>
            <p:nvPr/>
          </p:nvSpPr>
          <p:spPr>
            <a:xfrm>
              <a:off x="4600" y="1816"/>
              <a:ext cx="728" cy="298"/>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7054" name="Rectangle 14"/>
            <p:cNvSpPr/>
            <p:nvPr/>
          </p:nvSpPr>
          <p:spPr>
            <a:xfrm>
              <a:off x="4658" y="1878"/>
              <a:ext cx="64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外存始址</a:t>
              </a:r>
              <a:endParaRPr lang="zh-CN" altLang="en-US" sz="2800" b="1" dirty="0"/>
            </a:p>
          </p:txBody>
        </p:sp>
        <p:sp>
          <p:nvSpPr>
            <p:cNvPr id="87055" name="Rectangle 15"/>
            <p:cNvSpPr/>
            <p:nvPr/>
          </p:nvSpPr>
          <p:spPr>
            <a:xfrm>
              <a:off x="2214" y="2114"/>
              <a:ext cx="3114" cy="297"/>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7056" name="Rectangle 16"/>
            <p:cNvSpPr/>
            <p:nvPr/>
          </p:nvSpPr>
          <p:spPr>
            <a:xfrm>
              <a:off x="3131" y="2176"/>
              <a:ext cx="9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共享进程计数</a:t>
              </a:r>
              <a:endParaRPr lang="zh-CN" altLang="en-US" sz="2800" b="1" dirty="0"/>
            </a:p>
          </p:txBody>
        </p:sp>
        <p:sp>
          <p:nvSpPr>
            <p:cNvPr id="87057" name="Rectangle 17"/>
            <p:cNvSpPr/>
            <p:nvPr/>
          </p:nvSpPr>
          <p:spPr>
            <a:xfrm>
              <a:off x="4047" y="2163"/>
              <a:ext cx="391"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latin typeface="Times" pitchFamily="18" charset="0"/>
                </a:rPr>
                <a:t>count</a:t>
              </a:r>
              <a:endParaRPr lang="en-US" altLang="zh-CN" sz="2800" b="1" dirty="0"/>
            </a:p>
          </p:txBody>
        </p:sp>
        <p:sp>
          <p:nvSpPr>
            <p:cNvPr id="87058" name="Rectangle 18"/>
            <p:cNvSpPr/>
            <p:nvPr/>
          </p:nvSpPr>
          <p:spPr>
            <a:xfrm>
              <a:off x="2214" y="2411"/>
              <a:ext cx="553"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7059" name="Rectangle 19"/>
            <p:cNvSpPr/>
            <p:nvPr/>
          </p:nvSpPr>
          <p:spPr>
            <a:xfrm>
              <a:off x="2332" y="2473"/>
              <a:ext cx="32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状态</a:t>
              </a:r>
              <a:endParaRPr lang="zh-CN" altLang="en-US" sz="2800" b="1" dirty="0"/>
            </a:p>
          </p:txBody>
        </p:sp>
        <p:sp>
          <p:nvSpPr>
            <p:cNvPr id="87060" name="Rectangle 20"/>
            <p:cNvSpPr/>
            <p:nvPr/>
          </p:nvSpPr>
          <p:spPr>
            <a:xfrm>
              <a:off x="2767" y="2411"/>
              <a:ext cx="552"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7061" name="Rectangle 21"/>
            <p:cNvSpPr/>
            <p:nvPr/>
          </p:nvSpPr>
          <p:spPr>
            <a:xfrm>
              <a:off x="2814" y="2473"/>
              <a:ext cx="48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进程名</a:t>
              </a:r>
              <a:endParaRPr lang="zh-CN" altLang="en-US" sz="2800" b="1" dirty="0"/>
            </a:p>
          </p:txBody>
        </p:sp>
        <p:sp>
          <p:nvSpPr>
            <p:cNvPr id="87062" name="Rectangle 22"/>
            <p:cNvSpPr/>
            <p:nvPr/>
          </p:nvSpPr>
          <p:spPr>
            <a:xfrm>
              <a:off x="3319" y="2411"/>
              <a:ext cx="728"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7063" name="Rectangle 23"/>
            <p:cNvSpPr/>
            <p:nvPr/>
          </p:nvSpPr>
          <p:spPr>
            <a:xfrm>
              <a:off x="3460" y="2473"/>
              <a:ext cx="48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进程号</a:t>
              </a:r>
              <a:endParaRPr lang="zh-CN" altLang="en-US" sz="2800" b="1" dirty="0"/>
            </a:p>
          </p:txBody>
        </p:sp>
        <p:sp>
          <p:nvSpPr>
            <p:cNvPr id="87064" name="Rectangle 24"/>
            <p:cNvSpPr/>
            <p:nvPr/>
          </p:nvSpPr>
          <p:spPr>
            <a:xfrm>
              <a:off x="4047" y="2411"/>
              <a:ext cx="553"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7065" name="Rectangle 25"/>
            <p:cNvSpPr/>
            <p:nvPr/>
          </p:nvSpPr>
          <p:spPr>
            <a:xfrm>
              <a:off x="4165" y="2473"/>
              <a:ext cx="32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段号</a:t>
              </a:r>
              <a:endParaRPr lang="zh-CN" altLang="en-US" sz="2800" b="1" dirty="0"/>
            </a:p>
          </p:txBody>
        </p:sp>
        <p:sp>
          <p:nvSpPr>
            <p:cNvPr id="87066" name="Rectangle 26"/>
            <p:cNvSpPr/>
            <p:nvPr/>
          </p:nvSpPr>
          <p:spPr>
            <a:xfrm>
              <a:off x="4600" y="2411"/>
              <a:ext cx="728" cy="285"/>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7067" name="Rectangle 27"/>
            <p:cNvSpPr/>
            <p:nvPr/>
          </p:nvSpPr>
          <p:spPr>
            <a:xfrm>
              <a:off x="4658" y="2473"/>
              <a:ext cx="64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000" dirty="0">
                  <a:solidFill>
                    <a:srgbClr val="000000"/>
                  </a:solidFill>
                  <a:latin typeface="宋体" panose="02010600030101010101" pitchFamily="2" charset="-122"/>
                </a:rPr>
                <a:t>存取控制</a:t>
              </a:r>
              <a:endParaRPr lang="zh-CN" altLang="en-US" sz="2800" b="1" dirty="0"/>
            </a:p>
          </p:txBody>
        </p:sp>
        <p:sp>
          <p:nvSpPr>
            <p:cNvPr id="87068" name="Rectangle 28"/>
            <p:cNvSpPr/>
            <p:nvPr/>
          </p:nvSpPr>
          <p:spPr>
            <a:xfrm>
              <a:off x="2214" y="2696"/>
              <a:ext cx="3114" cy="409"/>
            </a:xfrm>
            <a:prstGeom prst="rect">
              <a:avLst/>
            </a:prstGeom>
            <a:noFill/>
            <a:ln w="190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endParaRPr lang="zh-CN" altLang="en-US" sz="2800" b="1" dirty="0"/>
            </a:p>
          </p:txBody>
        </p:sp>
        <p:sp>
          <p:nvSpPr>
            <p:cNvPr id="87069" name="Rectangle 29"/>
            <p:cNvSpPr/>
            <p:nvPr/>
          </p:nvSpPr>
          <p:spPr>
            <a:xfrm rot="5400000">
              <a:off x="2422"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7070" name="Rectangle 30"/>
            <p:cNvSpPr/>
            <p:nvPr/>
          </p:nvSpPr>
          <p:spPr>
            <a:xfrm rot="5400000">
              <a:off x="2975"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7071" name="Rectangle 31"/>
            <p:cNvSpPr/>
            <p:nvPr/>
          </p:nvSpPr>
          <p:spPr>
            <a:xfrm rot="5400000">
              <a:off x="3609"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7072" name="Rectangle 32"/>
            <p:cNvSpPr/>
            <p:nvPr/>
          </p:nvSpPr>
          <p:spPr>
            <a:xfrm rot="5400000">
              <a:off x="4255"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sp>
          <p:nvSpPr>
            <p:cNvPr id="87073" name="Rectangle 33"/>
            <p:cNvSpPr/>
            <p:nvPr/>
          </p:nvSpPr>
          <p:spPr>
            <a:xfrm rot="5400000">
              <a:off x="4890" y="2805"/>
              <a:ext cx="16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00"/>
                  </a:solidFill>
                </a:rPr>
                <a:t>…</a:t>
              </a:r>
              <a:endParaRPr lang="en-US" altLang="zh-CN" sz="2800" b="1" dirty="0"/>
            </a:p>
          </p:txBody>
        </p:sp>
      </p:grpSp>
    </p:spTree>
  </p:cSld>
  <p:clrMapOvr>
    <a:masterClrMapping/>
  </p:clrMapOvr>
  <p:transition>
    <p:blinds/>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p:cNvSpPr txBox="1"/>
          <p:nvPr/>
        </p:nvSpPr>
        <p:spPr>
          <a:xfrm>
            <a:off x="3505200" y="5998210"/>
            <a:ext cx="179228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0"/>
              </a:spcBef>
              <a:buClrTx/>
              <a:buSzTx/>
              <a:buFontTx/>
              <a:buNone/>
            </a:pPr>
            <a:r>
              <a:rPr lang="zh-CN" altLang="en-US" sz="2400" b="1" dirty="0">
                <a:latin typeface="Times New Roman" panose="02020603050405020304" pitchFamily="18" charset="0"/>
              </a:rPr>
              <a:t>环保护机构</a:t>
            </a:r>
            <a:r>
              <a:rPr lang="zh-CN" altLang="en-US" sz="2400" dirty="0">
                <a:latin typeface="Times New Roman" panose="02020603050405020304" pitchFamily="18" charset="0"/>
              </a:rPr>
              <a:t> </a:t>
            </a:r>
            <a:endParaRPr lang="zh-CN" altLang="en-US" sz="2400" dirty="0">
              <a:latin typeface="Times New Roman" panose="02020603050405020304" pitchFamily="18" charset="0"/>
            </a:endParaRPr>
          </a:p>
        </p:txBody>
      </p:sp>
      <p:graphicFrame>
        <p:nvGraphicFramePr>
          <p:cNvPr id="88067" name="Object 3"/>
          <p:cNvGraphicFramePr>
            <a:graphicFrameLocks noChangeAspect="1"/>
          </p:cNvGraphicFramePr>
          <p:nvPr/>
        </p:nvGraphicFramePr>
        <p:xfrm>
          <a:off x="0" y="2096770"/>
          <a:ext cx="9144000" cy="3746500"/>
        </p:xfrm>
        <a:graphic>
          <a:graphicData uri="http://schemas.openxmlformats.org/presentationml/2006/ole">
            <mc:AlternateContent xmlns:mc="http://schemas.openxmlformats.org/markup-compatibility/2006">
              <mc:Choice xmlns:v="urn:schemas-microsoft-com:vml" Requires="v">
                <p:oleObj spid="_x0000_s2" name="" r:id="rId1" imgW="4023360" imgH="1645920" progId="Visio.Drawing.4">
                  <p:embed/>
                </p:oleObj>
              </mc:Choice>
              <mc:Fallback>
                <p:oleObj name="" r:id="rId1" imgW="4023360" imgH="1645920" progId="Visio.Drawing.4">
                  <p:embed/>
                  <p:pic>
                    <p:nvPicPr>
                      <p:cNvPr id="0" name="图片 3089"/>
                      <p:cNvPicPr/>
                      <p:nvPr/>
                    </p:nvPicPr>
                    <p:blipFill>
                      <a:blip r:embed="rId2"/>
                      <a:stretch>
                        <a:fillRect/>
                      </a:stretch>
                    </p:blipFill>
                    <p:spPr>
                      <a:xfrm>
                        <a:off x="0" y="2096770"/>
                        <a:ext cx="9144000" cy="3746500"/>
                      </a:xfrm>
                      <a:prstGeom prst="rect">
                        <a:avLst/>
                      </a:prstGeom>
                      <a:noFill/>
                      <a:ln w="38100">
                        <a:noFill/>
                        <a:miter/>
                      </a:ln>
                    </p:spPr>
                  </p:pic>
                </p:oleObj>
              </mc:Fallback>
            </mc:AlternateContent>
          </a:graphicData>
        </a:graphic>
      </p:graphicFrame>
      <p:sp>
        <p:nvSpPr>
          <p:cNvPr id="87043" name="Text Box 3"/>
          <p:cNvSpPr txBox="1"/>
          <p:nvPr>
            <p:custDataLst>
              <p:tags r:id="rId3"/>
            </p:custDataLst>
          </p:nvPr>
        </p:nvSpPr>
        <p:spPr>
          <a:xfrm>
            <a:off x="719455" y="296545"/>
            <a:ext cx="7632065" cy="1753235"/>
          </a:xfrm>
          <a:prstGeom prst="rect">
            <a:avLst/>
          </a:prstGeom>
          <a:solidFill>
            <a:schemeClr val="bg1"/>
          </a:solidFill>
          <a:ln w="9525">
            <a:noFill/>
          </a:ln>
        </p:spPr>
        <p:txBody>
          <a:bodyPr wrap="square">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b="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lvl="0" eaLnBrk="1" hangingPunct="1">
              <a:lnSpc>
                <a:spcPct val="150000"/>
              </a:lnSpc>
              <a:spcBef>
                <a:spcPct val="0"/>
              </a:spcBef>
              <a:buClrTx/>
              <a:buSzTx/>
              <a:buFont typeface="Wingdings" panose="05000000000000000000" charset="0"/>
              <a:buChar char="Ø"/>
            </a:pPr>
            <a:r>
              <a:rPr lang="zh-CN" altLang="en-US" sz="2400" b="1" dirty="0">
                <a:solidFill>
                  <a:srgbClr val="003300"/>
                </a:solidFill>
                <a:latin typeface="Times New Roman" panose="02020603050405020304" pitchFamily="18" charset="0"/>
              </a:rPr>
              <a:t>低编号的环特权级最高，</a:t>
            </a:r>
            <a:r>
              <a:rPr lang="en-US" altLang="zh-CN" sz="2400" b="1" dirty="0">
                <a:solidFill>
                  <a:srgbClr val="003300"/>
                </a:solidFill>
                <a:latin typeface="Times New Roman" panose="02020603050405020304" pitchFamily="18" charset="0"/>
              </a:rPr>
              <a:t>OS</a:t>
            </a:r>
            <a:r>
              <a:rPr lang="zh-CN" altLang="en-US" sz="2400" b="1" dirty="0">
                <a:solidFill>
                  <a:srgbClr val="003300"/>
                </a:solidFill>
                <a:latin typeface="Times New Roman" panose="02020603050405020304" pitchFamily="18" charset="0"/>
              </a:rPr>
              <a:t>位于</a:t>
            </a:r>
            <a:r>
              <a:rPr lang="en-US" altLang="zh-CN" sz="2400" b="1" dirty="0">
                <a:solidFill>
                  <a:srgbClr val="003300"/>
                </a:solidFill>
                <a:latin typeface="Times New Roman" panose="02020603050405020304" pitchFamily="18" charset="0"/>
              </a:rPr>
              <a:t>0</a:t>
            </a:r>
            <a:r>
              <a:rPr lang="zh-CN" altLang="en-US" sz="2400" b="1" dirty="0">
                <a:solidFill>
                  <a:srgbClr val="003300"/>
                </a:solidFill>
                <a:latin typeface="Times New Roman" panose="02020603050405020304" pitchFamily="18" charset="0"/>
              </a:rPr>
              <a:t>号环内；</a:t>
            </a:r>
            <a:endParaRPr lang="zh-CN" altLang="en-US" sz="2400" b="1" dirty="0">
              <a:solidFill>
                <a:srgbClr val="003300"/>
              </a:solidFill>
              <a:latin typeface="Times New Roman" panose="02020603050405020304" pitchFamily="18" charset="0"/>
            </a:endParaRPr>
          </a:p>
          <a:p>
            <a:pPr lvl="0" eaLnBrk="1" hangingPunct="1">
              <a:lnSpc>
                <a:spcPct val="150000"/>
              </a:lnSpc>
              <a:spcBef>
                <a:spcPct val="0"/>
              </a:spcBef>
              <a:buClrTx/>
              <a:buSzTx/>
              <a:buFont typeface="Wingdings" panose="05000000000000000000" charset="0"/>
              <a:buChar char="Ø"/>
            </a:pPr>
            <a:r>
              <a:rPr lang="zh-CN" altLang="en-US" sz="2400" b="1" dirty="0">
                <a:solidFill>
                  <a:srgbClr val="003300"/>
                </a:solidFill>
                <a:latin typeface="Times New Roman" panose="02020603050405020304" pitchFamily="18" charset="0"/>
              </a:rPr>
              <a:t>重要的实用程序和操作系统服务占居中间环；</a:t>
            </a:r>
            <a:endParaRPr lang="zh-CN" altLang="en-US" sz="2400" b="1" dirty="0">
              <a:solidFill>
                <a:srgbClr val="003300"/>
              </a:solidFill>
              <a:latin typeface="Times New Roman" panose="02020603050405020304" pitchFamily="18" charset="0"/>
            </a:endParaRPr>
          </a:p>
          <a:p>
            <a:pPr lvl="0" eaLnBrk="1" hangingPunct="1">
              <a:lnSpc>
                <a:spcPct val="150000"/>
              </a:lnSpc>
              <a:spcBef>
                <a:spcPct val="0"/>
              </a:spcBef>
              <a:buClrTx/>
              <a:buSzTx/>
              <a:buFont typeface="Wingdings" panose="05000000000000000000" charset="0"/>
              <a:buChar char="Ø"/>
            </a:pPr>
            <a:r>
              <a:rPr lang="zh-CN" altLang="en-US" sz="2400" b="1" dirty="0">
                <a:solidFill>
                  <a:srgbClr val="003300"/>
                </a:solidFill>
                <a:latin typeface="Times New Roman" panose="02020603050405020304" pitchFamily="18" charset="0"/>
              </a:rPr>
              <a:t>一般的应用程序，安排在外环上。</a:t>
            </a:r>
            <a:endParaRPr lang="zh-CN" altLang="en-US" sz="2400" b="1" dirty="0">
              <a:solidFill>
                <a:srgbClr val="003300"/>
              </a:solidFill>
              <a:latin typeface="Times New Roman" panose="02020603050405020304" pitchFamily="18" charset="0"/>
            </a:endParaRPr>
          </a:p>
        </p:txBody>
      </p:sp>
    </p:spTree>
  </p:cSld>
  <p:clrMapOvr>
    <a:masterClrMapping/>
  </p:clrMapOvr>
  <p:transition>
    <p:blinds/>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433" name="Picture 2"/>
          <p:cNvPicPr>
            <a:picLocks noChangeAspect="1"/>
          </p:cNvPicPr>
          <p:nvPr>
            <p:custDataLst>
              <p:tags r:id="rId1"/>
            </p:custDataLst>
          </p:nvPr>
        </p:nvPicPr>
        <p:blipFill>
          <a:blip r:embed="rId2"/>
          <a:stretch>
            <a:fillRect/>
          </a:stretch>
        </p:blipFill>
        <p:spPr>
          <a:xfrm>
            <a:off x="0" y="548640"/>
            <a:ext cx="9144000" cy="5670550"/>
          </a:xfrm>
          <a:prstGeom prst="rect">
            <a:avLst/>
          </a:prstGeom>
          <a:noFill/>
          <a:ln w="9525">
            <a:noFill/>
          </a:ln>
        </p:spPr>
      </p:pic>
    </p:spTree>
  </p:cSld>
  <p:clrMapOvr>
    <a:masterClrMapping/>
  </p:clrMapOvr>
  <p:transition>
    <p:blinds/>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内容占位符 2"/>
          <p:cNvSpPr>
            <a:spLocks noGrp="1"/>
          </p:cNvSpPr>
          <p:nvPr>
            <p:ph idx="1"/>
          </p:nvPr>
        </p:nvSpPr>
        <p:spPr>
          <a:xfrm>
            <a:off x="603250" y="1219200"/>
            <a:ext cx="8540750" cy="3886200"/>
          </a:xfrm>
        </p:spPr>
        <p:txBody>
          <a:bodyPr vert="horz" wrap="square" lIns="91440" tIns="45720" rIns="91440" bIns="45720" anchor="t" anchorCtr="0"/>
          <a:p>
            <a:pPr marL="0" indent="0">
              <a:buNone/>
            </a:pPr>
            <a:r>
              <a:rPr lang="en-US" altLang="zh-CN" dirty="0">
                <a:solidFill>
                  <a:srgbClr val="000000"/>
                </a:solidFill>
              </a:rPr>
              <a:t>(19</a:t>
            </a:r>
            <a:r>
              <a:rPr lang="zh-CN" altLang="en-US" dirty="0">
                <a:solidFill>
                  <a:srgbClr val="000000"/>
                </a:solidFill>
              </a:rPr>
              <a:t>年</a:t>
            </a:r>
            <a:r>
              <a:rPr lang="en-US" altLang="zh-CN" dirty="0">
                <a:solidFill>
                  <a:srgbClr val="000000"/>
                </a:solidFill>
              </a:rPr>
              <a:t>)</a:t>
            </a:r>
            <a:r>
              <a:rPr lang="zh-CN" altLang="en-US" b="1" dirty="0">
                <a:solidFill>
                  <a:srgbClr val="000000"/>
                </a:solidFill>
              </a:rPr>
              <a:t>在分段存储管理系统中，用共享段表描述所有被共享的段，若进程</a:t>
            </a:r>
            <a:r>
              <a:rPr lang="en-US" altLang="zh-CN" b="1" dirty="0">
                <a:solidFill>
                  <a:srgbClr val="000000"/>
                </a:solidFill>
              </a:rPr>
              <a:t>P1</a:t>
            </a:r>
            <a:r>
              <a:rPr lang="zh-CN" altLang="en-US" b="1" dirty="0">
                <a:solidFill>
                  <a:srgbClr val="000000"/>
                </a:solidFill>
              </a:rPr>
              <a:t>和</a:t>
            </a:r>
            <a:r>
              <a:rPr lang="en-US" altLang="zh-CN" b="1" dirty="0">
                <a:solidFill>
                  <a:srgbClr val="000000"/>
                </a:solidFill>
              </a:rPr>
              <a:t>P2</a:t>
            </a:r>
            <a:r>
              <a:rPr lang="zh-CN" altLang="en-US" b="1" dirty="0">
                <a:solidFill>
                  <a:srgbClr val="000000"/>
                </a:solidFill>
              </a:rPr>
              <a:t>共享段</a:t>
            </a:r>
            <a:r>
              <a:rPr lang="en-US" altLang="zh-CN" b="1" dirty="0">
                <a:solidFill>
                  <a:srgbClr val="000000"/>
                </a:solidFill>
              </a:rPr>
              <a:t>S</a:t>
            </a:r>
            <a:r>
              <a:rPr lang="zh-CN" altLang="en-US" b="1" dirty="0">
                <a:solidFill>
                  <a:srgbClr val="000000"/>
                </a:solidFill>
              </a:rPr>
              <a:t>，下列叙述中，错误的是（）</a:t>
            </a:r>
            <a:endParaRPr lang="en-US" altLang="zh-CN" b="1" dirty="0">
              <a:solidFill>
                <a:srgbClr val="000000"/>
              </a:solidFill>
            </a:endParaRPr>
          </a:p>
          <a:p>
            <a:pPr marL="0" indent="0">
              <a:buNone/>
            </a:pPr>
            <a:r>
              <a:rPr lang="en-US" altLang="zh-CN" b="1" dirty="0">
                <a:solidFill>
                  <a:srgbClr val="000000"/>
                </a:solidFill>
              </a:rPr>
              <a:t>A.</a:t>
            </a:r>
            <a:r>
              <a:rPr lang="zh-CN" altLang="en-US" b="1" dirty="0">
                <a:solidFill>
                  <a:srgbClr val="000000"/>
                </a:solidFill>
              </a:rPr>
              <a:t>在物理内存中仅保存一份段</a:t>
            </a:r>
            <a:r>
              <a:rPr lang="en-US" altLang="zh-CN" b="1" dirty="0">
                <a:solidFill>
                  <a:srgbClr val="000000"/>
                </a:solidFill>
              </a:rPr>
              <a:t>S</a:t>
            </a:r>
            <a:r>
              <a:rPr lang="zh-CN" altLang="en-US" b="1" dirty="0">
                <a:solidFill>
                  <a:srgbClr val="000000"/>
                </a:solidFill>
              </a:rPr>
              <a:t>的内容</a:t>
            </a:r>
            <a:endParaRPr lang="en-US" altLang="zh-CN" b="1" dirty="0">
              <a:solidFill>
                <a:srgbClr val="000000"/>
              </a:solidFill>
            </a:endParaRPr>
          </a:p>
          <a:p>
            <a:pPr marL="0" indent="0">
              <a:buNone/>
            </a:pPr>
            <a:r>
              <a:rPr lang="en-US" altLang="zh-CN" b="1" dirty="0">
                <a:solidFill>
                  <a:srgbClr val="000000"/>
                </a:solidFill>
              </a:rPr>
              <a:t>B.</a:t>
            </a:r>
            <a:r>
              <a:rPr lang="zh-CN" altLang="en-US" b="1" dirty="0">
                <a:solidFill>
                  <a:srgbClr val="000000"/>
                </a:solidFill>
              </a:rPr>
              <a:t>段</a:t>
            </a:r>
            <a:r>
              <a:rPr lang="en-US" altLang="zh-CN" b="1" dirty="0">
                <a:solidFill>
                  <a:srgbClr val="000000"/>
                </a:solidFill>
              </a:rPr>
              <a:t>S</a:t>
            </a:r>
            <a:r>
              <a:rPr lang="zh-CN" altLang="en-US" b="1" dirty="0">
                <a:solidFill>
                  <a:srgbClr val="000000"/>
                </a:solidFill>
              </a:rPr>
              <a:t>在</a:t>
            </a:r>
            <a:r>
              <a:rPr lang="en-US" altLang="zh-CN" b="1" dirty="0">
                <a:solidFill>
                  <a:srgbClr val="000000"/>
                </a:solidFill>
              </a:rPr>
              <a:t>P1</a:t>
            </a:r>
            <a:r>
              <a:rPr lang="zh-CN" altLang="en-US" b="1" dirty="0">
                <a:solidFill>
                  <a:srgbClr val="000000"/>
                </a:solidFill>
              </a:rPr>
              <a:t>和</a:t>
            </a:r>
            <a:r>
              <a:rPr lang="en-US" altLang="zh-CN" b="1" dirty="0">
                <a:solidFill>
                  <a:srgbClr val="000000"/>
                </a:solidFill>
              </a:rPr>
              <a:t>P2</a:t>
            </a:r>
            <a:r>
              <a:rPr lang="zh-CN" altLang="en-US" b="1" dirty="0">
                <a:solidFill>
                  <a:srgbClr val="000000"/>
                </a:solidFill>
              </a:rPr>
              <a:t>中应该具有相同的段号</a:t>
            </a:r>
            <a:endParaRPr lang="en-US" altLang="zh-CN" b="1" dirty="0">
              <a:solidFill>
                <a:srgbClr val="000000"/>
              </a:solidFill>
            </a:endParaRPr>
          </a:p>
          <a:p>
            <a:pPr marL="0" indent="0">
              <a:buNone/>
            </a:pPr>
            <a:r>
              <a:rPr lang="en-US" altLang="zh-CN" b="1" dirty="0">
                <a:solidFill>
                  <a:srgbClr val="000000"/>
                </a:solidFill>
              </a:rPr>
              <a:t>C.P1</a:t>
            </a:r>
            <a:r>
              <a:rPr lang="zh-CN" altLang="en-US" b="1" dirty="0">
                <a:solidFill>
                  <a:srgbClr val="000000"/>
                </a:solidFill>
              </a:rPr>
              <a:t>和</a:t>
            </a:r>
            <a:r>
              <a:rPr lang="en-US" altLang="zh-CN" b="1" dirty="0">
                <a:solidFill>
                  <a:srgbClr val="000000"/>
                </a:solidFill>
              </a:rPr>
              <a:t>P2</a:t>
            </a:r>
            <a:r>
              <a:rPr lang="zh-CN" altLang="en-US" b="1" dirty="0">
                <a:solidFill>
                  <a:srgbClr val="000000"/>
                </a:solidFill>
              </a:rPr>
              <a:t>共享段</a:t>
            </a:r>
            <a:r>
              <a:rPr lang="en-US" altLang="zh-CN" b="1" dirty="0">
                <a:solidFill>
                  <a:srgbClr val="000000"/>
                </a:solidFill>
              </a:rPr>
              <a:t>S</a:t>
            </a:r>
            <a:r>
              <a:rPr lang="zh-CN" altLang="en-US" b="1" dirty="0">
                <a:solidFill>
                  <a:srgbClr val="000000"/>
                </a:solidFill>
              </a:rPr>
              <a:t>在共享段表中的段表项</a:t>
            </a:r>
            <a:endParaRPr lang="en-US" altLang="zh-CN" b="1" dirty="0">
              <a:solidFill>
                <a:srgbClr val="000000"/>
              </a:solidFill>
            </a:endParaRPr>
          </a:p>
          <a:p>
            <a:pPr marL="0" indent="0">
              <a:buNone/>
            </a:pPr>
            <a:r>
              <a:rPr lang="en-US" altLang="zh-CN" b="1" dirty="0">
                <a:solidFill>
                  <a:srgbClr val="000000"/>
                </a:solidFill>
              </a:rPr>
              <a:t>D.P2</a:t>
            </a:r>
            <a:r>
              <a:rPr lang="zh-CN" altLang="en-US" b="1" dirty="0">
                <a:solidFill>
                  <a:srgbClr val="000000"/>
                </a:solidFill>
              </a:rPr>
              <a:t>和</a:t>
            </a:r>
            <a:r>
              <a:rPr lang="en-US" altLang="zh-CN" b="1" dirty="0">
                <a:solidFill>
                  <a:srgbClr val="000000"/>
                </a:solidFill>
              </a:rPr>
              <a:t>P2</a:t>
            </a:r>
            <a:r>
              <a:rPr lang="zh-CN" altLang="en-US" b="1" dirty="0">
                <a:solidFill>
                  <a:srgbClr val="000000"/>
                </a:solidFill>
              </a:rPr>
              <a:t>都不再使用段</a:t>
            </a:r>
            <a:r>
              <a:rPr lang="en-US" altLang="zh-CN" b="1" dirty="0">
                <a:solidFill>
                  <a:srgbClr val="000000"/>
                </a:solidFill>
              </a:rPr>
              <a:t>S</a:t>
            </a:r>
            <a:r>
              <a:rPr lang="zh-CN" altLang="en-US" b="1" dirty="0">
                <a:solidFill>
                  <a:srgbClr val="000000"/>
                </a:solidFill>
              </a:rPr>
              <a:t>时才回收段</a:t>
            </a:r>
            <a:r>
              <a:rPr lang="en-US" altLang="zh-CN" b="1" dirty="0">
                <a:solidFill>
                  <a:srgbClr val="000000"/>
                </a:solidFill>
              </a:rPr>
              <a:t>S</a:t>
            </a:r>
            <a:r>
              <a:rPr lang="zh-CN" altLang="en-US" b="1" dirty="0">
                <a:solidFill>
                  <a:srgbClr val="000000"/>
                </a:solidFill>
              </a:rPr>
              <a:t>所占的内存空间</a:t>
            </a:r>
            <a:endParaRPr lang="zh-CN" altLang="en-US" b="1" dirty="0">
              <a:solidFill>
                <a:srgbClr val="000000"/>
              </a:solidFill>
            </a:endParaRPr>
          </a:p>
        </p:txBody>
      </p:sp>
      <p:sp>
        <p:nvSpPr>
          <p:cNvPr id="5" name="Text Box 4"/>
          <p:cNvSpPr txBox="1"/>
          <p:nvPr/>
        </p:nvSpPr>
        <p:spPr>
          <a:xfrm>
            <a:off x="3886200" y="5791200"/>
            <a:ext cx="1066800"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t>B</a:t>
            </a:r>
            <a:endParaRPr lang="en-US" altLang="zh-CN" sz="2400" b="1" dirty="0"/>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amond(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p:cNvSpPr>
          <p:nvPr>
            <p:ph type="title"/>
          </p:nvPr>
        </p:nvSpPr>
        <p:spPr>
          <a:xfrm>
            <a:off x="1066800" y="304800"/>
            <a:ext cx="7635875" cy="762000"/>
          </a:xfrm>
        </p:spPr>
        <p:txBody>
          <a:bodyPr vert="horz" wrap="square" lIns="92075" tIns="46038" rIns="92075" bIns="46038" anchor="ctr" anchorCtr="0"/>
          <a:lstStyle/>
          <a:p>
            <a:pPr eaLnBrk="1" hangingPunct="1">
              <a:buNone/>
            </a:pPr>
            <a:r>
              <a:rPr lang="en-US" altLang="zh-CN" dirty="0">
                <a:solidFill>
                  <a:srgbClr val="FF0000"/>
                </a:solidFill>
              </a:rPr>
              <a:t>Any Question ?</a:t>
            </a:r>
            <a:endParaRPr lang="en-US" altLang="zh-CN" dirty="0">
              <a:solidFill>
                <a:srgbClr val="FF0000"/>
              </a:solidFill>
            </a:endParaRPr>
          </a:p>
        </p:txBody>
      </p:sp>
      <p:sp>
        <p:nvSpPr>
          <p:cNvPr id="478211" name="Rectangle 3"/>
          <p:cNvSpPr>
            <a:spLocks noGrp="1" noRot="1" noChangeArrowheads="1"/>
          </p:cNvSpPr>
          <p:nvPr>
            <p:ph idx="1"/>
          </p:nvPr>
        </p:nvSpPr>
        <p:spPr>
          <a:xfrm>
            <a:off x="609600" y="5410200"/>
            <a:ext cx="8077200" cy="1219200"/>
          </a:xfrm>
        </p:spPr>
        <p:txBody>
          <a:bodyPr vert="horz" wrap="square" lIns="92075" tIns="46038" rIns="92075" bIns="46038" numCol="1" anchor="t" anchorCtr="0" compatLnSpc="1"/>
          <a:lstStyle/>
          <a:p>
            <a:pPr marL="342900" marR="0" lvl="0" indent="-342900" algn="ctr" defTabSz="914400" rtl="0" eaLnBrk="1" fontAlgn="base" latinLnBrk="0" hangingPunct="1">
              <a:lnSpc>
                <a:spcPct val="90000"/>
              </a:lnSpc>
              <a:spcBef>
                <a:spcPct val="20000"/>
              </a:spcBef>
              <a:spcAft>
                <a:spcPct val="0"/>
              </a:spcAft>
              <a:buClr>
                <a:schemeClr val="hlink"/>
              </a:buClr>
              <a:buSzPct val="70000"/>
              <a:buFont typeface="Wingdings" panose="05000000000000000000" pitchFamily="2" charset="2"/>
              <a:buNone/>
              <a:defRPr/>
            </a:pPr>
            <a:r>
              <a:rPr kumimoji="0" lang="en-US" altLang="zh-CN" sz="8000" b="0"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rPr>
              <a:t>Thank you !!!</a:t>
            </a:r>
            <a:endParaRPr kumimoji="0" lang="en-US" altLang="zh-CN" sz="1800" b="0" i="0" u="none" strike="noStrike" kern="0" cap="none" spc="0" normalizeH="0" baseline="0" noProof="0">
              <a:ln>
                <a:noFill/>
              </a:ln>
              <a:solidFill>
                <a:schemeClr val="tx1"/>
              </a:solidFill>
              <a:effectLst/>
              <a:uLnTx/>
              <a:uFillTx/>
              <a:latin typeface="+mn-lt"/>
              <a:ea typeface="+mn-ea"/>
              <a:cs typeface="+mn-cs"/>
            </a:endParaRPr>
          </a:p>
        </p:txBody>
      </p:sp>
      <p:graphicFrame>
        <p:nvGraphicFramePr>
          <p:cNvPr id="89092" name="Object 4"/>
          <p:cNvGraphicFramePr/>
          <p:nvPr/>
        </p:nvGraphicFramePr>
        <p:xfrm>
          <a:off x="2268538" y="3789363"/>
          <a:ext cx="2160587" cy="1728787"/>
        </p:xfrm>
        <a:graphic>
          <a:graphicData uri="http://schemas.openxmlformats.org/presentationml/2006/ole">
            <mc:AlternateContent xmlns:mc="http://schemas.openxmlformats.org/markup-compatibility/2006">
              <mc:Choice xmlns:v="urn:schemas-microsoft-com:vml" Requires="v">
                <p:oleObj spid="_x0000_s2" name="" r:id="rId1" imgW="7833360" imgH="7839075" progId="MS_ClipArt_Gallery.2">
                  <p:embed/>
                </p:oleObj>
              </mc:Choice>
              <mc:Fallback>
                <p:oleObj name="" r:id="rId1" imgW="7833360" imgH="7839075" progId="MS_ClipArt_Gallery.2">
                  <p:embed/>
                  <p:pic>
                    <p:nvPicPr>
                      <p:cNvPr id="0" name="图片 3090"/>
                      <p:cNvPicPr/>
                      <p:nvPr/>
                    </p:nvPicPr>
                    <p:blipFill>
                      <a:blip r:embed="rId2"/>
                      <a:stretch>
                        <a:fillRect/>
                      </a:stretch>
                    </p:blipFill>
                    <p:spPr>
                      <a:xfrm>
                        <a:off x="2268538" y="3789363"/>
                        <a:ext cx="2160587" cy="1728787"/>
                      </a:xfrm>
                      <a:prstGeom prst="rect">
                        <a:avLst/>
                      </a:prstGeom>
                      <a:noFill/>
                      <a:ln w="38100">
                        <a:noFill/>
                        <a:miter/>
                      </a:ln>
                    </p:spPr>
                  </p:pic>
                </p:oleObj>
              </mc:Fallback>
            </mc:AlternateContent>
          </a:graphicData>
        </a:graphic>
      </p:graphicFrame>
      <p:grpSp>
        <p:nvGrpSpPr>
          <p:cNvPr id="89093" name="Group 5"/>
          <p:cNvGrpSpPr/>
          <p:nvPr/>
        </p:nvGrpSpPr>
        <p:grpSpPr>
          <a:xfrm>
            <a:off x="4067175" y="2997200"/>
            <a:ext cx="1371600" cy="1600200"/>
            <a:chOff x="0" y="3182"/>
            <a:chExt cx="808" cy="998"/>
          </a:xfrm>
        </p:grpSpPr>
        <p:grpSp>
          <p:nvGrpSpPr>
            <p:cNvPr id="89301" name="Group 6"/>
            <p:cNvGrpSpPr/>
            <p:nvPr/>
          </p:nvGrpSpPr>
          <p:grpSpPr>
            <a:xfrm>
              <a:off x="0" y="3182"/>
              <a:ext cx="506" cy="927"/>
              <a:chOff x="1685" y="1023"/>
              <a:chExt cx="506" cy="927"/>
            </a:xfrm>
          </p:grpSpPr>
          <p:sp>
            <p:nvSpPr>
              <p:cNvPr id="89314" name="Freeform 7"/>
              <p:cNvSpPr/>
              <p:nvPr/>
            </p:nvSpPr>
            <p:spPr>
              <a:xfrm>
                <a:off x="1733" y="1329"/>
                <a:ext cx="76" cy="621"/>
              </a:xfrm>
              <a:custGeom>
                <a:avLst/>
                <a:gdLst>
                  <a:gd name="txL" fmla="*/ 0 w 76"/>
                  <a:gd name="txT" fmla="*/ 0 h 621"/>
                  <a:gd name="txR" fmla="*/ 76 w 76"/>
                  <a:gd name="txB" fmla="*/ 621 h 621"/>
                </a:gdLst>
                <a:ahLst/>
                <a:cxnLst>
                  <a:cxn ang="0">
                    <a:pos x="0" y="54"/>
                  </a:cxn>
                  <a:cxn ang="0">
                    <a:pos x="11" y="269"/>
                  </a:cxn>
                  <a:cxn ang="0">
                    <a:pos x="22" y="442"/>
                  </a:cxn>
                  <a:cxn ang="0">
                    <a:pos x="30" y="570"/>
                  </a:cxn>
                  <a:cxn ang="0">
                    <a:pos x="28" y="620"/>
                  </a:cxn>
                  <a:cxn ang="0">
                    <a:pos x="44" y="620"/>
                  </a:cxn>
                  <a:cxn ang="0">
                    <a:pos x="49" y="546"/>
                  </a:cxn>
                  <a:cxn ang="0">
                    <a:pos x="52" y="434"/>
                  </a:cxn>
                  <a:cxn ang="0">
                    <a:pos x="58" y="329"/>
                  </a:cxn>
                  <a:cxn ang="0">
                    <a:pos x="61" y="250"/>
                  </a:cxn>
                  <a:cxn ang="0">
                    <a:pos x="67" y="135"/>
                  </a:cxn>
                  <a:cxn ang="0">
                    <a:pos x="75" y="36"/>
                  </a:cxn>
                  <a:cxn ang="0">
                    <a:pos x="70" y="11"/>
                  </a:cxn>
                  <a:cxn ang="0">
                    <a:pos x="62" y="0"/>
                  </a:cxn>
                  <a:cxn ang="0">
                    <a:pos x="53" y="121"/>
                  </a:cxn>
                  <a:cxn ang="0">
                    <a:pos x="45" y="224"/>
                  </a:cxn>
                  <a:cxn ang="0">
                    <a:pos x="43" y="305"/>
                  </a:cxn>
                  <a:cxn ang="0">
                    <a:pos x="40" y="390"/>
                  </a:cxn>
                  <a:cxn ang="0">
                    <a:pos x="34" y="475"/>
                  </a:cxn>
                  <a:cxn ang="0">
                    <a:pos x="25" y="327"/>
                  </a:cxn>
                  <a:cxn ang="0">
                    <a:pos x="15" y="187"/>
                  </a:cxn>
                  <a:cxn ang="0">
                    <a:pos x="0" y="54"/>
                  </a:cxn>
                </a:cxnLst>
                <a:rect l="txL" t="txT" r="txR" b="txB"/>
                <a:pathLst>
                  <a:path w="76" h="621">
                    <a:moveTo>
                      <a:pt x="0" y="54"/>
                    </a:moveTo>
                    <a:lnTo>
                      <a:pt x="11" y="269"/>
                    </a:lnTo>
                    <a:lnTo>
                      <a:pt x="22" y="442"/>
                    </a:lnTo>
                    <a:lnTo>
                      <a:pt x="30" y="570"/>
                    </a:lnTo>
                    <a:lnTo>
                      <a:pt x="28" y="620"/>
                    </a:lnTo>
                    <a:lnTo>
                      <a:pt x="44" y="620"/>
                    </a:lnTo>
                    <a:lnTo>
                      <a:pt x="49" y="546"/>
                    </a:lnTo>
                    <a:lnTo>
                      <a:pt x="52" y="434"/>
                    </a:lnTo>
                    <a:lnTo>
                      <a:pt x="58" y="329"/>
                    </a:lnTo>
                    <a:lnTo>
                      <a:pt x="61" y="250"/>
                    </a:lnTo>
                    <a:lnTo>
                      <a:pt x="67" y="135"/>
                    </a:lnTo>
                    <a:lnTo>
                      <a:pt x="75" y="36"/>
                    </a:lnTo>
                    <a:lnTo>
                      <a:pt x="70" y="11"/>
                    </a:lnTo>
                    <a:lnTo>
                      <a:pt x="62" y="0"/>
                    </a:lnTo>
                    <a:lnTo>
                      <a:pt x="53" y="121"/>
                    </a:lnTo>
                    <a:lnTo>
                      <a:pt x="45" y="224"/>
                    </a:lnTo>
                    <a:lnTo>
                      <a:pt x="43" y="305"/>
                    </a:lnTo>
                    <a:lnTo>
                      <a:pt x="40" y="390"/>
                    </a:lnTo>
                    <a:lnTo>
                      <a:pt x="34" y="475"/>
                    </a:lnTo>
                    <a:lnTo>
                      <a:pt x="25" y="327"/>
                    </a:lnTo>
                    <a:lnTo>
                      <a:pt x="15" y="187"/>
                    </a:lnTo>
                    <a:lnTo>
                      <a:pt x="0" y="54"/>
                    </a:lnTo>
                  </a:path>
                </a:pathLst>
              </a:custGeom>
              <a:solidFill>
                <a:srgbClr val="3C0023">
                  <a:alpha val="50195"/>
                </a:srgbClr>
              </a:solidFill>
              <a:ln w="9525">
                <a:noFill/>
              </a:ln>
            </p:spPr>
            <p:txBody>
              <a:bodyPr/>
              <a:lstStyle/>
              <a:p>
                <a:endParaRPr lang="zh-CN" altLang="en-US"/>
              </a:p>
            </p:txBody>
          </p:sp>
          <p:sp>
            <p:nvSpPr>
              <p:cNvPr id="89315" name="Freeform 8"/>
              <p:cNvSpPr/>
              <p:nvPr/>
            </p:nvSpPr>
            <p:spPr>
              <a:xfrm>
                <a:off x="1790" y="1583"/>
                <a:ext cx="120" cy="349"/>
              </a:xfrm>
              <a:custGeom>
                <a:avLst/>
                <a:gdLst>
                  <a:gd name="txL" fmla="*/ 0 w 120"/>
                  <a:gd name="txT" fmla="*/ 0 h 349"/>
                  <a:gd name="txR" fmla="*/ 120 w 120"/>
                  <a:gd name="txB" fmla="*/ 349 h 349"/>
                </a:gdLst>
                <a:ahLst/>
                <a:cxnLst>
                  <a:cxn ang="0">
                    <a:pos x="0" y="161"/>
                  </a:cxn>
                  <a:cxn ang="0">
                    <a:pos x="10" y="232"/>
                  </a:cxn>
                  <a:cxn ang="0">
                    <a:pos x="20" y="289"/>
                  </a:cxn>
                  <a:cxn ang="0">
                    <a:pos x="26" y="331"/>
                  </a:cxn>
                  <a:cxn ang="0">
                    <a:pos x="25" y="348"/>
                  </a:cxn>
                  <a:cxn ang="0">
                    <a:pos x="39" y="348"/>
                  </a:cxn>
                  <a:cxn ang="0">
                    <a:pos x="43" y="323"/>
                  </a:cxn>
                  <a:cxn ang="0">
                    <a:pos x="45" y="286"/>
                  </a:cxn>
                  <a:cxn ang="0">
                    <a:pos x="51" y="252"/>
                  </a:cxn>
                  <a:cxn ang="0">
                    <a:pos x="54" y="226"/>
                  </a:cxn>
                  <a:cxn ang="0">
                    <a:pos x="59" y="188"/>
                  </a:cxn>
                  <a:cxn ang="0">
                    <a:pos x="66" y="156"/>
                  </a:cxn>
                  <a:cxn ang="0">
                    <a:pos x="71" y="127"/>
                  </a:cxn>
                  <a:cxn ang="0">
                    <a:pos x="77" y="96"/>
                  </a:cxn>
                  <a:cxn ang="0">
                    <a:pos x="86" y="66"/>
                  </a:cxn>
                  <a:cxn ang="0">
                    <a:pos x="96" y="40"/>
                  </a:cxn>
                  <a:cxn ang="0">
                    <a:pos x="113" y="15"/>
                  </a:cxn>
                  <a:cxn ang="0">
                    <a:pos x="119" y="5"/>
                  </a:cxn>
                  <a:cxn ang="0">
                    <a:pos x="112" y="0"/>
                  </a:cxn>
                  <a:cxn ang="0">
                    <a:pos x="101" y="10"/>
                  </a:cxn>
                  <a:cxn ang="0">
                    <a:pos x="86" y="33"/>
                  </a:cxn>
                  <a:cxn ang="0">
                    <a:pos x="75" y="57"/>
                  </a:cxn>
                  <a:cxn ang="0">
                    <a:pos x="66" y="81"/>
                  </a:cxn>
                  <a:cxn ang="0">
                    <a:pos x="60" y="113"/>
                  </a:cxn>
                  <a:cxn ang="0">
                    <a:pos x="55" y="144"/>
                  </a:cxn>
                  <a:cxn ang="0">
                    <a:pos x="47" y="184"/>
                  </a:cxn>
                  <a:cxn ang="0">
                    <a:pos x="40" y="217"/>
                  </a:cxn>
                  <a:cxn ang="0">
                    <a:pos x="37" y="244"/>
                  </a:cxn>
                  <a:cxn ang="0">
                    <a:pos x="36" y="272"/>
                  </a:cxn>
                  <a:cxn ang="0">
                    <a:pos x="30" y="300"/>
                  </a:cxn>
                  <a:cxn ang="0">
                    <a:pos x="22" y="251"/>
                  </a:cxn>
                  <a:cxn ang="0">
                    <a:pos x="13" y="205"/>
                  </a:cxn>
                  <a:cxn ang="0">
                    <a:pos x="0" y="161"/>
                  </a:cxn>
                </a:cxnLst>
                <a:rect l="txL" t="txT" r="txR" b="txB"/>
                <a:pathLst>
                  <a:path w="120" h="349">
                    <a:moveTo>
                      <a:pt x="0" y="161"/>
                    </a:moveTo>
                    <a:lnTo>
                      <a:pt x="10" y="232"/>
                    </a:lnTo>
                    <a:lnTo>
                      <a:pt x="20" y="289"/>
                    </a:lnTo>
                    <a:lnTo>
                      <a:pt x="26" y="331"/>
                    </a:lnTo>
                    <a:lnTo>
                      <a:pt x="25" y="348"/>
                    </a:lnTo>
                    <a:lnTo>
                      <a:pt x="39" y="348"/>
                    </a:lnTo>
                    <a:lnTo>
                      <a:pt x="43" y="323"/>
                    </a:lnTo>
                    <a:lnTo>
                      <a:pt x="45" y="286"/>
                    </a:lnTo>
                    <a:lnTo>
                      <a:pt x="51" y="252"/>
                    </a:lnTo>
                    <a:lnTo>
                      <a:pt x="54" y="226"/>
                    </a:lnTo>
                    <a:lnTo>
                      <a:pt x="59" y="188"/>
                    </a:lnTo>
                    <a:lnTo>
                      <a:pt x="66" y="156"/>
                    </a:lnTo>
                    <a:lnTo>
                      <a:pt x="71" y="127"/>
                    </a:lnTo>
                    <a:lnTo>
                      <a:pt x="77" y="96"/>
                    </a:lnTo>
                    <a:lnTo>
                      <a:pt x="86" y="66"/>
                    </a:lnTo>
                    <a:lnTo>
                      <a:pt x="96" y="40"/>
                    </a:lnTo>
                    <a:lnTo>
                      <a:pt x="113" y="15"/>
                    </a:lnTo>
                    <a:lnTo>
                      <a:pt x="119" y="5"/>
                    </a:lnTo>
                    <a:lnTo>
                      <a:pt x="112" y="0"/>
                    </a:lnTo>
                    <a:lnTo>
                      <a:pt x="101" y="10"/>
                    </a:lnTo>
                    <a:lnTo>
                      <a:pt x="86" y="33"/>
                    </a:lnTo>
                    <a:lnTo>
                      <a:pt x="75" y="57"/>
                    </a:lnTo>
                    <a:lnTo>
                      <a:pt x="66" y="81"/>
                    </a:lnTo>
                    <a:lnTo>
                      <a:pt x="60" y="113"/>
                    </a:lnTo>
                    <a:lnTo>
                      <a:pt x="55" y="144"/>
                    </a:lnTo>
                    <a:lnTo>
                      <a:pt x="47" y="184"/>
                    </a:lnTo>
                    <a:lnTo>
                      <a:pt x="40" y="217"/>
                    </a:lnTo>
                    <a:lnTo>
                      <a:pt x="37" y="244"/>
                    </a:lnTo>
                    <a:lnTo>
                      <a:pt x="36" y="272"/>
                    </a:lnTo>
                    <a:lnTo>
                      <a:pt x="30" y="300"/>
                    </a:lnTo>
                    <a:lnTo>
                      <a:pt x="22" y="251"/>
                    </a:lnTo>
                    <a:lnTo>
                      <a:pt x="13" y="205"/>
                    </a:lnTo>
                    <a:lnTo>
                      <a:pt x="0" y="161"/>
                    </a:lnTo>
                  </a:path>
                </a:pathLst>
              </a:custGeom>
              <a:solidFill>
                <a:srgbClr val="3C0023">
                  <a:alpha val="50195"/>
                </a:srgbClr>
              </a:solidFill>
              <a:ln w="9525">
                <a:noFill/>
              </a:ln>
            </p:spPr>
            <p:txBody>
              <a:bodyPr/>
              <a:lstStyle/>
              <a:p>
                <a:endParaRPr lang="zh-CN" altLang="en-US"/>
              </a:p>
            </p:txBody>
          </p:sp>
          <p:sp>
            <p:nvSpPr>
              <p:cNvPr id="89316" name="Freeform 9"/>
              <p:cNvSpPr/>
              <p:nvPr/>
            </p:nvSpPr>
            <p:spPr>
              <a:xfrm>
                <a:off x="1685" y="1239"/>
                <a:ext cx="266" cy="391"/>
              </a:xfrm>
              <a:custGeom>
                <a:avLst/>
                <a:gdLst>
                  <a:gd name="txL" fmla="*/ 0 w 266"/>
                  <a:gd name="txT" fmla="*/ 0 h 391"/>
                  <a:gd name="txR" fmla="*/ 266 w 266"/>
                  <a:gd name="txB" fmla="*/ 391 h 391"/>
                </a:gdLst>
                <a:ahLst/>
                <a:cxnLst>
                  <a:cxn ang="0">
                    <a:pos x="107" y="123"/>
                  </a:cxn>
                  <a:cxn ang="0">
                    <a:pos x="116" y="135"/>
                  </a:cxn>
                  <a:cxn ang="0">
                    <a:pos x="163" y="114"/>
                  </a:cxn>
                  <a:cxn ang="0">
                    <a:pos x="211" y="81"/>
                  </a:cxn>
                  <a:cxn ang="0">
                    <a:pos x="233" y="46"/>
                  </a:cxn>
                  <a:cxn ang="0">
                    <a:pos x="220" y="76"/>
                  </a:cxn>
                  <a:cxn ang="0">
                    <a:pos x="183" y="109"/>
                  </a:cxn>
                  <a:cxn ang="0">
                    <a:pos x="142" y="138"/>
                  </a:cxn>
                  <a:cxn ang="0">
                    <a:pos x="102" y="159"/>
                  </a:cxn>
                  <a:cxn ang="0">
                    <a:pos x="119" y="178"/>
                  </a:cxn>
                  <a:cxn ang="0">
                    <a:pos x="155" y="180"/>
                  </a:cxn>
                  <a:cxn ang="0">
                    <a:pos x="202" y="187"/>
                  </a:cxn>
                  <a:cxn ang="0">
                    <a:pos x="239" y="204"/>
                  </a:cxn>
                  <a:cxn ang="0">
                    <a:pos x="251" y="215"/>
                  </a:cxn>
                  <a:cxn ang="0">
                    <a:pos x="213" y="204"/>
                  </a:cxn>
                  <a:cxn ang="0">
                    <a:pos x="162" y="198"/>
                  </a:cxn>
                  <a:cxn ang="0">
                    <a:pos x="114" y="195"/>
                  </a:cxn>
                  <a:cxn ang="0">
                    <a:pos x="88" y="203"/>
                  </a:cxn>
                  <a:cxn ang="0">
                    <a:pos x="93" y="248"/>
                  </a:cxn>
                  <a:cxn ang="0">
                    <a:pos x="93" y="307"/>
                  </a:cxn>
                  <a:cxn ang="0">
                    <a:pos x="77" y="354"/>
                  </a:cxn>
                  <a:cxn ang="0">
                    <a:pos x="46" y="390"/>
                  </a:cxn>
                  <a:cxn ang="0">
                    <a:pos x="50" y="346"/>
                  </a:cxn>
                  <a:cxn ang="0">
                    <a:pos x="61" y="299"/>
                  </a:cxn>
                  <a:cxn ang="0">
                    <a:pos x="67" y="238"/>
                  </a:cxn>
                  <a:cxn ang="0">
                    <a:pos x="64" y="198"/>
                  </a:cxn>
                  <a:cxn ang="0">
                    <a:pos x="48" y="221"/>
                  </a:cxn>
                  <a:cxn ang="0">
                    <a:pos x="39" y="273"/>
                  </a:cxn>
                  <a:cxn ang="0">
                    <a:pos x="32" y="325"/>
                  </a:cxn>
                  <a:cxn ang="0">
                    <a:pos x="10" y="364"/>
                  </a:cxn>
                  <a:cxn ang="0">
                    <a:pos x="2" y="364"/>
                  </a:cxn>
                  <a:cxn ang="0">
                    <a:pos x="2" y="324"/>
                  </a:cxn>
                  <a:cxn ang="0">
                    <a:pos x="17" y="287"/>
                  </a:cxn>
                  <a:cxn ang="0">
                    <a:pos x="34" y="239"/>
                  </a:cxn>
                  <a:cxn ang="0">
                    <a:pos x="42" y="204"/>
                  </a:cxn>
                  <a:cxn ang="0">
                    <a:pos x="26" y="182"/>
                  </a:cxn>
                  <a:cxn ang="0">
                    <a:pos x="2" y="184"/>
                  </a:cxn>
                  <a:cxn ang="0">
                    <a:pos x="2" y="184"/>
                  </a:cxn>
                  <a:cxn ang="0">
                    <a:pos x="2" y="184"/>
                  </a:cxn>
                  <a:cxn ang="0">
                    <a:pos x="2" y="184"/>
                  </a:cxn>
                  <a:cxn ang="0">
                    <a:pos x="2" y="184"/>
                  </a:cxn>
                  <a:cxn ang="0">
                    <a:pos x="2" y="184"/>
                  </a:cxn>
                  <a:cxn ang="0">
                    <a:pos x="13" y="161"/>
                  </a:cxn>
                  <a:cxn ang="0">
                    <a:pos x="13" y="138"/>
                  </a:cxn>
                  <a:cxn ang="0">
                    <a:pos x="2" y="105"/>
                  </a:cxn>
                  <a:cxn ang="0">
                    <a:pos x="2" y="105"/>
                  </a:cxn>
                  <a:cxn ang="0">
                    <a:pos x="2" y="105"/>
                  </a:cxn>
                  <a:cxn ang="0">
                    <a:pos x="2" y="105"/>
                  </a:cxn>
                  <a:cxn ang="0">
                    <a:pos x="24" y="122"/>
                  </a:cxn>
                  <a:cxn ang="0">
                    <a:pos x="53" y="157"/>
                  </a:cxn>
                  <a:cxn ang="0">
                    <a:pos x="55" y="130"/>
                  </a:cxn>
                  <a:cxn ang="0">
                    <a:pos x="24" y="91"/>
                  </a:cxn>
                  <a:cxn ang="0">
                    <a:pos x="2" y="65"/>
                  </a:cxn>
                  <a:cxn ang="0">
                    <a:pos x="2" y="65"/>
                  </a:cxn>
                  <a:cxn ang="0">
                    <a:pos x="2" y="48"/>
                  </a:cxn>
                  <a:cxn ang="0">
                    <a:pos x="30" y="87"/>
                  </a:cxn>
                  <a:cxn ang="0">
                    <a:pos x="61" y="138"/>
                  </a:cxn>
                  <a:cxn ang="0">
                    <a:pos x="80" y="127"/>
                  </a:cxn>
                  <a:cxn ang="0">
                    <a:pos x="106" y="87"/>
                  </a:cxn>
                  <a:cxn ang="0">
                    <a:pos x="139" y="39"/>
                  </a:cxn>
                  <a:cxn ang="0">
                    <a:pos x="165" y="6"/>
                  </a:cxn>
                  <a:cxn ang="0">
                    <a:pos x="163" y="29"/>
                  </a:cxn>
                  <a:cxn ang="0">
                    <a:pos x="137" y="76"/>
                  </a:cxn>
                </a:cxnLst>
                <a:rect l="txL" t="txT" r="txR" b="txB"/>
                <a:pathLst>
                  <a:path w="266" h="391">
                    <a:moveTo>
                      <a:pt x="124" y="95"/>
                    </a:moveTo>
                    <a:lnTo>
                      <a:pt x="119" y="101"/>
                    </a:lnTo>
                    <a:lnTo>
                      <a:pt x="115" y="108"/>
                    </a:lnTo>
                    <a:lnTo>
                      <a:pt x="111" y="115"/>
                    </a:lnTo>
                    <a:lnTo>
                      <a:pt x="107" y="123"/>
                    </a:lnTo>
                    <a:lnTo>
                      <a:pt x="104" y="129"/>
                    </a:lnTo>
                    <a:lnTo>
                      <a:pt x="102" y="136"/>
                    </a:lnTo>
                    <a:lnTo>
                      <a:pt x="100" y="142"/>
                    </a:lnTo>
                    <a:lnTo>
                      <a:pt x="107" y="138"/>
                    </a:lnTo>
                    <a:lnTo>
                      <a:pt x="116" y="135"/>
                    </a:lnTo>
                    <a:lnTo>
                      <a:pt x="125" y="131"/>
                    </a:lnTo>
                    <a:lnTo>
                      <a:pt x="134" y="127"/>
                    </a:lnTo>
                    <a:lnTo>
                      <a:pt x="144" y="124"/>
                    </a:lnTo>
                    <a:lnTo>
                      <a:pt x="154" y="119"/>
                    </a:lnTo>
                    <a:lnTo>
                      <a:pt x="163" y="114"/>
                    </a:lnTo>
                    <a:lnTo>
                      <a:pt x="175" y="107"/>
                    </a:lnTo>
                    <a:lnTo>
                      <a:pt x="184" y="101"/>
                    </a:lnTo>
                    <a:lnTo>
                      <a:pt x="195" y="93"/>
                    </a:lnTo>
                    <a:lnTo>
                      <a:pt x="203" y="89"/>
                    </a:lnTo>
                    <a:lnTo>
                      <a:pt x="211" y="81"/>
                    </a:lnTo>
                    <a:lnTo>
                      <a:pt x="218" y="75"/>
                    </a:lnTo>
                    <a:lnTo>
                      <a:pt x="224" y="66"/>
                    </a:lnTo>
                    <a:lnTo>
                      <a:pt x="227" y="59"/>
                    </a:lnTo>
                    <a:lnTo>
                      <a:pt x="230" y="51"/>
                    </a:lnTo>
                    <a:lnTo>
                      <a:pt x="233" y="46"/>
                    </a:lnTo>
                    <a:lnTo>
                      <a:pt x="233" y="52"/>
                    </a:lnTo>
                    <a:lnTo>
                      <a:pt x="233" y="56"/>
                    </a:lnTo>
                    <a:lnTo>
                      <a:pt x="231" y="61"/>
                    </a:lnTo>
                    <a:lnTo>
                      <a:pt x="227" y="67"/>
                    </a:lnTo>
                    <a:lnTo>
                      <a:pt x="220" y="76"/>
                    </a:lnTo>
                    <a:lnTo>
                      <a:pt x="217" y="83"/>
                    </a:lnTo>
                    <a:lnTo>
                      <a:pt x="210" y="88"/>
                    </a:lnTo>
                    <a:lnTo>
                      <a:pt x="202" y="94"/>
                    </a:lnTo>
                    <a:lnTo>
                      <a:pt x="192" y="101"/>
                    </a:lnTo>
                    <a:lnTo>
                      <a:pt x="183" y="109"/>
                    </a:lnTo>
                    <a:lnTo>
                      <a:pt x="173" y="116"/>
                    </a:lnTo>
                    <a:lnTo>
                      <a:pt x="167" y="122"/>
                    </a:lnTo>
                    <a:lnTo>
                      <a:pt x="159" y="129"/>
                    </a:lnTo>
                    <a:lnTo>
                      <a:pt x="151" y="133"/>
                    </a:lnTo>
                    <a:lnTo>
                      <a:pt x="142" y="138"/>
                    </a:lnTo>
                    <a:lnTo>
                      <a:pt x="133" y="143"/>
                    </a:lnTo>
                    <a:lnTo>
                      <a:pt x="125" y="148"/>
                    </a:lnTo>
                    <a:lnTo>
                      <a:pt x="118" y="152"/>
                    </a:lnTo>
                    <a:lnTo>
                      <a:pt x="109" y="156"/>
                    </a:lnTo>
                    <a:lnTo>
                      <a:pt x="102" y="159"/>
                    </a:lnTo>
                    <a:lnTo>
                      <a:pt x="100" y="161"/>
                    </a:lnTo>
                    <a:lnTo>
                      <a:pt x="102" y="165"/>
                    </a:lnTo>
                    <a:lnTo>
                      <a:pt x="106" y="170"/>
                    </a:lnTo>
                    <a:lnTo>
                      <a:pt x="110" y="176"/>
                    </a:lnTo>
                    <a:lnTo>
                      <a:pt x="119" y="178"/>
                    </a:lnTo>
                    <a:lnTo>
                      <a:pt x="125" y="178"/>
                    </a:lnTo>
                    <a:lnTo>
                      <a:pt x="135" y="180"/>
                    </a:lnTo>
                    <a:lnTo>
                      <a:pt x="144" y="180"/>
                    </a:lnTo>
                    <a:lnTo>
                      <a:pt x="155" y="180"/>
                    </a:lnTo>
                    <a:lnTo>
                      <a:pt x="165" y="182"/>
                    </a:lnTo>
                    <a:lnTo>
                      <a:pt x="175" y="182"/>
                    </a:lnTo>
                    <a:lnTo>
                      <a:pt x="185" y="184"/>
                    </a:lnTo>
                    <a:lnTo>
                      <a:pt x="193" y="185"/>
                    </a:lnTo>
                    <a:lnTo>
                      <a:pt x="202" y="187"/>
                    </a:lnTo>
                    <a:lnTo>
                      <a:pt x="208" y="189"/>
                    </a:lnTo>
                    <a:lnTo>
                      <a:pt x="215" y="193"/>
                    </a:lnTo>
                    <a:lnTo>
                      <a:pt x="221" y="196"/>
                    </a:lnTo>
                    <a:lnTo>
                      <a:pt x="229" y="200"/>
                    </a:lnTo>
                    <a:lnTo>
                      <a:pt x="239" y="204"/>
                    </a:lnTo>
                    <a:lnTo>
                      <a:pt x="249" y="208"/>
                    </a:lnTo>
                    <a:lnTo>
                      <a:pt x="256" y="211"/>
                    </a:lnTo>
                    <a:lnTo>
                      <a:pt x="265" y="214"/>
                    </a:lnTo>
                    <a:lnTo>
                      <a:pt x="258" y="215"/>
                    </a:lnTo>
                    <a:lnTo>
                      <a:pt x="251" y="215"/>
                    </a:lnTo>
                    <a:lnTo>
                      <a:pt x="244" y="213"/>
                    </a:lnTo>
                    <a:lnTo>
                      <a:pt x="236" y="211"/>
                    </a:lnTo>
                    <a:lnTo>
                      <a:pt x="226" y="207"/>
                    </a:lnTo>
                    <a:lnTo>
                      <a:pt x="219" y="206"/>
                    </a:lnTo>
                    <a:lnTo>
                      <a:pt x="213" y="204"/>
                    </a:lnTo>
                    <a:lnTo>
                      <a:pt x="204" y="202"/>
                    </a:lnTo>
                    <a:lnTo>
                      <a:pt x="195" y="201"/>
                    </a:lnTo>
                    <a:lnTo>
                      <a:pt x="184" y="200"/>
                    </a:lnTo>
                    <a:lnTo>
                      <a:pt x="173" y="199"/>
                    </a:lnTo>
                    <a:lnTo>
                      <a:pt x="162" y="198"/>
                    </a:lnTo>
                    <a:lnTo>
                      <a:pt x="152" y="198"/>
                    </a:lnTo>
                    <a:lnTo>
                      <a:pt x="142" y="198"/>
                    </a:lnTo>
                    <a:lnTo>
                      <a:pt x="134" y="197"/>
                    </a:lnTo>
                    <a:lnTo>
                      <a:pt x="124" y="197"/>
                    </a:lnTo>
                    <a:lnTo>
                      <a:pt x="114" y="195"/>
                    </a:lnTo>
                    <a:lnTo>
                      <a:pt x="102" y="192"/>
                    </a:lnTo>
                    <a:lnTo>
                      <a:pt x="92" y="189"/>
                    </a:lnTo>
                    <a:lnTo>
                      <a:pt x="80" y="188"/>
                    </a:lnTo>
                    <a:lnTo>
                      <a:pt x="84" y="195"/>
                    </a:lnTo>
                    <a:lnTo>
                      <a:pt x="88" y="203"/>
                    </a:lnTo>
                    <a:lnTo>
                      <a:pt x="93" y="215"/>
                    </a:lnTo>
                    <a:lnTo>
                      <a:pt x="94" y="223"/>
                    </a:lnTo>
                    <a:lnTo>
                      <a:pt x="95" y="233"/>
                    </a:lnTo>
                    <a:lnTo>
                      <a:pt x="94" y="241"/>
                    </a:lnTo>
                    <a:lnTo>
                      <a:pt x="93" y="248"/>
                    </a:lnTo>
                    <a:lnTo>
                      <a:pt x="93" y="259"/>
                    </a:lnTo>
                    <a:lnTo>
                      <a:pt x="92" y="273"/>
                    </a:lnTo>
                    <a:lnTo>
                      <a:pt x="92" y="285"/>
                    </a:lnTo>
                    <a:lnTo>
                      <a:pt x="93" y="297"/>
                    </a:lnTo>
                    <a:lnTo>
                      <a:pt x="93" y="307"/>
                    </a:lnTo>
                    <a:lnTo>
                      <a:pt x="92" y="316"/>
                    </a:lnTo>
                    <a:lnTo>
                      <a:pt x="89" y="326"/>
                    </a:lnTo>
                    <a:lnTo>
                      <a:pt x="85" y="338"/>
                    </a:lnTo>
                    <a:lnTo>
                      <a:pt x="82" y="346"/>
                    </a:lnTo>
                    <a:lnTo>
                      <a:pt x="77" y="354"/>
                    </a:lnTo>
                    <a:lnTo>
                      <a:pt x="73" y="363"/>
                    </a:lnTo>
                    <a:lnTo>
                      <a:pt x="69" y="369"/>
                    </a:lnTo>
                    <a:lnTo>
                      <a:pt x="62" y="376"/>
                    </a:lnTo>
                    <a:lnTo>
                      <a:pt x="53" y="382"/>
                    </a:lnTo>
                    <a:lnTo>
                      <a:pt x="46" y="390"/>
                    </a:lnTo>
                    <a:lnTo>
                      <a:pt x="45" y="382"/>
                    </a:lnTo>
                    <a:lnTo>
                      <a:pt x="46" y="372"/>
                    </a:lnTo>
                    <a:lnTo>
                      <a:pt x="47" y="362"/>
                    </a:lnTo>
                    <a:lnTo>
                      <a:pt x="48" y="353"/>
                    </a:lnTo>
                    <a:lnTo>
                      <a:pt x="50" y="346"/>
                    </a:lnTo>
                    <a:lnTo>
                      <a:pt x="53" y="337"/>
                    </a:lnTo>
                    <a:lnTo>
                      <a:pt x="56" y="328"/>
                    </a:lnTo>
                    <a:lnTo>
                      <a:pt x="58" y="320"/>
                    </a:lnTo>
                    <a:lnTo>
                      <a:pt x="59" y="313"/>
                    </a:lnTo>
                    <a:lnTo>
                      <a:pt x="61" y="299"/>
                    </a:lnTo>
                    <a:lnTo>
                      <a:pt x="62" y="285"/>
                    </a:lnTo>
                    <a:lnTo>
                      <a:pt x="63" y="273"/>
                    </a:lnTo>
                    <a:lnTo>
                      <a:pt x="65" y="260"/>
                    </a:lnTo>
                    <a:lnTo>
                      <a:pt x="67" y="247"/>
                    </a:lnTo>
                    <a:lnTo>
                      <a:pt x="67" y="238"/>
                    </a:lnTo>
                    <a:lnTo>
                      <a:pt x="67" y="231"/>
                    </a:lnTo>
                    <a:lnTo>
                      <a:pt x="68" y="222"/>
                    </a:lnTo>
                    <a:lnTo>
                      <a:pt x="67" y="212"/>
                    </a:lnTo>
                    <a:lnTo>
                      <a:pt x="66" y="206"/>
                    </a:lnTo>
                    <a:lnTo>
                      <a:pt x="64" y="198"/>
                    </a:lnTo>
                    <a:lnTo>
                      <a:pt x="62" y="187"/>
                    </a:lnTo>
                    <a:lnTo>
                      <a:pt x="58" y="195"/>
                    </a:lnTo>
                    <a:lnTo>
                      <a:pt x="54" y="203"/>
                    </a:lnTo>
                    <a:lnTo>
                      <a:pt x="50" y="212"/>
                    </a:lnTo>
                    <a:lnTo>
                      <a:pt x="48" y="221"/>
                    </a:lnTo>
                    <a:lnTo>
                      <a:pt x="46" y="232"/>
                    </a:lnTo>
                    <a:lnTo>
                      <a:pt x="44" y="239"/>
                    </a:lnTo>
                    <a:lnTo>
                      <a:pt x="43" y="249"/>
                    </a:lnTo>
                    <a:lnTo>
                      <a:pt x="41" y="260"/>
                    </a:lnTo>
                    <a:lnTo>
                      <a:pt x="39" y="273"/>
                    </a:lnTo>
                    <a:lnTo>
                      <a:pt x="38" y="283"/>
                    </a:lnTo>
                    <a:lnTo>
                      <a:pt x="37" y="295"/>
                    </a:lnTo>
                    <a:lnTo>
                      <a:pt x="36" y="305"/>
                    </a:lnTo>
                    <a:lnTo>
                      <a:pt x="33" y="315"/>
                    </a:lnTo>
                    <a:lnTo>
                      <a:pt x="32" y="325"/>
                    </a:lnTo>
                    <a:lnTo>
                      <a:pt x="30" y="333"/>
                    </a:lnTo>
                    <a:lnTo>
                      <a:pt x="26" y="340"/>
                    </a:lnTo>
                    <a:lnTo>
                      <a:pt x="21" y="348"/>
                    </a:lnTo>
                    <a:lnTo>
                      <a:pt x="15" y="356"/>
                    </a:lnTo>
                    <a:lnTo>
                      <a:pt x="10" y="364"/>
                    </a:lnTo>
                    <a:lnTo>
                      <a:pt x="5" y="368"/>
                    </a:lnTo>
                    <a:lnTo>
                      <a:pt x="2" y="364"/>
                    </a:lnTo>
                    <a:lnTo>
                      <a:pt x="2" y="344"/>
                    </a:lnTo>
                    <a:lnTo>
                      <a:pt x="2" y="364"/>
                    </a:lnTo>
                    <a:lnTo>
                      <a:pt x="2" y="344"/>
                    </a:lnTo>
                    <a:lnTo>
                      <a:pt x="2" y="324"/>
                    </a:lnTo>
                    <a:lnTo>
                      <a:pt x="5" y="316"/>
                    </a:lnTo>
                    <a:lnTo>
                      <a:pt x="9" y="306"/>
                    </a:lnTo>
                    <a:lnTo>
                      <a:pt x="13" y="297"/>
                    </a:lnTo>
                    <a:lnTo>
                      <a:pt x="17" y="287"/>
                    </a:lnTo>
                    <a:lnTo>
                      <a:pt x="21" y="278"/>
                    </a:lnTo>
                    <a:lnTo>
                      <a:pt x="25" y="268"/>
                    </a:lnTo>
                    <a:lnTo>
                      <a:pt x="28" y="259"/>
                    </a:lnTo>
                    <a:lnTo>
                      <a:pt x="31" y="249"/>
                    </a:lnTo>
                    <a:lnTo>
                      <a:pt x="34" y="239"/>
                    </a:lnTo>
                    <a:lnTo>
                      <a:pt x="36" y="233"/>
                    </a:lnTo>
                    <a:lnTo>
                      <a:pt x="38" y="225"/>
                    </a:lnTo>
                    <a:lnTo>
                      <a:pt x="41" y="216"/>
                    </a:lnTo>
                    <a:lnTo>
                      <a:pt x="44" y="210"/>
                    </a:lnTo>
                    <a:lnTo>
                      <a:pt x="42" y="204"/>
                    </a:lnTo>
                    <a:lnTo>
                      <a:pt x="41" y="197"/>
                    </a:lnTo>
                    <a:lnTo>
                      <a:pt x="42" y="192"/>
                    </a:lnTo>
                    <a:lnTo>
                      <a:pt x="43" y="185"/>
                    </a:lnTo>
                    <a:lnTo>
                      <a:pt x="36" y="184"/>
                    </a:lnTo>
                    <a:lnTo>
                      <a:pt x="26" y="182"/>
                    </a:lnTo>
                    <a:lnTo>
                      <a:pt x="18" y="187"/>
                    </a:lnTo>
                    <a:lnTo>
                      <a:pt x="11" y="191"/>
                    </a:lnTo>
                    <a:lnTo>
                      <a:pt x="3" y="195"/>
                    </a:lnTo>
                    <a:lnTo>
                      <a:pt x="2" y="184"/>
                    </a:lnTo>
                    <a:lnTo>
                      <a:pt x="2" y="164"/>
                    </a:lnTo>
                    <a:lnTo>
                      <a:pt x="2" y="184"/>
                    </a:lnTo>
                    <a:lnTo>
                      <a:pt x="2" y="164"/>
                    </a:lnTo>
                    <a:lnTo>
                      <a:pt x="5" y="164"/>
                    </a:lnTo>
                    <a:lnTo>
                      <a:pt x="13" y="161"/>
                    </a:lnTo>
                    <a:lnTo>
                      <a:pt x="15" y="156"/>
                    </a:lnTo>
                    <a:lnTo>
                      <a:pt x="17" y="151"/>
                    </a:lnTo>
                    <a:lnTo>
                      <a:pt x="19" y="146"/>
                    </a:lnTo>
                    <a:lnTo>
                      <a:pt x="18" y="144"/>
                    </a:lnTo>
                    <a:lnTo>
                      <a:pt x="13" y="138"/>
                    </a:lnTo>
                    <a:lnTo>
                      <a:pt x="6" y="132"/>
                    </a:lnTo>
                    <a:lnTo>
                      <a:pt x="0" y="125"/>
                    </a:lnTo>
                    <a:lnTo>
                      <a:pt x="2" y="124"/>
                    </a:lnTo>
                    <a:lnTo>
                      <a:pt x="2" y="105"/>
                    </a:lnTo>
                    <a:lnTo>
                      <a:pt x="1" y="103"/>
                    </a:lnTo>
                    <a:lnTo>
                      <a:pt x="11" y="110"/>
                    </a:lnTo>
                    <a:lnTo>
                      <a:pt x="19" y="117"/>
                    </a:lnTo>
                    <a:lnTo>
                      <a:pt x="24" y="122"/>
                    </a:lnTo>
                    <a:lnTo>
                      <a:pt x="28" y="128"/>
                    </a:lnTo>
                    <a:lnTo>
                      <a:pt x="35" y="137"/>
                    </a:lnTo>
                    <a:lnTo>
                      <a:pt x="40" y="143"/>
                    </a:lnTo>
                    <a:lnTo>
                      <a:pt x="46" y="150"/>
                    </a:lnTo>
                    <a:lnTo>
                      <a:pt x="53" y="157"/>
                    </a:lnTo>
                    <a:lnTo>
                      <a:pt x="55" y="155"/>
                    </a:lnTo>
                    <a:lnTo>
                      <a:pt x="59" y="148"/>
                    </a:lnTo>
                    <a:lnTo>
                      <a:pt x="62" y="143"/>
                    </a:lnTo>
                    <a:lnTo>
                      <a:pt x="60" y="138"/>
                    </a:lnTo>
                    <a:lnTo>
                      <a:pt x="55" y="130"/>
                    </a:lnTo>
                    <a:lnTo>
                      <a:pt x="51" y="123"/>
                    </a:lnTo>
                    <a:lnTo>
                      <a:pt x="46" y="115"/>
                    </a:lnTo>
                    <a:lnTo>
                      <a:pt x="40" y="109"/>
                    </a:lnTo>
                    <a:lnTo>
                      <a:pt x="31" y="100"/>
                    </a:lnTo>
                    <a:lnTo>
                      <a:pt x="24" y="91"/>
                    </a:lnTo>
                    <a:lnTo>
                      <a:pt x="17" y="84"/>
                    </a:lnTo>
                    <a:lnTo>
                      <a:pt x="12" y="78"/>
                    </a:lnTo>
                    <a:lnTo>
                      <a:pt x="6" y="70"/>
                    </a:lnTo>
                    <a:lnTo>
                      <a:pt x="2" y="65"/>
                    </a:lnTo>
                    <a:lnTo>
                      <a:pt x="2" y="44"/>
                    </a:lnTo>
                    <a:lnTo>
                      <a:pt x="2" y="65"/>
                    </a:lnTo>
                    <a:lnTo>
                      <a:pt x="2" y="44"/>
                    </a:lnTo>
                    <a:lnTo>
                      <a:pt x="2" y="53"/>
                    </a:lnTo>
                    <a:lnTo>
                      <a:pt x="2" y="48"/>
                    </a:lnTo>
                    <a:lnTo>
                      <a:pt x="4" y="55"/>
                    </a:lnTo>
                    <a:lnTo>
                      <a:pt x="11" y="63"/>
                    </a:lnTo>
                    <a:lnTo>
                      <a:pt x="17" y="70"/>
                    </a:lnTo>
                    <a:lnTo>
                      <a:pt x="25" y="80"/>
                    </a:lnTo>
                    <a:lnTo>
                      <a:pt x="30" y="87"/>
                    </a:lnTo>
                    <a:lnTo>
                      <a:pt x="37" y="95"/>
                    </a:lnTo>
                    <a:lnTo>
                      <a:pt x="43" y="106"/>
                    </a:lnTo>
                    <a:lnTo>
                      <a:pt x="48" y="115"/>
                    </a:lnTo>
                    <a:lnTo>
                      <a:pt x="54" y="124"/>
                    </a:lnTo>
                    <a:lnTo>
                      <a:pt x="61" y="138"/>
                    </a:lnTo>
                    <a:lnTo>
                      <a:pt x="64" y="146"/>
                    </a:lnTo>
                    <a:lnTo>
                      <a:pt x="66" y="151"/>
                    </a:lnTo>
                    <a:lnTo>
                      <a:pt x="70" y="143"/>
                    </a:lnTo>
                    <a:lnTo>
                      <a:pt x="75" y="135"/>
                    </a:lnTo>
                    <a:lnTo>
                      <a:pt x="80" y="127"/>
                    </a:lnTo>
                    <a:lnTo>
                      <a:pt x="85" y="118"/>
                    </a:lnTo>
                    <a:lnTo>
                      <a:pt x="90" y="110"/>
                    </a:lnTo>
                    <a:lnTo>
                      <a:pt x="94" y="103"/>
                    </a:lnTo>
                    <a:lnTo>
                      <a:pt x="100" y="96"/>
                    </a:lnTo>
                    <a:lnTo>
                      <a:pt x="106" y="87"/>
                    </a:lnTo>
                    <a:lnTo>
                      <a:pt x="113" y="78"/>
                    </a:lnTo>
                    <a:lnTo>
                      <a:pt x="120" y="68"/>
                    </a:lnTo>
                    <a:lnTo>
                      <a:pt x="127" y="58"/>
                    </a:lnTo>
                    <a:lnTo>
                      <a:pt x="132" y="50"/>
                    </a:lnTo>
                    <a:lnTo>
                      <a:pt x="139" y="39"/>
                    </a:lnTo>
                    <a:lnTo>
                      <a:pt x="144" y="33"/>
                    </a:lnTo>
                    <a:lnTo>
                      <a:pt x="150" y="26"/>
                    </a:lnTo>
                    <a:lnTo>
                      <a:pt x="156" y="21"/>
                    </a:lnTo>
                    <a:lnTo>
                      <a:pt x="161" y="15"/>
                    </a:lnTo>
                    <a:lnTo>
                      <a:pt x="165" y="6"/>
                    </a:lnTo>
                    <a:lnTo>
                      <a:pt x="170" y="0"/>
                    </a:lnTo>
                    <a:lnTo>
                      <a:pt x="169" y="5"/>
                    </a:lnTo>
                    <a:lnTo>
                      <a:pt x="168" y="13"/>
                    </a:lnTo>
                    <a:lnTo>
                      <a:pt x="166" y="21"/>
                    </a:lnTo>
                    <a:lnTo>
                      <a:pt x="163" y="29"/>
                    </a:lnTo>
                    <a:lnTo>
                      <a:pt x="159" y="37"/>
                    </a:lnTo>
                    <a:lnTo>
                      <a:pt x="153" y="47"/>
                    </a:lnTo>
                    <a:lnTo>
                      <a:pt x="148" y="56"/>
                    </a:lnTo>
                    <a:lnTo>
                      <a:pt x="143" y="67"/>
                    </a:lnTo>
                    <a:lnTo>
                      <a:pt x="137" y="76"/>
                    </a:lnTo>
                    <a:lnTo>
                      <a:pt x="130" y="87"/>
                    </a:lnTo>
                    <a:lnTo>
                      <a:pt x="124" y="95"/>
                    </a:lnTo>
                  </a:path>
                </a:pathLst>
              </a:custGeom>
              <a:solidFill>
                <a:srgbClr val="037C03">
                  <a:alpha val="50195"/>
                </a:srgbClr>
              </a:solidFill>
              <a:ln w="9525">
                <a:noFill/>
              </a:ln>
            </p:spPr>
            <p:txBody>
              <a:bodyPr/>
              <a:lstStyle/>
              <a:p>
                <a:endParaRPr lang="zh-CN" altLang="en-US"/>
              </a:p>
            </p:txBody>
          </p:sp>
          <p:grpSp>
            <p:nvGrpSpPr>
              <p:cNvPr id="89317" name="Group 10"/>
              <p:cNvGrpSpPr/>
              <p:nvPr/>
            </p:nvGrpSpPr>
            <p:grpSpPr>
              <a:xfrm>
                <a:off x="1707" y="1466"/>
                <a:ext cx="484" cy="368"/>
                <a:chOff x="1707" y="1466"/>
                <a:chExt cx="484" cy="368"/>
              </a:xfrm>
            </p:grpSpPr>
            <p:sp>
              <p:nvSpPr>
                <p:cNvPr id="89319" name="Freeform 11"/>
                <p:cNvSpPr/>
                <p:nvPr/>
              </p:nvSpPr>
              <p:spPr>
                <a:xfrm>
                  <a:off x="1751" y="1466"/>
                  <a:ext cx="440" cy="342"/>
                </a:xfrm>
                <a:custGeom>
                  <a:avLst/>
                  <a:gdLst>
                    <a:gd name="txL" fmla="*/ 0 w 440"/>
                    <a:gd name="txT" fmla="*/ 0 h 342"/>
                    <a:gd name="txR" fmla="*/ 440 w 440"/>
                    <a:gd name="txB" fmla="*/ 342 h 342"/>
                  </a:gdLst>
                  <a:ahLst/>
                  <a:cxnLst>
                    <a:cxn ang="0">
                      <a:pos x="167" y="42"/>
                    </a:cxn>
                    <a:cxn ang="0">
                      <a:pos x="202" y="14"/>
                    </a:cxn>
                    <a:cxn ang="0">
                      <a:pos x="245" y="3"/>
                    </a:cxn>
                    <a:cxn ang="0">
                      <a:pos x="292" y="2"/>
                    </a:cxn>
                    <a:cxn ang="0">
                      <a:pos x="304" y="7"/>
                    </a:cxn>
                    <a:cxn ang="0">
                      <a:pos x="272" y="15"/>
                    </a:cxn>
                    <a:cxn ang="0">
                      <a:pos x="236" y="26"/>
                    </a:cxn>
                    <a:cxn ang="0">
                      <a:pos x="195" y="55"/>
                    </a:cxn>
                    <a:cxn ang="0">
                      <a:pos x="191" y="94"/>
                    </a:cxn>
                    <a:cxn ang="0">
                      <a:pos x="252" y="70"/>
                    </a:cxn>
                    <a:cxn ang="0">
                      <a:pos x="301" y="67"/>
                    </a:cxn>
                    <a:cxn ang="0">
                      <a:pos x="354" y="72"/>
                    </a:cxn>
                    <a:cxn ang="0">
                      <a:pos x="416" y="79"/>
                    </a:cxn>
                    <a:cxn ang="0">
                      <a:pos x="417" y="80"/>
                    </a:cxn>
                    <a:cxn ang="0">
                      <a:pos x="357" y="83"/>
                    </a:cxn>
                    <a:cxn ang="0">
                      <a:pos x="302" y="84"/>
                    </a:cxn>
                    <a:cxn ang="0">
                      <a:pos x="254" y="90"/>
                    </a:cxn>
                    <a:cxn ang="0">
                      <a:pos x="200" y="103"/>
                    </a:cxn>
                    <a:cxn ang="0">
                      <a:pos x="222" y="123"/>
                    </a:cxn>
                    <a:cxn ang="0">
                      <a:pos x="238" y="142"/>
                    </a:cxn>
                    <a:cxn ang="0">
                      <a:pos x="184" y="125"/>
                    </a:cxn>
                    <a:cxn ang="0">
                      <a:pos x="173" y="136"/>
                    </a:cxn>
                    <a:cxn ang="0">
                      <a:pos x="232" y="145"/>
                    </a:cxn>
                    <a:cxn ang="0">
                      <a:pos x="282" y="157"/>
                    </a:cxn>
                    <a:cxn ang="0">
                      <a:pos x="321" y="190"/>
                    </a:cxn>
                    <a:cxn ang="0">
                      <a:pos x="351" y="234"/>
                    </a:cxn>
                    <a:cxn ang="0">
                      <a:pos x="344" y="242"/>
                    </a:cxn>
                    <a:cxn ang="0">
                      <a:pos x="304" y="214"/>
                    </a:cxn>
                    <a:cxn ang="0">
                      <a:pos x="259" y="183"/>
                    </a:cxn>
                    <a:cxn ang="0">
                      <a:pos x="211" y="162"/>
                    </a:cxn>
                    <a:cxn ang="0">
                      <a:pos x="180" y="155"/>
                    </a:cxn>
                    <a:cxn ang="0">
                      <a:pos x="206" y="189"/>
                    </a:cxn>
                    <a:cxn ang="0">
                      <a:pos x="238" y="234"/>
                    </a:cxn>
                    <a:cxn ang="0">
                      <a:pos x="256" y="275"/>
                    </a:cxn>
                    <a:cxn ang="0">
                      <a:pos x="255" y="313"/>
                    </a:cxn>
                    <a:cxn ang="0">
                      <a:pos x="232" y="271"/>
                    </a:cxn>
                    <a:cxn ang="0">
                      <a:pos x="208" y="226"/>
                    </a:cxn>
                    <a:cxn ang="0">
                      <a:pos x="181" y="185"/>
                    </a:cxn>
                    <a:cxn ang="0">
                      <a:pos x="157" y="149"/>
                    </a:cxn>
                    <a:cxn ang="0">
                      <a:pos x="115" y="170"/>
                    </a:cxn>
                    <a:cxn ang="0">
                      <a:pos x="80" y="221"/>
                    </a:cxn>
                    <a:cxn ang="0">
                      <a:pos x="51" y="273"/>
                    </a:cxn>
                    <a:cxn ang="0">
                      <a:pos x="18" y="321"/>
                    </a:cxn>
                    <a:cxn ang="0">
                      <a:pos x="8" y="315"/>
                    </a:cxn>
                    <a:cxn ang="0">
                      <a:pos x="47" y="255"/>
                    </a:cxn>
                    <a:cxn ang="0">
                      <a:pos x="82" y="208"/>
                    </a:cxn>
                    <a:cxn ang="0">
                      <a:pos x="112" y="162"/>
                    </a:cxn>
                    <a:cxn ang="0">
                      <a:pos x="139" y="126"/>
                    </a:cxn>
                    <a:cxn ang="0">
                      <a:pos x="99" y="83"/>
                    </a:cxn>
                    <a:cxn ang="0">
                      <a:pos x="43" y="60"/>
                    </a:cxn>
                    <a:cxn ang="0">
                      <a:pos x="20" y="47"/>
                    </a:cxn>
                    <a:cxn ang="0">
                      <a:pos x="63" y="61"/>
                    </a:cxn>
                    <a:cxn ang="0">
                      <a:pos x="122" y="90"/>
                    </a:cxn>
                  </a:cxnLst>
                  <a:rect l="txL" t="txT" r="txR" b="txB"/>
                  <a:pathLst>
                    <a:path w="440" h="342">
                      <a:moveTo>
                        <a:pt x="138" y="87"/>
                      </a:moveTo>
                      <a:lnTo>
                        <a:pt x="141" y="78"/>
                      </a:lnTo>
                      <a:lnTo>
                        <a:pt x="146" y="69"/>
                      </a:lnTo>
                      <a:lnTo>
                        <a:pt x="153" y="59"/>
                      </a:lnTo>
                      <a:lnTo>
                        <a:pt x="160" y="51"/>
                      </a:lnTo>
                      <a:lnTo>
                        <a:pt x="167" y="42"/>
                      </a:lnTo>
                      <a:lnTo>
                        <a:pt x="172" y="36"/>
                      </a:lnTo>
                      <a:lnTo>
                        <a:pt x="178" y="31"/>
                      </a:lnTo>
                      <a:lnTo>
                        <a:pt x="184" y="26"/>
                      </a:lnTo>
                      <a:lnTo>
                        <a:pt x="190" y="21"/>
                      </a:lnTo>
                      <a:lnTo>
                        <a:pt x="196" y="17"/>
                      </a:lnTo>
                      <a:lnTo>
                        <a:pt x="202" y="14"/>
                      </a:lnTo>
                      <a:lnTo>
                        <a:pt x="208" y="11"/>
                      </a:lnTo>
                      <a:lnTo>
                        <a:pt x="215" y="8"/>
                      </a:lnTo>
                      <a:lnTo>
                        <a:pt x="222" y="7"/>
                      </a:lnTo>
                      <a:lnTo>
                        <a:pt x="230" y="5"/>
                      </a:lnTo>
                      <a:lnTo>
                        <a:pt x="237" y="3"/>
                      </a:lnTo>
                      <a:lnTo>
                        <a:pt x="245" y="3"/>
                      </a:lnTo>
                      <a:lnTo>
                        <a:pt x="252" y="2"/>
                      </a:lnTo>
                      <a:lnTo>
                        <a:pt x="260" y="2"/>
                      </a:lnTo>
                      <a:lnTo>
                        <a:pt x="270" y="1"/>
                      </a:lnTo>
                      <a:lnTo>
                        <a:pt x="278" y="2"/>
                      </a:lnTo>
                      <a:lnTo>
                        <a:pt x="285" y="2"/>
                      </a:lnTo>
                      <a:lnTo>
                        <a:pt x="292" y="2"/>
                      </a:lnTo>
                      <a:lnTo>
                        <a:pt x="299" y="2"/>
                      </a:lnTo>
                      <a:lnTo>
                        <a:pt x="307" y="1"/>
                      </a:lnTo>
                      <a:lnTo>
                        <a:pt x="314" y="0"/>
                      </a:lnTo>
                      <a:lnTo>
                        <a:pt x="310" y="2"/>
                      </a:lnTo>
                      <a:lnTo>
                        <a:pt x="307" y="4"/>
                      </a:lnTo>
                      <a:lnTo>
                        <a:pt x="304" y="7"/>
                      </a:lnTo>
                      <a:lnTo>
                        <a:pt x="301" y="10"/>
                      </a:lnTo>
                      <a:lnTo>
                        <a:pt x="295" y="10"/>
                      </a:lnTo>
                      <a:lnTo>
                        <a:pt x="288" y="11"/>
                      </a:lnTo>
                      <a:lnTo>
                        <a:pt x="284" y="12"/>
                      </a:lnTo>
                      <a:lnTo>
                        <a:pt x="278" y="13"/>
                      </a:lnTo>
                      <a:lnTo>
                        <a:pt x="272" y="15"/>
                      </a:lnTo>
                      <a:lnTo>
                        <a:pt x="266" y="16"/>
                      </a:lnTo>
                      <a:lnTo>
                        <a:pt x="260" y="17"/>
                      </a:lnTo>
                      <a:lnTo>
                        <a:pt x="254" y="19"/>
                      </a:lnTo>
                      <a:lnTo>
                        <a:pt x="248" y="21"/>
                      </a:lnTo>
                      <a:lnTo>
                        <a:pt x="241" y="23"/>
                      </a:lnTo>
                      <a:lnTo>
                        <a:pt x="236" y="26"/>
                      </a:lnTo>
                      <a:lnTo>
                        <a:pt x="229" y="29"/>
                      </a:lnTo>
                      <a:lnTo>
                        <a:pt x="222" y="32"/>
                      </a:lnTo>
                      <a:lnTo>
                        <a:pt x="215" y="36"/>
                      </a:lnTo>
                      <a:lnTo>
                        <a:pt x="208" y="41"/>
                      </a:lnTo>
                      <a:lnTo>
                        <a:pt x="201" y="47"/>
                      </a:lnTo>
                      <a:lnTo>
                        <a:pt x="195" y="55"/>
                      </a:lnTo>
                      <a:lnTo>
                        <a:pt x="189" y="64"/>
                      </a:lnTo>
                      <a:lnTo>
                        <a:pt x="181" y="77"/>
                      </a:lnTo>
                      <a:lnTo>
                        <a:pt x="175" y="90"/>
                      </a:lnTo>
                      <a:lnTo>
                        <a:pt x="167" y="106"/>
                      </a:lnTo>
                      <a:lnTo>
                        <a:pt x="180" y="99"/>
                      </a:lnTo>
                      <a:lnTo>
                        <a:pt x="191" y="94"/>
                      </a:lnTo>
                      <a:lnTo>
                        <a:pt x="206" y="86"/>
                      </a:lnTo>
                      <a:lnTo>
                        <a:pt x="222" y="78"/>
                      </a:lnTo>
                      <a:lnTo>
                        <a:pt x="229" y="77"/>
                      </a:lnTo>
                      <a:lnTo>
                        <a:pt x="236" y="74"/>
                      </a:lnTo>
                      <a:lnTo>
                        <a:pt x="243" y="72"/>
                      </a:lnTo>
                      <a:lnTo>
                        <a:pt x="252" y="70"/>
                      </a:lnTo>
                      <a:lnTo>
                        <a:pt x="261" y="68"/>
                      </a:lnTo>
                      <a:lnTo>
                        <a:pt x="269" y="68"/>
                      </a:lnTo>
                      <a:lnTo>
                        <a:pt x="275" y="67"/>
                      </a:lnTo>
                      <a:lnTo>
                        <a:pt x="285" y="66"/>
                      </a:lnTo>
                      <a:lnTo>
                        <a:pt x="294" y="66"/>
                      </a:lnTo>
                      <a:lnTo>
                        <a:pt x="301" y="67"/>
                      </a:lnTo>
                      <a:lnTo>
                        <a:pt x="311" y="68"/>
                      </a:lnTo>
                      <a:lnTo>
                        <a:pt x="319" y="69"/>
                      </a:lnTo>
                      <a:lnTo>
                        <a:pt x="328" y="69"/>
                      </a:lnTo>
                      <a:lnTo>
                        <a:pt x="336" y="70"/>
                      </a:lnTo>
                      <a:lnTo>
                        <a:pt x="345" y="71"/>
                      </a:lnTo>
                      <a:lnTo>
                        <a:pt x="354" y="72"/>
                      </a:lnTo>
                      <a:lnTo>
                        <a:pt x="363" y="73"/>
                      </a:lnTo>
                      <a:lnTo>
                        <a:pt x="371" y="74"/>
                      </a:lnTo>
                      <a:lnTo>
                        <a:pt x="381" y="75"/>
                      </a:lnTo>
                      <a:lnTo>
                        <a:pt x="392" y="76"/>
                      </a:lnTo>
                      <a:lnTo>
                        <a:pt x="401" y="77"/>
                      </a:lnTo>
                      <a:lnTo>
                        <a:pt x="416" y="79"/>
                      </a:lnTo>
                      <a:lnTo>
                        <a:pt x="421" y="79"/>
                      </a:lnTo>
                      <a:lnTo>
                        <a:pt x="425" y="79"/>
                      </a:lnTo>
                      <a:lnTo>
                        <a:pt x="430" y="81"/>
                      </a:lnTo>
                      <a:lnTo>
                        <a:pt x="439" y="84"/>
                      </a:lnTo>
                      <a:lnTo>
                        <a:pt x="424" y="81"/>
                      </a:lnTo>
                      <a:lnTo>
                        <a:pt x="417" y="80"/>
                      </a:lnTo>
                      <a:lnTo>
                        <a:pt x="411" y="80"/>
                      </a:lnTo>
                      <a:lnTo>
                        <a:pt x="397" y="81"/>
                      </a:lnTo>
                      <a:lnTo>
                        <a:pt x="388" y="82"/>
                      </a:lnTo>
                      <a:lnTo>
                        <a:pt x="377" y="82"/>
                      </a:lnTo>
                      <a:lnTo>
                        <a:pt x="367" y="82"/>
                      </a:lnTo>
                      <a:lnTo>
                        <a:pt x="357" y="83"/>
                      </a:lnTo>
                      <a:lnTo>
                        <a:pt x="348" y="83"/>
                      </a:lnTo>
                      <a:lnTo>
                        <a:pt x="340" y="82"/>
                      </a:lnTo>
                      <a:lnTo>
                        <a:pt x="330" y="82"/>
                      </a:lnTo>
                      <a:lnTo>
                        <a:pt x="319" y="82"/>
                      </a:lnTo>
                      <a:lnTo>
                        <a:pt x="310" y="83"/>
                      </a:lnTo>
                      <a:lnTo>
                        <a:pt x="302" y="84"/>
                      </a:lnTo>
                      <a:lnTo>
                        <a:pt x="292" y="84"/>
                      </a:lnTo>
                      <a:lnTo>
                        <a:pt x="285" y="84"/>
                      </a:lnTo>
                      <a:lnTo>
                        <a:pt x="276" y="85"/>
                      </a:lnTo>
                      <a:lnTo>
                        <a:pt x="269" y="87"/>
                      </a:lnTo>
                      <a:lnTo>
                        <a:pt x="261" y="88"/>
                      </a:lnTo>
                      <a:lnTo>
                        <a:pt x="254" y="90"/>
                      </a:lnTo>
                      <a:lnTo>
                        <a:pt x="246" y="92"/>
                      </a:lnTo>
                      <a:lnTo>
                        <a:pt x="238" y="94"/>
                      </a:lnTo>
                      <a:lnTo>
                        <a:pt x="229" y="96"/>
                      </a:lnTo>
                      <a:lnTo>
                        <a:pt x="222" y="98"/>
                      </a:lnTo>
                      <a:lnTo>
                        <a:pt x="208" y="102"/>
                      </a:lnTo>
                      <a:lnTo>
                        <a:pt x="200" y="103"/>
                      </a:lnTo>
                      <a:lnTo>
                        <a:pt x="189" y="108"/>
                      </a:lnTo>
                      <a:lnTo>
                        <a:pt x="172" y="115"/>
                      </a:lnTo>
                      <a:lnTo>
                        <a:pt x="189" y="117"/>
                      </a:lnTo>
                      <a:lnTo>
                        <a:pt x="209" y="118"/>
                      </a:lnTo>
                      <a:lnTo>
                        <a:pt x="213" y="118"/>
                      </a:lnTo>
                      <a:lnTo>
                        <a:pt x="222" y="123"/>
                      </a:lnTo>
                      <a:lnTo>
                        <a:pt x="228" y="126"/>
                      </a:lnTo>
                      <a:lnTo>
                        <a:pt x="234" y="129"/>
                      </a:lnTo>
                      <a:lnTo>
                        <a:pt x="235" y="131"/>
                      </a:lnTo>
                      <a:lnTo>
                        <a:pt x="238" y="137"/>
                      </a:lnTo>
                      <a:lnTo>
                        <a:pt x="245" y="146"/>
                      </a:lnTo>
                      <a:lnTo>
                        <a:pt x="238" y="142"/>
                      </a:lnTo>
                      <a:lnTo>
                        <a:pt x="229" y="137"/>
                      </a:lnTo>
                      <a:lnTo>
                        <a:pt x="222" y="135"/>
                      </a:lnTo>
                      <a:lnTo>
                        <a:pt x="209" y="132"/>
                      </a:lnTo>
                      <a:lnTo>
                        <a:pt x="199" y="129"/>
                      </a:lnTo>
                      <a:lnTo>
                        <a:pt x="189" y="126"/>
                      </a:lnTo>
                      <a:lnTo>
                        <a:pt x="184" y="125"/>
                      </a:lnTo>
                      <a:lnTo>
                        <a:pt x="172" y="126"/>
                      </a:lnTo>
                      <a:lnTo>
                        <a:pt x="165" y="127"/>
                      </a:lnTo>
                      <a:lnTo>
                        <a:pt x="155" y="129"/>
                      </a:lnTo>
                      <a:lnTo>
                        <a:pt x="160" y="131"/>
                      </a:lnTo>
                      <a:lnTo>
                        <a:pt x="166" y="132"/>
                      </a:lnTo>
                      <a:lnTo>
                        <a:pt x="173" y="136"/>
                      </a:lnTo>
                      <a:lnTo>
                        <a:pt x="181" y="135"/>
                      </a:lnTo>
                      <a:lnTo>
                        <a:pt x="195" y="136"/>
                      </a:lnTo>
                      <a:lnTo>
                        <a:pt x="203" y="137"/>
                      </a:lnTo>
                      <a:lnTo>
                        <a:pt x="215" y="140"/>
                      </a:lnTo>
                      <a:lnTo>
                        <a:pt x="222" y="143"/>
                      </a:lnTo>
                      <a:lnTo>
                        <a:pt x="232" y="145"/>
                      </a:lnTo>
                      <a:lnTo>
                        <a:pt x="242" y="148"/>
                      </a:lnTo>
                      <a:lnTo>
                        <a:pt x="251" y="151"/>
                      </a:lnTo>
                      <a:lnTo>
                        <a:pt x="259" y="152"/>
                      </a:lnTo>
                      <a:lnTo>
                        <a:pt x="266" y="153"/>
                      </a:lnTo>
                      <a:lnTo>
                        <a:pt x="273" y="155"/>
                      </a:lnTo>
                      <a:lnTo>
                        <a:pt x="282" y="157"/>
                      </a:lnTo>
                      <a:lnTo>
                        <a:pt x="291" y="161"/>
                      </a:lnTo>
                      <a:lnTo>
                        <a:pt x="299" y="165"/>
                      </a:lnTo>
                      <a:lnTo>
                        <a:pt x="303" y="169"/>
                      </a:lnTo>
                      <a:lnTo>
                        <a:pt x="309" y="175"/>
                      </a:lnTo>
                      <a:lnTo>
                        <a:pt x="316" y="183"/>
                      </a:lnTo>
                      <a:lnTo>
                        <a:pt x="321" y="190"/>
                      </a:lnTo>
                      <a:lnTo>
                        <a:pt x="326" y="197"/>
                      </a:lnTo>
                      <a:lnTo>
                        <a:pt x="331" y="204"/>
                      </a:lnTo>
                      <a:lnTo>
                        <a:pt x="335" y="212"/>
                      </a:lnTo>
                      <a:lnTo>
                        <a:pt x="340" y="218"/>
                      </a:lnTo>
                      <a:lnTo>
                        <a:pt x="345" y="226"/>
                      </a:lnTo>
                      <a:lnTo>
                        <a:pt x="351" y="234"/>
                      </a:lnTo>
                      <a:lnTo>
                        <a:pt x="356" y="243"/>
                      </a:lnTo>
                      <a:lnTo>
                        <a:pt x="361" y="250"/>
                      </a:lnTo>
                      <a:lnTo>
                        <a:pt x="368" y="258"/>
                      </a:lnTo>
                      <a:lnTo>
                        <a:pt x="359" y="251"/>
                      </a:lnTo>
                      <a:lnTo>
                        <a:pt x="353" y="247"/>
                      </a:lnTo>
                      <a:lnTo>
                        <a:pt x="344" y="242"/>
                      </a:lnTo>
                      <a:lnTo>
                        <a:pt x="336" y="236"/>
                      </a:lnTo>
                      <a:lnTo>
                        <a:pt x="330" y="231"/>
                      </a:lnTo>
                      <a:lnTo>
                        <a:pt x="323" y="226"/>
                      </a:lnTo>
                      <a:lnTo>
                        <a:pt x="317" y="222"/>
                      </a:lnTo>
                      <a:lnTo>
                        <a:pt x="311" y="218"/>
                      </a:lnTo>
                      <a:lnTo>
                        <a:pt x="304" y="214"/>
                      </a:lnTo>
                      <a:lnTo>
                        <a:pt x="297" y="210"/>
                      </a:lnTo>
                      <a:lnTo>
                        <a:pt x="291" y="205"/>
                      </a:lnTo>
                      <a:lnTo>
                        <a:pt x="284" y="200"/>
                      </a:lnTo>
                      <a:lnTo>
                        <a:pt x="275" y="195"/>
                      </a:lnTo>
                      <a:lnTo>
                        <a:pt x="267" y="189"/>
                      </a:lnTo>
                      <a:lnTo>
                        <a:pt x="259" y="183"/>
                      </a:lnTo>
                      <a:lnTo>
                        <a:pt x="252" y="179"/>
                      </a:lnTo>
                      <a:lnTo>
                        <a:pt x="245" y="174"/>
                      </a:lnTo>
                      <a:lnTo>
                        <a:pt x="237" y="170"/>
                      </a:lnTo>
                      <a:lnTo>
                        <a:pt x="229" y="167"/>
                      </a:lnTo>
                      <a:lnTo>
                        <a:pt x="222" y="165"/>
                      </a:lnTo>
                      <a:lnTo>
                        <a:pt x="211" y="162"/>
                      </a:lnTo>
                      <a:lnTo>
                        <a:pt x="201" y="159"/>
                      </a:lnTo>
                      <a:lnTo>
                        <a:pt x="194" y="157"/>
                      </a:lnTo>
                      <a:lnTo>
                        <a:pt x="186" y="155"/>
                      </a:lnTo>
                      <a:lnTo>
                        <a:pt x="175" y="149"/>
                      </a:lnTo>
                      <a:lnTo>
                        <a:pt x="163" y="144"/>
                      </a:lnTo>
                      <a:lnTo>
                        <a:pt x="180" y="155"/>
                      </a:lnTo>
                      <a:lnTo>
                        <a:pt x="182" y="157"/>
                      </a:lnTo>
                      <a:lnTo>
                        <a:pt x="186" y="162"/>
                      </a:lnTo>
                      <a:lnTo>
                        <a:pt x="190" y="168"/>
                      </a:lnTo>
                      <a:lnTo>
                        <a:pt x="195" y="175"/>
                      </a:lnTo>
                      <a:lnTo>
                        <a:pt x="201" y="182"/>
                      </a:lnTo>
                      <a:lnTo>
                        <a:pt x="206" y="189"/>
                      </a:lnTo>
                      <a:lnTo>
                        <a:pt x="212" y="197"/>
                      </a:lnTo>
                      <a:lnTo>
                        <a:pt x="217" y="204"/>
                      </a:lnTo>
                      <a:lnTo>
                        <a:pt x="222" y="210"/>
                      </a:lnTo>
                      <a:lnTo>
                        <a:pt x="227" y="217"/>
                      </a:lnTo>
                      <a:lnTo>
                        <a:pt x="233" y="227"/>
                      </a:lnTo>
                      <a:lnTo>
                        <a:pt x="238" y="234"/>
                      </a:lnTo>
                      <a:lnTo>
                        <a:pt x="242" y="241"/>
                      </a:lnTo>
                      <a:lnTo>
                        <a:pt x="246" y="248"/>
                      </a:lnTo>
                      <a:lnTo>
                        <a:pt x="250" y="255"/>
                      </a:lnTo>
                      <a:lnTo>
                        <a:pt x="252" y="262"/>
                      </a:lnTo>
                      <a:lnTo>
                        <a:pt x="254" y="267"/>
                      </a:lnTo>
                      <a:lnTo>
                        <a:pt x="256" y="275"/>
                      </a:lnTo>
                      <a:lnTo>
                        <a:pt x="257" y="285"/>
                      </a:lnTo>
                      <a:lnTo>
                        <a:pt x="258" y="294"/>
                      </a:lnTo>
                      <a:lnTo>
                        <a:pt x="259" y="304"/>
                      </a:lnTo>
                      <a:lnTo>
                        <a:pt x="261" y="313"/>
                      </a:lnTo>
                      <a:lnTo>
                        <a:pt x="262" y="323"/>
                      </a:lnTo>
                      <a:lnTo>
                        <a:pt x="255" y="313"/>
                      </a:lnTo>
                      <a:lnTo>
                        <a:pt x="249" y="307"/>
                      </a:lnTo>
                      <a:lnTo>
                        <a:pt x="245" y="300"/>
                      </a:lnTo>
                      <a:lnTo>
                        <a:pt x="241" y="295"/>
                      </a:lnTo>
                      <a:lnTo>
                        <a:pt x="238" y="288"/>
                      </a:lnTo>
                      <a:lnTo>
                        <a:pt x="236" y="280"/>
                      </a:lnTo>
                      <a:lnTo>
                        <a:pt x="232" y="271"/>
                      </a:lnTo>
                      <a:lnTo>
                        <a:pt x="228" y="263"/>
                      </a:lnTo>
                      <a:lnTo>
                        <a:pt x="224" y="254"/>
                      </a:lnTo>
                      <a:lnTo>
                        <a:pt x="221" y="246"/>
                      </a:lnTo>
                      <a:lnTo>
                        <a:pt x="217" y="238"/>
                      </a:lnTo>
                      <a:lnTo>
                        <a:pt x="212" y="232"/>
                      </a:lnTo>
                      <a:lnTo>
                        <a:pt x="208" y="226"/>
                      </a:lnTo>
                      <a:lnTo>
                        <a:pt x="202" y="218"/>
                      </a:lnTo>
                      <a:lnTo>
                        <a:pt x="196" y="211"/>
                      </a:lnTo>
                      <a:lnTo>
                        <a:pt x="191" y="205"/>
                      </a:lnTo>
                      <a:lnTo>
                        <a:pt x="186" y="199"/>
                      </a:lnTo>
                      <a:lnTo>
                        <a:pt x="185" y="194"/>
                      </a:lnTo>
                      <a:lnTo>
                        <a:pt x="181" y="185"/>
                      </a:lnTo>
                      <a:lnTo>
                        <a:pt x="177" y="179"/>
                      </a:lnTo>
                      <a:lnTo>
                        <a:pt x="174" y="171"/>
                      </a:lnTo>
                      <a:lnTo>
                        <a:pt x="172" y="169"/>
                      </a:lnTo>
                      <a:lnTo>
                        <a:pt x="165" y="162"/>
                      </a:lnTo>
                      <a:lnTo>
                        <a:pt x="161" y="155"/>
                      </a:lnTo>
                      <a:lnTo>
                        <a:pt x="157" y="149"/>
                      </a:lnTo>
                      <a:lnTo>
                        <a:pt x="153" y="143"/>
                      </a:lnTo>
                      <a:lnTo>
                        <a:pt x="145" y="146"/>
                      </a:lnTo>
                      <a:lnTo>
                        <a:pt x="137" y="151"/>
                      </a:lnTo>
                      <a:lnTo>
                        <a:pt x="129" y="158"/>
                      </a:lnTo>
                      <a:lnTo>
                        <a:pt x="121" y="164"/>
                      </a:lnTo>
                      <a:lnTo>
                        <a:pt x="115" y="170"/>
                      </a:lnTo>
                      <a:lnTo>
                        <a:pt x="110" y="176"/>
                      </a:lnTo>
                      <a:lnTo>
                        <a:pt x="104" y="185"/>
                      </a:lnTo>
                      <a:lnTo>
                        <a:pt x="97" y="195"/>
                      </a:lnTo>
                      <a:lnTo>
                        <a:pt x="92" y="203"/>
                      </a:lnTo>
                      <a:lnTo>
                        <a:pt x="85" y="212"/>
                      </a:lnTo>
                      <a:lnTo>
                        <a:pt x="80" y="221"/>
                      </a:lnTo>
                      <a:lnTo>
                        <a:pt x="76" y="229"/>
                      </a:lnTo>
                      <a:lnTo>
                        <a:pt x="71" y="237"/>
                      </a:lnTo>
                      <a:lnTo>
                        <a:pt x="67" y="245"/>
                      </a:lnTo>
                      <a:lnTo>
                        <a:pt x="62" y="254"/>
                      </a:lnTo>
                      <a:lnTo>
                        <a:pt x="58" y="263"/>
                      </a:lnTo>
                      <a:lnTo>
                        <a:pt x="51" y="273"/>
                      </a:lnTo>
                      <a:lnTo>
                        <a:pt x="45" y="283"/>
                      </a:lnTo>
                      <a:lnTo>
                        <a:pt x="38" y="294"/>
                      </a:lnTo>
                      <a:lnTo>
                        <a:pt x="33" y="303"/>
                      </a:lnTo>
                      <a:lnTo>
                        <a:pt x="28" y="309"/>
                      </a:lnTo>
                      <a:lnTo>
                        <a:pt x="24" y="315"/>
                      </a:lnTo>
                      <a:lnTo>
                        <a:pt x="18" y="321"/>
                      </a:lnTo>
                      <a:lnTo>
                        <a:pt x="13" y="327"/>
                      </a:lnTo>
                      <a:lnTo>
                        <a:pt x="7" y="333"/>
                      </a:lnTo>
                      <a:lnTo>
                        <a:pt x="0" y="341"/>
                      </a:lnTo>
                      <a:lnTo>
                        <a:pt x="2" y="331"/>
                      </a:lnTo>
                      <a:lnTo>
                        <a:pt x="5" y="324"/>
                      </a:lnTo>
                      <a:lnTo>
                        <a:pt x="8" y="315"/>
                      </a:lnTo>
                      <a:lnTo>
                        <a:pt x="13" y="309"/>
                      </a:lnTo>
                      <a:lnTo>
                        <a:pt x="20" y="298"/>
                      </a:lnTo>
                      <a:lnTo>
                        <a:pt x="27" y="287"/>
                      </a:lnTo>
                      <a:lnTo>
                        <a:pt x="35" y="275"/>
                      </a:lnTo>
                      <a:lnTo>
                        <a:pt x="41" y="265"/>
                      </a:lnTo>
                      <a:lnTo>
                        <a:pt x="47" y="255"/>
                      </a:lnTo>
                      <a:lnTo>
                        <a:pt x="54" y="246"/>
                      </a:lnTo>
                      <a:lnTo>
                        <a:pt x="59" y="238"/>
                      </a:lnTo>
                      <a:lnTo>
                        <a:pt x="64" y="231"/>
                      </a:lnTo>
                      <a:lnTo>
                        <a:pt x="69" y="224"/>
                      </a:lnTo>
                      <a:lnTo>
                        <a:pt x="76" y="216"/>
                      </a:lnTo>
                      <a:lnTo>
                        <a:pt x="82" y="208"/>
                      </a:lnTo>
                      <a:lnTo>
                        <a:pt x="88" y="199"/>
                      </a:lnTo>
                      <a:lnTo>
                        <a:pt x="95" y="190"/>
                      </a:lnTo>
                      <a:lnTo>
                        <a:pt x="100" y="183"/>
                      </a:lnTo>
                      <a:lnTo>
                        <a:pt x="105" y="175"/>
                      </a:lnTo>
                      <a:lnTo>
                        <a:pt x="110" y="167"/>
                      </a:lnTo>
                      <a:lnTo>
                        <a:pt x="112" y="162"/>
                      </a:lnTo>
                      <a:lnTo>
                        <a:pt x="114" y="156"/>
                      </a:lnTo>
                      <a:lnTo>
                        <a:pt x="118" y="151"/>
                      </a:lnTo>
                      <a:lnTo>
                        <a:pt x="122" y="145"/>
                      </a:lnTo>
                      <a:lnTo>
                        <a:pt x="129" y="138"/>
                      </a:lnTo>
                      <a:lnTo>
                        <a:pt x="134" y="131"/>
                      </a:lnTo>
                      <a:lnTo>
                        <a:pt x="139" y="126"/>
                      </a:lnTo>
                      <a:lnTo>
                        <a:pt x="143" y="119"/>
                      </a:lnTo>
                      <a:lnTo>
                        <a:pt x="141" y="114"/>
                      </a:lnTo>
                      <a:lnTo>
                        <a:pt x="139" y="106"/>
                      </a:lnTo>
                      <a:lnTo>
                        <a:pt x="127" y="102"/>
                      </a:lnTo>
                      <a:lnTo>
                        <a:pt x="113" y="92"/>
                      </a:lnTo>
                      <a:lnTo>
                        <a:pt x="99" y="83"/>
                      </a:lnTo>
                      <a:lnTo>
                        <a:pt x="92" y="78"/>
                      </a:lnTo>
                      <a:lnTo>
                        <a:pt x="86" y="74"/>
                      </a:lnTo>
                      <a:lnTo>
                        <a:pt x="75" y="70"/>
                      </a:lnTo>
                      <a:lnTo>
                        <a:pt x="64" y="66"/>
                      </a:lnTo>
                      <a:lnTo>
                        <a:pt x="52" y="63"/>
                      </a:lnTo>
                      <a:lnTo>
                        <a:pt x="43" y="60"/>
                      </a:lnTo>
                      <a:lnTo>
                        <a:pt x="33" y="56"/>
                      </a:lnTo>
                      <a:lnTo>
                        <a:pt x="24" y="53"/>
                      </a:lnTo>
                      <a:lnTo>
                        <a:pt x="15" y="51"/>
                      </a:lnTo>
                      <a:lnTo>
                        <a:pt x="8" y="49"/>
                      </a:lnTo>
                      <a:lnTo>
                        <a:pt x="15" y="49"/>
                      </a:lnTo>
                      <a:lnTo>
                        <a:pt x="20" y="47"/>
                      </a:lnTo>
                      <a:lnTo>
                        <a:pt x="25" y="47"/>
                      </a:lnTo>
                      <a:lnTo>
                        <a:pt x="29" y="46"/>
                      </a:lnTo>
                      <a:lnTo>
                        <a:pt x="34" y="47"/>
                      </a:lnTo>
                      <a:lnTo>
                        <a:pt x="45" y="51"/>
                      </a:lnTo>
                      <a:lnTo>
                        <a:pt x="53" y="56"/>
                      </a:lnTo>
                      <a:lnTo>
                        <a:pt x="63" y="61"/>
                      </a:lnTo>
                      <a:lnTo>
                        <a:pt x="72" y="66"/>
                      </a:lnTo>
                      <a:lnTo>
                        <a:pt x="84" y="71"/>
                      </a:lnTo>
                      <a:lnTo>
                        <a:pt x="93" y="77"/>
                      </a:lnTo>
                      <a:lnTo>
                        <a:pt x="101" y="81"/>
                      </a:lnTo>
                      <a:lnTo>
                        <a:pt x="115" y="88"/>
                      </a:lnTo>
                      <a:lnTo>
                        <a:pt x="122" y="90"/>
                      </a:lnTo>
                      <a:lnTo>
                        <a:pt x="128" y="89"/>
                      </a:lnTo>
                      <a:lnTo>
                        <a:pt x="133" y="88"/>
                      </a:lnTo>
                      <a:lnTo>
                        <a:pt x="138" y="87"/>
                      </a:lnTo>
                    </a:path>
                  </a:pathLst>
                </a:custGeom>
                <a:solidFill>
                  <a:srgbClr val="037C03">
                    <a:alpha val="50195"/>
                  </a:srgbClr>
                </a:solidFill>
                <a:ln w="9525">
                  <a:noFill/>
                </a:ln>
              </p:spPr>
              <p:txBody>
                <a:bodyPr/>
                <a:lstStyle/>
                <a:p>
                  <a:endParaRPr lang="zh-CN" altLang="en-US"/>
                </a:p>
              </p:txBody>
            </p:sp>
            <p:sp>
              <p:nvSpPr>
                <p:cNvPr id="89320" name="Freeform 12"/>
                <p:cNvSpPr/>
                <p:nvPr/>
              </p:nvSpPr>
              <p:spPr>
                <a:xfrm>
                  <a:off x="1900" y="1641"/>
                  <a:ext cx="39" cy="193"/>
                </a:xfrm>
                <a:custGeom>
                  <a:avLst/>
                  <a:gdLst>
                    <a:gd name="txL" fmla="*/ 0 w 39"/>
                    <a:gd name="txT" fmla="*/ 0 h 193"/>
                    <a:gd name="txR" fmla="*/ 39 w 39"/>
                    <a:gd name="txB" fmla="*/ 193 h 193"/>
                  </a:gdLst>
                  <a:ahLst/>
                  <a:cxnLst>
                    <a:cxn ang="0">
                      <a:pos x="20" y="0"/>
                    </a:cxn>
                    <a:cxn ang="0">
                      <a:pos x="25" y="9"/>
                    </a:cxn>
                    <a:cxn ang="0">
                      <a:pos x="28" y="15"/>
                    </a:cxn>
                    <a:cxn ang="0">
                      <a:pos x="34" y="24"/>
                    </a:cxn>
                    <a:cxn ang="0">
                      <a:pos x="36" y="33"/>
                    </a:cxn>
                    <a:cxn ang="0">
                      <a:pos x="37" y="43"/>
                    </a:cxn>
                    <a:cxn ang="0">
                      <a:pos x="37" y="56"/>
                    </a:cxn>
                    <a:cxn ang="0">
                      <a:pos x="38" y="64"/>
                    </a:cxn>
                    <a:cxn ang="0">
                      <a:pos x="37" y="75"/>
                    </a:cxn>
                    <a:cxn ang="0">
                      <a:pos x="36" y="86"/>
                    </a:cxn>
                    <a:cxn ang="0">
                      <a:pos x="34" y="97"/>
                    </a:cxn>
                    <a:cxn ang="0">
                      <a:pos x="31" y="113"/>
                    </a:cxn>
                    <a:cxn ang="0">
                      <a:pos x="29" y="122"/>
                    </a:cxn>
                    <a:cxn ang="0">
                      <a:pos x="24" y="132"/>
                    </a:cxn>
                    <a:cxn ang="0">
                      <a:pos x="18" y="144"/>
                    </a:cxn>
                    <a:cxn ang="0">
                      <a:pos x="12" y="155"/>
                    </a:cxn>
                    <a:cxn ang="0">
                      <a:pos x="7" y="165"/>
                    </a:cxn>
                    <a:cxn ang="0">
                      <a:pos x="3" y="174"/>
                    </a:cxn>
                    <a:cxn ang="0">
                      <a:pos x="0" y="192"/>
                    </a:cxn>
                    <a:cxn ang="0">
                      <a:pos x="1" y="174"/>
                    </a:cxn>
                    <a:cxn ang="0">
                      <a:pos x="3" y="162"/>
                    </a:cxn>
                    <a:cxn ang="0">
                      <a:pos x="4" y="151"/>
                    </a:cxn>
                    <a:cxn ang="0">
                      <a:pos x="5" y="139"/>
                    </a:cxn>
                    <a:cxn ang="0">
                      <a:pos x="7" y="124"/>
                    </a:cxn>
                    <a:cxn ang="0">
                      <a:pos x="10" y="113"/>
                    </a:cxn>
                    <a:cxn ang="0">
                      <a:pos x="12" y="102"/>
                    </a:cxn>
                    <a:cxn ang="0">
                      <a:pos x="15" y="93"/>
                    </a:cxn>
                    <a:cxn ang="0">
                      <a:pos x="18" y="82"/>
                    </a:cxn>
                    <a:cxn ang="0">
                      <a:pos x="20" y="72"/>
                    </a:cxn>
                    <a:cxn ang="0">
                      <a:pos x="22" y="61"/>
                    </a:cxn>
                    <a:cxn ang="0">
                      <a:pos x="23" y="52"/>
                    </a:cxn>
                    <a:cxn ang="0">
                      <a:pos x="24" y="41"/>
                    </a:cxn>
                    <a:cxn ang="0">
                      <a:pos x="24" y="30"/>
                    </a:cxn>
                    <a:cxn ang="0">
                      <a:pos x="24" y="15"/>
                    </a:cxn>
                    <a:cxn ang="0">
                      <a:pos x="22" y="8"/>
                    </a:cxn>
                    <a:cxn ang="0">
                      <a:pos x="20" y="0"/>
                    </a:cxn>
                  </a:cxnLst>
                  <a:rect l="txL" t="txT" r="txR" b="txB"/>
                  <a:pathLst>
                    <a:path w="39" h="193">
                      <a:moveTo>
                        <a:pt x="20" y="0"/>
                      </a:moveTo>
                      <a:lnTo>
                        <a:pt x="25" y="9"/>
                      </a:lnTo>
                      <a:lnTo>
                        <a:pt x="28" y="15"/>
                      </a:lnTo>
                      <a:lnTo>
                        <a:pt x="34" y="24"/>
                      </a:lnTo>
                      <a:lnTo>
                        <a:pt x="36" y="33"/>
                      </a:lnTo>
                      <a:lnTo>
                        <a:pt x="37" y="43"/>
                      </a:lnTo>
                      <a:lnTo>
                        <a:pt x="37" y="56"/>
                      </a:lnTo>
                      <a:lnTo>
                        <a:pt x="38" y="64"/>
                      </a:lnTo>
                      <a:lnTo>
                        <a:pt x="37" y="75"/>
                      </a:lnTo>
                      <a:lnTo>
                        <a:pt x="36" y="86"/>
                      </a:lnTo>
                      <a:lnTo>
                        <a:pt x="34" y="97"/>
                      </a:lnTo>
                      <a:lnTo>
                        <a:pt x="31" y="113"/>
                      </a:lnTo>
                      <a:lnTo>
                        <a:pt x="29" y="122"/>
                      </a:lnTo>
                      <a:lnTo>
                        <a:pt x="24" y="132"/>
                      </a:lnTo>
                      <a:lnTo>
                        <a:pt x="18" y="144"/>
                      </a:lnTo>
                      <a:lnTo>
                        <a:pt x="12" y="155"/>
                      </a:lnTo>
                      <a:lnTo>
                        <a:pt x="7" y="165"/>
                      </a:lnTo>
                      <a:lnTo>
                        <a:pt x="3" y="174"/>
                      </a:lnTo>
                      <a:lnTo>
                        <a:pt x="0" y="192"/>
                      </a:lnTo>
                      <a:lnTo>
                        <a:pt x="1" y="174"/>
                      </a:lnTo>
                      <a:lnTo>
                        <a:pt x="3" y="162"/>
                      </a:lnTo>
                      <a:lnTo>
                        <a:pt x="4" y="151"/>
                      </a:lnTo>
                      <a:lnTo>
                        <a:pt x="5" y="139"/>
                      </a:lnTo>
                      <a:lnTo>
                        <a:pt x="7" y="124"/>
                      </a:lnTo>
                      <a:lnTo>
                        <a:pt x="10" y="113"/>
                      </a:lnTo>
                      <a:lnTo>
                        <a:pt x="12" y="102"/>
                      </a:lnTo>
                      <a:lnTo>
                        <a:pt x="15" y="93"/>
                      </a:lnTo>
                      <a:lnTo>
                        <a:pt x="18" y="82"/>
                      </a:lnTo>
                      <a:lnTo>
                        <a:pt x="20" y="72"/>
                      </a:lnTo>
                      <a:lnTo>
                        <a:pt x="22" y="61"/>
                      </a:lnTo>
                      <a:lnTo>
                        <a:pt x="23" y="52"/>
                      </a:lnTo>
                      <a:lnTo>
                        <a:pt x="24" y="41"/>
                      </a:lnTo>
                      <a:lnTo>
                        <a:pt x="24" y="30"/>
                      </a:lnTo>
                      <a:lnTo>
                        <a:pt x="24" y="15"/>
                      </a:lnTo>
                      <a:lnTo>
                        <a:pt x="22" y="8"/>
                      </a:lnTo>
                      <a:lnTo>
                        <a:pt x="20" y="0"/>
                      </a:lnTo>
                    </a:path>
                  </a:pathLst>
                </a:custGeom>
                <a:solidFill>
                  <a:srgbClr val="037C03">
                    <a:alpha val="50195"/>
                  </a:srgbClr>
                </a:solidFill>
                <a:ln w="9525">
                  <a:noFill/>
                </a:ln>
              </p:spPr>
              <p:txBody>
                <a:bodyPr/>
                <a:lstStyle/>
                <a:p>
                  <a:endParaRPr lang="zh-CN" altLang="en-US"/>
                </a:p>
              </p:txBody>
            </p:sp>
            <p:sp>
              <p:nvSpPr>
                <p:cNvPr id="89321" name="Freeform 13"/>
                <p:cNvSpPr/>
                <p:nvPr/>
              </p:nvSpPr>
              <p:spPr>
                <a:xfrm>
                  <a:off x="1716" y="1535"/>
                  <a:ext cx="171" cy="50"/>
                </a:xfrm>
                <a:custGeom>
                  <a:avLst/>
                  <a:gdLst>
                    <a:gd name="txL" fmla="*/ 0 w 171"/>
                    <a:gd name="txT" fmla="*/ 0 h 50"/>
                    <a:gd name="txR" fmla="*/ 171 w 171"/>
                    <a:gd name="txB" fmla="*/ 50 h 50"/>
                  </a:gdLst>
                  <a:ahLst/>
                  <a:cxnLst>
                    <a:cxn ang="0">
                      <a:pos x="170" y="49"/>
                    </a:cxn>
                    <a:cxn ang="0">
                      <a:pos x="167" y="40"/>
                    </a:cxn>
                    <a:cxn ang="0">
                      <a:pos x="163" y="33"/>
                    </a:cxn>
                    <a:cxn ang="0">
                      <a:pos x="160" y="31"/>
                    </a:cxn>
                    <a:cxn ang="0">
                      <a:pos x="153" y="29"/>
                    </a:cxn>
                    <a:cxn ang="0">
                      <a:pos x="147" y="27"/>
                    </a:cxn>
                    <a:cxn ang="0">
                      <a:pos x="140" y="29"/>
                    </a:cxn>
                    <a:cxn ang="0">
                      <a:pos x="132" y="30"/>
                    </a:cxn>
                    <a:cxn ang="0">
                      <a:pos x="123" y="27"/>
                    </a:cxn>
                    <a:cxn ang="0">
                      <a:pos x="111" y="22"/>
                    </a:cxn>
                    <a:cxn ang="0">
                      <a:pos x="100" y="18"/>
                    </a:cxn>
                    <a:cxn ang="0">
                      <a:pos x="92" y="16"/>
                    </a:cxn>
                    <a:cxn ang="0">
                      <a:pos x="80" y="12"/>
                    </a:cxn>
                    <a:cxn ang="0">
                      <a:pos x="67" y="8"/>
                    </a:cxn>
                    <a:cxn ang="0">
                      <a:pos x="55" y="5"/>
                    </a:cxn>
                    <a:cxn ang="0">
                      <a:pos x="42" y="1"/>
                    </a:cxn>
                    <a:cxn ang="0">
                      <a:pos x="28" y="1"/>
                    </a:cxn>
                    <a:cxn ang="0">
                      <a:pos x="15" y="0"/>
                    </a:cxn>
                    <a:cxn ang="0">
                      <a:pos x="12" y="1"/>
                    </a:cxn>
                    <a:cxn ang="0">
                      <a:pos x="7" y="4"/>
                    </a:cxn>
                    <a:cxn ang="0">
                      <a:pos x="3" y="7"/>
                    </a:cxn>
                    <a:cxn ang="0">
                      <a:pos x="0" y="11"/>
                    </a:cxn>
                    <a:cxn ang="0">
                      <a:pos x="5" y="11"/>
                    </a:cxn>
                    <a:cxn ang="0">
                      <a:pos x="12" y="12"/>
                    </a:cxn>
                    <a:cxn ang="0">
                      <a:pos x="19" y="12"/>
                    </a:cxn>
                    <a:cxn ang="0">
                      <a:pos x="23" y="11"/>
                    </a:cxn>
                    <a:cxn ang="0">
                      <a:pos x="30" y="11"/>
                    </a:cxn>
                    <a:cxn ang="0">
                      <a:pos x="39" y="11"/>
                    </a:cxn>
                    <a:cxn ang="0">
                      <a:pos x="51" y="11"/>
                    </a:cxn>
                    <a:cxn ang="0">
                      <a:pos x="61" y="12"/>
                    </a:cxn>
                    <a:cxn ang="0">
                      <a:pos x="71" y="14"/>
                    </a:cxn>
                    <a:cxn ang="0">
                      <a:pos x="81" y="15"/>
                    </a:cxn>
                    <a:cxn ang="0">
                      <a:pos x="91" y="16"/>
                    </a:cxn>
                    <a:cxn ang="0">
                      <a:pos x="99" y="19"/>
                    </a:cxn>
                    <a:cxn ang="0">
                      <a:pos x="108" y="23"/>
                    </a:cxn>
                    <a:cxn ang="0">
                      <a:pos x="116" y="27"/>
                    </a:cxn>
                    <a:cxn ang="0">
                      <a:pos x="125" y="31"/>
                    </a:cxn>
                    <a:cxn ang="0">
                      <a:pos x="129" y="32"/>
                    </a:cxn>
                    <a:cxn ang="0">
                      <a:pos x="134" y="31"/>
                    </a:cxn>
                    <a:cxn ang="0">
                      <a:pos x="140" y="34"/>
                    </a:cxn>
                    <a:cxn ang="0">
                      <a:pos x="146" y="37"/>
                    </a:cxn>
                    <a:cxn ang="0">
                      <a:pos x="152" y="40"/>
                    </a:cxn>
                    <a:cxn ang="0">
                      <a:pos x="161" y="44"/>
                    </a:cxn>
                    <a:cxn ang="0">
                      <a:pos x="167" y="46"/>
                    </a:cxn>
                    <a:cxn ang="0">
                      <a:pos x="170" y="49"/>
                    </a:cxn>
                  </a:cxnLst>
                  <a:rect l="txL" t="txT" r="txR" b="txB"/>
                  <a:pathLst>
                    <a:path w="171" h="50">
                      <a:moveTo>
                        <a:pt x="170" y="49"/>
                      </a:moveTo>
                      <a:lnTo>
                        <a:pt x="167" y="40"/>
                      </a:lnTo>
                      <a:lnTo>
                        <a:pt x="163" y="33"/>
                      </a:lnTo>
                      <a:lnTo>
                        <a:pt x="160" y="31"/>
                      </a:lnTo>
                      <a:lnTo>
                        <a:pt x="153" y="29"/>
                      </a:lnTo>
                      <a:lnTo>
                        <a:pt x="147" y="27"/>
                      </a:lnTo>
                      <a:lnTo>
                        <a:pt x="140" y="29"/>
                      </a:lnTo>
                      <a:lnTo>
                        <a:pt x="132" y="30"/>
                      </a:lnTo>
                      <a:lnTo>
                        <a:pt x="123" y="27"/>
                      </a:lnTo>
                      <a:lnTo>
                        <a:pt x="111" y="22"/>
                      </a:lnTo>
                      <a:lnTo>
                        <a:pt x="100" y="18"/>
                      </a:lnTo>
                      <a:lnTo>
                        <a:pt x="92" y="16"/>
                      </a:lnTo>
                      <a:lnTo>
                        <a:pt x="80" y="12"/>
                      </a:lnTo>
                      <a:lnTo>
                        <a:pt x="67" y="8"/>
                      </a:lnTo>
                      <a:lnTo>
                        <a:pt x="55" y="5"/>
                      </a:lnTo>
                      <a:lnTo>
                        <a:pt x="42" y="1"/>
                      </a:lnTo>
                      <a:lnTo>
                        <a:pt x="28" y="1"/>
                      </a:lnTo>
                      <a:lnTo>
                        <a:pt x="15" y="0"/>
                      </a:lnTo>
                      <a:lnTo>
                        <a:pt x="12" y="1"/>
                      </a:lnTo>
                      <a:lnTo>
                        <a:pt x="7" y="4"/>
                      </a:lnTo>
                      <a:lnTo>
                        <a:pt x="3" y="7"/>
                      </a:lnTo>
                      <a:lnTo>
                        <a:pt x="0" y="11"/>
                      </a:lnTo>
                      <a:lnTo>
                        <a:pt x="5" y="11"/>
                      </a:lnTo>
                      <a:lnTo>
                        <a:pt x="12" y="12"/>
                      </a:lnTo>
                      <a:lnTo>
                        <a:pt x="19" y="12"/>
                      </a:lnTo>
                      <a:lnTo>
                        <a:pt x="23" y="11"/>
                      </a:lnTo>
                      <a:lnTo>
                        <a:pt x="30" y="11"/>
                      </a:lnTo>
                      <a:lnTo>
                        <a:pt x="39" y="11"/>
                      </a:lnTo>
                      <a:lnTo>
                        <a:pt x="51" y="11"/>
                      </a:lnTo>
                      <a:lnTo>
                        <a:pt x="61" y="12"/>
                      </a:lnTo>
                      <a:lnTo>
                        <a:pt x="71" y="14"/>
                      </a:lnTo>
                      <a:lnTo>
                        <a:pt x="81" y="15"/>
                      </a:lnTo>
                      <a:lnTo>
                        <a:pt x="91" y="16"/>
                      </a:lnTo>
                      <a:lnTo>
                        <a:pt x="99" y="19"/>
                      </a:lnTo>
                      <a:lnTo>
                        <a:pt x="108" y="23"/>
                      </a:lnTo>
                      <a:lnTo>
                        <a:pt x="116" y="27"/>
                      </a:lnTo>
                      <a:lnTo>
                        <a:pt x="125" y="31"/>
                      </a:lnTo>
                      <a:lnTo>
                        <a:pt x="129" y="32"/>
                      </a:lnTo>
                      <a:lnTo>
                        <a:pt x="134" y="31"/>
                      </a:lnTo>
                      <a:lnTo>
                        <a:pt x="140" y="34"/>
                      </a:lnTo>
                      <a:lnTo>
                        <a:pt x="146" y="37"/>
                      </a:lnTo>
                      <a:lnTo>
                        <a:pt x="152" y="40"/>
                      </a:lnTo>
                      <a:lnTo>
                        <a:pt x="161" y="44"/>
                      </a:lnTo>
                      <a:lnTo>
                        <a:pt x="167" y="46"/>
                      </a:lnTo>
                      <a:lnTo>
                        <a:pt x="170" y="49"/>
                      </a:lnTo>
                    </a:path>
                  </a:pathLst>
                </a:custGeom>
                <a:solidFill>
                  <a:srgbClr val="037C03">
                    <a:alpha val="50195"/>
                  </a:srgbClr>
                </a:solidFill>
                <a:ln w="9525">
                  <a:noFill/>
                </a:ln>
              </p:spPr>
              <p:txBody>
                <a:bodyPr/>
                <a:lstStyle/>
                <a:p>
                  <a:endParaRPr lang="zh-CN" altLang="en-US"/>
                </a:p>
              </p:txBody>
            </p:sp>
            <p:sp>
              <p:nvSpPr>
                <p:cNvPr id="89322" name="Freeform 14"/>
                <p:cNvSpPr/>
                <p:nvPr/>
              </p:nvSpPr>
              <p:spPr>
                <a:xfrm>
                  <a:off x="1707" y="1563"/>
                  <a:ext cx="177" cy="21"/>
                </a:xfrm>
                <a:custGeom>
                  <a:avLst/>
                  <a:gdLst>
                    <a:gd name="txL" fmla="*/ 0 w 177"/>
                    <a:gd name="txT" fmla="*/ 0 h 21"/>
                    <a:gd name="txR" fmla="*/ 177 w 177"/>
                    <a:gd name="txB" fmla="*/ 21 h 21"/>
                  </a:gdLst>
                  <a:ahLst/>
                  <a:cxnLst>
                    <a:cxn ang="0">
                      <a:pos x="176" y="20"/>
                    </a:cxn>
                    <a:cxn ang="0">
                      <a:pos x="171" y="18"/>
                    </a:cxn>
                    <a:cxn ang="0">
                      <a:pos x="166" y="16"/>
                    </a:cxn>
                    <a:cxn ang="0">
                      <a:pos x="161" y="13"/>
                    </a:cxn>
                    <a:cxn ang="0">
                      <a:pos x="155" y="12"/>
                    </a:cxn>
                    <a:cxn ang="0">
                      <a:pos x="149" y="10"/>
                    </a:cxn>
                    <a:cxn ang="0">
                      <a:pos x="141" y="6"/>
                    </a:cxn>
                    <a:cxn ang="0">
                      <a:pos x="134" y="3"/>
                    </a:cxn>
                    <a:cxn ang="0">
                      <a:pos x="128" y="2"/>
                    </a:cxn>
                    <a:cxn ang="0">
                      <a:pos x="120" y="3"/>
                    </a:cxn>
                    <a:cxn ang="0">
                      <a:pos x="110" y="5"/>
                    </a:cxn>
                    <a:cxn ang="0">
                      <a:pos x="106" y="5"/>
                    </a:cxn>
                    <a:cxn ang="0">
                      <a:pos x="93" y="3"/>
                    </a:cxn>
                    <a:cxn ang="0">
                      <a:pos x="78" y="1"/>
                    </a:cxn>
                    <a:cxn ang="0">
                      <a:pos x="69" y="0"/>
                    </a:cxn>
                    <a:cxn ang="0">
                      <a:pos x="57" y="0"/>
                    </a:cxn>
                    <a:cxn ang="0">
                      <a:pos x="44" y="0"/>
                    </a:cxn>
                    <a:cxn ang="0">
                      <a:pos x="36" y="1"/>
                    </a:cxn>
                    <a:cxn ang="0">
                      <a:pos x="27" y="2"/>
                    </a:cxn>
                    <a:cxn ang="0">
                      <a:pos x="18" y="3"/>
                    </a:cxn>
                    <a:cxn ang="0">
                      <a:pos x="9" y="4"/>
                    </a:cxn>
                    <a:cxn ang="0">
                      <a:pos x="8" y="8"/>
                    </a:cxn>
                    <a:cxn ang="0">
                      <a:pos x="7" y="11"/>
                    </a:cxn>
                    <a:cxn ang="0">
                      <a:pos x="4" y="15"/>
                    </a:cxn>
                    <a:cxn ang="0">
                      <a:pos x="0" y="17"/>
                    </a:cxn>
                    <a:cxn ang="0">
                      <a:pos x="7" y="16"/>
                    </a:cxn>
                    <a:cxn ang="0">
                      <a:pos x="15" y="14"/>
                    </a:cxn>
                    <a:cxn ang="0">
                      <a:pos x="22" y="12"/>
                    </a:cxn>
                    <a:cxn ang="0">
                      <a:pos x="29" y="11"/>
                    </a:cxn>
                    <a:cxn ang="0">
                      <a:pos x="37" y="10"/>
                    </a:cxn>
                    <a:cxn ang="0">
                      <a:pos x="50" y="10"/>
                    </a:cxn>
                    <a:cxn ang="0">
                      <a:pos x="63" y="8"/>
                    </a:cxn>
                    <a:cxn ang="0">
                      <a:pos x="79" y="8"/>
                    </a:cxn>
                    <a:cxn ang="0">
                      <a:pos x="94" y="7"/>
                    </a:cxn>
                    <a:cxn ang="0">
                      <a:pos x="108" y="6"/>
                    </a:cxn>
                    <a:cxn ang="0">
                      <a:pos x="120" y="7"/>
                    </a:cxn>
                    <a:cxn ang="0">
                      <a:pos x="129" y="10"/>
                    </a:cxn>
                    <a:cxn ang="0">
                      <a:pos x="138" y="12"/>
                    </a:cxn>
                    <a:cxn ang="0">
                      <a:pos x="148" y="14"/>
                    </a:cxn>
                    <a:cxn ang="0">
                      <a:pos x="159" y="17"/>
                    </a:cxn>
                    <a:cxn ang="0">
                      <a:pos x="167" y="18"/>
                    </a:cxn>
                    <a:cxn ang="0">
                      <a:pos x="176" y="20"/>
                    </a:cxn>
                  </a:cxnLst>
                  <a:rect l="txL" t="txT" r="txR" b="txB"/>
                  <a:pathLst>
                    <a:path w="177" h="21">
                      <a:moveTo>
                        <a:pt x="176" y="20"/>
                      </a:moveTo>
                      <a:lnTo>
                        <a:pt x="171" y="18"/>
                      </a:lnTo>
                      <a:lnTo>
                        <a:pt x="166" y="16"/>
                      </a:lnTo>
                      <a:lnTo>
                        <a:pt x="161" y="13"/>
                      </a:lnTo>
                      <a:lnTo>
                        <a:pt x="155" y="12"/>
                      </a:lnTo>
                      <a:lnTo>
                        <a:pt x="149" y="10"/>
                      </a:lnTo>
                      <a:lnTo>
                        <a:pt x="141" y="6"/>
                      </a:lnTo>
                      <a:lnTo>
                        <a:pt x="134" y="3"/>
                      </a:lnTo>
                      <a:lnTo>
                        <a:pt x="128" y="2"/>
                      </a:lnTo>
                      <a:lnTo>
                        <a:pt x="120" y="3"/>
                      </a:lnTo>
                      <a:lnTo>
                        <a:pt x="110" y="5"/>
                      </a:lnTo>
                      <a:lnTo>
                        <a:pt x="106" y="5"/>
                      </a:lnTo>
                      <a:lnTo>
                        <a:pt x="93" y="3"/>
                      </a:lnTo>
                      <a:lnTo>
                        <a:pt x="78" y="1"/>
                      </a:lnTo>
                      <a:lnTo>
                        <a:pt x="69" y="0"/>
                      </a:lnTo>
                      <a:lnTo>
                        <a:pt x="57" y="0"/>
                      </a:lnTo>
                      <a:lnTo>
                        <a:pt x="44" y="0"/>
                      </a:lnTo>
                      <a:lnTo>
                        <a:pt x="36" y="1"/>
                      </a:lnTo>
                      <a:lnTo>
                        <a:pt x="27" y="2"/>
                      </a:lnTo>
                      <a:lnTo>
                        <a:pt x="18" y="3"/>
                      </a:lnTo>
                      <a:lnTo>
                        <a:pt x="9" y="4"/>
                      </a:lnTo>
                      <a:lnTo>
                        <a:pt x="8" y="8"/>
                      </a:lnTo>
                      <a:lnTo>
                        <a:pt x="7" y="11"/>
                      </a:lnTo>
                      <a:lnTo>
                        <a:pt x="4" y="15"/>
                      </a:lnTo>
                      <a:lnTo>
                        <a:pt x="0" y="17"/>
                      </a:lnTo>
                      <a:lnTo>
                        <a:pt x="7" y="16"/>
                      </a:lnTo>
                      <a:lnTo>
                        <a:pt x="15" y="14"/>
                      </a:lnTo>
                      <a:lnTo>
                        <a:pt x="22" y="12"/>
                      </a:lnTo>
                      <a:lnTo>
                        <a:pt x="29" y="11"/>
                      </a:lnTo>
                      <a:lnTo>
                        <a:pt x="37" y="10"/>
                      </a:lnTo>
                      <a:lnTo>
                        <a:pt x="50" y="10"/>
                      </a:lnTo>
                      <a:lnTo>
                        <a:pt x="63" y="8"/>
                      </a:lnTo>
                      <a:lnTo>
                        <a:pt x="79" y="8"/>
                      </a:lnTo>
                      <a:lnTo>
                        <a:pt x="94" y="7"/>
                      </a:lnTo>
                      <a:lnTo>
                        <a:pt x="108" y="6"/>
                      </a:lnTo>
                      <a:lnTo>
                        <a:pt x="120" y="7"/>
                      </a:lnTo>
                      <a:lnTo>
                        <a:pt x="129" y="10"/>
                      </a:lnTo>
                      <a:lnTo>
                        <a:pt x="138" y="12"/>
                      </a:lnTo>
                      <a:lnTo>
                        <a:pt x="148" y="14"/>
                      </a:lnTo>
                      <a:lnTo>
                        <a:pt x="159" y="17"/>
                      </a:lnTo>
                      <a:lnTo>
                        <a:pt x="167" y="18"/>
                      </a:lnTo>
                      <a:lnTo>
                        <a:pt x="176" y="20"/>
                      </a:lnTo>
                    </a:path>
                  </a:pathLst>
                </a:custGeom>
                <a:solidFill>
                  <a:srgbClr val="037C03">
                    <a:alpha val="50195"/>
                  </a:srgbClr>
                </a:solidFill>
                <a:ln w="9525">
                  <a:noFill/>
                </a:ln>
              </p:spPr>
              <p:txBody>
                <a:bodyPr/>
                <a:lstStyle/>
                <a:p>
                  <a:endParaRPr lang="zh-CN" altLang="en-US"/>
                </a:p>
              </p:txBody>
            </p:sp>
          </p:grpSp>
          <p:sp>
            <p:nvSpPr>
              <p:cNvPr id="89318" name="Freeform 15"/>
              <p:cNvSpPr/>
              <p:nvPr/>
            </p:nvSpPr>
            <p:spPr>
              <a:xfrm>
                <a:off x="1691" y="1023"/>
                <a:ext cx="261" cy="374"/>
              </a:xfrm>
              <a:custGeom>
                <a:avLst/>
                <a:gdLst>
                  <a:gd name="txL" fmla="*/ 0 w 261"/>
                  <a:gd name="txT" fmla="*/ 0 h 374"/>
                  <a:gd name="txR" fmla="*/ 261 w 261"/>
                  <a:gd name="txB" fmla="*/ 374 h 374"/>
                </a:gdLst>
                <a:ahLst/>
                <a:cxnLst>
                  <a:cxn ang="0">
                    <a:pos x="82" y="162"/>
                  </a:cxn>
                  <a:cxn ang="0">
                    <a:pos x="90" y="154"/>
                  </a:cxn>
                  <a:cxn ang="0">
                    <a:pos x="76" y="104"/>
                  </a:cxn>
                  <a:cxn ang="0">
                    <a:pos x="54" y="56"/>
                  </a:cxn>
                  <a:cxn ang="0">
                    <a:pos x="31" y="33"/>
                  </a:cxn>
                  <a:cxn ang="0">
                    <a:pos x="51" y="45"/>
                  </a:cxn>
                  <a:cxn ang="0">
                    <a:pos x="72" y="84"/>
                  </a:cxn>
                  <a:cxn ang="0">
                    <a:pos x="92" y="126"/>
                  </a:cxn>
                  <a:cxn ang="0">
                    <a:pos x="106" y="168"/>
                  </a:cxn>
                  <a:cxn ang="0">
                    <a:pos x="118" y="150"/>
                  </a:cxn>
                  <a:cxn ang="0">
                    <a:pos x="121" y="114"/>
                  </a:cxn>
                  <a:cxn ang="0">
                    <a:pos x="125" y="65"/>
                  </a:cxn>
                  <a:cxn ang="0">
                    <a:pos x="136" y="26"/>
                  </a:cxn>
                  <a:cxn ang="0">
                    <a:pos x="143" y="12"/>
                  </a:cxn>
                  <a:cxn ang="0">
                    <a:pos x="136" y="53"/>
                  </a:cxn>
                  <a:cxn ang="0">
                    <a:pos x="132" y="106"/>
                  </a:cxn>
                  <a:cxn ang="0">
                    <a:pos x="130" y="155"/>
                  </a:cxn>
                  <a:cxn ang="0">
                    <a:pos x="136" y="183"/>
                  </a:cxn>
                  <a:cxn ang="0">
                    <a:pos x="166" y="177"/>
                  </a:cxn>
                  <a:cxn ang="0">
                    <a:pos x="205" y="178"/>
                  </a:cxn>
                  <a:cxn ang="0">
                    <a:pos x="236" y="193"/>
                  </a:cxn>
                  <a:cxn ang="0">
                    <a:pos x="260" y="227"/>
                  </a:cxn>
                  <a:cxn ang="0">
                    <a:pos x="231" y="222"/>
                  </a:cxn>
                  <a:cxn ang="0">
                    <a:pos x="200" y="211"/>
                  </a:cxn>
                  <a:cxn ang="0">
                    <a:pos x="159" y="204"/>
                  </a:cxn>
                  <a:cxn ang="0">
                    <a:pos x="132" y="208"/>
                  </a:cxn>
                  <a:cxn ang="0">
                    <a:pos x="147" y="224"/>
                  </a:cxn>
                  <a:cxn ang="0">
                    <a:pos x="182" y="233"/>
                  </a:cxn>
                  <a:cxn ang="0">
                    <a:pos x="217" y="240"/>
                  </a:cxn>
                  <a:cxn ang="0">
                    <a:pos x="243" y="264"/>
                  </a:cxn>
                  <a:cxn ang="0">
                    <a:pos x="256" y="297"/>
                  </a:cxn>
                  <a:cxn ang="0">
                    <a:pos x="224" y="277"/>
                  </a:cxn>
                  <a:cxn ang="0">
                    <a:pos x="191" y="256"/>
                  </a:cxn>
                  <a:cxn ang="0">
                    <a:pos x="160" y="238"/>
                  </a:cxn>
                  <a:cxn ang="0">
                    <a:pos x="136" y="230"/>
                  </a:cxn>
                  <a:cxn ang="0">
                    <a:pos x="121" y="246"/>
                  </a:cxn>
                  <a:cxn ang="0">
                    <a:pos x="135" y="290"/>
                  </a:cxn>
                  <a:cxn ang="0">
                    <a:pos x="145" y="342"/>
                  </a:cxn>
                  <a:cxn ang="0">
                    <a:pos x="127" y="346"/>
                  </a:cxn>
                  <a:cxn ang="0">
                    <a:pos x="116" y="290"/>
                  </a:cxn>
                  <a:cxn ang="0">
                    <a:pos x="101" y="256"/>
                  </a:cxn>
                  <a:cxn ang="0">
                    <a:pos x="83" y="274"/>
                  </a:cxn>
                  <a:cxn ang="0">
                    <a:pos x="64" y="309"/>
                  </a:cxn>
                  <a:cxn ang="0">
                    <a:pos x="44" y="360"/>
                  </a:cxn>
                  <a:cxn ang="0">
                    <a:pos x="51" y="314"/>
                  </a:cxn>
                  <a:cxn ang="0">
                    <a:pos x="69" y="272"/>
                  </a:cxn>
                  <a:cxn ang="0">
                    <a:pos x="91" y="238"/>
                  </a:cxn>
                  <a:cxn ang="0">
                    <a:pos x="99" y="212"/>
                  </a:cxn>
                  <a:cxn ang="0">
                    <a:pos x="77" y="226"/>
                  </a:cxn>
                  <a:cxn ang="0">
                    <a:pos x="52" y="261"/>
                  </a:cxn>
                  <a:cxn ang="0">
                    <a:pos x="28" y="301"/>
                  </a:cxn>
                  <a:cxn ang="0">
                    <a:pos x="24" y="288"/>
                  </a:cxn>
                  <a:cxn ang="0">
                    <a:pos x="42" y="262"/>
                  </a:cxn>
                  <a:cxn ang="0">
                    <a:pos x="71" y="229"/>
                  </a:cxn>
                  <a:cxn ang="0">
                    <a:pos x="101" y="206"/>
                  </a:cxn>
                  <a:cxn ang="0">
                    <a:pos x="73" y="180"/>
                  </a:cxn>
                  <a:cxn ang="0">
                    <a:pos x="46" y="148"/>
                  </a:cxn>
                  <a:cxn ang="0">
                    <a:pos x="17" y="118"/>
                  </a:cxn>
                  <a:cxn ang="0">
                    <a:pos x="3" y="98"/>
                  </a:cxn>
                  <a:cxn ang="0">
                    <a:pos x="32" y="115"/>
                  </a:cxn>
                  <a:cxn ang="0">
                    <a:pos x="64" y="145"/>
                  </a:cxn>
                </a:cxnLst>
                <a:rect l="txL" t="txT" r="txR" b="txB"/>
                <a:pathLst>
                  <a:path w="261" h="374">
                    <a:moveTo>
                      <a:pt x="64" y="145"/>
                    </a:moveTo>
                    <a:lnTo>
                      <a:pt x="68" y="150"/>
                    </a:lnTo>
                    <a:lnTo>
                      <a:pt x="72" y="154"/>
                    </a:lnTo>
                    <a:lnTo>
                      <a:pt x="77" y="157"/>
                    </a:lnTo>
                    <a:lnTo>
                      <a:pt x="82" y="162"/>
                    </a:lnTo>
                    <a:lnTo>
                      <a:pt x="86" y="165"/>
                    </a:lnTo>
                    <a:lnTo>
                      <a:pt x="91" y="168"/>
                    </a:lnTo>
                    <a:lnTo>
                      <a:pt x="94" y="170"/>
                    </a:lnTo>
                    <a:lnTo>
                      <a:pt x="92" y="162"/>
                    </a:lnTo>
                    <a:lnTo>
                      <a:pt x="90" y="154"/>
                    </a:lnTo>
                    <a:lnTo>
                      <a:pt x="87" y="143"/>
                    </a:lnTo>
                    <a:lnTo>
                      <a:pt x="85" y="134"/>
                    </a:lnTo>
                    <a:lnTo>
                      <a:pt x="82" y="124"/>
                    </a:lnTo>
                    <a:lnTo>
                      <a:pt x="80" y="114"/>
                    </a:lnTo>
                    <a:lnTo>
                      <a:pt x="76" y="104"/>
                    </a:lnTo>
                    <a:lnTo>
                      <a:pt x="72" y="93"/>
                    </a:lnTo>
                    <a:lnTo>
                      <a:pt x="68" y="84"/>
                    </a:lnTo>
                    <a:lnTo>
                      <a:pt x="63" y="71"/>
                    </a:lnTo>
                    <a:lnTo>
                      <a:pt x="59" y="63"/>
                    </a:lnTo>
                    <a:lnTo>
                      <a:pt x="54" y="56"/>
                    </a:lnTo>
                    <a:lnTo>
                      <a:pt x="50" y="48"/>
                    </a:lnTo>
                    <a:lnTo>
                      <a:pt x="44" y="42"/>
                    </a:lnTo>
                    <a:lnTo>
                      <a:pt x="39" y="38"/>
                    </a:lnTo>
                    <a:lnTo>
                      <a:pt x="34" y="35"/>
                    </a:lnTo>
                    <a:lnTo>
                      <a:pt x="31" y="33"/>
                    </a:lnTo>
                    <a:lnTo>
                      <a:pt x="35" y="32"/>
                    </a:lnTo>
                    <a:lnTo>
                      <a:pt x="37" y="33"/>
                    </a:lnTo>
                    <a:lnTo>
                      <a:pt x="41" y="34"/>
                    </a:lnTo>
                    <a:lnTo>
                      <a:pt x="45" y="39"/>
                    </a:lnTo>
                    <a:lnTo>
                      <a:pt x="51" y="45"/>
                    </a:lnTo>
                    <a:lnTo>
                      <a:pt x="55" y="50"/>
                    </a:lnTo>
                    <a:lnTo>
                      <a:pt x="58" y="56"/>
                    </a:lnTo>
                    <a:lnTo>
                      <a:pt x="63" y="64"/>
                    </a:lnTo>
                    <a:lnTo>
                      <a:pt x="68" y="75"/>
                    </a:lnTo>
                    <a:lnTo>
                      <a:pt x="72" y="84"/>
                    </a:lnTo>
                    <a:lnTo>
                      <a:pt x="77" y="94"/>
                    </a:lnTo>
                    <a:lnTo>
                      <a:pt x="81" y="101"/>
                    </a:lnTo>
                    <a:lnTo>
                      <a:pt x="86" y="109"/>
                    </a:lnTo>
                    <a:lnTo>
                      <a:pt x="89" y="117"/>
                    </a:lnTo>
                    <a:lnTo>
                      <a:pt x="92" y="126"/>
                    </a:lnTo>
                    <a:lnTo>
                      <a:pt x="95" y="135"/>
                    </a:lnTo>
                    <a:lnTo>
                      <a:pt x="99" y="143"/>
                    </a:lnTo>
                    <a:lnTo>
                      <a:pt x="101" y="151"/>
                    </a:lnTo>
                    <a:lnTo>
                      <a:pt x="104" y="161"/>
                    </a:lnTo>
                    <a:lnTo>
                      <a:pt x="106" y="168"/>
                    </a:lnTo>
                    <a:lnTo>
                      <a:pt x="107" y="171"/>
                    </a:lnTo>
                    <a:lnTo>
                      <a:pt x="110" y="168"/>
                    </a:lnTo>
                    <a:lnTo>
                      <a:pt x="113" y="164"/>
                    </a:lnTo>
                    <a:lnTo>
                      <a:pt x="117" y="159"/>
                    </a:lnTo>
                    <a:lnTo>
                      <a:pt x="118" y="150"/>
                    </a:lnTo>
                    <a:lnTo>
                      <a:pt x="119" y="143"/>
                    </a:lnTo>
                    <a:lnTo>
                      <a:pt x="120" y="133"/>
                    </a:lnTo>
                    <a:lnTo>
                      <a:pt x="121" y="124"/>
                    </a:lnTo>
                    <a:lnTo>
                      <a:pt x="120" y="124"/>
                    </a:lnTo>
                    <a:lnTo>
                      <a:pt x="121" y="114"/>
                    </a:lnTo>
                    <a:lnTo>
                      <a:pt x="121" y="103"/>
                    </a:lnTo>
                    <a:lnTo>
                      <a:pt x="122" y="92"/>
                    </a:lnTo>
                    <a:lnTo>
                      <a:pt x="122" y="82"/>
                    </a:lnTo>
                    <a:lnTo>
                      <a:pt x="123" y="75"/>
                    </a:lnTo>
                    <a:lnTo>
                      <a:pt x="125" y="65"/>
                    </a:lnTo>
                    <a:lnTo>
                      <a:pt x="127" y="58"/>
                    </a:lnTo>
                    <a:lnTo>
                      <a:pt x="128" y="50"/>
                    </a:lnTo>
                    <a:lnTo>
                      <a:pt x="131" y="44"/>
                    </a:lnTo>
                    <a:lnTo>
                      <a:pt x="133" y="36"/>
                    </a:lnTo>
                    <a:lnTo>
                      <a:pt x="136" y="26"/>
                    </a:lnTo>
                    <a:lnTo>
                      <a:pt x="139" y="16"/>
                    </a:lnTo>
                    <a:lnTo>
                      <a:pt x="140" y="7"/>
                    </a:lnTo>
                    <a:lnTo>
                      <a:pt x="143" y="0"/>
                    </a:lnTo>
                    <a:lnTo>
                      <a:pt x="144" y="6"/>
                    </a:lnTo>
                    <a:lnTo>
                      <a:pt x="143" y="12"/>
                    </a:lnTo>
                    <a:lnTo>
                      <a:pt x="142" y="21"/>
                    </a:lnTo>
                    <a:lnTo>
                      <a:pt x="140" y="28"/>
                    </a:lnTo>
                    <a:lnTo>
                      <a:pt x="138" y="40"/>
                    </a:lnTo>
                    <a:lnTo>
                      <a:pt x="137" y="47"/>
                    </a:lnTo>
                    <a:lnTo>
                      <a:pt x="136" y="53"/>
                    </a:lnTo>
                    <a:lnTo>
                      <a:pt x="135" y="62"/>
                    </a:lnTo>
                    <a:lnTo>
                      <a:pt x="134" y="72"/>
                    </a:lnTo>
                    <a:lnTo>
                      <a:pt x="134" y="83"/>
                    </a:lnTo>
                    <a:lnTo>
                      <a:pt x="133" y="94"/>
                    </a:lnTo>
                    <a:lnTo>
                      <a:pt x="132" y="106"/>
                    </a:lnTo>
                    <a:lnTo>
                      <a:pt x="132" y="116"/>
                    </a:lnTo>
                    <a:lnTo>
                      <a:pt x="132" y="126"/>
                    </a:lnTo>
                    <a:lnTo>
                      <a:pt x="131" y="134"/>
                    </a:lnTo>
                    <a:lnTo>
                      <a:pt x="131" y="145"/>
                    </a:lnTo>
                    <a:lnTo>
                      <a:pt x="130" y="155"/>
                    </a:lnTo>
                    <a:lnTo>
                      <a:pt x="128" y="168"/>
                    </a:lnTo>
                    <a:lnTo>
                      <a:pt x="127" y="178"/>
                    </a:lnTo>
                    <a:lnTo>
                      <a:pt x="125" y="190"/>
                    </a:lnTo>
                    <a:lnTo>
                      <a:pt x="130" y="187"/>
                    </a:lnTo>
                    <a:lnTo>
                      <a:pt x="136" y="183"/>
                    </a:lnTo>
                    <a:lnTo>
                      <a:pt x="143" y="178"/>
                    </a:lnTo>
                    <a:lnTo>
                      <a:pt x="149" y="176"/>
                    </a:lnTo>
                    <a:lnTo>
                      <a:pt x="156" y="176"/>
                    </a:lnTo>
                    <a:lnTo>
                      <a:pt x="160" y="176"/>
                    </a:lnTo>
                    <a:lnTo>
                      <a:pt x="166" y="177"/>
                    </a:lnTo>
                    <a:lnTo>
                      <a:pt x="173" y="178"/>
                    </a:lnTo>
                    <a:lnTo>
                      <a:pt x="182" y="179"/>
                    </a:lnTo>
                    <a:lnTo>
                      <a:pt x="190" y="178"/>
                    </a:lnTo>
                    <a:lnTo>
                      <a:pt x="198" y="178"/>
                    </a:lnTo>
                    <a:lnTo>
                      <a:pt x="205" y="178"/>
                    </a:lnTo>
                    <a:lnTo>
                      <a:pt x="211" y="179"/>
                    </a:lnTo>
                    <a:lnTo>
                      <a:pt x="217" y="182"/>
                    </a:lnTo>
                    <a:lnTo>
                      <a:pt x="225" y="185"/>
                    </a:lnTo>
                    <a:lnTo>
                      <a:pt x="231" y="189"/>
                    </a:lnTo>
                    <a:lnTo>
                      <a:pt x="236" y="193"/>
                    </a:lnTo>
                    <a:lnTo>
                      <a:pt x="242" y="199"/>
                    </a:lnTo>
                    <a:lnTo>
                      <a:pt x="245" y="202"/>
                    </a:lnTo>
                    <a:lnTo>
                      <a:pt x="251" y="210"/>
                    </a:lnTo>
                    <a:lnTo>
                      <a:pt x="255" y="218"/>
                    </a:lnTo>
                    <a:lnTo>
                      <a:pt x="260" y="227"/>
                    </a:lnTo>
                    <a:lnTo>
                      <a:pt x="254" y="227"/>
                    </a:lnTo>
                    <a:lnTo>
                      <a:pt x="248" y="226"/>
                    </a:lnTo>
                    <a:lnTo>
                      <a:pt x="241" y="224"/>
                    </a:lnTo>
                    <a:lnTo>
                      <a:pt x="235" y="224"/>
                    </a:lnTo>
                    <a:lnTo>
                      <a:pt x="231" y="222"/>
                    </a:lnTo>
                    <a:lnTo>
                      <a:pt x="224" y="218"/>
                    </a:lnTo>
                    <a:lnTo>
                      <a:pt x="218" y="216"/>
                    </a:lnTo>
                    <a:lnTo>
                      <a:pt x="213" y="213"/>
                    </a:lnTo>
                    <a:lnTo>
                      <a:pt x="209" y="212"/>
                    </a:lnTo>
                    <a:lnTo>
                      <a:pt x="200" y="211"/>
                    </a:lnTo>
                    <a:lnTo>
                      <a:pt x="190" y="210"/>
                    </a:lnTo>
                    <a:lnTo>
                      <a:pt x="182" y="208"/>
                    </a:lnTo>
                    <a:lnTo>
                      <a:pt x="173" y="206"/>
                    </a:lnTo>
                    <a:lnTo>
                      <a:pt x="165" y="205"/>
                    </a:lnTo>
                    <a:lnTo>
                      <a:pt x="159" y="204"/>
                    </a:lnTo>
                    <a:lnTo>
                      <a:pt x="154" y="204"/>
                    </a:lnTo>
                    <a:lnTo>
                      <a:pt x="148" y="203"/>
                    </a:lnTo>
                    <a:lnTo>
                      <a:pt x="142" y="204"/>
                    </a:lnTo>
                    <a:lnTo>
                      <a:pt x="137" y="205"/>
                    </a:lnTo>
                    <a:lnTo>
                      <a:pt x="132" y="208"/>
                    </a:lnTo>
                    <a:lnTo>
                      <a:pt x="125" y="210"/>
                    </a:lnTo>
                    <a:lnTo>
                      <a:pt x="130" y="213"/>
                    </a:lnTo>
                    <a:lnTo>
                      <a:pt x="136" y="217"/>
                    </a:lnTo>
                    <a:lnTo>
                      <a:pt x="141" y="222"/>
                    </a:lnTo>
                    <a:lnTo>
                      <a:pt x="147" y="224"/>
                    </a:lnTo>
                    <a:lnTo>
                      <a:pt x="154" y="227"/>
                    </a:lnTo>
                    <a:lnTo>
                      <a:pt x="160" y="229"/>
                    </a:lnTo>
                    <a:lnTo>
                      <a:pt x="166" y="229"/>
                    </a:lnTo>
                    <a:lnTo>
                      <a:pt x="173" y="231"/>
                    </a:lnTo>
                    <a:lnTo>
                      <a:pt x="182" y="233"/>
                    </a:lnTo>
                    <a:lnTo>
                      <a:pt x="189" y="235"/>
                    </a:lnTo>
                    <a:lnTo>
                      <a:pt x="197" y="235"/>
                    </a:lnTo>
                    <a:lnTo>
                      <a:pt x="203" y="237"/>
                    </a:lnTo>
                    <a:lnTo>
                      <a:pt x="210" y="239"/>
                    </a:lnTo>
                    <a:lnTo>
                      <a:pt x="217" y="240"/>
                    </a:lnTo>
                    <a:lnTo>
                      <a:pt x="222" y="243"/>
                    </a:lnTo>
                    <a:lnTo>
                      <a:pt x="227" y="247"/>
                    </a:lnTo>
                    <a:lnTo>
                      <a:pt x="232" y="252"/>
                    </a:lnTo>
                    <a:lnTo>
                      <a:pt x="238" y="257"/>
                    </a:lnTo>
                    <a:lnTo>
                      <a:pt x="243" y="264"/>
                    </a:lnTo>
                    <a:lnTo>
                      <a:pt x="245" y="268"/>
                    </a:lnTo>
                    <a:lnTo>
                      <a:pt x="248" y="275"/>
                    </a:lnTo>
                    <a:lnTo>
                      <a:pt x="250" y="283"/>
                    </a:lnTo>
                    <a:lnTo>
                      <a:pt x="253" y="291"/>
                    </a:lnTo>
                    <a:lnTo>
                      <a:pt x="256" y="297"/>
                    </a:lnTo>
                    <a:lnTo>
                      <a:pt x="250" y="293"/>
                    </a:lnTo>
                    <a:lnTo>
                      <a:pt x="243" y="289"/>
                    </a:lnTo>
                    <a:lnTo>
                      <a:pt x="238" y="286"/>
                    </a:lnTo>
                    <a:lnTo>
                      <a:pt x="231" y="281"/>
                    </a:lnTo>
                    <a:lnTo>
                      <a:pt x="224" y="277"/>
                    </a:lnTo>
                    <a:lnTo>
                      <a:pt x="218" y="273"/>
                    </a:lnTo>
                    <a:lnTo>
                      <a:pt x="211" y="269"/>
                    </a:lnTo>
                    <a:lnTo>
                      <a:pt x="204" y="264"/>
                    </a:lnTo>
                    <a:lnTo>
                      <a:pt x="198" y="260"/>
                    </a:lnTo>
                    <a:lnTo>
                      <a:pt x="191" y="256"/>
                    </a:lnTo>
                    <a:lnTo>
                      <a:pt x="186" y="252"/>
                    </a:lnTo>
                    <a:lnTo>
                      <a:pt x="179" y="248"/>
                    </a:lnTo>
                    <a:lnTo>
                      <a:pt x="173" y="245"/>
                    </a:lnTo>
                    <a:lnTo>
                      <a:pt x="166" y="241"/>
                    </a:lnTo>
                    <a:lnTo>
                      <a:pt x="160" y="238"/>
                    </a:lnTo>
                    <a:lnTo>
                      <a:pt x="155" y="237"/>
                    </a:lnTo>
                    <a:lnTo>
                      <a:pt x="150" y="234"/>
                    </a:lnTo>
                    <a:lnTo>
                      <a:pt x="144" y="231"/>
                    </a:lnTo>
                    <a:lnTo>
                      <a:pt x="140" y="229"/>
                    </a:lnTo>
                    <a:lnTo>
                      <a:pt x="136" y="230"/>
                    </a:lnTo>
                    <a:lnTo>
                      <a:pt x="131" y="231"/>
                    </a:lnTo>
                    <a:lnTo>
                      <a:pt x="128" y="231"/>
                    </a:lnTo>
                    <a:lnTo>
                      <a:pt x="123" y="229"/>
                    </a:lnTo>
                    <a:lnTo>
                      <a:pt x="123" y="237"/>
                    </a:lnTo>
                    <a:lnTo>
                      <a:pt x="121" y="246"/>
                    </a:lnTo>
                    <a:lnTo>
                      <a:pt x="124" y="254"/>
                    </a:lnTo>
                    <a:lnTo>
                      <a:pt x="127" y="263"/>
                    </a:lnTo>
                    <a:lnTo>
                      <a:pt x="130" y="271"/>
                    </a:lnTo>
                    <a:lnTo>
                      <a:pt x="132" y="280"/>
                    </a:lnTo>
                    <a:lnTo>
                      <a:pt x="135" y="290"/>
                    </a:lnTo>
                    <a:lnTo>
                      <a:pt x="138" y="302"/>
                    </a:lnTo>
                    <a:lnTo>
                      <a:pt x="139" y="311"/>
                    </a:lnTo>
                    <a:lnTo>
                      <a:pt x="142" y="321"/>
                    </a:lnTo>
                    <a:lnTo>
                      <a:pt x="143" y="330"/>
                    </a:lnTo>
                    <a:lnTo>
                      <a:pt x="145" y="342"/>
                    </a:lnTo>
                    <a:lnTo>
                      <a:pt x="148" y="355"/>
                    </a:lnTo>
                    <a:lnTo>
                      <a:pt x="150" y="373"/>
                    </a:lnTo>
                    <a:lnTo>
                      <a:pt x="130" y="373"/>
                    </a:lnTo>
                    <a:lnTo>
                      <a:pt x="128" y="357"/>
                    </a:lnTo>
                    <a:lnTo>
                      <a:pt x="127" y="346"/>
                    </a:lnTo>
                    <a:lnTo>
                      <a:pt x="124" y="332"/>
                    </a:lnTo>
                    <a:lnTo>
                      <a:pt x="122" y="319"/>
                    </a:lnTo>
                    <a:lnTo>
                      <a:pt x="120" y="308"/>
                    </a:lnTo>
                    <a:lnTo>
                      <a:pt x="118" y="298"/>
                    </a:lnTo>
                    <a:lnTo>
                      <a:pt x="116" y="290"/>
                    </a:lnTo>
                    <a:lnTo>
                      <a:pt x="113" y="279"/>
                    </a:lnTo>
                    <a:lnTo>
                      <a:pt x="109" y="269"/>
                    </a:lnTo>
                    <a:lnTo>
                      <a:pt x="107" y="260"/>
                    </a:lnTo>
                    <a:lnTo>
                      <a:pt x="104" y="258"/>
                    </a:lnTo>
                    <a:lnTo>
                      <a:pt x="101" y="256"/>
                    </a:lnTo>
                    <a:lnTo>
                      <a:pt x="98" y="254"/>
                    </a:lnTo>
                    <a:lnTo>
                      <a:pt x="96" y="255"/>
                    </a:lnTo>
                    <a:lnTo>
                      <a:pt x="93" y="260"/>
                    </a:lnTo>
                    <a:lnTo>
                      <a:pt x="87" y="268"/>
                    </a:lnTo>
                    <a:lnTo>
                      <a:pt x="83" y="274"/>
                    </a:lnTo>
                    <a:lnTo>
                      <a:pt x="79" y="280"/>
                    </a:lnTo>
                    <a:lnTo>
                      <a:pt x="76" y="288"/>
                    </a:lnTo>
                    <a:lnTo>
                      <a:pt x="72" y="293"/>
                    </a:lnTo>
                    <a:lnTo>
                      <a:pt x="68" y="301"/>
                    </a:lnTo>
                    <a:lnTo>
                      <a:pt x="64" y="309"/>
                    </a:lnTo>
                    <a:lnTo>
                      <a:pt x="61" y="318"/>
                    </a:lnTo>
                    <a:lnTo>
                      <a:pt x="57" y="327"/>
                    </a:lnTo>
                    <a:lnTo>
                      <a:pt x="53" y="337"/>
                    </a:lnTo>
                    <a:lnTo>
                      <a:pt x="49" y="348"/>
                    </a:lnTo>
                    <a:lnTo>
                      <a:pt x="44" y="360"/>
                    </a:lnTo>
                    <a:lnTo>
                      <a:pt x="46" y="346"/>
                    </a:lnTo>
                    <a:lnTo>
                      <a:pt x="47" y="336"/>
                    </a:lnTo>
                    <a:lnTo>
                      <a:pt x="48" y="325"/>
                    </a:lnTo>
                    <a:lnTo>
                      <a:pt x="50" y="319"/>
                    </a:lnTo>
                    <a:lnTo>
                      <a:pt x="51" y="314"/>
                    </a:lnTo>
                    <a:lnTo>
                      <a:pt x="54" y="305"/>
                    </a:lnTo>
                    <a:lnTo>
                      <a:pt x="57" y="295"/>
                    </a:lnTo>
                    <a:lnTo>
                      <a:pt x="59" y="288"/>
                    </a:lnTo>
                    <a:lnTo>
                      <a:pt x="64" y="280"/>
                    </a:lnTo>
                    <a:lnTo>
                      <a:pt x="69" y="272"/>
                    </a:lnTo>
                    <a:lnTo>
                      <a:pt x="73" y="263"/>
                    </a:lnTo>
                    <a:lnTo>
                      <a:pt x="78" y="254"/>
                    </a:lnTo>
                    <a:lnTo>
                      <a:pt x="81" y="249"/>
                    </a:lnTo>
                    <a:lnTo>
                      <a:pt x="86" y="244"/>
                    </a:lnTo>
                    <a:lnTo>
                      <a:pt x="91" y="238"/>
                    </a:lnTo>
                    <a:lnTo>
                      <a:pt x="95" y="232"/>
                    </a:lnTo>
                    <a:lnTo>
                      <a:pt x="100" y="226"/>
                    </a:lnTo>
                    <a:lnTo>
                      <a:pt x="105" y="218"/>
                    </a:lnTo>
                    <a:lnTo>
                      <a:pt x="103" y="216"/>
                    </a:lnTo>
                    <a:lnTo>
                      <a:pt x="99" y="212"/>
                    </a:lnTo>
                    <a:lnTo>
                      <a:pt x="96" y="210"/>
                    </a:lnTo>
                    <a:lnTo>
                      <a:pt x="93" y="211"/>
                    </a:lnTo>
                    <a:lnTo>
                      <a:pt x="87" y="216"/>
                    </a:lnTo>
                    <a:lnTo>
                      <a:pt x="82" y="221"/>
                    </a:lnTo>
                    <a:lnTo>
                      <a:pt x="77" y="226"/>
                    </a:lnTo>
                    <a:lnTo>
                      <a:pt x="72" y="232"/>
                    </a:lnTo>
                    <a:lnTo>
                      <a:pt x="67" y="241"/>
                    </a:lnTo>
                    <a:lnTo>
                      <a:pt x="61" y="249"/>
                    </a:lnTo>
                    <a:lnTo>
                      <a:pt x="56" y="255"/>
                    </a:lnTo>
                    <a:lnTo>
                      <a:pt x="52" y="261"/>
                    </a:lnTo>
                    <a:lnTo>
                      <a:pt x="47" y="268"/>
                    </a:lnTo>
                    <a:lnTo>
                      <a:pt x="42" y="276"/>
                    </a:lnTo>
                    <a:lnTo>
                      <a:pt x="38" y="284"/>
                    </a:lnTo>
                    <a:lnTo>
                      <a:pt x="33" y="293"/>
                    </a:lnTo>
                    <a:lnTo>
                      <a:pt x="28" y="301"/>
                    </a:lnTo>
                    <a:lnTo>
                      <a:pt x="24" y="310"/>
                    </a:lnTo>
                    <a:lnTo>
                      <a:pt x="18" y="321"/>
                    </a:lnTo>
                    <a:lnTo>
                      <a:pt x="21" y="307"/>
                    </a:lnTo>
                    <a:lnTo>
                      <a:pt x="22" y="297"/>
                    </a:lnTo>
                    <a:lnTo>
                      <a:pt x="24" y="288"/>
                    </a:lnTo>
                    <a:lnTo>
                      <a:pt x="25" y="286"/>
                    </a:lnTo>
                    <a:lnTo>
                      <a:pt x="28" y="281"/>
                    </a:lnTo>
                    <a:lnTo>
                      <a:pt x="32" y="275"/>
                    </a:lnTo>
                    <a:lnTo>
                      <a:pt x="37" y="269"/>
                    </a:lnTo>
                    <a:lnTo>
                      <a:pt x="42" y="262"/>
                    </a:lnTo>
                    <a:lnTo>
                      <a:pt x="47" y="256"/>
                    </a:lnTo>
                    <a:lnTo>
                      <a:pt x="54" y="248"/>
                    </a:lnTo>
                    <a:lnTo>
                      <a:pt x="58" y="243"/>
                    </a:lnTo>
                    <a:lnTo>
                      <a:pt x="64" y="236"/>
                    </a:lnTo>
                    <a:lnTo>
                      <a:pt x="71" y="229"/>
                    </a:lnTo>
                    <a:lnTo>
                      <a:pt x="77" y="224"/>
                    </a:lnTo>
                    <a:lnTo>
                      <a:pt x="83" y="218"/>
                    </a:lnTo>
                    <a:lnTo>
                      <a:pt x="93" y="210"/>
                    </a:lnTo>
                    <a:lnTo>
                      <a:pt x="98" y="208"/>
                    </a:lnTo>
                    <a:lnTo>
                      <a:pt x="101" y="206"/>
                    </a:lnTo>
                    <a:lnTo>
                      <a:pt x="95" y="202"/>
                    </a:lnTo>
                    <a:lnTo>
                      <a:pt x="90" y="196"/>
                    </a:lnTo>
                    <a:lnTo>
                      <a:pt x="84" y="190"/>
                    </a:lnTo>
                    <a:lnTo>
                      <a:pt x="79" y="185"/>
                    </a:lnTo>
                    <a:lnTo>
                      <a:pt x="73" y="180"/>
                    </a:lnTo>
                    <a:lnTo>
                      <a:pt x="69" y="176"/>
                    </a:lnTo>
                    <a:lnTo>
                      <a:pt x="65" y="170"/>
                    </a:lnTo>
                    <a:lnTo>
                      <a:pt x="58" y="163"/>
                    </a:lnTo>
                    <a:lnTo>
                      <a:pt x="52" y="156"/>
                    </a:lnTo>
                    <a:lnTo>
                      <a:pt x="46" y="148"/>
                    </a:lnTo>
                    <a:lnTo>
                      <a:pt x="39" y="141"/>
                    </a:lnTo>
                    <a:lnTo>
                      <a:pt x="33" y="136"/>
                    </a:lnTo>
                    <a:lnTo>
                      <a:pt x="26" y="129"/>
                    </a:lnTo>
                    <a:lnTo>
                      <a:pt x="22" y="125"/>
                    </a:lnTo>
                    <a:lnTo>
                      <a:pt x="17" y="118"/>
                    </a:lnTo>
                    <a:lnTo>
                      <a:pt x="14" y="112"/>
                    </a:lnTo>
                    <a:lnTo>
                      <a:pt x="10" y="108"/>
                    </a:lnTo>
                    <a:lnTo>
                      <a:pt x="4" y="102"/>
                    </a:lnTo>
                    <a:lnTo>
                      <a:pt x="0" y="98"/>
                    </a:lnTo>
                    <a:lnTo>
                      <a:pt x="3" y="98"/>
                    </a:lnTo>
                    <a:lnTo>
                      <a:pt x="9" y="100"/>
                    </a:lnTo>
                    <a:lnTo>
                      <a:pt x="14" y="101"/>
                    </a:lnTo>
                    <a:lnTo>
                      <a:pt x="20" y="104"/>
                    </a:lnTo>
                    <a:lnTo>
                      <a:pt x="25" y="109"/>
                    </a:lnTo>
                    <a:lnTo>
                      <a:pt x="32" y="115"/>
                    </a:lnTo>
                    <a:lnTo>
                      <a:pt x="38" y="120"/>
                    </a:lnTo>
                    <a:lnTo>
                      <a:pt x="45" y="125"/>
                    </a:lnTo>
                    <a:lnTo>
                      <a:pt x="51" y="132"/>
                    </a:lnTo>
                    <a:lnTo>
                      <a:pt x="58" y="139"/>
                    </a:lnTo>
                    <a:lnTo>
                      <a:pt x="64" y="145"/>
                    </a:lnTo>
                  </a:path>
                </a:pathLst>
              </a:custGeom>
              <a:solidFill>
                <a:srgbClr val="037C03">
                  <a:alpha val="50195"/>
                </a:srgbClr>
              </a:solidFill>
              <a:ln w="9525">
                <a:noFill/>
              </a:ln>
            </p:spPr>
            <p:txBody>
              <a:bodyPr/>
              <a:lstStyle/>
              <a:p>
                <a:endParaRPr lang="zh-CN" altLang="en-US"/>
              </a:p>
            </p:txBody>
          </p:sp>
        </p:grpSp>
        <p:grpSp>
          <p:nvGrpSpPr>
            <p:cNvPr id="89302" name="Group 16"/>
            <p:cNvGrpSpPr/>
            <p:nvPr/>
          </p:nvGrpSpPr>
          <p:grpSpPr>
            <a:xfrm>
              <a:off x="300" y="3360"/>
              <a:ext cx="508" cy="820"/>
              <a:chOff x="1985" y="1201"/>
              <a:chExt cx="508" cy="820"/>
            </a:xfrm>
          </p:grpSpPr>
          <p:grpSp>
            <p:nvGrpSpPr>
              <p:cNvPr id="89303" name="Group 17"/>
              <p:cNvGrpSpPr/>
              <p:nvPr/>
            </p:nvGrpSpPr>
            <p:grpSpPr>
              <a:xfrm>
                <a:off x="2247" y="1201"/>
                <a:ext cx="246" cy="810"/>
                <a:chOff x="2247" y="1201"/>
                <a:chExt cx="246" cy="810"/>
              </a:xfrm>
            </p:grpSpPr>
            <p:sp>
              <p:nvSpPr>
                <p:cNvPr id="89312" name="Freeform 18"/>
                <p:cNvSpPr/>
                <p:nvPr/>
              </p:nvSpPr>
              <p:spPr>
                <a:xfrm>
                  <a:off x="2392" y="1373"/>
                  <a:ext cx="92" cy="638"/>
                </a:xfrm>
                <a:custGeom>
                  <a:avLst/>
                  <a:gdLst>
                    <a:gd name="txL" fmla="*/ 0 w 92"/>
                    <a:gd name="txT" fmla="*/ 0 h 638"/>
                    <a:gd name="txR" fmla="*/ 92 w 92"/>
                    <a:gd name="txB" fmla="*/ 638 h 638"/>
                  </a:gdLst>
                  <a:ahLst/>
                  <a:cxnLst>
                    <a:cxn ang="0">
                      <a:pos x="91" y="296"/>
                    </a:cxn>
                    <a:cxn ang="0">
                      <a:pos x="83" y="425"/>
                    </a:cxn>
                    <a:cxn ang="0">
                      <a:pos x="75" y="529"/>
                    </a:cxn>
                    <a:cxn ang="0">
                      <a:pos x="70" y="606"/>
                    </a:cxn>
                    <a:cxn ang="0">
                      <a:pos x="71" y="637"/>
                    </a:cxn>
                    <a:cxn ang="0">
                      <a:pos x="60" y="637"/>
                    </a:cxn>
                    <a:cxn ang="0">
                      <a:pos x="57" y="592"/>
                    </a:cxn>
                    <a:cxn ang="0">
                      <a:pos x="55" y="524"/>
                    </a:cxn>
                    <a:cxn ang="0">
                      <a:pos x="51" y="461"/>
                    </a:cxn>
                    <a:cxn ang="0">
                      <a:pos x="49" y="414"/>
                    </a:cxn>
                    <a:cxn ang="0">
                      <a:pos x="45" y="345"/>
                    </a:cxn>
                    <a:cxn ang="0">
                      <a:pos x="40" y="285"/>
                    </a:cxn>
                    <a:cxn ang="0">
                      <a:pos x="35" y="233"/>
                    </a:cxn>
                    <a:cxn ang="0">
                      <a:pos x="31" y="177"/>
                    </a:cxn>
                    <a:cxn ang="0">
                      <a:pos x="24" y="121"/>
                    </a:cxn>
                    <a:cxn ang="0">
                      <a:pos x="17" y="74"/>
                    </a:cxn>
                    <a:cxn ang="0">
                      <a:pos x="4" y="28"/>
                    </a:cxn>
                    <a:cxn ang="0">
                      <a:pos x="0" y="10"/>
                    </a:cxn>
                    <a:cxn ang="0">
                      <a:pos x="5" y="0"/>
                    </a:cxn>
                    <a:cxn ang="0">
                      <a:pos x="13" y="18"/>
                    </a:cxn>
                    <a:cxn ang="0">
                      <a:pos x="24" y="61"/>
                    </a:cxn>
                    <a:cxn ang="0">
                      <a:pos x="33" y="104"/>
                    </a:cxn>
                    <a:cxn ang="0">
                      <a:pos x="40" y="150"/>
                    </a:cxn>
                    <a:cxn ang="0">
                      <a:pos x="44" y="208"/>
                    </a:cxn>
                    <a:cxn ang="0">
                      <a:pos x="48" y="263"/>
                    </a:cxn>
                    <a:cxn ang="0">
                      <a:pos x="55" y="337"/>
                    </a:cxn>
                    <a:cxn ang="0">
                      <a:pos x="59" y="398"/>
                    </a:cxn>
                    <a:cxn ang="0">
                      <a:pos x="61" y="447"/>
                    </a:cxn>
                    <a:cxn ang="0">
                      <a:pos x="63" y="498"/>
                    </a:cxn>
                    <a:cxn ang="0">
                      <a:pos x="68" y="550"/>
                    </a:cxn>
                    <a:cxn ang="0">
                      <a:pos x="73" y="460"/>
                    </a:cxn>
                    <a:cxn ang="0">
                      <a:pos x="80" y="376"/>
                    </a:cxn>
                    <a:cxn ang="0">
                      <a:pos x="91" y="296"/>
                    </a:cxn>
                  </a:cxnLst>
                  <a:rect l="txL" t="txT" r="txR" b="txB"/>
                  <a:pathLst>
                    <a:path w="92" h="638">
                      <a:moveTo>
                        <a:pt x="91" y="296"/>
                      </a:moveTo>
                      <a:lnTo>
                        <a:pt x="83" y="425"/>
                      </a:lnTo>
                      <a:lnTo>
                        <a:pt x="75" y="529"/>
                      </a:lnTo>
                      <a:lnTo>
                        <a:pt x="70" y="606"/>
                      </a:lnTo>
                      <a:lnTo>
                        <a:pt x="71" y="637"/>
                      </a:lnTo>
                      <a:lnTo>
                        <a:pt x="60" y="637"/>
                      </a:lnTo>
                      <a:lnTo>
                        <a:pt x="57" y="592"/>
                      </a:lnTo>
                      <a:lnTo>
                        <a:pt x="55" y="524"/>
                      </a:lnTo>
                      <a:lnTo>
                        <a:pt x="51" y="461"/>
                      </a:lnTo>
                      <a:lnTo>
                        <a:pt x="49" y="414"/>
                      </a:lnTo>
                      <a:lnTo>
                        <a:pt x="45" y="345"/>
                      </a:lnTo>
                      <a:lnTo>
                        <a:pt x="40" y="285"/>
                      </a:lnTo>
                      <a:lnTo>
                        <a:pt x="35" y="233"/>
                      </a:lnTo>
                      <a:lnTo>
                        <a:pt x="31" y="177"/>
                      </a:lnTo>
                      <a:lnTo>
                        <a:pt x="24" y="121"/>
                      </a:lnTo>
                      <a:lnTo>
                        <a:pt x="17" y="74"/>
                      </a:lnTo>
                      <a:lnTo>
                        <a:pt x="4" y="28"/>
                      </a:lnTo>
                      <a:lnTo>
                        <a:pt x="0" y="10"/>
                      </a:lnTo>
                      <a:lnTo>
                        <a:pt x="5" y="0"/>
                      </a:lnTo>
                      <a:lnTo>
                        <a:pt x="13" y="18"/>
                      </a:lnTo>
                      <a:lnTo>
                        <a:pt x="24" y="61"/>
                      </a:lnTo>
                      <a:lnTo>
                        <a:pt x="33" y="104"/>
                      </a:lnTo>
                      <a:lnTo>
                        <a:pt x="40" y="150"/>
                      </a:lnTo>
                      <a:lnTo>
                        <a:pt x="44" y="208"/>
                      </a:lnTo>
                      <a:lnTo>
                        <a:pt x="48" y="263"/>
                      </a:lnTo>
                      <a:lnTo>
                        <a:pt x="55" y="337"/>
                      </a:lnTo>
                      <a:lnTo>
                        <a:pt x="59" y="398"/>
                      </a:lnTo>
                      <a:lnTo>
                        <a:pt x="61" y="447"/>
                      </a:lnTo>
                      <a:lnTo>
                        <a:pt x="63" y="498"/>
                      </a:lnTo>
                      <a:lnTo>
                        <a:pt x="68" y="550"/>
                      </a:lnTo>
                      <a:lnTo>
                        <a:pt x="73" y="460"/>
                      </a:lnTo>
                      <a:lnTo>
                        <a:pt x="80" y="376"/>
                      </a:lnTo>
                      <a:lnTo>
                        <a:pt x="91" y="296"/>
                      </a:lnTo>
                    </a:path>
                  </a:pathLst>
                </a:custGeom>
                <a:solidFill>
                  <a:srgbClr val="3C0023">
                    <a:alpha val="50195"/>
                  </a:srgbClr>
                </a:solidFill>
                <a:ln w="9525">
                  <a:noFill/>
                </a:ln>
              </p:spPr>
              <p:txBody>
                <a:bodyPr/>
                <a:lstStyle/>
                <a:p>
                  <a:endParaRPr lang="zh-CN" altLang="en-US"/>
                </a:p>
              </p:txBody>
            </p:sp>
            <p:sp>
              <p:nvSpPr>
                <p:cNvPr id="89313" name="Freeform 19"/>
                <p:cNvSpPr/>
                <p:nvPr/>
              </p:nvSpPr>
              <p:spPr>
                <a:xfrm>
                  <a:off x="2247" y="1201"/>
                  <a:ext cx="246" cy="466"/>
                </a:xfrm>
                <a:custGeom>
                  <a:avLst/>
                  <a:gdLst>
                    <a:gd name="txL" fmla="*/ 0 w 246"/>
                    <a:gd name="txT" fmla="*/ 0 h 466"/>
                    <a:gd name="txR" fmla="*/ 246 w 246"/>
                    <a:gd name="txB" fmla="*/ 466 h 466"/>
                  </a:gdLst>
                  <a:ahLst/>
                  <a:cxnLst>
                    <a:cxn ang="0">
                      <a:pos x="136" y="67"/>
                    </a:cxn>
                    <a:cxn ang="0">
                      <a:pos x="105" y="12"/>
                    </a:cxn>
                    <a:cxn ang="0">
                      <a:pos x="55" y="1"/>
                    </a:cxn>
                    <a:cxn ang="0">
                      <a:pos x="58" y="12"/>
                    </a:cxn>
                    <a:cxn ang="0">
                      <a:pos x="96" y="39"/>
                    </a:cxn>
                    <a:cxn ang="0">
                      <a:pos x="130" y="134"/>
                    </a:cxn>
                    <a:cxn ang="0">
                      <a:pos x="73" y="85"/>
                    </a:cxn>
                    <a:cxn ang="0">
                      <a:pos x="32" y="75"/>
                    </a:cxn>
                    <a:cxn ang="0">
                      <a:pos x="7" y="103"/>
                    </a:cxn>
                    <a:cxn ang="0">
                      <a:pos x="38" y="103"/>
                    </a:cxn>
                    <a:cxn ang="0">
                      <a:pos x="108" y="129"/>
                    </a:cxn>
                    <a:cxn ang="0">
                      <a:pos x="104" y="146"/>
                    </a:cxn>
                    <a:cxn ang="0">
                      <a:pos x="92" y="171"/>
                    </a:cxn>
                    <a:cxn ang="0">
                      <a:pos x="126" y="170"/>
                    </a:cxn>
                    <a:cxn ang="0">
                      <a:pos x="69" y="193"/>
                    </a:cxn>
                    <a:cxn ang="0">
                      <a:pos x="37" y="233"/>
                    </a:cxn>
                    <a:cxn ang="0">
                      <a:pos x="6" y="325"/>
                    </a:cxn>
                    <a:cxn ang="0">
                      <a:pos x="72" y="231"/>
                    </a:cxn>
                    <a:cxn ang="0">
                      <a:pos x="118" y="194"/>
                    </a:cxn>
                    <a:cxn ang="0">
                      <a:pos x="94" y="269"/>
                    </a:cxn>
                    <a:cxn ang="0">
                      <a:pos x="76" y="338"/>
                    </a:cxn>
                    <a:cxn ang="0">
                      <a:pos x="71" y="408"/>
                    </a:cxn>
                    <a:cxn ang="0">
                      <a:pos x="98" y="303"/>
                    </a:cxn>
                    <a:cxn ang="0">
                      <a:pos x="124" y="236"/>
                    </a:cxn>
                    <a:cxn ang="0">
                      <a:pos x="125" y="214"/>
                    </a:cxn>
                    <a:cxn ang="0">
                      <a:pos x="118" y="323"/>
                    </a:cxn>
                    <a:cxn ang="0">
                      <a:pos x="138" y="439"/>
                    </a:cxn>
                    <a:cxn ang="0">
                      <a:pos x="128" y="313"/>
                    </a:cxn>
                    <a:cxn ang="0">
                      <a:pos x="127" y="223"/>
                    </a:cxn>
                    <a:cxn ang="0">
                      <a:pos x="147" y="189"/>
                    </a:cxn>
                    <a:cxn ang="0">
                      <a:pos x="188" y="298"/>
                    </a:cxn>
                    <a:cxn ang="0">
                      <a:pos x="223" y="411"/>
                    </a:cxn>
                    <a:cxn ang="0">
                      <a:pos x="193" y="292"/>
                    </a:cxn>
                    <a:cxn ang="0">
                      <a:pos x="160" y="190"/>
                    </a:cxn>
                    <a:cxn ang="0">
                      <a:pos x="164" y="121"/>
                    </a:cxn>
                    <a:cxn ang="0">
                      <a:pos x="194" y="130"/>
                    </a:cxn>
                    <a:cxn ang="0">
                      <a:pos x="240" y="125"/>
                    </a:cxn>
                    <a:cxn ang="0">
                      <a:pos x="216" y="122"/>
                    </a:cxn>
                    <a:cxn ang="0">
                      <a:pos x="163" y="144"/>
                    </a:cxn>
                    <a:cxn ang="0">
                      <a:pos x="194" y="109"/>
                    </a:cxn>
                    <a:cxn ang="0">
                      <a:pos x="244" y="101"/>
                    </a:cxn>
                    <a:cxn ang="0">
                      <a:pos x="229" y="88"/>
                    </a:cxn>
                    <a:cxn ang="0">
                      <a:pos x="163" y="138"/>
                    </a:cxn>
                    <a:cxn ang="0">
                      <a:pos x="172" y="99"/>
                    </a:cxn>
                    <a:cxn ang="0">
                      <a:pos x="226" y="61"/>
                    </a:cxn>
                    <a:cxn ang="0">
                      <a:pos x="188" y="82"/>
                    </a:cxn>
                    <a:cxn ang="0">
                      <a:pos x="147" y="109"/>
                    </a:cxn>
                  </a:cxnLst>
                  <a:rect l="txL" t="txT" r="txR" b="txB"/>
                  <a:pathLst>
                    <a:path w="246" h="466">
                      <a:moveTo>
                        <a:pt x="147" y="109"/>
                      </a:moveTo>
                      <a:lnTo>
                        <a:pt x="143" y="88"/>
                      </a:lnTo>
                      <a:lnTo>
                        <a:pt x="136" y="67"/>
                      </a:lnTo>
                      <a:lnTo>
                        <a:pt x="127" y="44"/>
                      </a:lnTo>
                      <a:lnTo>
                        <a:pt x="117" y="27"/>
                      </a:lnTo>
                      <a:lnTo>
                        <a:pt x="105" y="12"/>
                      </a:lnTo>
                      <a:lnTo>
                        <a:pt x="89" y="5"/>
                      </a:lnTo>
                      <a:lnTo>
                        <a:pt x="69" y="0"/>
                      </a:lnTo>
                      <a:lnTo>
                        <a:pt x="55" y="1"/>
                      </a:lnTo>
                      <a:lnTo>
                        <a:pt x="39" y="0"/>
                      </a:lnTo>
                      <a:lnTo>
                        <a:pt x="49" y="11"/>
                      </a:lnTo>
                      <a:lnTo>
                        <a:pt x="58" y="12"/>
                      </a:lnTo>
                      <a:lnTo>
                        <a:pt x="69" y="19"/>
                      </a:lnTo>
                      <a:lnTo>
                        <a:pt x="80" y="25"/>
                      </a:lnTo>
                      <a:lnTo>
                        <a:pt x="96" y="39"/>
                      </a:lnTo>
                      <a:lnTo>
                        <a:pt x="109" y="58"/>
                      </a:lnTo>
                      <a:lnTo>
                        <a:pt x="118" y="82"/>
                      </a:lnTo>
                      <a:lnTo>
                        <a:pt x="130" y="134"/>
                      </a:lnTo>
                      <a:lnTo>
                        <a:pt x="96" y="99"/>
                      </a:lnTo>
                      <a:lnTo>
                        <a:pt x="85" y="91"/>
                      </a:lnTo>
                      <a:lnTo>
                        <a:pt x="73" y="85"/>
                      </a:lnTo>
                      <a:lnTo>
                        <a:pt x="61" y="83"/>
                      </a:lnTo>
                      <a:lnTo>
                        <a:pt x="54" y="80"/>
                      </a:lnTo>
                      <a:lnTo>
                        <a:pt x="32" y="75"/>
                      </a:lnTo>
                      <a:lnTo>
                        <a:pt x="0" y="72"/>
                      </a:lnTo>
                      <a:lnTo>
                        <a:pt x="0" y="103"/>
                      </a:lnTo>
                      <a:lnTo>
                        <a:pt x="7" y="103"/>
                      </a:lnTo>
                      <a:lnTo>
                        <a:pt x="17" y="104"/>
                      </a:lnTo>
                      <a:lnTo>
                        <a:pt x="29" y="103"/>
                      </a:lnTo>
                      <a:lnTo>
                        <a:pt x="38" y="103"/>
                      </a:lnTo>
                      <a:lnTo>
                        <a:pt x="62" y="107"/>
                      </a:lnTo>
                      <a:lnTo>
                        <a:pt x="72" y="111"/>
                      </a:lnTo>
                      <a:lnTo>
                        <a:pt x="108" y="129"/>
                      </a:lnTo>
                      <a:lnTo>
                        <a:pt x="127" y="144"/>
                      </a:lnTo>
                      <a:lnTo>
                        <a:pt x="113" y="146"/>
                      </a:lnTo>
                      <a:lnTo>
                        <a:pt x="104" y="146"/>
                      </a:lnTo>
                      <a:lnTo>
                        <a:pt x="89" y="161"/>
                      </a:lnTo>
                      <a:lnTo>
                        <a:pt x="82" y="183"/>
                      </a:lnTo>
                      <a:lnTo>
                        <a:pt x="92" y="171"/>
                      </a:lnTo>
                      <a:lnTo>
                        <a:pt x="120" y="155"/>
                      </a:lnTo>
                      <a:lnTo>
                        <a:pt x="137" y="162"/>
                      </a:lnTo>
                      <a:lnTo>
                        <a:pt x="126" y="170"/>
                      </a:lnTo>
                      <a:lnTo>
                        <a:pt x="113" y="171"/>
                      </a:lnTo>
                      <a:lnTo>
                        <a:pt x="79" y="189"/>
                      </a:lnTo>
                      <a:lnTo>
                        <a:pt x="69" y="193"/>
                      </a:lnTo>
                      <a:lnTo>
                        <a:pt x="57" y="199"/>
                      </a:lnTo>
                      <a:lnTo>
                        <a:pt x="48" y="209"/>
                      </a:lnTo>
                      <a:lnTo>
                        <a:pt x="37" y="233"/>
                      </a:lnTo>
                      <a:lnTo>
                        <a:pt x="31" y="251"/>
                      </a:lnTo>
                      <a:lnTo>
                        <a:pt x="13" y="310"/>
                      </a:lnTo>
                      <a:lnTo>
                        <a:pt x="6" y="325"/>
                      </a:lnTo>
                      <a:lnTo>
                        <a:pt x="36" y="281"/>
                      </a:lnTo>
                      <a:lnTo>
                        <a:pt x="50" y="265"/>
                      </a:lnTo>
                      <a:lnTo>
                        <a:pt x="72" y="231"/>
                      </a:lnTo>
                      <a:lnTo>
                        <a:pt x="83" y="218"/>
                      </a:lnTo>
                      <a:lnTo>
                        <a:pt x="92" y="209"/>
                      </a:lnTo>
                      <a:lnTo>
                        <a:pt x="118" y="194"/>
                      </a:lnTo>
                      <a:lnTo>
                        <a:pt x="132" y="181"/>
                      </a:lnTo>
                      <a:lnTo>
                        <a:pt x="121" y="195"/>
                      </a:lnTo>
                      <a:lnTo>
                        <a:pt x="94" y="269"/>
                      </a:lnTo>
                      <a:lnTo>
                        <a:pt x="84" y="302"/>
                      </a:lnTo>
                      <a:lnTo>
                        <a:pt x="79" y="320"/>
                      </a:lnTo>
                      <a:lnTo>
                        <a:pt x="76" y="338"/>
                      </a:lnTo>
                      <a:lnTo>
                        <a:pt x="75" y="359"/>
                      </a:lnTo>
                      <a:lnTo>
                        <a:pt x="74" y="375"/>
                      </a:lnTo>
                      <a:lnTo>
                        <a:pt x="71" y="408"/>
                      </a:lnTo>
                      <a:lnTo>
                        <a:pt x="84" y="375"/>
                      </a:lnTo>
                      <a:lnTo>
                        <a:pt x="92" y="330"/>
                      </a:lnTo>
                      <a:lnTo>
                        <a:pt x="98" y="303"/>
                      </a:lnTo>
                      <a:lnTo>
                        <a:pt x="104" y="286"/>
                      </a:lnTo>
                      <a:lnTo>
                        <a:pt x="118" y="252"/>
                      </a:lnTo>
                      <a:lnTo>
                        <a:pt x="124" y="236"/>
                      </a:lnTo>
                      <a:lnTo>
                        <a:pt x="128" y="216"/>
                      </a:lnTo>
                      <a:lnTo>
                        <a:pt x="137" y="188"/>
                      </a:lnTo>
                      <a:lnTo>
                        <a:pt x="125" y="214"/>
                      </a:lnTo>
                      <a:lnTo>
                        <a:pt x="119" y="243"/>
                      </a:lnTo>
                      <a:lnTo>
                        <a:pt x="117" y="302"/>
                      </a:lnTo>
                      <a:lnTo>
                        <a:pt x="118" y="323"/>
                      </a:lnTo>
                      <a:lnTo>
                        <a:pt x="120" y="362"/>
                      </a:lnTo>
                      <a:lnTo>
                        <a:pt x="123" y="377"/>
                      </a:lnTo>
                      <a:lnTo>
                        <a:pt x="138" y="439"/>
                      </a:lnTo>
                      <a:lnTo>
                        <a:pt x="141" y="465"/>
                      </a:lnTo>
                      <a:lnTo>
                        <a:pt x="137" y="379"/>
                      </a:lnTo>
                      <a:lnTo>
                        <a:pt x="128" y="313"/>
                      </a:lnTo>
                      <a:lnTo>
                        <a:pt x="126" y="291"/>
                      </a:lnTo>
                      <a:lnTo>
                        <a:pt x="125" y="238"/>
                      </a:lnTo>
                      <a:lnTo>
                        <a:pt x="127" y="223"/>
                      </a:lnTo>
                      <a:lnTo>
                        <a:pt x="133" y="196"/>
                      </a:lnTo>
                      <a:lnTo>
                        <a:pt x="138" y="179"/>
                      </a:lnTo>
                      <a:lnTo>
                        <a:pt x="147" y="189"/>
                      </a:lnTo>
                      <a:lnTo>
                        <a:pt x="161" y="212"/>
                      </a:lnTo>
                      <a:lnTo>
                        <a:pt x="177" y="259"/>
                      </a:lnTo>
                      <a:lnTo>
                        <a:pt x="188" y="298"/>
                      </a:lnTo>
                      <a:lnTo>
                        <a:pt x="197" y="333"/>
                      </a:lnTo>
                      <a:lnTo>
                        <a:pt x="213" y="384"/>
                      </a:lnTo>
                      <a:lnTo>
                        <a:pt x="223" y="411"/>
                      </a:lnTo>
                      <a:lnTo>
                        <a:pt x="232" y="429"/>
                      </a:lnTo>
                      <a:lnTo>
                        <a:pt x="228" y="403"/>
                      </a:lnTo>
                      <a:lnTo>
                        <a:pt x="193" y="292"/>
                      </a:lnTo>
                      <a:lnTo>
                        <a:pt x="171" y="232"/>
                      </a:lnTo>
                      <a:lnTo>
                        <a:pt x="165" y="210"/>
                      </a:lnTo>
                      <a:lnTo>
                        <a:pt x="160" y="190"/>
                      </a:lnTo>
                      <a:lnTo>
                        <a:pt x="144" y="150"/>
                      </a:lnTo>
                      <a:lnTo>
                        <a:pt x="147" y="132"/>
                      </a:lnTo>
                      <a:lnTo>
                        <a:pt x="164" y="121"/>
                      </a:lnTo>
                      <a:lnTo>
                        <a:pt x="172" y="125"/>
                      </a:lnTo>
                      <a:lnTo>
                        <a:pt x="183" y="126"/>
                      </a:lnTo>
                      <a:lnTo>
                        <a:pt x="194" y="130"/>
                      </a:lnTo>
                      <a:lnTo>
                        <a:pt x="239" y="136"/>
                      </a:lnTo>
                      <a:lnTo>
                        <a:pt x="236" y="136"/>
                      </a:lnTo>
                      <a:lnTo>
                        <a:pt x="240" y="125"/>
                      </a:lnTo>
                      <a:lnTo>
                        <a:pt x="242" y="125"/>
                      </a:lnTo>
                      <a:lnTo>
                        <a:pt x="230" y="122"/>
                      </a:lnTo>
                      <a:lnTo>
                        <a:pt x="216" y="122"/>
                      </a:lnTo>
                      <a:lnTo>
                        <a:pt x="199" y="127"/>
                      </a:lnTo>
                      <a:lnTo>
                        <a:pt x="180" y="135"/>
                      </a:lnTo>
                      <a:lnTo>
                        <a:pt x="163" y="144"/>
                      </a:lnTo>
                      <a:lnTo>
                        <a:pt x="150" y="149"/>
                      </a:lnTo>
                      <a:lnTo>
                        <a:pt x="168" y="129"/>
                      </a:lnTo>
                      <a:lnTo>
                        <a:pt x="194" y="109"/>
                      </a:lnTo>
                      <a:lnTo>
                        <a:pt x="220" y="100"/>
                      </a:lnTo>
                      <a:lnTo>
                        <a:pt x="232" y="100"/>
                      </a:lnTo>
                      <a:lnTo>
                        <a:pt x="244" y="101"/>
                      </a:lnTo>
                      <a:lnTo>
                        <a:pt x="239" y="101"/>
                      </a:lnTo>
                      <a:lnTo>
                        <a:pt x="245" y="85"/>
                      </a:lnTo>
                      <a:lnTo>
                        <a:pt x="229" y="88"/>
                      </a:lnTo>
                      <a:lnTo>
                        <a:pt x="212" y="97"/>
                      </a:lnTo>
                      <a:lnTo>
                        <a:pt x="193" y="111"/>
                      </a:lnTo>
                      <a:lnTo>
                        <a:pt x="163" y="138"/>
                      </a:lnTo>
                      <a:lnTo>
                        <a:pt x="150" y="149"/>
                      </a:lnTo>
                      <a:lnTo>
                        <a:pt x="157" y="114"/>
                      </a:lnTo>
                      <a:lnTo>
                        <a:pt x="172" y="99"/>
                      </a:lnTo>
                      <a:lnTo>
                        <a:pt x="190" y="85"/>
                      </a:lnTo>
                      <a:lnTo>
                        <a:pt x="214" y="67"/>
                      </a:lnTo>
                      <a:lnTo>
                        <a:pt x="226" y="61"/>
                      </a:lnTo>
                      <a:lnTo>
                        <a:pt x="212" y="57"/>
                      </a:lnTo>
                      <a:lnTo>
                        <a:pt x="200" y="67"/>
                      </a:lnTo>
                      <a:lnTo>
                        <a:pt x="188" y="82"/>
                      </a:lnTo>
                      <a:lnTo>
                        <a:pt x="178" y="93"/>
                      </a:lnTo>
                      <a:lnTo>
                        <a:pt x="163" y="115"/>
                      </a:lnTo>
                      <a:lnTo>
                        <a:pt x="147" y="109"/>
                      </a:lnTo>
                    </a:path>
                  </a:pathLst>
                </a:custGeom>
                <a:solidFill>
                  <a:srgbClr val="037C03">
                    <a:alpha val="50195"/>
                  </a:srgbClr>
                </a:solidFill>
                <a:ln w="9525">
                  <a:noFill/>
                </a:ln>
              </p:spPr>
              <p:txBody>
                <a:bodyPr/>
                <a:lstStyle/>
                <a:p>
                  <a:endParaRPr lang="zh-CN" altLang="en-US"/>
                </a:p>
              </p:txBody>
            </p:sp>
          </p:grpSp>
          <p:grpSp>
            <p:nvGrpSpPr>
              <p:cNvPr id="89304" name="Group 20"/>
              <p:cNvGrpSpPr/>
              <p:nvPr/>
            </p:nvGrpSpPr>
            <p:grpSpPr>
              <a:xfrm>
                <a:off x="1985" y="1419"/>
                <a:ext cx="465" cy="602"/>
                <a:chOff x="1985" y="1419"/>
                <a:chExt cx="465" cy="602"/>
              </a:xfrm>
            </p:grpSpPr>
            <p:sp>
              <p:nvSpPr>
                <p:cNvPr id="89305" name="Freeform 21"/>
                <p:cNvSpPr/>
                <p:nvPr/>
              </p:nvSpPr>
              <p:spPr>
                <a:xfrm>
                  <a:off x="2164" y="1525"/>
                  <a:ext cx="130" cy="496"/>
                </a:xfrm>
                <a:custGeom>
                  <a:avLst/>
                  <a:gdLst>
                    <a:gd name="txL" fmla="*/ 0 w 130"/>
                    <a:gd name="txT" fmla="*/ 0 h 496"/>
                    <a:gd name="txR" fmla="*/ 130 w 130"/>
                    <a:gd name="txB" fmla="*/ 496 h 496"/>
                  </a:gdLst>
                  <a:ahLst/>
                  <a:cxnLst>
                    <a:cxn ang="0">
                      <a:pos x="129" y="230"/>
                    </a:cxn>
                    <a:cxn ang="0">
                      <a:pos x="118" y="330"/>
                    </a:cxn>
                    <a:cxn ang="0">
                      <a:pos x="107" y="411"/>
                    </a:cxn>
                    <a:cxn ang="0">
                      <a:pos x="100" y="471"/>
                    </a:cxn>
                    <a:cxn ang="0">
                      <a:pos x="101" y="495"/>
                    </a:cxn>
                    <a:cxn ang="0">
                      <a:pos x="86" y="495"/>
                    </a:cxn>
                    <a:cxn ang="0">
                      <a:pos x="81" y="460"/>
                    </a:cxn>
                    <a:cxn ang="0">
                      <a:pos x="79" y="408"/>
                    </a:cxn>
                    <a:cxn ang="0">
                      <a:pos x="73" y="358"/>
                    </a:cxn>
                    <a:cxn ang="0">
                      <a:pos x="70" y="321"/>
                    </a:cxn>
                    <a:cxn ang="0">
                      <a:pos x="64" y="268"/>
                    </a:cxn>
                    <a:cxn ang="0">
                      <a:pos x="56" y="222"/>
                    </a:cxn>
                    <a:cxn ang="0">
                      <a:pos x="51" y="181"/>
                    </a:cxn>
                    <a:cxn ang="0">
                      <a:pos x="45" y="137"/>
                    </a:cxn>
                    <a:cxn ang="0">
                      <a:pos x="35" y="94"/>
                    </a:cxn>
                    <a:cxn ang="0">
                      <a:pos x="24" y="57"/>
                    </a:cxn>
                    <a:cxn ang="0">
                      <a:pos x="6" y="21"/>
                    </a:cxn>
                    <a:cxn ang="0">
                      <a:pos x="0" y="8"/>
                    </a:cxn>
                    <a:cxn ang="0">
                      <a:pos x="7" y="0"/>
                    </a:cxn>
                    <a:cxn ang="0">
                      <a:pos x="19" y="14"/>
                    </a:cxn>
                    <a:cxn ang="0">
                      <a:pos x="35" y="47"/>
                    </a:cxn>
                    <a:cxn ang="0">
                      <a:pos x="47" y="81"/>
                    </a:cxn>
                    <a:cxn ang="0">
                      <a:pos x="56" y="116"/>
                    </a:cxn>
                    <a:cxn ang="0">
                      <a:pos x="63" y="161"/>
                    </a:cxn>
                    <a:cxn ang="0">
                      <a:pos x="69" y="204"/>
                    </a:cxn>
                    <a:cxn ang="0">
                      <a:pos x="77" y="262"/>
                    </a:cxn>
                    <a:cxn ang="0">
                      <a:pos x="84" y="309"/>
                    </a:cxn>
                    <a:cxn ang="0">
                      <a:pos x="87" y="347"/>
                    </a:cxn>
                    <a:cxn ang="0">
                      <a:pos x="90" y="386"/>
                    </a:cxn>
                    <a:cxn ang="0">
                      <a:pos x="96" y="427"/>
                    </a:cxn>
                    <a:cxn ang="0">
                      <a:pos x="104" y="357"/>
                    </a:cxn>
                    <a:cxn ang="0">
                      <a:pos x="114" y="292"/>
                    </a:cxn>
                    <a:cxn ang="0">
                      <a:pos x="129" y="230"/>
                    </a:cxn>
                  </a:cxnLst>
                  <a:rect l="txL" t="txT" r="txR" b="txB"/>
                  <a:pathLst>
                    <a:path w="130" h="496">
                      <a:moveTo>
                        <a:pt x="129" y="230"/>
                      </a:moveTo>
                      <a:lnTo>
                        <a:pt x="118" y="330"/>
                      </a:lnTo>
                      <a:lnTo>
                        <a:pt x="107" y="411"/>
                      </a:lnTo>
                      <a:lnTo>
                        <a:pt x="100" y="471"/>
                      </a:lnTo>
                      <a:lnTo>
                        <a:pt x="101" y="495"/>
                      </a:lnTo>
                      <a:lnTo>
                        <a:pt x="86" y="495"/>
                      </a:lnTo>
                      <a:lnTo>
                        <a:pt x="81" y="460"/>
                      </a:lnTo>
                      <a:lnTo>
                        <a:pt x="79" y="408"/>
                      </a:lnTo>
                      <a:lnTo>
                        <a:pt x="73" y="358"/>
                      </a:lnTo>
                      <a:lnTo>
                        <a:pt x="70" y="321"/>
                      </a:lnTo>
                      <a:lnTo>
                        <a:pt x="64" y="268"/>
                      </a:lnTo>
                      <a:lnTo>
                        <a:pt x="56" y="222"/>
                      </a:lnTo>
                      <a:lnTo>
                        <a:pt x="51" y="181"/>
                      </a:lnTo>
                      <a:lnTo>
                        <a:pt x="45" y="137"/>
                      </a:lnTo>
                      <a:lnTo>
                        <a:pt x="35" y="94"/>
                      </a:lnTo>
                      <a:lnTo>
                        <a:pt x="24" y="57"/>
                      </a:lnTo>
                      <a:lnTo>
                        <a:pt x="6" y="21"/>
                      </a:lnTo>
                      <a:lnTo>
                        <a:pt x="0" y="8"/>
                      </a:lnTo>
                      <a:lnTo>
                        <a:pt x="7" y="0"/>
                      </a:lnTo>
                      <a:lnTo>
                        <a:pt x="19" y="14"/>
                      </a:lnTo>
                      <a:lnTo>
                        <a:pt x="35" y="47"/>
                      </a:lnTo>
                      <a:lnTo>
                        <a:pt x="47" y="81"/>
                      </a:lnTo>
                      <a:lnTo>
                        <a:pt x="56" y="116"/>
                      </a:lnTo>
                      <a:lnTo>
                        <a:pt x="63" y="161"/>
                      </a:lnTo>
                      <a:lnTo>
                        <a:pt x="69" y="204"/>
                      </a:lnTo>
                      <a:lnTo>
                        <a:pt x="77" y="262"/>
                      </a:lnTo>
                      <a:lnTo>
                        <a:pt x="84" y="309"/>
                      </a:lnTo>
                      <a:lnTo>
                        <a:pt x="87" y="347"/>
                      </a:lnTo>
                      <a:lnTo>
                        <a:pt x="90" y="386"/>
                      </a:lnTo>
                      <a:lnTo>
                        <a:pt x="96" y="427"/>
                      </a:lnTo>
                      <a:lnTo>
                        <a:pt x="104" y="357"/>
                      </a:lnTo>
                      <a:lnTo>
                        <a:pt x="114" y="292"/>
                      </a:lnTo>
                      <a:lnTo>
                        <a:pt x="129" y="230"/>
                      </a:lnTo>
                    </a:path>
                  </a:pathLst>
                </a:custGeom>
                <a:solidFill>
                  <a:srgbClr val="3C0023">
                    <a:alpha val="50195"/>
                  </a:srgbClr>
                </a:solidFill>
                <a:ln w="9525">
                  <a:noFill/>
                </a:ln>
              </p:spPr>
              <p:txBody>
                <a:bodyPr/>
                <a:lstStyle/>
                <a:p>
                  <a:endParaRPr lang="zh-CN" altLang="en-US"/>
                </a:p>
              </p:txBody>
            </p:sp>
            <p:sp>
              <p:nvSpPr>
                <p:cNvPr id="89306" name="Freeform 22"/>
                <p:cNvSpPr/>
                <p:nvPr/>
              </p:nvSpPr>
              <p:spPr>
                <a:xfrm>
                  <a:off x="2204" y="1606"/>
                  <a:ext cx="229" cy="358"/>
                </a:xfrm>
                <a:custGeom>
                  <a:avLst/>
                  <a:gdLst>
                    <a:gd name="txL" fmla="*/ 0 w 229"/>
                    <a:gd name="txT" fmla="*/ 0 h 358"/>
                    <a:gd name="txR" fmla="*/ 229 w 229"/>
                    <a:gd name="txB" fmla="*/ 358 h 358"/>
                  </a:gdLst>
                  <a:ahLst/>
                  <a:cxnLst>
                    <a:cxn ang="0">
                      <a:pos x="60" y="58"/>
                    </a:cxn>
                    <a:cxn ang="0">
                      <a:pos x="67" y="44"/>
                    </a:cxn>
                    <a:cxn ang="0">
                      <a:pos x="64" y="5"/>
                    </a:cxn>
                    <a:cxn ang="0">
                      <a:pos x="64" y="5"/>
                    </a:cxn>
                    <a:cxn ang="0">
                      <a:pos x="64" y="5"/>
                    </a:cxn>
                    <a:cxn ang="0">
                      <a:pos x="64" y="5"/>
                    </a:cxn>
                    <a:cxn ang="0">
                      <a:pos x="64" y="5"/>
                    </a:cxn>
                    <a:cxn ang="0">
                      <a:pos x="70" y="2"/>
                    </a:cxn>
                    <a:cxn ang="0">
                      <a:pos x="82" y="66"/>
                    </a:cxn>
                    <a:cxn ang="0">
                      <a:pos x="94" y="39"/>
                    </a:cxn>
                    <a:cxn ang="0">
                      <a:pos x="101" y="5"/>
                    </a:cxn>
                    <a:cxn ang="0">
                      <a:pos x="104" y="5"/>
                    </a:cxn>
                    <a:cxn ang="0">
                      <a:pos x="103" y="5"/>
                    </a:cxn>
                    <a:cxn ang="0">
                      <a:pos x="104" y="5"/>
                    </a:cxn>
                    <a:cxn ang="0">
                      <a:pos x="102" y="5"/>
                    </a:cxn>
                    <a:cxn ang="0">
                      <a:pos x="103" y="5"/>
                    </a:cxn>
                    <a:cxn ang="0">
                      <a:pos x="105" y="47"/>
                    </a:cxn>
                    <a:cxn ang="0">
                      <a:pos x="111" y="88"/>
                    </a:cxn>
                    <a:cxn ang="0">
                      <a:pos x="139" y="79"/>
                    </a:cxn>
                    <a:cxn ang="0">
                      <a:pos x="176" y="81"/>
                    </a:cxn>
                    <a:cxn ang="0">
                      <a:pos x="205" y="104"/>
                    </a:cxn>
                    <a:cxn ang="0">
                      <a:pos x="228" y="155"/>
                    </a:cxn>
                    <a:cxn ang="0">
                      <a:pos x="200" y="147"/>
                    </a:cxn>
                    <a:cxn ang="0">
                      <a:pos x="171" y="131"/>
                    </a:cxn>
                    <a:cxn ang="0">
                      <a:pos x="132" y="121"/>
                    </a:cxn>
                    <a:cxn ang="0">
                      <a:pos x="107" y="125"/>
                    </a:cxn>
                    <a:cxn ang="0">
                      <a:pos x="122" y="150"/>
                    </a:cxn>
                    <a:cxn ang="0">
                      <a:pos x="154" y="165"/>
                    </a:cxn>
                    <a:cxn ang="0">
                      <a:pos x="187" y="175"/>
                    </a:cxn>
                    <a:cxn ang="0">
                      <a:pos x="212" y="212"/>
                    </a:cxn>
                    <a:cxn ang="0">
                      <a:pos x="224" y="262"/>
                    </a:cxn>
                    <a:cxn ang="0">
                      <a:pos x="194" y="231"/>
                    </a:cxn>
                    <a:cxn ang="0">
                      <a:pos x="163" y="199"/>
                    </a:cxn>
                    <a:cxn ang="0">
                      <a:pos x="133" y="172"/>
                    </a:cxn>
                    <a:cxn ang="0">
                      <a:pos x="111" y="159"/>
                    </a:cxn>
                    <a:cxn ang="0">
                      <a:pos x="97" y="185"/>
                    </a:cxn>
                    <a:cxn ang="0">
                      <a:pos x="115" y="245"/>
                    </a:cxn>
                    <a:cxn ang="0">
                      <a:pos x="132" y="312"/>
                    </a:cxn>
                    <a:cxn ang="0">
                      <a:pos x="114" y="328"/>
                    </a:cxn>
                    <a:cxn ang="0">
                      <a:pos x="95" y="236"/>
                    </a:cxn>
                    <a:cxn ang="0">
                      <a:pos x="78" y="179"/>
                    </a:cxn>
                    <a:cxn ang="0">
                      <a:pos x="73" y="197"/>
                    </a:cxn>
                    <a:cxn ang="0">
                      <a:pos x="74" y="186"/>
                    </a:cxn>
                    <a:cxn ang="0">
                      <a:pos x="70" y="206"/>
                    </a:cxn>
                    <a:cxn ang="0">
                      <a:pos x="51" y="257"/>
                    </a:cxn>
                    <a:cxn ang="0">
                      <a:pos x="32" y="322"/>
                    </a:cxn>
                    <a:cxn ang="0">
                      <a:pos x="28" y="304"/>
                    </a:cxn>
                    <a:cxn ang="0">
                      <a:pos x="38" y="249"/>
                    </a:cxn>
                    <a:cxn ang="0">
                      <a:pos x="59" y="189"/>
                    </a:cxn>
                    <a:cxn ang="0">
                      <a:pos x="82" y="143"/>
                    </a:cxn>
                    <a:cxn ang="0">
                      <a:pos x="65" y="139"/>
                    </a:cxn>
                    <a:cxn ang="0">
                      <a:pos x="40" y="189"/>
                    </a:cxn>
                    <a:cxn ang="0">
                      <a:pos x="18" y="243"/>
                    </a:cxn>
                    <a:cxn ang="0">
                      <a:pos x="2" y="278"/>
                    </a:cxn>
                    <a:cxn ang="0">
                      <a:pos x="13" y="229"/>
                    </a:cxn>
                    <a:cxn ang="0">
                      <a:pos x="37" y="179"/>
                    </a:cxn>
                    <a:cxn ang="0">
                      <a:pos x="70" y="130"/>
                    </a:cxn>
                    <a:cxn ang="0">
                      <a:pos x="62" y="99"/>
                    </a:cxn>
                    <a:cxn ang="0">
                      <a:pos x="37" y="59"/>
                    </a:cxn>
                    <a:cxn ang="0">
                      <a:pos x="11" y="12"/>
                    </a:cxn>
                    <a:cxn ang="0">
                      <a:pos x="14" y="5"/>
                    </a:cxn>
                    <a:cxn ang="0">
                      <a:pos x="27" y="5"/>
                    </a:cxn>
                    <a:cxn ang="0">
                      <a:pos x="31" y="10"/>
                    </a:cxn>
                  </a:cxnLst>
                  <a:rect l="txL" t="txT" r="txR" b="txB"/>
                  <a:pathLst>
                    <a:path w="229" h="358">
                      <a:moveTo>
                        <a:pt x="43" y="31"/>
                      </a:moveTo>
                      <a:lnTo>
                        <a:pt x="47" y="39"/>
                      </a:lnTo>
                      <a:lnTo>
                        <a:pt x="51" y="44"/>
                      </a:lnTo>
                      <a:lnTo>
                        <a:pt x="55" y="51"/>
                      </a:lnTo>
                      <a:lnTo>
                        <a:pt x="60" y="58"/>
                      </a:lnTo>
                      <a:lnTo>
                        <a:pt x="64" y="63"/>
                      </a:lnTo>
                      <a:lnTo>
                        <a:pt x="68" y="66"/>
                      </a:lnTo>
                      <a:lnTo>
                        <a:pt x="72" y="69"/>
                      </a:lnTo>
                      <a:lnTo>
                        <a:pt x="70" y="58"/>
                      </a:lnTo>
                      <a:lnTo>
                        <a:pt x="67" y="44"/>
                      </a:lnTo>
                      <a:lnTo>
                        <a:pt x="65" y="30"/>
                      </a:lnTo>
                      <a:lnTo>
                        <a:pt x="63" y="15"/>
                      </a:lnTo>
                      <a:lnTo>
                        <a:pt x="64" y="5"/>
                      </a:lnTo>
                      <a:lnTo>
                        <a:pt x="69" y="5"/>
                      </a:lnTo>
                      <a:lnTo>
                        <a:pt x="70" y="5"/>
                      </a:lnTo>
                      <a:lnTo>
                        <a:pt x="70" y="2"/>
                      </a:lnTo>
                      <a:lnTo>
                        <a:pt x="73" y="16"/>
                      </a:lnTo>
                      <a:lnTo>
                        <a:pt x="76" y="30"/>
                      </a:lnTo>
                      <a:lnTo>
                        <a:pt x="78" y="41"/>
                      </a:lnTo>
                      <a:lnTo>
                        <a:pt x="81" y="56"/>
                      </a:lnTo>
                      <a:lnTo>
                        <a:pt x="82" y="66"/>
                      </a:lnTo>
                      <a:lnTo>
                        <a:pt x="84" y="71"/>
                      </a:lnTo>
                      <a:lnTo>
                        <a:pt x="87" y="66"/>
                      </a:lnTo>
                      <a:lnTo>
                        <a:pt x="89" y="59"/>
                      </a:lnTo>
                      <a:lnTo>
                        <a:pt x="93" y="52"/>
                      </a:lnTo>
                      <a:lnTo>
                        <a:pt x="94" y="39"/>
                      </a:lnTo>
                      <a:lnTo>
                        <a:pt x="95" y="30"/>
                      </a:lnTo>
                      <a:lnTo>
                        <a:pt x="96" y="14"/>
                      </a:lnTo>
                      <a:lnTo>
                        <a:pt x="96" y="0"/>
                      </a:lnTo>
                      <a:lnTo>
                        <a:pt x="101" y="5"/>
                      </a:lnTo>
                      <a:lnTo>
                        <a:pt x="102" y="5"/>
                      </a:lnTo>
                      <a:lnTo>
                        <a:pt x="103" y="5"/>
                      </a:lnTo>
                      <a:lnTo>
                        <a:pt x="104" y="5"/>
                      </a:lnTo>
                      <a:lnTo>
                        <a:pt x="105" y="5"/>
                      </a:lnTo>
                      <a:lnTo>
                        <a:pt x="104" y="5"/>
                      </a:lnTo>
                      <a:lnTo>
                        <a:pt x="102" y="5"/>
                      </a:lnTo>
                      <a:lnTo>
                        <a:pt x="103" y="5"/>
                      </a:lnTo>
                      <a:lnTo>
                        <a:pt x="105" y="5"/>
                      </a:lnTo>
                      <a:lnTo>
                        <a:pt x="103" y="5"/>
                      </a:lnTo>
                      <a:lnTo>
                        <a:pt x="101" y="5"/>
                      </a:lnTo>
                      <a:lnTo>
                        <a:pt x="102" y="5"/>
                      </a:lnTo>
                      <a:lnTo>
                        <a:pt x="101" y="5"/>
                      </a:lnTo>
                      <a:lnTo>
                        <a:pt x="104" y="5"/>
                      </a:lnTo>
                      <a:lnTo>
                        <a:pt x="103" y="5"/>
                      </a:lnTo>
                      <a:lnTo>
                        <a:pt x="100" y="5"/>
                      </a:lnTo>
                      <a:lnTo>
                        <a:pt x="101" y="5"/>
                      </a:lnTo>
                      <a:lnTo>
                        <a:pt x="103" y="5"/>
                      </a:lnTo>
                      <a:lnTo>
                        <a:pt x="102" y="5"/>
                      </a:lnTo>
                      <a:lnTo>
                        <a:pt x="104" y="5"/>
                      </a:lnTo>
                      <a:lnTo>
                        <a:pt x="102" y="5"/>
                      </a:lnTo>
                      <a:lnTo>
                        <a:pt x="107" y="5"/>
                      </a:lnTo>
                      <a:lnTo>
                        <a:pt x="103" y="5"/>
                      </a:lnTo>
                      <a:lnTo>
                        <a:pt x="104" y="5"/>
                      </a:lnTo>
                      <a:lnTo>
                        <a:pt x="107" y="2"/>
                      </a:lnTo>
                      <a:lnTo>
                        <a:pt x="107" y="15"/>
                      </a:lnTo>
                      <a:lnTo>
                        <a:pt x="106" y="31"/>
                      </a:lnTo>
                      <a:lnTo>
                        <a:pt x="105" y="47"/>
                      </a:lnTo>
                      <a:lnTo>
                        <a:pt x="103" y="66"/>
                      </a:lnTo>
                      <a:lnTo>
                        <a:pt x="102" y="83"/>
                      </a:lnTo>
                      <a:lnTo>
                        <a:pt x="101" y="100"/>
                      </a:lnTo>
                      <a:lnTo>
                        <a:pt x="105" y="95"/>
                      </a:lnTo>
                      <a:lnTo>
                        <a:pt x="111" y="88"/>
                      </a:lnTo>
                      <a:lnTo>
                        <a:pt x="118" y="80"/>
                      </a:lnTo>
                      <a:lnTo>
                        <a:pt x="123" y="78"/>
                      </a:lnTo>
                      <a:lnTo>
                        <a:pt x="129" y="76"/>
                      </a:lnTo>
                      <a:lnTo>
                        <a:pt x="134" y="79"/>
                      </a:lnTo>
                      <a:lnTo>
                        <a:pt x="139" y="79"/>
                      </a:lnTo>
                      <a:lnTo>
                        <a:pt x="146" y="81"/>
                      </a:lnTo>
                      <a:lnTo>
                        <a:pt x="154" y="83"/>
                      </a:lnTo>
                      <a:lnTo>
                        <a:pt x="162" y="83"/>
                      </a:lnTo>
                      <a:lnTo>
                        <a:pt x="169" y="81"/>
                      </a:lnTo>
                      <a:lnTo>
                        <a:pt x="176" y="81"/>
                      </a:lnTo>
                      <a:lnTo>
                        <a:pt x="182" y="83"/>
                      </a:lnTo>
                      <a:lnTo>
                        <a:pt x="188" y="88"/>
                      </a:lnTo>
                      <a:lnTo>
                        <a:pt x="195" y="93"/>
                      </a:lnTo>
                      <a:lnTo>
                        <a:pt x="200" y="98"/>
                      </a:lnTo>
                      <a:lnTo>
                        <a:pt x="205" y="104"/>
                      </a:lnTo>
                      <a:lnTo>
                        <a:pt x="211" y="112"/>
                      </a:lnTo>
                      <a:lnTo>
                        <a:pt x="214" y="117"/>
                      </a:lnTo>
                      <a:lnTo>
                        <a:pt x="220" y="129"/>
                      </a:lnTo>
                      <a:lnTo>
                        <a:pt x="223" y="142"/>
                      </a:lnTo>
                      <a:lnTo>
                        <a:pt x="228" y="155"/>
                      </a:lnTo>
                      <a:lnTo>
                        <a:pt x="223" y="156"/>
                      </a:lnTo>
                      <a:lnTo>
                        <a:pt x="217" y="154"/>
                      </a:lnTo>
                      <a:lnTo>
                        <a:pt x="210" y="152"/>
                      </a:lnTo>
                      <a:lnTo>
                        <a:pt x="205" y="150"/>
                      </a:lnTo>
                      <a:lnTo>
                        <a:pt x="200" y="147"/>
                      </a:lnTo>
                      <a:lnTo>
                        <a:pt x="195" y="143"/>
                      </a:lnTo>
                      <a:lnTo>
                        <a:pt x="189" y="138"/>
                      </a:lnTo>
                      <a:lnTo>
                        <a:pt x="184" y="135"/>
                      </a:lnTo>
                      <a:lnTo>
                        <a:pt x="179" y="133"/>
                      </a:lnTo>
                      <a:lnTo>
                        <a:pt x="171" y="131"/>
                      </a:lnTo>
                      <a:lnTo>
                        <a:pt x="162" y="129"/>
                      </a:lnTo>
                      <a:lnTo>
                        <a:pt x="154" y="126"/>
                      </a:lnTo>
                      <a:lnTo>
                        <a:pt x="146" y="124"/>
                      </a:lnTo>
                      <a:lnTo>
                        <a:pt x="138" y="122"/>
                      </a:lnTo>
                      <a:lnTo>
                        <a:pt x="132" y="121"/>
                      </a:lnTo>
                      <a:lnTo>
                        <a:pt x="128" y="120"/>
                      </a:lnTo>
                      <a:lnTo>
                        <a:pt x="122" y="120"/>
                      </a:lnTo>
                      <a:lnTo>
                        <a:pt x="116" y="121"/>
                      </a:lnTo>
                      <a:lnTo>
                        <a:pt x="112" y="122"/>
                      </a:lnTo>
                      <a:lnTo>
                        <a:pt x="107" y="125"/>
                      </a:lnTo>
                      <a:lnTo>
                        <a:pt x="100" y="129"/>
                      </a:lnTo>
                      <a:lnTo>
                        <a:pt x="105" y="135"/>
                      </a:lnTo>
                      <a:lnTo>
                        <a:pt x="111" y="140"/>
                      </a:lnTo>
                      <a:lnTo>
                        <a:pt x="116" y="147"/>
                      </a:lnTo>
                      <a:lnTo>
                        <a:pt x="122" y="150"/>
                      </a:lnTo>
                      <a:lnTo>
                        <a:pt x="129" y="155"/>
                      </a:lnTo>
                      <a:lnTo>
                        <a:pt x="133" y="158"/>
                      </a:lnTo>
                      <a:lnTo>
                        <a:pt x="139" y="159"/>
                      </a:lnTo>
                      <a:lnTo>
                        <a:pt x="147" y="162"/>
                      </a:lnTo>
                      <a:lnTo>
                        <a:pt x="154" y="165"/>
                      </a:lnTo>
                      <a:lnTo>
                        <a:pt x="161" y="167"/>
                      </a:lnTo>
                      <a:lnTo>
                        <a:pt x="168" y="169"/>
                      </a:lnTo>
                      <a:lnTo>
                        <a:pt x="174" y="170"/>
                      </a:lnTo>
                      <a:lnTo>
                        <a:pt x="181" y="174"/>
                      </a:lnTo>
                      <a:lnTo>
                        <a:pt x="187" y="175"/>
                      </a:lnTo>
                      <a:lnTo>
                        <a:pt x="191" y="179"/>
                      </a:lnTo>
                      <a:lnTo>
                        <a:pt x="197" y="186"/>
                      </a:lnTo>
                      <a:lnTo>
                        <a:pt x="202" y="193"/>
                      </a:lnTo>
                      <a:lnTo>
                        <a:pt x="206" y="202"/>
                      </a:lnTo>
                      <a:lnTo>
                        <a:pt x="212" y="212"/>
                      </a:lnTo>
                      <a:lnTo>
                        <a:pt x="214" y="218"/>
                      </a:lnTo>
                      <a:lnTo>
                        <a:pt x="217" y="229"/>
                      </a:lnTo>
                      <a:lnTo>
                        <a:pt x="219" y="240"/>
                      </a:lnTo>
                      <a:lnTo>
                        <a:pt x="221" y="253"/>
                      </a:lnTo>
                      <a:lnTo>
                        <a:pt x="224" y="262"/>
                      </a:lnTo>
                      <a:lnTo>
                        <a:pt x="219" y="257"/>
                      </a:lnTo>
                      <a:lnTo>
                        <a:pt x="212" y="250"/>
                      </a:lnTo>
                      <a:lnTo>
                        <a:pt x="206" y="245"/>
                      </a:lnTo>
                      <a:lnTo>
                        <a:pt x="200" y="238"/>
                      </a:lnTo>
                      <a:lnTo>
                        <a:pt x="194" y="231"/>
                      </a:lnTo>
                      <a:lnTo>
                        <a:pt x="188" y="226"/>
                      </a:lnTo>
                      <a:lnTo>
                        <a:pt x="182" y="219"/>
                      </a:lnTo>
                      <a:lnTo>
                        <a:pt x="176" y="213"/>
                      </a:lnTo>
                      <a:lnTo>
                        <a:pt x="169" y="206"/>
                      </a:lnTo>
                      <a:lnTo>
                        <a:pt x="163" y="199"/>
                      </a:lnTo>
                      <a:lnTo>
                        <a:pt x="158" y="194"/>
                      </a:lnTo>
                      <a:lnTo>
                        <a:pt x="151" y="187"/>
                      </a:lnTo>
                      <a:lnTo>
                        <a:pt x="145" y="182"/>
                      </a:lnTo>
                      <a:lnTo>
                        <a:pt x="139" y="177"/>
                      </a:lnTo>
                      <a:lnTo>
                        <a:pt x="133" y="172"/>
                      </a:lnTo>
                      <a:lnTo>
                        <a:pt x="129" y="170"/>
                      </a:lnTo>
                      <a:lnTo>
                        <a:pt x="125" y="166"/>
                      </a:lnTo>
                      <a:lnTo>
                        <a:pt x="119" y="162"/>
                      </a:lnTo>
                      <a:lnTo>
                        <a:pt x="115" y="158"/>
                      </a:lnTo>
                      <a:lnTo>
                        <a:pt x="111" y="159"/>
                      </a:lnTo>
                      <a:lnTo>
                        <a:pt x="107" y="162"/>
                      </a:lnTo>
                      <a:lnTo>
                        <a:pt x="103" y="161"/>
                      </a:lnTo>
                      <a:lnTo>
                        <a:pt x="99" y="158"/>
                      </a:lnTo>
                      <a:lnTo>
                        <a:pt x="98" y="170"/>
                      </a:lnTo>
                      <a:lnTo>
                        <a:pt x="97" y="185"/>
                      </a:lnTo>
                      <a:lnTo>
                        <a:pt x="100" y="197"/>
                      </a:lnTo>
                      <a:lnTo>
                        <a:pt x="102" y="211"/>
                      </a:lnTo>
                      <a:lnTo>
                        <a:pt x="107" y="220"/>
                      </a:lnTo>
                      <a:lnTo>
                        <a:pt x="111" y="231"/>
                      </a:lnTo>
                      <a:lnTo>
                        <a:pt x="115" y="245"/>
                      </a:lnTo>
                      <a:lnTo>
                        <a:pt x="119" y="259"/>
                      </a:lnTo>
                      <a:lnTo>
                        <a:pt x="123" y="268"/>
                      </a:lnTo>
                      <a:lnTo>
                        <a:pt x="127" y="278"/>
                      </a:lnTo>
                      <a:lnTo>
                        <a:pt x="131" y="297"/>
                      </a:lnTo>
                      <a:lnTo>
                        <a:pt x="132" y="312"/>
                      </a:lnTo>
                      <a:lnTo>
                        <a:pt x="135" y="331"/>
                      </a:lnTo>
                      <a:lnTo>
                        <a:pt x="138" y="349"/>
                      </a:lnTo>
                      <a:lnTo>
                        <a:pt x="125" y="349"/>
                      </a:lnTo>
                      <a:lnTo>
                        <a:pt x="122" y="349"/>
                      </a:lnTo>
                      <a:lnTo>
                        <a:pt x="114" y="328"/>
                      </a:lnTo>
                      <a:lnTo>
                        <a:pt x="108" y="307"/>
                      </a:lnTo>
                      <a:lnTo>
                        <a:pt x="103" y="290"/>
                      </a:lnTo>
                      <a:lnTo>
                        <a:pt x="100" y="273"/>
                      </a:lnTo>
                      <a:lnTo>
                        <a:pt x="98" y="255"/>
                      </a:lnTo>
                      <a:lnTo>
                        <a:pt x="95" y="236"/>
                      </a:lnTo>
                      <a:lnTo>
                        <a:pt x="90" y="209"/>
                      </a:lnTo>
                      <a:lnTo>
                        <a:pt x="87" y="200"/>
                      </a:lnTo>
                      <a:lnTo>
                        <a:pt x="84" y="184"/>
                      </a:lnTo>
                      <a:lnTo>
                        <a:pt x="81" y="177"/>
                      </a:lnTo>
                      <a:lnTo>
                        <a:pt x="78" y="179"/>
                      </a:lnTo>
                      <a:lnTo>
                        <a:pt x="75" y="181"/>
                      </a:lnTo>
                      <a:lnTo>
                        <a:pt x="74" y="191"/>
                      </a:lnTo>
                      <a:lnTo>
                        <a:pt x="74" y="186"/>
                      </a:lnTo>
                      <a:lnTo>
                        <a:pt x="74" y="192"/>
                      </a:lnTo>
                      <a:lnTo>
                        <a:pt x="73" y="197"/>
                      </a:lnTo>
                      <a:lnTo>
                        <a:pt x="72" y="198"/>
                      </a:lnTo>
                      <a:lnTo>
                        <a:pt x="74" y="197"/>
                      </a:lnTo>
                      <a:lnTo>
                        <a:pt x="73" y="194"/>
                      </a:lnTo>
                      <a:lnTo>
                        <a:pt x="74" y="189"/>
                      </a:lnTo>
                      <a:lnTo>
                        <a:pt x="74" y="186"/>
                      </a:lnTo>
                      <a:lnTo>
                        <a:pt x="74" y="187"/>
                      </a:lnTo>
                      <a:lnTo>
                        <a:pt x="74" y="192"/>
                      </a:lnTo>
                      <a:lnTo>
                        <a:pt x="75" y="197"/>
                      </a:lnTo>
                      <a:lnTo>
                        <a:pt x="73" y="198"/>
                      </a:lnTo>
                      <a:lnTo>
                        <a:pt x="70" y="206"/>
                      </a:lnTo>
                      <a:lnTo>
                        <a:pt x="65" y="218"/>
                      </a:lnTo>
                      <a:lnTo>
                        <a:pt x="61" y="227"/>
                      </a:lnTo>
                      <a:lnTo>
                        <a:pt x="58" y="236"/>
                      </a:lnTo>
                      <a:lnTo>
                        <a:pt x="54" y="248"/>
                      </a:lnTo>
                      <a:lnTo>
                        <a:pt x="51" y="257"/>
                      </a:lnTo>
                      <a:lnTo>
                        <a:pt x="47" y="268"/>
                      </a:lnTo>
                      <a:lnTo>
                        <a:pt x="43" y="280"/>
                      </a:lnTo>
                      <a:lnTo>
                        <a:pt x="40" y="293"/>
                      </a:lnTo>
                      <a:lnTo>
                        <a:pt x="36" y="307"/>
                      </a:lnTo>
                      <a:lnTo>
                        <a:pt x="32" y="322"/>
                      </a:lnTo>
                      <a:lnTo>
                        <a:pt x="29" y="339"/>
                      </a:lnTo>
                      <a:lnTo>
                        <a:pt x="24" y="357"/>
                      </a:lnTo>
                      <a:lnTo>
                        <a:pt x="26" y="335"/>
                      </a:lnTo>
                      <a:lnTo>
                        <a:pt x="27" y="321"/>
                      </a:lnTo>
                      <a:lnTo>
                        <a:pt x="28" y="304"/>
                      </a:lnTo>
                      <a:lnTo>
                        <a:pt x="29" y="295"/>
                      </a:lnTo>
                      <a:lnTo>
                        <a:pt x="31" y="287"/>
                      </a:lnTo>
                      <a:lnTo>
                        <a:pt x="33" y="273"/>
                      </a:lnTo>
                      <a:lnTo>
                        <a:pt x="36" y="260"/>
                      </a:lnTo>
                      <a:lnTo>
                        <a:pt x="38" y="249"/>
                      </a:lnTo>
                      <a:lnTo>
                        <a:pt x="43" y="236"/>
                      </a:lnTo>
                      <a:lnTo>
                        <a:pt x="47" y="224"/>
                      </a:lnTo>
                      <a:lnTo>
                        <a:pt x="52" y="211"/>
                      </a:lnTo>
                      <a:lnTo>
                        <a:pt x="56" y="197"/>
                      </a:lnTo>
                      <a:lnTo>
                        <a:pt x="59" y="189"/>
                      </a:lnTo>
                      <a:lnTo>
                        <a:pt x="63" y="181"/>
                      </a:lnTo>
                      <a:lnTo>
                        <a:pt x="68" y="172"/>
                      </a:lnTo>
                      <a:lnTo>
                        <a:pt x="73" y="164"/>
                      </a:lnTo>
                      <a:lnTo>
                        <a:pt x="77" y="154"/>
                      </a:lnTo>
                      <a:lnTo>
                        <a:pt x="82" y="143"/>
                      </a:lnTo>
                      <a:lnTo>
                        <a:pt x="80" y="139"/>
                      </a:lnTo>
                      <a:lnTo>
                        <a:pt x="76" y="133"/>
                      </a:lnTo>
                      <a:lnTo>
                        <a:pt x="73" y="129"/>
                      </a:lnTo>
                      <a:lnTo>
                        <a:pt x="70" y="132"/>
                      </a:lnTo>
                      <a:lnTo>
                        <a:pt x="65" y="139"/>
                      </a:lnTo>
                      <a:lnTo>
                        <a:pt x="60" y="147"/>
                      </a:lnTo>
                      <a:lnTo>
                        <a:pt x="55" y="154"/>
                      </a:lnTo>
                      <a:lnTo>
                        <a:pt x="51" y="164"/>
                      </a:lnTo>
                      <a:lnTo>
                        <a:pt x="45" y="177"/>
                      </a:lnTo>
                      <a:lnTo>
                        <a:pt x="40" y="189"/>
                      </a:lnTo>
                      <a:lnTo>
                        <a:pt x="36" y="199"/>
                      </a:lnTo>
                      <a:lnTo>
                        <a:pt x="31" y="207"/>
                      </a:lnTo>
                      <a:lnTo>
                        <a:pt x="27" y="218"/>
                      </a:lnTo>
                      <a:lnTo>
                        <a:pt x="22" y="230"/>
                      </a:lnTo>
                      <a:lnTo>
                        <a:pt x="18" y="243"/>
                      </a:lnTo>
                      <a:lnTo>
                        <a:pt x="14" y="255"/>
                      </a:lnTo>
                      <a:lnTo>
                        <a:pt x="9" y="268"/>
                      </a:lnTo>
                      <a:lnTo>
                        <a:pt x="5" y="282"/>
                      </a:lnTo>
                      <a:lnTo>
                        <a:pt x="0" y="298"/>
                      </a:lnTo>
                      <a:lnTo>
                        <a:pt x="2" y="278"/>
                      </a:lnTo>
                      <a:lnTo>
                        <a:pt x="4" y="262"/>
                      </a:lnTo>
                      <a:lnTo>
                        <a:pt x="5" y="248"/>
                      </a:lnTo>
                      <a:lnTo>
                        <a:pt x="6" y="244"/>
                      </a:lnTo>
                      <a:lnTo>
                        <a:pt x="9" y="238"/>
                      </a:lnTo>
                      <a:lnTo>
                        <a:pt x="13" y="229"/>
                      </a:lnTo>
                      <a:lnTo>
                        <a:pt x="17" y="219"/>
                      </a:lnTo>
                      <a:lnTo>
                        <a:pt x="22" y="209"/>
                      </a:lnTo>
                      <a:lnTo>
                        <a:pt x="27" y="199"/>
                      </a:lnTo>
                      <a:lnTo>
                        <a:pt x="33" y="187"/>
                      </a:lnTo>
                      <a:lnTo>
                        <a:pt x="37" y="179"/>
                      </a:lnTo>
                      <a:lnTo>
                        <a:pt x="43" y="170"/>
                      </a:lnTo>
                      <a:lnTo>
                        <a:pt x="49" y="159"/>
                      </a:lnTo>
                      <a:lnTo>
                        <a:pt x="55" y="149"/>
                      </a:lnTo>
                      <a:lnTo>
                        <a:pt x="60" y="142"/>
                      </a:lnTo>
                      <a:lnTo>
                        <a:pt x="70" y="130"/>
                      </a:lnTo>
                      <a:lnTo>
                        <a:pt x="75" y="125"/>
                      </a:lnTo>
                      <a:lnTo>
                        <a:pt x="78" y="123"/>
                      </a:lnTo>
                      <a:lnTo>
                        <a:pt x="73" y="117"/>
                      </a:lnTo>
                      <a:lnTo>
                        <a:pt x="67" y="108"/>
                      </a:lnTo>
                      <a:lnTo>
                        <a:pt x="62" y="99"/>
                      </a:lnTo>
                      <a:lnTo>
                        <a:pt x="57" y="92"/>
                      </a:lnTo>
                      <a:lnTo>
                        <a:pt x="52" y="85"/>
                      </a:lnTo>
                      <a:lnTo>
                        <a:pt x="47" y="78"/>
                      </a:lnTo>
                      <a:lnTo>
                        <a:pt x="43" y="71"/>
                      </a:lnTo>
                      <a:lnTo>
                        <a:pt x="37" y="59"/>
                      </a:lnTo>
                      <a:lnTo>
                        <a:pt x="32" y="48"/>
                      </a:lnTo>
                      <a:lnTo>
                        <a:pt x="26" y="38"/>
                      </a:lnTo>
                      <a:lnTo>
                        <a:pt x="19" y="26"/>
                      </a:lnTo>
                      <a:lnTo>
                        <a:pt x="14" y="19"/>
                      </a:lnTo>
                      <a:lnTo>
                        <a:pt x="11" y="12"/>
                      </a:lnTo>
                      <a:lnTo>
                        <a:pt x="7" y="4"/>
                      </a:lnTo>
                      <a:lnTo>
                        <a:pt x="14" y="5"/>
                      </a:lnTo>
                      <a:lnTo>
                        <a:pt x="27" y="5"/>
                      </a:lnTo>
                      <a:lnTo>
                        <a:pt x="31" y="10"/>
                      </a:lnTo>
                      <a:lnTo>
                        <a:pt x="37" y="22"/>
                      </a:lnTo>
                      <a:lnTo>
                        <a:pt x="43" y="31"/>
                      </a:lnTo>
                    </a:path>
                  </a:pathLst>
                </a:custGeom>
                <a:solidFill>
                  <a:srgbClr val="037C03">
                    <a:alpha val="50195"/>
                  </a:srgbClr>
                </a:solidFill>
                <a:ln w="9525">
                  <a:noFill/>
                </a:ln>
              </p:spPr>
              <p:txBody>
                <a:bodyPr/>
                <a:lstStyle/>
                <a:p>
                  <a:endParaRPr lang="zh-CN" altLang="en-US"/>
                </a:p>
              </p:txBody>
            </p:sp>
            <p:grpSp>
              <p:nvGrpSpPr>
                <p:cNvPr id="89307" name="Group 23"/>
                <p:cNvGrpSpPr/>
                <p:nvPr/>
              </p:nvGrpSpPr>
              <p:grpSpPr>
                <a:xfrm>
                  <a:off x="1985" y="1419"/>
                  <a:ext cx="465" cy="349"/>
                  <a:chOff x="1985" y="1419"/>
                  <a:chExt cx="465" cy="349"/>
                </a:xfrm>
              </p:grpSpPr>
              <p:sp>
                <p:nvSpPr>
                  <p:cNvPr id="89308" name="Freeform 24"/>
                  <p:cNvSpPr/>
                  <p:nvPr/>
                </p:nvSpPr>
                <p:spPr>
                  <a:xfrm>
                    <a:off x="2030" y="1419"/>
                    <a:ext cx="420" cy="326"/>
                  </a:xfrm>
                  <a:custGeom>
                    <a:avLst/>
                    <a:gdLst>
                      <a:gd name="txL" fmla="*/ 0 w 420"/>
                      <a:gd name="txT" fmla="*/ 0 h 326"/>
                      <a:gd name="txR" fmla="*/ 420 w 420"/>
                      <a:gd name="txB" fmla="*/ 326 h 326"/>
                    </a:gdLst>
                    <a:ahLst/>
                    <a:cxnLst>
                      <a:cxn ang="0">
                        <a:pos x="159" y="41"/>
                      </a:cxn>
                      <a:cxn ang="0">
                        <a:pos x="193" y="13"/>
                      </a:cxn>
                      <a:cxn ang="0">
                        <a:pos x="233" y="2"/>
                      </a:cxn>
                      <a:cxn ang="0">
                        <a:pos x="279" y="2"/>
                      </a:cxn>
                      <a:cxn ang="0">
                        <a:pos x="290" y="6"/>
                      </a:cxn>
                      <a:cxn ang="0">
                        <a:pos x="260" y="14"/>
                      </a:cxn>
                      <a:cxn ang="0">
                        <a:pos x="225" y="25"/>
                      </a:cxn>
                      <a:cxn ang="0">
                        <a:pos x="186" y="52"/>
                      </a:cxn>
                      <a:cxn ang="0">
                        <a:pos x="183" y="89"/>
                      </a:cxn>
                      <a:cxn ang="0">
                        <a:pos x="240" y="66"/>
                      </a:cxn>
                      <a:cxn ang="0">
                        <a:pos x="288" y="64"/>
                      </a:cxn>
                      <a:cxn ang="0">
                        <a:pos x="338" y="69"/>
                      </a:cxn>
                      <a:cxn ang="0">
                        <a:pos x="397" y="75"/>
                      </a:cxn>
                      <a:cxn ang="0">
                        <a:pos x="398" y="76"/>
                      </a:cxn>
                      <a:cxn ang="0">
                        <a:pos x="341" y="79"/>
                      </a:cxn>
                      <a:cxn ang="0">
                        <a:pos x="288" y="80"/>
                      </a:cxn>
                      <a:cxn ang="0">
                        <a:pos x="242" y="86"/>
                      </a:cxn>
                      <a:cxn ang="0">
                        <a:pos x="191" y="98"/>
                      </a:cxn>
                      <a:cxn ang="0">
                        <a:pos x="212" y="118"/>
                      </a:cxn>
                      <a:cxn ang="0">
                        <a:pos x="227" y="136"/>
                      </a:cxn>
                      <a:cxn ang="0">
                        <a:pos x="175" y="119"/>
                      </a:cxn>
                      <a:cxn ang="0">
                        <a:pos x="165" y="129"/>
                      </a:cxn>
                      <a:cxn ang="0">
                        <a:pos x="221" y="138"/>
                      </a:cxn>
                      <a:cxn ang="0">
                        <a:pos x="269" y="150"/>
                      </a:cxn>
                      <a:cxn ang="0">
                        <a:pos x="306" y="181"/>
                      </a:cxn>
                      <a:cxn ang="0">
                        <a:pos x="335" y="223"/>
                      </a:cxn>
                      <a:cxn ang="0">
                        <a:pos x="329" y="231"/>
                      </a:cxn>
                      <a:cxn ang="0">
                        <a:pos x="290" y="204"/>
                      </a:cxn>
                      <a:cxn ang="0">
                        <a:pos x="248" y="174"/>
                      </a:cxn>
                      <a:cxn ang="0">
                        <a:pos x="202" y="154"/>
                      </a:cxn>
                      <a:cxn ang="0">
                        <a:pos x="173" y="148"/>
                      </a:cxn>
                      <a:cxn ang="0">
                        <a:pos x="196" y="181"/>
                      </a:cxn>
                      <a:cxn ang="0">
                        <a:pos x="227" y="223"/>
                      </a:cxn>
                      <a:cxn ang="0">
                        <a:pos x="244" y="262"/>
                      </a:cxn>
                      <a:cxn ang="0">
                        <a:pos x="243" y="299"/>
                      </a:cxn>
                      <a:cxn ang="0">
                        <a:pos x="222" y="259"/>
                      </a:cxn>
                      <a:cxn ang="0">
                        <a:pos x="199" y="215"/>
                      </a:cxn>
                      <a:cxn ang="0">
                        <a:pos x="173" y="177"/>
                      </a:cxn>
                      <a:cxn ang="0">
                        <a:pos x="150" y="142"/>
                      </a:cxn>
                      <a:cxn ang="0">
                        <a:pos x="109" y="162"/>
                      </a:cxn>
                      <a:cxn ang="0">
                        <a:pos x="77" y="210"/>
                      </a:cxn>
                      <a:cxn ang="0">
                        <a:pos x="49" y="260"/>
                      </a:cxn>
                      <a:cxn ang="0">
                        <a:pos x="18" y="306"/>
                      </a:cxn>
                      <a:cxn ang="0">
                        <a:pos x="8" y="301"/>
                      </a:cxn>
                      <a:cxn ang="0">
                        <a:pos x="45" y="243"/>
                      </a:cxn>
                      <a:cxn ang="0">
                        <a:pos x="78" y="198"/>
                      </a:cxn>
                      <a:cxn ang="0">
                        <a:pos x="107" y="154"/>
                      </a:cxn>
                      <a:cxn ang="0">
                        <a:pos x="132" y="120"/>
                      </a:cxn>
                      <a:cxn ang="0">
                        <a:pos x="95" y="79"/>
                      </a:cxn>
                      <a:cxn ang="0">
                        <a:pos x="42" y="57"/>
                      </a:cxn>
                      <a:cxn ang="0">
                        <a:pos x="19" y="45"/>
                      </a:cxn>
                      <a:cxn ang="0">
                        <a:pos x="60" y="58"/>
                      </a:cxn>
                      <a:cxn ang="0">
                        <a:pos x="116" y="86"/>
                      </a:cxn>
                    </a:cxnLst>
                    <a:rect l="txL" t="txT" r="txR" b="txB"/>
                    <a:pathLst>
                      <a:path w="420" h="326">
                        <a:moveTo>
                          <a:pt x="132" y="83"/>
                        </a:moveTo>
                        <a:lnTo>
                          <a:pt x="135" y="74"/>
                        </a:lnTo>
                        <a:lnTo>
                          <a:pt x="140" y="65"/>
                        </a:lnTo>
                        <a:lnTo>
                          <a:pt x="146" y="57"/>
                        </a:lnTo>
                        <a:lnTo>
                          <a:pt x="152" y="48"/>
                        </a:lnTo>
                        <a:lnTo>
                          <a:pt x="159" y="41"/>
                        </a:lnTo>
                        <a:lnTo>
                          <a:pt x="164" y="34"/>
                        </a:lnTo>
                        <a:lnTo>
                          <a:pt x="170" y="29"/>
                        </a:lnTo>
                        <a:lnTo>
                          <a:pt x="176" y="25"/>
                        </a:lnTo>
                        <a:lnTo>
                          <a:pt x="181" y="20"/>
                        </a:lnTo>
                        <a:lnTo>
                          <a:pt x="187" y="17"/>
                        </a:lnTo>
                        <a:lnTo>
                          <a:pt x="193" y="13"/>
                        </a:lnTo>
                        <a:lnTo>
                          <a:pt x="199" y="10"/>
                        </a:lnTo>
                        <a:lnTo>
                          <a:pt x="204" y="8"/>
                        </a:lnTo>
                        <a:lnTo>
                          <a:pt x="212" y="6"/>
                        </a:lnTo>
                        <a:lnTo>
                          <a:pt x="220" y="5"/>
                        </a:lnTo>
                        <a:lnTo>
                          <a:pt x="226" y="3"/>
                        </a:lnTo>
                        <a:lnTo>
                          <a:pt x="233" y="2"/>
                        </a:lnTo>
                        <a:lnTo>
                          <a:pt x="241" y="2"/>
                        </a:lnTo>
                        <a:lnTo>
                          <a:pt x="248" y="1"/>
                        </a:lnTo>
                        <a:lnTo>
                          <a:pt x="258" y="1"/>
                        </a:lnTo>
                        <a:lnTo>
                          <a:pt x="265" y="1"/>
                        </a:lnTo>
                        <a:lnTo>
                          <a:pt x="272" y="2"/>
                        </a:lnTo>
                        <a:lnTo>
                          <a:pt x="279" y="2"/>
                        </a:lnTo>
                        <a:lnTo>
                          <a:pt x="285" y="1"/>
                        </a:lnTo>
                        <a:lnTo>
                          <a:pt x="293" y="1"/>
                        </a:lnTo>
                        <a:lnTo>
                          <a:pt x="300" y="0"/>
                        </a:lnTo>
                        <a:lnTo>
                          <a:pt x="296" y="2"/>
                        </a:lnTo>
                        <a:lnTo>
                          <a:pt x="293" y="3"/>
                        </a:lnTo>
                        <a:lnTo>
                          <a:pt x="290" y="6"/>
                        </a:lnTo>
                        <a:lnTo>
                          <a:pt x="287" y="10"/>
                        </a:lnTo>
                        <a:lnTo>
                          <a:pt x="281" y="10"/>
                        </a:lnTo>
                        <a:lnTo>
                          <a:pt x="275" y="10"/>
                        </a:lnTo>
                        <a:lnTo>
                          <a:pt x="270" y="11"/>
                        </a:lnTo>
                        <a:lnTo>
                          <a:pt x="265" y="12"/>
                        </a:lnTo>
                        <a:lnTo>
                          <a:pt x="260" y="14"/>
                        </a:lnTo>
                        <a:lnTo>
                          <a:pt x="254" y="15"/>
                        </a:lnTo>
                        <a:lnTo>
                          <a:pt x="248" y="17"/>
                        </a:lnTo>
                        <a:lnTo>
                          <a:pt x="242" y="19"/>
                        </a:lnTo>
                        <a:lnTo>
                          <a:pt x="236" y="20"/>
                        </a:lnTo>
                        <a:lnTo>
                          <a:pt x="231" y="22"/>
                        </a:lnTo>
                        <a:lnTo>
                          <a:pt x="225" y="25"/>
                        </a:lnTo>
                        <a:lnTo>
                          <a:pt x="218" y="28"/>
                        </a:lnTo>
                        <a:lnTo>
                          <a:pt x="212" y="31"/>
                        </a:lnTo>
                        <a:lnTo>
                          <a:pt x="205" y="35"/>
                        </a:lnTo>
                        <a:lnTo>
                          <a:pt x="199" y="39"/>
                        </a:lnTo>
                        <a:lnTo>
                          <a:pt x="192" y="45"/>
                        </a:lnTo>
                        <a:lnTo>
                          <a:pt x="186" y="52"/>
                        </a:lnTo>
                        <a:lnTo>
                          <a:pt x="180" y="61"/>
                        </a:lnTo>
                        <a:lnTo>
                          <a:pt x="173" y="73"/>
                        </a:lnTo>
                        <a:lnTo>
                          <a:pt x="167" y="86"/>
                        </a:lnTo>
                        <a:lnTo>
                          <a:pt x="159" y="101"/>
                        </a:lnTo>
                        <a:lnTo>
                          <a:pt x="172" y="95"/>
                        </a:lnTo>
                        <a:lnTo>
                          <a:pt x="183" y="89"/>
                        </a:lnTo>
                        <a:lnTo>
                          <a:pt x="197" y="82"/>
                        </a:lnTo>
                        <a:lnTo>
                          <a:pt x="212" y="75"/>
                        </a:lnTo>
                        <a:lnTo>
                          <a:pt x="218" y="73"/>
                        </a:lnTo>
                        <a:lnTo>
                          <a:pt x="225" y="70"/>
                        </a:lnTo>
                        <a:lnTo>
                          <a:pt x="232" y="69"/>
                        </a:lnTo>
                        <a:lnTo>
                          <a:pt x="240" y="66"/>
                        </a:lnTo>
                        <a:lnTo>
                          <a:pt x="249" y="65"/>
                        </a:lnTo>
                        <a:lnTo>
                          <a:pt x="256" y="64"/>
                        </a:lnTo>
                        <a:lnTo>
                          <a:pt x="263" y="64"/>
                        </a:lnTo>
                        <a:lnTo>
                          <a:pt x="272" y="63"/>
                        </a:lnTo>
                        <a:lnTo>
                          <a:pt x="281" y="64"/>
                        </a:lnTo>
                        <a:lnTo>
                          <a:pt x="288" y="64"/>
                        </a:lnTo>
                        <a:lnTo>
                          <a:pt x="297" y="65"/>
                        </a:lnTo>
                        <a:lnTo>
                          <a:pt x="305" y="65"/>
                        </a:lnTo>
                        <a:lnTo>
                          <a:pt x="313" y="66"/>
                        </a:lnTo>
                        <a:lnTo>
                          <a:pt x="321" y="67"/>
                        </a:lnTo>
                        <a:lnTo>
                          <a:pt x="329" y="68"/>
                        </a:lnTo>
                        <a:lnTo>
                          <a:pt x="338" y="69"/>
                        </a:lnTo>
                        <a:lnTo>
                          <a:pt x="346" y="69"/>
                        </a:lnTo>
                        <a:lnTo>
                          <a:pt x="354" y="70"/>
                        </a:lnTo>
                        <a:lnTo>
                          <a:pt x="364" y="71"/>
                        </a:lnTo>
                        <a:lnTo>
                          <a:pt x="374" y="72"/>
                        </a:lnTo>
                        <a:lnTo>
                          <a:pt x="383" y="74"/>
                        </a:lnTo>
                        <a:lnTo>
                          <a:pt x="397" y="75"/>
                        </a:lnTo>
                        <a:lnTo>
                          <a:pt x="402" y="75"/>
                        </a:lnTo>
                        <a:lnTo>
                          <a:pt x="406" y="75"/>
                        </a:lnTo>
                        <a:lnTo>
                          <a:pt x="411" y="77"/>
                        </a:lnTo>
                        <a:lnTo>
                          <a:pt x="419" y="80"/>
                        </a:lnTo>
                        <a:lnTo>
                          <a:pt x="404" y="77"/>
                        </a:lnTo>
                        <a:lnTo>
                          <a:pt x="398" y="76"/>
                        </a:lnTo>
                        <a:lnTo>
                          <a:pt x="392" y="76"/>
                        </a:lnTo>
                        <a:lnTo>
                          <a:pt x="379" y="77"/>
                        </a:lnTo>
                        <a:lnTo>
                          <a:pt x="370" y="78"/>
                        </a:lnTo>
                        <a:lnTo>
                          <a:pt x="360" y="78"/>
                        </a:lnTo>
                        <a:lnTo>
                          <a:pt x="350" y="78"/>
                        </a:lnTo>
                        <a:lnTo>
                          <a:pt x="341" y="79"/>
                        </a:lnTo>
                        <a:lnTo>
                          <a:pt x="332" y="79"/>
                        </a:lnTo>
                        <a:lnTo>
                          <a:pt x="325" y="78"/>
                        </a:lnTo>
                        <a:lnTo>
                          <a:pt x="315" y="78"/>
                        </a:lnTo>
                        <a:lnTo>
                          <a:pt x="305" y="78"/>
                        </a:lnTo>
                        <a:lnTo>
                          <a:pt x="296" y="79"/>
                        </a:lnTo>
                        <a:lnTo>
                          <a:pt x="288" y="80"/>
                        </a:lnTo>
                        <a:lnTo>
                          <a:pt x="279" y="80"/>
                        </a:lnTo>
                        <a:lnTo>
                          <a:pt x="272" y="80"/>
                        </a:lnTo>
                        <a:lnTo>
                          <a:pt x="264" y="81"/>
                        </a:lnTo>
                        <a:lnTo>
                          <a:pt x="256" y="83"/>
                        </a:lnTo>
                        <a:lnTo>
                          <a:pt x="249" y="84"/>
                        </a:lnTo>
                        <a:lnTo>
                          <a:pt x="242" y="86"/>
                        </a:lnTo>
                        <a:lnTo>
                          <a:pt x="235" y="87"/>
                        </a:lnTo>
                        <a:lnTo>
                          <a:pt x="227" y="89"/>
                        </a:lnTo>
                        <a:lnTo>
                          <a:pt x="219" y="92"/>
                        </a:lnTo>
                        <a:lnTo>
                          <a:pt x="212" y="93"/>
                        </a:lnTo>
                        <a:lnTo>
                          <a:pt x="199" y="97"/>
                        </a:lnTo>
                        <a:lnTo>
                          <a:pt x="191" y="98"/>
                        </a:lnTo>
                        <a:lnTo>
                          <a:pt x="180" y="104"/>
                        </a:lnTo>
                        <a:lnTo>
                          <a:pt x="164" y="109"/>
                        </a:lnTo>
                        <a:lnTo>
                          <a:pt x="180" y="111"/>
                        </a:lnTo>
                        <a:lnTo>
                          <a:pt x="199" y="112"/>
                        </a:lnTo>
                        <a:lnTo>
                          <a:pt x="203" y="113"/>
                        </a:lnTo>
                        <a:lnTo>
                          <a:pt x="212" y="118"/>
                        </a:lnTo>
                        <a:lnTo>
                          <a:pt x="217" y="120"/>
                        </a:lnTo>
                        <a:lnTo>
                          <a:pt x="223" y="123"/>
                        </a:lnTo>
                        <a:lnTo>
                          <a:pt x="224" y="125"/>
                        </a:lnTo>
                        <a:lnTo>
                          <a:pt x="227" y="130"/>
                        </a:lnTo>
                        <a:lnTo>
                          <a:pt x="233" y="140"/>
                        </a:lnTo>
                        <a:lnTo>
                          <a:pt x="227" y="136"/>
                        </a:lnTo>
                        <a:lnTo>
                          <a:pt x="219" y="131"/>
                        </a:lnTo>
                        <a:lnTo>
                          <a:pt x="212" y="129"/>
                        </a:lnTo>
                        <a:lnTo>
                          <a:pt x="199" y="125"/>
                        </a:lnTo>
                        <a:lnTo>
                          <a:pt x="190" y="123"/>
                        </a:lnTo>
                        <a:lnTo>
                          <a:pt x="180" y="120"/>
                        </a:lnTo>
                        <a:lnTo>
                          <a:pt x="175" y="119"/>
                        </a:lnTo>
                        <a:lnTo>
                          <a:pt x="165" y="120"/>
                        </a:lnTo>
                        <a:lnTo>
                          <a:pt x="158" y="122"/>
                        </a:lnTo>
                        <a:lnTo>
                          <a:pt x="148" y="123"/>
                        </a:lnTo>
                        <a:lnTo>
                          <a:pt x="153" y="125"/>
                        </a:lnTo>
                        <a:lnTo>
                          <a:pt x="158" y="127"/>
                        </a:lnTo>
                        <a:lnTo>
                          <a:pt x="165" y="129"/>
                        </a:lnTo>
                        <a:lnTo>
                          <a:pt x="173" y="129"/>
                        </a:lnTo>
                        <a:lnTo>
                          <a:pt x="186" y="129"/>
                        </a:lnTo>
                        <a:lnTo>
                          <a:pt x="194" y="131"/>
                        </a:lnTo>
                        <a:lnTo>
                          <a:pt x="204" y="133"/>
                        </a:lnTo>
                        <a:lnTo>
                          <a:pt x="212" y="136"/>
                        </a:lnTo>
                        <a:lnTo>
                          <a:pt x="221" y="138"/>
                        </a:lnTo>
                        <a:lnTo>
                          <a:pt x="231" y="141"/>
                        </a:lnTo>
                        <a:lnTo>
                          <a:pt x="240" y="143"/>
                        </a:lnTo>
                        <a:lnTo>
                          <a:pt x="248" y="145"/>
                        </a:lnTo>
                        <a:lnTo>
                          <a:pt x="254" y="146"/>
                        </a:lnTo>
                        <a:lnTo>
                          <a:pt x="261" y="148"/>
                        </a:lnTo>
                        <a:lnTo>
                          <a:pt x="269" y="150"/>
                        </a:lnTo>
                        <a:lnTo>
                          <a:pt x="277" y="154"/>
                        </a:lnTo>
                        <a:lnTo>
                          <a:pt x="285" y="158"/>
                        </a:lnTo>
                        <a:lnTo>
                          <a:pt x="289" y="160"/>
                        </a:lnTo>
                        <a:lnTo>
                          <a:pt x="295" y="167"/>
                        </a:lnTo>
                        <a:lnTo>
                          <a:pt x="302" y="174"/>
                        </a:lnTo>
                        <a:lnTo>
                          <a:pt x="306" y="181"/>
                        </a:lnTo>
                        <a:lnTo>
                          <a:pt x="311" y="188"/>
                        </a:lnTo>
                        <a:lnTo>
                          <a:pt x="316" y="195"/>
                        </a:lnTo>
                        <a:lnTo>
                          <a:pt x="320" y="202"/>
                        </a:lnTo>
                        <a:lnTo>
                          <a:pt x="325" y="208"/>
                        </a:lnTo>
                        <a:lnTo>
                          <a:pt x="329" y="215"/>
                        </a:lnTo>
                        <a:lnTo>
                          <a:pt x="335" y="223"/>
                        </a:lnTo>
                        <a:lnTo>
                          <a:pt x="339" y="232"/>
                        </a:lnTo>
                        <a:lnTo>
                          <a:pt x="345" y="238"/>
                        </a:lnTo>
                        <a:lnTo>
                          <a:pt x="351" y="246"/>
                        </a:lnTo>
                        <a:lnTo>
                          <a:pt x="343" y="240"/>
                        </a:lnTo>
                        <a:lnTo>
                          <a:pt x="337" y="236"/>
                        </a:lnTo>
                        <a:lnTo>
                          <a:pt x="329" y="231"/>
                        </a:lnTo>
                        <a:lnTo>
                          <a:pt x="321" y="225"/>
                        </a:lnTo>
                        <a:lnTo>
                          <a:pt x="315" y="220"/>
                        </a:lnTo>
                        <a:lnTo>
                          <a:pt x="309" y="215"/>
                        </a:lnTo>
                        <a:lnTo>
                          <a:pt x="303" y="212"/>
                        </a:lnTo>
                        <a:lnTo>
                          <a:pt x="297" y="208"/>
                        </a:lnTo>
                        <a:lnTo>
                          <a:pt x="290" y="204"/>
                        </a:lnTo>
                        <a:lnTo>
                          <a:pt x="284" y="200"/>
                        </a:lnTo>
                        <a:lnTo>
                          <a:pt x="278" y="196"/>
                        </a:lnTo>
                        <a:lnTo>
                          <a:pt x="271" y="191"/>
                        </a:lnTo>
                        <a:lnTo>
                          <a:pt x="263" y="186"/>
                        </a:lnTo>
                        <a:lnTo>
                          <a:pt x="255" y="179"/>
                        </a:lnTo>
                        <a:lnTo>
                          <a:pt x="248" y="174"/>
                        </a:lnTo>
                        <a:lnTo>
                          <a:pt x="241" y="170"/>
                        </a:lnTo>
                        <a:lnTo>
                          <a:pt x="234" y="166"/>
                        </a:lnTo>
                        <a:lnTo>
                          <a:pt x="226" y="162"/>
                        </a:lnTo>
                        <a:lnTo>
                          <a:pt x="219" y="159"/>
                        </a:lnTo>
                        <a:lnTo>
                          <a:pt x="212" y="157"/>
                        </a:lnTo>
                        <a:lnTo>
                          <a:pt x="202" y="154"/>
                        </a:lnTo>
                        <a:lnTo>
                          <a:pt x="192" y="151"/>
                        </a:lnTo>
                        <a:lnTo>
                          <a:pt x="185" y="150"/>
                        </a:lnTo>
                        <a:lnTo>
                          <a:pt x="178" y="147"/>
                        </a:lnTo>
                        <a:lnTo>
                          <a:pt x="167" y="142"/>
                        </a:lnTo>
                        <a:lnTo>
                          <a:pt x="156" y="137"/>
                        </a:lnTo>
                        <a:lnTo>
                          <a:pt x="173" y="148"/>
                        </a:lnTo>
                        <a:lnTo>
                          <a:pt x="174" y="150"/>
                        </a:lnTo>
                        <a:lnTo>
                          <a:pt x="178" y="155"/>
                        </a:lnTo>
                        <a:lnTo>
                          <a:pt x="182" y="160"/>
                        </a:lnTo>
                        <a:lnTo>
                          <a:pt x="187" y="167"/>
                        </a:lnTo>
                        <a:lnTo>
                          <a:pt x="192" y="173"/>
                        </a:lnTo>
                        <a:lnTo>
                          <a:pt x="196" y="181"/>
                        </a:lnTo>
                        <a:lnTo>
                          <a:pt x="202" y="188"/>
                        </a:lnTo>
                        <a:lnTo>
                          <a:pt x="207" y="194"/>
                        </a:lnTo>
                        <a:lnTo>
                          <a:pt x="212" y="200"/>
                        </a:lnTo>
                        <a:lnTo>
                          <a:pt x="216" y="207"/>
                        </a:lnTo>
                        <a:lnTo>
                          <a:pt x="223" y="216"/>
                        </a:lnTo>
                        <a:lnTo>
                          <a:pt x="227" y="223"/>
                        </a:lnTo>
                        <a:lnTo>
                          <a:pt x="231" y="229"/>
                        </a:lnTo>
                        <a:lnTo>
                          <a:pt x="235" y="236"/>
                        </a:lnTo>
                        <a:lnTo>
                          <a:pt x="238" y="243"/>
                        </a:lnTo>
                        <a:lnTo>
                          <a:pt x="241" y="250"/>
                        </a:lnTo>
                        <a:lnTo>
                          <a:pt x="243" y="255"/>
                        </a:lnTo>
                        <a:lnTo>
                          <a:pt x="244" y="262"/>
                        </a:lnTo>
                        <a:lnTo>
                          <a:pt x="245" y="272"/>
                        </a:lnTo>
                        <a:lnTo>
                          <a:pt x="246" y="281"/>
                        </a:lnTo>
                        <a:lnTo>
                          <a:pt x="247" y="290"/>
                        </a:lnTo>
                        <a:lnTo>
                          <a:pt x="249" y="299"/>
                        </a:lnTo>
                        <a:lnTo>
                          <a:pt x="250" y="308"/>
                        </a:lnTo>
                        <a:lnTo>
                          <a:pt x="243" y="299"/>
                        </a:lnTo>
                        <a:lnTo>
                          <a:pt x="238" y="292"/>
                        </a:lnTo>
                        <a:lnTo>
                          <a:pt x="233" y="286"/>
                        </a:lnTo>
                        <a:lnTo>
                          <a:pt x="231" y="281"/>
                        </a:lnTo>
                        <a:lnTo>
                          <a:pt x="227" y="274"/>
                        </a:lnTo>
                        <a:lnTo>
                          <a:pt x="225" y="267"/>
                        </a:lnTo>
                        <a:lnTo>
                          <a:pt x="222" y="259"/>
                        </a:lnTo>
                        <a:lnTo>
                          <a:pt x="218" y="251"/>
                        </a:lnTo>
                        <a:lnTo>
                          <a:pt x="214" y="242"/>
                        </a:lnTo>
                        <a:lnTo>
                          <a:pt x="211" y="235"/>
                        </a:lnTo>
                        <a:lnTo>
                          <a:pt x="207" y="227"/>
                        </a:lnTo>
                        <a:lnTo>
                          <a:pt x="202" y="220"/>
                        </a:lnTo>
                        <a:lnTo>
                          <a:pt x="199" y="215"/>
                        </a:lnTo>
                        <a:lnTo>
                          <a:pt x="193" y="208"/>
                        </a:lnTo>
                        <a:lnTo>
                          <a:pt x="187" y="201"/>
                        </a:lnTo>
                        <a:lnTo>
                          <a:pt x="182" y="196"/>
                        </a:lnTo>
                        <a:lnTo>
                          <a:pt x="177" y="190"/>
                        </a:lnTo>
                        <a:lnTo>
                          <a:pt x="176" y="184"/>
                        </a:lnTo>
                        <a:lnTo>
                          <a:pt x="173" y="177"/>
                        </a:lnTo>
                        <a:lnTo>
                          <a:pt x="169" y="170"/>
                        </a:lnTo>
                        <a:lnTo>
                          <a:pt x="166" y="163"/>
                        </a:lnTo>
                        <a:lnTo>
                          <a:pt x="164" y="161"/>
                        </a:lnTo>
                        <a:lnTo>
                          <a:pt x="158" y="154"/>
                        </a:lnTo>
                        <a:lnTo>
                          <a:pt x="154" y="148"/>
                        </a:lnTo>
                        <a:lnTo>
                          <a:pt x="150" y="142"/>
                        </a:lnTo>
                        <a:lnTo>
                          <a:pt x="145" y="136"/>
                        </a:lnTo>
                        <a:lnTo>
                          <a:pt x="138" y="140"/>
                        </a:lnTo>
                        <a:lnTo>
                          <a:pt x="131" y="144"/>
                        </a:lnTo>
                        <a:lnTo>
                          <a:pt x="123" y="151"/>
                        </a:lnTo>
                        <a:lnTo>
                          <a:pt x="115" y="156"/>
                        </a:lnTo>
                        <a:lnTo>
                          <a:pt x="109" y="162"/>
                        </a:lnTo>
                        <a:lnTo>
                          <a:pt x="105" y="168"/>
                        </a:lnTo>
                        <a:lnTo>
                          <a:pt x="99" y="176"/>
                        </a:lnTo>
                        <a:lnTo>
                          <a:pt x="93" y="186"/>
                        </a:lnTo>
                        <a:lnTo>
                          <a:pt x="87" y="193"/>
                        </a:lnTo>
                        <a:lnTo>
                          <a:pt x="81" y="202"/>
                        </a:lnTo>
                        <a:lnTo>
                          <a:pt x="77" y="210"/>
                        </a:lnTo>
                        <a:lnTo>
                          <a:pt x="72" y="218"/>
                        </a:lnTo>
                        <a:lnTo>
                          <a:pt x="67" y="226"/>
                        </a:lnTo>
                        <a:lnTo>
                          <a:pt x="64" y="233"/>
                        </a:lnTo>
                        <a:lnTo>
                          <a:pt x="59" y="242"/>
                        </a:lnTo>
                        <a:lnTo>
                          <a:pt x="55" y="250"/>
                        </a:lnTo>
                        <a:lnTo>
                          <a:pt x="49" y="260"/>
                        </a:lnTo>
                        <a:lnTo>
                          <a:pt x="43" y="269"/>
                        </a:lnTo>
                        <a:lnTo>
                          <a:pt x="37" y="280"/>
                        </a:lnTo>
                        <a:lnTo>
                          <a:pt x="31" y="289"/>
                        </a:lnTo>
                        <a:lnTo>
                          <a:pt x="27" y="294"/>
                        </a:lnTo>
                        <a:lnTo>
                          <a:pt x="22" y="300"/>
                        </a:lnTo>
                        <a:lnTo>
                          <a:pt x="18" y="306"/>
                        </a:lnTo>
                        <a:lnTo>
                          <a:pt x="12" y="312"/>
                        </a:lnTo>
                        <a:lnTo>
                          <a:pt x="7" y="317"/>
                        </a:lnTo>
                        <a:lnTo>
                          <a:pt x="0" y="325"/>
                        </a:lnTo>
                        <a:lnTo>
                          <a:pt x="2" y="316"/>
                        </a:lnTo>
                        <a:lnTo>
                          <a:pt x="4" y="309"/>
                        </a:lnTo>
                        <a:lnTo>
                          <a:pt x="8" y="301"/>
                        </a:lnTo>
                        <a:lnTo>
                          <a:pt x="12" y="294"/>
                        </a:lnTo>
                        <a:lnTo>
                          <a:pt x="19" y="284"/>
                        </a:lnTo>
                        <a:lnTo>
                          <a:pt x="26" y="274"/>
                        </a:lnTo>
                        <a:lnTo>
                          <a:pt x="33" y="262"/>
                        </a:lnTo>
                        <a:lnTo>
                          <a:pt x="39" y="253"/>
                        </a:lnTo>
                        <a:lnTo>
                          <a:pt x="45" y="243"/>
                        </a:lnTo>
                        <a:lnTo>
                          <a:pt x="51" y="235"/>
                        </a:lnTo>
                        <a:lnTo>
                          <a:pt x="56" y="227"/>
                        </a:lnTo>
                        <a:lnTo>
                          <a:pt x="61" y="220"/>
                        </a:lnTo>
                        <a:lnTo>
                          <a:pt x="66" y="214"/>
                        </a:lnTo>
                        <a:lnTo>
                          <a:pt x="72" y="206"/>
                        </a:lnTo>
                        <a:lnTo>
                          <a:pt x="78" y="198"/>
                        </a:lnTo>
                        <a:lnTo>
                          <a:pt x="84" y="190"/>
                        </a:lnTo>
                        <a:lnTo>
                          <a:pt x="90" y="181"/>
                        </a:lnTo>
                        <a:lnTo>
                          <a:pt x="95" y="174"/>
                        </a:lnTo>
                        <a:lnTo>
                          <a:pt x="101" y="166"/>
                        </a:lnTo>
                        <a:lnTo>
                          <a:pt x="104" y="160"/>
                        </a:lnTo>
                        <a:lnTo>
                          <a:pt x="107" y="154"/>
                        </a:lnTo>
                        <a:lnTo>
                          <a:pt x="109" y="149"/>
                        </a:lnTo>
                        <a:lnTo>
                          <a:pt x="112" y="143"/>
                        </a:lnTo>
                        <a:lnTo>
                          <a:pt x="116" y="138"/>
                        </a:lnTo>
                        <a:lnTo>
                          <a:pt x="122" y="131"/>
                        </a:lnTo>
                        <a:lnTo>
                          <a:pt x="128" y="125"/>
                        </a:lnTo>
                        <a:lnTo>
                          <a:pt x="132" y="120"/>
                        </a:lnTo>
                        <a:lnTo>
                          <a:pt x="137" y="114"/>
                        </a:lnTo>
                        <a:lnTo>
                          <a:pt x="135" y="109"/>
                        </a:lnTo>
                        <a:lnTo>
                          <a:pt x="133" y="101"/>
                        </a:lnTo>
                        <a:lnTo>
                          <a:pt x="121" y="97"/>
                        </a:lnTo>
                        <a:lnTo>
                          <a:pt x="108" y="88"/>
                        </a:lnTo>
                        <a:lnTo>
                          <a:pt x="95" y="79"/>
                        </a:lnTo>
                        <a:lnTo>
                          <a:pt x="87" y="74"/>
                        </a:lnTo>
                        <a:lnTo>
                          <a:pt x="81" y="71"/>
                        </a:lnTo>
                        <a:lnTo>
                          <a:pt x="71" y="66"/>
                        </a:lnTo>
                        <a:lnTo>
                          <a:pt x="61" y="63"/>
                        </a:lnTo>
                        <a:lnTo>
                          <a:pt x="50" y="60"/>
                        </a:lnTo>
                        <a:lnTo>
                          <a:pt x="42" y="57"/>
                        </a:lnTo>
                        <a:lnTo>
                          <a:pt x="32" y="53"/>
                        </a:lnTo>
                        <a:lnTo>
                          <a:pt x="23" y="51"/>
                        </a:lnTo>
                        <a:lnTo>
                          <a:pt x="14" y="49"/>
                        </a:lnTo>
                        <a:lnTo>
                          <a:pt x="7" y="47"/>
                        </a:lnTo>
                        <a:lnTo>
                          <a:pt x="14" y="46"/>
                        </a:lnTo>
                        <a:lnTo>
                          <a:pt x="19" y="45"/>
                        </a:lnTo>
                        <a:lnTo>
                          <a:pt x="23" y="44"/>
                        </a:lnTo>
                        <a:lnTo>
                          <a:pt x="28" y="44"/>
                        </a:lnTo>
                        <a:lnTo>
                          <a:pt x="33" y="44"/>
                        </a:lnTo>
                        <a:lnTo>
                          <a:pt x="43" y="49"/>
                        </a:lnTo>
                        <a:lnTo>
                          <a:pt x="51" y="53"/>
                        </a:lnTo>
                        <a:lnTo>
                          <a:pt x="60" y="58"/>
                        </a:lnTo>
                        <a:lnTo>
                          <a:pt x="69" y="63"/>
                        </a:lnTo>
                        <a:lnTo>
                          <a:pt x="79" y="68"/>
                        </a:lnTo>
                        <a:lnTo>
                          <a:pt x="89" y="74"/>
                        </a:lnTo>
                        <a:lnTo>
                          <a:pt x="96" y="77"/>
                        </a:lnTo>
                        <a:lnTo>
                          <a:pt x="109" y="84"/>
                        </a:lnTo>
                        <a:lnTo>
                          <a:pt x="116" y="86"/>
                        </a:lnTo>
                        <a:lnTo>
                          <a:pt x="122" y="85"/>
                        </a:lnTo>
                        <a:lnTo>
                          <a:pt x="127" y="84"/>
                        </a:lnTo>
                        <a:lnTo>
                          <a:pt x="132" y="83"/>
                        </a:lnTo>
                      </a:path>
                    </a:pathLst>
                  </a:custGeom>
                  <a:solidFill>
                    <a:srgbClr val="037C03">
                      <a:alpha val="50195"/>
                    </a:srgbClr>
                  </a:solidFill>
                  <a:ln w="9525">
                    <a:noFill/>
                  </a:ln>
                </p:spPr>
                <p:txBody>
                  <a:bodyPr/>
                  <a:lstStyle/>
                  <a:p>
                    <a:endParaRPr lang="zh-CN" altLang="en-US"/>
                  </a:p>
                </p:txBody>
              </p:sp>
              <p:sp>
                <p:nvSpPr>
                  <p:cNvPr id="89309" name="Freeform 25"/>
                  <p:cNvSpPr/>
                  <p:nvPr/>
                </p:nvSpPr>
                <p:spPr>
                  <a:xfrm>
                    <a:off x="2175" y="1587"/>
                    <a:ext cx="38" cy="181"/>
                  </a:xfrm>
                  <a:custGeom>
                    <a:avLst/>
                    <a:gdLst>
                      <a:gd name="txL" fmla="*/ 0 w 38"/>
                      <a:gd name="txT" fmla="*/ 0 h 181"/>
                      <a:gd name="txR" fmla="*/ 38 w 38"/>
                      <a:gd name="txB" fmla="*/ 181 h 181"/>
                    </a:gdLst>
                    <a:ahLst/>
                    <a:cxnLst>
                      <a:cxn ang="0">
                        <a:pos x="20" y="0"/>
                      </a:cxn>
                      <a:cxn ang="0">
                        <a:pos x="24" y="8"/>
                      </a:cxn>
                      <a:cxn ang="0">
                        <a:pos x="27" y="14"/>
                      </a:cxn>
                      <a:cxn ang="0">
                        <a:pos x="33" y="22"/>
                      </a:cxn>
                      <a:cxn ang="0">
                        <a:pos x="35" y="30"/>
                      </a:cxn>
                      <a:cxn ang="0">
                        <a:pos x="36" y="41"/>
                      </a:cxn>
                      <a:cxn ang="0">
                        <a:pos x="36" y="53"/>
                      </a:cxn>
                      <a:cxn ang="0">
                        <a:pos x="37" y="61"/>
                      </a:cxn>
                      <a:cxn ang="0">
                        <a:pos x="36" y="70"/>
                      </a:cxn>
                      <a:cxn ang="0">
                        <a:pos x="35" y="81"/>
                      </a:cxn>
                      <a:cxn ang="0">
                        <a:pos x="33" y="91"/>
                      </a:cxn>
                      <a:cxn ang="0">
                        <a:pos x="30" y="106"/>
                      </a:cxn>
                      <a:cxn ang="0">
                        <a:pos x="28" y="114"/>
                      </a:cxn>
                      <a:cxn ang="0">
                        <a:pos x="23" y="124"/>
                      </a:cxn>
                      <a:cxn ang="0">
                        <a:pos x="17" y="135"/>
                      </a:cxn>
                      <a:cxn ang="0">
                        <a:pos x="12" y="145"/>
                      </a:cxn>
                      <a:cxn ang="0">
                        <a:pos x="7" y="155"/>
                      </a:cxn>
                      <a:cxn ang="0">
                        <a:pos x="3" y="163"/>
                      </a:cxn>
                      <a:cxn ang="0">
                        <a:pos x="0" y="180"/>
                      </a:cxn>
                      <a:cxn ang="0">
                        <a:pos x="1" y="163"/>
                      </a:cxn>
                      <a:cxn ang="0">
                        <a:pos x="3" y="152"/>
                      </a:cxn>
                      <a:cxn ang="0">
                        <a:pos x="4" y="141"/>
                      </a:cxn>
                      <a:cxn ang="0">
                        <a:pos x="5" y="130"/>
                      </a:cxn>
                      <a:cxn ang="0">
                        <a:pos x="7" y="116"/>
                      </a:cxn>
                      <a:cxn ang="0">
                        <a:pos x="9" y="106"/>
                      </a:cxn>
                      <a:cxn ang="0">
                        <a:pos x="12" y="96"/>
                      </a:cxn>
                      <a:cxn ang="0">
                        <a:pos x="15" y="87"/>
                      </a:cxn>
                      <a:cxn ang="0">
                        <a:pos x="17" y="77"/>
                      </a:cxn>
                      <a:cxn ang="0">
                        <a:pos x="20" y="67"/>
                      </a:cxn>
                      <a:cxn ang="0">
                        <a:pos x="21" y="57"/>
                      </a:cxn>
                      <a:cxn ang="0">
                        <a:pos x="22" y="49"/>
                      </a:cxn>
                      <a:cxn ang="0">
                        <a:pos x="23" y="39"/>
                      </a:cxn>
                      <a:cxn ang="0">
                        <a:pos x="23" y="28"/>
                      </a:cxn>
                      <a:cxn ang="0">
                        <a:pos x="23" y="14"/>
                      </a:cxn>
                      <a:cxn ang="0">
                        <a:pos x="22" y="8"/>
                      </a:cxn>
                      <a:cxn ang="0">
                        <a:pos x="20" y="0"/>
                      </a:cxn>
                    </a:cxnLst>
                    <a:rect l="txL" t="txT" r="txR" b="txB"/>
                    <a:pathLst>
                      <a:path w="38" h="181">
                        <a:moveTo>
                          <a:pt x="20" y="0"/>
                        </a:moveTo>
                        <a:lnTo>
                          <a:pt x="24" y="8"/>
                        </a:lnTo>
                        <a:lnTo>
                          <a:pt x="27" y="14"/>
                        </a:lnTo>
                        <a:lnTo>
                          <a:pt x="33" y="22"/>
                        </a:lnTo>
                        <a:lnTo>
                          <a:pt x="35" y="30"/>
                        </a:lnTo>
                        <a:lnTo>
                          <a:pt x="36" y="41"/>
                        </a:lnTo>
                        <a:lnTo>
                          <a:pt x="36" y="53"/>
                        </a:lnTo>
                        <a:lnTo>
                          <a:pt x="37" y="61"/>
                        </a:lnTo>
                        <a:lnTo>
                          <a:pt x="36" y="70"/>
                        </a:lnTo>
                        <a:lnTo>
                          <a:pt x="35" y="81"/>
                        </a:lnTo>
                        <a:lnTo>
                          <a:pt x="33" y="91"/>
                        </a:lnTo>
                        <a:lnTo>
                          <a:pt x="30" y="106"/>
                        </a:lnTo>
                        <a:lnTo>
                          <a:pt x="28" y="114"/>
                        </a:lnTo>
                        <a:lnTo>
                          <a:pt x="23" y="124"/>
                        </a:lnTo>
                        <a:lnTo>
                          <a:pt x="17" y="135"/>
                        </a:lnTo>
                        <a:lnTo>
                          <a:pt x="12" y="145"/>
                        </a:lnTo>
                        <a:lnTo>
                          <a:pt x="7" y="155"/>
                        </a:lnTo>
                        <a:lnTo>
                          <a:pt x="3" y="163"/>
                        </a:lnTo>
                        <a:lnTo>
                          <a:pt x="0" y="180"/>
                        </a:lnTo>
                        <a:lnTo>
                          <a:pt x="1" y="163"/>
                        </a:lnTo>
                        <a:lnTo>
                          <a:pt x="3" y="152"/>
                        </a:lnTo>
                        <a:lnTo>
                          <a:pt x="4" y="141"/>
                        </a:lnTo>
                        <a:lnTo>
                          <a:pt x="5" y="130"/>
                        </a:lnTo>
                        <a:lnTo>
                          <a:pt x="7" y="116"/>
                        </a:lnTo>
                        <a:lnTo>
                          <a:pt x="9" y="106"/>
                        </a:lnTo>
                        <a:lnTo>
                          <a:pt x="12" y="96"/>
                        </a:lnTo>
                        <a:lnTo>
                          <a:pt x="15" y="87"/>
                        </a:lnTo>
                        <a:lnTo>
                          <a:pt x="17" y="77"/>
                        </a:lnTo>
                        <a:lnTo>
                          <a:pt x="20" y="67"/>
                        </a:lnTo>
                        <a:lnTo>
                          <a:pt x="21" y="57"/>
                        </a:lnTo>
                        <a:lnTo>
                          <a:pt x="22" y="49"/>
                        </a:lnTo>
                        <a:lnTo>
                          <a:pt x="23" y="39"/>
                        </a:lnTo>
                        <a:lnTo>
                          <a:pt x="23" y="28"/>
                        </a:lnTo>
                        <a:lnTo>
                          <a:pt x="23" y="14"/>
                        </a:lnTo>
                        <a:lnTo>
                          <a:pt x="22" y="8"/>
                        </a:lnTo>
                        <a:lnTo>
                          <a:pt x="20" y="0"/>
                        </a:lnTo>
                      </a:path>
                    </a:pathLst>
                  </a:custGeom>
                  <a:solidFill>
                    <a:srgbClr val="037C03">
                      <a:alpha val="50195"/>
                    </a:srgbClr>
                  </a:solidFill>
                  <a:ln w="9525">
                    <a:noFill/>
                  </a:ln>
                </p:spPr>
                <p:txBody>
                  <a:bodyPr/>
                  <a:lstStyle/>
                  <a:p>
                    <a:endParaRPr lang="zh-CN" altLang="en-US"/>
                  </a:p>
                </p:txBody>
              </p:sp>
              <p:sp>
                <p:nvSpPr>
                  <p:cNvPr id="89310" name="Freeform 26"/>
                  <p:cNvSpPr/>
                  <p:nvPr/>
                </p:nvSpPr>
                <p:spPr>
                  <a:xfrm>
                    <a:off x="1991" y="1486"/>
                    <a:ext cx="168" cy="48"/>
                  </a:xfrm>
                  <a:custGeom>
                    <a:avLst/>
                    <a:gdLst>
                      <a:gd name="txL" fmla="*/ 0 w 168"/>
                      <a:gd name="txT" fmla="*/ 0 h 48"/>
                      <a:gd name="txR" fmla="*/ 168 w 168"/>
                      <a:gd name="txB" fmla="*/ 48 h 48"/>
                    </a:gdLst>
                    <a:ahLst/>
                    <a:cxnLst>
                      <a:cxn ang="0">
                        <a:pos x="167" y="47"/>
                      </a:cxn>
                      <a:cxn ang="0">
                        <a:pos x="164" y="38"/>
                      </a:cxn>
                      <a:cxn ang="0">
                        <a:pos x="160" y="31"/>
                      </a:cxn>
                      <a:cxn ang="0">
                        <a:pos x="157" y="30"/>
                      </a:cxn>
                      <a:cxn ang="0">
                        <a:pos x="150" y="28"/>
                      </a:cxn>
                      <a:cxn ang="0">
                        <a:pos x="144" y="26"/>
                      </a:cxn>
                      <a:cxn ang="0">
                        <a:pos x="137" y="28"/>
                      </a:cxn>
                      <a:cxn ang="0">
                        <a:pos x="130" y="29"/>
                      </a:cxn>
                      <a:cxn ang="0">
                        <a:pos x="121" y="25"/>
                      </a:cxn>
                      <a:cxn ang="0">
                        <a:pos x="109" y="21"/>
                      </a:cxn>
                      <a:cxn ang="0">
                        <a:pos x="98" y="17"/>
                      </a:cxn>
                      <a:cxn ang="0">
                        <a:pos x="91" y="15"/>
                      </a:cxn>
                      <a:cxn ang="0">
                        <a:pos x="78" y="12"/>
                      </a:cxn>
                      <a:cxn ang="0">
                        <a:pos x="66" y="8"/>
                      </a:cxn>
                      <a:cxn ang="0">
                        <a:pos x="54" y="4"/>
                      </a:cxn>
                      <a:cxn ang="0">
                        <a:pos x="41" y="1"/>
                      </a:cxn>
                      <a:cxn ang="0">
                        <a:pos x="28" y="0"/>
                      </a:cxn>
                      <a:cxn ang="0">
                        <a:pos x="15" y="0"/>
                      </a:cxn>
                      <a:cxn ang="0">
                        <a:pos x="12" y="1"/>
                      </a:cxn>
                      <a:cxn ang="0">
                        <a:pos x="7" y="4"/>
                      </a:cxn>
                      <a:cxn ang="0">
                        <a:pos x="3" y="7"/>
                      </a:cxn>
                      <a:cxn ang="0">
                        <a:pos x="0" y="10"/>
                      </a:cxn>
                      <a:cxn ang="0">
                        <a:pos x="5" y="10"/>
                      </a:cxn>
                      <a:cxn ang="0">
                        <a:pos x="12" y="11"/>
                      </a:cxn>
                      <a:cxn ang="0">
                        <a:pos x="18" y="12"/>
                      </a:cxn>
                      <a:cxn ang="0">
                        <a:pos x="23" y="11"/>
                      </a:cxn>
                      <a:cxn ang="0">
                        <a:pos x="29" y="10"/>
                      </a:cxn>
                      <a:cxn ang="0">
                        <a:pos x="38" y="10"/>
                      </a:cxn>
                      <a:cxn ang="0">
                        <a:pos x="50" y="10"/>
                      </a:cxn>
                      <a:cxn ang="0">
                        <a:pos x="60" y="12"/>
                      </a:cxn>
                      <a:cxn ang="0">
                        <a:pos x="70" y="13"/>
                      </a:cxn>
                      <a:cxn ang="0">
                        <a:pos x="79" y="15"/>
                      </a:cxn>
                      <a:cxn ang="0">
                        <a:pos x="89" y="16"/>
                      </a:cxn>
                      <a:cxn ang="0">
                        <a:pos x="98" y="18"/>
                      </a:cxn>
                      <a:cxn ang="0">
                        <a:pos x="106" y="22"/>
                      </a:cxn>
                      <a:cxn ang="0">
                        <a:pos x="114" y="26"/>
                      </a:cxn>
                      <a:cxn ang="0">
                        <a:pos x="123" y="30"/>
                      </a:cxn>
                      <a:cxn ang="0">
                        <a:pos x="127" y="30"/>
                      </a:cxn>
                      <a:cxn ang="0">
                        <a:pos x="131" y="30"/>
                      </a:cxn>
                      <a:cxn ang="0">
                        <a:pos x="137" y="33"/>
                      </a:cxn>
                      <a:cxn ang="0">
                        <a:pos x="144" y="36"/>
                      </a:cxn>
                      <a:cxn ang="0">
                        <a:pos x="150" y="38"/>
                      </a:cxn>
                      <a:cxn ang="0">
                        <a:pos x="158" y="42"/>
                      </a:cxn>
                      <a:cxn ang="0">
                        <a:pos x="164" y="45"/>
                      </a:cxn>
                      <a:cxn ang="0">
                        <a:pos x="167" y="47"/>
                      </a:cxn>
                    </a:cxnLst>
                    <a:rect l="txL" t="txT" r="txR" b="txB"/>
                    <a:pathLst>
                      <a:path w="168" h="48">
                        <a:moveTo>
                          <a:pt x="167" y="47"/>
                        </a:moveTo>
                        <a:lnTo>
                          <a:pt x="164" y="38"/>
                        </a:lnTo>
                        <a:lnTo>
                          <a:pt x="160" y="31"/>
                        </a:lnTo>
                        <a:lnTo>
                          <a:pt x="157" y="30"/>
                        </a:lnTo>
                        <a:lnTo>
                          <a:pt x="150" y="28"/>
                        </a:lnTo>
                        <a:lnTo>
                          <a:pt x="144" y="26"/>
                        </a:lnTo>
                        <a:lnTo>
                          <a:pt x="137" y="28"/>
                        </a:lnTo>
                        <a:lnTo>
                          <a:pt x="130" y="29"/>
                        </a:lnTo>
                        <a:lnTo>
                          <a:pt x="121" y="25"/>
                        </a:lnTo>
                        <a:lnTo>
                          <a:pt x="109" y="21"/>
                        </a:lnTo>
                        <a:lnTo>
                          <a:pt x="98" y="17"/>
                        </a:lnTo>
                        <a:lnTo>
                          <a:pt x="91" y="15"/>
                        </a:lnTo>
                        <a:lnTo>
                          <a:pt x="78" y="12"/>
                        </a:lnTo>
                        <a:lnTo>
                          <a:pt x="66" y="8"/>
                        </a:lnTo>
                        <a:lnTo>
                          <a:pt x="54" y="4"/>
                        </a:lnTo>
                        <a:lnTo>
                          <a:pt x="41" y="1"/>
                        </a:lnTo>
                        <a:lnTo>
                          <a:pt x="28" y="0"/>
                        </a:lnTo>
                        <a:lnTo>
                          <a:pt x="15" y="0"/>
                        </a:lnTo>
                        <a:lnTo>
                          <a:pt x="12" y="1"/>
                        </a:lnTo>
                        <a:lnTo>
                          <a:pt x="7" y="4"/>
                        </a:lnTo>
                        <a:lnTo>
                          <a:pt x="3" y="7"/>
                        </a:lnTo>
                        <a:lnTo>
                          <a:pt x="0" y="10"/>
                        </a:lnTo>
                        <a:lnTo>
                          <a:pt x="5" y="10"/>
                        </a:lnTo>
                        <a:lnTo>
                          <a:pt x="12" y="11"/>
                        </a:lnTo>
                        <a:lnTo>
                          <a:pt x="18" y="12"/>
                        </a:lnTo>
                        <a:lnTo>
                          <a:pt x="23" y="11"/>
                        </a:lnTo>
                        <a:lnTo>
                          <a:pt x="29" y="10"/>
                        </a:lnTo>
                        <a:lnTo>
                          <a:pt x="38" y="10"/>
                        </a:lnTo>
                        <a:lnTo>
                          <a:pt x="50" y="10"/>
                        </a:lnTo>
                        <a:lnTo>
                          <a:pt x="60" y="12"/>
                        </a:lnTo>
                        <a:lnTo>
                          <a:pt x="70" y="13"/>
                        </a:lnTo>
                        <a:lnTo>
                          <a:pt x="79" y="15"/>
                        </a:lnTo>
                        <a:lnTo>
                          <a:pt x="89" y="16"/>
                        </a:lnTo>
                        <a:lnTo>
                          <a:pt x="98" y="18"/>
                        </a:lnTo>
                        <a:lnTo>
                          <a:pt x="106" y="22"/>
                        </a:lnTo>
                        <a:lnTo>
                          <a:pt x="114" y="26"/>
                        </a:lnTo>
                        <a:lnTo>
                          <a:pt x="123" y="30"/>
                        </a:lnTo>
                        <a:lnTo>
                          <a:pt x="127" y="30"/>
                        </a:lnTo>
                        <a:lnTo>
                          <a:pt x="131" y="30"/>
                        </a:lnTo>
                        <a:lnTo>
                          <a:pt x="137" y="33"/>
                        </a:lnTo>
                        <a:lnTo>
                          <a:pt x="144" y="36"/>
                        </a:lnTo>
                        <a:lnTo>
                          <a:pt x="150" y="38"/>
                        </a:lnTo>
                        <a:lnTo>
                          <a:pt x="158" y="42"/>
                        </a:lnTo>
                        <a:lnTo>
                          <a:pt x="164" y="45"/>
                        </a:lnTo>
                        <a:lnTo>
                          <a:pt x="167" y="47"/>
                        </a:lnTo>
                      </a:path>
                    </a:pathLst>
                  </a:custGeom>
                  <a:solidFill>
                    <a:srgbClr val="037C03">
                      <a:alpha val="50195"/>
                    </a:srgbClr>
                  </a:solidFill>
                  <a:ln w="9525">
                    <a:noFill/>
                  </a:ln>
                </p:spPr>
                <p:txBody>
                  <a:bodyPr/>
                  <a:lstStyle/>
                  <a:p>
                    <a:endParaRPr lang="zh-CN" altLang="en-US"/>
                  </a:p>
                </p:txBody>
              </p:sp>
              <p:sp>
                <p:nvSpPr>
                  <p:cNvPr id="89311" name="Freeform 27"/>
                  <p:cNvSpPr/>
                  <p:nvPr/>
                </p:nvSpPr>
                <p:spPr>
                  <a:xfrm>
                    <a:off x="1985" y="1514"/>
                    <a:ext cx="173" cy="20"/>
                  </a:xfrm>
                  <a:custGeom>
                    <a:avLst/>
                    <a:gdLst>
                      <a:gd name="txL" fmla="*/ 0 w 173"/>
                      <a:gd name="txT" fmla="*/ 0 h 20"/>
                      <a:gd name="txR" fmla="*/ 173 w 173"/>
                      <a:gd name="txB" fmla="*/ 20 h 20"/>
                    </a:gdLst>
                    <a:ahLst/>
                    <a:cxnLst>
                      <a:cxn ang="0">
                        <a:pos x="172" y="19"/>
                      </a:cxn>
                      <a:cxn ang="0">
                        <a:pos x="167" y="17"/>
                      </a:cxn>
                      <a:cxn ang="0">
                        <a:pos x="163" y="15"/>
                      </a:cxn>
                      <a:cxn ang="0">
                        <a:pos x="157" y="13"/>
                      </a:cxn>
                      <a:cxn ang="0">
                        <a:pos x="152" y="11"/>
                      </a:cxn>
                      <a:cxn ang="0">
                        <a:pos x="146" y="9"/>
                      </a:cxn>
                      <a:cxn ang="0">
                        <a:pos x="138" y="6"/>
                      </a:cxn>
                      <a:cxn ang="0">
                        <a:pos x="131" y="2"/>
                      </a:cxn>
                      <a:cxn ang="0">
                        <a:pos x="125" y="2"/>
                      </a:cxn>
                      <a:cxn ang="0">
                        <a:pos x="118" y="3"/>
                      </a:cxn>
                      <a:cxn ang="0">
                        <a:pos x="108" y="5"/>
                      </a:cxn>
                      <a:cxn ang="0">
                        <a:pos x="103" y="5"/>
                      </a:cxn>
                      <a:cxn ang="0">
                        <a:pos x="91" y="3"/>
                      </a:cxn>
                      <a:cxn ang="0">
                        <a:pos x="77" y="1"/>
                      </a:cxn>
                      <a:cxn ang="0">
                        <a:pos x="67" y="0"/>
                      </a:cxn>
                      <a:cxn ang="0">
                        <a:pos x="55" y="0"/>
                      </a:cxn>
                      <a:cxn ang="0">
                        <a:pos x="43" y="0"/>
                      </a:cxn>
                      <a:cxn ang="0">
                        <a:pos x="35" y="1"/>
                      </a:cxn>
                      <a:cxn ang="0">
                        <a:pos x="26" y="2"/>
                      </a:cxn>
                      <a:cxn ang="0">
                        <a:pos x="18" y="3"/>
                      </a:cxn>
                      <a:cxn ang="0">
                        <a:pos x="9" y="4"/>
                      </a:cxn>
                      <a:cxn ang="0">
                        <a:pos x="8" y="8"/>
                      </a:cxn>
                      <a:cxn ang="0">
                        <a:pos x="6" y="11"/>
                      </a:cxn>
                      <a:cxn ang="0">
                        <a:pos x="4" y="14"/>
                      </a:cxn>
                      <a:cxn ang="0">
                        <a:pos x="0" y="16"/>
                      </a:cxn>
                      <a:cxn ang="0">
                        <a:pos x="7" y="15"/>
                      </a:cxn>
                      <a:cxn ang="0">
                        <a:pos x="15" y="13"/>
                      </a:cxn>
                      <a:cxn ang="0">
                        <a:pos x="21" y="12"/>
                      </a:cxn>
                      <a:cxn ang="0">
                        <a:pos x="29" y="11"/>
                      </a:cxn>
                      <a:cxn ang="0">
                        <a:pos x="36" y="10"/>
                      </a:cxn>
                      <a:cxn ang="0">
                        <a:pos x="49" y="9"/>
                      </a:cxn>
                      <a:cxn ang="0">
                        <a:pos x="62" y="8"/>
                      </a:cxn>
                      <a:cxn ang="0">
                        <a:pos x="77" y="7"/>
                      </a:cxn>
                      <a:cxn ang="0">
                        <a:pos x="92" y="6"/>
                      </a:cxn>
                      <a:cxn ang="0">
                        <a:pos x="106" y="6"/>
                      </a:cxn>
                      <a:cxn ang="0">
                        <a:pos x="118" y="7"/>
                      </a:cxn>
                      <a:cxn ang="0">
                        <a:pos x="126" y="9"/>
                      </a:cxn>
                      <a:cxn ang="0">
                        <a:pos x="135" y="11"/>
                      </a:cxn>
                      <a:cxn ang="0">
                        <a:pos x="145" y="13"/>
                      </a:cxn>
                      <a:cxn ang="0">
                        <a:pos x="155" y="16"/>
                      </a:cxn>
                      <a:cxn ang="0">
                        <a:pos x="163" y="17"/>
                      </a:cxn>
                      <a:cxn ang="0">
                        <a:pos x="172" y="19"/>
                      </a:cxn>
                    </a:cxnLst>
                    <a:rect l="txL" t="txT" r="txR" b="txB"/>
                    <a:pathLst>
                      <a:path w="173" h="20">
                        <a:moveTo>
                          <a:pt x="172" y="19"/>
                        </a:moveTo>
                        <a:lnTo>
                          <a:pt x="167" y="17"/>
                        </a:lnTo>
                        <a:lnTo>
                          <a:pt x="163" y="15"/>
                        </a:lnTo>
                        <a:lnTo>
                          <a:pt x="157" y="13"/>
                        </a:lnTo>
                        <a:lnTo>
                          <a:pt x="152" y="11"/>
                        </a:lnTo>
                        <a:lnTo>
                          <a:pt x="146" y="9"/>
                        </a:lnTo>
                        <a:lnTo>
                          <a:pt x="138" y="6"/>
                        </a:lnTo>
                        <a:lnTo>
                          <a:pt x="131" y="2"/>
                        </a:lnTo>
                        <a:lnTo>
                          <a:pt x="125" y="2"/>
                        </a:lnTo>
                        <a:lnTo>
                          <a:pt x="118" y="3"/>
                        </a:lnTo>
                        <a:lnTo>
                          <a:pt x="108" y="5"/>
                        </a:lnTo>
                        <a:lnTo>
                          <a:pt x="103" y="5"/>
                        </a:lnTo>
                        <a:lnTo>
                          <a:pt x="91" y="3"/>
                        </a:lnTo>
                        <a:lnTo>
                          <a:pt x="77" y="1"/>
                        </a:lnTo>
                        <a:lnTo>
                          <a:pt x="67" y="0"/>
                        </a:lnTo>
                        <a:lnTo>
                          <a:pt x="55" y="0"/>
                        </a:lnTo>
                        <a:lnTo>
                          <a:pt x="43" y="0"/>
                        </a:lnTo>
                        <a:lnTo>
                          <a:pt x="35" y="1"/>
                        </a:lnTo>
                        <a:lnTo>
                          <a:pt x="26" y="2"/>
                        </a:lnTo>
                        <a:lnTo>
                          <a:pt x="18" y="3"/>
                        </a:lnTo>
                        <a:lnTo>
                          <a:pt x="9" y="4"/>
                        </a:lnTo>
                        <a:lnTo>
                          <a:pt x="8" y="8"/>
                        </a:lnTo>
                        <a:lnTo>
                          <a:pt x="6" y="11"/>
                        </a:lnTo>
                        <a:lnTo>
                          <a:pt x="4" y="14"/>
                        </a:lnTo>
                        <a:lnTo>
                          <a:pt x="0" y="16"/>
                        </a:lnTo>
                        <a:lnTo>
                          <a:pt x="7" y="15"/>
                        </a:lnTo>
                        <a:lnTo>
                          <a:pt x="15" y="13"/>
                        </a:lnTo>
                        <a:lnTo>
                          <a:pt x="21" y="12"/>
                        </a:lnTo>
                        <a:lnTo>
                          <a:pt x="29" y="11"/>
                        </a:lnTo>
                        <a:lnTo>
                          <a:pt x="36" y="10"/>
                        </a:lnTo>
                        <a:lnTo>
                          <a:pt x="49" y="9"/>
                        </a:lnTo>
                        <a:lnTo>
                          <a:pt x="62" y="8"/>
                        </a:lnTo>
                        <a:lnTo>
                          <a:pt x="77" y="7"/>
                        </a:lnTo>
                        <a:lnTo>
                          <a:pt x="92" y="6"/>
                        </a:lnTo>
                        <a:lnTo>
                          <a:pt x="106" y="6"/>
                        </a:lnTo>
                        <a:lnTo>
                          <a:pt x="118" y="7"/>
                        </a:lnTo>
                        <a:lnTo>
                          <a:pt x="126" y="9"/>
                        </a:lnTo>
                        <a:lnTo>
                          <a:pt x="135" y="11"/>
                        </a:lnTo>
                        <a:lnTo>
                          <a:pt x="145" y="13"/>
                        </a:lnTo>
                        <a:lnTo>
                          <a:pt x="155" y="16"/>
                        </a:lnTo>
                        <a:lnTo>
                          <a:pt x="163" y="17"/>
                        </a:lnTo>
                        <a:lnTo>
                          <a:pt x="172" y="19"/>
                        </a:lnTo>
                      </a:path>
                    </a:pathLst>
                  </a:custGeom>
                  <a:solidFill>
                    <a:srgbClr val="037C03">
                      <a:alpha val="50195"/>
                    </a:srgbClr>
                  </a:solidFill>
                  <a:ln w="9525">
                    <a:noFill/>
                  </a:ln>
                </p:spPr>
                <p:txBody>
                  <a:bodyPr/>
                  <a:lstStyle/>
                  <a:p>
                    <a:endParaRPr lang="zh-CN" altLang="en-US"/>
                  </a:p>
                </p:txBody>
              </p:sp>
            </p:grpSp>
          </p:grpSp>
        </p:grpSp>
      </p:grpSp>
      <p:grpSp>
        <p:nvGrpSpPr>
          <p:cNvPr id="89094" name="Group 28"/>
          <p:cNvGrpSpPr/>
          <p:nvPr/>
        </p:nvGrpSpPr>
        <p:grpSpPr>
          <a:xfrm>
            <a:off x="4284663" y="3860800"/>
            <a:ext cx="1371600" cy="1600200"/>
            <a:chOff x="0" y="3182"/>
            <a:chExt cx="808" cy="998"/>
          </a:xfrm>
        </p:grpSpPr>
        <p:grpSp>
          <p:nvGrpSpPr>
            <p:cNvPr id="89279" name="Group 29"/>
            <p:cNvGrpSpPr/>
            <p:nvPr/>
          </p:nvGrpSpPr>
          <p:grpSpPr>
            <a:xfrm>
              <a:off x="0" y="3182"/>
              <a:ext cx="506" cy="927"/>
              <a:chOff x="1685" y="1023"/>
              <a:chExt cx="506" cy="927"/>
            </a:xfrm>
          </p:grpSpPr>
          <p:sp>
            <p:nvSpPr>
              <p:cNvPr id="89292" name="Freeform 30"/>
              <p:cNvSpPr/>
              <p:nvPr/>
            </p:nvSpPr>
            <p:spPr>
              <a:xfrm>
                <a:off x="1733" y="1329"/>
                <a:ext cx="76" cy="621"/>
              </a:xfrm>
              <a:custGeom>
                <a:avLst/>
                <a:gdLst>
                  <a:gd name="txL" fmla="*/ 0 w 76"/>
                  <a:gd name="txT" fmla="*/ 0 h 621"/>
                  <a:gd name="txR" fmla="*/ 76 w 76"/>
                  <a:gd name="txB" fmla="*/ 621 h 621"/>
                </a:gdLst>
                <a:ahLst/>
                <a:cxnLst>
                  <a:cxn ang="0">
                    <a:pos x="0" y="54"/>
                  </a:cxn>
                  <a:cxn ang="0">
                    <a:pos x="11" y="269"/>
                  </a:cxn>
                  <a:cxn ang="0">
                    <a:pos x="22" y="442"/>
                  </a:cxn>
                  <a:cxn ang="0">
                    <a:pos x="30" y="570"/>
                  </a:cxn>
                  <a:cxn ang="0">
                    <a:pos x="28" y="620"/>
                  </a:cxn>
                  <a:cxn ang="0">
                    <a:pos x="44" y="620"/>
                  </a:cxn>
                  <a:cxn ang="0">
                    <a:pos x="49" y="546"/>
                  </a:cxn>
                  <a:cxn ang="0">
                    <a:pos x="52" y="434"/>
                  </a:cxn>
                  <a:cxn ang="0">
                    <a:pos x="58" y="329"/>
                  </a:cxn>
                  <a:cxn ang="0">
                    <a:pos x="61" y="250"/>
                  </a:cxn>
                  <a:cxn ang="0">
                    <a:pos x="67" y="135"/>
                  </a:cxn>
                  <a:cxn ang="0">
                    <a:pos x="75" y="36"/>
                  </a:cxn>
                  <a:cxn ang="0">
                    <a:pos x="70" y="11"/>
                  </a:cxn>
                  <a:cxn ang="0">
                    <a:pos x="62" y="0"/>
                  </a:cxn>
                  <a:cxn ang="0">
                    <a:pos x="53" y="121"/>
                  </a:cxn>
                  <a:cxn ang="0">
                    <a:pos x="45" y="224"/>
                  </a:cxn>
                  <a:cxn ang="0">
                    <a:pos x="43" y="305"/>
                  </a:cxn>
                  <a:cxn ang="0">
                    <a:pos x="40" y="390"/>
                  </a:cxn>
                  <a:cxn ang="0">
                    <a:pos x="34" y="475"/>
                  </a:cxn>
                  <a:cxn ang="0">
                    <a:pos x="25" y="327"/>
                  </a:cxn>
                  <a:cxn ang="0">
                    <a:pos x="15" y="187"/>
                  </a:cxn>
                  <a:cxn ang="0">
                    <a:pos x="0" y="54"/>
                  </a:cxn>
                </a:cxnLst>
                <a:rect l="txL" t="txT" r="txR" b="txB"/>
                <a:pathLst>
                  <a:path w="76" h="621">
                    <a:moveTo>
                      <a:pt x="0" y="54"/>
                    </a:moveTo>
                    <a:lnTo>
                      <a:pt x="11" y="269"/>
                    </a:lnTo>
                    <a:lnTo>
                      <a:pt x="22" y="442"/>
                    </a:lnTo>
                    <a:lnTo>
                      <a:pt x="30" y="570"/>
                    </a:lnTo>
                    <a:lnTo>
                      <a:pt x="28" y="620"/>
                    </a:lnTo>
                    <a:lnTo>
                      <a:pt x="44" y="620"/>
                    </a:lnTo>
                    <a:lnTo>
                      <a:pt x="49" y="546"/>
                    </a:lnTo>
                    <a:lnTo>
                      <a:pt x="52" y="434"/>
                    </a:lnTo>
                    <a:lnTo>
                      <a:pt x="58" y="329"/>
                    </a:lnTo>
                    <a:lnTo>
                      <a:pt x="61" y="250"/>
                    </a:lnTo>
                    <a:lnTo>
                      <a:pt x="67" y="135"/>
                    </a:lnTo>
                    <a:lnTo>
                      <a:pt x="75" y="36"/>
                    </a:lnTo>
                    <a:lnTo>
                      <a:pt x="70" y="11"/>
                    </a:lnTo>
                    <a:lnTo>
                      <a:pt x="62" y="0"/>
                    </a:lnTo>
                    <a:lnTo>
                      <a:pt x="53" y="121"/>
                    </a:lnTo>
                    <a:lnTo>
                      <a:pt x="45" y="224"/>
                    </a:lnTo>
                    <a:lnTo>
                      <a:pt x="43" y="305"/>
                    </a:lnTo>
                    <a:lnTo>
                      <a:pt x="40" y="390"/>
                    </a:lnTo>
                    <a:lnTo>
                      <a:pt x="34" y="475"/>
                    </a:lnTo>
                    <a:lnTo>
                      <a:pt x="25" y="327"/>
                    </a:lnTo>
                    <a:lnTo>
                      <a:pt x="15" y="187"/>
                    </a:lnTo>
                    <a:lnTo>
                      <a:pt x="0" y="54"/>
                    </a:lnTo>
                  </a:path>
                </a:pathLst>
              </a:custGeom>
              <a:solidFill>
                <a:srgbClr val="3C0023">
                  <a:alpha val="50195"/>
                </a:srgbClr>
              </a:solidFill>
              <a:ln w="9525">
                <a:noFill/>
              </a:ln>
            </p:spPr>
            <p:txBody>
              <a:bodyPr/>
              <a:lstStyle/>
              <a:p>
                <a:endParaRPr lang="zh-CN" altLang="en-US"/>
              </a:p>
            </p:txBody>
          </p:sp>
          <p:sp>
            <p:nvSpPr>
              <p:cNvPr id="89293" name="Freeform 31"/>
              <p:cNvSpPr/>
              <p:nvPr/>
            </p:nvSpPr>
            <p:spPr>
              <a:xfrm>
                <a:off x="1790" y="1583"/>
                <a:ext cx="120" cy="349"/>
              </a:xfrm>
              <a:custGeom>
                <a:avLst/>
                <a:gdLst>
                  <a:gd name="txL" fmla="*/ 0 w 120"/>
                  <a:gd name="txT" fmla="*/ 0 h 349"/>
                  <a:gd name="txR" fmla="*/ 120 w 120"/>
                  <a:gd name="txB" fmla="*/ 349 h 349"/>
                </a:gdLst>
                <a:ahLst/>
                <a:cxnLst>
                  <a:cxn ang="0">
                    <a:pos x="0" y="161"/>
                  </a:cxn>
                  <a:cxn ang="0">
                    <a:pos x="10" y="232"/>
                  </a:cxn>
                  <a:cxn ang="0">
                    <a:pos x="20" y="289"/>
                  </a:cxn>
                  <a:cxn ang="0">
                    <a:pos x="26" y="331"/>
                  </a:cxn>
                  <a:cxn ang="0">
                    <a:pos x="25" y="348"/>
                  </a:cxn>
                  <a:cxn ang="0">
                    <a:pos x="39" y="348"/>
                  </a:cxn>
                  <a:cxn ang="0">
                    <a:pos x="43" y="323"/>
                  </a:cxn>
                  <a:cxn ang="0">
                    <a:pos x="45" y="286"/>
                  </a:cxn>
                  <a:cxn ang="0">
                    <a:pos x="51" y="252"/>
                  </a:cxn>
                  <a:cxn ang="0">
                    <a:pos x="54" y="226"/>
                  </a:cxn>
                  <a:cxn ang="0">
                    <a:pos x="59" y="188"/>
                  </a:cxn>
                  <a:cxn ang="0">
                    <a:pos x="66" y="156"/>
                  </a:cxn>
                  <a:cxn ang="0">
                    <a:pos x="71" y="127"/>
                  </a:cxn>
                  <a:cxn ang="0">
                    <a:pos x="77" y="96"/>
                  </a:cxn>
                  <a:cxn ang="0">
                    <a:pos x="86" y="66"/>
                  </a:cxn>
                  <a:cxn ang="0">
                    <a:pos x="96" y="40"/>
                  </a:cxn>
                  <a:cxn ang="0">
                    <a:pos x="113" y="15"/>
                  </a:cxn>
                  <a:cxn ang="0">
                    <a:pos x="119" y="5"/>
                  </a:cxn>
                  <a:cxn ang="0">
                    <a:pos x="112" y="0"/>
                  </a:cxn>
                  <a:cxn ang="0">
                    <a:pos x="101" y="10"/>
                  </a:cxn>
                  <a:cxn ang="0">
                    <a:pos x="86" y="33"/>
                  </a:cxn>
                  <a:cxn ang="0">
                    <a:pos x="75" y="57"/>
                  </a:cxn>
                  <a:cxn ang="0">
                    <a:pos x="66" y="81"/>
                  </a:cxn>
                  <a:cxn ang="0">
                    <a:pos x="60" y="113"/>
                  </a:cxn>
                  <a:cxn ang="0">
                    <a:pos x="55" y="144"/>
                  </a:cxn>
                  <a:cxn ang="0">
                    <a:pos x="47" y="184"/>
                  </a:cxn>
                  <a:cxn ang="0">
                    <a:pos x="40" y="217"/>
                  </a:cxn>
                  <a:cxn ang="0">
                    <a:pos x="37" y="244"/>
                  </a:cxn>
                  <a:cxn ang="0">
                    <a:pos x="36" y="272"/>
                  </a:cxn>
                  <a:cxn ang="0">
                    <a:pos x="30" y="300"/>
                  </a:cxn>
                  <a:cxn ang="0">
                    <a:pos x="22" y="251"/>
                  </a:cxn>
                  <a:cxn ang="0">
                    <a:pos x="13" y="205"/>
                  </a:cxn>
                  <a:cxn ang="0">
                    <a:pos x="0" y="161"/>
                  </a:cxn>
                </a:cxnLst>
                <a:rect l="txL" t="txT" r="txR" b="txB"/>
                <a:pathLst>
                  <a:path w="120" h="349">
                    <a:moveTo>
                      <a:pt x="0" y="161"/>
                    </a:moveTo>
                    <a:lnTo>
                      <a:pt x="10" y="232"/>
                    </a:lnTo>
                    <a:lnTo>
                      <a:pt x="20" y="289"/>
                    </a:lnTo>
                    <a:lnTo>
                      <a:pt x="26" y="331"/>
                    </a:lnTo>
                    <a:lnTo>
                      <a:pt x="25" y="348"/>
                    </a:lnTo>
                    <a:lnTo>
                      <a:pt x="39" y="348"/>
                    </a:lnTo>
                    <a:lnTo>
                      <a:pt x="43" y="323"/>
                    </a:lnTo>
                    <a:lnTo>
                      <a:pt x="45" y="286"/>
                    </a:lnTo>
                    <a:lnTo>
                      <a:pt x="51" y="252"/>
                    </a:lnTo>
                    <a:lnTo>
                      <a:pt x="54" y="226"/>
                    </a:lnTo>
                    <a:lnTo>
                      <a:pt x="59" y="188"/>
                    </a:lnTo>
                    <a:lnTo>
                      <a:pt x="66" y="156"/>
                    </a:lnTo>
                    <a:lnTo>
                      <a:pt x="71" y="127"/>
                    </a:lnTo>
                    <a:lnTo>
                      <a:pt x="77" y="96"/>
                    </a:lnTo>
                    <a:lnTo>
                      <a:pt x="86" y="66"/>
                    </a:lnTo>
                    <a:lnTo>
                      <a:pt x="96" y="40"/>
                    </a:lnTo>
                    <a:lnTo>
                      <a:pt x="113" y="15"/>
                    </a:lnTo>
                    <a:lnTo>
                      <a:pt x="119" y="5"/>
                    </a:lnTo>
                    <a:lnTo>
                      <a:pt x="112" y="0"/>
                    </a:lnTo>
                    <a:lnTo>
                      <a:pt x="101" y="10"/>
                    </a:lnTo>
                    <a:lnTo>
                      <a:pt x="86" y="33"/>
                    </a:lnTo>
                    <a:lnTo>
                      <a:pt x="75" y="57"/>
                    </a:lnTo>
                    <a:lnTo>
                      <a:pt x="66" y="81"/>
                    </a:lnTo>
                    <a:lnTo>
                      <a:pt x="60" y="113"/>
                    </a:lnTo>
                    <a:lnTo>
                      <a:pt x="55" y="144"/>
                    </a:lnTo>
                    <a:lnTo>
                      <a:pt x="47" y="184"/>
                    </a:lnTo>
                    <a:lnTo>
                      <a:pt x="40" y="217"/>
                    </a:lnTo>
                    <a:lnTo>
                      <a:pt x="37" y="244"/>
                    </a:lnTo>
                    <a:lnTo>
                      <a:pt x="36" y="272"/>
                    </a:lnTo>
                    <a:lnTo>
                      <a:pt x="30" y="300"/>
                    </a:lnTo>
                    <a:lnTo>
                      <a:pt x="22" y="251"/>
                    </a:lnTo>
                    <a:lnTo>
                      <a:pt x="13" y="205"/>
                    </a:lnTo>
                    <a:lnTo>
                      <a:pt x="0" y="161"/>
                    </a:lnTo>
                  </a:path>
                </a:pathLst>
              </a:custGeom>
              <a:solidFill>
                <a:srgbClr val="3C0023">
                  <a:alpha val="50195"/>
                </a:srgbClr>
              </a:solidFill>
              <a:ln w="9525">
                <a:noFill/>
              </a:ln>
            </p:spPr>
            <p:txBody>
              <a:bodyPr/>
              <a:lstStyle/>
              <a:p>
                <a:endParaRPr lang="zh-CN" altLang="en-US"/>
              </a:p>
            </p:txBody>
          </p:sp>
          <p:sp>
            <p:nvSpPr>
              <p:cNvPr id="89294" name="Freeform 32"/>
              <p:cNvSpPr/>
              <p:nvPr/>
            </p:nvSpPr>
            <p:spPr>
              <a:xfrm>
                <a:off x="1685" y="1239"/>
                <a:ext cx="266" cy="391"/>
              </a:xfrm>
              <a:custGeom>
                <a:avLst/>
                <a:gdLst>
                  <a:gd name="txL" fmla="*/ 0 w 266"/>
                  <a:gd name="txT" fmla="*/ 0 h 391"/>
                  <a:gd name="txR" fmla="*/ 266 w 266"/>
                  <a:gd name="txB" fmla="*/ 391 h 391"/>
                </a:gdLst>
                <a:ahLst/>
                <a:cxnLst>
                  <a:cxn ang="0">
                    <a:pos x="107" y="123"/>
                  </a:cxn>
                  <a:cxn ang="0">
                    <a:pos x="116" y="135"/>
                  </a:cxn>
                  <a:cxn ang="0">
                    <a:pos x="163" y="114"/>
                  </a:cxn>
                  <a:cxn ang="0">
                    <a:pos x="211" y="81"/>
                  </a:cxn>
                  <a:cxn ang="0">
                    <a:pos x="233" y="46"/>
                  </a:cxn>
                  <a:cxn ang="0">
                    <a:pos x="220" y="76"/>
                  </a:cxn>
                  <a:cxn ang="0">
                    <a:pos x="183" y="109"/>
                  </a:cxn>
                  <a:cxn ang="0">
                    <a:pos x="142" y="138"/>
                  </a:cxn>
                  <a:cxn ang="0">
                    <a:pos x="102" y="159"/>
                  </a:cxn>
                  <a:cxn ang="0">
                    <a:pos x="119" y="178"/>
                  </a:cxn>
                  <a:cxn ang="0">
                    <a:pos x="155" y="180"/>
                  </a:cxn>
                  <a:cxn ang="0">
                    <a:pos x="202" y="187"/>
                  </a:cxn>
                  <a:cxn ang="0">
                    <a:pos x="239" y="204"/>
                  </a:cxn>
                  <a:cxn ang="0">
                    <a:pos x="251" y="215"/>
                  </a:cxn>
                  <a:cxn ang="0">
                    <a:pos x="213" y="204"/>
                  </a:cxn>
                  <a:cxn ang="0">
                    <a:pos x="162" y="198"/>
                  </a:cxn>
                  <a:cxn ang="0">
                    <a:pos x="114" y="195"/>
                  </a:cxn>
                  <a:cxn ang="0">
                    <a:pos x="88" y="203"/>
                  </a:cxn>
                  <a:cxn ang="0">
                    <a:pos x="93" y="248"/>
                  </a:cxn>
                  <a:cxn ang="0">
                    <a:pos x="93" y="307"/>
                  </a:cxn>
                  <a:cxn ang="0">
                    <a:pos x="77" y="354"/>
                  </a:cxn>
                  <a:cxn ang="0">
                    <a:pos x="46" y="390"/>
                  </a:cxn>
                  <a:cxn ang="0">
                    <a:pos x="50" y="346"/>
                  </a:cxn>
                  <a:cxn ang="0">
                    <a:pos x="61" y="299"/>
                  </a:cxn>
                  <a:cxn ang="0">
                    <a:pos x="67" y="238"/>
                  </a:cxn>
                  <a:cxn ang="0">
                    <a:pos x="64" y="198"/>
                  </a:cxn>
                  <a:cxn ang="0">
                    <a:pos x="48" y="221"/>
                  </a:cxn>
                  <a:cxn ang="0">
                    <a:pos x="39" y="273"/>
                  </a:cxn>
                  <a:cxn ang="0">
                    <a:pos x="32" y="325"/>
                  </a:cxn>
                  <a:cxn ang="0">
                    <a:pos x="10" y="364"/>
                  </a:cxn>
                  <a:cxn ang="0">
                    <a:pos x="2" y="364"/>
                  </a:cxn>
                  <a:cxn ang="0">
                    <a:pos x="2" y="324"/>
                  </a:cxn>
                  <a:cxn ang="0">
                    <a:pos x="17" y="287"/>
                  </a:cxn>
                  <a:cxn ang="0">
                    <a:pos x="34" y="239"/>
                  </a:cxn>
                  <a:cxn ang="0">
                    <a:pos x="42" y="204"/>
                  </a:cxn>
                  <a:cxn ang="0">
                    <a:pos x="26" y="182"/>
                  </a:cxn>
                  <a:cxn ang="0">
                    <a:pos x="2" y="184"/>
                  </a:cxn>
                  <a:cxn ang="0">
                    <a:pos x="2" y="184"/>
                  </a:cxn>
                  <a:cxn ang="0">
                    <a:pos x="2" y="184"/>
                  </a:cxn>
                  <a:cxn ang="0">
                    <a:pos x="2" y="184"/>
                  </a:cxn>
                  <a:cxn ang="0">
                    <a:pos x="2" y="184"/>
                  </a:cxn>
                  <a:cxn ang="0">
                    <a:pos x="2" y="184"/>
                  </a:cxn>
                  <a:cxn ang="0">
                    <a:pos x="13" y="161"/>
                  </a:cxn>
                  <a:cxn ang="0">
                    <a:pos x="13" y="138"/>
                  </a:cxn>
                  <a:cxn ang="0">
                    <a:pos x="2" y="105"/>
                  </a:cxn>
                  <a:cxn ang="0">
                    <a:pos x="2" y="105"/>
                  </a:cxn>
                  <a:cxn ang="0">
                    <a:pos x="2" y="105"/>
                  </a:cxn>
                  <a:cxn ang="0">
                    <a:pos x="2" y="105"/>
                  </a:cxn>
                  <a:cxn ang="0">
                    <a:pos x="24" y="122"/>
                  </a:cxn>
                  <a:cxn ang="0">
                    <a:pos x="53" y="157"/>
                  </a:cxn>
                  <a:cxn ang="0">
                    <a:pos x="55" y="130"/>
                  </a:cxn>
                  <a:cxn ang="0">
                    <a:pos x="24" y="91"/>
                  </a:cxn>
                  <a:cxn ang="0">
                    <a:pos x="2" y="65"/>
                  </a:cxn>
                  <a:cxn ang="0">
                    <a:pos x="2" y="65"/>
                  </a:cxn>
                  <a:cxn ang="0">
                    <a:pos x="2" y="48"/>
                  </a:cxn>
                  <a:cxn ang="0">
                    <a:pos x="30" y="87"/>
                  </a:cxn>
                  <a:cxn ang="0">
                    <a:pos x="61" y="138"/>
                  </a:cxn>
                  <a:cxn ang="0">
                    <a:pos x="80" y="127"/>
                  </a:cxn>
                  <a:cxn ang="0">
                    <a:pos x="106" y="87"/>
                  </a:cxn>
                  <a:cxn ang="0">
                    <a:pos x="139" y="39"/>
                  </a:cxn>
                  <a:cxn ang="0">
                    <a:pos x="165" y="6"/>
                  </a:cxn>
                  <a:cxn ang="0">
                    <a:pos x="163" y="29"/>
                  </a:cxn>
                  <a:cxn ang="0">
                    <a:pos x="137" y="76"/>
                  </a:cxn>
                </a:cxnLst>
                <a:rect l="txL" t="txT" r="txR" b="txB"/>
                <a:pathLst>
                  <a:path w="266" h="391">
                    <a:moveTo>
                      <a:pt x="124" y="95"/>
                    </a:moveTo>
                    <a:lnTo>
                      <a:pt x="119" y="101"/>
                    </a:lnTo>
                    <a:lnTo>
                      <a:pt x="115" y="108"/>
                    </a:lnTo>
                    <a:lnTo>
                      <a:pt x="111" y="115"/>
                    </a:lnTo>
                    <a:lnTo>
                      <a:pt x="107" y="123"/>
                    </a:lnTo>
                    <a:lnTo>
                      <a:pt x="104" y="129"/>
                    </a:lnTo>
                    <a:lnTo>
                      <a:pt x="102" y="136"/>
                    </a:lnTo>
                    <a:lnTo>
                      <a:pt x="100" y="142"/>
                    </a:lnTo>
                    <a:lnTo>
                      <a:pt x="107" y="138"/>
                    </a:lnTo>
                    <a:lnTo>
                      <a:pt x="116" y="135"/>
                    </a:lnTo>
                    <a:lnTo>
                      <a:pt x="125" y="131"/>
                    </a:lnTo>
                    <a:lnTo>
                      <a:pt x="134" y="127"/>
                    </a:lnTo>
                    <a:lnTo>
                      <a:pt x="144" y="124"/>
                    </a:lnTo>
                    <a:lnTo>
                      <a:pt x="154" y="119"/>
                    </a:lnTo>
                    <a:lnTo>
                      <a:pt x="163" y="114"/>
                    </a:lnTo>
                    <a:lnTo>
                      <a:pt x="175" y="107"/>
                    </a:lnTo>
                    <a:lnTo>
                      <a:pt x="184" y="101"/>
                    </a:lnTo>
                    <a:lnTo>
                      <a:pt x="195" y="93"/>
                    </a:lnTo>
                    <a:lnTo>
                      <a:pt x="203" y="89"/>
                    </a:lnTo>
                    <a:lnTo>
                      <a:pt x="211" y="81"/>
                    </a:lnTo>
                    <a:lnTo>
                      <a:pt x="218" y="75"/>
                    </a:lnTo>
                    <a:lnTo>
                      <a:pt x="224" y="66"/>
                    </a:lnTo>
                    <a:lnTo>
                      <a:pt x="227" y="59"/>
                    </a:lnTo>
                    <a:lnTo>
                      <a:pt x="230" y="51"/>
                    </a:lnTo>
                    <a:lnTo>
                      <a:pt x="233" y="46"/>
                    </a:lnTo>
                    <a:lnTo>
                      <a:pt x="233" y="52"/>
                    </a:lnTo>
                    <a:lnTo>
                      <a:pt x="233" y="56"/>
                    </a:lnTo>
                    <a:lnTo>
                      <a:pt x="231" y="61"/>
                    </a:lnTo>
                    <a:lnTo>
                      <a:pt x="227" y="67"/>
                    </a:lnTo>
                    <a:lnTo>
                      <a:pt x="220" y="76"/>
                    </a:lnTo>
                    <a:lnTo>
                      <a:pt x="217" y="83"/>
                    </a:lnTo>
                    <a:lnTo>
                      <a:pt x="210" y="88"/>
                    </a:lnTo>
                    <a:lnTo>
                      <a:pt x="202" y="94"/>
                    </a:lnTo>
                    <a:lnTo>
                      <a:pt x="192" y="101"/>
                    </a:lnTo>
                    <a:lnTo>
                      <a:pt x="183" y="109"/>
                    </a:lnTo>
                    <a:lnTo>
                      <a:pt x="173" y="116"/>
                    </a:lnTo>
                    <a:lnTo>
                      <a:pt x="167" y="122"/>
                    </a:lnTo>
                    <a:lnTo>
                      <a:pt x="159" y="129"/>
                    </a:lnTo>
                    <a:lnTo>
                      <a:pt x="151" y="133"/>
                    </a:lnTo>
                    <a:lnTo>
                      <a:pt x="142" y="138"/>
                    </a:lnTo>
                    <a:lnTo>
                      <a:pt x="133" y="143"/>
                    </a:lnTo>
                    <a:lnTo>
                      <a:pt x="125" y="148"/>
                    </a:lnTo>
                    <a:lnTo>
                      <a:pt x="118" y="152"/>
                    </a:lnTo>
                    <a:lnTo>
                      <a:pt x="109" y="156"/>
                    </a:lnTo>
                    <a:lnTo>
                      <a:pt x="102" y="159"/>
                    </a:lnTo>
                    <a:lnTo>
                      <a:pt x="100" y="161"/>
                    </a:lnTo>
                    <a:lnTo>
                      <a:pt x="102" y="165"/>
                    </a:lnTo>
                    <a:lnTo>
                      <a:pt x="106" y="170"/>
                    </a:lnTo>
                    <a:lnTo>
                      <a:pt x="110" y="176"/>
                    </a:lnTo>
                    <a:lnTo>
                      <a:pt x="119" y="178"/>
                    </a:lnTo>
                    <a:lnTo>
                      <a:pt x="125" y="178"/>
                    </a:lnTo>
                    <a:lnTo>
                      <a:pt x="135" y="180"/>
                    </a:lnTo>
                    <a:lnTo>
                      <a:pt x="144" y="180"/>
                    </a:lnTo>
                    <a:lnTo>
                      <a:pt x="155" y="180"/>
                    </a:lnTo>
                    <a:lnTo>
                      <a:pt x="165" y="182"/>
                    </a:lnTo>
                    <a:lnTo>
                      <a:pt x="175" y="182"/>
                    </a:lnTo>
                    <a:lnTo>
                      <a:pt x="185" y="184"/>
                    </a:lnTo>
                    <a:lnTo>
                      <a:pt x="193" y="185"/>
                    </a:lnTo>
                    <a:lnTo>
                      <a:pt x="202" y="187"/>
                    </a:lnTo>
                    <a:lnTo>
                      <a:pt x="208" y="189"/>
                    </a:lnTo>
                    <a:lnTo>
                      <a:pt x="215" y="193"/>
                    </a:lnTo>
                    <a:lnTo>
                      <a:pt x="221" y="196"/>
                    </a:lnTo>
                    <a:lnTo>
                      <a:pt x="229" y="200"/>
                    </a:lnTo>
                    <a:lnTo>
                      <a:pt x="239" y="204"/>
                    </a:lnTo>
                    <a:lnTo>
                      <a:pt x="249" y="208"/>
                    </a:lnTo>
                    <a:lnTo>
                      <a:pt x="256" y="211"/>
                    </a:lnTo>
                    <a:lnTo>
                      <a:pt x="265" y="214"/>
                    </a:lnTo>
                    <a:lnTo>
                      <a:pt x="258" y="215"/>
                    </a:lnTo>
                    <a:lnTo>
                      <a:pt x="251" y="215"/>
                    </a:lnTo>
                    <a:lnTo>
                      <a:pt x="244" y="213"/>
                    </a:lnTo>
                    <a:lnTo>
                      <a:pt x="236" y="211"/>
                    </a:lnTo>
                    <a:lnTo>
                      <a:pt x="226" y="207"/>
                    </a:lnTo>
                    <a:lnTo>
                      <a:pt x="219" y="206"/>
                    </a:lnTo>
                    <a:lnTo>
                      <a:pt x="213" y="204"/>
                    </a:lnTo>
                    <a:lnTo>
                      <a:pt x="204" y="202"/>
                    </a:lnTo>
                    <a:lnTo>
                      <a:pt x="195" y="201"/>
                    </a:lnTo>
                    <a:lnTo>
                      <a:pt x="184" y="200"/>
                    </a:lnTo>
                    <a:lnTo>
                      <a:pt x="173" y="199"/>
                    </a:lnTo>
                    <a:lnTo>
                      <a:pt x="162" y="198"/>
                    </a:lnTo>
                    <a:lnTo>
                      <a:pt x="152" y="198"/>
                    </a:lnTo>
                    <a:lnTo>
                      <a:pt x="142" y="198"/>
                    </a:lnTo>
                    <a:lnTo>
                      <a:pt x="134" y="197"/>
                    </a:lnTo>
                    <a:lnTo>
                      <a:pt x="124" y="197"/>
                    </a:lnTo>
                    <a:lnTo>
                      <a:pt x="114" y="195"/>
                    </a:lnTo>
                    <a:lnTo>
                      <a:pt x="102" y="192"/>
                    </a:lnTo>
                    <a:lnTo>
                      <a:pt x="92" y="189"/>
                    </a:lnTo>
                    <a:lnTo>
                      <a:pt x="80" y="188"/>
                    </a:lnTo>
                    <a:lnTo>
                      <a:pt x="84" y="195"/>
                    </a:lnTo>
                    <a:lnTo>
                      <a:pt x="88" y="203"/>
                    </a:lnTo>
                    <a:lnTo>
                      <a:pt x="93" y="215"/>
                    </a:lnTo>
                    <a:lnTo>
                      <a:pt x="94" y="223"/>
                    </a:lnTo>
                    <a:lnTo>
                      <a:pt x="95" y="233"/>
                    </a:lnTo>
                    <a:lnTo>
                      <a:pt x="94" y="241"/>
                    </a:lnTo>
                    <a:lnTo>
                      <a:pt x="93" y="248"/>
                    </a:lnTo>
                    <a:lnTo>
                      <a:pt x="93" y="259"/>
                    </a:lnTo>
                    <a:lnTo>
                      <a:pt x="92" y="273"/>
                    </a:lnTo>
                    <a:lnTo>
                      <a:pt x="92" y="285"/>
                    </a:lnTo>
                    <a:lnTo>
                      <a:pt x="93" y="297"/>
                    </a:lnTo>
                    <a:lnTo>
                      <a:pt x="93" y="307"/>
                    </a:lnTo>
                    <a:lnTo>
                      <a:pt x="92" y="316"/>
                    </a:lnTo>
                    <a:lnTo>
                      <a:pt x="89" y="326"/>
                    </a:lnTo>
                    <a:lnTo>
                      <a:pt x="85" y="338"/>
                    </a:lnTo>
                    <a:lnTo>
                      <a:pt x="82" y="346"/>
                    </a:lnTo>
                    <a:lnTo>
                      <a:pt x="77" y="354"/>
                    </a:lnTo>
                    <a:lnTo>
                      <a:pt x="73" y="363"/>
                    </a:lnTo>
                    <a:lnTo>
                      <a:pt x="69" y="369"/>
                    </a:lnTo>
                    <a:lnTo>
                      <a:pt x="62" y="376"/>
                    </a:lnTo>
                    <a:lnTo>
                      <a:pt x="53" y="382"/>
                    </a:lnTo>
                    <a:lnTo>
                      <a:pt x="46" y="390"/>
                    </a:lnTo>
                    <a:lnTo>
                      <a:pt x="45" y="382"/>
                    </a:lnTo>
                    <a:lnTo>
                      <a:pt x="46" y="372"/>
                    </a:lnTo>
                    <a:lnTo>
                      <a:pt x="47" y="362"/>
                    </a:lnTo>
                    <a:lnTo>
                      <a:pt x="48" y="353"/>
                    </a:lnTo>
                    <a:lnTo>
                      <a:pt x="50" y="346"/>
                    </a:lnTo>
                    <a:lnTo>
                      <a:pt x="53" y="337"/>
                    </a:lnTo>
                    <a:lnTo>
                      <a:pt x="56" y="328"/>
                    </a:lnTo>
                    <a:lnTo>
                      <a:pt x="58" y="320"/>
                    </a:lnTo>
                    <a:lnTo>
                      <a:pt x="59" y="313"/>
                    </a:lnTo>
                    <a:lnTo>
                      <a:pt x="61" y="299"/>
                    </a:lnTo>
                    <a:lnTo>
                      <a:pt x="62" y="285"/>
                    </a:lnTo>
                    <a:lnTo>
                      <a:pt x="63" y="273"/>
                    </a:lnTo>
                    <a:lnTo>
                      <a:pt x="65" y="260"/>
                    </a:lnTo>
                    <a:lnTo>
                      <a:pt x="67" y="247"/>
                    </a:lnTo>
                    <a:lnTo>
                      <a:pt x="67" y="238"/>
                    </a:lnTo>
                    <a:lnTo>
                      <a:pt x="67" y="231"/>
                    </a:lnTo>
                    <a:lnTo>
                      <a:pt x="68" y="222"/>
                    </a:lnTo>
                    <a:lnTo>
                      <a:pt x="67" y="212"/>
                    </a:lnTo>
                    <a:lnTo>
                      <a:pt x="66" y="206"/>
                    </a:lnTo>
                    <a:lnTo>
                      <a:pt x="64" y="198"/>
                    </a:lnTo>
                    <a:lnTo>
                      <a:pt x="62" y="187"/>
                    </a:lnTo>
                    <a:lnTo>
                      <a:pt x="58" y="195"/>
                    </a:lnTo>
                    <a:lnTo>
                      <a:pt x="54" y="203"/>
                    </a:lnTo>
                    <a:lnTo>
                      <a:pt x="50" y="212"/>
                    </a:lnTo>
                    <a:lnTo>
                      <a:pt x="48" y="221"/>
                    </a:lnTo>
                    <a:lnTo>
                      <a:pt x="46" y="232"/>
                    </a:lnTo>
                    <a:lnTo>
                      <a:pt x="44" y="239"/>
                    </a:lnTo>
                    <a:lnTo>
                      <a:pt x="43" y="249"/>
                    </a:lnTo>
                    <a:lnTo>
                      <a:pt x="41" y="260"/>
                    </a:lnTo>
                    <a:lnTo>
                      <a:pt x="39" y="273"/>
                    </a:lnTo>
                    <a:lnTo>
                      <a:pt x="38" y="283"/>
                    </a:lnTo>
                    <a:lnTo>
                      <a:pt x="37" y="295"/>
                    </a:lnTo>
                    <a:lnTo>
                      <a:pt x="36" y="305"/>
                    </a:lnTo>
                    <a:lnTo>
                      <a:pt x="33" y="315"/>
                    </a:lnTo>
                    <a:lnTo>
                      <a:pt x="32" y="325"/>
                    </a:lnTo>
                    <a:lnTo>
                      <a:pt x="30" y="333"/>
                    </a:lnTo>
                    <a:lnTo>
                      <a:pt x="26" y="340"/>
                    </a:lnTo>
                    <a:lnTo>
                      <a:pt x="21" y="348"/>
                    </a:lnTo>
                    <a:lnTo>
                      <a:pt x="15" y="356"/>
                    </a:lnTo>
                    <a:lnTo>
                      <a:pt x="10" y="364"/>
                    </a:lnTo>
                    <a:lnTo>
                      <a:pt x="5" y="368"/>
                    </a:lnTo>
                    <a:lnTo>
                      <a:pt x="2" y="364"/>
                    </a:lnTo>
                    <a:lnTo>
                      <a:pt x="2" y="344"/>
                    </a:lnTo>
                    <a:lnTo>
                      <a:pt x="2" y="364"/>
                    </a:lnTo>
                    <a:lnTo>
                      <a:pt x="2" y="344"/>
                    </a:lnTo>
                    <a:lnTo>
                      <a:pt x="2" y="324"/>
                    </a:lnTo>
                    <a:lnTo>
                      <a:pt x="5" y="316"/>
                    </a:lnTo>
                    <a:lnTo>
                      <a:pt x="9" y="306"/>
                    </a:lnTo>
                    <a:lnTo>
                      <a:pt x="13" y="297"/>
                    </a:lnTo>
                    <a:lnTo>
                      <a:pt x="17" y="287"/>
                    </a:lnTo>
                    <a:lnTo>
                      <a:pt x="21" y="278"/>
                    </a:lnTo>
                    <a:lnTo>
                      <a:pt x="25" y="268"/>
                    </a:lnTo>
                    <a:lnTo>
                      <a:pt x="28" y="259"/>
                    </a:lnTo>
                    <a:lnTo>
                      <a:pt x="31" y="249"/>
                    </a:lnTo>
                    <a:lnTo>
                      <a:pt x="34" y="239"/>
                    </a:lnTo>
                    <a:lnTo>
                      <a:pt x="36" y="233"/>
                    </a:lnTo>
                    <a:lnTo>
                      <a:pt x="38" y="225"/>
                    </a:lnTo>
                    <a:lnTo>
                      <a:pt x="41" y="216"/>
                    </a:lnTo>
                    <a:lnTo>
                      <a:pt x="44" y="210"/>
                    </a:lnTo>
                    <a:lnTo>
                      <a:pt x="42" y="204"/>
                    </a:lnTo>
                    <a:lnTo>
                      <a:pt x="41" y="197"/>
                    </a:lnTo>
                    <a:lnTo>
                      <a:pt x="42" y="192"/>
                    </a:lnTo>
                    <a:lnTo>
                      <a:pt x="43" y="185"/>
                    </a:lnTo>
                    <a:lnTo>
                      <a:pt x="36" y="184"/>
                    </a:lnTo>
                    <a:lnTo>
                      <a:pt x="26" y="182"/>
                    </a:lnTo>
                    <a:lnTo>
                      <a:pt x="18" y="187"/>
                    </a:lnTo>
                    <a:lnTo>
                      <a:pt x="11" y="191"/>
                    </a:lnTo>
                    <a:lnTo>
                      <a:pt x="3" y="195"/>
                    </a:lnTo>
                    <a:lnTo>
                      <a:pt x="2" y="184"/>
                    </a:lnTo>
                    <a:lnTo>
                      <a:pt x="2" y="164"/>
                    </a:lnTo>
                    <a:lnTo>
                      <a:pt x="2" y="184"/>
                    </a:lnTo>
                    <a:lnTo>
                      <a:pt x="2" y="164"/>
                    </a:lnTo>
                    <a:lnTo>
                      <a:pt x="5" y="164"/>
                    </a:lnTo>
                    <a:lnTo>
                      <a:pt x="13" y="161"/>
                    </a:lnTo>
                    <a:lnTo>
                      <a:pt x="15" y="156"/>
                    </a:lnTo>
                    <a:lnTo>
                      <a:pt x="17" y="151"/>
                    </a:lnTo>
                    <a:lnTo>
                      <a:pt x="19" y="146"/>
                    </a:lnTo>
                    <a:lnTo>
                      <a:pt x="18" y="144"/>
                    </a:lnTo>
                    <a:lnTo>
                      <a:pt x="13" y="138"/>
                    </a:lnTo>
                    <a:lnTo>
                      <a:pt x="6" y="132"/>
                    </a:lnTo>
                    <a:lnTo>
                      <a:pt x="0" y="125"/>
                    </a:lnTo>
                    <a:lnTo>
                      <a:pt x="2" y="124"/>
                    </a:lnTo>
                    <a:lnTo>
                      <a:pt x="2" y="105"/>
                    </a:lnTo>
                    <a:lnTo>
                      <a:pt x="1" y="103"/>
                    </a:lnTo>
                    <a:lnTo>
                      <a:pt x="11" y="110"/>
                    </a:lnTo>
                    <a:lnTo>
                      <a:pt x="19" y="117"/>
                    </a:lnTo>
                    <a:lnTo>
                      <a:pt x="24" y="122"/>
                    </a:lnTo>
                    <a:lnTo>
                      <a:pt x="28" y="128"/>
                    </a:lnTo>
                    <a:lnTo>
                      <a:pt x="35" y="137"/>
                    </a:lnTo>
                    <a:lnTo>
                      <a:pt x="40" y="143"/>
                    </a:lnTo>
                    <a:lnTo>
                      <a:pt x="46" y="150"/>
                    </a:lnTo>
                    <a:lnTo>
                      <a:pt x="53" y="157"/>
                    </a:lnTo>
                    <a:lnTo>
                      <a:pt x="55" y="155"/>
                    </a:lnTo>
                    <a:lnTo>
                      <a:pt x="59" y="148"/>
                    </a:lnTo>
                    <a:lnTo>
                      <a:pt x="62" y="143"/>
                    </a:lnTo>
                    <a:lnTo>
                      <a:pt x="60" y="138"/>
                    </a:lnTo>
                    <a:lnTo>
                      <a:pt x="55" y="130"/>
                    </a:lnTo>
                    <a:lnTo>
                      <a:pt x="51" y="123"/>
                    </a:lnTo>
                    <a:lnTo>
                      <a:pt x="46" y="115"/>
                    </a:lnTo>
                    <a:lnTo>
                      <a:pt x="40" y="109"/>
                    </a:lnTo>
                    <a:lnTo>
                      <a:pt x="31" y="100"/>
                    </a:lnTo>
                    <a:lnTo>
                      <a:pt x="24" y="91"/>
                    </a:lnTo>
                    <a:lnTo>
                      <a:pt x="17" y="84"/>
                    </a:lnTo>
                    <a:lnTo>
                      <a:pt x="12" y="78"/>
                    </a:lnTo>
                    <a:lnTo>
                      <a:pt x="6" y="70"/>
                    </a:lnTo>
                    <a:lnTo>
                      <a:pt x="2" y="65"/>
                    </a:lnTo>
                    <a:lnTo>
                      <a:pt x="2" y="44"/>
                    </a:lnTo>
                    <a:lnTo>
                      <a:pt x="2" y="65"/>
                    </a:lnTo>
                    <a:lnTo>
                      <a:pt x="2" y="44"/>
                    </a:lnTo>
                    <a:lnTo>
                      <a:pt x="2" y="53"/>
                    </a:lnTo>
                    <a:lnTo>
                      <a:pt x="2" y="48"/>
                    </a:lnTo>
                    <a:lnTo>
                      <a:pt x="4" y="55"/>
                    </a:lnTo>
                    <a:lnTo>
                      <a:pt x="11" y="63"/>
                    </a:lnTo>
                    <a:lnTo>
                      <a:pt x="17" y="70"/>
                    </a:lnTo>
                    <a:lnTo>
                      <a:pt x="25" y="80"/>
                    </a:lnTo>
                    <a:lnTo>
                      <a:pt x="30" y="87"/>
                    </a:lnTo>
                    <a:lnTo>
                      <a:pt x="37" y="95"/>
                    </a:lnTo>
                    <a:lnTo>
                      <a:pt x="43" y="106"/>
                    </a:lnTo>
                    <a:lnTo>
                      <a:pt x="48" y="115"/>
                    </a:lnTo>
                    <a:lnTo>
                      <a:pt x="54" y="124"/>
                    </a:lnTo>
                    <a:lnTo>
                      <a:pt x="61" y="138"/>
                    </a:lnTo>
                    <a:lnTo>
                      <a:pt x="64" y="146"/>
                    </a:lnTo>
                    <a:lnTo>
                      <a:pt x="66" y="151"/>
                    </a:lnTo>
                    <a:lnTo>
                      <a:pt x="70" y="143"/>
                    </a:lnTo>
                    <a:lnTo>
                      <a:pt x="75" y="135"/>
                    </a:lnTo>
                    <a:lnTo>
                      <a:pt x="80" y="127"/>
                    </a:lnTo>
                    <a:lnTo>
                      <a:pt x="85" y="118"/>
                    </a:lnTo>
                    <a:lnTo>
                      <a:pt x="90" y="110"/>
                    </a:lnTo>
                    <a:lnTo>
                      <a:pt x="94" y="103"/>
                    </a:lnTo>
                    <a:lnTo>
                      <a:pt x="100" y="96"/>
                    </a:lnTo>
                    <a:lnTo>
                      <a:pt x="106" y="87"/>
                    </a:lnTo>
                    <a:lnTo>
                      <a:pt x="113" y="78"/>
                    </a:lnTo>
                    <a:lnTo>
                      <a:pt x="120" y="68"/>
                    </a:lnTo>
                    <a:lnTo>
                      <a:pt x="127" y="58"/>
                    </a:lnTo>
                    <a:lnTo>
                      <a:pt x="132" y="50"/>
                    </a:lnTo>
                    <a:lnTo>
                      <a:pt x="139" y="39"/>
                    </a:lnTo>
                    <a:lnTo>
                      <a:pt x="144" y="33"/>
                    </a:lnTo>
                    <a:lnTo>
                      <a:pt x="150" y="26"/>
                    </a:lnTo>
                    <a:lnTo>
                      <a:pt x="156" y="21"/>
                    </a:lnTo>
                    <a:lnTo>
                      <a:pt x="161" y="15"/>
                    </a:lnTo>
                    <a:lnTo>
                      <a:pt x="165" y="6"/>
                    </a:lnTo>
                    <a:lnTo>
                      <a:pt x="170" y="0"/>
                    </a:lnTo>
                    <a:lnTo>
                      <a:pt x="169" y="5"/>
                    </a:lnTo>
                    <a:lnTo>
                      <a:pt x="168" y="13"/>
                    </a:lnTo>
                    <a:lnTo>
                      <a:pt x="166" y="21"/>
                    </a:lnTo>
                    <a:lnTo>
                      <a:pt x="163" y="29"/>
                    </a:lnTo>
                    <a:lnTo>
                      <a:pt x="159" y="37"/>
                    </a:lnTo>
                    <a:lnTo>
                      <a:pt x="153" y="47"/>
                    </a:lnTo>
                    <a:lnTo>
                      <a:pt x="148" y="56"/>
                    </a:lnTo>
                    <a:lnTo>
                      <a:pt x="143" y="67"/>
                    </a:lnTo>
                    <a:lnTo>
                      <a:pt x="137" y="76"/>
                    </a:lnTo>
                    <a:lnTo>
                      <a:pt x="130" y="87"/>
                    </a:lnTo>
                    <a:lnTo>
                      <a:pt x="124" y="95"/>
                    </a:lnTo>
                  </a:path>
                </a:pathLst>
              </a:custGeom>
              <a:solidFill>
                <a:srgbClr val="037C03">
                  <a:alpha val="50195"/>
                </a:srgbClr>
              </a:solidFill>
              <a:ln w="9525">
                <a:noFill/>
              </a:ln>
            </p:spPr>
            <p:txBody>
              <a:bodyPr/>
              <a:lstStyle/>
              <a:p>
                <a:endParaRPr lang="zh-CN" altLang="en-US"/>
              </a:p>
            </p:txBody>
          </p:sp>
          <p:grpSp>
            <p:nvGrpSpPr>
              <p:cNvPr id="89295" name="Group 33"/>
              <p:cNvGrpSpPr/>
              <p:nvPr/>
            </p:nvGrpSpPr>
            <p:grpSpPr>
              <a:xfrm>
                <a:off x="1707" y="1466"/>
                <a:ext cx="484" cy="368"/>
                <a:chOff x="1707" y="1466"/>
                <a:chExt cx="484" cy="368"/>
              </a:xfrm>
            </p:grpSpPr>
            <p:sp>
              <p:nvSpPr>
                <p:cNvPr id="89297" name="Freeform 34"/>
                <p:cNvSpPr/>
                <p:nvPr/>
              </p:nvSpPr>
              <p:spPr>
                <a:xfrm>
                  <a:off x="1751" y="1466"/>
                  <a:ext cx="440" cy="342"/>
                </a:xfrm>
                <a:custGeom>
                  <a:avLst/>
                  <a:gdLst>
                    <a:gd name="txL" fmla="*/ 0 w 440"/>
                    <a:gd name="txT" fmla="*/ 0 h 342"/>
                    <a:gd name="txR" fmla="*/ 440 w 440"/>
                    <a:gd name="txB" fmla="*/ 342 h 342"/>
                  </a:gdLst>
                  <a:ahLst/>
                  <a:cxnLst>
                    <a:cxn ang="0">
                      <a:pos x="167" y="42"/>
                    </a:cxn>
                    <a:cxn ang="0">
                      <a:pos x="202" y="14"/>
                    </a:cxn>
                    <a:cxn ang="0">
                      <a:pos x="245" y="3"/>
                    </a:cxn>
                    <a:cxn ang="0">
                      <a:pos x="292" y="2"/>
                    </a:cxn>
                    <a:cxn ang="0">
                      <a:pos x="304" y="7"/>
                    </a:cxn>
                    <a:cxn ang="0">
                      <a:pos x="272" y="15"/>
                    </a:cxn>
                    <a:cxn ang="0">
                      <a:pos x="236" y="26"/>
                    </a:cxn>
                    <a:cxn ang="0">
                      <a:pos x="195" y="55"/>
                    </a:cxn>
                    <a:cxn ang="0">
                      <a:pos x="191" y="94"/>
                    </a:cxn>
                    <a:cxn ang="0">
                      <a:pos x="252" y="70"/>
                    </a:cxn>
                    <a:cxn ang="0">
                      <a:pos x="301" y="67"/>
                    </a:cxn>
                    <a:cxn ang="0">
                      <a:pos x="354" y="72"/>
                    </a:cxn>
                    <a:cxn ang="0">
                      <a:pos x="416" y="79"/>
                    </a:cxn>
                    <a:cxn ang="0">
                      <a:pos x="417" y="80"/>
                    </a:cxn>
                    <a:cxn ang="0">
                      <a:pos x="357" y="83"/>
                    </a:cxn>
                    <a:cxn ang="0">
                      <a:pos x="302" y="84"/>
                    </a:cxn>
                    <a:cxn ang="0">
                      <a:pos x="254" y="90"/>
                    </a:cxn>
                    <a:cxn ang="0">
                      <a:pos x="200" y="103"/>
                    </a:cxn>
                    <a:cxn ang="0">
                      <a:pos x="222" y="123"/>
                    </a:cxn>
                    <a:cxn ang="0">
                      <a:pos x="238" y="142"/>
                    </a:cxn>
                    <a:cxn ang="0">
                      <a:pos x="184" y="125"/>
                    </a:cxn>
                    <a:cxn ang="0">
                      <a:pos x="173" y="136"/>
                    </a:cxn>
                    <a:cxn ang="0">
                      <a:pos x="232" y="145"/>
                    </a:cxn>
                    <a:cxn ang="0">
                      <a:pos x="282" y="157"/>
                    </a:cxn>
                    <a:cxn ang="0">
                      <a:pos x="321" y="190"/>
                    </a:cxn>
                    <a:cxn ang="0">
                      <a:pos x="351" y="234"/>
                    </a:cxn>
                    <a:cxn ang="0">
                      <a:pos x="344" y="242"/>
                    </a:cxn>
                    <a:cxn ang="0">
                      <a:pos x="304" y="214"/>
                    </a:cxn>
                    <a:cxn ang="0">
                      <a:pos x="259" y="183"/>
                    </a:cxn>
                    <a:cxn ang="0">
                      <a:pos x="211" y="162"/>
                    </a:cxn>
                    <a:cxn ang="0">
                      <a:pos x="180" y="155"/>
                    </a:cxn>
                    <a:cxn ang="0">
                      <a:pos x="206" y="189"/>
                    </a:cxn>
                    <a:cxn ang="0">
                      <a:pos x="238" y="234"/>
                    </a:cxn>
                    <a:cxn ang="0">
                      <a:pos x="256" y="275"/>
                    </a:cxn>
                    <a:cxn ang="0">
                      <a:pos x="255" y="313"/>
                    </a:cxn>
                    <a:cxn ang="0">
                      <a:pos x="232" y="271"/>
                    </a:cxn>
                    <a:cxn ang="0">
                      <a:pos x="208" y="226"/>
                    </a:cxn>
                    <a:cxn ang="0">
                      <a:pos x="181" y="185"/>
                    </a:cxn>
                    <a:cxn ang="0">
                      <a:pos x="157" y="149"/>
                    </a:cxn>
                    <a:cxn ang="0">
                      <a:pos x="115" y="170"/>
                    </a:cxn>
                    <a:cxn ang="0">
                      <a:pos x="80" y="221"/>
                    </a:cxn>
                    <a:cxn ang="0">
                      <a:pos x="51" y="273"/>
                    </a:cxn>
                    <a:cxn ang="0">
                      <a:pos x="18" y="321"/>
                    </a:cxn>
                    <a:cxn ang="0">
                      <a:pos x="8" y="315"/>
                    </a:cxn>
                    <a:cxn ang="0">
                      <a:pos x="47" y="255"/>
                    </a:cxn>
                    <a:cxn ang="0">
                      <a:pos x="82" y="208"/>
                    </a:cxn>
                    <a:cxn ang="0">
                      <a:pos x="112" y="162"/>
                    </a:cxn>
                    <a:cxn ang="0">
                      <a:pos x="139" y="126"/>
                    </a:cxn>
                    <a:cxn ang="0">
                      <a:pos x="99" y="83"/>
                    </a:cxn>
                    <a:cxn ang="0">
                      <a:pos x="43" y="60"/>
                    </a:cxn>
                    <a:cxn ang="0">
                      <a:pos x="20" y="47"/>
                    </a:cxn>
                    <a:cxn ang="0">
                      <a:pos x="63" y="61"/>
                    </a:cxn>
                    <a:cxn ang="0">
                      <a:pos x="122" y="90"/>
                    </a:cxn>
                  </a:cxnLst>
                  <a:rect l="txL" t="txT" r="txR" b="txB"/>
                  <a:pathLst>
                    <a:path w="440" h="342">
                      <a:moveTo>
                        <a:pt x="138" y="87"/>
                      </a:moveTo>
                      <a:lnTo>
                        <a:pt x="141" y="78"/>
                      </a:lnTo>
                      <a:lnTo>
                        <a:pt x="146" y="69"/>
                      </a:lnTo>
                      <a:lnTo>
                        <a:pt x="153" y="59"/>
                      </a:lnTo>
                      <a:lnTo>
                        <a:pt x="160" y="51"/>
                      </a:lnTo>
                      <a:lnTo>
                        <a:pt x="167" y="42"/>
                      </a:lnTo>
                      <a:lnTo>
                        <a:pt x="172" y="36"/>
                      </a:lnTo>
                      <a:lnTo>
                        <a:pt x="178" y="31"/>
                      </a:lnTo>
                      <a:lnTo>
                        <a:pt x="184" y="26"/>
                      </a:lnTo>
                      <a:lnTo>
                        <a:pt x="190" y="21"/>
                      </a:lnTo>
                      <a:lnTo>
                        <a:pt x="196" y="17"/>
                      </a:lnTo>
                      <a:lnTo>
                        <a:pt x="202" y="14"/>
                      </a:lnTo>
                      <a:lnTo>
                        <a:pt x="208" y="11"/>
                      </a:lnTo>
                      <a:lnTo>
                        <a:pt x="215" y="8"/>
                      </a:lnTo>
                      <a:lnTo>
                        <a:pt x="222" y="7"/>
                      </a:lnTo>
                      <a:lnTo>
                        <a:pt x="230" y="5"/>
                      </a:lnTo>
                      <a:lnTo>
                        <a:pt x="237" y="3"/>
                      </a:lnTo>
                      <a:lnTo>
                        <a:pt x="245" y="3"/>
                      </a:lnTo>
                      <a:lnTo>
                        <a:pt x="252" y="2"/>
                      </a:lnTo>
                      <a:lnTo>
                        <a:pt x="260" y="2"/>
                      </a:lnTo>
                      <a:lnTo>
                        <a:pt x="270" y="1"/>
                      </a:lnTo>
                      <a:lnTo>
                        <a:pt x="278" y="2"/>
                      </a:lnTo>
                      <a:lnTo>
                        <a:pt x="285" y="2"/>
                      </a:lnTo>
                      <a:lnTo>
                        <a:pt x="292" y="2"/>
                      </a:lnTo>
                      <a:lnTo>
                        <a:pt x="299" y="2"/>
                      </a:lnTo>
                      <a:lnTo>
                        <a:pt x="307" y="1"/>
                      </a:lnTo>
                      <a:lnTo>
                        <a:pt x="314" y="0"/>
                      </a:lnTo>
                      <a:lnTo>
                        <a:pt x="310" y="2"/>
                      </a:lnTo>
                      <a:lnTo>
                        <a:pt x="307" y="4"/>
                      </a:lnTo>
                      <a:lnTo>
                        <a:pt x="304" y="7"/>
                      </a:lnTo>
                      <a:lnTo>
                        <a:pt x="301" y="10"/>
                      </a:lnTo>
                      <a:lnTo>
                        <a:pt x="295" y="10"/>
                      </a:lnTo>
                      <a:lnTo>
                        <a:pt x="288" y="11"/>
                      </a:lnTo>
                      <a:lnTo>
                        <a:pt x="284" y="12"/>
                      </a:lnTo>
                      <a:lnTo>
                        <a:pt x="278" y="13"/>
                      </a:lnTo>
                      <a:lnTo>
                        <a:pt x="272" y="15"/>
                      </a:lnTo>
                      <a:lnTo>
                        <a:pt x="266" y="16"/>
                      </a:lnTo>
                      <a:lnTo>
                        <a:pt x="260" y="17"/>
                      </a:lnTo>
                      <a:lnTo>
                        <a:pt x="254" y="19"/>
                      </a:lnTo>
                      <a:lnTo>
                        <a:pt x="248" y="21"/>
                      </a:lnTo>
                      <a:lnTo>
                        <a:pt x="241" y="23"/>
                      </a:lnTo>
                      <a:lnTo>
                        <a:pt x="236" y="26"/>
                      </a:lnTo>
                      <a:lnTo>
                        <a:pt x="229" y="29"/>
                      </a:lnTo>
                      <a:lnTo>
                        <a:pt x="222" y="32"/>
                      </a:lnTo>
                      <a:lnTo>
                        <a:pt x="215" y="36"/>
                      </a:lnTo>
                      <a:lnTo>
                        <a:pt x="208" y="41"/>
                      </a:lnTo>
                      <a:lnTo>
                        <a:pt x="201" y="47"/>
                      </a:lnTo>
                      <a:lnTo>
                        <a:pt x="195" y="55"/>
                      </a:lnTo>
                      <a:lnTo>
                        <a:pt x="189" y="64"/>
                      </a:lnTo>
                      <a:lnTo>
                        <a:pt x="181" y="77"/>
                      </a:lnTo>
                      <a:lnTo>
                        <a:pt x="175" y="90"/>
                      </a:lnTo>
                      <a:lnTo>
                        <a:pt x="167" y="106"/>
                      </a:lnTo>
                      <a:lnTo>
                        <a:pt x="180" y="99"/>
                      </a:lnTo>
                      <a:lnTo>
                        <a:pt x="191" y="94"/>
                      </a:lnTo>
                      <a:lnTo>
                        <a:pt x="206" y="86"/>
                      </a:lnTo>
                      <a:lnTo>
                        <a:pt x="222" y="78"/>
                      </a:lnTo>
                      <a:lnTo>
                        <a:pt x="229" y="77"/>
                      </a:lnTo>
                      <a:lnTo>
                        <a:pt x="236" y="74"/>
                      </a:lnTo>
                      <a:lnTo>
                        <a:pt x="243" y="72"/>
                      </a:lnTo>
                      <a:lnTo>
                        <a:pt x="252" y="70"/>
                      </a:lnTo>
                      <a:lnTo>
                        <a:pt x="261" y="68"/>
                      </a:lnTo>
                      <a:lnTo>
                        <a:pt x="269" y="68"/>
                      </a:lnTo>
                      <a:lnTo>
                        <a:pt x="275" y="67"/>
                      </a:lnTo>
                      <a:lnTo>
                        <a:pt x="285" y="66"/>
                      </a:lnTo>
                      <a:lnTo>
                        <a:pt x="294" y="66"/>
                      </a:lnTo>
                      <a:lnTo>
                        <a:pt x="301" y="67"/>
                      </a:lnTo>
                      <a:lnTo>
                        <a:pt x="311" y="68"/>
                      </a:lnTo>
                      <a:lnTo>
                        <a:pt x="319" y="69"/>
                      </a:lnTo>
                      <a:lnTo>
                        <a:pt x="328" y="69"/>
                      </a:lnTo>
                      <a:lnTo>
                        <a:pt x="336" y="70"/>
                      </a:lnTo>
                      <a:lnTo>
                        <a:pt x="345" y="71"/>
                      </a:lnTo>
                      <a:lnTo>
                        <a:pt x="354" y="72"/>
                      </a:lnTo>
                      <a:lnTo>
                        <a:pt x="363" y="73"/>
                      </a:lnTo>
                      <a:lnTo>
                        <a:pt x="371" y="74"/>
                      </a:lnTo>
                      <a:lnTo>
                        <a:pt x="381" y="75"/>
                      </a:lnTo>
                      <a:lnTo>
                        <a:pt x="392" y="76"/>
                      </a:lnTo>
                      <a:lnTo>
                        <a:pt x="401" y="77"/>
                      </a:lnTo>
                      <a:lnTo>
                        <a:pt x="416" y="79"/>
                      </a:lnTo>
                      <a:lnTo>
                        <a:pt x="421" y="79"/>
                      </a:lnTo>
                      <a:lnTo>
                        <a:pt x="425" y="79"/>
                      </a:lnTo>
                      <a:lnTo>
                        <a:pt x="430" y="81"/>
                      </a:lnTo>
                      <a:lnTo>
                        <a:pt x="439" y="84"/>
                      </a:lnTo>
                      <a:lnTo>
                        <a:pt x="424" y="81"/>
                      </a:lnTo>
                      <a:lnTo>
                        <a:pt x="417" y="80"/>
                      </a:lnTo>
                      <a:lnTo>
                        <a:pt x="411" y="80"/>
                      </a:lnTo>
                      <a:lnTo>
                        <a:pt x="397" y="81"/>
                      </a:lnTo>
                      <a:lnTo>
                        <a:pt x="388" y="82"/>
                      </a:lnTo>
                      <a:lnTo>
                        <a:pt x="377" y="82"/>
                      </a:lnTo>
                      <a:lnTo>
                        <a:pt x="367" y="82"/>
                      </a:lnTo>
                      <a:lnTo>
                        <a:pt x="357" y="83"/>
                      </a:lnTo>
                      <a:lnTo>
                        <a:pt x="348" y="83"/>
                      </a:lnTo>
                      <a:lnTo>
                        <a:pt x="340" y="82"/>
                      </a:lnTo>
                      <a:lnTo>
                        <a:pt x="330" y="82"/>
                      </a:lnTo>
                      <a:lnTo>
                        <a:pt x="319" y="82"/>
                      </a:lnTo>
                      <a:lnTo>
                        <a:pt x="310" y="83"/>
                      </a:lnTo>
                      <a:lnTo>
                        <a:pt x="302" y="84"/>
                      </a:lnTo>
                      <a:lnTo>
                        <a:pt x="292" y="84"/>
                      </a:lnTo>
                      <a:lnTo>
                        <a:pt x="285" y="84"/>
                      </a:lnTo>
                      <a:lnTo>
                        <a:pt x="276" y="85"/>
                      </a:lnTo>
                      <a:lnTo>
                        <a:pt x="269" y="87"/>
                      </a:lnTo>
                      <a:lnTo>
                        <a:pt x="261" y="88"/>
                      </a:lnTo>
                      <a:lnTo>
                        <a:pt x="254" y="90"/>
                      </a:lnTo>
                      <a:lnTo>
                        <a:pt x="246" y="92"/>
                      </a:lnTo>
                      <a:lnTo>
                        <a:pt x="238" y="94"/>
                      </a:lnTo>
                      <a:lnTo>
                        <a:pt x="229" y="96"/>
                      </a:lnTo>
                      <a:lnTo>
                        <a:pt x="222" y="98"/>
                      </a:lnTo>
                      <a:lnTo>
                        <a:pt x="208" y="102"/>
                      </a:lnTo>
                      <a:lnTo>
                        <a:pt x="200" y="103"/>
                      </a:lnTo>
                      <a:lnTo>
                        <a:pt x="189" y="108"/>
                      </a:lnTo>
                      <a:lnTo>
                        <a:pt x="172" y="115"/>
                      </a:lnTo>
                      <a:lnTo>
                        <a:pt x="189" y="117"/>
                      </a:lnTo>
                      <a:lnTo>
                        <a:pt x="209" y="118"/>
                      </a:lnTo>
                      <a:lnTo>
                        <a:pt x="213" y="118"/>
                      </a:lnTo>
                      <a:lnTo>
                        <a:pt x="222" y="123"/>
                      </a:lnTo>
                      <a:lnTo>
                        <a:pt x="228" y="126"/>
                      </a:lnTo>
                      <a:lnTo>
                        <a:pt x="234" y="129"/>
                      </a:lnTo>
                      <a:lnTo>
                        <a:pt x="235" y="131"/>
                      </a:lnTo>
                      <a:lnTo>
                        <a:pt x="238" y="137"/>
                      </a:lnTo>
                      <a:lnTo>
                        <a:pt x="245" y="146"/>
                      </a:lnTo>
                      <a:lnTo>
                        <a:pt x="238" y="142"/>
                      </a:lnTo>
                      <a:lnTo>
                        <a:pt x="229" y="137"/>
                      </a:lnTo>
                      <a:lnTo>
                        <a:pt x="222" y="135"/>
                      </a:lnTo>
                      <a:lnTo>
                        <a:pt x="209" y="132"/>
                      </a:lnTo>
                      <a:lnTo>
                        <a:pt x="199" y="129"/>
                      </a:lnTo>
                      <a:lnTo>
                        <a:pt x="189" y="126"/>
                      </a:lnTo>
                      <a:lnTo>
                        <a:pt x="184" y="125"/>
                      </a:lnTo>
                      <a:lnTo>
                        <a:pt x="172" y="126"/>
                      </a:lnTo>
                      <a:lnTo>
                        <a:pt x="165" y="127"/>
                      </a:lnTo>
                      <a:lnTo>
                        <a:pt x="155" y="129"/>
                      </a:lnTo>
                      <a:lnTo>
                        <a:pt x="160" y="131"/>
                      </a:lnTo>
                      <a:lnTo>
                        <a:pt x="166" y="132"/>
                      </a:lnTo>
                      <a:lnTo>
                        <a:pt x="173" y="136"/>
                      </a:lnTo>
                      <a:lnTo>
                        <a:pt x="181" y="135"/>
                      </a:lnTo>
                      <a:lnTo>
                        <a:pt x="195" y="136"/>
                      </a:lnTo>
                      <a:lnTo>
                        <a:pt x="203" y="137"/>
                      </a:lnTo>
                      <a:lnTo>
                        <a:pt x="215" y="140"/>
                      </a:lnTo>
                      <a:lnTo>
                        <a:pt x="222" y="143"/>
                      </a:lnTo>
                      <a:lnTo>
                        <a:pt x="232" y="145"/>
                      </a:lnTo>
                      <a:lnTo>
                        <a:pt x="242" y="148"/>
                      </a:lnTo>
                      <a:lnTo>
                        <a:pt x="251" y="151"/>
                      </a:lnTo>
                      <a:lnTo>
                        <a:pt x="259" y="152"/>
                      </a:lnTo>
                      <a:lnTo>
                        <a:pt x="266" y="153"/>
                      </a:lnTo>
                      <a:lnTo>
                        <a:pt x="273" y="155"/>
                      </a:lnTo>
                      <a:lnTo>
                        <a:pt x="282" y="157"/>
                      </a:lnTo>
                      <a:lnTo>
                        <a:pt x="291" y="161"/>
                      </a:lnTo>
                      <a:lnTo>
                        <a:pt x="299" y="165"/>
                      </a:lnTo>
                      <a:lnTo>
                        <a:pt x="303" y="169"/>
                      </a:lnTo>
                      <a:lnTo>
                        <a:pt x="309" y="175"/>
                      </a:lnTo>
                      <a:lnTo>
                        <a:pt x="316" y="183"/>
                      </a:lnTo>
                      <a:lnTo>
                        <a:pt x="321" y="190"/>
                      </a:lnTo>
                      <a:lnTo>
                        <a:pt x="326" y="197"/>
                      </a:lnTo>
                      <a:lnTo>
                        <a:pt x="331" y="204"/>
                      </a:lnTo>
                      <a:lnTo>
                        <a:pt x="335" y="212"/>
                      </a:lnTo>
                      <a:lnTo>
                        <a:pt x="340" y="218"/>
                      </a:lnTo>
                      <a:lnTo>
                        <a:pt x="345" y="226"/>
                      </a:lnTo>
                      <a:lnTo>
                        <a:pt x="351" y="234"/>
                      </a:lnTo>
                      <a:lnTo>
                        <a:pt x="356" y="243"/>
                      </a:lnTo>
                      <a:lnTo>
                        <a:pt x="361" y="250"/>
                      </a:lnTo>
                      <a:lnTo>
                        <a:pt x="368" y="258"/>
                      </a:lnTo>
                      <a:lnTo>
                        <a:pt x="359" y="251"/>
                      </a:lnTo>
                      <a:lnTo>
                        <a:pt x="353" y="247"/>
                      </a:lnTo>
                      <a:lnTo>
                        <a:pt x="344" y="242"/>
                      </a:lnTo>
                      <a:lnTo>
                        <a:pt x="336" y="236"/>
                      </a:lnTo>
                      <a:lnTo>
                        <a:pt x="330" y="231"/>
                      </a:lnTo>
                      <a:lnTo>
                        <a:pt x="323" y="226"/>
                      </a:lnTo>
                      <a:lnTo>
                        <a:pt x="317" y="222"/>
                      </a:lnTo>
                      <a:lnTo>
                        <a:pt x="311" y="218"/>
                      </a:lnTo>
                      <a:lnTo>
                        <a:pt x="304" y="214"/>
                      </a:lnTo>
                      <a:lnTo>
                        <a:pt x="297" y="210"/>
                      </a:lnTo>
                      <a:lnTo>
                        <a:pt x="291" y="205"/>
                      </a:lnTo>
                      <a:lnTo>
                        <a:pt x="284" y="200"/>
                      </a:lnTo>
                      <a:lnTo>
                        <a:pt x="275" y="195"/>
                      </a:lnTo>
                      <a:lnTo>
                        <a:pt x="267" y="189"/>
                      </a:lnTo>
                      <a:lnTo>
                        <a:pt x="259" y="183"/>
                      </a:lnTo>
                      <a:lnTo>
                        <a:pt x="252" y="179"/>
                      </a:lnTo>
                      <a:lnTo>
                        <a:pt x="245" y="174"/>
                      </a:lnTo>
                      <a:lnTo>
                        <a:pt x="237" y="170"/>
                      </a:lnTo>
                      <a:lnTo>
                        <a:pt x="229" y="167"/>
                      </a:lnTo>
                      <a:lnTo>
                        <a:pt x="222" y="165"/>
                      </a:lnTo>
                      <a:lnTo>
                        <a:pt x="211" y="162"/>
                      </a:lnTo>
                      <a:lnTo>
                        <a:pt x="201" y="159"/>
                      </a:lnTo>
                      <a:lnTo>
                        <a:pt x="194" y="157"/>
                      </a:lnTo>
                      <a:lnTo>
                        <a:pt x="186" y="155"/>
                      </a:lnTo>
                      <a:lnTo>
                        <a:pt x="175" y="149"/>
                      </a:lnTo>
                      <a:lnTo>
                        <a:pt x="163" y="144"/>
                      </a:lnTo>
                      <a:lnTo>
                        <a:pt x="180" y="155"/>
                      </a:lnTo>
                      <a:lnTo>
                        <a:pt x="182" y="157"/>
                      </a:lnTo>
                      <a:lnTo>
                        <a:pt x="186" y="162"/>
                      </a:lnTo>
                      <a:lnTo>
                        <a:pt x="190" y="168"/>
                      </a:lnTo>
                      <a:lnTo>
                        <a:pt x="195" y="175"/>
                      </a:lnTo>
                      <a:lnTo>
                        <a:pt x="201" y="182"/>
                      </a:lnTo>
                      <a:lnTo>
                        <a:pt x="206" y="189"/>
                      </a:lnTo>
                      <a:lnTo>
                        <a:pt x="212" y="197"/>
                      </a:lnTo>
                      <a:lnTo>
                        <a:pt x="217" y="204"/>
                      </a:lnTo>
                      <a:lnTo>
                        <a:pt x="222" y="210"/>
                      </a:lnTo>
                      <a:lnTo>
                        <a:pt x="227" y="217"/>
                      </a:lnTo>
                      <a:lnTo>
                        <a:pt x="233" y="227"/>
                      </a:lnTo>
                      <a:lnTo>
                        <a:pt x="238" y="234"/>
                      </a:lnTo>
                      <a:lnTo>
                        <a:pt x="242" y="241"/>
                      </a:lnTo>
                      <a:lnTo>
                        <a:pt x="246" y="248"/>
                      </a:lnTo>
                      <a:lnTo>
                        <a:pt x="250" y="255"/>
                      </a:lnTo>
                      <a:lnTo>
                        <a:pt x="252" y="262"/>
                      </a:lnTo>
                      <a:lnTo>
                        <a:pt x="254" y="267"/>
                      </a:lnTo>
                      <a:lnTo>
                        <a:pt x="256" y="275"/>
                      </a:lnTo>
                      <a:lnTo>
                        <a:pt x="257" y="285"/>
                      </a:lnTo>
                      <a:lnTo>
                        <a:pt x="258" y="294"/>
                      </a:lnTo>
                      <a:lnTo>
                        <a:pt x="259" y="304"/>
                      </a:lnTo>
                      <a:lnTo>
                        <a:pt x="261" y="313"/>
                      </a:lnTo>
                      <a:lnTo>
                        <a:pt x="262" y="323"/>
                      </a:lnTo>
                      <a:lnTo>
                        <a:pt x="255" y="313"/>
                      </a:lnTo>
                      <a:lnTo>
                        <a:pt x="249" y="307"/>
                      </a:lnTo>
                      <a:lnTo>
                        <a:pt x="245" y="300"/>
                      </a:lnTo>
                      <a:lnTo>
                        <a:pt x="241" y="295"/>
                      </a:lnTo>
                      <a:lnTo>
                        <a:pt x="238" y="288"/>
                      </a:lnTo>
                      <a:lnTo>
                        <a:pt x="236" y="280"/>
                      </a:lnTo>
                      <a:lnTo>
                        <a:pt x="232" y="271"/>
                      </a:lnTo>
                      <a:lnTo>
                        <a:pt x="228" y="263"/>
                      </a:lnTo>
                      <a:lnTo>
                        <a:pt x="224" y="254"/>
                      </a:lnTo>
                      <a:lnTo>
                        <a:pt x="221" y="246"/>
                      </a:lnTo>
                      <a:lnTo>
                        <a:pt x="217" y="238"/>
                      </a:lnTo>
                      <a:lnTo>
                        <a:pt x="212" y="232"/>
                      </a:lnTo>
                      <a:lnTo>
                        <a:pt x="208" y="226"/>
                      </a:lnTo>
                      <a:lnTo>
                        <a:pt x="202" y="218"/>
                      </a:lnTo>
                      <a:lnTo>
                        <a:pt x="196" y="211"/>
                      </a:lnTo>
                      <a:lnTo>
                        <a:pt x="191" y="205"/>
                      </a:lnTo>
                      <a:lnTo>
                        <a:pt x="186" y="199"/>
                      </a:lnTo>
                      <a:lnTo>
                        <a:pt x="185" y="194"/>
                      </a:lnTo>
                      <a:lnTo>
                        <a:pt x="181" y="185"/>
                      </a:lnTo>
                      <a:lnTo>
                        <a:pt x="177" y="179"/>
                      </a:lnTo>
                      <a:lnTo>
                        <a:pt x="174" y="171"/>
                      </a:lnTo>
                      <a:lnTo>
                        <a:pt x="172" y="169"/>
                      </a:lnTo>
                      <a:lnTo>
                        <a:pt x="165" y="162"/>
                      </a:lnTo>
                      <a:lnTo>
                        <a:pt x="161" y="155"/>
                      </a:lnTo>
                      <a:lnTo>
                        <a:pt x="157" y="149"/>
                      </a:lnTo>
                      <a:lnTo>
                        <a:pt x="153" y="143"/>
                      </a:lnTo>
                      <a:lnTo>
                        <a:pt x="145" y="146"/>
                      </a:lnTo>
                      <a:lnTo>
                        <a:pt x="137" y="151"/>
                      </a:lnTo>
                      <a:lnTo>
                        <a:pt x="129" y="158"/>
                      </a:lnTo>
                      <a:lnTo>
                        <a:pt x="121" y="164"/>
                      </a:lnTo>
                      <a:lnTo>
                        <a:pt x="115" y="170"/>
                      </a:lnTo>
                      <a:lnTo>
                        <a:pt x="110" y="176"/>
                      </a:lnTo>
                      <a:lnTo>
                        <a:pt x="104" y="185"/>
                      </a:lnTo>
                      <a:lnTo>
                        <a:pt x="97" y="195"/>
                      </a:lnTo>
                      <a:lnTo>
                        <a:pt x="92" y="203"/>
                      </a:lnTo>
                      <a:lnTo>
                        <a:pt x="85" y="212"/>
                      </a:lnTo>
                      <a:lnTo>
                        <a:pt x="80" y="221"/>
                      </a:lnTo>
                      <a:lnTo>
                        <a:pt x="76" y="229"/>
                      </a:lnTo>
                      <a:lnTo>
                        <a:pt x="71" y="237"/>
                      </a:lnTo>
                      <a:lnTo>
                        <a:pt x="67" y="245"/>
                      </a:lnTo>
                      <a:lnTo>
                        <a:pt x="62" y="254"/>
                      </a:lnTo>
                      <a:lnTo>
                        <a:pt x="58" y="263"/>
                      </a:lnTo>
                      <a:lnTo>
                        <a:pt x="51" y="273"/>
                      </a:lnTo>
                      <a:lnTo>
                        <a:pt x="45" y="283"/>
                      </a:lnTo>
                      <a:lnTo>
                        <a:pt x="38" y="294"/>
                      </a:lnTo>
                      <a:lnTo>
                        <a:pt x="33" y="303"/>
                      </a:lnTo>
                      <a:lnTo>
                        <a:pt x="28" y="309"/>
                      </a:lnTo>
                      <a:lnTo>
                        <a:pt x="24" y="315"/>
                      </a:lnTo>
                      <a:lnTo>
                        <a:pt x="18" y="321"/>
                      </a:lnTo>
                      <a:lnTo>
                        <a:pt x="13" y="327"/>
                      </a:lnTo>
                      <a:lnTo>
                        <a:pt x="7" y="333"/>
                      </a:lnTo>
                      <a:lnTo>
                        <a:pt x="0" y="341"/>
                      </a:lnTo>
                      <a:lnTo>
                        <a:pt x="2" y="331"/>
                      </a:lnTo>
                      <a:lnTo>
                        <a:pt x="5" y="324"/>
                      </a:lnTo>
                      <a:lnTo>
                        <a:pt x="8" y="315"/>
                      </a:lnTo>
                      <a:lnTo>
                        <a:pt x="13" y="309"/>
                      </a:lnTo>
                      <a:lnTo>
                        <a:pt x="20" y="298"/>
                      </a:lnTo>
                      <a:lnTo>
                        <a:pt x="27" y="287"/>
                      </a:lnTo>
                      <a:lnTo>
                        <a:pt x="35" y="275"/>
                      </a:lnTo>
                      <a:lnTo>
                        <a:pt x="41" y="265"/>
                      </a:lnTo>
                      <a:lnTo>
                        <a:pt x="47" y="255"/>
                      </a:lnTo>
                      <a:lnTo>
                        <a:pt x="54" y="246"/>
                      </a:lnTo>
                      <a:lnTo>
                        <a:pt x="59" y="238"/>
                      </a:lnTo>
                      <a:lnTo>
                        <a:pt x="64" y="231"/>
                      </a:lnTo>
                      <a:lnTo>
                        <a:pt x="69" y="224"/>
                      </a:lnTo>
                      <a:lnTo>
                        <a:pt x="76" y="216"/>
                      </a:lnTo>
                      <a:lnTo>
                        <a:pt x="82" y="208"/>
                      </a:lnTo>
                      <a:lnTo>
                        <a:pt x="88" y="199"/>
                      </a:lnTo>
                      <a:lnTo>
                        <a:pt x="95" y="190"/>
                      </a:lnTo>
                      <a:lnTo>
                        <a:pt x="100" y="183"/>
                      </a:lnTo>
                      <a:lnTo>
                        <a:pt x="105" y="175"/>
                      </a:lnTo>
                      <a:lnTo>
                        <a:pt x="110" y="167"/>
                      </a:lnTo>
                      <a:lnTo>
                        <a:pt x="112" y="162"/>
                      </a:lnTo>
                      <a:lnTo>
                        <a:pt x="114" y="156"/>
                      </a:lnTo>
                      <a:lnTo>
                        <a:pt x="118" y="151"/>
                      </a:lnTo>
                      <a:lnTo>
                        <a:pt x="122" y="145"/>
                      </a:lnTo>
                      <a:lnTo>
                        <a:pt x="129" y="138"/>
                      </a:lnTo>
                      <a:lnTo>
                        <a:pt x="134" y="131"/>
                      </a:lnTo>
                      <a:lnTo>
                        <a:pt x="139" y="126"/>
                      </a:lnTo>
                      <a:lnTo>
                        <a:pt x="143" y="119"/>
                      </a:lnTo>
                      <a:lnTo>
                        <a:pt x="141" y="114"/>
                      </a:lnTo>
                      <a:lnTo>
                        <a:pt x="139" y="106"/>
                      </a:lnTo>
                      <a:lnTo>
                        <a:pt x="127" y="102"/>
                      </a:lnTo>
                      <a:lnTo>
                        <a:pt x="113" y="92"/>
                      </a:lnTo>
                      <a:lnTo>
                        <a:pt x="99" y="83"/>
                      </a:lnTo>
                      <a:lnTo>
                        <a:pt x="92" y="78"/>
                      </a:lnTo>
                      <a:lnTo>
                        <a:pt x="86" y="74"/>
                      </a:lnTo>
                      <a:lnTo>
                        <a:pt x="75" y="70"/>
                      </a:lnTo>
                      <a:lnTo>
                        <a:pt x="64" y="66"/>
                      </a:lnTo>
                      <a:lnTo>
                        <a:pt x="52" y="63"/>
                      </a:lnTo>
                      <a:lnTo>
                        <a:pt x="43" y="60"/>
                      </a:lnTo>
                      <a:lnTo>
                        <a:pt x="33" y="56"/>
                      </a:lnTo>
                      <a:lnTo>
                        <a:pt x="24" y="53"/>
                      </a:lnTo>
                      <a:lnTo>
                        <a:pt x="15" y="51"/>
                      </a:lnTo>
                      <a:lnTo>
                        <a:pt x="8" y="49"/>
                      </a:lnTo>
                      <a:lnTo>
                        <a:pt x="15" y="49"/>
                      </a:lnTo>
                      <a:lnTo>
                        <a:pt x="20" y="47"/>
                      </a:lnTo>
                      <a:lnTo>
                        <a:pt x="25" y="47"/>
                      </a:lnTo>
                      <a:lnTo>
                        <a:pt x="29" y="46"/>
                      </a:lnTo>
                      <a:lnTo>
                        <a:pt x="34" y="47"/>
                      </a:lnTo>
                      <a:lnTo>
                        <a:pt x="45" y="51"/>
                      </a:lnTo>
                      <a:lnTo>
                        <a:pt x="53" y="56"/>
                      </a:lnTo>
                      <a:lnTo>
                        <a:pt x="63" y="61"/>
                      </a:lnTo>
                      <a:lnTo>
                        <a:pt x="72" y="66"/>
                      </a:lnTo>
                      <a:lnTo>
                        <a:pt x="84" y="71"/>
                      </a:lnTo>
                      <a:lnTo>
                        <a:pt x="93" y="77"/>
                      </a:lnTo>
                      <a:lnTo>
                        <a:pt x="101" y="81"/>
                      </a:lnTo>
                      <a:lnTo>
                        <a:pt x="115" y="88"/>
                      </a:lnTo>
                      <a:lnTo>
                        <a:pt x="122" y="90"/>
                      </a:lnTo>
                      <a:lnTo>
                        <a:pt x="128" y="89"/>
                      </a:lnTo>
                      <a:lnTo>
                        <a:pt x="133" y="88"/>
                      </a:lnTo>
                      <a:lnTo>
                        <a:pt x="138" y="87"/>
                      </a:lnTo>
                    </a:path>
                  </a:pathLst>
                </a:custGeom>
                <a:solidFill>
                  <a:srgbClr val="037C03">
                    <a:alpha val="50195"/>
                  </a:srgbClr>
                </a:solidFill>
                <a:ln w="9525">
                  <a:noFill/>
                </a:ln>
              </p:spPr>
              <p:txBody>
                <a:bodyPr/>
                <a:lstStyle/>
                <a:p>
                  <a:endParaRPr lang="zh-CN" altLang="en-US"/>
                </a:p>
              </p:txBody>
            </p:sp>
            <p:sp>
              <p:nvSpPr>
                <p:cNvPr id="89298" name="Freeform 35"/>
                <p:cNvSpPr/>
                <p:nvPr/>
              </p:nvSpPr>
              <p:spPr>
                <a:xfrm>
                  <a:off x="1900" y="1641"/>
                  <a:ext cx="39" cy="193"/>
                </a:xfrm>
                <a:custGeom>
                  <a:avLst/>
                  <a:gdLst>
                    <a:gd name="txL" fmla="*/ 0 w 39"/>
                    <a:gd name="txT" fmla="*/ 0 h 193"/>
                    <a:gd name="txR" fmla="*/ 39 w 39"/>
                    <a:gd name="txB" fmla="*/ 193 h 193"/>
                  </a:gdLst>
                  <a:ahLst/>
                  <a:cxnLst>
                    <a:cxn ang="0">
                      <a:pos x="20" y="0"/>
                    </a:cxn>
                    <a:cxn ang="0">
                      <a:pos x="25" y="9"/>
                    </a:cxn>
                    <a:cxn ang="0">
                      <a:pos x="28" y="15"/>
                    </a:cxn>
                    <a:cxn ang="0">
                      <a:pos x="34" y="24"/>
                    </a:cxn>
                    <a:cxn ang="0">
                      <a:pos x="36" y="33"/>
                    </a:cxn>
                    <a:cxn ang="0">
                      <a:pos x="37" y="43"/>
                    </a:cxn>
                    <a:cxn ang="0">
                      <a:pos x="37" y="56"/>
                    </a:cxn>
                    <a:cxn ang="0">
                      <a:pos x="38" y="64"/>
                    </a:cxn>
                    <a:cxn ang="0">
                      <a:pos x="37" y="75"/>
                    </a:cxn>
                    <a:cxn ang="0">
                      <a:pos x="36" y="86"/>
                    </a:cxn>
                    <a:cxn ang="0">
                      <a:pos x="34" y="97"/>
                    </a:cxn>
                    <a:cxn ang="0">
                      <a:pos x="31" y="113"/>
                    </a:cxn>
                    <a:cxn ang="0">
                      <a:pos x="29" y="122"/>
                    </a:cxn>
                    <a:cxn ang="0">
                      <a:pos x="24" y="132"/>
                    </a:cxn>
                    <a:cxn ang="0">
                      <a:pos x="18" y="144"/>
                    </a:cxn>
                    <a:cxn ang="0">
                      <a:pos x="12" y="155"/>
                    </a:cxn>
                    <a:cxn ang="0">
                      <a:pos x="7" y="165"/>
                    </a:cxn>
                    <a:cxn ang="0">
                      <a:pos x="3" y="174"/>
                    </a:cxn>
                    <a:cxn ang="0">
                      <a:pos x="0" y="192"/>
                    </a:cxn>
                    <a:cxn ang="0">
                      <a:pos x="1" y="174"/>
                    </a:cxn>
                    <a:cxn ang="0">
                      <a:pos x="3" y="162"/>
                    </a:cxn>
                    <a:cxn ang="0">
                      <a:pos x="4" y="151"/>
                    </a:cxn>
                    <a:cxn ang="0">
                      <a:pos x="5" y="139"/>
                    </a:cxn>
                    <a:cxn ang="0">
                      <a:pos x="7" y="124"/>
                    </a:cxn>
                    <a:cxn ang="0">
                      <a:pos x="10" y="113"/>
                    </a:cxn>
                    <a:cxn ang="0">
                      <a:pos x="12" y="102"/>
                    </a:cxn>
                    <a:cxn ang="0">
                      <a:pos x="15" y="93"/>
                    </a:cxn>
                    <a:cxn ang="0">
                      <a:pos x="18" y="82"/>
                    </a:cxn>
                    <a:cxn ang="0">
                      <a:pos x="20" y="72"/>
                    </a:cxn>
                    <a:cxn ang="0">
                      <a:pos x="22" y="61"/>
                    </a:cxn>
                    <a:cxn ang="0">
                      <a:pos x="23" y="52"/>
                    </a:cxn>
                    <a:cxn ang="0">
                      <a:pos x="24" y="41"/>
                    </a:cxn>
                    <a:cxn ang="0">
                      <a:pos x="24" y="30"/>
                    </a:cxn>
                    <a:cxn ang="0">
                      <a:pos x="24" y="15"/>
                    </a:cxn>
                    <a:cxn ang="0">
                      <a:pos x="22" y="8"/>
                    </a:cxn>
                    <a:cxn ang="0">
                      <a:pos x="20" y="0"/>
                    </a:cxn>
                  </a:cxnLst>
                  <a:rect l="txL" t="txT" r="txR" b="txB"/>
                  <a:pathLst>
                    <a:path w="39" h="193">
                      <a:moveTo>
                        <a:pt x="20" y="0"/>
                      </a:moveTo>
                      <a:lnTo>
                        <a:pt x="25" y="9"/>
                      </a:lnTo>
                      <a:lnTo>
                        <a:pt x="28" y="15"/>
                      </a:lnTo>
                      <a:lnTo>
                        <a:pt x="34" y="24"/>
                      </a:lnTo>
                      <a:lnTo>
                        <a:pt x="36" y="33"/>
                      </a:lnTo>
                      <a:lnTo>
                        <a:pt x="37" y="43"/>
                      </a:lnTo>
                      <a:lnTo>
                        <a:pt x="37" y="56"/>
                      </a:lnTo>
                      <a:lnTo>
                        <a:pt x="38" y="64"/>
                      </a:lnTo>
                      <a:lnTo>
                        <a:pt x="37" y="75"/>
                      </a:lnTo>
                      <a:lnTo>
                        <a:pt x="36" y="86"/>
                      </a:lnTo>
                      <a:lnTo>
                        <a:pt x="34" y="97"/>
                      </a:lnTo>
                      <a:lnTo>
                        <a:pt x="31" y="113"/>
                      </a:lnTo>
                      <a:lnTo>
                        <a:pt x="29" y="122"/>
                      </a:lnTo>
                      <a:lnTo>
                        <a:pt x="24" y="132"/>
                      </a:lnTo>
                      <a:lnTo>
                        <a:pt x="18" y="144"/>
                      </a:lnTo>
                      <a:lnTo>
                        <a:pt x="12" y="155"/>
                      </a:lnTo>
                      <a:lnTo>
                        <a:pt x="7" y="165"/>
                      </a:lnTo>
                      <a:lnTo>
                        <a:pt x="3" y="174"/>
                      </a:lnTo>
                      <a:lnTo>
                        <a:pt x="0" y="192"/>
                      </a:lnTo>
                      <a:lnTo>
                        <a:pt x="1" y="174"/>
                      </a:lnTo>
                      <a:lnTo>
                        <a:pt x="3" y="162"/>
                      </a:lnTo>
                      <a:lnTo>
                        <a:pt x="4" y="151"/>
                      </a:lnTo>
                      <a:lnTo>
                        <a:pt x="5" y="139"/>
                      </a:lnTo>
                      <a:lnTo>
                        <a:pt x="7" y="124"/>
                      </a:lnTo>
                      <a:lnTo>
                        <a:pt x="10" y="113"/>
                      </a:lnTo>
                      <a:lnTo>
                        <a:pt x="12" y="102"/>
                      </a:lnTo>
                      <a:lnTo>
                        <a:pt x="15" y="93"/>
                      </a:lnTo>
                      <a:lnTo>
                        <a:pt x="18" y="82"/>
                      </a:lnTo>
                      <a:lnTo>
                        <a:pt x="20" y="72"/>
                      </a:lnTo>
                      <a:lnTo>
                        <a:pt x="22" y="61"/>
                      </a:lnTo>
                      <a:lnTo>
                        <a:pt x="23" y="52"/>
                      </a:lnTo>
                      <a:lnTo>
                        <a:pt x="24" y="41"/>
                      </a:lnTo>
                      <a:lnTo>
                        <a:pt x="24" y="30"/>
                      </a:lnTo>
                      <a:lnTo>
                        <a:pt x="24" y="15"/>
                      </a:lnTo>
                      <a:lnTo>
                        <a:pt x="22" y="8"/>
                      </a:lnTo>
                      <a:lnTo>
                        <a:pt x="20" y="0"/>
                      </a:lnTo>
                    </a:path>
                  </a:pathLst>
                </a:custGeom>
                <a:solidFill>
                  <a:srgbClr val="037C03">
                    <a:alpha val="50195"/>
                  </a:srgbClr>
                </a:solidFill>
                <a:ln w="9525">
                  <a:noFill/>
                </a:ln>
              </p:spPr>
              <p:txBody>
                <a:bodyPr/>
                <a:lstStyle/>
                <a:p>
                  <a:endParaRPr lang="zh-CN" altLang="en-US"/>
                </a:p>
              </p:txBody>
            </p:sp>
            <p:sp>
              <p:nvSpPr>
                <p:cNvPr id="89299" name="Freeform 36"/>
                <p:cNvSpPr/>
                <p:nvPr/>
              </p:nvSpPr>
              <p:spPr>
                <a:xfrm>
                  <a:off x="1716" y="1535"/>
                  <a:ext cx="171" cy="50"/>
                </a:xfrm>
                <a:custGeom>
                  <a:avLst/>
                  <a:gdLst>
                    <a:gd name="txL" fmla="*/ 0 w 171"/>
                    <a:gd name="txT" fmla="*/ 0 h 50"/>
                    <a:gd name="txR" fmla="*/ 171 w 171"/>
                    <a:gd name="txB" fmla="*/ 50 h 50"/>
                  </a:gdLst>
                  <a:ahLst/>
                  <a:cxnLst>
                    <a:cxn ang="0">
                      <a:pos x="170" y="49"/>
                    </a:cxn>
                    <a:cxn ang="0">
                      <a:pos x="167" y="40"/>
                    </a:cxn>
                    <a:cxn ang="0">
                      <a:pos x="163" y="33"/>
                    </a:cxn>
                    <a:cxn ang="0">
                      <a:pos x="160" y="31"/>
                    </a:cxn>
                    <a:cxn ang="0">
                      <a:pos x="153" y="29"/>
                    </a:cxn>
                    <a:cxn ang="0">
                      <a:pos x="147" y="27"/>
                    </a:cxn>
                    <a:cxn ang="0">
                      <a:pos x="140" y="29"/>
                    </a:cxn>
                    <a:cxn ang="0">
                      <a:pos x="132" y="30"/>
                    </a:cxn>
                    <a:cxn ang="0">
                      <a:pos x="123" y="27"/>
                    </a:cxn>
                    <a:cxn ang="0">
                      <a:pos x="111" y="22"/>
                    </a:cxn>
                    <a:cxn ang="0">
                      <a:pos x="100" y="18"/>
                    </a:cxn>
                    <a:cxn ang="0">
                      <a:pos x="92" y="16"/>
                    </a:cxn>
                    <a:cxn ang="0">
                      <a:pos x="80" y="12"/>
                    </a:cxn>
                    <a:cxn ang="0">
                      <a:pos x="67" y="8"/>
                    </a:cxn>
                    <a:cxn ang="0">
                      <a:pos x="55" y="5"/>
                    </a:cxn>
                    <a:cxn ang="0">
                      <a:pos x="42" y="1"/>
                    </a:cxn>
                    <a:cxn ang="0">
                      <a:pos x="28" y="1"/>
                    </a:cxn>
                    <a:cxn ang="0">
                      <a:pos x="15" y="0"/>
                    </a:cxn>
                    <a:cxn ang="0">
                      <a:pos x="12" y="1"/>
                    </a:cxn>
                    <a:cxn ang="0">
                      <a:pos x="7" y="4"/>
                    </a:cxn>
                    <a:cxn ang="0">
                      <a:pos x="3" y="7"/>
                    </a:cxn>
                    <a:cxn ang="0">
                      <a:pos x="0" y="11"/>
                    </a:cxn>
                    <a:cxn ang="0">
                      <a:pos x="5" y="11"/>
                    </a:cxn>
                    <a:cxn ang="0">
                      <a:pos x="12" y="12"/>
                    </a:cxn>
                    <a:cxn ang="0">
                      <a:pos x="19" y="12"/>
                    </a:cxn>
                    <a:cxn ang="0">
                      <a:pos x="23" y="11"/>
                    </a:cxn>
                    <a:cxn ang="0">
                      <a:pos x="30" y="11"/>
                    </a:cxn>
                    <a:cxn ang="0">
                      <a:pos x="39" y="11"/>
                    </a:cxn>
                    <a:cxn ang="0">
                      <a:pos x="51" y="11"/>
                    </a:cxn>
                    <a:cxn ang="0">
                      <a:pos x="61" y="12"/>
                    </a:cxn>
                    <a:cxn ang="0">
                      <a:pos x="71" y="14"/>
                    </a:cxn>
                    <a:cxn ang="0">
                      <a:pos x="81" y="15"/>
                    </a:cxn>
                    <a:cxn ang="0">
                      <a:pos x="91" y="16"/>
                    </a:cxn>
                    <a:cxn ang="0">
                      <a:pos x="99" y="19"/>
                    </a:cxn>
                    <a:cxn ang="0">
                      <a:pos x="108" y="23"/>
                    </a:cxn>
                    <a:cxn ang="0">
                      <a:pos x="116" y="27"/>
                    </a:cxn>
                    <a:cxn ang="0">
                      <a:pos x="125" y="31"/>
                    </a:cxn>
                    <a:cxn ang="0">
                      <a:pos x="129" y="32"/>
                    </a:cxn>
                    <a:cxn ang="0">
                      <a:pos x="134" y="31"/>
                    </a:cxn>
                    <a:cxn ang="0">
                      <a:pos x="140" y="34"/>
                    </a:cxn>
                    <a:cxn ang="0">
                      <a:pos x="146" y="37"/>
                    </a:cxn>
                    <a:cxn ang="0">
                      <a:pos x="152" y="40"/>
                    </a:cxn>
                    <a:cxn ang="0">
                      <a:pos x="161" y="44"/>
                    </a:cxn>
                    <a:cxn ang="0">
                      <a:pos x="167" y="46"/>
                    </a:cxn>
                    <a:cxn ang="0">
                      <a:pos x="170" y="49"/>
                    </a:cxn>
                  </a:cxnLst>
                  <a:rect l="txL" t="txT" r="txR" b="txB"/>
                  <a:pathLst>
                    <a:path w="171" h="50">
                      <a:moveTo>
                        <a:pt x="170" y="49"/>
                      </a:moveTo>
                      <a:lnTo>
                        <a:pt x="167" y="40"/>
                      </a:lnTo>
                      <a:lnTo>
                        <a:pt x="163" y="33"/>
                      </a:lnTo>
                      <a:lnTo>
                        <a:pt x="160" y="31"/>
                      </a:lnTo>
                      <a:lnTo>
                        <a:pt x="153" y="29"/>
                      </a:lnTo>
                      <a:lnTo>
                        <a:pt x="147" y="27"/>
                      </a:lnTo>
                      <a:lnTo>
                        <a:pt x="140" y="29"/>
                      </a:lnTo>
                      <a:lnTo>
                        <a:pt x="132" y="30"/>
                      </a:lnTo>
                      <a:lnTo>
                        <a:pt x="123" y="27"/>
                      </a:lnTo>
                      <a:lnTo>
                        <a:pt x="111" y="22"/>
                      </a:lnTo>
                      <a:lnTo>
                        <a:pt x="100" y="18"/>
                      </a:lnTo>
                      <a:lnTo>
                        <a:pt x="92" y="16"/>
                      </a:lnTo>
                      <a:lnTo>
                        <a:pt x="80" y="12"/>
                      </a:lnTo>
                      <a:lnTo>
                        <a:pt x="67" y="8"/>
                      </a:lnTo>
                      <a:lnTo>
                        <a:pt x="55" y="5"/>
                      </a:lnTo>
                      <a:lnTo>
                        <a:pt x="42" y="1"/>
                      </a:lnTo>
                      <a:lnTo>
                        <a:pt x="28" y="1"/>
                      </a:lnTo>
                      <a:lnTo>
                        <a:pt x="15" y="0"/>
                      </a:lnTo>
                      <a:lnTo>
                        <a:pt x="12" y="1"/>
                      </a:lnTo>
                      <a:lnTo>
                        <a:pt x="7" y="4"/>
                      </a:lnTo>
                      <a:lnTo>
                        <a:pt x="3" y="7"/>
                      </a:lnTo>
                      <a:lnTo>
                        <a:pt x="0" y="11"/>
                      </a:lnTo>
                      <a:lnTo>
                        <a:pt x="5" y="11"/>
                      </a:lnTo>
                      <a:lnTo>
                        <a:pt x="12" y="12"/>
                      </a:lnTo>
                      <a:lnTo>
                        <a:pt x="19" y="12"/>
                      </a:lnTo>
                      <a:lnTo>
                        <a:pt x="23" y="11"/>
                      </a:lnTo>
                      <a:lnTo>
                        <a:pt x="30" y="11"/>
                      </a:lnTo>
                      <a:lnTo>
                        <a:pt x="39" y="11"/>
                      </a:lnTo>
                      <a:lnTo>
                        <a:pt x="51" y="11"/>
                      </a:lnTo>
                      <a:lnTo>
                        <a:pt x="61" y="12"/>
                      </a:lnTo>
                      <a:lnTo>
                        <a:pt x="71" y="14"/>
                      </a:lnTo>
                      <a:lnTo>
                        <a:pt x="81" y="15"/>
                      </a:lnTo>
                      <a:lnTo>
                        <a:pt x="91" y="16"/>
                      </a:lnTo>
                      <a:lnTo>
                        <a:pt x="99" y="19"/>
                      </a:lnTo>
                      <a:lnTo>
                        <a:pt x="108" y="23"/>
                      </a:lnTo>
                      <a:lnTo>
                        <a:pt x="116" y="27"/>
                      </a:lnTo>
                      <a:lnTo>
                        <a:pt x="125" y="31"/>
                      </a:lnTo>
                      <a:lnTo>
                        <a:pt x="129" y="32"/>
                      </a:lnTo>
                      <a:lnTo>
                        <a:pt x="134" y="31"/>
                      </a:lnTo>
                      <a:lnTo>
                        <a:pt x="140" y="34"/>
                      </a:lnTo>
                      <a:lnTo>
                        <a:pt x="146" y="37"/>
                      </a:lnTo>
                      <a:lnTo>
                        <a:pt x="152" y="40"/>
                      </a:lnTo>
                      <a:lnTo>
                        <a:pt x="161" y="44"/>
                      </a:lnTo>
                      <a:lnTo>
                        <a:pt x="167" y="46"/>
                      </a:lnTo>
                      <a:lnTo>
                        <a:pt x="170" y="49"/>
                      </a:lnTo>
                    </a:path>
                  </a:pathLst>
                </a:custGeom>
                <a:solidFill>
                  <a:srgbClr val="037C03">
                    <a:alpha val="50195"/>
                  </a:srgbClr>
                </a:solidFill>
                <a:ln w="9525">
                  <a:noFill/>
                </a:ln>
              </p:spPr>
              <p:txBody>
                <a:bodyPr/>
                <a:lstStyle/>
                <a:p>
                  <a:endParaRPr lang="zh-CN" altLang="en-US"/>
                </a:p>
              </p:txBody>
            </p:sp>
            <p:sp>
              <p:nvSpPr>
                <p:cNvPr id="89300" name="Freeform 37"/>
                <p:cNvSpPr/>
                <p:nvPr/>
              </p:nvSpPr>
              <p:spPr>
                <a:xfrm>
                  <a:off x="1707" y="1563"/>
                  <a:ext cx="177" cy="21"/>
                </a:xfrm>
                <a:custGeom>
                  <a:avLst/>
                  <a:gdLst>
                    <a:gd name="txL" fmla="*/ 0 w 177"/>
                    <a:gd name="txT" fmla="*/ 0 h 21"/>
                    <a:gd name="txR" fmla="*/ 177 w 177"/>
                    <a:gd name="txB" fmla="*/ 21 h 21"/>
                  </a:gdLst>
                  <a:ahLst/>
                  <a:cxnLst>
                    <a:cxn ang="0">
                      <a:pos x="176" y="20"/>
                    </a:cxn>
                    <a:cxn ang="0">
                      <a:pos x="171" y="18"/>
                    </a:cxn>
                    <a:cxn ang="0">
                      <a:pos x="166" y="16"/>
                    </a:cxn>
                    <a:cxn ang="0">
                      <a:pos x="161" y="13"/>
                    </a:cxn>
                    <a:cxn ang="0">
                      <a:pos x="155" y="12"/>
                    </a:cxn>
                    <a:cxn ang="0">
                      <a:pos x="149" y="10"/>
                    </a:cxn>
                    <a:cxn ang="0">
                      <a:pos x="141" y="6"/>
                    </a:cxn>
                    <a:cxn ang="0">
                      <a:pos x="134" y="3"/>
                    </a:cxn>
                    <a:cxn ang="0">
                      <a:pos x="128" y="2"/>
                    </a:cxn>
                    <a:cxn ang="0">
                      <a:pos x="120" y="3"/>
                    </a:cxn>
                    <a:cxn ang="0">
                      <a:pos x="110" y="5"/>
                    </a:cxn>
                    <a:cxn ang="0">
                      <a:pos x="106" y="5"/>
                    </a:cxn>
                    <a:cxn ang="0">
                      <a:pos x="93" y="3"/>
                    </a:cxn>
                    <a:cxn ang="0">
                      <a:pos x="78" y="1"/>
                    </a:cxn>
                    <a:cxn ang="0">
                      <a:pos x="69" y="0"/>
                    </a:cxn>
                    <a:cxn ang="0">
                      <a:pos x="57" y="0"/>
                    </a:cxn>
                    <a:cxn ang="0">
                      <a:pos x="44" y="0"/>
                    </a:cxn>
                    <a:cxn ang="0">
                      <a:pos x="36" y="1"/>
                    </a:cxn>
                    <a:cxn ang="0">
                      <a:pos x="27" y="2"/>
                    </a:cxn>
                    <a:cxn ang="0">
                      <a:pos x="18" y="3"/>
                    </a:cxn>
                    <a:cxn ang="0">
                      <a:pos x="9" y="4"/>
                    </a:cxn>
                    <a:cxn ang="0">
                      <a:pos x="8" y="8"/>
                    </a:cxn>
                    <a:cxn ang="0">
                      <a:pos x="7" y="11"/>
                    </a:cxn>
                    <a:cxn ang="0">
                      <a:pos x="4" y="15"/>
                    </a:cxn>
                    <a:cxn ang="0">
                      <a:pos x="0" y="17"/>
                    </a:cxn>
                    <a:cxn ang="0">
                      <a:pos x="7" y="16"/>
                    </a:cxn>
                    <a:cxn ang="0">
                      <a:pos x="15" y="14"/>
                    </a:cxn>
                    <a:cxn ang="0">
                      <a:pos x="22" y="12"/>
                    </a:cxn>
                    <a:cxn ang="0">
                      <a:pos x="29" y="11"/>
                    </a:cxn>
                    <a:cxn ang="0">
                      <a:pos x="37" y="10"/>
                    </a:cxn>
                    <a:cxn ang="0">
                      <a:pos x="50" y="10"/>
                    </a:cxn>
                    <a:cxn ang="0">
                      <a:pos x="63" y="8"/>
                    </a:cxn>
                    <a:cxn ang="0">
                      <a:pos x="79" y="8"/>
                    </a:cxn>
                    <a:cxn ang="0">
                      <a:pos x="94" y="7"/>
                    </a:cxn>
                    <a:cxn ang="0">
                      <a:pos x="108" y="6"/>
                    </a:cxn>
                    <a:cxn ang="0">
                      <a:pos x="120" y="7"/>
                    </a:cxn>
                    <a:cxn ang="0">
                      <a:pos x="129" y="10"/>
                    </a:cxn>
                    <a:cxn ang="0">
                      <a:pos x="138" y="12"/>
                    </a:cxn>
                    <a:cxn ang="0">
                      <a:pos x="148" y="14"/>
                    </a:cxn>
                    <a:cxn ang="0">
                      <a:pos x="159" y="17"/>
                    </a:cxn>
                    <a:cxn ang="0">
                      <a:pos x="167" y="18"/>
                    </a:cxn>
                    <a:cxn ang="0">
                      <a:pos x="176" y="20"/>
                    </a:cxn>
                  </a:cxnLst>
                  <a:rect l="txL" t="txT" r="txR" b="txB"/>
                  <a:pathLst>
                    <a:path w="177" h="21">
                      <a:moveTo>
                        <a:pt x="176" y="20"/>
                      </a:moveTo>
                      <a:lnTo>
                        <a:pt x="171" y="18"/>
                      </a:lnTo>
                      <a:lnTo>
                        <a:pt x="166" y="16"/>
                      </a:lnTo>
                      <a:lnTo>
                        <a:pt x="161" y="13"/>
                      </a:lnTo>
                      <a:lnTo>
                        <a:pt x="155" y="12"/>
                      </a:lnTo>
                      <a:lnTo>
                        <a:pt x="149" y="10"/>
                      </a:lnTo>
                      <a:lnTo>
                        <a:pt x="141" y="6"/>
                      </a:lnTo>
                      <a:lnTo>
                        <a:pt x="134" y="3"/>
                      </a:lnTo>
                      <a:lnTo>
                        <a:pt x="128" y="2"/>
                      </a:lnTo>
                      <a:lnTo>
                        <a:pt x="120" y="3"/>
                      </a:lnTo>
                      <a:lnTo>
                        <a:pt x="110" y="5"/>
                      </a:lnTo>
                      <a:lnTo>
                        <a:pt x="106" y="5"/>
                      </a:lnTo>
                      <a:lnTo>
                        <a:pt x="93" y="3"/>
                      </a:lnTo>
                      <a:lnTo>
                        <a:pt x="78" y="1"/>
                      </a:lnTo>
                      <a:lnTo>
                        <a:pt x="69" y="0"/>
                      </a:lnTo>
                      <a:lnTo>
                        <a:pt x="57" y="0"/>
                      </a:lnTo>
                      <a:lnTo>
                        <a:pt x="44" y="0"/>
                      </a:lnTo>
                      <a:lnTo>
                        <a:pt x="36" y="1"/>
                      </a:lnTo>
                      <a:lnTo>
                        <a:pt x="27" y="2"/>
                      </a:lnTo>
                      <a:lnTo>
                        <a:pt x="18" y="3"/>
                      </a:lnTo>
                      <a:lnTo>
                        <a:pt x="9" y="4"/>
                      </a:lnTo>
                      <a:lnTo>
                        <a:pt x="8" y="8"/>
                      </a:lnTo>
                      <a:lnTo>
                        <a:pt x="7" y="11"/>
                      </a:lnTo>
                      <a:lnTo>
                        <a:pt x="4" y="15"/>
                      </a:lnTo>
                      <a:lnTo>
                        <a:pt x="0" y="17"/>
                      </a:lnTo>
                      <a:lnTo>
                        <a:pt x="7" y="16"/>
                      </a:lnTo>
                      <a:lnTo>
                        <a:pt x="15" y="14"/>
                      </a:lnTo>
                      <a:lnTo>
                        <a:pt x="22" y="12"/>
                      </a:lnTo>
                      <a:lnTo>
                        <a:pt x="29" y="11"/>
                      </a:lnTo>
                      <a:lnTo>
                        <a:pt x="37" y="10"/>
                      </a:lnTo>
                      <a:lnTo>
                        <a:pt x="50" y="10"/>
                      </a:lnTo>
                      <a:lnTo>
                        <a:pt x="63" y="8"/>
                      </a:lnTo>
                      <a:lnTo>
                        <a:pt x="79" y="8"/>
                      </a:lnTo>
                      <a:lnTo>
                        <a:pt x="94" y="7"/>
                      </a:lnTo>
                      <a:lnTo>
                        <a:pt x="108" y="6"/>
                      </a:lnTo>
                      <a:lnTo>
                        <a:pt x="120" y="7"/>
                      </a:lnTo>
                      <a:lnTo>
                        <a:pt x="129" y="10"/>
                      </a:lnTo>
                      <a:lnTo>
                        <a:pt x="138" y="12"/>
                      </a:lnTo>
                      <a:lnTo>
                        <a:pt x="148" y="14"/>
                      </a:lnTo>
                      <a:lnTo>
                        <a:pt x="159" y="17"/>
                      </a:lnTo>
                      <a:lnTo>
                        <a:pt x="167" y="18"/>
                      </a:lnTo>
                      <a:lnTo>
                        <a:pt x="176" y="20"/>
                      </a:lnTo>
                    </a:path>
                  </a:pathLst>
                </a:custGeom>
                <a:solidFill>
                  <a:srgbClr val="037C03">
                    <a:alpha val="50195"/>
                  </a:srgbClr>
                </a:solidFill>
                <a:ln w="9525">
                  <a:noFill/>
                </a:ln>
              </p:spPr>
              <p:txBody>
                <a:bodyPr/>
                <a:lstStyle/>
                <a:p>
                  <a:endParaRPr lang="zh-CN" altLang="en-US"/>
                </a:p>
              </p:txBody>
            </p:sp>
          </p:grpSp>
          <p:sp>
            <p:nvSpPr>
              <p:cNvPr id="89296" name="Freeform 38"/>
              <p:cNvSpPr/>
              <p:nvPr/>
            </p:nvSpPr>
            <p:spPr>
              <a:xfrm>
                <a:off x="1691" y="1023"/>
                <a:ext cx="261" cy="374"/>
              </a:xfrm>
              <a:custGeom>
                <a:avLst/>
                <a:gdLst>
                  <a:gd name="txL" fmla="*/ 0 w 261"/>
                  <a:gd name="txT" fmla="*/ 0 h 374"/>
                  <a:gd name="txR" fmla="*/ 261 w 261"/>
                  <a:gd name="txB" fmla="*/ 374 h 374"/>
                </a:gdLst>
                <a:ahLst/>
                <a:cxnLst>
                  <a:cxn ang="0">
                    <a:pos x="82" y="162"/>
                  </a:cxn>
                  <a:cxn ang="0">
                    <a:pos x="90" y="154"/>
                  </a:cxn>
                  <a:cxn ang="0">
                    <a:pos x="76" y="104"/>
                  </a:cxn>
                  <a:cxn ang="0">
                    <a:pos x="54" y="56"/>
                  </a:cxn>
                  <a:cxn ang="0">
                    <a:pos x="31" y="33"/>
                  </a:cxn>
                  <a:cxn ang="0">
                    <a:pos x="51" y="45"/>
                  </a:cxn>
                  <a:cxn ang="0">
                    <a:pos x="72" y="84"/>
                  </a:cxn>
                  <a:cxn ang="0">
                    <a:pos x="92" y="126"/>
                  </a:cxn>
                  <a:cxn ang="0">
                    <a:pos x="106" y="168"/>
                  </a:cxn>
                  <a:cxn ang="0">
                    <a:pos x="118" y="150"/>
                  </a:cxn>
                  <a:cxn ang="0">
                    <a:pos x="121" y="114"/>
                  </a:cxn>
                  <a:cxn ang="0">
                    <a:pos x="125" y="65"/>
                  </a:cxn>
                  <a:cxn ang="0">
                    <a:pos x="136" y="26"/>
                  </a:cxn>
                  <a:cxn ang="0">
                    <a:pos x="143" y="12"/>
                  </a:cxn>
                  <a:cxn ang="0">
                    <a:pos x="136" y="53"/>
                  </a:cxn>
                  <a:cxn ang="0">
                    <a:pos x="132" y="106"/>
                  </a:cxn>
                  <a:cxn ang="0">
                    <a:pos x="130" y="155"/>
                  </a:cxn>
                  <a:cxn ang="0">
                    <a:pos x="136" y="183"/>
                  </a:cxn>
                  <a:cxn ang="0">
                    <a:pos x="166" y="177"/>
                  </a:cxn>
                  <a:cxn ang="0">
                    <a:pos x="205" y="178"/>
                  </a:cxn>
                  <a:cxn ang="0">
                    <a:pos x="236" y="193"/>
                  </a:cxn>
                  <a:cxn ang="0">
                    <a:pos x="260" y="227"/>
                  </a:cxn>
                  <a:cxn ang="0">
                    <a:pos x="231" y="222"/>
                  </a:cxn>
                  <a:cxn ang="0">
                    <a:pos x="200" y="211"/>
                  </a:cxn>
                  <a:cxn ang="0">
                    <a:pos x="159" y="204"/>
                  </a:cxn>
                  <a:cxn ang="0">
                    <a:pos x="132" y="208"/>
                  </a:cxn>
                  <a:cxn ang="0">
                    <a:pos x="147" y="224"/>
                  </a:cxn>
                  <a:cxn ang="0">
                    <a:pos x="182" y="233"/>
                  </a:cxn>
                  <a:cxn ang="0">
                    <a:pos x="217" y="240"/>
                  </a:cxn>
                  <a:cxn ang="0">
                    <a:pos x="243" y="264"/>
                  </a:cxn>
                  <a:cxn ang="0">
                    <a:pos x="256" y="297"/>
                  </a:cxn>
                  <a:cxn ang="0">
                    <a:pos x="224" y="277"/>
                  </a:cxn>
                  <a:cxn ang="0">
                    <a:pos x="191" y="256"/>
                  </a:cxn>
                  <a:cxn ang="0">
                    <a:pos x="160" y="238"/>
                  </a:cxn>
                  <a:cxn ang="0">
                    <a:pos x="136" y="230"/>
                  </a:cxn>
                  <a:cxn ang="0">
                    <a:pos x="121" y="246"/>
                  </a:cxn>
                  <a:cxn ang="0">
                    <a:pos x="135" y="290"/>
                  </a:cxn>
                  <a:cxn ang="0">
                    <a:pos x="145" y="342"/>
                  </a:cxn>
                  <a:cxn ang="0">
                    <a:pos x="127" y="346"/>
                  </a:cxn>
                  <a:cxn ang="0">
                    <a:pos x="116" y="290"/>
                  </a:cxn>
                  <a:cxn ang="0">
                    <a:pos x="101" y="256"/>
                  </a:cxn>
                  <a:cxn ang="0">
                    <a:pos x="83" y="274"/>
                  </a:cxn>
                  <a:cxn ang="0">
                    <a:pos x="64" y="309"/>
                  </a:cxn>
                  <a:cxn ang="0">
                    <a:pos x="44" y="360"/>
                  </a:cxn>
                  <a:cxn ang="0">
                    <a:pos x="51" y="314"/>
                  </a:cxn>
                  <a:cxn ang="0">
                    <a:pos x="69" y="272"/>
                  </a:cxn>
                  <a:cxn ang="0">
                    <a:pos x="91" y="238"/>
                  </a:cxn>
                  <a:cxn ang="0">
                    <a:pos x="99" y="212"/>
                  </a:cxn>
                  <a:cxn ang="0">
                    <a:pos x="77" y="226"/>
                  </a:cxn>
                  <a:cxn ang="0">
                    <a:pos x="52" y="261"/>
                  </a:cxn>
                  <a:cxn ang="0">
                    <a:pos x="28" y="301"/>
                  </a:cxn>
                  <a:cxn ang="0">
                    <a:pos x="24" y="288"/>
                  </a:cxn>
                  <a:cxn ang="0">
                    <a:pos x="42" y="262"/>
                  </a:cxn>
                  <a:cxn ang="0">
                    <a:pos x="71" y="229"/>
                  </a:cxn>
                  <a:cxn ang="0">
                    <a:pos x="101" y="206"/>
                  </a:cxn>
                  <a:cxn ang="0">
                    <a:pos x="73" y="180"/>
                  </a:cxn>
                  <a:cxn ang="0">
                    <a:pos x="46" y="148"/>
                  </a:cxn>
                  <a:cxn ang="0">
                    <a:pos x="17" y="118"/>
                  </a:cxn>
                  <a:cxn ang="0">
                    <a:pos x="3" y="98"/>
                  </a:cxn>
                  <a:cxn ang="0">
                    <a:pos x="32" y="115"/>
                  </a:cxn>
                  <a:cxn ang="0">
                    <a:pos x="64" y="145"/>
                  </a:cxn>
                </a:cxnLst>
                <a:rect l="txL" t="txT" r="txR" b="txB"/>
                <a:pathLst>
                  <a:path w="261" h="374">
                    <a:moveTo>
                      <a:pt x="64" y="145"/>
                    </a:moveTo>
                    <a:lnTo>
                      <a:pt x="68" y="150"/>
                    </a:lnTo>
                    <a:lnTo>
                      <a:pt x="72" y="154"/>
                    </a:lnTo>
                    <a:lnTo>
                      <a:pt x="77" y="157"/>
                    </a:lnTo>
                    <a:lnTo>
                      <a:pt x="82" y="162"/>
                    </a:lnTo>
                    <a:lnTo>
                      <a:pt x="86" y="165"/>
                    </a:lnTo>
                    <a:lnTo>
                      <a:pt x="91" y="168"/>
                    </a:lnTo>
                    <a:lnTo>
                      <a:pt x="94" y="170"/>
                    </a:lnTo>
                    <a:lnTo>
                      <a:pt x="92" y="162"/>
                    </a:lnTo>
                    <a:lnTo>
                      <a:pt x="90" y="154"/>
                    </a:lnTo>
                    <a:lnTo>
                      <a:pt x="87" y="143"/>
                    </a:lnTo>
                    <a:lnTo>
                      <a:pt x="85" y="134"/>
                    </a:lnTo>
                    <a:lnTo>
                      <a:pt x="82" y="124"/>
                    </a:lnTo>
                    <a:lnTo>
                      <a:pt x="80" y="114"/>
                    </a:lnTo>
                    <a:lnTo>
                      <a:pt x="76" y="104"/>
                    </a:lnTo>
                    <a:lnTo>
                      <a:pt x="72" y="93"/>
                    </a:lnTo>
                    <a:lnTo>
                      <a:pt x="68" y="84"/>
                    </a:lnTo>
                    <a:lnTo>
                      <a:pt x="63" y="71"/>
                    </a:lnTo>
                    <a:lnTo>
                      <a:pt x="59" y="63"/>
                    </a:lnTo>
                    <a:lnTo>
                      <a:pt x="54" y="56"/>
                    </a:lnTo>
                    <a:lnTo>
                      <a:pt x="50" y="48"/>
                    </a:lnTo>
                    <a:lnTo>
                      <a:pt x="44" y="42"/>
                    </a:lnTo>
                    <a:lnTo>
                      <a:pt x="39" y="38"/>
                    </a:lnTo>
                    <a:lnTo>
                      <a:pt x="34" y="35"/>
                    </a:lnTo>
                    <a:lnTo>
                      <a:pt x="31" y="33"/>
                    </a:lnTo>
                    <a:lnTo>
                      <a:pt x="35" y="32"/>
                    </a:lnTo>
                    <a:lnTo>
                      <a:pt x="37" y="33"/>
                    </a:lnTo>
                    <a:lnTo>
                      <a:pt x="41" y="34"/>
                    </a:lnTo>
                    <a:lnTo>
                      <a:pt x="45" y="39"/>
                    </a:lnTo>
                    <a:lnTo>
                      <a:pt x="51" y="45"/>
                    </a:lnTo>
                    <a:lnTo>
                      <a:pt x="55" y="50"/>
                    </a:lnTo>
                    <a:lnTo>
                      <a:pt x="58" y="56"/>
                    </a:lnTo>
                    <a:lnTo>
                      <a:pt x="63" y="64"/>
                    </a:lnTo>
                    <a:lnTo>
                      <a:pt x="68" y="75"/>
                    </a:lnTo>
                    <a:lnTo>
                      <a:pt x="72" y="84"/>
                    </a:lnTo>
                    <a:lnTo>
                      <a:pt x="77" y="94"/>
                    </a:lnTo>
                    <a:lnTo>
                      <a:pt x="81" y="101"/>
                    </a:lnTo>
                    <a:lnTo>
                      <a:pt x="86" y="109"/>
                    </a:lnTo>
                    <a:lnTo>
                      <a:pt x="89" y="117"/>
                    </a:lnTo>
                    <a:lnTo>
                      <a:pt x="92" y="126"/>
                    </a:lnTo>
                    <a:lnTo>
                      <a:pt x="95" y="135"/>
                    </a:lnTo>
                    <a:lnTo>
                      <a:pt x="99" y="143"/>
                    </a:lnTo>
                    <a:lnTo>
                      <a:pt x="101" y="151"/>
                    </a:lnTo>
                    <a:lnTo>
                      <a:pt x="104" y="161"/>
                    </a:lnTo>
                    <a:lnTo>
                      <a:pt x="106" y="168"/>
                    </a:lnTo>
                    <a:lnTo>
                      <a:pt x="107" y="171"/>
                    </a:lnTo>
                    <a:lnTo>
                      <a:pt x="110" y="168"/>
                    </a:lnTo>
                    <a:lnTo>
                      <a:pt x="113" y="164"/>
                    </a:lnTo>
                    <a:lnTo>
                      <a:pt x="117" y="159"/>
                    </a:lnTo>
                    <a:lnTo>
                      <a:pt x="118" y="150"/>
                    </a:lnTo>
                    <a:lnTo>
                      <a:pt x="119" y="143"/>
                    </a:lnTo>
                    <a:lnTo>
                      <a:pt x="120" y="133"/>
                    </a:lnTo>
                    <a:lnTo>
                      <a:pt x="121" y="124"/>
                    </a:lnTo>
                    <a:lnTo>
                      <a:pt x="120" y="124"/>
                    </a:lnTo>
                    <a:lnTo>
                      <a:pt x="121" y="114"/>
                    </a:lnTo>
                    <a:lnTo>
                      <a:pt x="121" y="103"/>
                    </a:lnTo>
                    <a:lnTo>
                      <a:pt x="122" y="92"/>
                    </a:lnTo>
                    <a:lnTo>
                      <a:pt x="122" y="82"/>
                    </a:lnTo>
                    <a:lnTo>
                      <a:pt x="123" y="75"/>
                    </a:lnTo>
                    <a:lnTo>
                      <a:pt x="125" y="65"/>
                    </a:lnTo>
                    <a:lnTo>
                      <a:pt x="127" y="58"/>
                    </a:lnTo>
                    <a:lnTo>
                      <a:pt x="128" y="50"/>
                    </a:lnTo>
                    <a:lnTo>
                      <a:pt x="131" y="44"/>
                    </a:lnTo>
                    <a:lnTo>
                      <a:pt x="133" y="36"/>
                    </a:lnTo>
                    <a:lnTo>
                      <a:pt x="136" y="26"/>
                    </a:lnTo>
                    <a:lnTo>
                      <a:pt x="139" y="16"/>
                    </a:lnTo>
                    <a:lnTo>
                      <a:pt x="140" y="7"/>
                    </a:lnTo>
                    <a:lnTo>
                      <a:pt x="143" y="0"/>
                    </a:lnTo>
                    <a:lnTo>
                      <a:pt x="144" y="6"/>
                    </a:lnTo>
                    <a:lnTo>
                      <a:pt x="143" y="12"/>
                    </a:lnTo>
                    <a:lnTo>
                      <a:pt x="142" y="21"/>
                    </a:lnTo>
                    <a:lnTo>
                      <a:pt x="140" y="28"/>
                    </a:lnTo>
                    <a:lnTo>
                      <a:pt x="138" y="40"/>
                    </a:lnTo>
                    <a:lnTo>
                      <a:pt x="137" y="47"/>
                    </a:lnTo>
                    <a:lnTo>
                      <a:pt x="136" y="53"/>
                    </a:lnTo>
                    <a:lnTo>
                      <a:pt x="135" y="62"/>
                    </a:lnTo>
                    <a:lnTo>
                      <a:pt x="134" y="72"/>
                    </a:lnTo>
                    <a:lnTo>
                      <a:pt x="134" y="83"/>
                    </a:lnTo>
                    <a:lnTo>
                      <a:pt x="133" y="94"/>
                    </a:lnTo>
                    <a:lnTo>
                      <a:pt x="132" y="106"/>
                    </a:lnTo>
                    <a:lnTo>
                      <a:pt x="132" y="116"/>
                    </a:lnTo>
                    <a:lnTo>
                      <a:pt x="132" y="126"/>
                    </a:lnTo>
                    <a:lnTo>
                      <a:pt x="131" y="134"/>
                    </a:lnTo>
                    <a:lnTo>
                      <a:pt x="131" y="145"/>
                    </a:lnTo>
                    <a:lnTo>
                      <a:pt x="130" y="155"/>
                    </a:lnTo>
                    <a:lnTo>
                      <a:pt x="128" y="168"/>
                    </a:lnTo>
                    <a:lnTo>
                      <a:pt x="127" y="178"/>
                    </a:lnTo>
                    <a:lnTo>
                      <a:pt x="125" y="190"/>
                    </a:lnTo>
                    <a:lnTo>
                      <a:pt x="130" y="187"/>
                    </a:lnTo>
                    <a:lnTo>
                      <a:pt x="136" y="183"/>
                    </a:lnTo>
                    <a:lnTo>
                      <a:pt x="143" y="178"/>
                    </a:lnTo>
                    <a:lnTo>
                      <a:pt x="149" y="176"/>
                    </a:lnTo>
                    <a:lnTo>
                      <a:pt x="156" y="176"/>
                    </a:lnTo>
                    <a:lnTo>
                      <a:pt x="160" y="176"/>
                    </a:lnTo>
                    <a:lnTo>
                      <a:pt x="166" y="177"/>
                    </a:lnTo>
                    <a:lnTo>
                      <a:pt x="173" y="178"/>
                    </a:lnTo>
                    <a:lnTo>
                      <a:pt x="182" y="179"/>
                    </a:lnTo>
                    <a:lnTo>
                      <a:pt x="190" y="178"/>
                    </a:lnTo>
                    <a:lnTo>
                      <a:pt x="198" y="178"/>
                    </a:lnTo>
                    <a:lnTo>
                      <a:pt x="205" y="178"/>
                    </a:lnTo>
                    <a:lnTo>
                      <a:pt x="211" y="179"/>
                    </a:lnTo>
                    <a:lnTo>
                      <a:pt x="217" y="182"/>
                    </a:lnTo>
                    <a:lnTo>
                      <a:pt x="225" y="185"/>
                    </a:lnTo>
                    <a:lnTo>
                      <a:pt x="231" y="189"/>
                    </a:lnTo>
                    <a:lnTo>
                      <a:pt x="236" y="193"/>
                    </a:lnTo>
                    <a:lnTo>
                      <a:pt x="242" y="199"/>
                    </a:lnTo>
                    <a:lnTo>
                      <a:pt x="245" y="202"/>
                    </a:lnTo>
                    <a:lnTo>
                      <a:pt x="251" y="210"/>
                    </a:lnTo>
                    <a:lnTo>
                      <a:pt x="255" y="218"/>
                    </a:lnTo>
                    <a:lnTo>
                      <a:pt x="260" y="227"/>
                    </a:lnTo>
                    <a:lnTo>
                      <a:pt x="254" y="227"/>
                    </a:lnTo>
                    <a:lnTo>
                      <a:pt x="248" y="226"/>
                    </a:lnTo>
                    <a:lnTo>
                      <a:pt x="241" y="224"/>
                    </a:lnTo>
                    <a:lnTo>
                      <a:pt x="235" y="224"/>
                    </a:lnTo>
                    <a:lnTo>
                      <a:pt x="231" y="222"/>
                    </a:lnTo>
                    <a:lnTo>
                      <a:pt x="224" y="218"/>
                    </a:lnTo>
                    <a:lnTo>
                      <a:pt x="218" y="216"/>
                    </a:lnTo>
                    <a:lnTo>
                      <a:pt x="213" y="213"/>
                    </a:lnTo>
                    <a:lnTo>
                      <a:pt x="209" y="212"/>
                    </a:lnTo>
                    <a:lnTo>
                      <a:pt x="200" y="211"/>
                    </a:lnTo>
                    <a:lnTo>
                      <a:pt x="190" y="210"/>
                    </a:lnTo>
                    <a:lnTo>
                      <a:pt x="182" y="208"/>
                    </a:lnTo>
                    <a:lnTo>
                      <a:pt x="173" y="206"/>
                    </a:lnTo>
                    <a:lnTo>
                      <a:pt x="165" y="205"/>
                    </a:lnTo>
                    <a:lnTo>
                      <a:pt x="159" y="204"/>
                    </a:lnTo>
                    <a:lnTo>
                      <a:pt x="154" y="204"/>
                    </a:lnTo>
                    <a:lnTo>
                      <a:pt x="148" y="203"/>
                    </a:lnTo>
                    <a:lnTo>
                      <a:pt x="142" y="204"/>
                    </a:lnTo>
                    <a:lnTo>
                      <a:pt x="137" y="205"/>
                    </a:lnTo>
                    <a:lnTo>
                      <a:pt x="132" y="208"/>
                    </a:lnTo>
                    <a:lnTo>
                      <a:pt x="125" y="210"/>
                    </a:lnTo>
                    <a:lnTo>
                      <a:pt x="130" y="213"/>
                    </a:lnTo>
                    <a:lnTo>
                      <a:pt x="136" y="217"/>
                    </a:lnTo>
                    <a:lnTo>
                      <a:pt x="141" y="222"/>
                    </a:lnTo>
                    <a:lnTo>
                      <a:pt x="147" y="224"/>
                    </a:lnTo>
                    <a:lnTo>
                      <a:pt x="154" y="227"/>
                    </a:lnTo>
                    <a:lnTo>
                      <a:pt x="160" y="229"/>
                    </a:lnTo>
                    <a:lnTo>
                      <a:pt x="166" y="229"/>
                    </a:lnTo>
                    <a:lnTo>
                      <a:pt x="173" y="231"/>
                    </a:lnTo>
                    <a:lnTo>
                      <a:pt x="182" y="233"/>
                    </a:lnTo>
                    <a:lnTo>
                      <a:pt x="189" y="235"/>
                    </a:lnTo>
                    <a:lnTo>
                      <a:pt x="197" y="235"/>
                    </a:lnTo>
                    <a:lnTo>
                      <a:pt x="203" y="237"/>
                    </a:lnTo>
                    <a:lnTo>
                      <a:pt x="210" y="239"/>
                    </a:lnTo>
                    <a:lnTo>
                      <a:pt x="217" y="240"/>
                    </a:lnTo>
                    <a:lnTo>
                      <a:pt x="222" y="243"/>
                    </a:lnTo>
                    <a:lnTo>
                      <a:pt x="227" y="247"/>
                    </a:lnTo>
                    <a:lnTo>
                      <a:pt x="232" y="252"/>
                    </a:lnTo>
                    <a:lnTo>
                      <a:pt x="238" y="257"/>
                    </a:lnTo>
                    <a:lnTo>
                      <a:pt x="243" y="264"/>
                    </a:lnTo>
                    <a:lnTo>
                      <a:pt x="245" y="268"/>
                    </a:lnTo>
                    <a:lnTo>
                      <a:pt x="248" y="275"/>
                    </a:lnTo>
                    <a:lnTo>
                      <a:pt x="250" y="283"/>
                    </a:lnTo>
                    <a:lnTo>
                      <a:pt x="253" y="291"/>
                    </a:lnTo>
                    <a:lnTo>
                      <a:pt x="256" y="297"/>
                    </a:lnTo>
                    <a:lnTo>
                      <a:pt x="250" y="293"/>
                    </a:lnTo>
                    <a:lnTo>
                      <a:pt x="243" y="289"/>
                    </a:lnTo>
                    <a:lnTo>
                      <a:pt x="238" y="286"/>
                    </a:lnTo>
                    <a:lnTo>
                      <a:pt x="231" y="281"/>
                    </a:lnTo>
                    <a:lnTo>
                      <a:pt x="224" y="277"/>
                    </a:lnTo>
                    <a:lnTo>
                      <a:pt x="218" y="273"/>
                    </a:lnTo>
                    <a:lnTo>
                      <a:pt x="211" y="269"/>
                    </a:lnTo>
                    <a:lnTo>
                      <a:pt x="204" y="264"/>
                    </a:lnTo>
                    <a:lnTo>
                      <a:pt x="198" y="260"/>
                    </a:lnTo>
                    <a:lnTo>
                      <a:pt x="191" y="256"/>
                    </a:lnTo>
                    <a:lnTo>
                      <a:pt x="186" y="252"/>
                    </a:lnTo>
                    <a:lnTo>
                      <a:pt x="179" y="248"/>
                    </a:lnTo>
                    <a:lnTo>
                      <a:pt x="173" y="245"/>
                    </a:lnTo>
                    <a:lnTo>
                      <a:pt x="166" y="241"/>
                    </a:lnTo>
                    <a:lnTo>
                      <a:pt x="160" y="238"/>
                    </a:lnTo>
                    <a:lnTo>
                      <a:pt x="155" y="237"/>
                    </a:lnTo>
                    <a:lnTo>
                      <a:pt x="150" y="234"/>
                    </a:lnTo>
                    <a:lnTo>
                      <a:pt x="144" y="231"/>
                    </a:lnTo>
                    <a:lnTo>
                      <a:pt x="140" y="229"/>
                    </a:lnTo>
                    <a:lnTo>
                      <a:pt x="136" y="230"/>
                    </a:lnTo>
                    <a:lnTo>
                      <a:pt x="131" y="231"/>
                    </a:lnTo>
                    <a:lnTo>
                      <a:pt x="128" y="231"/>
                    </a:lnTo>
                    <a:lnTo>
                      <a:pt x="123" y="229"/>
                    </a:lnTo>
                    <a:lnTo>
                      <a:pt x="123" y="237"/>
                    </a:lnTo>
                    <a:lnTo>
                      <a:pt x="121" y="246"/>
                    </a:lnTo>
                    <a:lnTo>
                      <a:pt x="124" y="254"/>
                    </a:lnTo>
                    <a:lnTo>
                      <a:pt x="127" y="263"/>
                    </a:lnTo>
                    <a:lnTo>
                      <a:pt x="130" y="271"/>
                    </a:lnTo>
                    <a:lnTo>
                      <a:pt x="132" y="280"/>
                    </a:lnTo>
                    <a:lnTo>
                      <a:pt x="135" y="290"/>
                    </a:lnTo>
                    <a:lnTo>
                      <a:pt x="138" y="302"/>
                    </a:lnTo>
                    <a:lnTo>
                      <a:pt x="139" y="311"/>
                    </a:lnTo>
                    <a:lnTo>
                      <a:pt x="142" y="321"/>
                    </a:lnTo>
                    <a:lnTo>
                      <a:pt x="143" y="330"/>
                    </a:lnTo>
                    <a:lnTo>
                      <a:pt x="145" y="342"/>
                    </a:lnTo>
                    <a:lnTo>
                      <a:pt x="148" y="355"/>
                    </a:lnTo>
                    <a:lnTo>
                      <a:pt x="150" y="373"/>
                    </a:lnTo>
                    <a:lnTo>
                      <a:pt x="130" y="373"/>
                    </a:lnTo>
                    <a:lnTo>
                      <a:pt x="128" y="357"/>
                    </a:lnTo>
                    <a:lnTo>
                      <a:pt x="127" y="346"/>
                    </a:lnTo>
                    <a:lnTo>
                      <a:pt x="124" y="332"/>
                    </a:lnTo>
                    <a:lnTo>
                      <a:pt x="122" y="319"/>
                    </a:lnTo>
                    <a:lnTo>
                      <a:pt x="120" y="308"/>
                    </a:lnTo>
                    <a:lnTo>
                      <a:pt x="118" y="298"/>
                    </a:lnTo>
                    <a:lnTo>
                      <a:pt x="116" y="290"/>
                    </a:lnTo>
                    <a:lnTo>
                      <a:pt x="113" y="279"/>
                    </a:lnTo>
                    <a:lnTo>
                      <a:pt x="109" y="269"/>
                    </a:lnTo>
                    <a:lnTo>
                      <a:pt x="107" y="260"/>
                    </a:lnTo>
                    <a:lnTo>
                      <a:pt x="104" y="258"/>
                    </a:lnTo>
                    <a:lnTo>
                      <a:pt x="101" y="256"/>
                    </a:lnTo>
                    <a:lnTo>
                      <a:pt x="98" y="254"/>
                    </a:lnTo>
                    <a:lnTo>
                      <a:pt x="96" y="255"/>
                    </a:lnTo>
                    <a:lnTo>
                      <a:pt x="93" y="260"/>
                    </a:lnTo>
                    <a:lnTo>
                      <a:pt x="87" y="268"/>
                    </a:lnTo>
                    <a:lnTo>
                      <a:pt x="83" y="274"/>
                    </a:lnTo>
                    <a:lnTo>
                      <a:pt x="79" y="280"/>
                    </a:lnTo>
                    <a:lnTo>
                      <a:pt x="76" y="288"/>
                    </a:lnTo>
                    <a:lnTo>
                      <a:pt x="72" y="293"/>
                    </a:lnTo>
                    <a:lnTo>
                      <a:pt x="68" y="301"/>
                    </a:lnTo>
                    <a:lnTo>
                      <a:pt x="64" y="309"/>
                    </a:lnTo>
                    <a:lnTo>
                      <a:pt x="61" y="318"/>
                    </a:lnTo>
                    <a:lnTo>
                      <a:pt x="57" y="327"/>
                    </a:lnTo>
                    <a:lnTo>
                      <a:pt x="53" y="337"/>
                    </a:lnTo>
                    <a:lnTo>
                      <a:pt x="49" y="348"/>
                    </a:lnTo>
                    <a:lnTo>
                      <a:pt x="44" y="360"/>
                    </a:lnTo>
                    <a:lnTo>
                      <a:pt x="46" y="346"/>
                    </a:lnTo>
                    <a:lnTo>
                      <a:pt x="47" y="336"/>
                    </a:lnTo>
                    <a:lnTo>
                      <a:pt x="48" y="325"/>
                    </a:lnTo>
                    <a:lnTo>
                      <a:pt x="50" y="319"/>
                    </a:lnTo>
                    <a:lnTo>
                      <a:pt x="51" y="314"/>
                    </a:lnTo>
                    <a:lnTo>
                      <a:pt x="54" y="305"/>
                    </a:lnTo>
                    <a:lnTo>
                      <a:pt x="57" y="295"/>
                    </a:lnTo>
                    <a:lnTo>
                      <a:pt x="59" y="288"/>
                    </a:lnTo>
                    <a:lnTo>
                      <a:pt x="64" y="280"/>
                    </a:lnTo>
                    <a:lnTo>
                      <a:pt x="69" y="272"/>
                    </a:lnTo>
                    <a:lnTo>
                      <a:pt x="73" y="263"/>
                    </a:lnTo>
                    <a:lnTo>
                      <a:pt x="78" y="254"/>
                    </a:lnTo>
                    <a:lnTo>
                      <a:pt x="81" y="249"/>
                    </a:lnTo>
                    <a:lnTo>
                      <a:pt x="86" y="244"/>
                    </a:lnTo>
                    <a:lnTo>
                      <a:pt x="91" y="238"/>
                    </a:lnTo>
                    <a:lnTo>
                      <a:pt x="95" y="232"/>
                    </a:lnTo>
                    <a:lnTo>
                      <a:pt x="100" y="226"/>
                    </a:lnTo>
                    <a:lnTo>
                      <a:pt x="105" y="218"/>
                    </a:lnTo>
                    <a:lnTo>
                      <a:pt x="103" y="216"/>
                    </a:lnTo>
                    <a:lnTo>
                      <a:pt x="99" y="212"/>
                    </a:lnTo>
                    <a:lnTo>
                      <a:pt x="96" y="210"/>
                    </a:lnTo>
                    <a:lnTo>
                      <a:pt x="93" y="211"/>
                    </a:lnTo>
                    <a:lnTo>
                      <a:pt x="87" y="216"/>
                    </a:lnTo>
                    <a:lnTo>
                      <a:pt x="82" y="221"/>
                    </a:lnTo>
                    <a:lnTo>
                      <a:pt x="77" y="226"/>
                    </a:lnTo>
                    <a:lnTo>
                      <a:pt x="72" y="232"/>
                    </a:lnTo>
                    <a:lnTo>
                      <a:pt x="67" y="241"/>
                    </a:lnTo>
                    <a:lnTo>
                      <a:pt x="61" y="249"/>
                    </a:lnTo>
                    <a:lnTo>
                      <a:pt x="56" y="255"/>
                    </a:lnTo>
                    <a:lnTo>
                      <a:pt x="52" y="261"/>
                    </a:lnTo>
                    <a:lnTo>
                      <a:pt x="47" y="268"/>
                    </a:lnTo>
                    <a:lnTo>
                      <a:pt x="42" y="276"/>
                    </a:lnTo>
                    <a:lnTo>
                      <a:pt x="38" y="284"/>
                    </a:lnTo>
                    <a:lnTo>
                      <a:pt x="33" y="293"/>
                    </a:lnTo>
                    <a:lnTo>
                      <a:pt x="28" y="301"/>
                    </a:lnTo>
                    <a:lnTo>
                      <a:pt x="24" y="310"/>
                    </a:lnTo>
                    <a:lnTo>
                      <a:pt x="18" y="321"/>
                    </a:lnTo>
                    <a:lnTo>
                      <a:pt x="21" y="307"/>
                    </a:lnTo>
                    <a:lnTo>
                      <a:pt x="22" y="297"/>
                    </a:lnTo>
                    <a:lnTo>
                      <a:pt x="24" y="288"/>
                    </a:lnTo>
                    <a:lnTo>
                      <a:pt x="25" y="286"/>
                    </a:lnTo>
                    <a:lnTo>
                      <a:pt x="28" y="281"/>
                    </a:lnTo>
                    <a:lnTo>
                      <a:pt x="32" y="275"/>
                    </a:lnTo>
                    <a:lnTo>
                      <a:pt x="37" y="269"/>
                    </a:lnTo>
                    <a:lnTo>
                      <a:pt x="42" y="262"/>
                    </a:lnTo>
                    <a:lnTo>
                      <a:pt x="47" y="256"/>
                    </a:lnTo>
                    <a:lnTo>
                      <a:pt x="54" y="248"/>
                    </a:lnTo>
                    <a:lnTo>
                      <a:pt x="58" y="243"/>
                    </a:lnTo>
                    <a:lnTo>
                      <a:pt x="64" y="236"/>
                    </a:lnTo>
                    <a:lnTo>
                      <a:pt x="71" y="229"/>
                    </a:lnTo>
                    <a:lnTo>
                      <a:pt x="77" y="224"/>
                    </a:lnTo>
                    <a:lnTo>
                      <a:pt x="83" y="218"/>
                    </a:lnTo>
                    <a:lnTo>
                      <a:pt x="93" y="210"/>
                    </a:lnTo>
                    <a:lnTo>
                      <a:pt x="98" y="208"/>
                    </a:lnTo>
                    <a:lnTo>
                      <a:pt x="101" y="206"/>
                    </a:lnTo>
                    <a:lnTo>
                      <a:pt x="95" y="202"/>
                    </a:lnTo>
                    <a:lnTo>
                      <a:pt x="90" y="196"/>
                    </a:lnTo>
                    <a:lnTo>
                      <a:pt x="84" y="190"/>
                    </a:lnTo>
                    <a:lnTo>
                      <a:pt x="79" y="185"/>
                    </a:lnTo>
                    <a:lnTo>
                      <a:pt x="73" y="180"/>
                    </a:lnTo>
                    <a:lnTo>
                      <a:pt x="69" y="176"/>
                    </a:lnTo>
                    <a:lnTo>
                      <a:pt x="65" y="170"/>
                    </a:lnTo>
                    <a:lnTo>
                      <a:pt x="58" y="163"/>
                    </a:lnTo>
                    <a:lnTo>
                      <a:pt x="52" y="156"/>
                    </a:lnTo>
                    <a:lnTo>
                      <a:pt x="46" y="148"/>
                    </a:lnTo>
                    <a:lnTo>
                      <a:pt x="39" y="141"/>
                    </a:lnTo>
                    <a:lnTo>
                      <a:pt x="33" y="136"/>
                    </a:lnTo>
                    <a:lnTo>
                      <a:pt x="26" y="129"/>
                    </a:lnTo>
                    <a:lnTo>
                      <a:pt x="22" y="125"/>
                    </a:lnTo>
                    <a:lnTo>
                      <a:pt x="17" y="118"/>
                    </a:lnTo>
                    <a:lnTo>
                      <a:pt x="14" y="112"/>
                    </a:lnTo>
                    <a:lnTo>
                      <a:pt x="10" y="108"/>
                    </a:lnTo>
                    <a:lnTo>
                      <a:pt x="4" y="102"/>
                    </a:lnTo>
                    <a:lnTo>
                      <a:pt x="0" y="98"/>
                    </a:lnTo>
                    <a:lnTo>
                      <a:pt x="3" y="98"/>
                    </a:lnTo>
                    <a:lnTo>
                      <a:pt x="9" y="100"/>
                    </a:lnTo>
                    <a:lnTo>
                      <a:pt x="14" y="101"/>
                    </a:lnTo>
                    <a:lnTo>
                      <a:pt x="20" y="104"/>
                    </a:lnTo>
                    <a:lnTo>
                      <a:pt x="25" y="109"/>
                    </a:lnTo>
                    <a:lnTo>
                      <a:pt x="32" y="115"/>
                    </a:lnTo>
                    <a:lnTo>
                      <a:pt x="38" y="120"/>
                    </a:lnTo>
                    <a:lnTo>
                      <a:pt x="45" y="125"/>
                    </a:lnTo>
                    <a:lnTo>
                      <a:pt x="51" y="132"/>
                    </a:lnTo>
                    <a:lnTo>
                      <a:pt x="58" y="139"/>
                    </a:lnTo>
                    <a:lnTo>
                      <a:pt x="64" y="145"/>
                    </a:lnTo>
                  </a:path>
                </a:pathLst>
              </a:custGeom>
              <a:solidFill>
                <a:srgbClr val="037C03">
                  <a:alpha val="50195"/>
                </a:srgbClr>
              </a:solidFill>
              <a:ln w="9525">
                <a:noFill/>
              </a:ln>
            </p:spPr>
            <p:txBody>
              <a:bodyPr/>
              <a:lstStyle/>
              <a:p>
                <a:endParaRPr lang="zh-CN" altLang="en-US"/>
              </a:p>
            </p:txBody>
          </p:sp>
        </p:grpSp>
        <p:grpSp>
          <p:nvGrpSpPr>
            <p:cNvPr id="89280" name="Group 39"/>
            <p:cNvGrpSpPr/>
            <p:nvPr/>
          </p:nvGrpSpPr>
          <p:grpSpPr>
            <a:xfrm>
              <a:off x="300" y="3360"/>
              <a:ext cx="508" cy="820"/>
              <a:chOff x="1985" y="1201"/>
              <a:chExt cx="508" cy="820"/>
            </a:xfrm>
          </p:grpSpPr>
          <p:grpSp>
            <p:nvGrpSpPr>
              <p:cNvPr id="89281" name="Group 40"/>
              <p:cNvGrpSpPr/>
              <p:nvPr/>
            </p:nvGrpSpPr>
            <p:grpSpPr>
              <a:xfrm>
                <a:off x="2247" y="1201"/>
                <a:ext cx="246" cy="810"/>
                <a:chOff x="2247" y="1201"/>
                <a:chExt cx="246" cy="810"/>
              </a:xfrm>
            </p:grpSpPr>
            <p:sp>
              <p:nvSpPr>
                <p:cNvPr id="89290" name="Freeform 41"/>
                <p:cNvSpPr/>
                <p:nvPr/>
              </p:nvSpPr>
              <p:spPr>
                <a:xfrm>
                  <a:off x="2392" y="1373"/>
                  <a:ext cx="92" cy="638"/>
                </a:xfrm>
                <a:custGeom>
                  <a:avLst/>
                  <a:gdLst>
                    <a:gd name="txL" fmla="*/ 0 w 92"/>
                    <a:gd name="txT" fmla="*/ 0 h 638"/>
                    <a:gd name="txR" fmla="*/ 92 w 92"/>
                    <a:gd name="txB" fmla="*/ 638 h 638"/>
                  </a:gdLst>
                  <a:ahLst/>
                  <a:cxnLst>
                    <a:cxn ang="0">
                      <a:pos x="91" y="296"/>
                    </a:cxn>
                    <a:cxn ang="0">
                      <a:pos x="83" y="425"/>
                    </a:cxn>
                    <a:cxn ang="0">
                      <a:pos x="75" y="529"/>
                    </a:cxn>
                    <a:cxn ang="0">
                      <a:pos x="70" y="606"/>
                    </a:cxn>
                    <a:cxn ang="0">
                      <a:pos x="71" y="637"/>
                    </a:cxn>
                    <a:cxn ang="0">
                      <a:pos x="60" y="637"/>
                    </a:cxn>
                    <a:cxn ang="0">
                      <a:pos x="57" y="592"/>
                    </a:cxn>
                    <a:cxn ang="0">
                      <a:pos x="55" y="524"/>
                    </a:cxn>
                    <a:cxn ang="0">
                      <a:pos x="51" y="461"/>
                    </a:cxn>
                    <a:cxn ang="0">
                      <a:pos x="49" y="414"/>
                    </a:cxn>
                    <a:cxn ang="0">
                      <a:pos x="45" y="345"/>
                    </a:cxn>
                    <a:cxn ang="0">
                      <a:pos x="40" y="285"/>
                    </a:cxn>
                    <a:cxn ang="0">
                      <a:pos x="35" y="233"/>
                    </a:cxn>
                    <a:cxn ang="0">
                      <a:pos x="31" y="177"/>
                    </a:cxn>
                    <a:cxn ang="0">
                      <a:pos x="24" y="121"/>
                    </a:cxn>
                    <a:cxn ang="0">
                      <a:pos x="17" y="74"/>
                    </a:cxn>
                    <a:cxn ang="0">
                      <a:pos x="4" y="28"/>
                    </a:cxn>
                    <a:cxn ang="0">
                      <a:pos x="0" y="10"/>
                    </a:cxn>
                    <a:cxn ang="0">
                      <a:pos x="5" y="0"/>
                    </a:cxn>
                    <a:cxn ang="0">
                      <a:pos x="13" y="18"/>
                    </a:cxn>
                    <a:cxn ang="0">
                      <a:pos x="24" y="61"/>
                    </a:cxn>
                    <a:cxn ang="0">
                      <a:pos x="33" y="104"/>
                    </a:cxn>
                    <a:cxn ang="0">
                      <a:pos x="40" y="150"/>
                    </a:cxn>
                    <a:cxn ang="0">
                      <a:pos x="44" y="208"/>
                    </a:cxn>
                    <a:cxn ang="0">
                      <a:pos x="48" y="263"/>
                    </a:cxn>
                    <a:cxn ang="0">
                      <a:pos x="55" y="337"/>
                    </a:cxn>
                    <a:cxn ang="0">
                      <a:pos x="59" y="398"/>
                    </a:cxn>
                    <a:cxn ang="0">
                      <a:pos x="61" y="447"/>
                    </a:cxn>
                    <a:cxn ang="0">
                      <a:pos x="63" y="498"/>
                    </a:cxn>
                    <a:cxn ang="0">
                      <a:pos x="68" y="550"/>
                    </a:cxn>
                    <a:cxn ang="0">
                      <a:pos x="73" y="460"/>
                    </a:cxn>
                    <a:cxn ang="0">
                      <a:pos x="80" y="376"/>
                    </a:cxn>
                    <a:cxn ang="0">
                      <a:pos x="91" y="296"/>
                    </a:cxn>
                  </a:cxnLst>
                  <a:rect l="txL" t="txT" r="txR" b="txB"/>
                  <a:pathLst>
                    <a:path w="92" h="638">
                      <a:moveTo>
                        <a:pt x="91" y="296"/>
                      </a:moveTo>
                      <a:lnTo>
                        <a:pt x="83" y="425"/>
                      </a:lnTo>
                      <a:lnTo>
                        <a:pt x="75" y="529"/>
                      </a:lnTo>
                      <a:lnTo>
                        <a:pt x="70" y="606"/>
                      </a:lnTo>
                      <a:lnTo>
                        <a:pt x="71" y="637"/>
                      </a:lnTo>
                      <a:lnTo>
                        <a:pt x="60" y="637"/>
                      </a:lnTo>
                      <a:lnTo>
                        <a:pt x="57" y="592"/>
                      </a:lnTo>
                      <a:lnTo>
                        <a:pt x="55" y="524"/>
                      </a:lnTo>
                      <a:lnTo>
                        <a:pt x="51" y="461"/>
                      </a:lnTo>
                      <a:lnTo>
                        <a:pt x="49" y="414"/>
                      </a:lnTo>
                      <a:lnTo>
                        <a:pt x="45" y="345"/>
                      </a:lnTo>
                      <a:lnTo>
                        <a:pt x="40" y="285"/>
                      </a:lnTo>
                      <a:lnTo>
                        <a:pt x="35" y="233"/>
                      </a:lnTo>
                      <a:lnTo>
                        <a:pt x="31" y="177"/>
                      </a:lnTo>
                      <a:lnTo>
                        <a:pt x="24" y="121"/>
                      </a:lnTo>
                      <a:lnTo>
                        <a:pt x="17" y="74"/>
                      </a:lnTo>
                      <a:lnTo>
                        <a:pt x="4" y="28"/>
                      </a:lnTo>
                      <a:lnTo>
                        <a:pt x="0" y="10"/>
                      </a:lnTo>
                      <a:lnTo>
                        <a:pt x="5" y="0"/>
                      </a:lnTo>
                      <a:lnTo>
                        <a:pt x="13" y="18"/>
                      </a:lnTo>
                      <a:lnTo>
                        <a:pt x="24" y="61"/>
                      </a:lnTo>
                      <a:lnTo>
                        <a:pt x="33" y="104"/>
                      </a:lnTo>
                      <a:lnTo>
                        <a:pt x="40" y="150"/>
                      </a:lnTo>
                      <a:lnTo>
                        <a:pt x="44" y="208"/>
                      </a:lnTo>
                      <a:lnTo>
                        <a:pt x="48" y="263"/>
                      </a:lnTo>
                      <a:lnTo>
                        <a:pt x="55" y="337"/>
                      </a:lnTo>
                      <a:lnTo>
                        <a:pt x="59" y="398"/>
                      </a:lnTo>
                      <a:lnTo>
                        <a:pt x="61" y="447"/>
                      </a:lnTo>
                      <a:lnTo>
                        <a:pt x="63" y="498"/>
                      </a:lnTo>
                      <a:lnTo>
                        <a:pt x="68" y="550"/>
                      </a:lnTo>
                      <a:lnTo>
                        <a:pt x="73" y="460"/>
                      </a:lnTo>
                      <a:lnTo>
                        <a:pt x="80" y="376"/>
                      </a:lnTo>
                      <a:lnTo>
                        <a:pt x="91" y="296"/>
                      </a:lnTo>
                    </a:path>
                  </a:pathLst>
                </a:custGeom>
                <a:solidFill>
                  <a:srgbClr val="3C0023">
                    <a:alpha val="50195"/>
                  </a:srgbClr>
                </a:solidFill>
                <a:ln w="9525">
                  <a:noFill/>
                </a:ln>
              </p:spPr>
              <p:txBody>
                <a:bodyPr/>
                <a:lstStyle/>
                <a:p>
                  <a:endParaRPr lang="zh-CN" altLang="en-US"/>
                </a:p>
              </p:txBody>
            </p:sp>
            <p:sp>
              <p:nvSpPr>
                <p:cNvPr id="89291" name="Freeform 42"/>
                <p:cNvSpPr/>
                <p:nvPr/>
              </p:nvSpPr>
              <p:spPr>
                <a:xfrm>
                  <a:off x="2247" y="1201"/>
                  <a:ext cx="246" cy="466"/>
                </a:xfrm>
                <a:custGeom>
                  <a:avLst/>
                  <a:gdLst>
                    <a:gd name="txL" fmla="*/ 0 w 246"/>
                    <a:gd name="txT" fmla="*/ 0 h 466"/>
                    <a:gd name="txR" fmla="*/ 246 w 246"/>
                    <a:gd name="txB" fmla="*/ 466 h 466"/>
                  </a:gdLst>
                  <a:ahLst/>
                  <a:cxnLst>
                    <a:cxn ang="0">
                      <a:pos x="136" y="67"/>
                    </a:cxn>
                    <a:cxn ang="0">
                      <a:pos x="105" y="12"/>
                    </a:cxn>
                    <a:cxn ang="0">
                      <a:pos x="55" y="1"/>
                    </a:cxn>
                    <a:cxn ang="0">
                      <a:pos x="58" y="12"/>
                    </a:cxn>
                    <a:cxn ang="0">
                      <a:pos x="96" y="39"/>
                    </a:cxn>
                    <a:cxn ang="0">
                      <a:pos x="130" y="134"/>
                    </a:cxn>
                    <a:cxn ang="0">
                      <a:pos x="73" y="85"/>
                    </a:cxn>
                    <a:cxn ang="0">
                      <a:pos x="32" y="75"/>
                    </a:cxn>
                    <a:cxn ang="0">
                      <a:pos x="7" y="103"/>
                    </a:cxn>
                    <a:cxn ang="0">
                      <a:pos x="38" y="103"/>
                    </a:cxn>
                    <a:cxn ang="0">
                      <a:pos x="108" y="129"/>
                    </a:cxn>
                    <a:cxn ang="0">
                      <a:pos x="104" y="146"/>
                    </a:cxn>
                    <a:cxn ang="0">
                      <a:pos x="92" y="171"/>
                    </a:cxn>
                    <a:cxn ang="0">
                      <a:pos x="126" y="170"/>
                    </a:cxn>
                    <a:cxn ang="0">
                      <a:pos x="69" y="193"/>
                    </a:cxn>
                    <a:cxn ang="0">
                      <a:pos x="37" y="233"/>
                    </a:cxn>
                    <a:cxn ang="0">
                      <a:pos x="6" y="325"/>
                    </a:cxn>
                    <a:cxn ang="0">
                      <a:pos x="72" y="231"/>
                    </a:cxn>
                    <a:cxn ang="0">
                      <a:pos x="118" y="194"/>
                    </a:cxn>
                    <a:cxn ang="0">
                      <a:pos x="94" y="269"/>
                    </a:cxn>
                    <a:cxn ang="0">
                      <a:pos x="76" y="338"/>
                    </a:cxn>
                    <a:cxn ang="0">
                      <a:pos x="71" y="408"/>
                    </a:cxn>
                    <a:cxn ang="0">
                      <a:pos x="98" y="303"/>
                    </a:cxn>
                    <a:cxn ang="0">
                      <a:pos x="124" y="236"/>
                    </a:cxn>
                    <a:cxn ang="0">
                      <a:pos x="125" y="214"/>
                    </a:cxn>
                    <a:cxn ang="0">
                      <a:pos x="118" y="323"/>
                    </a:cxn>
                    <a:cxn ang="0">
                      <a:pos x="138" y="439"/>
                    </a:cxn>
                    <a:cxn ang="0">
                      <a:pos x="128" y="313"/>
                    </a:cxn>
                    <a:cxn ang="0">
                      <a:pos x="127" y="223"/>
                    </a:cxn>
                    <a:cxn ang="0">
                      <a:pos x="147" y="189"/>
                    </a:cxn>
                    <a:cxn ang="0">
                      <a:pos x="188" y="298"/>
                    </a:cxn>
                    <a:cxn ang="0">
                      <a:pos x="223" y="411"/>
                    </a:cxn>
                    <a:cxn ang="0">
                      <a:pos x="193" y="292"/>
                    </a:cxn>
                    <a:cxn ang="0">
                      <a:pos x="160" y="190"/>
                    </a:cxn>
                    <a:cxn ang="0">
                      <a:pos x="164" y="121"/>
                    </a:cxn>
                    <a:cxn ang="0">
                      <a:pos x="194" y="130"/>
                    </a:cxn>
                    <a:cxn ang="0">
                      <a:pos x="240" y="125"/>
                    </a:cxn>
                    <a:cxn ang="0">
                      <a:pos x="216" y="122"/>
                    </a:cxn>
                    <a:cxn ang="0">
                      <a:pos x="163" y="144"/>
                    </a:cxn>
                    <a:cxn ang="0">
                      <a:pos x="194" y="109"/>
                    </a:cxn>
                    <a:cxn ang="0">
                      <a:pos x="244" y="101"/>
                    </a:cxn>
                    <a:cxn ang="0">
                      <a:pos x="229" y="88"/>
                    </a:cxn>
                    <a:cxn ang="0">
                      <a:pos x="163" y="138"/>
                    </a:cxn>
                    <a:cxn ang="0">
                      <a:pos x="172" y="99"/>
                    </a:cxn>
                    <a:cxn ang="0">
                      <a:pos x="226" y="61"/>
                    </a:cxn>
                    <a:cxn ang="0">
                      <a:pos x="188" y="82"/>
                    </a:cxn>
                    <a:cxn ang="0">
                      <a:pos x="147" y="109"/>
                    </a:cxn>
                  </a:cxnLst>
                  <a:rect l="txL" t="txT" r="txR" b="txB"/>
                  <a:pathLst>
                    <a:path w="246" h="466">
                      <a:moveTo>
                        <a:pt x="147" y="109"/>
                      </a:moveTo>
                      <a:lnTo>
                        <a:pt x="143" y="88"/>
                      </a:lnTo>
                      <a:lnTo>
                        <a:pt x="136" y="67"/>
                      </a:lnTo>
                      <a:lnTo>
                        <a:pt x="127" y="44"/>
                      </a:lnTo>
                      <a:lnTo>
                        <a:pt x="117" y="27"/>
                      </a:lnTo>
                      <a:lnTo>
                        <a:pt x="105" y="12"/>
                      </a:lnTo>
                      <a:lnTo>
                        <a:pt x="89" y="5"/>
                      </a:lnTo>
                      <a:lnTo>
                        <a:pt x="69" y="0"/>
                      </a:lnTo>
                      <a:lnTo>
                        <a:pt x="55" y="1"/>
                      </a:lnTo>
                      <a:lnTo>
                        <a:pt x="39" y="0"/>
                      </a:lnTo>
                      <a:lnTo>
                        <a:pt x="49" y="11"/>
                      </a:lnTo>
                      <a:lnTo>
                        <a:pt x="58" y="12"/>
                      </a:lnTo>
                      <a:lnTo>
                        <a:pt x="69" y="19"/>
                      </a:lnTo>
                      <a:lnTo>
                        <a:pt x="80" y="25"/>
                      </a:lnTo>
                      <a:lnTo>
                        <a:pt x="96" y="39"/>
                      </a:lnTo>
                      <a:lnTo>
                        <a:pt x="109" y="58"/>
                      </a:lnTo>
                      <a:lnTo>
                        <a:pt x="118" y="82"/>
                      </a:lnTo>
                      <a:lnTo>
                        <a:pt x="130" y="134"/>
                      </a:lnTo>
                      <a:lnTo>
                        <a:pt x="96" y="99"/>
                      </a:lnTo>
                      <a:lnTo>
                        <a:pt x="85" y="91"/>
                      </a:lnTo>
                      <a:lnTo>
                        <a:pt x="73" y="85"/>
                      </a:lnTo>
                      <a:lnTo>
                        <a:pt x="61" y="83"/>
                      </a:lnTo>
                      <a:lnTo>
                        <a:pt x="54" y="80"/>
                      </a:lnTo>
                      <a:lnTo>
                        <a:pt x="32" y="75"/>
                      </a:lnTo>
                      <a:lnTo>
                        <a:pt x="0" y="72"/>
                      </a:lnTo>
                      <a:lnTo>
                        <a:pt x="0" y="103"/>
                      </a:lnTo>
                      <a:lnTo>
                        <a:pt x="7" y="103"/>
                      </a:lnTo>
                      <a:lnTo>
                        <a:pt x="17" y="104"/>
                      </a:lnTo>
                      <a:lnTo>
                        <a:pt x="29" y="103"/>
                      </a:lnTo>
                      <a:lnTo>
                        <a:pt x="38" y="103"/>
                      </a:lnTo>
                      <a:lnTo>
                        <a:pt x="62" y="107"/>
                      </a:lnTo>
                      <a:lnTo>
                        <a:pt x="72" y="111"/>
                      </a:lnTo>
                      <a:lnTo>
                        <a:pt x="108" y="129"/>
                      </a:lnTo>
                      <a:lnTo>
                        <a:pt x="127" y="144"/>
                      </a:lnTo>
                      <a:lnTo>
                        <a:pt x="113" y="146"/>
                      </a:lnTo>
                      <a:lnTo>
                        <a:pt x="104" y="146"/>
                      </a:lnTo>
                      <a:lnTo>
                        <a:pt x="89" y="161"/>
                      </a:lnTo>
                      <a:lnTo>
                        <a:pt x="82" y="183"/>
                      </a:lnTo>
                      <a:lnTo>
                        <a:pt x="92" y="171"/>
                      </a:lnTo>
                      <a:lnTo>
                        <a:pt x="120" y="155"/>
                      </a:lnTo>
                      <a:lnTo>
                        <a:pt x="137" y="162"/>
                      </a:lnTo>
                      <a:lnTo>
                        <a:pt x="126" y="170"/>
                      </a:lnTo>
                      <a:lnTo>
                        <a:pt x="113" y="171"/>
                      </a:lnTo>
                      <a:lnTo>
                        <a:pt x="79" y="189"/>
                      </a:lnTo>
                      <a:lnTo>
                        <a:pt x="69" y="193"/>
                      </a:lnTo>
                      <a:lnTo>
                        <a:pt x="57" y="199"/>
                      </a:lnTo>
                      <a:lnTo>
                        <a:pt x="48" y="209"/>
                      </a:lnTo>
                      <a:lnTo>
                        <a:pt x="37" y="233"/>
                      </a:lnTo>
                      <a:lnTo>
                        <a:pt x="31" y="251"/>
                      </a:lnTo>
                      <a:lnTo>
                        <a:pt x="13" y="310"/>
                      </a:lnTo>
                      <a:lnTo>
                        <a:pt x="6" y="325"/>
                      </a:lnTo>
                      <a:lnTo>
                        <a:pt x="36" y="281"/>
                      </a:lnTo>
                      <a:lnTo>
                        <a:pt x="50" y="265"/>
                      </a:lnTo>
                      <a:lnTo>
                        <a:pt x="72" y="231"/>
                      </a:lnTo>
                      <a:lnTo>
                        <a:pt x="83" y="218"/>
                      </a:lnTo>
                      <a:lnTo>
                        <a:pt x="92" y="209"/>
                      </a:lnTo>
                      <a:lnTo>
                        <a:pt x="118" y="194"/>
                      </a:lnTo>
                      <a:lnTo>
                        <a:pt x="132" y="181"/>
                      </a:lnTo>
                      <a:lnTo>
                        <a:pt x="121" y="195"/>
                      </a:lnTo>
                      <a:lnTo>
                        <a:pt x="94" y="269"/>
                      </a:lnTo>
                      <a:lnTo>
                        <a:pt x="84" y="302"/>
                      </a:lnTo>
                      <a:lnTo>
                        <a:pt x="79" y="320"/>
                      </a:lnTo>
                      <a:lnTo>
                        <a:pt x="76" y="338"/>
                      </a:lnTo>
                      <a:lnTo>
                        <a:pt x="75" y="359"/>
                      </a:lnTo>
                      <a:lnTo>
                        <a:pt x="74" y="375"/>
                      </a:lnTo>
                      <a:lnTo>
                        <a:pt x="71" y="408"/>
                      </a:lnTo>
                      <a:lnTo>
                        <a:pt x="84" y="375"/>
                      </a:lnTo>
                      <a:lnTo>
                        <a:pt x="92" y="330"/>
                      </a:lnTo>
                      <a:lnTo>
                        <a:pt x="98" y="303"/>
                      </a:lnTo>
                      <a:lnTo>
                        <a:pt x="104" y="286"/>
                      </a:lnTo>
                      <a:lnTo>
                        <a:pt x="118" y="252"/>
                      </a:lnTo>
                      <a:lnTo>
                        <a:pt x="124" y="236"/>
                      </a:lnTo>
                      <a:lnTo>
                        <a:pt x="128" y="216"/>
                      </a:lnTo>
                      <a:lnTo>
                        <a:pt x="137" y="188"/>
                      </a:lnTo>
                      <a:lnTo>
                        <a:pt x="125" y="214"/>
                      </a:lnTo>
                      <a:lnTo>
                        <a:pt x="119" y="243"/>
                      </a:lnTo>
                      <a:lnTo>
                        <a:pt x="117" y="302"/>
                      </a:lnTo>
                      <a:lnTo>
                        <a:pt x="118" y="323"/>
                      </a:lnTo>
                      <a:lnTo>
                        <a:pt x="120" y="362"/>
                      </a:lnTo>
                      <a:lnTo>
                        <a:pt x="123" y="377"/>
                      </a:lnTo>
                      <a:lnTo>
                        <a:pt x="138" y="439"/>
                      </a:lnTo>
                      <a:lnTo>
                        <a:pt x="141" y="465"/>
                      </a:lnTo>
                      <a:lnTo>
                        <a:pt x="137" y="379"/>
                      </a:lnTo>
                      <a:lnTo>
                        <a:pt x="128" y="313"/>
                      </a:lnTo>
                      <a:lnTo>
                        <a:pt x="126" y="291"/>
                      </a:lnTo>
                      <a:lnTo>
                        <a:pt x="125" y="238"/>
                      </a:lnTo>
                      <a:lnTo>
                        <a:pt x="127" y="223"/>
                      </a:lnTo>
                      <a:lnTo>
                        <a:pt x="133" y="196"/>
                      </a:lnTo>
                      <a:lnTo>
                        <a:pt x="138" y="179"/>
                      </a:lnTo>
                      <a:lnTo>
                        <a:pt x="147" y="189"/>
                      </a:lnTo>
                      <a:lnTo>
                        <a:pt x="161" y="212"/>
                      </a:lnTo>
                      <a:lnTo>
                        <a:pt x="177" y="259"/>
                      </a:lnTo>
                      <a:lnTo>
                        <a:pt x="188" y="298"/>
                      </a:lnTo>
                      <a:lnTo>
                        <a:pt x="197" y="333"/>
                      </a:lnTo>
                      <a:lnTo>
                        <a:pt x="213" y="384"/>
                      </a:lnTo>
                      <a:lnTo>
                        <a:pt x="223" y="411"/>
                      </a:lnTo>
                      <a:lnTo>
                        <a:pt x="232" y="429"/>
                      </a:lnTo>
                      <a:lnTo>
                        <a:pt x="228" y="403"/>
                      </a:lnTo>
                      <a:lnTo>
                        <a:pt x="193" y="292"/>
                      </a:lnTo>
                      <a:lnTo>
                        <a:pt x="171" y="232"/>
                      </a:lnTo>
                      <a:lnTo>
                        <a:pt x="165" y="210"/>
                      </a:lnTo>
                      <a:lnTo>
                        <a:pt x="160" y="190"/>
                      </a:lnTo>
                      <a:lnTo>
                        <a:pt x="144" y="150"/>
                      </a:lnTo>
                      <a:lnTo>
                        <a:pt x="147" y="132"/>
                      </a:lnTo>
                      <a:lnTo>
                        <a:pt x="164" y="121"/>
                      </a:lnTo>
                      <a:lnTo>
                        <a:pt x="172" y="125"/>
                      </a:lnTo>
                      <a:lnTo>
                        <a:pt x="183" y="126"/>
                      </a:lnTo>
                      <a:lnTo>
                        <a:pt x="194" y="130"/>
                      </a:lnTo>
                      <a:lnTo>
                        <a:pt x="239" y="136"/>
                      </a:lnTo>
                      <a:lnTo>
                        <a:pt x="236" y="136"/>
                      </a:lnTo>
                      <a:lnTo>
                        <a:pt x="240" y="125"/>
                      </a:lnTo>
                      <a:lnTo>
                        <a:pt x="242" y="125"/>
                      </a:lnTo>
                      <a:lnTo>
                        <a:pt x="230" y="122"/>
                      </a:lnTo>
                      <a:lnTo>
                        <a:pt x="216" y="122"/>
                      </a:lnTo>
                      <a:lnTo>
                        <a:pt x="199" y="127"/>
                      </a:lnTo>
                      <a:lnTo>
                        <a:pt x="180" y="135"/>
                      </a:lnTo>
                      <a:lnTo>
                        <a:pt x="163" y="144"/>
                      </a:lnTo>
                      <a:lnTo>
                        <a:pt x="150" y="149"/>
                      </a:lnTo>
                      <a:lnTo>
                        <a:pt x="168" y="129"/>
                      </a:lnTo>
                      <a:lnTo>
                        <a:pt x="194" y="109"/>
                      </a:lnTo>
                      <a:lnTo>
                        <a:pt x="220" y="100"/>
                      </a:lnTo>
                      <a:lnTo>
                        <a:pt x="232" y="100"/>
                      </a:lnTo>
                      <a:lnTo>
                        <a:pt x="244" y="101"/>
                      </a:lnTo>
                      <a:lnTo>
                        <a:pt x="239" y="101"/>
                      </a:lnTo>
                      <a:lnTo>
                        <a:pt x="245" y="85"/>
                      </a:lnTo>
                      <a:lnTo>
                        <a:pt x="229" y="88"/>
                      </a:lnTo>
                      <a:lnTo>
                        <a:pt x="212" y="97"/>
                      </a:lnTo>
                      <a:lnTo>
                        <a:pt x="193" y="111"/>
                      </a:lnTo>
                      <a:lnTo>
                        <a:pt x="163" y="138"/>
                      </a:lnTo>
                      <a:lnTo>
                        <a:pt x="150" y="149"/>
                      </a:lnTo>
                      <a:lnTo>
                        <a:pt x="157" y="114"/>
                      </a:lnTo>
                      <a:lnTo>
                        <a:pt x="172" y="99"/>
                      </a:lnTo>
                      <a:lnTo>
                        <a:pt x="190" y="85"/>
                      </a:lnTo>
                      <a:lnTo>
                        <a:pt x="214" y="67"/>
                      </a:lnTo>
                      <a:lnTo>
                        <a:pt x="226" y="61"/>
                      </a:lnTo>
                      <a:lnTo>
                        <a:pt x="212" y="57"/>
                      </a:lnTo>
                      <a:lnTo>
                        <a:pt x="200" y="67"/>
                      </a:lnTo>
                      <a:lnTo>
                        <a:pt x="188" y="82"/>
                      </a:lnTo>
                      <a:lnTo>
                        <a:pt x="178" y="93"/>
                      </a:lnTo>
                      <a:lnTo>
                        <a:pt x="163" y="115"/>
                      </a:lnTo>
                      <a:lnTo>
                        <a:pt x="147" y="109"/>
                      </a:lnTo>
                    </a:path>
                  </a:pathLst>
                </a:custGeom>
                <a:solidFill>
                  <a:srgbClr val="037C03">
                    <a:alpha val="50195"/>
                  </a:srgbClr>
                </a:solidFill>
                <a:ln w="9525">
                  <a:noFill/>
                </a:ln>
              </p:spPr>
              <p:txBody>
                <a:bodyPr/>
                <a:lstStyle/>
                <a:p>
                  <a:endParaRPr lang="zh-CN" altLang="en-US"/>
                </a:p>
              </p:txBody>
            </p:sp>
          </p:grpSp>
          <p:grpSp>
            <p:nvGrpSpPr>
              <p:cNvPr id="89282" name="Group 43"/>
              <p:cNvGrpSpPr/>
              <p:nvPr/>
            </p:nvGrpSpPr>
            <p:grpSpPr>
              <a:xfrm>
                <a:off x="1985" y="1419"/>
                <a:ext cx="465" cy="602"/>
                <a:chOff x="1985" y="1419"/>
                <a:chExt cx="465" cy="602"/>
              </a:xfrm>
            </p:grpSpPr>
            <p:sp>
              <p:nvSpPr>
                <p:cNvPr id="89283" name="Freeform 44"/>
                <p:cNvSpPr/>
                <p:nvPr/>
              </p:nvSpPr>
              <p:spPr>
                <a:xfrm>
                  <a:off x="2164" y="1525"/>
                  <a:ext cx="130" cy="496"/>
                </a:xfrm>
                <a:custGeom>
                  <a:avLst/>
                  <a:gdLst>
                    <a:gd name="txL" fmla="*/ 0 w 130"/>
                    <a:gd name="txT" fmla="*/ 0 h 496"/>
                    <a:gd name="txR" fmla="*/ 130 w 130"/>
                    <a:gd name="txB" fmla="*/ 496 h 496"/>
                  </a:gdLst>
                  <a:ahLst/>
                  <a:cxnLst>
                    <a:cxn ang="0">
                      <a:pos x="129" y="230"/>
                    </a:cxn>
                    <a:cxn ang="0">
                      <a:pos x="118" y="330"/>
                    </a:cxn>
                    <a:cxn ang="0">
                      <a:pos x="107" y="411"/>
                    </a:cxn>
                    <a:cxn ang="0">
                      <a:pos x="100" y="471"/>
                    </a:cxn>
                    <a:cxn ang="0">
                      <a:pos x="101" y="495"/>
                    </a:cxn>
                    <a:cxn ang="0">
                      <a:pos x="86" y="495"/>
                    </a:cxn>
                    <a:cxn ang="0">
                      <a:pos x="81" y="460"/>
                    </a:cxn>
                    <a:cxn ang="0">
                      <a:pos x="79" y="408"/>
                    </a:cxn>
                    <a:cxn ang="0">
                      <a:pos x="73" y="358"/>
                    </a:cxn>
                    <a:cxn ang="0">
                      <a:pos x="70" y="321"/>
                    </a:cxn>
                    <a:cxn ang="0">
                      <a:pos x="64" y="268"/>
                    </a:cxn>
                    <a:cxn ang="0">
                      <a:pos x="56" y="222"/>
                    </a:cxn>
                    <a:cxn ang="0">
                      <a:pos x="51" y="181"/>
                    </a:cxn>
                    <a:cxn ang="0">
                      <a:pos x="45" y="137"/>
                    </a:cxn>
                    <a:cxn ang="0">
                      <a:pos x="35" y="94"/>
                    </a:cxn>
                    <a:cxn ang="0">
                      <a:pos x="24" y="57"/>
                    </a:cxn>
                    <a:cxn ang="0">
                      <a:pos x="6" y="21"/>
                    </a:cxn>
                    <a:cxn ang="0">
                      <a:pos x="0" y="8"/>
                    </a:cxn>
                    <a:cxn ang="0">
                      <a:pos x="7" y="0"/>
                    </a:cxn>
                    <a:cxn ang="0">
                      <a:pos x="19" y="14"/>
                    </a:cxn>
                    <a:cxn ang="0">
                      <a:pos x="35" y="47"/>
                    </a:cxn>
                    <a:cxn ang="0">
                      <a:pos x="47" y="81"/>
                    </a:cxn>
                    <a:cxn ang="0">
                      <a:pos x="56" y="116"/>
                    </a:cxn>
                    <a:cxn ang="0">
                      <a:pos x="63" y="161"/>
                    </a:cxn>
                    <a:cxn ang="0">
                      <a:pos x="69" y="204"/>
                    </a:cxn>
                    <a:cxn ang="0">
                      <a:pos x="77" y="262"/>
                    </a:cxn>
                    <a:cxn ang="0">
                      <a:pos x="84" y="309"/>
                    </a:cxn>
                    <a:cxn ang="0">
                      <a:pos x="87" y="347"/>
                    </a:cxn>
                    <a:cxn ang="0">
                      <a:pos x="90" y="386"/>
                    </a:cxn>
                    <a:cxn ang="0">
                      <a:pos x="96" y="427"/>
                    </a:cxn>
                    <a:cxn ang="0">
                      <a:pos x="104" y="357"/>
                    </a:cxn>
                    <a:cxn ang="0">
                      <a:pos x="114" y="292"/>
                    </a:cxn>
                    <a:cxn ang="0">
                      <a:pos x="129" y="230"/>
                    </a:cxn>
                  </a:cxnLst>
                  <a:rect l="txL" t="txT" r="txR" b="txB"/>
                  <a:pathLst>
                    <a:path w="130" h="496">
                      <a:moveTo>
                        <a:pt x="129" y="230"/>
                      </a:moveTo>
                      <a:lnTo>
                        <a:pt x="118" y="330"/>
                      </a:lnTo>
                      <a:lnTo>
                        <a:pt x="107" y="411"/>
                      </a:lnTo>
                      <a:lnTo>
                        <a:pt x="100" y="471"/>
                      </a:lnTo>
                      <a:lnTo>
                        <a:pt x="101" y="495"/>
                      </a:lnTo>
                      <a:lnTo>
                        <a:pt x="86" y="495"/>
                      </a:lnTo>
                      <a:lnTo>
                        <a:pt x="81" y="460"/>
                      </a:lnTo>
                      <a:lnTo>
                        <a:pt x="79" y="408"/>
                      </a:lnTo>
                      <a:lnTo>
                        <a:pt x="73" y="358"/>
                      </a:lnTo>
                      <a:lnTo>
                        <a:pt x="70" y="321"/>
                      </a:lnTo>
                      <a:lnTo>
                        <a:pt x="64" y="268"/>
                      </a:lnTo>
                      <a:lnTo>
                        <a:pt x="56" y="222"/>
                      </a:lnTo>
                      <a:lnTo>
                        <a:pt x="51" y="181"/>
                      </a:lnTo>
                      <a:lnTo>
                        <a:pt x="45" y="137"/>
                      </a:lnTo>
                      <a:lnTo>
                        <a:pt x="35" y="94"/>
                      </a:lnTo>
                      <a:lnTo>
                        <a:pt x="24" y="57"/>
                      </a:lnTo>
                      <a:lnTo>
                        <a:pt x="6" y="21"/>
                      </a:lnTo>
                      <a:lnTo>
                        <a:pt x="0" y="8"/>
                      </a:lnTo>
                      <a:lnTo>
                        <a:pt x="7" y="0"/>
                      </a:lnTo>
                      <a:lnTo>
                        <a:pt x="19" y="14"/>
                      </a:lnTo>
                      <a:lnTo>
                        <a:pt x="35" y="47"/>
                      </a:lnTo>
                      <a:lnTo>
                        <a:pt x="47" y="81"/>
                      </a:lnTo>
                      <a:lnTo>
                        <a:pt x="56" y="116"/>
                      </a:lnTo>
                      <a:lnTo>
                        <a:pt x="63" y="161"/>
                      </a:lnTo>
                      <a:lnTo>
                        <a:pt x="69" y="204"/>
                      </a:lnTo>
                      <a:lnTo>
                        <a:pt x="77" y="262"/>
                      </a:lnTo>
                      <a:lnTo>
                        <a:pt x="84" y="309"/>
                      </a:lnTo>
                      <a:lnTo>
                        <a:pt x="87" y="347"/>
                      </a:lnTo>
                      <a:lnTo>
                        <a:pt x="90" y="386"/>
                      </a:lnTo>
                      <a:lnTo>
                        <a:pt x="96" y="427"/>
                      </a:lnTo>
                      <a:lnTo>
                        <a:pt x="104" y="357"/>
                      </a:lnTo>
                      <a:lnTo>
                        <a:pt x="114" y="292"/>
                      </a:lnTo>
                      <a:lnTo>
                        <a:pt x="129" y="230"/>
                      </a:lnTo>
                    </a:path>
                  </a:pathLst>
                </a:custGeom>
                <a:solidFill>
                  <a:srgbClr val="3C0023">
                    <a:alpha val="50195"/>
                  </a:srgbClr>
                </a:solidFill>
                <a:ln w="9525">
                  <a:noFill/>
                </a:ln>
              </p:spPr>
              <p:txBody>
                <a:bodyPr/>
                <a:lstStyle/>
                <a:p>
                  <a:endParaRPr lang="zh-CN" altLang="en-US"/>
                </a:p>
              </p:txBody>
            </p:sp>
            <p:sp>
              <p:nvSpPr>
                <p:cNvPr id="89284" name="Freeform 45"/>
                <p:cNvSpPr/>
                <p:nvPr/>
              </p:nvSpPr>
              <p:spPr>
                <a:xfrm>
                  <a:off x="2204" y="1606"/>
                  <a:ext cx="229" cy="358"/>
                </a:xfrm>
                <a:custGeom>
                  <a:avLst/>
                  <a:gdLst>
                    <a:gd name="txL" fmla="*/ 0 w 229"/>
                    <a:gd name="txT" fmla="*/ 0 h 358"/>
                    <a:gd name="txR" fmla="*/ 229 w 229"/>
                    <a:gd name="txB" fmla="*/ 358 h 358"/>
                  </a:gdLst>
                  <a:ahLst/>
                  <a:cxnLst>
                    <a:cxn ang="0">
                      <a:pos x="60" y="58"/>
                    </a:cxn>
                    <a:cxn ang="0">
                      <a:pos x="67" y="44"/>
                    </a:cxn>
                    <a:cxn ang="0">
                      <a:pos x="64" y="5"/>
                    </a:cxn>
                    <a:cxn ang="0">
                      <a:pos x="64" y="5"/>
                    </a:cxn>
                    <a:cxn ang="0">
                      <a:pos x="64" y="5"/>
                    </a:cxn>
                    <a:cxn ang="0">
                      <a:pos x="64" y="5"/>
                    </a:cxn>
                    <a:cxn ang="0">
                      <a:pos x="64" y="5"/>
                    </a:cxn>
                    <a:cxn ang="0">
                      <a:pos x="70" y="2"/>
                    </a:cxn>
                    <a:cxn ang="0">
                      <a:pos x="82" y="66"/>
                    </a:cxn>
                    <a:cxn ang="0">
                      <a:pos x="94" y="39"/>
                    </a:cxn>
                    <a:cxn ang="0">
                      <a:pos x="101" y="5"/>
                    </a:cxn>
                    <a:cxn ang="0">
                      <a:pos x="104" y="5"/>
                    </a:cxn>
                    <a:cxn ang="0">
                      <a:pos x="103" y="5"/>
                    </a:cxn>
                    <a:cxn ang="0">
                      <a:pos x="104" y="5"/>
                    </a:cxn>
                    <a:cxn ang="0">
                      <a:pos x="102" y="5"/>
                    </a:cxn>
                    <a:cxn ang="0">
                      <a:pos x="103" y="5"/>
                    </a:cxn>
                    <a:cxn ang="0">
                      <a:pos x="105" y="47"/>
                    </a:cxn>
                    <a:cxn ang="0">
                      <a:pos x="111" y="88"/>
                    </a:cxn>
                    <a:cxn ang="0">
                      <a:pos x="139" y="79"/>
                    </a:cxn>
                    <a:cxn ang="0">
                      <a:pos x="176" y="81"/>
                    </a:cxn>
                    <a:cxn ang="0">
                      <a:pos x="205" y="104"/>
                    </a:cxn>
                    <a:cxn ang="0">
                      <a:pos x="228" y="155"/>
                    </a:cxn>
                    <a:cxn ang="0">
                      <a:pos x="200" y="147"/>
                    </a:cxn>
                    <a:cxn ang="0">
                      <a:pos x="171" y="131"/>
                    </a:cxn>
                    <a:cxn ang="0">
                      <a:pos x="132" y="121"/>
                    </a:cxn>
                    <a:cxn ang="0">
                      <a:pos x="107" y="125"/>
                    </a:cxn>
                    <a:cxn ang="0">
                      <a:pos x="122" y="150"/>
                    </a:cxn>
                    <a:cxn ang="0">
                      <a:pos x="154" y="165"/>
                    </a:cxn>
                    <a:cxn ang="0">
                      <a:pos x="187" y="175"/>
                    </a:cxn>
                    <a:cxn ang="0">
                      <a:pos x="212" y="212"/>
                    </a:cxn>
                    <a:cxn ang="0">
                      <a:pos x="224" y="262"/>
                    </a:cxn>
                    <a:cxn ang="0">
                      <a:pos x="194" y="231"/>
                    </a:cxn>
                    <a:cxn ang="0">
                      <a:pos x="163" y="199"/>
                    </a:cxn>
                    <a:cxn ang="0">
                      <a:pos x="133" y="172"/>
                    </a:cxn>
                    <a:cxn ang="0">
                      <a:pos x="111" y="159"/>
                    </a:cxn>
                    <a:cxn ang="0">
                      <a:pos x="97" y="185"/>
                    </a:cxn>
                    <a:cxn ang="0">
                      <a:pos x="115" y="245"/>
                    </a:cxn>
                    <a:cxn ang="0">
                      <a:pos x="132" y="312"/>
                    </a:cxn>
                    <a:cxn ang="0">
                      <a:pos x="114" y="328"/>
                    </a:cxn>
                    <a:cxn ang="0">
                      <a:pos x="95" y="236"/>
                    </a:cxn>
                    <a:cxn ang="0">
                      <a:pos x="78" y="179"/>
                    </a:cxn>
                    <a:cxn ang="0">
                      <a:pos x="73" y="197"/>
                    </a:cxn>
                    <a:cxn ang="0">
                      <a:pos x="74" y="186"/>
                    </a:cxn>
                    <a:cxn ang="0">
                      <a:pos x="70" y="206"/>
                    </a:cxn>
                    <a:cxn ang="0">
                      <a:pos x="51" y="257"/>
                    </a:cxn>
                    <a:cxn ang="0">
                      <a:pos x="32" y="322"/>
                    </a:cxn>
                    <a:cxn ang="0">
                      <a:pos x="28" y="304"/>
                    </a:cxn>
                    <a:cxn ang="0">
                      <a:pos x="38" y="249"/>
                    </a:cxn>
                    <a:cxn ang="0">
                      <a:pos x="59" y="189"/>
                    </a:cxn>
                    <a:cxn ang="0">
                      <a:pos x="82" y="143"/>
                    </a:cxn>
                    <a:cxn ang="0">
                      <a:pos x="65" y="139"/>
                    </a:cxn>
                    <a:cxn ang="0">
                      <a:pos x="40" y="189"/>
                    </a:cxn>
                    <a:cxn ang="0">
                      <a:pos x="18" y="243"/>
                    </a:cxn>
                    <a:cxn ang="0">
                      <a:pos x="2" y="278"/>
                    </a:cxn>
                    <a:cxn ang="0">
                      <a:pos x="13" y="229"/>
                    </a:cxn>
                    <a:cxn ang="0">
                      <a:pos x="37" y="179"/>
                    </a:cxn>
                    <a:cxn ang="0">
                      <a:pos x="70" y="130"/>
                    </a:cxn>
                    <a:cxn ang="0">
                      <a:pos x="62" y="99"/>
                    </a:cxn>
                    <a:cxn ang="0">
                      <a:pos x="37" y="59"/>
                    </a:cxn>
                    <a:cxn ang="0">
                      <a:pos x="11" y="12"/>
                    </a:cxn>
                    <a:cxn ang="0">
                      <a:pos x="14" y="5"/>
                    </a:cxn>
                    <a:cxn ang="0">
                      <a:pos x="27" y="5"/>
                    </a:cxn>
                    <a:cxn ang="0">
                      <a:pos x="31" y="10"/>
                    </a:cxn>
                  </a:cxnLst>
                  <a:rect l="txL" t="txT" r="txR" b="txB"/>
                  <a:pathLst>
                    <a:path w="229" h="358">
                      <a:moveTo>
                        <a:pt x="43" y="31"/>
                      </a:moveTo>
                      <a:lnTo>
                        <a:pt x="47" y="39"/>
                      </a:lnTo>
                      <a:lnTo>
                        <a:pt x="51" y="44"/>
                      </a:lnTo>
                      <a:lnTo>
                        <a:pt x="55" y="51"/>
                      </a:lnTo>
                      <a:lnTo>
                        <a:pt x="60" y="58"/>
                      </a:lnTo>
                      <a:lnTo>
                        <a:pt x="64" y="63"/>
                      </a:lnTo>
                      <a:lnTo>
                        <a:pt x="68" y="66"/>
                      </a:lnTo>
                      <a:lnTo>
                        <a:pt x="72" y="69"/>
                      </a:lnTo>
                      <a:lnTo>
                        <a:pt x="70" y="58"/>
                      </a:lnTo>
                      <a:lnTo>
                        <a:pt x="67" y="44"/>
                      </a:lnTo>
                      <a:lnTo>
                        <a:pt x="65" y="30"/>
                      </a:lnTo>
                      <a:lnTo>
                        <a:pt x="63" y="15"/>
                      </a:lnTo>
                      <a:lnTo>
                        <a:pt x="64" y="5"/>
                      </a:lnTo>
                      <a:lnTo>
                        <a:pt x="69" y="5"/>
                      </a:lnTo>
                      <a:lnTo>
                        <a:pt x="70" y="5"/>
                      </a:lnTo>
                      <a:lnTo>
                        <a:pt x="70" y="2"/>
                      </a:lnTo>
                      <a:lnTo>
                        <a:pt x="73" y="16"/>
                      </a:lnTo>
                      <a:lnTo>
                        <a:pt x="76" y="30"/>
                      </a:lnTo>
                      <a:lnTo>
                        <a:pt x="78" y="41"/>
                      </a:lnTo>
                      <a:lnTo>
                        <a:pt x="81" y="56"/>
                      </a:lnTo>
                      <a:lnTo>
                        <a:pt x="82" y="66"/>
                      </a:lnTo>
                      <a:lnTo>
                        <a:pt x="84" y="71"/>
                      </a:lnTo>
                      <a:lnTo>
                        <a:pt x="87" y="66"/>
                      </a:lnTo>
                      <a:lnTo>
                        <a:pt x="89" y="59"/>
                      </a:lnTo>
                      <a:lnTo>
                        <a:pt x="93" y="52"/>
                      </a:lnTo>
                      <a:lnTo>
                        <a:pt x="94" y="39"/>
                      </a:lnTo>
                      <a:lnTo>
                        <a:pt x="95" y="30"/>
                      </a:lnTo>
                      <a:lnTo>
                        <a:pt x="96" y="14"/>
                      </a:lnTo>
                      <a:lnTo>
                        <a:pt x="96" y="0"/>
                      </a:lnTo>
                      <a:lnTo>
                        <a:pt x="101" y="5"/>
                      </a:lnTo>
                      <a:lnTo>
                        <a:pt x="102" y="5"/>
                      </a:lnTo>
                      <a:lnTo>
                        <a:pt x="103" y="5"/>
                      </a:lnTo>
                      <a:lnTo>
                        <a:pt x="104" y="5"/>
                      </a:lnTo>
                      <a:lnTo>
                        <a:pt x="105" y="5"/>
                      </a:lnTo>
                      <a:lnTo>
                        <a:pt x="104" y="5"/>
                      </a:lnTo>
                      <a:lnTo>
                        <a:pt x="102" y="5"/>
                      </a:lnTo>
                      <a:lnTo>
                        <a:pt x="103" y="5"/>
                      </a:lnTo>
                      <a:lnTo>
                        <a:pt x="105" y="5"/>
                      </a:lnTo>
                      <a:lnTo>
                        <a:pt x="103" y="5"/>
                      </a:lnTo>
                      <a:lnTo>
                        <a:pt x="101" y="5"/>
                      </a:lnTo>
                      <a:lnTo>
                        <a:pt x="102" y="5"/>
                      </a:lnTo>
                      <a:lnTo>
                        <a:pt x="101" y="5"/>
                      </a:lnTo>
                      <a:lnTo>
                        <a:pt x="104" y="5"/>
                      </a:lnTo>
                      <a:lnTo>
                        <a:pt x="103" y="5"/>
                      </a:lnTo>
                      <a:lnTo>
                        <a:pt x="100" y="5"/>
                      </a:lnTo>
                      <a:lnTo>
                        <a:pt x="101" y="5"/>
                      </a:lnTo>
                      <a:lnTo>
                        <a:pt x="103" y="5"/>
                      </a:lnTo>
                      <a:lnTo>
                        <a:pt x="102" y="5"/>
                      </a:lnTo>
                      <a:lnTo>
                        <a:pt x="104" y="5"/>
                      </a:lnTo>
                      <a:lnTo>
                        <a:pt x="102" y="5"/>
                      </a:lnTo>
                      <a:lnTo>
                        <a:pt x="107" y="5"/>
                      </a:lnTo>
                      <a:lnTo>
                        <a:pt x="103" y="5"/>
                      </a:lnTo>
                      <a:lnTo>
                        <a:pt x="104" y="5"/>
                      </a:lnTo>
                      <a:lnTo>
                        <a:pt x="107" y="2"/>
                      </a:lnTo>
                      <a:lnTo>
                        <a:pt x="107" y="15"/>
                      </a:lnTo>
                      <a:lnTo>
                        <a:pt x="106" y="31"/>
                      </a:lnTo>
                      <a:lnTo>
                        <a:pt x="105" y="47"/>
                      </a:lnTo>
                      <a:lnTo>
                        <a:pt x="103" y="66"/>
                      </a:lnTo>
                      <a:lnTo>
                        <a:pt x="102" y="83"/>
                      </a:lnTo>
                      <a:lnTo>
                        <a:pt x="101" y="100"/>
                      </a:lnTo>
                      <a:lnTo>
                        <a:pt x="105" y="95"/>
                      </a:lnTo>
                      <a:lnTo>
                        <a:pt x="111" y="88"/>
                      </a:lnTo>
                      <a:lnTo>
                        <a:pt x="118" y="80"/>
                      </a:lnTo>
                      <a:lnTo>
                        <a:pt x="123" y="78"/>
                      </a:lnTo>
                      <a:lnTo>
                        <a:pt x="129" y="76"/>
                      </a:lnTo>
                      <a:lnTo>
                        <a:pt x="134" y="79"/>
                      </a:lnTo>
                      <a:lnTo>
                        <a:pt x="139" y="79"/>
                      </a:lnTo>
                      <a:lnTo>
                        <a:pt x="146" y="81"/>
                      </a:lnTo>
                      <a:lnTo>
                        <a:pt x="154" y="83"/>
                      </a:lnTo>
                      <a:lnTo>
                        <a:pt x="162" y="83"/>
                      </a:lnTo>
                      <a:lnTo>
                        <a:pt x="169" y="81"/>
                      </a:lnTo>
                      <a:lnTo>
                        <a:pt x="176" y="81"/>
                      </a:lnTo>
                      <a:lnTo>
                        <a:pt x="182" y="83"/>
                      </a:lnTo>
                      <a:lnTo>
                        <a:pt x="188" y="88"/>
                      </a:lnTo>
                      <a:lnTo>
                        <a:pt x="195" y="93"/>
                      </a:lnTo>
                      <a:lnTo>
                        <a:pt x="200" y="98"/>
                      </a:lnTo>
                      <a:lnTo>
                        <a:pt x="205" y="104"/>
                      </a:lnTo>
                      <a:lnTo>
                        <a:pt x="211" y="112"/>
                      </a:lnTo>
                      <a:lnTo>
                        <a:pt x="214" y="117"/>
                      </a:lnTo>
                      <a:lnTo>
                        <a:pt x="220" y="129"/>
                      </a:lnTo>
                      <a:lnTo>
                        <a:pt x="223" y="142"/>
                      </a:lnTo>
                      <a:lnTo>
                        <a:pt x="228" y="155"/>
                      </a:lnTo>
                      <a:lnTo>
                        <a:pt x="223" y="156"/>
                      </a:lnTo>
                      <a:lnTo>
                        <a:pt x="217" y="154"/>
                      </a:lnTo>
                      <a:lnTo>
                        <a:pt x="210" y="152"/>
                      </a:lnTo>
                      <a:lnTo>
                        <a:pt x="205" y="150"/>
                      </a:lnTo>
                      <a:lnTo>
                        <a:pt x="200" y="147"/>
                      </a:lnTo>
                      <a:lnTo>
                        <a:pt x="195" y="143"/>
                      </a:lnTo>
                      <a:lnTo>
                        <a:pt x="189" y="138"/>
                      </a:lnTo>
                      <a:lnTo>
                        <a:pt x="184" y="135"/>
                      </a:lnTo>
                      <a:lnTo>
                        <a:pt x="179" y="133"/>
                      </a:lnTo>
                      <a:lnTo>
                        <a:pt x="171" y="131"/>
                      </a:lnTo>
                      <a:lnTo>
                        <a:pt x="162" y="129"/>
                      </a:lnTo>
                      <a:lnTo>
                        <a:pt x="154" y="126"/>
                      </a:lnTo>
                      <a:lnTo>
                        <a:pt x="146" y="124"/>
                      </a:lnTo>
                      <a:lnTo>
                        <a:pt x="138" y="122"/>
                      </a:lnTo>
                      <a:lnTo>
                        <a:pt x="132" y="121"/>
                      </a:lnTo>
                      <a:lnTo>
                        <a:pt x="128" y="120"/>
                      </a:lnTo>
                      <a:lnTo>
                        <a:pt x="122" y="120"/>
                      </a:lnTo>
                      <a:lnTo>
                        <a:pt x="116" y="121"/>
                      </a:lnTo>
                      <a:lnTo>
                        <a:pt x="112" y="122"/>
                      </a:lnTo>
                      <a:lnTo>
                        <a:pt x="107" y="125"/>
                      </a:lnTo>
                      <a:lnTo>
                        <a:pt x="100" y="129"/>
                      </a:lnTo>
                      <a:lnTo>
                        <a:pt x="105" y="135"/>
                      </a:lnTo>
                      <a:lnTo>
                        <a:pt x="111" y="140"/>
                      </a:lnTo>
                      <a:lnTo>
                        <a:pt x="116" y="147"/>
                      </a:lnTo>
                      <a:lnTo>
                        <a:pt x="122" y="150"/>
                      </a:lnTo>
                      <a:lnTo>
                        <a:pt x="129" y="155"/>
                      </a:lnTo>
                      <a:lnTo>
                        <a:pt x="133" y="158"/>
                      </a:lnTo>
                      <a:lnTo>
                        <a:pt x="139" y="159"/>
                      </a:lnTo>
                      <a:lnTo>
                        <a:pt x="147" y="162"/>
                      </a:lnTo>
                      <a:lnTo>
                        <a:pt x="154" y="165"/>
                      </a:lnTo>
                      <a:lnTo>
                        <a:pt x="161" y="167"/>
                      </a:lnTo>
                      <a:lnTo>
                        <a:pt x="168" y="169"/>
                      </a:lnTo>
                      <a:lnTo>
                        <a:pt x="174" y="170"/>
                      </a:lnTo>
                      <a:lnTo>
                        <a:pt x="181" y="174"/>
                      </a:lnTo>
                      <a:lnTo>
                        <a:pt x="187" y="175"/>
                      </a:lnTo>
                      <a:lnTo>
                        <a:pt x="191" y="179"/>
                      </a:lnTo>
                      <a:lnTo>
                        <a:pt x="197" y="186"/>
                      </a:lnTo>
                      <a:lnTo>
                        <a:pt x="202" y="193"/>
                      </a:lnTo>
                      <a:lnTo>
                        <a:pt x="206" y="202"/>
                      </a:lnTo>
                      <a:lnTo>
                        <a:pt x="212" y="212"/>
                      </a:lnTo>
                      <a:lnTo>
                        <a:pt x="214" y="218"/>
                      </a:lnTo>
                      <a:lnTo>
                        <a:pt x="217" y="229"/>
                      </a:lnTo>
                      <a:lnTo>
                        <a:pt x="219" y="240"/>
                      </a:lnTo>
                      <a:lnTo>
                        <a:pt x="221" y="253"/>
                      </a:lnTo>
                      <a:lnTo>
                        <a:pt x="224" y="262"/>
                      </a:lnTo>
                      <a:lnTo>
                        <a:pt x="219" y="257"/>
                      </a:lnTo>
                      <a:lnTo>
                        <a:pt x="212" y="250"/>
                      </a:lnTo>
                      <a:lnTo>
                        <a:pt x="206" y="245"/>
                      </a:lnTo>
                      <a:lnTo>
                        <a:pt x="200" y="238"/>
                      </a:lnTo>
                      <a:lnTo>
                        <a:pt x="194" y="231"/>
                      </a:lnTo>
                      <a:lnTo>
                        <a:pt x="188" y="226"/>
                      </a:lnTo>
                      <a:lnTo>
                        <a:pt x="182" y="219"/>
                      </a:lnTo>
                      <a:lnTo>
                        <a:pt x="176" y="213"/>
                      </a:lnTo>
                      <a:lnTo>
                        <a:pt x="169" y="206"/>
                      </a:lnTo>
                      <a:lnTo>
                        <a:pt x="163" y="199"/>
                      </a:lnTo>
                      <a:lnTo>
                        <a:pt x="158" y="194"/>
                      </a:lnTo>
                      <a:lnTo>
                        <a:pt x="151" y="187"/>
                      </a:lnTo>
                      <a:lnTo>
                        <a:pt x="145" y="182"/>
                      </a:lnTo>
                      <a:lnTo>
                        <a:pt x="139" y="177"/>
                      </a:lnTo>
                      <a:lnTo>
                        <a:pt x="133" y="172"/>
                      </a:lnTo>
                      <a:lnTo>
                        <a:pt x="129" y="170"/>
                      </a:lnTo>
                      <a:lnTo>
                        <a:pt x="125" y="166"/>
                      </a:lnTo>
                      <a:lnTo>
                        <a:pt x="119" y="162"/>
                      </a:lnTo>
                      <a:lnTo>
                        <a:pt x="115" y="158"/>
                      </a:lnTo>
                      <a:lnTo>
                        <a:pt x="111" y="159"/>
                      </a:lnTo>
                      <a:lnTo>
                        <a:pt x="107" y="162"/>
                      </a:lnTo>
                      <a:lnTo>
                        <a:pt x="103" y="161"/>
                      </a:lnTo>
                      <a:lnTo>
                        <a:pt x="99" y="158"/>
                      </a:lnTo>
                      <a:lnTo>
                        <a:pt x="98" y="170"/>
                      </a:lnTo>
                      <a:lnTo>
                        <a:pt x="97" y="185"/>
                      </a:lnTo>
                      <a:lnTo>
                        <a:pt x="100" y="197"/>
                      </a:lnTo>
                      <a:lnTo>
                        <a:pt x="102" y="211"/>
                      </a:lnTo>
                      <a:lnTo>
                        <a:pt x="107" y="220"/>
                      </a:lnTo>
                      <a:lnTo>
                        <a:pt x="111" y="231"/>
                      </a:lnTo>
                      <a:lnTo>
                        <a:pt x="115" y="245"/>
                      </a:lnTo>
                      <a:lnTo>
                        <a:pt x="119" y="259"/>
                      </a:lnTo>
                      <a:lnTo>
                        <a:pt x="123" y="268"/>
                      </a:lnTo>
                      <a:lnTo>
                        <a:pt x="127" y="278"/>
                      </a:lnTo>
                      <a:lnTo>
                        <a:pt x="131" y="297"/>
                      </a:lnTo>
                      <a:lnTo>
                        <a:pt x="132" y="312"/>
                      </a:lnTo>
                      <a:lnTo>
                        <a:pt x="135" y="331"/>
                      </a:lnTo>
                      <a:lnTo>
                        <a:pt x="138" y="349"/>
                      </a:lnTo>
                      <a:lnTo>
                        <a:pt x="125" y="349"/>
                      </a:lnTo>
                      <a:lnTo>
                        <a:pt x="122" y="349"/>
                      </a:lnTo>
                      <a:lnTo>
                        <a:pt x="114" y="328"/>
                      </a:lnTo>
                      <a:lnTo>
                        <a:pt x="108" y="307"/>
                      </a:lnTo>
                      <a:lnTo>
                        <a:pt x="103" y="290"/>
                      </a:lnTo>
                      <a:lnTo>
                        <a:pt x="100" y="273"/>
                      </a:lnTo>
                      <a:lnTo>
                        <a:pt x="98" y="255"/>
                      </a:lnTo>
                      <a:lnTo>
                        <a:pt x="95" y="236"/>
                      </a:lnTo>
                      <a:lnTo>
                        <a:pt x="90" y="209"/>
                      </a:lnTo>
                      <a:lnTo>
                        <a:pt x="87" y="200"/>
                      </a:lnTo>
                      <a:lnTo>
                        <a:pt x="84" y="184"/>
                      </a:lnTo>
                      <a:lnTo>
                        <a:pt x="81" y="177"/>
                      </a:lnTo>
                      <a:lnTo>
                        <a:pt x="78" y="179"/>
                      </a:lnTo>
                      <a:lnTo>
                        <a:pt x="75" y="181"/>
                      </a:lnTo>
                      <a:lnTo>
                        <a:pt x="74" y="191"/>
                      </a:lnTo>
                      <a:lnTo>
                        <a:pt x="74" y="186"/>
                      </a:lnTo>
                      <a:lnTo>
                        <a:pt x="74" y="192"/>
                      </a:lnTo>
                      <a:lnTo>
                        <a:pt x="73" y="197"/>
                      </a:lnTo>
                      <a:lnTo>
                        <a:pt x="72" y="198"/>
                      </a:lnTo>
                      <a:lnTo>
                        <a:pt x="74" y="197"/>
                      </a:lnTo>
                      <a:lnTo>
                        <a:pt x="73" y="194"/>
                      </a:lnTo>
                      <a:lnTo>
                        <a:pt x="74" y="189"/>
                      </a:lnTo>
                      <a:lnTo>
                        <a:pt x="74" y="186"/>
                      </a:lnTo>
                      <a:lnTo>
                        <a:pt x="74" y="187"/>
                      </a:lnTo>
                      <a:lnTo>
                        <a:pt x="74" y="192"/>
                      </a:lnTo>
                      <a:lnTo>
                        <a:pt x="75" y="197"/>
                      </a:lnTo>
                      <a:lnTo>
                        <a:pt x="73" y="198"/>
                      </a:lnTo>
                      <a:lnTo>
                        <a:pt x="70" y="206"/>
                      </a:lnTo>
                      <a:lnTo>
                        <a:pt x="65" y="218"/>
                      </a:lnTo>
                      <a:lnTo>
                        <a:pt x="61" y="227"/>
                      </a:lnTo>
                      <a:lnTo>
                        <a:pt x="58" y="236"/>
                      </a:lnTo>
                      <a:lnTo>
                        <a:pt x="54" y="248"/>
                      </a:lnTo>
                      <a:lnTo>
                        <a:pt x="51" y="257"/>
                      </a:lnTo>
                      <a:lnTo>
                        <a:pt x="47" y="268"/>
                      </a:lnTo>
                      <a:lnTo>
                        <a:pt x="43" y="280"/>
                      </a:lnTo>
                      <a:lnTo>
                        <a:pt x="40" y="293"/>
                      </a:lnTo>
                      <a:lnTo>
                        <a:pt x="36" y="307"/>
                      </a:lnTo>
                      <a:lnTo>
                        <a:pt x="32" y="322"/>
                      </a:lnTo>
                      <a:lnTo>
                        <a:pt x="29" y="339"/>
                      </a:lnTo>
                      <a:lnTo>
                        <a:pt x="24" y="357"/>
                      </a:lnTo>
                      <a:lnTo>
                        <a:pt x="26" y="335"/>
                      </a:lnTo>
                      <a:lnTo>
                        <a:pt x="27" y="321"/>
                      </a:lnTo>
                      <a:lnTo>
                        <a:pt x="28" y="304"/>
                      </a:lnTo>
                      <a:lnTo>
                        <a:pt x="29" y="295"/>
                      </a:lnTo>
                      <a:lnTo>
                        <a:pt x="31" y="287"/>
                      </a:lnTo>
                      <a:lnTo>
                        <a:pt x="33" y="273"/>
                      </a:lnTo>
                      <a:lnTo>
                        <a:pt x="36" y="260"/>
                      </a:lnTo>
                      <a:lnTo>
                        <a:pt x="38" y="249"/>
                      </a:lnTo>
                      <a:lnTo>
                        <a:pt x="43" y="236"/>
                      </a:lnTo>
                      <a:lnTo>
                        <a:pt x="47" y="224"/>
                      </a:lnTo>
                      <a:lnTo>
                        <a:pt x="52" y="211"/>
                      </a:lnTo>
                      <a:lnTo>
                        <a:pt x="56" y="197"/>
                      </a:lnTo>
                      <a:lnTo>
                        <a:pt x="59" y="189"/>
                      </a:lnTo>
                      <a:lnTo>
                        <a:pt x="63" y="181"/>
                      </a:lnTo>
                      <a:lnTo>
                        <a:pt x="68" y="172"/>
                      </a:lnTo>
                      <a:lnTo>
                        <a:pt x="73" y="164"/>
                      </a:lnTo>
                      <a:lnTo>
                        <a:pt x="77" y="154"/>
                      </a:lnTo>
                      <a:lnTo>
                        <a:pt x="82" y="143"/>
                      </a:lnTo>
                      <a:lnTo>
                        <a:pt x="80" y="139"/>
                      </a:lnTo>
                      <a:lnTo>
                        <a:pt x="76" y="133"/>
                      </a:lnTo>
                      <a:lnTo>
                        <a:pt x="73" y="129"/>
                      </a:lnTo>
                      <a:lnTo>
                        <a:pt x="70" y="132"/>
                      </a:lnTo>
                      <a:lnTo>
                        <a:pt x="65" y="139"/>
                      </a:lnTo>
                      <a:lnTo>
                        <a:pt x="60" y="147"/>
                      </a:lnTo>
                      <a:lnTo>
                        <a:pt x="55" y="154"/>
                      </a:lnTo>
                      <a:lnTo>
                        <a:pt x="51" y="164"/>
                      </a:lnTo>
                      <a:lnTo>
                        <a:pt x="45" y="177"/>
                      </a:lnTo>
                      <a:lnTo>
                        <a:pt x="40" y="189"/>
                      </a:lnTo>
                      <a:lnTo>
                        <a:pt x="36" y="199"/>
                      </a:lnTo>
                      <a:lnTo>
                        <a:pt x="31" y="207"/>
                      </a:lnTo>
                      <a:lnTo>
                        <a:pt x="27" y="218"/>
                      </a:lnTo>
                      <a:lnTo>
                        <a:pt x="22" y="230"/>
                      </a:lnTo>
                      <a:lnTo>
                        <a:pt x="18" y="243"/>
                      </a:lnTo>
                      <a:lnTo>
                        <a:pt x="14" y="255"/>
                      </a:lnTo>
                      <a:lnTo>
                        <a:pt x="9" y="268"/>
                      </a:lnTo>
                      <a:lnTo>
                        <a:pt x="5" y="282"/>
                      </a:lnTo>
                      <a:lnTo>
                        <a:pt x="0" y="298"/>
                      </a:lnTo>
                      <a:lnTo>
                        <a:pt x="2" y="278"/>
                      </a:lnTo>
                      <a:lnTo>
                        <a:pt x="4" y="262"/>
                      </a:lnTo>
                      <a:lnTo>
                        <a:pt x="5" y="248"/>
                      </a:lnTo>
                      <a:lnTo>
                        <a:pt x="6" y="244"/>
                      </a:lnTo>
                      <a:lnTo>
                        <a:pt x="9" y="238"/>
                      </a:lnTo>
                      <a:lnTo>
                        <a:pt x="13" y="229"/>
                      </a:lnTo>
                      <a:lnTo>
                        <a:pt x="17" y="219"/>
                      </a:lnTo>
                      <a:lnTo>
                        <a:pt x="22" y="209"/>
                      </a:lnTo>
                      <a:lnTo>
                        <a:pt x="27" y="199"/>
                      </a:lnTo>
                      <a:lnTo>
                        <a:pt x="33" y="187"/>
                      </a:lnTo>
                      <a:lnTo>
                        <a:pt x="37" y="179"/>
                      </a:lnTo>
                      <a:lnTo>
                        <a:pt x="43" y="170"/>
                      </a:lnTo>
                      <a:lnTo>
                        <a:pt x="49" y="159"/>
                      </a:lnTo>
                      <a:lnTo>
                        <a:pt x="55" y="149"/>
                      </a:lnTo>
                      <a:lnTo>
                        <a:pt x="60" y="142"/>
                      </a:lnTo>
                      <a:lnTo>
                        <a:pt x="70" y="130"/>
                      </a:lnTo>
                      <a:lnTo>
                        <a:pt x="75" y="125"/>
                      </a:lnTo>
                      <a:lnTo>
                        <a:pt x="78" y="123"/>
                      </a:lnTo>
                      <a:lnTo>
                        <a:pt x="73" y="117"/>
                      </a:lnTo>
                      <a:lnTo>
                        <a:pt x="67" y="108"/>
                      </a:lnTo>
                      <a:lnTo>
                        <a:pt x="62" y="99"/>
                      </a:lnTo>
                      <a:lnTo>
                        <a:pt x="57" y="92"/>
                      </a:lnTo>
                      <a:lnTo>
                        <a:pt x="52" y="85"/>
                      </a:lnTo>
                      <a:lnTo>
                        <a:pt x="47" y="78"/>
                      </a:lnTo>
                      <a:lnTo>
                        <a:pt x="43" y="71"/>
                      </a:lnTo>
                      <a:lnTo>
                        <a:pt x="37" y="59"/>
                      </a:lnTo>
                      <a:lnTo>
                        <a:pt x="32" y="48"/>
                      </a:lnTo>
                      <a:lnTo>
                        <a:pt x="26" y="38"/>
                      </a:lnTo>
                      <a:lnTo>
                        <a:pt x="19" y="26"/>
                      </a:lnTo>
                      <a:lnTo>
                        <a:pt x="14" y="19"/>
                      </a:lnTo>
                      <a:lnTo>
                        <a:pt x="11" y="12"/>
                      </a:lnTo>
                      <a:lnTo>
                        <a:pt x="7" y="4"/>
                      </a:lnTo>
                      <a:lnTo>
                        <a:pt x="14" y="5"/>
                      </a:lnTo>
                      <a:lnTo>
                        <a:pt x="27" y="5"/>
                      </a:lnTo>
                      <a:lnTo>
                        <a:pt x="31" y="10"/>
                      </a:lnTo>
                      <a:lnTo>
                        <a:pt x="37" y="22"/>
                      </a:lnTo>
                      <a:lnTo>
                        <a:pt x="43" y="31"/>
                      </a:lnTo>
                    </a:path>
                  </a:pathLst>
                </a:custGeom>
                <a:solidFill>
                  <a:srgbClr val="037C03">
                    <a:alpha val="50195"/>
                  </a:srgbClr>
                </a:solidFill>
                <a:ln w="9525">
                  <a:noFill/>
                </a:ln>
              </p:spPr>
              <p:txBody>
                <a:bodyPr/>
                <a:lstStyle/>
                <a:p>
                  <a:endParaRPr lang="zh-CN" altLang="en-US"/>
                </a:p>
              </p:txBody>
            </p:sp>
            <p:grpSp>
              <p:nvGrpSpPr>
                <p:cNvPr id="89285" name="Group 46"/>
                <p:cNvGrpSpPr/>
                <p:nvPr/>
              </p:nvGrpSpPr>
              <p:grpSpPr>
                <a:xfrm>
                  <a:off x="1985" y="1419"/>
                  <a:ext cx="465" cy="349"/>
                  <a:chOff x="1985" y="1419"/>
                  <a:chExt cx="465" cy="349"/>
                </a:xfrm>
              </p:grpSpPr>
              <p:sp>
                <p:nvSpPr>
                  <p:cNvPr id="89286" name="Freeform 47"/>
                  <p:cNvSpPr/>
                  <p:nvPr/>
                </p:nvSpPr>
                <p:spPr>
                  <a:xfrm>
                    <a:off x="2030" y="1419"/>
                    <a:ext cx="420" cy="326"/>
                  </a:xfrm>
                  <a:custGeom>
                    <a:avLst/>
                    <a:gdLst>
                      <a:gd name="txL" fmla="*/ 0 w 420"/>
                      <a:gd name="txT" fmla="*/ 0 h 326"/>
                      <a:gd name="txR" fmla="*/ 420 w 420"/>
                      <a:gd name="txB" fmla="*/ 326 h 326"/>
                    </a:gdLst>
                    <a:ahLst/>
                    <a:cxnLst>
                      <a:cxn ang="0">
                        <a:pos x="159" y="41"/>
                      </a:cxn>
                      <a:cxn ang="0">
                        <a:pos x="193" y="13"/>
                      </a:cxn>
                      <a:cxn ang="0">
                        <a:pos x="233" y="2"/>
                      </a:cxn>
                      <a:cxn ang="0">
                        <a:pos x="279" y="2"/>
                      </a:cxn>
                      <a:cxn ang="0">
                        <a:pos x="290" y="6"/>
                      </a:cxn>
                      <a:cxn ang="0">
                        <a:pos x="260" y="14"/>
                      </a:cxn>
                      <a:cxn ang="0">
                        <a:pos x="225" y="25"/>
                      </a:cxn>
                      <a:cxn ang="0">
                        <a:pos x="186" y="52"/>
                      </a:cxn>
                      <a:cxn ang="0">
                        <a:pos x="183" y="89"/>
                      </a:cxn>
                      <a:cxn ang="0">
                        <a:pos x="240" y="66"/>
                      </a:cxn>
                      <a:cxn ang="0">
                        <a:pos x="288" y="64"/>
                      </a:cxn>
                      <a:cxn ang="0">
                        <a:pos x="338" y="69"/>
                      </a:cxn>
                      <a:cxn ang="0">
                        <a:pos x="397" y="75"/>
                      </a:cxn>
                      <a:cxn ang="0">
                        <a:pos x="398" y="76"/>
                      </a:cxn>
                      <a:cxn ang="0">
                        <a:pos x="341" y="79"/>
                      </a:cxn>
                      <a:cxn ang="0">
                        <a:pos x="288" y="80"/>
                      </a:cxn>
                      <a:cxn ang="0">
                        <a:pos x="242" y="86"/>
                      </a:cxn>
                      <a:cxn ang="0">
                        <a:pos x="191" y="98"/>
                      </a:cxn>
                      <a:cxn ang="0">
                        <a:pos x="212" y="118"/>
                      </a:cxn>
                      <a:cxn ang="0">
                        <a:pos x="227" y="136"/>
                      </a:cxn>
                      <a:cxn ang="0">
                        <a:pos x="175" y="119"/>
                      </a:cxn>
                      <a:cxn ang="0">
                        <a:pos x="165" y="129"/>
                      </a:cxn>
                      <a:cxn ang="0">
                        <a:pos x="221" y="138"/>
                      </a:cxn>
                      <a:cxn ang="0">
                        <a:pos x="269" y="150"/>
                      </a:cxn>
                      <a:cxn ang="0">
                        <a:pos x="306" y="181"/>
                      </a:cxn>
                      <a:cxn ang="0">
                        <a:pos x="335" y="223"/>
                      </a:cxn>
                      <a:cxn ang="0">
                        <a:pos x="329" y="231"/>
                      </a:cxn>
                      <a:cxn ang="0">
                        <a:pos x="290" y="204"/>
                      </a:cxn>
                      <a:cxn ang="0">
                        <a:pos x="248" y="174"/>
                      </a:cxn>
                      <a:cxn ang="0">
                        <a:pos x="202" y="154"/>
                      </a:cxn>
                      <a:cxn ang="0">
                        <a:pos x="173" y="148"/>
                      </a:cxn>
                      <a:cxn ang="0">
                        <a:pos x="196" y="181"/>
                      </a:cxn>
                      <a:cxn ang="0">
                        <a:pos x="227" y="223"/>
                      </a:cxn>
                      <a:cxn ang="0">
                        <a:pos x="244" y="262"/>
                      </a:cxn>
                      <a:cxn ang="0">
                        <a:pos x="243" y="299"/>
                      </a:cxn>
                      <a:cxn ang="0">
                        <a:pos x="222" y="259"/>
                      </a:cxn>
                      <a:cxn ang="0">
                        <a:pos x="199" y="215"/>
                      </a:cxn>
                      <a:cxn ang="0">
                        <a:pos x="173" y="177"/>
                      </a:cxn>
                      <a:cxn ang="0">
                        <a:pos x="150" y="142"/>
                      </a:cxn>
                      <a:cxn ang="0">
                        <a:pos x="109" y="162"/>
                      </a:cxn>
                      <a:cxn ang="0">
                        <a:pos x="77" y="210"/>
                      </a:cxn>
                      <a:cxn ang="0">
                        <a:pos x="49" y="260"/>
                      </a:cxn>
                      <a:cxn ang="0">
                        <a:pos x="18" y="306"/>
                      </a:cxn>
                      <a:cxn ang="0">
                        <a:pos x="8" y="301"/>
                      </a:cxn>
                      <a:cxn ang="0">
                        <a:pos x="45" y="243"/>
                      </a:cxn>
                      <a:cxn ang="0">
                        <a:pos x="78" y="198"/>
                      </a:cxn>
                      <a:cxn ang="0">
                        <a:pos x="107" y="154"/>
                      </a:cxn>
                      <a:cxn ang="0">
                        <a:pos x="132" y="120"/>
                      </a:cxn>
                      <a:cxn ang="0">
                        <a:pos x="95" y="79"/>
                      </a:cxn>
                      <a:cxn ang="0">
                        <a:pos x="42" y="57"/>
                      </a:cxn>
                      <a:cxn ang="0">
                        <a:pos x="19" y="45"/>
                      </a:cxn>
                      <a:cxn ang="0">
                        <a:pos x="60" y="58"/>
                      </a:cxn>
                      <a:cxn ang="0">
                        <a:pos x="116" y="86"/>
                      </a:cxn>
                    </a:cxnLst>
                    <a:rect l="txL" t="txT" r="txR" b="txB"/>
                    <a:pathLst>
                      <a:path w="420" h="326">
                        <a:moveTo>
                          <a:pt x="132" y="83"/>
                        </a:moveTo>
                        <a:lnTo>
                          <a:pt x="135" y="74"/>
                        </a:lnTo>
                        <a:lnTo>
                          <a:pt x="140" y="65"/>
                        </a:lnTo>
                        <a:lnTo>
                          <a:pt x="146" y="57"/>
                        </a:lnTo>
                        <a:lnTo>
                          <a:pt x="152" y="48"/>
                        </a:lnTo>
                        <a:lnTo>
                          <a:pt x="159" y="41"/>
                        </a:lnTo>
                        <a:lnTo>
                          <a:pt x="164" y="34"/>
                        </a:lnTo>
                        <a:lnTo>
                          <a:pt x="170" y="29"/>
                        </a:lnTo>
                        <a:lnTo>
                          <a:pt x="176" y="25"/>
                        </a:lnTo>
                        <a:lnTo>
                          <a:pt x="181" y="20"/>
                        </a:lnTo>
                        <a:lnTo>
                          <a:pt x="187" y="17"/>
                        </a:lnTo>
                        <a:lnTo>
                          <a:pt x="193" y="13"/>
                        </a:lnTo>
                        <a:lnTo>
                          <a:pt x="199" y="10"/>
                        </a:lnTo>
                        <a:lnTo>
                          <a:pt x="204" y="8"/>
                        </a:lnTo>
                        <a:lnTo>
                          <a:pt x="212" y="6"/>
                        </a:lnTo>
                        <a:lnTo>
                          <a:pt x="220" y="5"/>
                        </a:lnTo>
                        <a:lnTo>
                          <a:pt x="226" y="3"/>
                        </a:lnTo>
                        <a:lnTo>
                          <a:pt x="233" y="2"/>
                        </a:lnTo>
                        <a:lnTo>
                          <a:pt x="241" y="2"/>
                        </a:lnTo>
                        <a:lnTo>
                          <a:pt x="248" y="1"/>
                        </a:lnTo>
                        <a:lnTo>
                          <a:pt x="258" y="1"/>
                        </a:lnTo>
                        <a:lnTo>
                          <a:pt x="265" y="1"/>
                        </a:lnTo>
                        <a:lnTo>
                          <a:pt x="272" y="2"/>
                        </a:lnTo>
                        <a:lnTo>
                          <a:pt x="279" y="2"/>
                        </a:lnTo>
                        <a:lnTo>
                          <a:pt x="285" y="1"/>
                        </a:lnTo>
                        <a:lnTo>
                          <a:pt x="293" y="1"/>
                        </a:lnTo>
                        <a:lnTo>
                          <a:pt x="300" y="0"/>
                        </a:lnTo>
                        <a:lnTo>
                          <a:pt x="296" y="2"/>
                        </a:lnTo>
                        <a:lnTo>
                          <a:pt x="293" y="3"/>
                        </a:lnTo>
                        <a:lnTo>
                          <a:pt x="290" y="6"/>
                        </a:lnTo>
                        <a:lnTo>
                          <a:pt x="287" y="10"/>
                        </a:lnTo>
                        <a:lnTo>
                          <a:pt x="281" y="10"/>
                        </a:lnTo>
                        <a:lnTo>
                          <a:pt x="275" y="10"/>
                        </a:lnTo>
                        <a:lnTo>
                          <a:pt x="270" y="11"/>
                        </a:lnTo>
                        <a:lnTo>
                          <a:pt x="265" y="12"/>
                        </a:lnTo>
                        <a:lnTo>
                          <a:pt x="260" y="14"/>
                        </a:lnTo>
                        <a:lnTo>
                          <a:pt x="254" y="15"/>
                        </a:lnTo>
                        <a:lnTo>
                          <a:pt x="248" y="17"/>
                        </a:lnTo>
                        <a:lnTo>
                          <a:pt x="242" y="19"/>
                        </a:lnTo>
                        <a:lnTo>
                          <a:pt x="236" y="20"/>
                        </a:lnTo>
                        <a:lnTo>
                          <a:pt x="231" y="22"/>
                        </a:lnTo>
                        <a:lnTo>
                          <a:pt x="225" y="25"/>
                        </a:lnTo>
                        <a:lnTo>
                          <a:pt x="218" y="28"/>
                        </a:lnTo>
                        <a:lnTo>
                          <a:pt x="212" y="31"/>
                        </a:lnTo>
                        <a:lnTo>
                          <a:pt x="205" y="35"/>
                        </a:lnTo>
                        <a:lnTo>
                          <a:pt x="199" y="39"/>
                        </a:lnTo>
                        <a:lnTo>
                          <a:pt x="192" y="45"/>
                        </a:lnTo>
                        <a:lnTo>
                          <a:pt x="186" y="52"/>
                        </a:lnTo>
                        <a:lnTo>
                          <a:pt x="180" y="61"/>
                        </a:lnTo>
                        <a:lnTo>
                          <a:pt x="173" y="73"/>
                        </a:lnTo>
                        <a:lnTo>
                          <a:pt x="167" y="86"/>
                        </a:lnTo>
                        <a:lnTo>
                          <a:pt x="159" y="101"/>
                        </a:lnTo>
                        <a:lnTo>
                          <a:pt x="172" y="95"/>
                        </a:lnTo>
                        <a:lnTo>
                          <a:pt x="183" y="89"/>
                        </a:lnTo>
                        <a:lnTo>
                          <a:pt x="197" y="82"/>
                        </a:lnTo>
                        <a:lnTo>
                          <a:pt x="212" y="75"/>
                        </a:lnTo>
                        <a:lnTo>
                          <a:pt x="218" y="73"/>
                        </a:lnTo>
                        <a:lnTo>
                          <a:pt x="225" y="70"/>
                        </a:lnTo>
                        <a:lnTo>
                          <a:pt x="232" y="69"/>
                        </a:lnTo>
                        <a:lnTo>
                          <a:pt x="240" y="66"/>
                        </a:lnTo>
                        <a:lnTo>
                          <a:pt x="249" y="65"/>
                        </a:lnTo>
                        <a:lnTo>
                          <a:pt x="256" y="64"/>
                        </a:lnTo>
                        <a:lnTo>
                          <a:pt x="263" y="64"/>
                        </a:lnTo>
                        <a:lnTo>
                          <a:pt x="272" y="63"/>
                        </a:lnTo>
                        <a:lnTo>
                          <a:pt x="281" y="64"/>
                        </a:lnTo>
                        <a:lnTo>
                          <a:pt x="288" y="64"/>
                        </a:lnTo>
                        <a:lnTo>
                          <a:pt x="297" y="65"/>
                        </a:lnTo>
                        <a:lnTo>
                          <a:pt x="305" y="65"/>
                        </a:lnTo>
                        <a:lnTo>
                          <a:pt x="313" y="66"/>
                        </a:lnTo>
                        <a:lnTo>
                          <a:pt x="321" y="67"/>
                        </a:lnTo>
                        <a:lnTo>
                          <a:pt x="329" y="68"/>
                        </a:lnTo>
                        <a:lnTo>
                          <a:pt x="338" y="69"/>
                        </a:lnTo>
                        <a:lnTo>
                          <a:pt x="346" y="69"/>
                        </a:lnTo>
                        <a:lnTo>
                          <a:pt x="354" y="70"/>
                        </a:lnTo>
                        <a:lnTo>
                          <a:pt x="364" y="71"/>
                        </a:lnTo>
                        <a:lnTo>
                          <a:pt x="374" y="72"/>
                        </a:lnTo>
                        <a:lnTo>
                          <a:pt x="383" y="74"/>
                        </a:lnTo>
                        <a:lnTo>
                          <a:pt x="397" y="75"/>
                        </a:lnTo>
                        <a:lnTo>
                          <a:pt x="402" y="75"/>
                        </a:lnTo>
                        <a:lnTo>
                          <a:pt x="406" y="75"/>
                        </a:lnTo>
                        <a:lnTo>
                          <a:pt x="411" y="77"/>
                        </a:lnTo>
                        <a:lnTo>
                          <a:pt x="419" y="80"/>
                        </a:lnTo>
                        <a:lnTo>
                          <a:pt x="404" y="77"/>
                        </a:lnTo>
                        <a:lnTo>
                          <a:pt x="398" y="76"/>
                        </a:lnTo>
                        <a:lnTo>
                          <a:pt x="392" y="76"/>
                        </a:lnTo>
                        <a:lnTo>
                          <a:pt x="379" y="77"/>
                        </a:lnTo>
                        <a:lnTo>
                          <a:pt x="370" y="78"/>
                        </a:lnTo>
                        <a:lnTo>
                          <a:pt x="360" y="78"/>
                        </a:lnTo>
                        <a:lnTo>
                          <a:pt x="350" y="78"/>
                        </a:lnTo>
                        <a:lnTo>
                          <a:pt x="341" y="79"/>
                        </a:lnTo>
                        <a:lnTo>
                          <a:pt x="332" y="79"/>
                        </a:lnTo>
                        <a:lnTo>
                          <a:pt x="325" y="78"/>
                        </a:lnTo>
                        <a:lnTo>
                          <a:pt x="315" y="78"/>
                        </a:lnTo>
                        <a:lnTo>
                          <a:pt x="305" y="78"/>
                        </a:lnTo>
                        <a:lnTo>
                          <a:pt x="296" y="79"/>
                        </a:lnTo>
                        <a:lnTo>
                          <a:pt x="288" y="80"/>
                        </a:lnTo>
                        <a:lnTo>
                          <a:pt x="279" y="80"/>
                        </a:lnTo>
                        <a:lnTo>
                          <a:pt x="272" y="80"/>
                        </a:lnTo>
                        <a:lnTo>
                          <a:pt x="264" y="81"/>
                        </a:lnTo>
                        <a:lnTo>
                          <a:pt x="256" y="83"/>
                        </a:lnTo>
                        <a:lnTo>
                          <a:pt x="249" y="84"/>
                        </a:lnTo>
                        <a:lnTo>
                          <a:pt x="242" y="86"/>
                        </a:lnTo>
                        <a:lnTo>
                          <a:pt x="235" y="87"/>
                        </a:lnTo>
                        <a:lnTo>
                          <a:pt x="227" y="89"/>
                        </a:lnTo>
                        <a:lnTo>
                          <a:pt x="219" y="92"/>
                        </a:lnTo>
                        <a:lnTo>
                          <a:pt x="212" y="93"/>
                        </a:lnTo>
                        <a:lnTo>
                          <a:pt x="199" y="97"/>
                        </a:lnTo>
                        <a:lnTo>
                          <a:pt x="191" y="98"/>
                        </a:lnTo>
                        <a:lnTo>
                          <a:pt x="180" y="104"/>
                        </a:lnTo>
                        <a:lnTo>
                          <a:pt x="164" y="109"/>
                        </a:lnTo>
                        <a:lnTo>
                          <a:pt x="180" y="111"/>
                        </a:lnTo>
                        <a:lnTo>
                          <a:pt x="199" y="112"/>
                        </a:lnTo>
                        <a:lnTo>
                          <a:pt x="203" y="113"/>
                        </a:lnTo>
                        <a:lnTo>
                          <a:pt x="212" y="118"/>
                        </a:lnTo>
                        <a:lnTo>
                          <a:pt x="217" y="120"/>
                        </a:lnTo>
                        <a:lnTo>
                          <a:pt x="223" y="123"/>
                        </a:lnTo>
                        <a:lnTo>
                          <a:pt x="224" y="125"/>
                        </a:lnTo>
                        <a:lnTo>
                          <a:pt x="227" y="130"/>
                        </a:lnTo>
                        <a:lnTo>
                          <a:pt x="233" y="140"/>
                        </a:lnTo>
                        <a:lnTo>
                          <a:pt x="227" y="136"/>
                        </a:lnTo>
                        <a:lnTo>
                          <a:pt x="219" y="131"/>
                        </a:lnTo>
                        <a:lnTo>
                          <a:pt x="212" y="129"/>
                        </a:lnTo>
                        <a:lnTo>
                          <a:pt x="199" y="125"/>
                        </a:lnTo>
                        <a:lnTo>
                          <a:pt x="190" y="123"/>
                        </a:lnTo>
                        <a:lnTo>
                          <a:pt x="180" y="120"/>
                        </a:lnTo>
                        <a:lnTo>
                          <a:pt x="175" y="119"/>
                        </a:lnTo>
                        <a:lnTo>
                          <a:pt x="165" y="120"/>
                        </a:lnTo>
                        <a:lnTo>
                          <a:pt x="158" y="122"/>
                        </a:lnTo>
                        <a:lnTo>
                          <a:pt x="148" y="123"/>
                        </a:lnTo>
                        <a:lnTo>
                          <a:pt x="153" y="125"/>
                        </a:lnTo>
                        <a:lnTo>
                          <a:pt x="158" y="127"/>
                        </a:lnTo>
                        <a:lnTo>
                          <a:pt x="165" y="129"/>
                        </a:lnTo>
                        <a:lnTo>
                          <a:pt x="173" y="129"/>
                        </a:lnTo>
                        <a:lnTo>
                          <a:pt x="186" y="129"/>
                        </a:lnTo>
                        <a:lnTo>
                          <a:pt x="194" y="131"/>
                        </a:lnTo>
                        <a:lnTo>
                          <a:pt x="204" y="133"/>
                        </a:lnTo>
                        <a:lnTo>
                          <a:pt x="212" y="136"/>
                        </a:lnTo>
                        <a:lnTo>
                          <a:pt x="221" y="138"/>
                        </a:lnTo>
                        <a:lnTo>
                          <a:pt x="231" y="141"/>
                        </a:lnTo>
                        <a:lnTo>
                          <a:pt x="240" y="143"/>
                        </a:lnTo>
                        <a:lnTo>
                          <a:pt x="248" y="145"/>
                        </a:lnTo>
                        <a:lnTo>
                          <a:pt x="254" y="146"/>
                        </a:lnTo>
                        <a:lnTo>
                          <a:pt x="261" y="148"/>
                        </a:lnTo>
                        <a:lnTo>
                          <a:pt x="269" y="150"/>
                        </a:lnTo>
                        <a:lnTo>
                          <a:pt x="277" y="154"/>
                        </a:lnTo>
                        <a:lnTo>
                          <a:pt x="285" y="158"/>
                        </a:lnTo>
                        <a:lnTo>
                          <a:pt x="289" y="160"/>
                        </a:lnTo>
                        <a:lnTo>
                          <a:pt x="295" y="167"/>
                        </a:lnTo>
                        <a:lnTo>
                          <a:pt x="302" y="174"/>
                        </a:lnTo>
                        <a:lnTo>
                          <a:pt x="306" y="181"/>
                        </a:lnTo>
                        <a:lnTo>
                          <a:pt x="311" y="188"/>
                        </a:lnTo>
                        <a:lnTo>
                          <a:pt x="316" y="195"/>
                        </a:lnTo>
                        <a:lnTo>
                          <a:pt x="320" y="202"/>
                        </a:lnTo>
                        <a:lnTo>
                          <a:pt x="325" y="208"/>
                        </a:lnTo>
                        <a:lnTo>
                          <a:pt x="329" y="215"/>
                        </a:lnTo>
                        <a:lnTo>
                          <a:pt x="335" y="223"/>
                        </a:lnTo>
                        <a:lnTo>
                          <a:pt x="339" y="232"/>
                        </a:lnTo>
                        <a:lnTo>
                          <a:pt x="345" y="238"/>
                        </a:lnTo>
                        <a:lnTo>
                          <a:pt x="351" y="246"/>
                        </a:lnTo>
                        <a:lnTo>
                          <a:pt x="343" y="240"/>
                        </a:lnTo>
                        <a:lnTo>
                          <a:pt x="337" y="236"/>
                        </a:lnTo>
                        <a:lnTo>
                          <a:pt x="329" y="231"/>
                        </a:lnTo>
                        <a:lnTo>
                          <a:pt x="321" y="225"/>
                        </a:lnTo>
                        <a:lnTo>
                          <a:pt x="315" y="220"/>
                        </a:lnTo>
                        <a:lnTo>
                          <a:pt x="309" y="215"/>
                        </a:lnTo>
                        <a:lnTo>
                          <a:pt x="303" y="212"/>
                        </a:lnTo>
                        <a:lnTo>
                          <a:pt x="297" y="208"/>
                        </a:lnTo>
                        <a:lnTo>
                          <a:pt x="290" y="204"/>
                        </a:lnTo>
                        <a:lnTo>
                          <a:pt x="284" y="200"/>
                        </a:lnTo>
                        <a:lnTo>
                          <a:pt x="278" y="196"/>
                        </a:lnTo>
                        <a:lnTo>
                          <a:pt x="271" y="191"/>
                        </a:lnTo>
                        <a:lnTo>
                          <a:pt x="263" y="186"/>
                        </a:lnTo>
                        <a:lnTo>
                          <a:pt x="255" y="179"/>
                        </a:lnTo>
                        <a:lnTo>
                          <a:pt x="248" y="174"/>
                        </a:lnTo>
                        <a:lnTo>
                          <a:pt x="241" y="170"/>
                        </a:lnTo>
                        <a:lnTo>
                          <a:pt x="234" y="166"/>
                        </a:lnTo>
                        <a:lnTo>
                          <a:pt x="226" y="162"/>
                        </a:lnTo>
                        <a:lnTo>
                          <a:pt x="219" y="159"/>
                        </a:lnTo>
                        <a:lnTo>
                          <a:pt x="212" y="157"/>
                        </a:lnTo>
                        <a:lnTo>
                          <a:pt x="202" y="154"/>
                        </a:lnTo>
                        <a:lnTo>
                          <a:pt x="192" y="151"/>
                        </a:lnTo>
                        <a:lnTo>
                          <a:pt x="185" y="150"/>
                        </a:lnTo>
                        <a:lnTo>
                          <a:pt x="178" y="147"/>
                        </a:lnTo>
                        <a:lnTo>
                          <a:pt x="167" y="142"/>
                        </a:lnTo>
                        <a:lnTo>
                          <a:pt x="156" y="137"/>
                        </a:lnTo>
                        <a:lnTo>
                          <a:pt x="173" y="148"/>
                        </a:lnTo>
                        <a:lnTo>
                          <a:pt x="174" y="150"/>
                        </a:lnTo>
                        <a:lnTo>
                          <a:pt x="178" y="155"/>
                        </a:lnTo>
                        <a:lnTo>
                          <a:pt x="182" y="160"/>
                        </a:lnTo>
                        <a:lnTo>
                          <a:pt x="187" y="167"/>
                        </a:lnTo>
                        <a:lnTo>
                          <a:pt x="192" y="173"/>
                        </a:lnTo>
                        <a:lnTo>
                          <a:pt x="196" y="181"/>
                        </a:lnTo>
                        <a:lnTo>
                          <a:pt x="202" y="188"/>
                        </a:lnTo>
                        <a:lnTo>
                          <a:pt x="207" y="194"/>
                        </a:lnTo>
                        <a:lnTo>
                          <a:pt x="212" y="200"/>
                        </a:lnTo>
                        <a:lnTo>
                          <a:pt x="216" y="207"/>
                        </a:lnTo>
                        <a:lnTo>
                          <a:pt x="223" y="216"/>
                        </a:lnTo>
                        <a:lnTo>
                          <a:pt x="227" y="223"/>
                        </a:lnTo>
                        <a:lnTo>
                          <a:pt x="231" y="229"/>
                        </a:lnTo>
                        <a:lnTo>
                          <a:pt x="235" y="236"/>
                        </a:lnTo>
                        <a:lnTo>
                          <a:pt x="238" y="243"/>
                        </a:lnTo>
                        <a:lnTo>
                          <a:pt x="241" y="250"/>
                        </a:lnTo>
                        <a:lnTo>
                          <a:pt x="243" y="255"/>
                        </a:lnTo>
                        <a:lnTo>
                          <a:pt x="244" y="262"/>
                        </a:lnTo>
                        <a:lnTo>
                          <a:pt x="245" y="272"/>
                        </a:lnTo>
                        <a:lnTo>
                          <a:pt x="246" y="281"/>
                        </a:lnTo>
                        <a:lnTo>
                          <a:pt x="247" y="290"/>
                        </a:lnTo>
                        <a:lnTo>
                          <a:pt x="249" y="299"/>
                        </a:lnTo>
                        <a:lnTo>
                          <a:pt x="250" y="308"/>
                        </a:lnTo>
                        <a:lnTo>
                          <a:pt x="243" y="299"/>
                        </a:lnTo>
                        <a:lnTo>
                          <a:pt x="238" y="292"/>
                        </a:lnTo>
                        <a:lnTo>
                          <a:pt x="233" y="286"/>
                        </a:lnTo>
                        <a:lnTo>
                          <a:pt x="231" y="281"/>
                        </a:lnTo>
                        <a:lnTo>
                          <a:pt x="227" y="274"/>
                        </a:lnTo>
                        <a:lnTo>
                          <a:pt x="225" y="267"/>
                        </a:lnTo>
                        <a:lnTo>
                          <a:pt x="222" y="259"/>
                        </a:lnTo>
                        <a:lnTo>
                          <a:pt x="218" y="251"/>
                        </a:lnTo>
                        <a:lnTo>
                          <a:pt x="214" y="242"/>
                        </a:lnTo>
                        <a:lnTo>
                          <a:pt x="211" y="235"/>
                        </a:lnTo>
                        <a:lnTo>
                          <a:pt x="207" y="227"/>
                        </a:lnTo>
                        <a:lnTo>
                          <a:pt x="202" y="220"/>
                        </a:lnTo>
                        <a:lnTo>
                          <a:pt x="199" y="215"/>
                        </a:lnTo>
                        <a:lnTo>
                          <a:pt x="193" y="208"/>
                        </a:lnTo>
                        <a:lnTo>
                          <a:pt x="187" y="201"/>
                        </a:lnTo>
                        <a:lnTo>
                          <a:pt x="182" y="196"/>
                        </a:lnTo>
                        <a:lnTo>
                          <a:pt x="177" y="190"/>
                        </a:lnTo>
                        <a:lnTo>
                          <a:pt x="176" y="184"/>
                        </a:lnTo>
                        <a:lnTo>
                          <a:pt x="173" y="177"/>
                        </a:lnTo>
                        <a:lnTo>
                          <a:pt x="169" y="170"/>
                        </a:lnTo>
                        <a:lnTo>
                          <a:pt x="166" y="163"/>
                        </a:lnTo>
                        <a:lnTo>
                          <a:pt x="164" y="161"/>
                        </a:lnTo>
                        <a:lnTo>
                          <a:pt x="158" y="154"/>
                        </a:lnTo>
                        <a:lnTo>
                          <a:pt x="154" y="148"/>
                        </a:lnTo>
                        <a:lnTo>
                          <a:pt x="150" y="142"/>
                        </a:lnTo>
                        <a:lnTo>
                          <a:pt x="145" y="136"/>
                        </a:lnTo>
                        <a:lnTo>
                          <a:pt x="138" y="140"/>
                        </a:lnTo>
                        <a:lnTo>
                          <a:pt x="131" y="144"/>
                        </a:lnTo>
                        <a:lnTo>
                          <a:pt x="123" y="151"/>
                        </a:lnTo>
                        <a:lnTo>
                          <a:pt x="115" y="156"/>
                        </a:lnTo>
                        <a:lnTo>
                          <a:pt x="109" y="162"/>
                        </a:lnTo>
                        <a:lnTo>
                          <a:pt x="105" y="168"/>
                        </a:lnTo>
                        <a:lnTo>
                          <a:pt x="99" y="176"/>
                        </a:lnTo>
                        <a:lnTo>
                          <a:pt x="93" y="186"/>
                        </a:lnTo>
                        <a:lnTo>
                          <a:pt x="87" y="193"/>
                        </a:lnTo>
                        <a:lnTo>
                          <a:pt x="81" y="202"/>
                        </a:lnTo>
                        <a:lnTo>
                          <a:pt x="77" y="210"/>
                        </a:lnTo>
                        <a:lnTo>
                          <a:pt x="72" y="218"/>
                        </a:lnTo>
                        <a:lnTo>
                          <a:pt x="67" y="226"/>
                        </a:lnTo>
                        <a:lnTo>
                          <a:pt x="64" y="233"/>
                        </a:lnTo>
                        <a:lnTo>
                          <a:pt x="59" y="242"/>
                        </a:lnTo>
                        <a:lnTo>
                          <a:pt x="55" y="250"/>
                        </a:lnTo>
                        <a:lnTo>
                          <a:pt x="49" y="260"/>
                        </a:lnTo>
                        <a:lnTo>
                          <a:pt x="43" y="269"/>
                        </a:lnTo>
                        <a:lnTo>
                          <a:pt x="37" y="280"/>
                        </a:lnTo>
                        <a:lnTo>
                          <a:pt x="31" y="289"/>
                        </a:lnTo>
                        <a:lnTo>
                          <a:pt x="27" y="294"/>
                        </a:lnTo>
                        <a:lnTo>
                          <a:pt x="22" y="300"/>
                        </a:lnTo>
                        <a:lnTo>
                          <a:pt x="18" y="306"/>
                        </a:lnTo>
                        <a:lnTo>
                          <a:pt x="12" y="312"/>
                        </a:lnTo>
                        <a:lnTo>
                          <a:pt x="7" y="317"/>
                        </a:lnTo>
                        <a:lnTo>
                          <a:pt x="0" y="325"/>
                        </a:lnTo>
                        <a:lnTo>
                          <a:pt x="2" y="316"/>
                        </a:lnTo>
                        <a:lnTo>
                          <a:pt x="4" y="309"/>
                        </a:lnTo>
                        <a:lnTo>
                          <a:pt x="8" y="301"/>
                        </a:lnTo>
                        <a:lnTo>
                          <a:pt x="12" y="294"/>
                        </a:lnTo>
                        <a:lnTo>
                          <a:pt x="19" y="284"/>
                        </a:lnTo>
                        <a:lnTo>
                          <a:pt x="26" y="274"/>
                        </a:lnTo>
                        <a:lnTo>
                          <a:pt x="33" y="262"/>
                        </a:lnTo>
                        <a:lnTo>
                          <a:pt x="39" y="253"/>
                        </a:lnTo>
                        <a:lnTo>
                          <a:pt x="45" y="243"/>
                        </a:lnTo>
                        <a:lnTo>
                          <a:pt x="51" y="235"/>
                        </a:lnTo>
                        <a:lnTo>
                          <a:pt x="56" y="227"/>
                        </a:lnTo>
                        <a:lnTo>
                          <a:pt x="61" y="220"/>
                        </a:lnTo>
                        <a:lnTo>
                          <a:pt x="66" y="214"/>
                        </a:lnTo>
                        <a:lnTo>
                          <a:pt x="72" y="206"/>
                        </a:lnTo>
                        <a:lnTo>
                          <a:pt x="78" y="198"/>
                        </a:lnTo>
                        <a:lnTo>
                          <a:pt x="84" y="190"/>
                        </a:lnTo>
                        <a:lnTo>
                          <a:pt x="90" y="181"/>
                        </a:lnTo>
                        <a:lnTo>
                          <a:pt x="95" y="174"/>
                        </a:lnTo>
                        <a:lnTo>
                          <a:pt x="101" y="166"/>
                        </a:lnTo>
                        <a:lnTo>
                          <a:pt x="104" y="160"/>
                        </a:lnTo>
                        <a:lnTo>
                          <a:pt x="107" y="154"/>
                        </a:lnTo>
                        <a:lnTo>
                          <a:pt x="109" y="149"/>
                        </a:lnTo>
                        <a:lnTo>
                          <a:pt x="112" y="143"/>
                        </a:lnTo>
                        <a:lnTo>
                          <a:pt x="116" y="138"/>
                        </a:lnTo>
                        <a:lnTo>
                          <a:pt x="122" y="131"/>
                        </a:lnTo>
                        <a:lnTo>
                          <a:pt x="128" y="125"/>
                        </a:lnTo>
                        <a:lnTo>
                          <a:pt x="132" y="120"/>
                        </a:lnTo>
                        <a:lnTo>
                          <a:pt x="137" y="114"/>
                        </a:lnTo>
                        <a:lnTo>
                          <a:pt x="135" y="109"/>
                        </a:lnTo>
                        <a:lnTo>
                          <a:pt x="133" y="101"/>
                        </a:lnTo>
                        <a:lnTo>
                          <a:pt x="121" y="97"/>
                        </a:lnTo>
                        <a:lnTo>
                          <a:pt x="108" y="88"/>
                        </a:lnTo>
                        <a:lnTo>
                          <a:pt x="95" y="79"/>
                        </a:lnTo>
                        <a:lnTo>
                          <a:pt x="87" y="74"/>
                        </a:lnTo>
                        <a:lnTo>
                          <a:pt x="81" y="71"/>
                        </a:lnTo>
                        <a:lnTo>
                          <a:pt x="71" y="66"/>
                        </a:lnTo>
                        <a:lnTo>
                          <a:pt x="61" y="63"/>
                        </a:lnTo>
                        <a:lnTo>
                          <a:pt x="50" y="60"/>
                        </a:lnTo>
                        <a:lnTo>
                          <a:pt x="42" y="57"/>
                        </a:lnTo>
                        <a:lnTo>
                          <a:pt x="32" y="53"/>
                        </a:lnTo>
                        <a:lnTo>
                          <a:pt x="23" y="51"/>
                        </a:lnTo>
                        <a:lnTo>
                          <a:pt x="14" y="49"/>
                        </a:lnTo>
                        <a:lnTo>
                          <a:pt x="7" y="47"/>
                        </a:lnTo>
                        <a:lnTo>
                          <a:pt x="14" y="46"/>
                        </a:lnTo>
                        <a:lnTo>
                          <a:pt x="19" y="45"/>
                        </a:lnTo>
                        <a:lnTo>
                          <a:pt x="23" y="44"/>
                        </a:lnTo>
                        <a:lnTo>
                          <a:pt x="28" y="44"/>
                        </a:lnTo>
                        <a:lnTo>
                          <a:pt x="33" y="44"/>
                        </a:lnTo>
                        <a:lnTo>
                          <a:pt x="43" y="49"/>
                        </a:lnTo>
                        <a:lnTo>
                          <a:pt x="51" y="53"/>
                        </a:lnTo>
                        <a:lnTo>
                          <a:pt x="60" y="58"/>
                        </a:lnTo>
                        <a:lnTo>
                          <a:pt x="69" y="63"/>
                        </a:lnTo>
                        <a:lnTo>
                          <a:pt x="79" y="68"/>
                        </a:lnTo>
                        <a:lnTo>
                          <a:pt x="89" y="74"/>
                        </a:lnTo>
                        <a:lnTo>
                          <a:pt x="96" y="77"/>
                        </a:lnTo>
                        <a:lnTo>
                          <a:pt x="109" y="84"/>
                        </a:lnTo>
                        <a:lnTo>
                          <a:pt x="116" y="86"/>
                        </a:lnTo>
                        <a:lnTo>
                          <a:pt x="122" y="85"/>
                        </a:lnTo>
                        <a:lnTo>
                          <a:pt x="127" y="84"/>
                        </a:lnTo>
                        <a:lnTo>
                          <a:pt x="132" y="83"/>
                        </a:lnTo>
                      </a:path>
                    </a:pathLst>
                  </a:custGeom>
                  <a:solidFill>
                    <a:srgbClr val="037C03">
                      <a:alpha val="50195"/>
                    </a:srgbClr>
                  </a:solidFill>
                  <a:ln w="9525">
                    <a:noFill/>
                  </a:ln>
                </p:spPr>
                <p:txBody>
                  <a:bodyPr/>
                  <a:lstStyle/>
                  <a:p>
                    <a:endParaRPr lang="zh-CN" altLang="en-US"/>
                  </a:p>
                </p:txBody>
              </p:sp>
              <p:sp>
                <p:nvSpPr>
                  <p:cNvPr id="89287" name="Freeform 48"/>
                  <p:cNvSpPr/>
                  <p:nvPr/>
                </p:nvSpPr>
                <p:spPr>
                  <a:xfrm>
                    <a:off x="2175" y="1587"/>
                    <a:ext cx="38" cy="181"/>
                  </a:xfrm>
                  <a:custGeom>
                    <a:avLst/>
                    <a:gdLst>
                      <a:gd name="txL" fmla="*/ 0 w 38"/>
                      <a:gd name="txT" fmla="*/ 0 h 181"/>
                      <a:gd name="txR" fmla="*/ 38 w 38"/>
                      <a:gd name="txB" fmla="*/ 181 h 181"/>
                    </a:gdLst>
                    <a:ahLst/>
                    <a:cxnLst>
                      <a:cxn ang="0">
                        <a:pos x="20" y="0"/>
                      </a:cxn>
                      <a:cxn ang="0">
                        <a:pos x="24" y="8"/>
                      </a:cxn>
                      <a:cxn ang="0">
                        <a:pos x="27" y="14"/>
                      </a:cxn>
                      <a:cxn ang="0">
                        <a:pos x="33" y="22"/>
                      </a:cxn>
                      <a:cxn ang="0">
                        <a:pos x="35" y="30"/>
                      </a:cxn>
                      <a:cxn ang="0">
                        <a:pos x="36" y="41"/>
                      </a:cxn>
                      <a:cxn ang="0">
                        <a:pos x="36" y="53"/>
                      </a:cxn>
                      <a:cxn ang="0">
                        <a:pos x="37" y="61"/>
                      </a:cxn>
                      <a:cxn ang="0">
                        <a:pos x="36" y="70"/>
                      </a:cxn>
                      <a:cxn ang="0">
                        <a:pos x="35" y="81"/>
                      </a:cxn>
                      <a:cxn ang="0">
                        <a:pos x="33" y="91"/>
                      </a:cxn>
                      <a:cxn ang="0">
                        <a:pos x="30" y="106"/>
                      </a:cxn>
                      <a:cxn ang="0">
                        <a:pos x="28" y="114"/>
                      </a:cxn>
                      <a:cxn ang="0">
                        <a:pos x="23" y="124"/>
                      </a:cxn>
                      <a:cxn ang="0">
                        <a:pos x="17" y="135"/>
                      </a:cxn>
                      <a:cxn ang="0">
                        <a:pos x="12" y="145"/>
                      </a:cxn>
                      <a:cxn ang="0">
                        <a:pos x="7" y="155"/>
                      </a:cxn>
                      <a:cxn ang="0">
                        <a:pos x="3" y="163"/>
                      </a:cxn>
                      <a:cxn ang="0">
                        <a:pos x="0" y="180"/>
                      </a:cxn>
                      <a:cxn ang="0">
                        <a:pos x="1" y="163"/>
                      </a:cxn>
                      <a:cxn ang="0">
                        <a:pos x="3" y="152"/>
                      </a:cxn>
                      <a:cxn ang="0">
                        <a:pos x="4" y="141"/>
                      </a:cxn>
                      <a:cxn ang="0">
                        <a:pos x="5" y="130"/>
                      </a:cxn>
                      <a:cxn ang="0">
                        <a:pos x="7" y="116"/>
                      </a:cxn>
                      <a:cxn ang="0">
                        <a:pos x="9" y="106"/>
                      </a:cxn>
                      <a:cxn ang="0">
                        <a:pos x="12" y="96"/>
                      </a:cxn>
                      <a:cxn ang="0">
                        <a:pos x="15" y="87"/>
                      </a:cxn>
                      <a:cxn ang="0">
                        <a:pos x="17" y="77"/>
                      </a:cxn>
                      <a:cxn ang="0">
                        <a:pos x="20" y="67"/>
                      </a:cxn>
                      <a:cxn ang="0">
                        <a:pos x="21" y="57"/>
                      </a:cxn>
                      <a:cxn ang="0">
                        <a:pos x="22" y="49"/>
                      </a:cxn>
                      <a:cxn ang="0">
                        <a:pos x="23" y="39"/>
                      </a:cxn>
                      <a:cxn ang="0">
                        <a:pos x="23" y="28"/>
                      </a:cxn>
                      <a:cxn ang="0">
                        <a:pos x="23" y="14"/>
                      </a:cxn>
                      <a:cxn ang="0">
                        <a:pos x="22" y="8"/>
                      </a:cxn>
                      <a:cxn ang="0">
                        <a:pos x="20" y="0"/>
                      </a:cxn>
                    </a:cxnLst>
                    <a:rect l="txL" t="txT" r="txR" b="txB"/>
                    <a:pathLst>
                      <a:path w="38" h="181">
                        <a:moveTo>
                          <a:pt x="20" y="0"/>
                        </a:moveTo>
                        <a:lnTo>
                          <a:pt x="24" y="8"/>
                        </a:lnTo>
                        <a:lnTo>
                          <a:pt x="27" y="14"/>
                        </a:lnTo>
                        <a:lnTo>
                          <a:pt x="33" y="22"/>
                        </a:lnTo>
                        <a:lnTo>
                          <a:pt x="35" y="30"/>
                        </a:lnTo>
                        <a:lnTo>
                          <a:pt x="36" y="41"/>
                        </a:lnTo>
                        <a:lnTo>
                          <a:pt x="36" y="53"/>
                        </a:lnTo>
                        <a:lnTo>
                          <a:pt x="37" y="61"/>
                        </a:lnTo>
                        <a:lnTo>
                          <a:pt x="36" y="70"/>
                        </a:lnTo>
                        <a:lnTo>
                          <a:pt x="35" y="81"/>
                        </a:lnTo>
                        <a:lnTo>
                          <a:pt x="33" y="91"/>
                        </a:lnTo>
                        <a:lnTo>
                          <a:pt x="30" y="106"/>
                        </a:lnTo>
                        <a:lnTo>
                          <a:pt x="28" y="114"/>
                        </a:lnTo>
                        <a:lnTo>
                          <a:pt x="23" y="124"/>
                        </a:lnTo>
                        <a:lnTo>
                          <a:pt x="17" y="135"/>
                        </a:lnTo>
                        <a:lnTo>
                          <a:pt x="12" y="145"/>
                        </a:lnTo>
                        <a:lnTo>
                          <a:pt x="7" y="155"/>
                        </a:lnTo>
                        <a:lnTo>
                          <a:pt x="3" y="163"/>
                        </a:lnTo>
                        <a:lnTo>
                          <a:pt x="0" y="180"/>
                        </a:lnTo>
                        <a:lnTo>
                          <a:pt x="1" y="163"/>
                        </a:lnTo>
                        <a:lnTo>
                          <a:pt x="3" y="152"/>
                        </a:lnTo>
                        <a:lnTo>
                          <a:pt x="4" y="141"/>
                        </a:lnTo>
                        <a:lnTo>
                          <a:pt x="5" y="130"/>
                        </a:lnTo>
                        <a:lnTo>
                          <a:pt x="7" y="116"/>
                        </a:lnTo>
                        <a:lnTo>
                          <a:pt x="9" y="106"/>
                        </a:lnTo>
                        <a:lnTo>
                          <a:pt x="12" y="96"/>
                        </a:lnTo>
                        <a:lnTo>
                          <a:pt x="15" y="87"/>
                        </a:lnTo>
                        <a:lnTo>
                          <a:pt x="17" y="77"/>
                        </a:lnTo>
                        <a:lnTo>
                          <a:pt x="20" y="67"/>
                        </a:lnTo>
                        <a:lnTo>
                          <a:pt x="21" y="57"/>
                        </a:lnTo>
                        <a:lnTo>
                          <a:pt x="22" y="49"/>
                        </a:lnTo>
                        <a:lnTo>
                          <a:pt x="23" y="39"/>
                        </a:lnTo>
                        <a:lnTo>
                          <a:pt x="23" y="28"/>
                        </a:lnTo>
                        <a:lnTo>
                          <a:pt x="23" y="14"/>
                        </a:lnTo>
                        <a:lnTo>
                          <a:pt x="22" y="8"/>
                        </a:lnTo>
                        <a:lnTo>
                          <a:pt x="20" y="0"/>
                        </a:lnTo>
                      </a:path>
                    </a:pathLst>
                  </a:custGeom>
                  <a:solidFill>
                    <a:srgbClr val="037C03">
                      <a:alpha val="50195"/>
                    </a:srgbClr>
                  </a:solidFill>
                  <a:ln w="9525">
                    <a:noFill/>
                  </a:ln>
                </p:spPr>
                <p:txBody>
                  <a:bodyPr/>
                  <a:lstStyle/>
                  <a:p>
                    <a:endParaRPr lang="zh-CN" altLang="en-US"/>
                  </a:p>
                </p:txBody>
              </p:sp>
              <p:sp>
                <p:nvSpPr>
                  <p:cNvPr id="89288" name="Freeform 49"/>
                  <p:cNvSpPr/>
                  <p:nvPr/>
                </p:nvSpPr>
                <p:spPr>
                  <a:xfrm>
                    <a:off x="1991" y="1486"/>
                    <a:ext cx="168" cy="48"/>
                  </a:xfrm>
                  <a:custGeom>
                    <a:avLst/>
                    <a:gdLst>
                      <a:gd name="txL" fmla="*/ 0 w 168"/>
                      <a:gd name="txT" fmla="*/ 0 h 48"/>
                      <a:gd name="txR" fmla="*/ 168 w 168"/>
                      <a:gd name="txB" fmla="*/ 48 h 48"/>
                    </a:gdLst>
                    <a:ahLst/>
                    <a:cxnLst>
                      <a:cxn ang="0">
                        <a:pos x="167" y="47"/>
                      </a:cxn>
                      <a:cxn ang="0">
                        <a:pos x="164" y="38"/>
                      </a:cxn>
                      <a:cxn ang="0">
                        <a:pos x="160" y="31"/>
                      </a:cxn>
                      <a:cxn ang="0">
                        <a:pos x="157" y="30"/>
                      </a:cxn>
                      <a:cxn ang="0">
                        <a:pos x="150" y="28"/>
                      </a:cxn>
                      <a:cxn ang="0">
                        <a:pos x="144" y="26"/>
                      </a:cxn>
                      <a:cxn ang="0">
                        <a:pos x="137" y="28"/>
                      </a:cxn>
                      <a:cxn ang="0">
                        <a:pos x="130" y="29"/>
                      </a:cxn>
                      <a:cxn ang="0">
                        <a:pos x="121" y="25"/>
                      </a:cxn>
                      <a:cxn ang="0">
                        <a:pos x="109" y="21"/>
                      </a:cxn>
                      <a:cxn ang="0">
                        <a:pos x="98" y="17"/>
                      </a:cxn>
                      <a:cxn ang="0">
                        <a:pos x="91" y="15"/>
                      </a:cxn>
                      <a:cxn ang="0">
                        <a:pos x="78" y="12"/>
                      </a:cxn>
                      <a:cxn ang="0">
                        <a:pos x="66" y="8"/>
                      </a:cxn>
                      <a:cxn ang="0">
                        <a:pos x="54" y="4"/>
                      </a:cxn>
                      <a:cxn ang="0">
                        <a:pos x="41" y="1"/>
                      </a:cxn>
                      <a:cxn ang="0">
                        <a:pos x="28" y="0"/>
                      </a:cxn>
                      <a:cxn ang="0">
                        <a:pos x="15" y="0"/>
                      </a:cxn>
                      <a:cxn ang="0">
                        <a:pos x="12" y="1"/>
                      </a:cxn>
                      <a:cxn ang="0">
                        <a:pos x="7" y="4"/>
                      </a:cxn>
                      <a:cxn ang="0">
                        <a:pos x="3" y="7"/>
                      </a:cxn>
                      <a:cxn ang="0">
                        <a:pos x="0" y="10"/>
                      </a:cxn>
                      <a:cxn ang="0">
                        <a:pos x="5" y="10"/>
                      </a:cxn>
                      <a:cxn ang="0">
                        <a:pos x="12" y="11"/>
                      </a:cxn>
                      <a:cxn ang="0">
                        <a:pos x="18" y="12"/>
                      </a:cxn>
                      <a:cxn ang="0">
                        <a:pos x="23" y="11"/>
                      </a:cxn>
                      <a:cxn ang="0">
                        <a:pos x="29" y="10"/>
                      </a:cxn>
                      <a:cxn ang="0">
                        <a:pos x="38" y="10"/>
                      </a:cxn>
                      <a:cxn ang="0">
                        <a:pos x="50" y="10"/>
                      </a:cxn>
                      <a:cxn ang="0">
                        <a:pos x="60" y="12"/>
                      </a:cxn>
                      <a:cxn ang="0">
                        <a:pos x="70" y="13"/>
                      </a:cxn>
                      <a:cxn ang="0">
                        <a:pos x="79" y="15"/>
                      </a:cxn>
                      <a:cxn ang="0">
                        <a:pos x="89" y="16"/>
                      </a:cxn>
                      <a:cxn ang="0">
                        <a:pos x="98" y="18"/>
                      </a:cxn>
                      <a:cxn ang="0">
                        <a:pos x="106" y="22"/>
                      </a:cxn>
                      <a:cxn ang="0">
                        <a:pos x="114" y="26"/>
                      </a:cxn>
                      <a:cxn ang="0">
                        <a:pos x="123" y="30"/>
                      </a:cxn>
                      <a:cxn ang="0">
                        <a:pos x="127" y="30"/>
                      </a:cxn>
                      <a:cxn ang="0">
                        <a:pos x="131" y="30"/>
                      </a:cxn>
                      <a:cxn ang="0">
                        <a:pos x="137" y="33"/>
                      </a:cxn>
                      <a:cxn ang="0">
                        <a:pos x="144" y="36"/>
                      </a:cxn>
                      <a:cxn ang="0">
                        <a:pos x="150" y="38"/>
                      </a:cxn>
                      <a:cxn ang="0">
                        <a:pos x="158" y="42"/>
                      </a:cxn>
                      <a:cxn ang="0">
                        <a:pos x="164" y="45"/>
                      </a:cxn>
                      <a:cxn ang="0">
                        <a:pos x="167" y="47"/>
                      </a:cxn>
                    </a:cxnLst>
                    <a:rect l="txL" t="txT" r="txR" b="txB"/>
                    <a:pathLst>
                      <a:path w="168" h="48">
                        <a:moveTo>
                          <a:pt x="167" y="47"/>
                        </a:moveTo>
                        <a:lnTo>
                          <a:pt x="164" y="38"/>
                        </a:lnTo>
                        <a:lnTo>
                          <a:pt x="160" y="31"/>
                        </a:lnTo>
                        <a:lnTo>
                          <a:pt x="157" y="30"/>
                        </a:lnTo>
                        <a:lnTo>
                          <a:pt x="150" y="28"/>
                        </a:lnTo>
                        <a:lnTo>
                          <a:pt x="144" y="26"/>
                        </a:lnTo>
                        <a:lnTo>
                          <a:pt x="137" y="28"/>
                        </a:lnTo>
                        <a:lnTo>
                          <a:pt x="130" y="29"/>
                        </a:lnTo>
                        <a:lnTo>
                          <a:pt x="121" y="25"/>
                        </a:lnTo>
                        <a:lnTo>
                          <a:pt x="109" y="21"/>
                        </a:lnTo>
                        <a:lnTo>
                          <a:pt x="98" y="17"/>
                        </a:lnTo>
                        <a:lnTo>
                          <a:pt x="91" y="15"/>
                        </a:lnTo>
                        <a:lnTo>
                          <a:pt x="78" y="12"/>
                        </a:lnTo>
                        <a:lnTo>
                          <a:pt x="66" y="8"/>
                        </a:lnTo>
                        <a:lnTo>
                          <a:pt x="54" y="4"/>
                        </a:lnTo>
                        <a:lnTo>
                          <a:pt x="41" y="1"/>
                        </a:lnTo>
                        <a:lnTo>
                          <a:pt x="28" y="0"/>
                        </a:lnTo>
                        <a:lnTo>
                          <a:pt x="15" y="0"/>
                        </a:lnTo>
                        <a:lnTo>
                          <a:pt x="12" y="1"/>
                        </a:lnTo>
                        <a:lnTo>
                          <a:pt x="7" y="4"/>
                        </a:lnTo>
                        <a:lnTo>
                          <a:pt x="3" y="7"/>
                        </a:lnTo>
                        <a:lnTo>
                          <a:pt x="0" y="10"/>
                        </a:lnTo>
                        <a:lnTo>
                          <a:pt x="5" y="10"/>
                        </a:lnTo>
                        <a:lnTo>
                          <a:pt x="12" y="11"/>
                        </a:lnTo>
                        <a:lnTo>
                          <a:pt x="18" y="12"/>
                        </a:lnTo>
                        <a:lnTo>
                          <a:pt x="23" y="11"/>
                        </a:lnTo>
                        <a:lnTo>
                          <a:pt x="29" y="10"/>
                        </a:lnTo>
                        <a:lnTo>
                          <a:pt x="38" y="10"/>
                        </a:lnTo>
                        <a:lnTo>
                          <a:pt x="50" y="10"/>
                        </a:lnTo>
                        <a:lnTo>
                          <a:pt x="60" y="12"/>
                        </a:lnTo>
                        <a:lnTo>
                          <a:pt x="70" y="13"/>
                        </a:lnTo>
                        <a:lnTo>
                          <a:pt x="79" y="15"/>
                        </a:lnTo>
                        <a:lnTo>
                          <a:pt x="89" y="16"/>
                        </a:lnTo>
                        <a:lnTo>
                          <a:pt x="98" y="18"/>
                        </a:lnTo>
                        <a:lnTo>
                          <a:pt x="106" y="22"/>
                        </a:lnTo>
                        <a:lnTo>
                          <a:pt x="114" y="26"/>
                        </a:lnTo>
                        <a:lnTo>
                          <a:pt x="123" y="30"/>
                        </a:lnTo>
                        <a:lnTo>
                          <a:pt x="127" y="30"/>
                        </a:lnTo>
                        <a:lnTo>
                          <a:pt x="131" y="30"/>
                        </a:lnTo>
                        <a:lnTo>
                          <a:pt x="137" y="33"/>
                        </a:lnTo>
                        <a:lnTo>
                          <a:pt x="144" y="36"/>
                        </a:lnTo>
                        <a:lnTo>
                          <a:pt x="150" y="38"/>
                        </a:lnTo>
                        <a:lnTo>
                          <a:pt x="158" y="42"/>
                        </a:lnTo>
                        <a:lnTo>
                          <a:pt x="164" y="45"/>
                        </a:lnTo>
                        <a:lnTo>
                          <a:pt x="167" y="47"/>
                        </a:lnTo>
                      </a:path>
                    </a:pathLst>
                  </a:custGeom>
                  <a:solidFill>
                    <a:srgbClr val="037C03">
                      <a:alpha val="50195"/>
                    </a:srgbClr>
                  </a:solidFill>
                  <a:ln w="9525">
                    <a:noFill/>
                  </a:ln>
                </p:spPr>
                <p:txBody>
                  <a:bodyPr/>
                  <a:lstStyle/>
                  <a:p>
                    <a:endParaRPr lang="zh-CN" altLang="en-US"/>
                  </a:p>
                </p:txBody>
              </p:sp>
              <p:sp>
                <p:nvSpPr>
                  <p:cNvPr id="89289" name="Freeform 50"/>
                  <p:cNvSpPr/>
                  <p:nvPr/>
                </p:nvSpPr>
                <p:spPr>
                  <a:xfrm>
                    <a:off x="1985" y="1514"/>
                    <a:ext cx="173" cy="20"/>
                  </a:xfrm>
                  <a:custGeom>
                    <a:avLst/>
                    <a:gdLst>
                      <a:gd name="txL" fmla="*/ 0 w 173"/>
                      <a:gd name="txT" fmla="*/ 0 h 20"/>
                      <a:gd name="txR" fmla="*/ 173 w 173"/>
                      <a:gd name="txB" fmla="*/ 20 h 20"/>
                    </a:gdLst>
                    <a:ahLst/>
                    <a:cxnLst>
                      <a:cxn ang="0">
                        <a:pos x="172" y="19"/>
                      </a:cxn>
                      <a:cxn ang="0">
                        <a:pos x="167" y="17"/>
                      </a:cxn>
                      <a:cxn ang="0">
                        <a:pos x="163" y="15"/>
                      </a:cxn>
                      <a:cxn ang="0">
                        <a:pos x="157" y="13"/>
                      </a:cxn>
                      <a:cxn ang="0">
                        <a:pos x="152" y="11"/>
                      </a:cxn>
                      <a:cxn ang="0">
                        <a:pos x="146" y="9"/>
                      </a:cxn>
                      <a:cxn ang="0">
                        <a:pos x="138" y="6"/>
                      </a:cxn>
                      <a:cxn ang="0">
                        <a:pos x="131" y="2"/>
                      </a:cxn>
                      <a:cxn ang="0">
                        <a:pos x="125" y="2"/>
                      </a:cxn>
                      <a:cxn ang="0">
                        <a:pos x="118" y="3"/>
                      </a:cxn>
                      <a:cxn ang="0">
                        <a:pos x="108" y="5"/>
                      </a:cxn>
                      <a:cxn ang="0">
                        <a:pos x="103" y="5"/>
                      </a:cxn>
                      <a:cxn ang="0">
                        <a:pos x="91" y="3"/>
                      </a:cxn>
                      <a:cxn ang="0">
                        <a:pos x="77" y="1"/>
                      </a:cxn>
                      <a:cxn ang="0">
                        <a:pos x="67" y="0"/>
                      </a:cxn>
                      <a:cxn ang="0">
                        <a:pos x="55" y="0"/>
                      </a:cxn>
                      <a:cxn ang="0">
                        <a:pos x="43" y="0"/>
                      </a:cxn>
                      <a:cxn ang="0">
                        <a:pos x="35" y="1"/>
                      </a:cxn>
                      <a:cxn ang="0">
                        <a:pos x="26" y="2"/>
                      </a:cxn>
                      <a:cxn ang="0">
                        <a:pos x="18" y="3"/>
                      </a:cxn>
                      <a:cxn ang="0">
                        <a:pos x="9" y="4"/>
                      </a:cxn>
                      <a:cxn ang="0">
                        <a:pos x="8" y="8"/>
                      </a:cxn>
                      <a:cxn ang="0">
                        <a:pos x="6" y="11"/>
                      </a:cxn>
                      <a:cxn ang="0">
                        <a:pos x="4" y="14"/>
                      </a:cxn>
                      <a:cxn ang="0">
                        <a:pos x="0" y="16"/>
                      </a:cxn>
                      <a:cxn ang="0">
                        <a:pos x="7" y="15"/>
                      </a:cxn>
                      <a:cxn ang="0">
                        <a:pos x="15" y="13"/>
                      </a:cxn>
                      <a:cxn ang="0">
                        <a:pos x="21" y="12"/>
                      </a:cxn>
                      <a:cxn ang="0">
                        <a:pos x="29" y="11"/>
                      </a:cxn>
                      <a:cxn ang="0">
                        <a:pos x="36" y="10"/>
                      </a:cxn>
                      <a:cxn ang="0">
                        <a:pos x="49" y="9"/>
                      </a:cxn>
                      <a:cxn ang="0">
                        <a:pos x="62" y="8"/>
                      </a:cxn>
                      <a:cxn ang="0">
                        <a:pos x="77" y="7"/>
                      </a:cxn>
                      <a:cxn ang="0">
                        <a:pos x="92" y="6"/>
                      </a:cxn>
                      <a:cxn ang="0">
                        <a:pos x="106" y="6"/>
                      </a:cxn>
                      <a:cxn ang="0">
                        <a:pos x="118" y="7"/>
                      </a:cxn>
                      <a:cxn ang="0">
                        <a:pos x="126" y="9"/>
                      </a:cxn>
                      <a:cxn ang="0">
                        <a:pos x="135" y="11"/>
                      </a:cxn>
                      <a:cxn ang="0">
                        <a:pos x="145" y="13"/>
                      </a:cxn>
                      <a:cxn ang="0">
                        <a:pos x="155" y="16"/>
                      </a:cxn>
                      <a:cxn ang="0">
                        <a:pos x="163" y="17"/>
                      </a:cxn>
                      <a:cxn ang="0">
                        <a:pos x="172" y="19"/>
                      </a:cxn>
                    </a:cxnLst>
                    <a:rect l="txL" t="txT" r="txR" b="txB"/>
                    <a:pathLst>
                      <a:path w="173" h="20">
                        <a:moveTo>
                          <a:pt x="172" y="19"/>
                        </a:moveTo>
                        <a:lnTo>
                          <a:pt x="167" y="17"/>
                        </a:lnTo>
                        <a:lnTo>
                          <a:pt x="163" y="15"/>
                        </a:lnTo>
                        <a:lnTo>
                          <a:pt x="157" y="13"/>
                        </a:lnTo>
                        <a:lnTo>
                          <a:pt x="152" y="11"/>
                        </a:lnTo>
                        <a:lnTo>
                          <a:pt x="146" y="9"/>
                        </a:lnTo>
                        <a:lnTo>
                          <a:pt x="138" y="6"/>
                        </a:lnTo>
                        <a:lnTo>
                          <a:pt x="131" y="2"/>
                        </a:lnTo>
                        <a:lnTo>
                          <a:pt x="125" y="2"/>
                        </a:lnTo>
                        <a:lnTo>
                          <a:pt x="118" y="3"/>
                        </a:lnTo>
                        <a:lnTo>
                          <a:pt x="108" y="5"/>
                        </a:lnTo>
                        <a:lnTo>
                          <a:pt x="103" y="5"/>
                        </a:lnTo>
                        <a:lnTo>
                          <a:pt x="91" y="3"/>
                        </a:lnTo>
                        <a:lnTo>
                          <a:pt x="77" y="1"/>
                        </a:lnTo>
                        <a:lnTo>
                          <a:pt x="67" y="0"/>
                        </a:lnTo>
                        <a:lnTo>
                          <a:pt x="55" y="0"/>
                        </a:lnTo>
                        <a:lnTo>
                          <a:pt x="43" y="0"/>
                        </a:lnTo>
                        <a:lnTo>
                          <a:pt x="35" y="1"/>
                        </a:lnTo>
                        <a:lnTo>
                          <a:pt x="26" y="2"/>
                        </a:lnTo>
                        <a:lnTo>
                          <a:pt x="18" y="3"/>
                        </a:lnTo>
                        <a:lnTo>
                          <a:pt x="9" y="4"/>
                        </a:lnTo>
                        <a:lnTo>
                          <a:pt x="8" y="8"/>
                        </a:lnTo>
                        <a:lnTo>
                          <a:pt x="6" y="11"/>
                        </a:lnTo>
                        <a:lnTo>
                          <a:pt x="4" y="14"/>
                        </a:lnTo>
                        <a:lnTo>
                          <a:pt x="0" y="16"/>
                        </a:lnTo>
                        <a:lnTo>
                          <a:pt x="7" y="15"/>
                        </a:lnTo>
                        <a:lnTo>
                          <a:pt x="15" y="13"/>
                        </a:lnTo>
                        <a:lnTo>
                          <a:pt x="21" y="12"/>
                        </a:lnTo>
                        <a:lnTo>
                          <a:pt x="29" y="11"/>
                        </a:lnTo>
                        <a:lnTo>
                          <a:pt x="36" y="10"/>
                        </a:lnTo>
                        <a:lnTo>
                          <a:pt x="49" y="9"/>
                        </a:lnTo>
                        <a:lnTo>
                          <a:pt x="62" y="8"/>
                        </a:lnTo>
                        <a:lnTo>
                          <a:pt x="77" y="7"/>
                        </a:lnTo>
                        <a:lnTo>
                          <a:pt x="92" y="6"/>
                        </a:lnTo>
                        <a:lnTo>
                          <a:pt x="106" y="6"/>
                        </a:lnTo>
                        <a:lnTo>
                          <a:pt x="118" y="7"/>
                        </a:lnTo>
                        <a:lnTo>
                          <a:pt x="126" y="9"/>
                        </a:lnTo>
                        <a:lnTo>
                          <a:pt x="135" y="11"/>
                        </a:lnTo>
                        <a:lnTo>
                          <a:pt x="145" y="13"/>
                        </a:lnTo>
                        <a:lnTo>
                          <a:pt x="155" y="16"/>
                        </a:lnTo>
                        <a:lnTo>
                          <a:pt x="163" y="17"/>
                        </a:lnTo>
                        <a:lnTo>
                          <a:pt x="172" y="19"/>
                        </a:lnTo>
                      </a:path>
                    </a:pathLst>
                  </a:custGeom>
                  <a:solidFill>
                    <a:srgbClr val="037C03">
                      <a:alpha val="50195"/>
                    </a:srgbClr>
                  </a:solidFill>
                  <a:ln w="9525">
                    <a:noFill/>
                  </a:ln>
                </p:spPr>
                <p:txBody>
                  <a:bodyPr/>
                  <a:lstStyle/>
                  <a:p>
                    <a:endParaRPr lang="zh-CN" altLang="en-US"/>
                  </a:p>
                </p:txBody>
              </p:sp>
            </p:grpSp>
          </p:grpSp>
        </p:grpSp>
      </p:grpSp>
      <p:grpSp>
        <p:nvGrpSpPr>
          <p:cNvPr id="89095" name="Group 51"/>
          <p:cNvGrpSpPr/>
          <p:nvPr/>
        </p:nvGrpSpPr>
        <p:grpSpPr>
          <a:xfrm>
            <a:off x="5724525" y="3141663"/>
            <a:ext cx="1371600" cy="1600200"/>
            <a:chOff x="0" y="3182"/>
            <a:chExt cx="808" cy="998"/>
          </a:xfrm>
        </p:grpSpPr>
        <p:grpSp>
          <p:nvGrpSpPr>
            <p:cNvPr id="89257" name="Group 52"/>
            <p:cNvGrpSpPr/>
            <p:nvPr/>
          </p:nvGrpSpPr>
          <p:grpSpPr>
            <a:xfrm>
              <a:off x="0" y="3182"/>
              <a:ext cx="506" cy="927"/>
              <a:chOff x="1685" y="1023"/>
              <a:chExt cx="506" cy="927"/>
            </a:xfrm>
          </p:grpSpPr>
          <p:sp>
            <p:nvSpPr>
              <p:cNvPr id="89270" name="Freeform 53"/>
              <p:cNvSpPr/>
              <p:nvPr/>
            </p:nvSpPr>
            <p:spPr>
              <a:xfrm>
                <a:off x="1733" y="1329"/>
                <a:ext cx="76" cy="621"/>
              </a:xfrm>
              <a:custGeom>
                <a:avLst/>
                <a:gdLst>
                  <a:gd name="txL" fmla="*/ 0 w 76"/>
                  <a:gd name="txT" fmla="*/ 0 h 621"/>
                  <a:gd name="txR" fmla="*/ 76 w 76"/>
                  <a:gd name="txB" fmla="*/ 621 h 621"/>
                </a:gdLst>
                <a:ahLst/>
                <a:cxnLst>
                  <a:cxn ang="0">
                    <a:pos x="0" y="54"/>
                  </a:cxn>
                  <a:cxn ang="0">
                    <a:pos x="11" y="269"/>
                  </a:cxn>
                  <a:cxn ang="0">
                    <a:pos x="22" y="442"/>
                  </a:cxn>
                  <a:cxn ang="0">
                    <a:pos x="30" y="570"/>
                  </a:cxn>
                  <a:cxn ang="0">
                    <a:pos x="28" y="620"/>
                  </a:cxn>
                  <a:cxn ang="0">
                    <a:pos x="44" y="620"/>
                  </a:cxn>
                  <a:cxn ang="0">
                    <a:pos x="49" y="546"/>
                  </a:cxn>
                  <a:cxn ang="0">
                    <a:pos x="52" y="434"/>
                  </a:cxn>
                  <a:cxn ang="0">
                    <a:pos x="58" y="329"/>
                  </a:cxn>
                  <a:cxn ang="0">
                    <a:pos x="61" y="250"/>
                  </a:cxn>
                  <a:cxn ang="0">
                    <a:pos x="67" y="135"/>
                  </a:cxn>
                  <a:cxn ang="0">
                    <a:pos x="75" y="36"/>
                  </a:cxn>
                  <a:cxn ang="0">
                    <a:pos x="70" y="11"/>
                  </a:cxn>
                  <a:cxn ang="0">
                    <a:pos x="62" y="0"/>
                  </a:cxn>
                  <a:cxn ang="0">
                    <a:pos x="53" y="121"/>
                  </a:cxn>
                  <a:cxn ang="0">
                    <a:pos x="45" y="224"/>
                  </a:cxn>
                  <a:cxn ang="0">
                    <a:pos x="43" y="305"/>
                  </a:cxn>
                  <a:cxn ang="0">
                    <a:pos x="40" y="390"/>
                  </a:cxn>
                  <a:cxn ang="0">
                    <a:pos x="34" y="475"/>
                  </a:cxn>
                  <a:cxn ang="0">
                    <a:pos x="25" y="327"/>
                  </a:cxn>
                  <a:cxn ang="0">
                    <a:pos x="15" y="187"/>
                  </a:cxn>
                  <a:cxn ang="0">
                    <a:pos x="0" y="54"/>
                  </a:cxn>
                </a:cxnLst>
                <a:rect l="txL" t="txT" r="txR" b="txB"/>
                <a:pathLst>
                  <a:path w="76" h="621">
                    <a:moveTo>
                      <a:pt x="0" y="54"/>
                    </a:moveTo>
                    <a:lnTo>
                      <a:pt x="11" y="269"/>
                    </a:lnTo>
                    <a:lnTo>
                      <a:pt x="22" y="442"/>
                    </a:lnTo>
                    <a:lnTo>
                      <a:pt x="30" y="570"/>
                    </a:lnTo>
                    <a:lnTo>
                      <a:pt x="28" y="620"/>
                    </a:lnTo>
                    <a:lnTo>
                      <a:pt x="44" y="620"/>
                    </a:lnTo>
                    <a:lnTo>
                      <a:pt x="49" y="546"/>
                    </a:lnTo>
                    <a:lnTo>
                      <a:pt x="52" y="434"/>
                    </a:lnTo>
                    <a:lnTo>
                      <a:pt x="58" y="329"/>
                    </a:lnTo>
                    <a:lnTo>
                      <a:pt x="61" y="250"/>
                    </a:lnTo>
                    <a:lnTo>
                      <a:pt x="67" y="135"/>
                    </a:lnTo>
                    <a:lnTo>
                      <a:pt x="75" y="36"/>
                    </a:lnTo>
                    <a:lnTo>
                      <a:pt x="70" y="11"/>
                    </a:lnTo>
                    <a:lnTo>
                      <a:pt x="62" y="0"/>
                    </a:lnTo>
                    <a:lnTo>
                      <a:pt x="53" y="121"/>
                    </a:lnTo>
                    <a:lnTo>
                      <a:pt x="45" y="224"/>
                    </a:lnTo>
                    <a:lnTo>
                      <a:pt x="43" y="305"/>
                    </a:lnTo>
                    <a:lnTo>
                      <a:pt x="40" y="390"/>
                    </a:lnTo>
                    <a:lnTo>
                      <a:pt x="34" y="475"/>
                    </a:lnTo>
                    <a:lnTo>
                      <a:pt x="25" y="327"/>
                    </a:lnTo>
                    <a:lnTo>
                      <a:pt x="15" y="187"/>
                    </a:lnTo>
                    <a:lnTo>
                      <a:pt x="0" y="54"/>
                    </a:lnTo>
                  </a:path>
                </a:pathLst>
              </a:custGeom>
              <a:solidFill>
                <a:srgbClr val="3C0023">
                  <a:alpha val="50195"/>
                </a:srgbClr>
              </a:solidFill>
              <a:ln w="9525">
                <a:noFill/>
              </a:ln>
            </p:spPr>
            <p:txBody>
              <a:bodyPr/>
              <a:lstStyle/>
              <a:p>
                <a:endParaRPr lang="zh-CN" altLang="en-US"/>
              </a:p>
            </p:txBody>
          </p:sp>
          <p:sp>
            <p:nvSpPr>
              <p:cNvPr id="89271" name="Freeform 54"/>
              <p:cNvSpPr/>
              <p:nvPr/>
            </p:nvSpPr>
            <p:spPr>
              <a:xfrm>
                <a:off x="1790" y="1583"/>
                <a:ext cx="120" cy="349"/>
              </a:xfrm>
              <a:custGeom>
                <a:avLst/>
                <a:gdLst>
                  <a:gd name="txL" fmla="*/ 0 w 120"/>
                  <a:gd name="txT" fmla="*/ 0 h 349"/>
                  <a:gd name="txR" fmla="*/ 120 w 120"/>
                  <a:gd name="txB" fmla="*/ 349 h 349"/>
                </a:gdLst>
                <a:ahLst/>
                <a:cxnLst>
                  <a:cxn ang="0">
                    <a:pos x="0" y="161"/>
                  </a:cxn>
                  <a:cxn ang="0">
                    <a:pos x="10" y="232"/>
                  </a:cxn>
                  <a:cxn ang="0">
                    <a:pos x="20" y="289"/>
                  </a:cxn>
                  <a:cxn ang="0">
                    <a:pos x="26" y="331"/>
                  </a:cxn>
                  <a:cxn ang="0">
                    <a:pos x="25" y="348"/>
                  </a:cxn>
                  <a:cxn ang="0">
                    <a:pos x="39" y="348"/>
                  </a:cxn>
                  <a:cxn ang="0">
                    <a:pos x="43" y="323"/>
                  </a:cxn>
                  <a:cxn ang="0">
                    <a:pos x="45" y="286"/>
                  </a:cxn>
                  <a:cxn ang="0">
                    <a:pos x="51" y="252"/>
                  </a:cxn>
                  <a:cxn ang="0">
                    <a:pos x="54" y="226"/>
                  </a:cxn>
                  <a:cxn ang="0">
                    <a:pos x="59" y="188"/>
                  </a:cxn>
                  <a:cxn ang="0">
                    <a:pos x="66" y="156"/>
                  </a:cxn>
                  <a:cxn ang="0">
                    <a:pos x="71" y="127"/>
                  </a:cxn>
                  <a:cxn ang="0">
                    <a:pos x="77" y="96"/>
                  </a:cxn>
                  <a:cxn ang="0">
                    <a:pos x="86" y="66"/>
                  </a:cxn>
                  <a:cxn ang="0">
                    <a:pos x="96" y="40"/>
                  </a:cxn>
                  <a:cxn ang="0">
                    <a:pos x="113" y="15"/>
                  </a:cxn>
                  <a:cxn ang="0">
                    <a:pos x="119" y="5"/>
                  </a:cxn>
                  <a:cxn ang="0">
                    <a:pos x="112" y="0"/>
                  </a:cxn>
                  <a:cxn ang="0">
                    <a:pos x="101" y="10"/>
                  </a:cxn>
                  <a:cxn ang="0">
                    <a:pos x="86" y="33"/>
                  </a:cxn>
                  <a:cxn ang="0">
                    <a:pos x="75" y="57"/>
                  </a:cxn>
                  <a:cxn ang="0">
                    <a:pos x="66" y="81"/>
                  </a:cxn>
                  <a:cxn ang="0">
                    <a:pos x="60" y="113"/>
                  </a:cxn>
                  <a:cxn ang="0">
                    <a:pos x="55" y="144"/>
                  </a:cxn>
                  <a:cxn ang="0">
                    <a:pos x="47" y="184"/>
                  </a:cxn>
                  <a:cxn ang="0">
                    <a:pos x="40" y="217"/>
                  </a:cxn>
                  <a:cxn ang="0">
                    <a:pos x="37" y="244"/>
                  </a:cxn>
                  <a:cxn ang="0">
                    <a:pos x="36" y="272"/>
                  </a:cxn>
                  <a:cxn ang="0">
                    <a:pos x="30" y="300"/>
                  </a:cxn>
                  <a:cxn ang="0">
                    <a:pos x="22" y="251"/>
                  </a:cxn>
                  <a:cxn ang="0">
                    <a:pos x="13" y="205"/>
                  </a:cxn>
                  <a:cxn ang="0">
                    <a:pos x="0" y="161"/>
                  </a:cxn>
                </a:cxnLst>
                <a:rect l="txL" t="txT" r="txR" b="txB"/>
                <a:pathLst>
                  <a:path w="120" h="349">
                    <a:moveTo>
                      <a:pt x="0" y="161"/>
                    </a:moveTo>
                    <a:lnTo>
                      <a:pt x="10" y="232"/>
                    </a:lnTo>
                    <a:lnTo>
                      <a:pt x="20" y="289"/>
                    </a:lnTo>
                    <a:lnTo>
                      <a:pt x="26" y="331"/>
                    </a:lnTo>
                    <a:lnTo>
                      <a:pt x="25" y="348"/>
                    </a:lnTo>
                    <a:lnTo>
                      <a:pt x="39" y="348"/>
                    </a:lnTo>
                    <a:lnTo>
                      <a:pt x="43" y="323"/>
                    </a:lnTo>
                    <a:lnTo>
                      <a:pt x="45" y="286"/>
                    </a:lnTo>
                    <a:lnTo>
                      <a:pt x="51" y="252"/>
                    </a:lnTo>
                    <a:lnTo>
                      <a:pt x="54" y="226"/>
                    </a:lnTo>
                    <a:lnTo>
                      <a:pt x="59" y="188"/>
                    </a:lnTo>
                    <a:lnTo>
                      <a:pt x="66" y="156"/>
                    </a:lnTo>
                    <a:lnTo>
                      <a:pt x="71" y="127"/>
                    </a:lnTo>
                    <a:lnTo>
                      <a:pt x="77" y="96"/>
                    </a:lnTo>
                    <a:lnTo>
                      <a:pt x="86" y="66"/>
                    </a:lnTo>
                    <a:lnTo>
                      <a:pt x="96" y="40"/>
                    </a:lnTo>
                    <a:lnTo>
                      <a:pt x="113" y="15"/>
                    </a:lnTo>
                    <a:lnTo>
                      <a:pt x="119" y="5"/>
                    </a:lnTo>
                    <a:lnTo>
                      <a:pt x="112" y="0"/>
                    </a:lnTo>
                    <a:lnTo>
                      <a:pt x="101" y="10"/>
                    </a:lnTo>
                    <a:lnTo>
                      <a:pt x="86" y="33"/>
                    </a:lnTo>
                    <a:lnTo>
                      <a:pt x="75" y="57"/>
                    </a:lnTo>
                    <a:lnTo>
                      <a:pt x="66" y="81"/>
                    </a:lnTo>
                    <a:lnTo>
                      <a:pt x="60" y="113"/>
                    </a:lnTo>
                    <a:lnTo>
                      <a:pt x="55" y="144"/>
                    </a:lnTo>
                    <a:lnTo>
                      <a:pt x="47" y="184"/>
                    </a:lnTo>
                    <a:lnTo>
                      <a:pt x="40" y="217"/>
                    </a:lnTo>
                    <a:lnTo>
                      <a:pt x="37" y="244"/>
                    </a:lnTo>
                    <a:lnTo>
                      <a:pt x="36" y="272"/>
                    </a:lnTo>
                    <a:lnTo>
                      <a:pt x="30" y="300"/>
                    </a:lnTo>
                    <a:lnTo>
                      <a:pt x="22" y="251"/>
                    </a:lnTo>
                    <a:lnTo>
                      <a:pt x="13" y="205"/>
                    </a:lnTo>
                    <a:lnTo>
                      <a:pt x="0" y="161"/>
                    </a:lnTo>
                  </a:path>
                </a:pathLst>
              </a:custGeom>
              <a:solidFill>
                <a:srgbClr val="3C0023">
                  <a:alpha val="50195"/>
                </a:srgbClr>
              </a:solidFill>
              <a:ln w="9525">
                <a:noFill/>
              </a:ln>
            </p:spPr>
            <p:txBody>
              <a:bodyPr/>
              <a:lstStyle/>
              <a:p>
                <a:endParaRPr lang="zh-CN" altLang="en-US"/>
              </a:p>
            </p:txBody>
          </p:sp>
          <p:sp>
            <p:nvSpPr>
              <p:cNvPr id="89272" name="Freeform 55"/>
              <p:cNvSpPr/>
              <p:nvPr/>
            </p:nvSpPr>
            <p:spPr>
              <a:xfrm>
                <a:off x="1685" y="1239"/>
                <a:ext cx="266" cy="391"/>
              </a:xfrm>
              <a:custGeom>
                <a:avLst/>
                <a:gdLst>
                  <a:gd name="txL" fmla="*/ 0 w 266"/>
                  <a:gd name="txT" fmla="*/ 0 h 391"/>
                  <a:gd name="txR" fmla="*/ 266 w 266"/>
                  <a:gd name="txB" fmla="*/ 391 h 391"/>
                </a:gdLst>
                <a:ahLst/>
                <a:cxnLst>
                  <a:cxn ang="0">
                    <a:pos x="107" y="123"/>
                  </a:cxn>
                  <a:cxn ang="0">
                    <a:pos x="116" y="135"/>
                  </a:cxn>
                  <a:cxn ang="0">
                    <a:pos x="163" y="114"/>
                  </a:cxn>
                  <a:cxn ang="0">
                    <a:pos x="211" y="81"/>
                  </a:cxn>
                  <a:cxn ang="0">
                    <a:pos x="233" y="46"/>
                  </a:cxn>
                  <a:cxn ang="0">
                    <a:pos x="220" y="76"/>
                  </a:cxn>
                  <a:cxn ang="0">
                    <a:pos x="183" y="109"/>
                  </a:cxn>
                  <a:cxn ang="0">
                    <a:pos x="142" y="138"/>
                  </a:cxn>
                  <a:cxn ang="0">
                    <a:pos x="102" y="159"/>
                  </a:cxn>
                  <a:cxn ang="0">
                    <a:pos x="119" y="178"/>
                  </a:cxn>
                  <a:cxn ang="0">
                    <a:pos x="155" y="180"/>
                  </a:cxn>
                  <a:cxn ang="0">
                    <a:pos x="202" y="187"/>
                  </a:cxn>
                  <a:cxn ang="0">
                    <a:pos x="239" y="204"/>
                  </a:cxn>
                  <a:cxn ang="0">
                    <a:pos x="251" y="215"/>
                  </a:cxn>
                  <a:cxn ang="0">
                    <a:pos x="213" y="204"/>
                  </a:cxn>
                  <a:cxn ang="0">
                    <a:pos x="162" y="198"/>
                  </a:cxn>
                  <a:cxn ang="0">
                    <a:pos x="114" y="195"/>
                  </a:cxn>
                  <a:cxn ang="0">
                    <a:pos x="88" y="203"/>
                  </a:cxn>
                  <a:cxn ang="0">
                    <a:pos x="93" y="248"/>
                  </a:cxn>
                  <a:cxn ang="0">
                    <a:pos x="93" y="307"/>
                  </a:cxn>
                  <a:cxn ang="0">
                    <a:pos x="77" y="354"/>
                  </a:cxn>
                  <a:cxn ang="0">
                    <a:pos x="46" y="390"/>
                  </a:cxn>
                  <a:cxn ang="0">
                    <a:pos x="50" y="346"/>
                  </a:cxn>
                  <a:cxn ang="0">
                    <a:pos x="61" y="299"/>
                  </a:cxn>
                  <a:cxn ang="0">
                    <a:pos x="67" y="238"/>
                  </a:cxn>
                  <a:cxn ang="0">
                    <a:pos x="64" y="198"/>
                  </a:cxn>
                  <a:cxn ang="0">
                    <a:pos x="48" y="221"/>
                  </a:cxn>
                  <a:cxn ang="0">
                    <a:pos x="39" y="273"/>
                  </a:cxn>
                  <a:cxn ang="0">
                    <a:pos x="32" y="325"/>
                  </a:cxn>
                  <a:cxn ang="0">
                    <a:pos x="10" y="364"/>
                  </a:cxn>
                  <a:cxn ang="0">
                    <a:pos x="2" y="364"/>
                  </a:cxn>
                  <a:cxn ang="0">
                    <a:pos x="2" y="324"/>
                  </a:cxn>
                  <a:cxn ang="0">
                    <a:pos x="17" y="287"/>
                  </a:cxn>
                  <a:cxn ang="0">
                    <a:pos x="34" y="239"/>
                  </a:cxn>
                  <a:cxn ang="0">
                    <a:pos x="42" y="204"/>
                  </a:cxn>
                  <a:cxn ang="0">
                    <a:pos x="26" y="182"/>
                  </a:cxn>
                  <a:cxn ang="0">
                    <a:pos x="2" y="184"/>
                  </a:cxn>
                  <a:cxn ang="0">
                    <a:pos x="2" y="184"/>
                  </a:cxn>
                  <a:cxn ang="0">
                    <a:pos x="2" y="184"/>
                  </a:cxn>
                  <a:cxn ang="0">
                    <a:pos x="2" y="184"/>
                  </a:cxn>
                  <a:cxn ang="0">
                    <a:pos x="2" y="184"/>
                  </a:cxn>
                  <a:cxn ang="0">
                    <a:pos x="2" y="184"/>
                  </a:cxn>
                  <a:cxn ang="0">
                    <a:pos x="13" y="161"/>
                  </a:cxn>
                  <a:cxn ang="0">
                    <a:pos x="13" y="138"/>
                  </a:cxn>
                  <a:cxn ang="0">
                    <a:pos x="2" y="105"/>
                  </a:cxn>
                  <a:cxn ang="0">
                    <a:pos x="2" y="105"/>
                  </a:cxn>
                  <a:cxn ang="0">
                    <a:pos x="2" y="105"/>
                  </a:cxn>
                  <a:cxn ang="0">
                    <a:pos x="2" y="105"/>
                  </a:cxn>
                  <a:cxn ang="0">
                    <a:pos x="24" y="122"/>
                  </a:cxn>
                  <a:cxn ang="0">
                    <a:pos x="53" y="157"/>
                  </a:cxn>
                  <a:cxn ang="0">
                    <a:pos x="55" y="130"/>
                  </a:cxn>
                  <a:cxn ang="0">
                    <a:pos x="24" y="91"/>
                  </a:cxn>
                  <a:cxn ang="0">
                    <a:pos x="2" y="65"/>
                  </a:cxn>
                  <a:cxn ang="0">
                    <a:pos x="2" y="65"/>
                  </a:cxn>
                  <a:cxn ang="0">
                    <a:pos x="2" y="48"/>
                  </a:cxn>
                  <a:cxn ang="0">
                    <a:pos x="30" y="87"/>
                  </a:cxn>
                  <a:cxn ang="0">
                    <a:pos x="61" y="138"/>
                  </a:cxn>
                  <a:cxn ang="0">
                    <a:pos x="80" y="127"/>
                  </a:cxn>
                  <a:cxn ang="0">
                    <a:pos x="106" y="87"/>
                  </a:cxn>
                  <a:cxn ang="0">
                    <a:pos x="139" y="39"/>
                  </a:cxn>
                  <a:cxn ang="0">
                    <a:pos x="165" y="6"/>
                  </a:cxn>
                  <a:cxn ang="0">
                    <a:pos x="163" y="29"/>
                  </a:cxn>
                  <a:cxn ang="0">
                    <a:pos x="137" y="76"/>
                  </a:cxn>
                </a:cxnLst>
                <a:rect l="txL" t="txT" r="txR" b="txB"/>
                <a:pathLst>
                  <a:path w="266" h="391">
                    <a:moveTo>
                      <a:pt x="124" y="95"/>
                    </a:moveTo>
                    <a:lnTo>
                      <a:pt x="119" y="101"/>
                    </a:lnTo>
                    <a:lnTo>
                      <a:pt x="115" y="108"/>
                    </a:lnTo>
                    <a:lnTo>
                      <a:pt x="111" y="115"/>
                    </a:lnTo>
                    <a:lnTo>
                      <a:pt x="107" y="123"/>
                    </a:lnTo>
                    <a:lnTo>
                      <a:pt x="104" y="129"/>
                    </a:lnTo>
                    <a:lnTo>
                      <a:pt x="102" y="136"/>
                    </a:lnTo>
                    <a:lnTo>
                      <a:pt x="100" y="142"/>
                    </a:lnTo>
                    <a:lnTo>
                      <a:pt x="107" y="138"/>
                    </a:lnTo>
                    <a:lnTo>
                      <a:pt x="116" y="135"/>
                    </a:lnTo>
                    <a:lnTo>
                      <a:pt x="125" y="131"/>
                    </a:lnTo>
                    <a:lnTo>
                      <a:pt x="134" y="127"/>
                    </a:lnTo>
                    <a:lnTo>
                      <a:pt x="144" y="124"/>
                    </a:lnTo>
                    <a:lnTo>
                      <a:pt x="154" y="119"/>
                    </a:lnTo>
                    <a:lnTo>
                      <a:pt x="163" y="114"/>
                    </a:lnTo>
                    <a:lnTo>
                      <a:pt x="175" y="107"/>
                    </a:lnTo>
                    <a:lnTo>
                      <a:pt x="184" y="101"/>
                    </a:lnTo>
                    <a:lnTo>
                      <a:pt x="195" y="93"/>
                    </a:lnTo>
                    <a:lnTo>
                      <a:pt x="203" y="89"/>
                    </a:lnTo>
                    <a:lnTo>
                      <a:pt x="211" y="81"/>
                    </a:lnTo>
                    <a:lnTo>
                      <a:pt x="218" y="75"/>
                    </a:lnTo>
                    <a:lnTo>
                      <a:pt x="224" y="66"/>
                    </a:lnTo>
                    <a:lnTo>
                      <a:pt x="227" y="59"/>
                    </a:lnTo>
                    <a:lnTo>
                      <a:pt x="230" y="51"/>
                    </a:lnTo>
                    <a:lnTo>
                      <a:pt x="233" y="46"/>
                    </a:lnTo>
                    <a:lnTo>
                      <a:pt x="233" y="52"/>
                    </a:lnTo>
                    <a:lnTo>
                      <a:pt x="233" y="56"/>
                    </a:lnTo>
                    <a:lnTo>
                      <a:pt x="231" y="61"/>
                    </a:lnTo>
                    <a:lnTo>
                      <a:pt x="227" y="67"/>
                    </a:lnTo>
                    <a:lnTo>
                      <a:pt x="220" y="76"/>
                    </a:lnTo>
                    <a:lnTo>
                      <a:pt x="217" y="83"/>
                    </a:lnTo>
                    <a:lnTo>
                      <a:pt x="210" y="88"/>
                    </a:lnTo>
                    <a:lnTo>
                      <a:pt x="202" y="94"/>
                    </a:lnTo>
                    <a:lnTo>
                      <a:pt x="192" y="101"/>
                    </a:lnTo>
                    <a:lnTo>
                      <a:pt x="183" y="109"/>
                    </a:lnTo>
                    <a:lnTo>
                      <a:pt x="173" y="116"/>
                    </a:lnTo>
                    <a:lnTo>
                      <a:pt x="167" y="122"/>
                    </a:lnTo>
                    <a:lnTo>
                      <a:pt x="159" y="129"/>
                    </a:lnTo>
                    <a:lnTo>
                      <a:pt x="151" y="133"/>
                    </a:lnTo>
                    <a:lnTo>
                      <a:pt x="142" y="138"/>
                    </a:lnTo>
                    <a:lnTo>
                      <a:pt x="133" y="143"/>
                    </a:lnTo>
                    <a:lnTo>
                      <a:pt x="125" y="148"/>
                    </a:lnTo>
                    <a:lnTo>
                      <a:pt x="118" y="152"/>
                    </a:lnTo>
                    <a:lnTo>
                      <a:pt x="109" y="156"/>
                    </a:lnTo>
                    <a:lnTo>
                      <a:pt x="102" y="159"/>
                    </a:lnTo>
                    <a:lnTo>
                      <a:pt x="100" y="161"/>
                    </a:lnTo>
                    <a:lnTo>
                      <a:pt x="102" y="165"/>
                    </a:lnTo>
                    <a:lnTo>
                      <a:pt x="106" y="170"/>
                    </a:lnTo>
                    <a:lnTo>
                      <a:pt x="110" y="176"/>
                    </a:lnTo>
                    <a:lnTo>
                      <a:pt x="119" y="178"/>
                    </a:lnTo>
                    <a:lnTo>
                      <a:pt x="125" y="178"/>
                    </a:lnTo>
                    <a:lnTo>
                      <a:pt x="135" y="180"/>
                    </a:lnTo>
                    <a:lnTo>
                      <a:pt x="144" y="180"/>
                    </a:lnTo>
                    <a:lnTo>
                      <a:pt x="155" y="180"/>
                    </a:lnTo>
                    <a:lnTo>
                      <a:pt x="165" y="182"/>
                    </a:lnTo>
                    <a:lnTo>
                      <a:pt x="175" y="182"/>
                    </a:lnTo>
                    <a:lnTo>
                      <a:pt x="185" y="184"/>
                    </a:lnTo>
                    <a:lnTo>
                      <a:pt x="193" y="185"/>
                    </a:lnTo>
                    <a:lnTo>
                      <a:pt x="202" y="187"/>
                    </a:lnTo>
                    <a:lnTo>
                      <a:pt x="208" y="189"/>
                    </a:lnTo>
                    <a:lnTo>
                      <a:pt x="215" y="193"/>
                    </a:lnTo>
                    <a:lnTo>
                      <a:pt x="221" y="196"/>
                    </a:lnTo>
                    <a:lnTo>
                      <a:pt x="229" y="200"/>
                    </a:lnTo>
                    <a:lnTo>
                      <a:pt x="239" y="204"/>
                    </a:lnTo>
                    <a:lnTo>
                      <a:pt x="249" y="208"/>
                    </a:lnTo>
                    <a:lnTo>
                      <a:pt x="256" y="211"/>
                    </a:lnTo>
                    <a:lnTo>
                      <a:pt x="265" y="214"/>
                    </a:lnTo>
                    <a:lnTo>
                      <a:pt x="258" y="215"/>
                    </a:lnTo>
                    <a:lnTo>
                      <a:pt x="251" y="215"/>
                    </a:lnTo>
                    <a:lnTo>
                      <a:pt x="244" y="213"/>
                    </a:lnTo>
                    <a:lnTo>
                      <a:pt x="236" y="211"/>
                    </a:lnTo>
                    <a:lnTo>
                      <a:pt x="226" y="207"/>
                    </a:lnTo>
                    <a:lnTo>
                      <a:pt x="219" y="206"/>
                    </a:lnTo>
                    <a:lnTo>
                      <a:pt x="213" y="204"/>
                    </a:lnTo>
                    <a:lnTo>
                      <a:pt x="204" y="202"/>
                    </a:lnTo>
                    <a:lnTo>
                      <a:pt x="195" y="201"/>
                    </a:lnTo>
                    <a:lnTo>
                      <a:pt x="184" y="200"/>
                    </a:lnTo>
                    <a:lnTo>
                      <a:pt x="173" y="199"/>
                    </a:lnTo>
                    <a:lnTo>
                      <a:pt x="162" y="198"/>
                    </a:lnTo>
                    <a:lnTo>
                      <a:pt x="152" y="198"/>
                    </a:lnTo>
                    <a:lnTo>
                      <a:pt x="142" y="198"/>
                    </a:lnTo>
                    <a:lnTo>
                      <a:pt x="134" y="197"/>
                    </a:lnTo>
                    <a:lnTo>
                      <a:pt x="124" y="197"/>
                    </a:lnTo>
                    <a:lnTo>
                      <a:pt x="114" y="195"/>
                    </a:lnTo>
                    <a:lnTo>
                      <a:pt x="102" y="192"/>
                    </a:lnTo>
                    <a:lnTo>
                      <a:pt x="92" y="189"/>
                    </a:lnTo>
                    <a:lnTo>
                      <a:pt x="80" y="188"/>
                    </a:lnTo>
                    <a:lnTo>
                      <a:pt x="84" y="195"/>
                    </a:lnTo>
                    <a:lnTo>
                      <a:pt x="88" y="203"/>
                    </a:lnTo>
                    <a:lnTo>
                      <a:pt x="93" y="215"/>
                    </a:lnTo>
                    <a:lnTo>
                      <a:pt x="94" y="223"/>
                    </a:lnTo>
                    <a:lnTo>
                      <a:pt x="95" y="233"/>
                    </a:lnTo>
                    <a:lnTo>
                      <a:pt x="94" y="241"/>
                    </a:lnTo>
                    <a:lnTo>
                      <a:pt x="93" y="248"/>
                    </a:lnTo>
                    <a:lnTo>
                      <a:pt x="93" y="259"/>
                    </a:lnTo>
                    <a:lnTo>
                      <a:pt x="92" y="273"/>
                    </a:lnTo>
                    <a:lnTo>
                      <a:pt x="92" y="285"/>
                    </a:lnTo>
                    <a:lnTo>
                      <a:pt x="93" y="297"/>
                    </a:lnTo>
                    <a:lnTo>
                      <a:pt x="93" y="307"/>
                    </a:lnTo>
                    <a:lnTo>
                      <a:pt x="92" y="316"/>
                    </a:lnTo>
                    <a:lnTo>
                      <a:pt x="89" y="326"/>
                    </a:lnTo>
                    <a:lnTo>
                      <a:pt x="85" y="338"/>
                    </a:lnTo>
                    <a:lnTo>
                      <a:pt x="82" y="346"/>
                    </a:lnTo>
                    <a:lnTo>
                      <a:pt x="77" y="354"/>
                    </a:lnTo>
                    <a:lnTo>
                      <a:pt x="73" y="363"/>
                    </a:lnTo>
                    <a:lnTo>
                      <a:pt x="69" y="369"/>
                    </a:lnTo>
                    <a:lnTo>
                      <a:pt x="62" y="376"/>
                    </a:lnTo>
                    <a:lnTo>
                      <a:pt x="53" y="382"/>
                    </a:lnTo>
                    <a:lnTo>
                      <a:pt x="46" y="390"/>
                    </a:lnTo>
                    <a:lnTo>
                      <a:pt x="45" y="382"/>
                    </a:lnTo>
                    <a:lnTo>
                      <a:pt x="46" y="372"/>
                    </a:lnTo>
                    <a:lnTo>
                      <a:pt x="47" y="362"/>
                    </a:lnTo>
                    <a:lnTo>
                      <a:pt x="48" y="353"/>
                    </a:lnTo>
                    <a:lnTo>
                      <a:pt x="50" y="346"/>
                    </a:lnTo>
                    <a:lnTo>
                      <a:pt x="53" y="337"/>
                    </a:lnTo>
                    <a:lnTo>
                      <a:pt x="56" y="328"/>
                    </a:lnTo>
                    <a:lnTo>
                      <a:pt x="58" y="320"/>
                    </a:lnTo>
                    <a:lnTo>
                      <a:pt x="59" y="313"/>
                    </a:lnTo>
                    <a:lnTo>
                      <a:pt x="61" y="299"/>
                    </a:lnTo>
                    <a:lnTo>
                      <a:pt x="62" y="285"/>
                    </a:lnTo>
                    <a:lnTo>
                      <a:pt x="63" y="273"/>
                    </a:lnTo>
                    <a:lnTo>
                      <a:pt x="65" y="260"/>
                    </a:lnTo>
                    <a:lnTo>
                      <a:pt x="67" y="247"/>
                    </a:lnTo>
                    <a:lnTo>
                      <a:pt x="67" y="238"/>
                    </a:lnTo>
                    <a:lnTo>
                      <a:pt x="67" y="231"/>
                    </a:lnTo>
                    <a:lnTo>
                      <a:pt x="68" y="222"/>
                    </a:lnTo>
                    <a:lnTo>
                      <a:pt x="67" y="212"/>
                    </a:lnTo>
                    <a:lnTo>
                      <a:pt x="66" y="206"/>
                    </a:lnTo>
                    <a:lnTo>
                      <a:pt x="64" y="198"/>
                    </a:lnTo>
                    <a:lnTo>
                      <a:pt x="62" y="187"/>
                    </a:lnTo>
                    <a:lnTo>
                      <a:pt x="58" y="195"/>
                    </a:lnTo>
                    <a:lnTo>
                      <a:pt x="54" y="203"/>
                    </a:lnTo>
                    <a:lnTo>
                      <a:pt x="50" y="212"/>
                    </a:lnTo>
                    <a:lnTo>
                      <a:pt x="48" y="221"/>
                    </a:lnTo>
                    <a:lnTo>
                      <a:pt x="46" y="232"/>
                    </a:lnTo>
                    <a:lnTo>
                      <a:pt x="44" y="239"/>
                    </a:lnTo>
                    <a:lnTo>
                      <a:pt x="43" y="249"/>
                    </a:lnTo>
                    <a:lnTo>
                      <a:pt x="41" y="260"/>
                    </a:lnTo>
                    <a:lnTo>
                      <a:pt x="39" y="273"/>
                    </a:lnTo>
                    <a:lnTo>
                      <a:pt x="38" y="283"/>
                    </a:lnTo>
                    <a:lnTo>
                      <a:pt x="37" y="295"/>
                    </a:lnTo>
                    <a:lnTo>
                      <a:pt x="36" y="305"/>
                    </a:lnTo>
                    <a:lnTo>
                      <a:pt x="33" y="315"/>
                    </a:lnTo>
                    <a:lnTo>
                      <a:pt x="32" y="325"/>
                    </a:lnTo>
                    <a:lnTo>
                      <a:pt x="30" y="333"/>
                    </a:lnTo>
                    <a:lnTo>
                      <a:pt x="26" y="340"/>
                    </a:lnTo>
                    <a:lnTo>
                      <a:pt x="21" y="348"/>
                    </a:lnTo>
                    <a:lnTo>
                      <a:pt x="15" y="356"/>
                    </a:lnTo>
                    <a:lnTo>
                      <a:pt x="10" y="364"/>
                    </a:lnTo>
                    <a:lnTo>
                      <a:pt x="5" y="368"/>
                    </a:lnTo>
                    <a:lnTo>
                      <a:pt x="2" y="364"/>
                    </a:lnTo>
                    <a:lnTo>
                      <a:pt x="2" y="344"/>
                    </a:lnTo>
                    <a:lnTo>
                      <a:pt x="2" y="364"/>
                    </a:lnTo>
                    <a:lnTo>
                      <a:pt x="2" y="344"/>
                    </a:lnTo>
                    <a:lnTo>
                      <a:pt x="2" y="324"/>
                    </a:lnTo>
                    <a:lnTo>
                      <a:pt x="5" y="316"/>
                    </a:lnTo>
                    <a:lnTo>
                      <a:pt x="9" y="306"/>
                    </a:lnTo>
                    <a:lnTo>
                      <a:pt x="13" y="297"/>
                    </a:lnTo>
                    <a:lnTo>
                      <a:pt x="17" y="287"/>
                    </a:lnTo>
                    <a:lnTo>
                      <a:pt x="21" y="278"/>
                    </a:lnTo>
                    <a:lnTo>
                      <a:pt x="25" y="268"/>
                    </a:lnTo>
                    <a:lnTo>
                      <a:pt x="28" y="259"/>
                    </a:lnTo>
                    <a:lnTo>
                      <a:pt x="31" y="249"/>
                    </a:lnTo>
                    <a:lnTo>
                      <a:pt x="34" y="239"/>
                    </a:lnTo>
                    <a:lnTo>
                      <a:pt x="36" y="233"/>
                    </a:lnTo>
                    <a:lnTo>
                      <a:pt x="38" y="225"/>
                    </a:lnTo>
                    <a:lnTo>
                      <a:pt x="41" y="216"/>
                    </a:lnTo>
                    <a:lnTo>
                      <a:pt x="44" y="210"/>
                    </a:lnTo>
                    <a:lnTo>
                      <a:pt x="42" y="204"/>
                    </a:lnTo>
                    <a:lnTo>
                      <a:pt x="41" y="197"/>
                    </a:lnTo>
                    <a:lnTo>
                      <a:pt x="42" y="192"/>
                    </a:lnTo>
                    <a:lnTo>
                      <a:pt x="43" y="185"/>
                    </a:lnTo>
                    <a:lnTo>
                      <a:pt x="36" y="184"/>
                    </a:lnTo>
                    <a:lnTo>
                      <a:pt x="26" y="182"/>
                    </a:lnTo>
                    <a:lnTo>
                      <a:pt x="18" y="187"/>
                    </a:lnTo>
                    <a:lnTo>
                      <a:pt x="11" y="191"/>
                    </a:lnTo>
                    <a:lnTo>
                      <a:pt x="3" y="195"/>
                    </a:lnTo>
                    <a:lnTo>
                      <a:pt x="2" y="184"/>
                    </a:lnTo>
                    <a:lnTo>
                      <a:pt x="2" y="164"/>
                    </a:lnTo>
                    <a:lnTo>
                      <a:pt x="2" y="184"/>
                    </a:lnTo>
                    <a:lnTo>
                      <a:pt x="2" y="164"/>
                    </a:lnTo>
                    <a:lnTo>
                      <a:pt x="5" y="164"/>
                    </a:lnTo>
                    <a:lnTo>
                      <a:pt x="13" y="161"/>
                    </a:lnTo>
                    <a:lnTo>
                      <a:pt x="15" y="156"/>
                    </a:lnTo>
                    <a:lnTo>
                      <a:pt x="17" y="151"/>
                    </a:lnTo>
                    <a:lnTo>
                      <a:pt x="19" y="146"/>
                    </a:lnTo>
                    <a:lnTo>
                      <a:pt x="18" y="144"/>
                    </a:lnTo>
                    <a:lnTo>
                      <a:pt x="13" y="138"/>
                    </a:lnTo>
                    <a:lnTo>
                      <a:pt x="6" y="132"/>
                    </a:lnTo>
                    <a:lnTo>
                      <a:pt x="0" y="125"/>
                    </a:lnTo>
                    <a:lnTo>
                      <a:pt x="2" y="124"/>
                    </a:lnTo>
                    <a:lnTo>
                      <a:pt x="2" y="105"/>
                    </a:lnTo>
                    <a:lnTo>
                      <a:pt x="1" y="103"/>
                    </a:lnTo>
                    <a:lnTo>
                      <a:pt x="11" y="110"/>
                    </a:lnTo>
                    <a:lnTo>
                      <a:pt x="19" y="117"/>
                    </a:lnTo>
                    <a:lnTo>
                      <a:pt x="24" y="122"/>
                    </a:lnTo>
                    <a:lnTo>
                      <a:pt x="28" y="128"/>
                    </a:lnTo>
                    <a:lnTo>
                      <a:pt x="35" y="137"/>
                    </a:lnTo>
                    <a:lnTo>
                      <a:pt x="40" y="143"/>
                    </a:lnTo>
                    <a:lnTo>
                      <a:pt x="46" y="150"/>
                    </a:lnTo>
                    <a:lnTo>
                      <a:pt x="53" y="157"/>
                    </a:lnTo>
                    <a:lnTo>
                      <a:pt x="55" y="155"/>
                    </a:lnTo>
                    <a:lnTo>
                      <a:pt x="59" y="148"/>
                    </a:lnTo>
                    <a:lnTo>
                      <a:pt x="62" y="143"/>
                    </a:lnTo>
                    <a:lnTo>
                      <a:pt x="60" y="138"/>
                    </a:lnTo>
                    <a:lnTo>
                      <a:pt x="55" y="130"/>
                    </a:lnTo>
                    <a:lnTo>
                      <a:pt x="51" y="123"/>
                    </a:lnTo>
                    <a:lnTo>
                      <a:pt x="46" y="115"/>
                    </a:lnTo>
                    <a:lnTo>
                      <a:pt x="40" y="109"/>
                    </a:lnTo>
                    <a:lnTo>
                      <a:pt x="31" y="100"/>
                    </a:lnTo>
                    <a:lnTo>
                      <a:pt x="24" y="91"/>
                    </a:lnTo>
                    <a:lnTo>
                      <a:pt x="17" y="84"/>
                    </a:lnTo>
                    <a:lnTo>
                      <a:pt x="12" y="78"/>
                    </a:lnTo>
                    <a:lnTo>
                      <a:pt x="6" y="70"/>
                    </a:lnTo>
                    <a:lnTo>
                      <a:pt x="2" y="65"/>
                    </a:lnTo>
                    <a:lnTo>
                      <a:pt x="2" y="44"/>
                    </a:lnTo>
                    <a:lnTo>
                      <a:pt x="2" y="65"/>
                    </a:lnTo>
                    <a:lnTo>
                      <a:pt x="2" y="44"/>
                    </a:lnTo>
                    <a:lnTo>
                      <a:pt x="2" y="53"/>
                    </a:lnTo>
                    <a:lnTo>
                      <a:pt x="2" y="48"/>
                    </a:lnTo>
                    <a:lnTo>
                      <a:pt x="4" y="55"/>
                    </a:lnTo>
                    <a:lnTo>
                      <a:pt x="11" y="63"/>
                    </a:lnTo>
                    <a:lnTo>
                      <a:pt x="17" y="70"/>
                    </a:lnTo>
                    <a:lnTo>
                      <a:pt x="25" y="80"/>
                    </a:lnTo>
                    <a:lnTo>
                      <a:pt x="30" y="87"/>
                    </a:lnTo>
                    <a:lnTo>
                      <a:pt x="37" y="95"/>
                    </a:lnTo>
                    <a:lnTo>
                      <a:pt x="43" y="106"/>
                    </a:lnTo>
                    <a:lnTo>
                      <a:pt x="48" y="115"/>
                    </a:lnTo>
                    <a:lnTo>
                      <a:pt x="54" y="124"/>
                    </a:lnTo>
                    <a:lnTo>
                      <a:pt x="61" y="138"/>
                    </a:lnTo>
                    <a:lnTo>
                      <a:pt x="64" y="146"/>
                    </a:lnTo>
                    <a:lnTo>
                      <a:pt x="66" y="151"/>
                    </a:lnTo>
                    <a:lnTo>
                      <a:pt x="70" y="143"/>
                    </a:lnTo>
                    <a:lnTo>
                      <a:pt x="75" y="135"/>
                    </a:lnTo>
                    <a:lnTo>
                      <a:pt x="80" y="127"/>
                    </a:lnTo>
                    <a:lnTo>
                      <a:pt x="85" y="118"/>
                    </a:lnTo>
                    <a:lnTo>
                      <a:pt x="90" y="110"/>
                    </a:lnTo>
                    <a:lnTo>
                      <a:pt x="94" y="103"/>
                    </a:lnTo>
                    <a:lnTo>
                      <a:pt x="100" y="96"/>
                    </a:lnTo>
                    <a:lnTo>
                      <a:pt x="106" y="87"/>
                    </a:lnTo>
                    <a:lnTo>
                      <a:pt x="113" y="78"/>
                    </a:lnTo>
                    <a:lnTo>
                      <a:pt x="120" y="68"/>
                    </a:lnTo>
                    <a:lnTo>
                      <a:pt x="127" y="58"/>
                    </a:lnTo>
                    <a:lnTo>
                      <a:pt x="132" y="50"/>
                    </a:lnTo>
                    <a:lnTo>
                      <a:pt x="139" y="39"/>
                    </a:lnTo>
                    <a:lnTo>
                      <a:pt x="144" y="33"/>
                    </a:lnTo>
                    <a:lnTo>
                      <a:pt x="150" y="26"/>
                    </a:lnTo>
                    <a:lnTo>
                      <a:pt x="156" y="21"/>
                    </a:lnTo>
                    <a:lnTo>
                      <a:pt x="161" y="15"/>
                    </a:lnTo>
                    <a:lnTo>
                      <a:pt x="165" y="6"/>
                    </a:lnTo>
                    <a:lnTo>
                      <a:pt x="170" y="0"/>
                    </a:lnTo>
                    <a:lnTo>
                      <a:pt x="169" y="5"/>
                    </a:lnTo>
                    <a:lnTo>
                      <a:pt x="168" y="13"/>
                    </a:lnTo>
                    <a:lnTo>
                      <a:pt x="166" y="21"/>
                    </a:lnTo>
                    <a:lnTo>
                      <a:pt x="163" y="29"/>
                    </a:lnTo>
                    <a:lnTo>
                      <a:pt x="159" y="37"/>
                    </a:lnTo>
                    <a:lnTo>
                      <a:pt x="153" y="47"/>
                    </a:lnTo>
                    <a:lnTo>
                      <a:pt x="148" y="56"/>
                    </a:lnTo>
                    <a:lnTo>
                      <a:pt x="143" y="67"/>
                    </a:lnTo>
                    <a:lnTo>
                      <a:pt x="137" y="76"/>
                    </a:lnTo>
                    <a:lnTo>
                      <a:pt x="130" y="87"/>
                    </a:lnTo>
                    <a:lnTo>
                      <a:pt x="124" y="95"/>
                    </a:lnTo>
                  </a:path>
                </a:pathLst>
              </a:custGeom>
              <a:solidFill>
                <a:srgbClr val="037C03">
                  <a:alpha val="50195"/>
                </a:srgbClr>
              </a:solidFill>
              <a:ln w="9525">
                <a:noFill/>
              </a:ln>
            </p:spPr>
            <p:txBody>
              <a:bodyPr/>
              <a:lstStyle/>
              <a:p>
                <a:endParaRPr lang="zh-CN" altLang="en-US"/>
              </a:p>
            </p:txBody>
          </p:sp>
          <p:grpSp>
            <p:nvGrpSpPr>
              <p:cNvPr id="89273" name="Group 56"/>
              <p:cNvGrpSpPr/>
              <p:nvPr/>
            </p:nvGrpSpPr>
            <p:grpSpPr>
              <a:xfrm>
                <a:off x="1707" y="1466"/>
                <a:ext cx="484" cy="368"/>
                <a:chOff x="1707" y="1466"/>
                <a:chExt cx="484" cy="368"/>
              </a:xfrm>
            </p:grpSpPr>
            <p:sp>
              <p:nvSpPr>
                <p:cNvPr id="89275" name="Freeform 57"/>
                <p:cNvSpPr/>
                <p:nvPr/>
              </p:nvSpPr>
              <p:spPr>
                <a:xfrm>
                  <a:off x="1751" y="1466"/>
                  <a:ext cx="440" cy="342"/>
                </a:xfrm>
                <a:custGeom>
                  <a:avLst/>
                  <a:gdLst>
                    <a:gd name="txL" fmla="*/ 0 w 440"/>
                    <a:gd name="txT" fmla="*/ 0 h 342"/>
                    <a:gd name="txR" fmla="*/ 440 w 440"/>
                    <a:gd name="txB" fmla="*/ 342 h 342"/>
                  </a:gdLst>
                  <a:ahLst/>
                  <a:cxnLst>
                    <a:cxn ang="0">
                      <a:pos x="167" y="42"/>
                    </a:cxn>
                    <a:cxn ang="0">
                      <a:pos x="202" y="14"/>
                    </a:cxn>
                    <a:cxn ang="0">
                      <a:pos x="245" y="3"/>
                    </a:cxn>
                    <a:cxn ang="0">
                      <a:pos x="292" y="2"/>
                    </a:cxn>
                    <a:cxn ang="0">
                      <a:pos x="304" y="7"/>
                    </a:cxn>
                    <a:cxn ang="0">
                      <a:pos x="272" y="15"/>
                    </a:cxn>
                    <a:cxn ang="0">
                      <a:pos x="236" y="26"/>
                    </a:cxn>
                    <a:cxn ang="0">
                      <a:pos x="195" y="55"/>
                    </a:cxn>
                    <a:cxn ang="0">
                      <a:pos x="191" y="94"/>
                    </a:cxn>
                    <a:cxn ang="0">
                      <a:pos x="252" y="70"/>
                    </a:cxn>
                    <a:cxn ang="0">
                      <a:pos x="301" y="67"/>
                    </a:cxn>
                    <a:cxn ang="0">
                      <a:pos x="354" y="72"/>
                    </a:cxn>
                    <a:cxn ang="0">
                      <a:pos x="416" y="79"/>
                    </a:cxn>
                    <a:cxn ang="0">
                      <a:pos x="417" y="80"/>
                    </a:cxn>
                    <a:cxn ang="0">
                      <a:pos x="357" y="83"/>
                    </a:cxn>
                    <a:cxn ang="0">
                      <a:pos x="302" y="84"/>
                    </a:cxn>
                    <a:cxn ang="0">
                      <a:pos x="254" y="90"/>
                    </a:cxn>
                    <a:cxn ang="0">
                      <a:pos x="200" y="103"/>
                    </a:cxn>
                    <a:cxn ang="0">
                      <a:pos x="222" y="123"/>
                    </a:cxn>
                    <a:cxn ang="0">
                      <a:pos x="238" y="142"/>
                    </a:cxn>
                    <a:cxn ang="0">
                      <a:pos x="184" y="125"/>
                    </a:cxn>
                    <a:cxn ang="0">
                      <a:pos x="173" y="136"/>
                    </a:cxn>
                    <a:cxn ang="0">
                      <a:pos x="232" y="145"/>
                    </a:cxn>
                    <a:cxn ang="0">
                      <a:pos x="282" y="157"/>
                    </a:cxn>
                    <a:cxn ang="0">
                      <a:pos x="321" y="190"/>
                    </a:cxn>
                    <a:cxn ang="0">
                      <a:pos x="351" y="234"/>
                    </a:cxn>
                    <a:cxn ang="0">
                      <a:pos x="344" y="242"/>
                    </a:cxn>
                    <a:cxn ang="0">
                      <a:pos x="304" y="214"/>
                    </a:cxn>
                    <a:cxn ang="0">
                      <a:pos x="259" y="183"/>
                    </a:cxn>
                    <a:cxn ang="0">
                      <a:pos x="211" y="162"/>
                    </a:cxn>
                    <a:cxn ang="0">
                      <a:pos x="180" y="155"/>
                    </a:cxn>
                    <a:cxn ang="0">
                      <a:pos x="206" y="189"/>
                    </a:cxn>
                    <a:cxn ang="0">
                      <a:pos x="238" y="234"/>
                    </a:cxn>
                    <a:cxn ang="0">
                      <a:pos x="256" y="275"/>
                    </a:cxn>
                    <a:cxn ang="0">
                      <a:pos x="255" y="313"/>
                    </a:cxn>
                    <a:cxn ang="0">
                      <a:pos x="232" y="271"/>
                    </a:cxn>
                    <a:cxn ang="0">
                      <a:pos x="208" y="226"/>
                    </a:cxn>
                    <a:cxn ang="0">
                      <a:pos x="181" y="185"/>
                    </a:cxn>
                    <a:cxn ang="0">
                      <a:pos x="157" y="149"/>
                    </a:cxn>
                    <a:cxn ang="0">
                      <a:pos x="115" y="170"/>
                    </a:cxn>
                    <a:cxn ang="0">
                      <a:pos x="80" y="221"/>
                    </a:cxn>
                    <a:cxn ang="0">
                      <a:pos x="51" y="273"/>
                    </a:cxn>
                    <a:cxn ang="0">
                      <a:pos x="18" y="321"/>
                    </a:cxn>
                    <a:cxn ang="0">
                      <a:pos x="8" y="315"/>
                    </a:cxn>
                    <a:cxn ang="0">
                      <a:pos x="47" y="255"/>
                    </a:cxn>
                    <a:cxn ang="0">
                      <a:pos x="82" y="208"/>
                    </a:cxn>
                    <a:cxn ang="0">
                      <a:pos x="112" y="162"/>
                    </a:cxn>
                    <a:cxn ang="0">
                      <a:pos x="139" y="126"/>
                    </a:cxn>
                    <a:cxn ang="0">
                      <a:pos x="99" y="83"/>
                    </a:cxn>
                    <a:cxn ang="0">
                      <a:pos x="43" y="60"/>
                    </a:cxn>
                    <a:cxn ang="0">
                      <a:pos x="20" y="47"/>
                    </a:cxn>
                    <a:cxn ang="0">
                      <a:pos x="63" y="61"/>
                    </a:cxn>
                    <a:cxn ang="0">
                      <a:pos x="122" y="90"/>
                    </a:cxn>
                  </a:cxnLst>
                  <a:rect l="txL" t="txT" r="txR" b="txB"/>
                  <a:pathLst>
                    <a:path w="440" h="342">
                      <a:moveTo>
                        <a:pt x="138" y="87"/>
                      </a:moveTo>
                      <a:lnTo>
                        <a:pt x="141" y="78"/>
                      </a:lnTo>
                      <a:lnTo>
                        <a:pt x="146" y="69"/>
                      </a:lnTo>
                      <a:lnTo>
                        <a:pt x="153" y="59"/>
                      </a:lnTo>
                      <a:lnTo>
                        <a:pt x="160" y="51"/>
                      </a:lnTo>
                      <a:lnTo>
                        <a:pt x="167" y="42"/>
                      </a:lnTo>
                      <a:lnTo>
                        <a:pt x="172" y="36"/>
                      </a:lnTo>
                      <a:lnTo>
                        <a:pt x="178" y="31"/>
                      </a:lnTo>
                      <a:lnTo>
                        <a:pt x="184" y="26"/>
                      </a:lnTo>
                      <a:lnTo>
                        <a:pt x="190" y="21"/>
                      </a:lnTo>
                      <a:lnTo>
                        <a:pt x="196" y="17"/>
                      </a:lnTo>
                      <a:lnTo>
                        <a:pt x="202" y="14"/>
                      </a:lnTo>
                      <a:lnTo>
                        <a:pt x="208" y="11"/>
                      </a:lnTo>
                      <a:lnTo>
                        <a:pt x="215" y="8"/>
                      </a:lnTo>
                      <a:lnTo>
                        <a:pt x="222" y="7"/>
                      </a:lnTo>
                      <a:lnTo>
                        <a:pt x="230" y="5"/>
                      </a:lnTo>
                      <a:lnTo>
                        <a:pt x="237" y="3"/>
                      </a:lnTo>
                      <a:lnTo>
                        <a:pt x="245" y="3"/>
                      </a:lnTo>
                      <a:lnTo>
                        <a:pt x="252" y="2"/>
                      </a:lnTo>
                      <a:lnTo>
                        <a:pt x="260" y="2"/>
                      </a:lnTo>
                      <a:lnTo>
                        <a:pt x="270" y="1"/>
                      </a:lnTo>
                      <a:lnTo>
                        <a:pt x="278" y="2"/>
                      </a:lnTo>
                      <a:lnTo>
                        <a:pt x="285" y="2"/>
                      </a:lnTo>
                      <a:lnTo>
                        <a:pt x="292" y="2"/>
                      </a:lnTo>
                      <a:lnTo>
                        <a:pt x="299" y="2"/>
                      </a:lnTo>
                      <a:lnTo>
                        <a:pt x="307" y="1"/>
                      </a:lnTo>
                      <a:lnTo>
                        <a:pt x="314" y="0"/>
                      </a:lnTo>
                      <a:lnTo>
                        <a:pt x="310" y="2"/>
                      </a:lnTo>
                      <a:lnTo>
                        <a:pt x="307" y="4"/>
                      </a:lnTo>
                      <a:lnTo>
                        <a:pt x="304" y="7"/>
                      </a:lnTo>
                      <a:lnTo>
                        <a:pt x="301" y="10"/>
                      </a:lnTo>
                      <a:lnTo>
                        <a:pt x="295" y="10"/>
                      </a:lnTo>
                      <a:lnTo>
                        <a:pt x="288" y="11"/>
                      </a:lnTo>
                      <a:lnTo>
                        <a:pt x="284" y="12"/>
                      </a:lnTo>
                      <a:lnTo>
                        <a:pt x="278" y="13"/>
                      </a:lnTo>
                      <a:lnTo>
                        <a:pt x="272" y="15"/>
                      </a:lnTo>
                      <a:lnTo>
                        <a:pt x="266" y="16"/>
                      </a:lnTo>
                      <a:lnTo>
                        <a:pt x="260" y="17"/>
                      </a:lnTo>
                      <a:lnTo>
                        <a:pt x="254" y="19"/>
                      </a:lnTo>
                      <a:lnTo>
                        <a:pt x="248" y="21"/>
                      </a:lnTo>
                      <a:lnTo>
                        <a:pt x="241" y="23"/>
                      </a:lnTo>
                      <a:lnTo>
                        <a:pt x="236" y="26"/>
                      </a:lnTo>
                      <a:lnTo>
                        <a:pt x="229" y="29"/>
                      </a:lnTo>
                      <a:lnTo>
                        <a:pt x="222" y="32"/>
                      </a:lnTo>
                      <a:lnTo>
                        <a:pt x="215" y="36"/>
                      </a:lnTo>
                      <a:lnTo>
                        <a:pt x="208" y="41"/>
                      </a:lnTo>
                      <a:lnTo>
                        <a:pt x="201" y="47"/>
                      </a:lnTo>
                      <a:lnTo>
                        <a:pt x="195" y="55"/>
                      </a:lnTo>
                      <a:lnTo>
                        <a:pt x="189" y="64"/>
                      </a:lnTo>
                      <a:lnTo>
                        <a:pt x="181" y="77"/>
                      </a:lnTo>
                      <a:lnTo>
                        <a:pt x="175" y="90"/>
                      </a:lnTo>
                      <a:lnTo>
                        <a:pt x="167" y="106"/>
                      </a:lnTo>
                      <a:lnTo>
                        <a:pt x="180" y="99"/>
                      </a:lnTo>
                      <a:lnTo>
                        <a:pt x="191" y="94"/>
                      </a:lnTo>
                      <a:lnTo>
                        <a:pt x="206" y="86"/>
                      </a:lnTo>
                      <a:lnTo>
                        <a:pt x="222" y="78"/>
                      </a:lnTo>
                      <a:lnTo>
                        <a:pt x="229" y="77"/>
                      </a:lnTo>
                      <a:lnTo>
                        <a:pt x="236" y="74"/>
                      </a:lnTo>
                      <a:lnTo>
                        <a:pt x="243" y="72"/>
                      </a:lnTo>
                      <a:lnTo>
                        <a:pt x="252" y="70"/>
                      </a:lnTo>
                      <a:lnTo>
                        <a:pt x="261" y="68"/>
                      </a:lnTo>
                      <a:lnTo>
                        <a:pt x="269" y="68"/>
                      </a:lnTo>
                      <a:lnTo>
                        <a:pt x="275" y="67"/>
                      </a:lnTo>
                      <a:lnTo>
                        <a:pt x="285" y="66"/>
                      </a:lnTo>
                      <a:lnTo>
                        <a:pt x="294" y="66"/>
                      </a:lnTo>
                      <a:lnTo>
                        <a:pt x="301" y="67"/>
                      </a:lnTo>
                      <a:lnTo>
                        <a:pt x="311" y="68"/>
                      </a:lnTo>
                      <a:lnTo>
                        <a:pt x="319" y="69"/>
                      </a:lnTo>
                      <a:lnTo>
                        <a:pt x="328" y="69"/>
                      </a:lnTo>
                      <a:lnTo>
                        <a:pt x="336" y="70"/>
                      </a:lnTo>
                      <a:lnTo>
                        <a:pt x="345" y="71"/>
                      </a:lnTo>
                      <a:lnTo>
                        <a:pt x="354" y="72"/>
                      </a:lnTo>
                      <a:lnTo>
                        <a:pt x="363" y="73"/>
                      </a:lnTo>
                      <a:lnTo>
                        <a:pt x="371" y="74"/>
                      </a:lnTo>
                      <a:lnTo>
                        <a:pt x="381" y="75"/>
                      </a:lnTo>
                      <a:lnTo>
                        <a:pt x="392" y="76"/>
                      </a:lnTo>
                      <a:lnTo>
                        <a:pt x="401" y="77"/>
                      </a:lnTo>
                      <a:lnTo>
                        <a:pt x="416" y="79"/>
                      </a:lnTo>
                      <a:lnTo>
                        <a:pt x="421" y="79"/>
                      </a:lnTo>
                      <a:lnTo>
                        <a:pt x="425" y="79"/>
                      </a:lnTo>
                      <a:lnTo>
                        <a:pt x="430" y="81"/>
                      </a:lnTo>
                      <a:lnTo>
                        <a:pt x="439" y="84"/>
                      </a:lnTo>
                      <a:lnTo>
                        <a:pt x="424" y="81"/>
                      </a:lnTo>
                      <a:lnTo>
                        <a:pt x="417" y="80"/>
                      </a:lnTo>
                      <a:lnTo>
                        <a:pt x="411" y="80"/>
                      </a:lnTo>
                      <a:lnTo>
                        <a:pt x="397" y="81"/>
                      </a:lnTo>
                      <a:lnTo>
                        <a:pt x="388" y="82"/>
                      </a:lnTo>
                      <a:lnTo>
                        <a:pt x="377" y="82"/>
                      </a:lnTo>
                      <a:lnTo>
                        <a:pt x="367" y="82"/>
                      </a:lnTo>
                      <a:lnTo>
                        <a:pt x="357" y="83"/>
                      </a:lnTo>
                      <a:lnTo>
                        <a:pt x="348" y="83"/>
                      </a:lnTo>
                      <a:lnTo>
                        <a:pt x="340" y="82"/>
                      </a:lnTo>
                      <a:lnTo>
                        <a:pt x="330" y="82"/>
                      </a:lnTo>
                      <a:lnTo>
                        <a:pt x="319" y="82"/>
                      </a:lnTo>
                      <a:lnTo>
                        <a:pt x="310" y="83"/>
                      </a:lnTo>
                      <a:lnTo>
                        <a:pt x="302" y="84"/>
                      </a:lnTo>
                      <a:lnTo>
                        <a:pt x="292" y="84"/>
                      </a:lnTo>
                      <a:lnTo>
                        <a:pt x="285" y="84"/>
                      </a:lnTo>
                      <a:lnTo>
                        <a:pt x="276" y="85"/>
                      </a:lnTo>
                      <a:lnTo>
                        <a:pt x="269" y="87"/>
                      </a:lnTo>
                      <a:lnTo>
                        <a:pt x="261" y="88"/>
                      </a:lnTo>
                      <a:lnTo>
                        <a:pt x="254" y="90"/>
                      </a:lnTo>
                      <a:lnTo>
                        <a:pt x="246" y="92"/>
                      </a:lnTo>
                      <a:lnTo>
                        <a:pt x="238" y="94"/>
                      </a:lnTo>
                      <a:lnTo>
                        <a:pt x="229" y="96"/>
                      </a:lnTo>
                      <a:lnTo>
                        <a:pt x="222" y="98"/>
                      </a:lnTo>
                      <a:lnTo>
                        <a:pt x="208" y="102"/>
                      </a:lnTo>
                      <a:lnTo>
                        <a:pt x="200" y="103"/>
                      </a:lnTo>
                      <a:lnTo>
                        <a:pt x="189" y="108"/>
                      </a:lnTo>
                      <a:lnTo>
                        <a:pt x="172" y="115"/>
                      </a:lnTo>
                      <a:lnTo>
                        <a:pt x="189" y="117"/>
                      </a:lnTo>
                      <a:lnTo>
                        <a:pt x="209" y="118"/>
                      </a:lnTo>
                      <a:lnTo>
                        <a:pt x="213" y="118"/>
                      </a:lnTo>
                      <a:lnTo>
                        <a:pt x="222" y="123"/>
                      </a:lnTo>
                      <a:lnTo>
                        <a:pt x="228" y="126"/>
                      </a:lnTo>
                      <a:lnTo>
                        <a:pt x="234" y="129"/>
                      </a:lnTo>
                      <a:lnTo>
                        <a:pt x="235" y="131"/>
                      </a:lnTo>
                      <a:lnTo>
                        <a:pt x="238" y="137"/>
                      </a:lnTo>
                      <a:lnTo>
                        <a:pt x="245" y="146"/>
                      </a:lnTo>
                      <a:lnTo>
                        <a:pt x="238" y="142"/>
                      </a:lnTo>
                      <a:lnTo>
                        <a:pt x="229" y="137"/>
                      </a:lnTo>
                      <a:lnTo>
                        <a:pt x="222" y="135"/>
                      </a:lnTo>
                      <a:lnTo>
                        <a:pt x="209" y="132"/>
                      </a:lnTo>
                      <a:lnTo>
                        <a:pt x="199" y="129"/>
                      </a:lnTo>
                      <a:lnTo>
                        <a:pt x="189" y="126"/>
                      </a:lnTo>
                      <a:lnTo>
                        <a:pt x="184" y="125"/>
                      </a:lnTo>
                      <a:lnTo>
                        <a:pt x="172" y="126"/>
                      </a:lnTo>
                      <a:lnTo>
                        <a:pt x="165" y="127"/>
                      </a:lnTo>
                      <a:lnTo>
                        <a:pt x="155" y="129"/>
                      </a:lnTo>
                      <a:lnTo>
                        <a:pt x="160" y="131"/>
                      </a:lnTo>
                      <a:lnTo>
                        <a:pt x="166" y="132"/>
                      </a:lnTo>
                      <a:lnTo>
                        <a:pt x="173" y="136"/>
                      </a:lnTo>
                      <a:lnTo>
                        <a:pt x="181" y="135"/>
                      </a:lnTo>
                      <a:lnTo>
                        <a:pt x="195" y="136"/>
                      </a:lnTo>
                      <a:lnTo>
                        <a:pt x="203" y="137"/>
                      </a:lnTo>
                      <a:lnTo>
                        <a:pt x="215" y="140"/>
                      </a:lnTo>
                      <a:lnTo>
                        <a:pt x="222" y="143"/>
                      </a:lnTo>
                      <a:lnTo>
                        <a:pt x="232" y="145"/>
                      </a:lnTo>
                      <a:lnTo>
                        <a:pt x="242" y="148"/>
                      </a:lnTo>
                      <a:lnTo>
                        <a:pt x="251" y="151"/>
                      </a:lnTo>
                      <a:lnTo>
                        <a:pt x="259" y="152"/>
                      </a:lnTo>
                      <a:lnTo>
                        <a:pt x="266" y="153"/>
                      </a:lnTo>
                      <a:lnTo>
                        <a:pt x="273" y="155"/>
                      </a:lnTo>
                      <a:lnTo>
                        <a:pt x="282" y="157"/>
                      </a:lnTo>
                      <a:lnTo>
                        <a:pt x="291" y="161"/>
                      </a:lnTo>
                      <a:lnTo>
                        <a:pt x="299" y="165"/>
                      </a:lnTo>
                      <a:lnTo>
                        <a:pt x="303" y="169"/>
                      </a:lnTo>
                      <a:lnTo>
                        <a:pt x="309" y="175"/>
                      </a:lnTo>
                      <a:lnTo>
                        <a:pt x="316" y="183"/>
                      </a:lnTo>
                      <a:lnTo>
                        <a:pt x="321" y="190"/>
                      </a:lnTo>
                      <a:lnTo>
                        <a:pt x="326" y="197"/>
                      </a:lnTo>
                      <a:lnTo>
                        <a:pt x="331" y="204"/>
                      </a:lnTo>
                      <a:lnTo>
                        <a:pt x="335" y="212"/>
                      </a:lnTo>
                      <a:lnTo>
                        <a:pt x="340" y="218"/>
                      </a:lnTo>
                      <a:lnTo>
                        <a:pt x="345" y="226"/>
                      </a:lnTo>
                      <a:lnTo>
                        <a:pt x="351" y="234"/>
                      </a:lnTo>
                      <a:lnTo>
                        <a:pt x="356" y="243"/>
                      </a:lnTo>
                      <a:lnTo>
                        <a:pt x="361" y="250"/>
                      </a:lnTo>
                      <a:lnTo>
                        <a:pt x="368" y="258"/>
                      </a:lnTo>
                      <a:lnTo>
                        <a:pt x="359" y="251"/>
                      </a:lnTo>
                      <a:lnTo>
                        <a:pt x="353" y="247"/>
                      </a:lnTo>
                      <a:lnTo>
                        <a:pt x="344" y="242"/>
                      </a:lnTo>
                      <a:lnTo>
                        <a:pt x="336" y="236"/>
                      </a:lnTo>
                      <a:lnTo>
                        <a:pt x="330" y="231"/>
                      </a:lnTo>
                      <a:lnTo>
                        <a:pt x="323" y="226"/>
                      </a:lnTo>
                      <a:lnTo>
                        <a:pt x="317" y="222"/>
                      </a:lnTo>
                      <a:lnTo>
                        <a:pt x="311" y="218"/>
                      </a:lnTo>
                      <a:lnTo>
                        <a:pt x="304" y="214"/>
                      </a:lnTo>
                      <a:lnTo>
                        <a:pt x="297" y="210"/>
                      </a:lnTo>
                      <a:lnTo>
                        <a:pt x="291" y="205"/>
                      </a:lnTo>
                      <a:lnTo>
                        <a:pt x="284" y="200"/>
                      </a:lnTo>
                      <a:lnTo>
                        <a:pt x="275" y="195"/>
                      </a:lnTo>
                      <a:lnTo>
                        <a:pt x="267" y="189"/>
                      </a:lnTo>
                      <a:lnTo>
                        <a:pt x="259" y="183"/>
                      </a:lnTo>
                      <a:lnTo>
                        <a:pt x="252" y="179"/>
                      </a:lnTo>
                      <a:lnTo>
                        <a:pt x="245" y="174"/>
                      </a:lnTo>
                      <a:lnTo>
                        <a:pt x="237" y="170"/>
                      </a:lnTo>
                      <a:lnTo>
                        <a:pt x="229" y="167"/>
                      </a:lnTo>
                      <a:lnTo>
                        <a:pt x="222" y="165"/>
                      </a:lnTo>
                      <a:lnTo>
                        <a:pt x="211" y="162"/>
                      </a:lnTo>
                      <a:lnTo>
                        <a:pt x="201" y="159"/>
                      </a:lnTo>
                      <a:lnTo>
                        <a:pt x="194" y="157"/>
                      </a:lnTo>
                      <a:lnTo>
                        <a:pt x="186" y="155"/>
                      </a:lnTo>
                      <a:lnTo>
                        <a:pt x="175" y="149"/>
                      </a:lnTo>
                      <a:lnTo>
                        <a:pt x="163" y="144"/>
                      </a:lnTo>
                      <a:lnTo>
                        <a:pt x="180" y="155"/>
                      </a:lnTo>
                      <a:lnTo>
                        <a:pt x="182" y="157"/>
                      </a:lnTo>
                      <a:lnTo>
                        <a:pt x="186" y="162"/>
                      </a:lnTo>
                      <a:lnTo>
                        <a:pt x="190" y="168"/>
                      </a:lnTo>
                      <a:lnTo>
                        <a:pt x="195" y="175"/>
                      </a:lnTo>
                      <a:lnTo>
                        <a:pt x="201" y="182"/>
                      </a:lnTo>
                      <a:lnTo>
                        <a:pt x="206" y="189"/>
                      </a:lnTo>
                      <a:lnTo>
                        <a:pt x="212" y="197"/>
                      </a:lnTo>
                      <a:lnTo>
                        <a:pt x="217" y="204"/>
                      </a:lnTo>
                      <a:lnTo>
                        <a:pt x="222" y="210"/>
                      </a:lnTo>
                      <a:lnTo>
                        <a:pt x="227" y="217"/>
                      </a:lnTo>
                      <a:lnTo>
                        <a:pt x="233" y="227"/>
                      </a:lnTo>
                      <a:lnTo>
                        <a:pt x="238" y="234"/>
                      </a:lnTo>
                      <a:lnTo>
                        <a:pt x="242" y="241"/>
                      </a:lnTo>
                      <a:lnTo>
                        <a:pt x="246" y="248"/>
                      </a:lnTo>
                      <a:lnTo>
                        <a:pt x="250" y="255"/>
                      </a:lnTo>
                      <a:lnTo>
                        <a:pt x="252" y="262"/>
                      </a:lnTo>
                      <a:lnTo>
                        <a:pt x="254" y="267"/>
                      </a:lnTo>
                      <a:lnTo>
                        <a:pt x="256" y="275"/>
                      </a:lnTo>
                      <a:lnTo>
                        <a:pt x="257" y="285"/>
                      </a:lnTo>
                      <a:lnTo>
                        <a:pt x="258" y="294"/>
                      </a:lnTo>
                      <a:lnTo>
                        <a:pt x="259" y="304"/>
                      </a:lnTo>
                      <a:lnTo>
                        <a:pt x="261" y="313"/>
                      </a:lnTo>
                      <a:lnTo>
                        <a:pt x="262" y="323"/>
                      </a:lnTo>
                      <a:lnTo>
                        <a:pt x="255" y="313"/>
                      </a:lnTo>
                      <a:lnTo>
                        <a:pt x="249" y="307"/>
                      </a:lnTo>
                      <a:lnTo>
                        <a:pt x="245" y="300"/>
                      </a:lnTo>
                      <a:lnTo>
                        <a:pt x="241" y="295"/>
                      </a:lnTo>
                      <a:lnTo>
                        <a:pt x="238" y="288"/>
                      </a:lnTo>
                      <a:lnTo>
                        <a:pt x="236" y="280"/>
                      </a:lnTo>
                      <a:lnTo>
                        <a:pt x="232" y="271"/>
                      </a:lnTo>
                      <a:lnTo>
                        <a:pt x="228" y="263"/>
                      </a:lnTo>
                      <a:lnTo>
                        <a:pt x="224" y="254"/>
                      </a:lnTo>
                      <a:lnTo>
                        <a:pt x="221" y="246"/>
                      </a:lnTo>
                      <a:lnTo>
                        <a:pt x="217" y="238"/>
                      </a:lnTo>
                      <a:lnTo>
                        <a:pt x="212" y="232"/>
                      </a:lnTo>
                      <a:lnTo>
                        <a:pt x="208" y="226"/>
                      </a:lnTo>
                      <a:lnTo>
                        <a:pt x="202" y="218"/>
                      </a:lnTo>
                      <a:lnTo>
                        <a:pt x="196" y="211"/>
                      </a:lnTo>
                      <a:lnTo>
                        <a:pt x="191" y="205"/>
                      </a:lnTo>
                      <a:lnTo>
                        <a:pt x="186" y="199"/>
                      </a:lnTo>
                      <a:lnTo>
                        <a:pt x="185" y="194"/>
                      </a:lnTo>
                      <a:lnTo>
                        <a:pt x="181" y="185"/>
                      </a:lnTo>
                      <a:lnTo>
                        <a:pt x="177" y="179"/>
                      </a:lnTo>
                      <a:lnTo>
                        <a:pt x="174" y="171"/>
                      </a:lnTo>
                      <a:lnTo>
                        <a:pt x="172" y="169"/>
                      </a:lnTo>
                      <a:lnTo>
                        <a:pt x="165" y="162"/>
                      </a:lnTo>
                      <a:lnTo>
                        <a:pt x="161" y="155"/>
                      </a:lnTo>
                      <a:lnTo>
                        <a:pt x="157" y="149"/>
                      </a:lnTo>
                      <a:lnTo>
                        <a:pt x="153" y="143"/>
                      </a:lnTo>
                      <a:lnTo>
                        <a:pt x="145" y="146"/>
                      </a:lnTo>
                      <a:lnTo>
                        <a:pt x="137" y="151"/>
                      </a:lnTo>
                      <a:lnTo>
                        <a:pt x="129" y="158"/>
                      </a:lnTo>
                      <a:lnTo>
                        <a:pt x="121" y="164"/>
                      </a:lnTo>
                      <a:lnTo>
                        <a:pt x="115" y="170"/>
                      </a:lnTo>
                      <a:lnTo>
                        <a:pt x="110" y="176"/>
                      </a:lnTo>
                      <a:lnTo>
                        <a:pt x="104" y="185"/>
                      </a:lnTo>
                      <a:lnTo>
                        <a:pt x="97" y="195"/>
                      </a:lnTo>
                      <a:lnTo>
                        <a:pt x="92" y="203"/>
                      </a:lnTo>
                      <a:lnTo>
                        <a:pt x="85" y="212"/>
                      </a:lnTo>
                      <a:lnTo>
                        <a:pt x="80" y="221"/>
                      </a:lnTo>
                      <a:lnTo>
                        <a:pt x="76" y="229"/>
                      </a:lnTo>
                      <a:lnTo>
                        <a:pt x="71" y="237"/>
                      </a:lnTo>
                      <a:lnTo>
                        <a:pt x="67" y="245"/>
                      </a:lnTo>
                      <a:lnTo>
                        <a:pt x="62" y="254"/>
                      </a:lnTo>
                      <a:lnTo>
                        <a:pt x="58" y="263"/>
                      </a:lnTo>
                      <a:lnTo>
                        <a:pt x="51" y="273"/>
                      </a:lnTo>
                      <a:lnTo>
                        <a:pt x="45" y="283"/>
                      </a:lnTo>
                      <a:lnTo>
                        <a:pt x="38" y="294"/>
                      </a:lnTo>
                      <a:lnTo>
                        <a:pt x="33" y="303"/>
                      </a:lnTo>
                      <a:lnTo>
                        <a:pt x="28" y="309"/>
                      </a:lnTo>
                      <a:lnTo>
                        <a:pt x="24" y="315"/>
                      </a:lnTo>
                      <a:lnTo>
                        <a:pt x="18" y="321"/>
                      </a:lnTo>
                      <a:lnTo>
                        <a:pt x="13" y="327"/>
                      </a:lnTo>
                      <a:lnTo>
                        <a:pt x="7" y="333"/>
                      </a:lnTo>
                      <a:lnTo>
                        <a:pt x="0" y="341"/>
                      </a:lnTo>
                      <a:lnTo>
                        <a:pt x="2" y="331"/>
                      </a:lnTo>
                      <a:lnTo>
                        <a:pt x="5" y="324"/>
                      </a:lnTo>
                      <a:lnTo>
                        <a:pt x="8" y="315"/>
                      </a:lnTo>
                      <a:lnTo>
                        <a:pt x="13" y="309"/>
                      </a:lnTo>
                      <a:lnTo>
                        <a:pt x="20" y="298"/>
                      </a:lnTo>
                      <a:lnTo>
                        <a:pt x="27" y="287"/>
                      </a:lnTo>
                      <a:lnTo>
                        <a:pt x="35" y="275"/>
                      </a:lnTo>
                      <a:lnTo>
                        <a:pt x="41" y="265"/>
                      </a:lnTo>
                      <a:lnTo>
                        <a:pt x="47" y="255"/>
                      </a:lnTo>
                      <a:lnTo>
                        <a:pt x="54" y="246"/>
                      </a:lnTo>
                      <a:lnTo>
                        <a:pt x="59" y="238"/>
                      </a:lnTo>
                      <a:lnTo>
                        <a:pt x="64" y="231"/>
                      </a:lnTo>
                      <a:lnTo>
                        <a:pt x="69" y="224"/>
                      </a:lnTo>
                      <a:lnTo>
                        <a:pt x="76" y="216"/>
                      </a:lnTo>
                      <a:lnTo>
                        <a:pt x="82" y="208"/>
                      </a:lnTo>
                      <a:lnTo>
                        <a:pt x="88" y="199"/>
                      </a:lnTo>
                      <a:lnTo>
                        <a:pt x="95" y="190"/>
                      </a:lnTo>
                      <a:lnTo>
                        <a:pt x="100" y="183"/>
                      </a:lnTo>
                      <a:lnTo>
                        <a:pt x="105" y="175"/>
                      </a:lnTo>
                      <a:lnTo>
                        <a:pt x="110" y="167"/>
                      </a:lnTo>
                      <a:lnTo>
                        <a:pt x="112" y="162"/>
                      </a:lnTo>
                      <a:lnTo>
                        <a:pt x="114" y="156"/>
                      </a:lnTo>
                      <a:lnTo>
                        <a:pt x="118" y="151"/>
                      </a:lnTo>
                      <a:lnTo>
                        <a:pt x="122" y="145"/>
                      </a:lnTo>
                      <a:lnTo>
                        <a:pt x="129" y="138"/>
                      </a:lnTo>
                      <a:lnTo>
                        <a:pt x="134" y="131"/>
                      </a:lnTo>
                      <a:lnTo>
                        <a:pt x="139" y="126"/>
                      </a:lnTo>
                      <a:lnTo>
                        <a:pt x="143" y="119"/>
                      </a:lnTo>
                      <a:lnTo>
                        <a:pt x="141" y="114"/>
                      </a:lnTo>
                      <a:lnTo>
                        <a:pt x="139" y="106"/>
                      </a:lnTo>
                      <a:lnTo>
                        <a:pt x="127" y="102"/>
                      </a:lnTo>
                      <a:lnTo>
                        <a:pt x="113" y="92"/>
                      </a:lnTo>
                      <a:lnTo>
                        <a:pt x="99" y="83"/>
                      </a:lnTo>
                      <a:lnTo>
                        <a:pt x="92" y="78"/>
                      </a:lnTo>
                      <a:lnTo>
                        <a:pt x="86" y="74"/>
                      </a:lnTo>
                      <a:lnTo>
                        <a:pt x="75" y="70"/>
                      </a:lnTo>
                      <a:lnTo>
                        <a:pt x="64" y="66"/>
                      </a:lnTo>
                      <a:lnTo>
                        <a:pt x="52" y="63"/>
                      </a:lnTo>
                      <a:lnTo>
                        <a:pt x="43" y="60"/>
                      </a:lnTo>
                      <a:lnTo>
                        <a:pt x="33" y="56"/>
                      </a:lnTo>
                      <a:lnTo>
                        <a:pt x="24" y="53"/>
                      </a:lnTo>
                      <a:lnTo>
                        <a:pt x="15" y="51"/>
                      </a:lnTo>
                      <a:lnTo>
                        <a:pt x="8" y="49"/>
                      </a:lnTo>
                      <a:lnTo>
                        <a:pt x="15" y="49"/>
                      </a:lnTo>
                      <a:lnTo>
                        <a:pt x="20" y="47"/>
                      </a:lnTo>
                      <a:lnTo>
                        <a:pt x="25" y="47"/>
                      </a:lnTo>
                      <a:lnTo>
                        <a:pt x="29" y="46"/>
                      </a:lnTo>
                      <a:lnTo>
                        <a:pt x="34" y="47"/>
                      </a:lnTo>
                      <a:lnTo>
                        <a:pt x="45" y="51"/>
                      </a:lnTo>
                      <a:lnTo>
                        <a:pt x="53" y="56"/>
                      </a:lnTo>
                      <a:lnTo>
                        <a:pt x="63" y="61"/>
                      </a:lnTo>
                      <a:lnTo>
                        <a:pt x="72" y="66"/>
                      </a:lnTo>
                      <a:lnTo>
                        <a:pt x="84" y="71"/>
                      </a:lnTo>
                      <a:lnTo>
                        <a:pt x="93" y="77"/>
                      </a:lnTo>
                      <a:lnTo>
                        <a:pt x="101" y="81"/>
                      </a:lnTo>
                      <a:lnTo>
                        <a:pt x="115" y="88"/>
                      </a:lnTo>
                      <a:lnTo>
                        <a:pt x="122" y="90"/>
                      </a:lnTo>
                      <a:lnTo>
                        <a:pt x="128" y="89"/>
                      </a:lnTo>
                      <a:lnTo>
                        <a:pt x="133" y="88"/>
                      </a:lnTo>
                      <a:lnTo>
                        <a:pt x="138" y="87"/>
                      </a:lnTo>
                    </a:path>
                  </a:pathLst>
                </a:custGeom>
                <a:solidFill>
                  <a:srgbClr val="037C03">
                    <a:alpha val="50195"/>
                  </a:srgbClr>
                </a:solidFill>
                <a:ln w="9525">
                  <a:noFill/>
                </a:ln>
              </p:spPr>
              <p:txBody>
                <a:bodyPr/>
                <a:lstStyle/>
                <a:p>
                  <a:endParaRPr lang="zh-CN" altLang="en-US"/>
                </a:p>
              </p:txBody>
            </p:sp>
            <p:sp>
              <p:nvSpPr>
                <p:cNvPr id="89276" name="Freeform 58"/>
                <p:cNvSpPr/>
                <p:nvPr/>
              </p:nvSpPr>
              <p:spPr>
                <a:xfrm>
                  <a:off x="1900" y="1641"/>
                  <a:ext cx="39" cy="193"/>
                </a:xfrm>
                <a:custGeom>
                  <a:avLst/>
                  <a:gdLst>
                    <a:gd name="txL" fmla="*/ 0 w 39"/>
                    <a:gd name="txT" fmla="*/ 0 h 193"/>
                    <a:gd name="txR" fmla="*/ 39 w 39"/>
                    <a:gd name="txB" fmla="*/ 193 h 193"/>
                  </a:gdLst>
                  <a:ahLst/>
                  <a:cxnLst>
                    <a:cxn ang="0">
                      <a:pos x="20" y="0"/>
                    </a:cxn>
                    <a:cxn ang="0">
                      <a:pos x="25" y="9"/>
                    </a:cxn>
                    <a:cxn ang="0">
                      <a:pos x="28" y="15"/>
                    </a:cxn>
                    <a:cxn ang="0">
                      <a:pos x="34" y="24"/>
                    </a:cxn>
                    <a:cxn ang="0">
                      <a:pos x="36" y="33"/>
                    </a:cxn>
                    <a:cxn ang="0">
                      <a:pos x="37" y="43"/>
                    </a:cxn>
                    <a:cxn ang="0">
                      <a:pos x="37" y="56"/>
                    </a:cxn>
                    <a:cxn ang="0">
                      <a:pos x="38" y="64"/>
                    </a:cxn>
                    <a:cxn ang="0">
                      <a:pos x="37" y="75"/>
                    </a:cxn>
                    <a:cxn ang="0">
                      <a:pos x="36" y="86"/>
                    </a:cxn>
                    <a:cxn ang="0">
                      <a:pos x="34" y="97"/>
                    </a:cxn>
                    <a:cxn ang="0">
                      <a:pos x="31" y="113"/>
                    </a:cxn>
                    <a:cxn ang="0">
                      <a:pos x="29" y="122"/>
                    </a:cxn>
                    <a:cxn ang="0">
                      <a:pos x="24" y="132"/>
                    </a:cxn>
                    <a:cxn ang="0">
                      <a:pos x="18" y="144"/>
                    </a:cxn>
                    <a:cxn ang="0">
                      <a:pos x="12" y="155"/>
                    </a:cxn>
                    <a:cxn ang="0">
                      <a:pos x="7" y="165"/>
                    </a:cxn>
                    <a:cxn ang="0">
                      <a:pos x="3" y="174"/>
                    </a:cxn>
                    <a:cxn ang="0">
                      <a:pos x="0" y="192"/>
                    </a:cxn>
                    <a:cxn ang="0">
                      <a:pos x="1" y="174"/>
                    </a:cxn>
                    <a:cxn ang="0">
                      <a:pos x="3" y="162"/>
                    </a:cxn>
                    <a:cxn ang="0">
                      <a:pos x="4" y="151"/>
                    </a:cxn>
                    <a:cxn ang="0">
                      <a:pos x="5" y="139"/>
                    </a:cxn>
                    <a:cxn ang="0">
                      <a:pos x="7" y="124"/>
                    </a:cxn>
                    <a:cxn ang="0">
                      <a:pos x="10" y="113"/>
                    </a:cxn>
                    <a:cxn ang="0">
                      <a:pos x="12" y="102"/>
                    </a:cxn>
                    <a:cxn ang="0">
                      <a:pos x="15" y="93"/>
                    </a:cxn>
                    <a:cxn ang="0">
                      <a:pos x="18" y="82"/>
                    </a:cxn>
                    <a:cxn ang="0">
                      <a:pos x="20" y="72"/>
                    </a:cxn>
                    <a:cxn ang="0">
                      <a:pos x="22" y="61"/>
                    </a:cxn>
                    <a:cxn ang="0">
                      <a:pos x="23" y="52"/>
                    </a:cxn>
                    <a:cxn ang="0">
                      <a:pos x="24" y="41"/>
                    </a:cxn>
                    <a:cxn ang="0">
                      <a:pos x="24" y="30"/>
                    </a:cxn>
                    <a:cxn ang="0">
                      <a:pos x="24" y="15"/>
                    </a:cxn>
                    <a:cxn ang="0">
                      <a:pos x="22" y="8"/>
                    </a:cxn>
                    <a:cxn ang="0">
                      <a:pos x="20" y="0"/>
                    </a:cxn>
                  </a:cxnLst>
                  <a:rect l="txL" t="txT" r="txR" b="txB"/>
                  <a:pathLst>
                    <a:path w="39" h="193">
                      <a:moveTo>
                        <a:pt x="20" y="0"/>
                      </a:moveTo>
                      <a:lnTo>
                        <a:pt x="25" y="9"/>
                      </a:lnTo>
                      <a:lnTo>
                        <a:pt x="28" y="15"/>
                      </a:lnTo>
                      <a:lnTo>
                        <a:pt x="34" y="24"/>
                      </a:lnTo>
                      <a:lnTo>
                        <a:pt x="36" y="33"/>
                      </a:lnTo>
                      <a:lnTo>
                        <a:pt x="37" y="43"/>
                      </a:lnTo>
                      <a:lnTo>
                        <a:pt x="37" y="56"/>
                      </a:lnTo>
                      <a:lnTo>
                        <a:pt x="38" y="64"/>
                      </a:lnTo>
                      <a:lnTo>
                        <a:pt x="37" y="75"/>
                      </a:lnTo>
                      <a:lnTo>
                        <a:pt x="36" y="86"/>
                      </a:lnTo>
                      <a:lnTo>
                        <a:pt x="34" y="97"/>
                      </a:lnTo>
                      <a:lnTo>
                        <a:pt x="31" y="113"/>
                      </a:lnTo>
                      <a:lnTo>
                        <a:pt x="29" y="122"/>
                      </a:lnTo>
                      <a:lnTo>
                        <a:pt x="24" y="132"/>
                      </a:lnTo>
                      <a:lnTo>
                        <a:pt x="18" y="144"/>
                      </a:lnTo>
                      <a:lnTo>
                        <a:pt x="12" y="155"/>
                      </a:lnTo>
                      <a:lnTo>
                        <a:pt x="7" y="165"/>
                      </a:lnTo>
                      <a:lnTo>
                        <a:pt x="3" y="174"/>
                      </a:lnTo>
                      <a:lnTo>
                        <a:pt x="0" y="192"/>
                      </a:lnTo>
                      <a:lnTo>
                        <a:pt x="1" y="174"/>
                      </a:lnTo>
                      <a:lnTo>
                        <a:pt x="3" y="162"/>
                      </a:lnTo>
                      <a:lnTo>
                        <a:pt x="4" y="151"/>
                      </a:lnTo>
                      <a:lnTo>
                        <a:pt x="5" y="139"/>
                      </a:lnTo>
                      <a:lnTo>
                        <a:pt x="7" y="124"/>
                      </a:lnTo>
                      <a:lnTo>
                        <a:pt x="10" y="113"/>
                      </a:lnTo>
                      <a:lnTo>
                        <a:pt x="12" y="102"/>
                      </a:lnTo>
                      <a:lnTo>
                        <a:pt x="15" y="93"/>
                      </a:lnTo>
                      <a:lnTo>
                        <a:pt x="18" y="82"/>
                      </a:lnTo>
                      <a:lnTo>
                        <a:pt x="20" y="72"/>
                      </a:lnTo>
                      <a:lnTo>
                        <a:pt x="22" y="61"/>
                      </a:lnTo>
                      <a:lnTo>
                        <a:pt x="23" y="52"/>
                      </a:lnTo>
                      <a:lnTo>
                        <a:pt x="24" y="41"/>
                      </a:lnTo>
                      <a:lnTo>
                        <a:pt x="24" y="30"/>
                      </a:lnTo>
                      <a:lnTo>
                        <a:pt x="24" y="15"/>
                      </a:lnTo>
                      <a:lnTo>
                        <a:pt x="22" y="8"/>
                      </a:lnTo>
                      <a:lnTo>
                        <a:pt x="20" y="0"/>
                      </a:lnTo>
                    </a:path>
                  </a:pathLst>
                </a:custGeom>
                <a:solidFill>
                  <a:srgbClr val="037C03">
                    <a:alpha val="50195"/>
                  </a:srgbClr>
                </a:solidFill>
                <a:ln w="9525">
                  <a:noFill/>
                </a:ln>
              </p:spPr>
              <p:txBody>
                <a:bodyPr/>
                <a:lstStyle/>
                <a:p>
                  <a:endParaRPr lang="zh-CN" altLang="en-US"/>
                </a:p>
              </p:txBody>
            </p:sp>
            <p:sp>
              <p:nvSpPr>
                <p:cNvPr id="89277" name="Freeform 59"/>
                <p:cNvSpPr/>
                <p:nvPr/>
              </p:nvSpPr>
              <p:spPr>
                <a:xfrm>
                  <a:off x="1716" y="1535"/>
                  <a:ext cx="171" cy="50"/>
                </a:xfrm>
                <a:custGeom>
                  <a:avLst/>
                  <a:gdLst>
                    <a:gd name="txL" fmla="*/ 0 w 171"/>
                    <a:gd name="txT" fmla="*/ 0 h 50"/>
                    <a:gd name="txR" fmla="*/ 171 w 171"/>
                    <a:gd name="txB" fmla="*/ 50 h 50"/>
                  </a:gdLst>
                  <a:ahLst/>
                  <a:cxnLst>
                    <a:cxn ang="0">
                      <a:pos x="170" y="49"/>
                    </a:cxn>
                    <a:cxn ang="0">
                      <a:pos x="167" y="40"/>
                    </a:cxn>
                    <a:cxn ang="0">
                      <a:pos x="163" y="33"/>
                    </a:cxn>
                    <a:cxn ang="0">
                      <a:pos x="160" y="31"/>
                    </a:cxn>
                    <a:cxn ang="0">
                      <a:pos x="153" y="29"/>
                    </a:cxn>
                    <a:cxn ang="0">
                      <a:pos x="147" y="27"/>
                    </a:cxn>
                    <a:cxn ang="0">
                      <a:pos x="140" y="29"/>
                    </a:cxn>
                    <a:cxn ang="0">
                      <a:pos x="132" y="30"/>
                    </a:cxn>
                    <a:cxn ang="0">
                      <a:pos x="123" y="27"/>
                    </a:cxn>
                    <a:cxn ang="0">
                      <a:pos x="111" y="22"/>
                    </a:cxn>
                    <a:cxn ang="0">
                      <a:pos x="100" y="18"/>
                    </a:cxn>
                    <a:cxn ang="0">
                      <a:pos x="92" y="16"/>
                    </a:cxn>
                    <a:cxn ang="0">
                      <a:pos x="80" y="12"/>
                    </a:cxn>
                    <a:cxn ang="0">
                      <a:pos x="67" y="8"/>
                    </a:cxn>
                    <a:cxn ang="0">
                      <a:pos x="55" y="5"/>
                    </a:cxn>
                    <a:cxn ang="0">
                      <a:pos x="42" y="1"/>
                    </a:cxn>
                    <a:cxn ang="0">
                      <a:pos x="28" y="1"/>
                    </a:cxn>
                    <a:cxn ang="0">
                      <a:pos x="15" y="0"/>
                    </a:cxn>
                    <a:cxn ang="0">
                      <a:pos x="12" y="1"/>
                    </a:cxn>
                    <a:cxn ang="0">
                      <a:pos x="7" y="4"/>
                    </a:cxn>
                    <a:cxn ang="0">
                      <a:pos x="3" y="7"/>
                    </a:cxn>
                    <a:cxn ang="0">
                      <a:pos x="0" y="11"/>
                    </a:cxn>
                    <a:cxn ang="0">
                      <a:pos x="5" y="11"/>
                    </a:cxn>
                    <a:cxn ang="0">
                      <a:pos x="12" y="12"/>
                    </a:cxn>
                    <a:cxn ang="0">
                      <a:pos x="19" y="12"/>
                    </a:cxn>
                    <a:cxn ang="0">
                      <a:pos x="23" y="11"/>
                    </a:cxn>
                    <a:cxn ang="0">
                      <a:pos x="30" y="11"/>
                    </a:cxn>
                    <a:cxn ang="0">
                      <a:pos x="39" y="11"/>
                    </a:cxn>
                    <a:cxn ang="0">
                      <a:pos x="51" y="11"/>
                    </a:cxn>
                    <a:cxn ang="0">
                      <a:pos x="61" y="12"/>
                    </a:cxn>
                    <a:cxn ang="0">
                      <a:pos x="71" y="14"/>
                    </a:cxn>
                    <a:cxn ang="0">
                      <a:pos x="81" y="15"/>
                    </a:cxn>
                    <a:cxn ang="0">
                      <a:pos x="91" y="16"/>
                    </a:cxn>
                    <a:cxn ang="0">
                      <a:pos x="99" y="19"/>
                    </a:cxn>
                    <a:cxn ang="0">
                      <a:pos x="108" y="23"/>
                    </a:cxn>
                    <a:cxn ang="0">
                      <a:pos x="116" y="27"/>
                    </a:cxn>
                    <a:cxn ang="0">
                      <a:pos x="125" y="31"/>
                    </a:cxn>
                    <a:cxn ang="0">
                      <a:pos x="129" y="32"/>
                    </a:cxn>
                    <a:cxn ang="0">
                      <a:pos x="134" y="31"/>
                    </a:cxn>
                    <a:cxn ang="0">
                      <a:pos x="140" y="34"/>
                    </a:cxn>
                    <a:cxn ang="0">
                      <a:pos x="146" y="37"/>
                    </a:cxn>
                    <a:cxn ang="0">
                      <a:pos x="152" y="40"/>
                    </a:cxn>
                    <a:cxn ang="0">
                      <a:pos x="161" y="44"/>
                    </a:cxn>
                    <a:cxn ang="0">
                      <a:pos x="167" y="46"/>
                    </a:cxn>
                    <a:cxn ang="0">
                      <a:pos x="170" y="49"/>
                    </a:cxn>
                  </a:cxnLst>
                  <a:rect l="txL" t="txT" r="txR" b="txB"/>
                  <a:pathLst>
                    <a:path w="171" h="50">
                      <a:moveTo>
                        <a:pt x="170" y="49"/>
                      </a:moveTo>
                      <a:lnTo>
                        <a:pt x="167" y="40"/>
                      </a:lnTo>
                      <a:lnTo>
                        <a:pt x="163" y="33"/>
                      </a:lnTo>
                      <a:lnTo>
                        <a:pt x="160" y="31"/>
                      </a:lnTo>
                      <a:lnTo>
                        <a:pt x="153" y="29"/>
                      </a:lnTo>
                      <a:lnTo>
                        <a:pt x="147" y="27"/>
                      </a:lnTo>
                      <a:lnTo>
                        <a:pt x="140" y="29"/>
                      </a:lnTo>
                      <a:lnTo>
                        <a:pt x="132" y="30"/>
                      </a:lnTo>
                      <a:lnTo>
                        <a:pt x="123" y="27"/>
                      </a:lnTo>
                      <a:lnTo>
                        <a:pt x="111" y="22"/>
                      </a:lnTo>
                      <a:lnTo>
                        <a:pt x="100" y="18"/>
                      </a:lnTo>
                      <a:lnTo>
                        <a:pt x="92" y="16"/>
                      </a:lnTo>
                      <a:lnTo>
                        <a:pt x="80" y="12"/>
                      </a:lnTo>
                      <a:lnTo>
                        <a:pt x="67" y="8"/>
                      </a:lnTo>
                      <a:lnTo>
                        <a:pt x="55" y="5"/>
                      </a:lnTo>
                      <a:lnTo>
                        <a:pt x="42" y="1"/>
                      </a:lnTo>
                      <a:lnTo>
                        <a:pt x="28" y="1"/>
                      </a:lnTo>
                      <a:lnTo>
                        <a:pt x="15" y="0"/>
                      </a:lnTo>
                      <a:lnTo>
                        <a:pt x="12" y="1"/>
                      </a:lnTo>
                      <a:lnTo>
                        <a:pt x="7" y="4"/>
                      </a:lnTo>
                      <a:lnTo>
                        <a:pt x="3" y="7"/>
                      </a:lnTo>
                      <a:lnTo>
                        <a:pt x="0" y="11"/>
                      </a:lnTo>
                      <a:lnTo>
                        <a:pt x="5" y="11"/>
                      </a:lnTo>
                      <a:lnTo>
                        <a:pt x="12" y="12"/>
                      </a:lnTo>
                      <a:lnTo>
                        <a:pt x="19" y="12"/>
                      </a:lnTo>
                      <a:lnTo>
                        <a:pt x="23" y="11"/>
                      </a:lnTo>
                      <a:lnTo>
                        <a:pt x="30" y="11"/>
                      </a:lnTo>
                      <a:lnTo>
                        <a:pt x="39" y="11"/>
                      </a:lnTo>
                      <a:lnTo>
                        <a:pt x="51" y="11"/>
                      </a:lnTo>
                      <a:lnTo>
                        <a:pt x="61" y="12"/>
                      </a:lnTo>
                      <a:lnTo>
                        <a:pt x="71" y="14"/>
                      </a:lnTo>
                      <a:lnTo>
                        <a:pt x="81" y="15"/>
                      </a:lnTo>
                      <a:lnTo>
                        <a:pt x="91" y="16"/>
                      </a:lnTo>
                      <a:lnTo>
                        <a:pt x="99" y="19"/>
                      </a:lnTo>
                      <a:lnTo>
                        <a:pt x="108" y="23"/>
                      </a:lnTo>
                      <a:lnTo>
                        <a:pt x="116" y="27"/>
                      </a:lnTo>
                      <a:lnTo>
                        <a:pt x="125" y="31"/>
                      </a:lnTo>
                      <a:lnTo>
                        <a:pt x="129" y="32"/>
                      </a:lnTo>
                      <a:lnTo>
                        <a:pt x="134" y="31"/>
                      </a:lnTo>
                      <a:lnTo>
                        <a:pt x="140" y="34"/>
                      </a:lnTo>
                      <a:lnTo>
                        <a:pt x="146" y="37"/>
                      </a:lnTo>
                      <a:lnTo>
                        <a:pt x="152" y="40"/>
                      </a:lnTo>
                      <a:lnTo>
                        <a:pt x="161" y="44"/>
                      </a:lnTo>
                      <a:lnTo>
                        <a:pt x="167" y="46"/>
                      </a:lnTo>
                      <a:lnTo>
                        <a:pt x="170" y="49"/>
                      </a:lnTo>
                    </a:path>
                  </a:pathLst>
                </a:custGeom>
                <a:solidFill>
                  <a:srgbClr val="037C03">
                    <a:alpha val="50195"/>
                  </a:srgbClr>
                </a:solidFill>
                <a:ln w="9525">
                  <a:noFill/>
                </a:ln>
              </p:spPr>
              <p:txBody>
                <a:bodyPr/>
                <a:lstStyle/>
                <a:p>
                  <a:endParaRPr lang="zh-CN" altLang="en-US"/>
                </a:p>
              </p:txBody>
            </p:sp>
            <p:sp>
              <p:nvSpPr>
                <p:cNvPr id="89278" name="Freeform 60"/>
                <p:cNvSpPr/>
                <p:nvPr/>
              </p:nvSpPr>
              <p:spPr>
                <a:xfrm>
                  <a:off x="1707" y="1563"/>
                  <a:ext cx="177" cy="21"/>
                </a:xfrm>
                <a:custGeom>
                  <a:avLst/>
                  <a:gdLst>
                    <a:gd name="txL" fmla="*/ 0 w 177"/>
                    <a:gd name="txT" fmla="*/ 0 h 21"/>
                    <a:gd name="txR" fmla="*/ 177 w 177"/>
                    <a:gd name="txB" fmla="*/ 21 h 21"/>
                  </a:gdLst>
                  <a:ahLst/>
                  <a:cxnLst>
                    <a:cxn ang="0">
                      <a:pos x="176" y="20"/>
                    </a:cxn>
                    <a:cxn ang="0">
                      <a:pos x="171" y="18"/>
                    </a:cxn>
                    <a:cxn ang="0">
                      <a:pos x="166" y="16"/>
                    </a:cxn>
                    <a:cxn ang="0">
                      <a:pos x="161" y="13"/>
                    </a:cxn>
                    <a:cxn ang="0">
                      <a:pos x="155" y="12"/>
                    </a:cxn>
                    <a:cxn ang="0">
                      <a:pos x="149" y="10"/>
                    </a:cxn>
                    <a:cxn ang="0">
                      <a:pos x="141" y="6"/>
                    </a:cxn>
                    <a:cxn ang="0">
                      <a:pos x="134" y="3"/>
                    </a:cxn>
                    <a:cxn ang="0">
                      <a:pos x="128" y="2"/>
                    </a:cxn>
                    <a:cxn ang="0">
                      <a:pos x="120" y="3"/>
                    </a:cxn>
                    <a:cxn ang="0">
                      <a:pos x="110" y="5"/>
                    </a:cxn>
                    <a:cxn ang="0">
                      <a:pos x="106" y="5"/>
                    </a:cxn>
                    <a:cxn ang="0">
                      <a:pos x="93" y="3"/>
                    </a:cxn>
                    <a:cxn ang="0">
                      <a:pos x="78" y="1"/>
                    </a:cxn>
                    <a:cxn ang="0">
                      <a:pos x="69" y="0"/>
                    </a:cxn>
                    <a:cxn ang="0">
                      <a:pos x="57" y="0"/>
                    </a:cxn>
                    <a:cxn ang="0">
                      <a:pos x="44" y="0"/>
                    </a:cxn>
                    <a:cxn ang="0">
                      <a:pos x="36" y="1"/>
                    </a:cxn>
                    <a:cxn ang="0">
                      <a:pos x="27" y="2"/>
                    </a:cxn>
                    <a:cxn ang="0">
                      <a:pos x="18" y="3"/>
                    </a:cxn>
                    <a:cxn ang="0">
                      <a:pos x="9" y="4"/>
                    </a:cxn>
                    <a:cxn ang="0">
                      <a:pos x="8" y="8"/>
                    </a:cxn>
                    <a:cxn ang="0">
                      <a:pos x="7" y="11"/>
                    </a:cxn>
                    <a:cxn ang="0">
                      <a:pos x="4" y="15"/>
                    </a:cxn>
                    <a:cxn ang="0">
                      <a:pos x="0" y="17"/>
                    </a:cxn>
                    <a:cxn ang="0">
                      <a:pos x="7" y="16"/>
                    </a:cxn>
                    <a:cxn ang="0">
                      <a:pos x="15" y="14"/>
                    </a:cxn>
                    <a:cxn ang="0">
                      <a:pos x="22" y="12"/>
                    </a:cxn>
                    <a:cxn ang="0">
                      <a:pos x="29" y="11"/>
                    </a:cxn>
                    <a:cxn ang="0">
                      <a:pos x="37" y="10"/>
                    </a:cxn>
                    <a:cxn ang="0">
                      <a:pos x="50" y="10"/>
                    </a:cxn>
                    <a:cxn ang="0">
                      <a:pos x="63" y="8"/>
                    </a:cxn>
                    <a:cxn ang="0">
                      <a:pos x="79" y="8"/>
                    </a:cxn>
                    <a:cxn ang="0">
                      <a:pos x="94" y="7"/>
                    </a:cxn>
                    <a:cxn ang="0">
                      <a:pos x="108" y="6"/>
                    </a:cxn>
                    <a:cxn ang="0">
                      <a:pos x="120" y="7"/>
                    </a:cxn>
                    <a:cxn ang="0">
                      <a:pos x="129" y="10"/>
                    </a:cxn>
                    <a:cxn ang="0">
                      <a:pos x="138" y="12"/>
                    </a:cxn>
                    <a:cxn ang="0">
                      <a:pos x="148" y="14"/>
                    </a:cxn>
                    <a:cxn ang="0">
                      <a:pos x="159" y="17"/>
                    </a:cxn>
                    <a:cxn ang="0">
                      <a:pos x="167" y="18"/>
                    </a:cxn>
                    <a:cxn ang="0">
                      <a:pos x="176" y="20"/>
                    </a:cxn>
                  </a:cxnLst>
                  <a:rect l="txL" t="txT" r="txR" b="txB"/>
                  <a:pathLst>
                    <a:path w="177" h="21">
                      <a:moveTo>
                        <a:pt x="176" y="20"/>
                      </a:moveTo>
                      <a:lnTo>
                        <a:pt x="171" y="18"/>
                      </a:lnTo>
                      <a:lnTo>
                        <a:pt x="166" y="16"/>
                      </a:lnTo>
                      <a:lnTo>
                        <a:pt x="161" y="13"/>
                      </a:lnTo>
                      <a:lnTo>
                        <a:pt x="155" y="12"/>
                      </a:lnTo>
                      <a:lnTo>
                        <a:pt x="149" y="10"/>
                      </a:lnTo>
                      <a:lnTo>
                        <a:pt x="141" y="6"/>
                      </a:lnTo>
                      <a:lnTo>
                        <a:pt x="134" y="3"/>
                      </a:lnTo>
                      <a:lnTo>
                        <a:pt x="128" y="2"/>
                      </a:lnTo>
                      <a:lnTo>
                        <a:pt x="120" y="3"/>
                      </a:lnTo>
                      <a:lnTo>
                        <a:pt x="110" y="5"/>
                      </a:lnTo>
                      <a:lnTo>
                        <a:pt x="106" y="5"/>
                      </a:lnTo>
                      <a:lnTo>
                        <a:pt x="93" y="3"/>
                      </a:lnTo>
                      <a:lnTo>
                        <a:pt x="78" y="1"/>
                      </a:lnTo>
                      <a:lnTo>
                        <a:pt x="69" y="0"/>
                      </a:lnTo>
                      <a:lnTo>
                        <a:pt x="57" y="0"/>
                      </a:lnTo>
                      <a:lnTo>
                        <a:pt x="44" y="0"/>
                      </a:lnTo>
                      <a:lnTo>
                        <a:pt x="36" y="1"/>
                      </a:lnTo>
                      <a:lnTo>
                        <a:pt x="27" y="2"/>
                      </a:lnTo>
                      <a:lnTo>
                        <a:pt x="18" y="3"/>
                      </a:lnTo>
                      <a:lnTo>
                        <a:pt x="9" y="4"/>
                      </a:lnTo>
                      <a:lnTo>
                        <a:pt x="8" y="8"/>
                      </a:lnTo>
                      <a:lnTo>
                        <a:pt x="7" y="11"/>
                      </a:lnTo>
                      <a:lnTo>
                        <a:pt x="4" y="15"/>
                      </a:lnTo>
                      <a:lnTo>
                        <a:pt x="0" y="17"/>
                      </a:lnTo>
                      <a:lnTo>
                        <a:pt x="7" y="16"/>
                      </a:lnTo>
                      <a:lnTo>
                        <a:pt x="15" y="14"/>
                      </a:lnTo>
                      <a:lnTo>
                        <a:pt x="22" y="12"/>
                      </a:lnTo>
                      <a:lnTo>
                        <a:pt x="29" y="11"/>
                      </a:lnTo>
                      <a:lnTo>
                        <a:pt x="37" y="10"/>
                      </a:lnTo>
                      <a:lnTo>
                        <a:pt x="50" y="10"/>
                      </a:lnTo>
                      <a:lnTo>
                        <a:pt x="63" y="8"/>
                      </a:lnTo>
                      <a:lnTo>
                        <a:pt x="79" y="8"/>
                      </a:lnTo>
                      <a:lnTo>
                        <a:pt x="94" y="7"/>
                      </a:lnTo>
                      <a:lnTo>
                        <a:pt x="108" y="6"/>
                      </a:lnTo>
                      <a:lnTo>
                        <a:pt x="120" y="7"/>
                      </a:lnTo>
                      <a:lnTo>
                        <a:pt x="129" y="10"/>
                      </a:lnTo>
                      <a:lnTo>
                        <a:pt x="138" y="12"/>
                      </a:lnTo>
                      <a:lnTo>
                        <a:pt x="148" y="14"/>
                      </a:lnTo>
                      <a:lnTo>
                        <a:pt x="159" y="17"/>
                      </a:lnTo>
                      <a:lnTo>
                        <a:pt x="167" y="18"/>
                      </a:lnTo>
                      <a:lnTo>
                        <a:pt x="176" y="20"/>
                      </a:lnTo>
                    </a:path>
                  </a:pathLst>
                </a:custGeom>
                <a:solidFill>
                  <a:srgbClr val="037C03">
                    <a:alpha val="50195"/>
                  </a:srgbClr>
                </a:solidFill>
                <a:ln w="9525">
                  <a:noFill/>
                </a:ln>
              </p:spPr>
              <p:txBody>
                <a:bodyPr/>
                <a:lstStyle/>
                <a:p>
                  <a:endParaRPr lang="zh-CN" altLang="en-US"/>
                </a:p>
              </p:txBody>
            </p:sp>
          </p:grpSp>
          <p:sp>
            <p:nvSpPr>
              <p:cNvPr id="89274" name="Freeform 61"/>
              <p:cNvSpPr/>
              <p:nvPr/>
            </p:nvSpPr>
            <p:spPr>
              <a:xfrm>
                <a:off x="1691" y="1023"/>
                <a:ext cx="261" cy="374"/>
              </a:xfrm>
              <a:custGeom>
                <a:avLst/>
                <a:gdLst>
                  <a:gd name="txL" fmla="*/ 0 w 261"/>
                  <a:gd name="txT" fmla="*/ 0 h 374"/>
                  <a:gd name="txR" fmla="*/ 261 w 261"/>
                  <a:gd name="txB" fmla="*/ 374 h 374"/>
                </a:gdLst>
                <a:ahLst/>
                <a:cxnLst>
                  <a:cxn ang="0">
                    <a:pos x="82" y="162"/>
                  </a:cxn>
                  <a:cxn ang="0">
                    <a:pos x="90" y="154"/>
                  </a:cxn>
                  <a:cxn ang="0">
                    <a:pos x="76" y="104"/>
                  </a:cxn>
                  <a:cxn ang="0">
                    <a:pos x="54" y="56"/>
                  </a:cxn>
                  <a:cxn ang="0">
                    <a:pos x="31" y="33"/>
                  </a:cxn>
                  <a:cxn ang="0">
                    <a:pos x="51" y="45"/>
                  </a:cxn>
                  <a:cxn ang="0">
                    <a:pos x="72" y="84"/>
                  </a:cxn>
                  <a:cxn ang="0">
                    <a:pos x="92" y="126"/>
                  </a:cxn>
                  <a:cxn ang="0">
                    <a:pos x="106" y="168"/>
                  </a:cxn>
                  <a:cxn ang="0">
                    <a:pos x="118" y="150"/>
                  </a:cxn>
                  <a:cxn ang="0">
                    <a:pos x="121" y="114"/>
                  </a:cxn>
                  <a:cxn ang="0">
                    <a:pos x="125" y="65"/>
                  </a:cxn>
                  <a:cxn ang="0">
                    <a:pos x="136" y="26"/>
                  </a:cxn>
                  <a:cxn ang="0">
                    <a:pos x="143" y="12"/>
                  </a:cxn>
                  <a:cxn ang="0">
                    <a:pos x="136" y="53"/>
                  </a:cxn>
                  <a:cxn ang="0">
                    <a:pos x="132" y="106"/>
                  </a:cxn>
                  <a:cxn ang="0">
                    <a:pos x="130" y="155"/>
                  </a:cxn>
                  <a:cxn ang="0">
                    <a:pos x="136" y="183"/>
                  </a:cxn>
                  <a:cxn ang="0">
                    <a:pos x="166" y="177"/>
                  </a:cxn>
                  <a:cxn ang="0">
                    <a:pos x="205" y="178"/>
                  </a:cxn>
                  <a:cxn ang="0">
                    <a:pos x="236" y="193"/>
                  </a:cxn>
                  <a:cxn ang="0">
                    <a:pos x="260" y="227"/>
                  </a:cxn>
                  <a:cxn ang="0">
                    <a:pos x="231" y="222"/>
                  </a:cxn>
                  <a:cxn ang="0">
                    <a:pos x="200" y="211"/>
                  </a:cxn>
                  <a:cxn ang="0">
                    <a:pos x="159" y="204"/>
                  </a:cxn>
                  <a:cxn ang="0">
                    <a:pos x="132" y="208"/>
                  </a:cxn>
                  <a:cxn ang="0">
                    <a:pos x="147" y="224"/>
                  </a:cxn>
                  <a:cxn ang="0">
                    <a:pos x="182" y="233"/>
                  </a:cxn>
                  <a:cxn ang="0">
                    <a:pos x="217" y="240"/>
                  </a:cxn>
                  <a:cxn ang="0">
                    <a:pos x="243" y="264"/>
                  </a:cxn>
                  <a:cxn ang="0">
                    <a:pos x="256" y="297"/>
                  </a:cxn>
                  <a:cxn ang="0">
                    <a:pos x="224" y="277"/>
                  </a:cxn>
                  <a:cxn ang="0">
                    <a:pos x="191" y="256"/>
                  </a:cxn>
                  <a:cxn ang="0">
                    <a:pos x="160" y="238"/>
                  </a:cxn>
                  <a:cxn ang="0">
                    <a:pos x="136" y="230"/>
                  </a:cxn>
                  <a:cxn ang="0">
                    <a:pos x="121" y="246"/>
                  </a:cxn>
                  <a:cxn ang="0">
                    <a:pos x="135" y="290"/>
                  </a:cxn>
                  <a:cxn ang="0">
                    <a:pos x="145" y="342"/>
                  </a:cxn>
                  <a:cxn ang="0">
                    <a:pos x="127" y="346"/>
                  </a:cxn>
                  <a:cxn ang="0">
                    <a:pos x="116" y="290"/>
                  </a:cxn>
                  <a:cxn ang="0">
                    <a:pos x="101" y="256"/>
                  </a:cxn>
                  <a:cxn ang="0">
                    <a:pos x="83" y="274"/>
                  </a:cxn>
                  <a:cxn ang="0">
                    <a:pos x="64" y="309"/>
                  </a:cxn>
                  <a:cxn ang="0">
                    <a:pos x="44" y="360"/>
                  </a:cxn>
                  <a:cxn ang="0">
                    <a:pos x="51" y="314"/>
                  </a:cxn>
                  <a:cxn ang="0">
                    <a:pos x="69" y="272"/>
                  </a:cxn>
                  <a:cxn ang="0">
                    <a:pos x="91" y="238"/>
                  </a:cxn>
                  <a:cxn ang="0">
                    <a:pos x="99" y="212"/>
                  </a:cxn>
                  <a:cxn ang="0">
                    <a:pos x="77" y="226"/>
                  </a:cxn>
                  <a:cxn ang="0">
                    <a:pos x="52" y="261"/>
                  </a:cxn>
                  <a:cxn ang="0">
                    <a:pos x="28" y="301"/>
                  </a:cxn>
                  <a:cxn ang="0">
                    <a:pos x="24" y="288"/>
                  </a:cxn>
                  <a:cxn ang="0">
                    <a:pos x="42" y="262"/>
                  </a:cxn>
                  <a:cxn ang="0">
                    <a:pos x="71" y="229"/>
                  </a:cxn>
                  <a:cxn ang="0">
                    <a:pos x="101" y="206"/>
                  </a:cxn>
                  <a:cxn ang="0">
                    <a:pos x="73" y="180"/>
                  </a:cxn>
                  <a:cxn ang="0">
                    <a:pos x="46" y="148"/>
                  </a:cxn>
                  <a:cxn ang="0">
                    <a:pos x="17" y="118"/>
                  </a:cxn>
                  <a:cxn ang="0">
                    <a:pos x="3" y="98"/>
                  </a:cxn>
                  <a:cxn ang="0">
                    <a:pos x="32" y="115"/>
                  </a:cxn>
                  <a:cxn ang="0">
                    <a:pos x="64" y="145"/>
                  </a:cxn>
                </a:cxnLst>
                <a:rect l="txL" t="txT" r="txR" b="txB"/>
                <a:pathLst>
                  <a:path w="261" h="374">
                    <a:moveTo>
                      <a:pt x="64" y="145"/>
                    </a:moveTo>
                    <a:lnTo>
                      <a:pt x="68" y="150"/>
                    </a:lnTo>
                    <a:lnTo>
                      <a:pt x="72" y="154"/>
                    </a:lnTo>
                    <a:lnTo>
                      <a:pt x="77" y="157"/>
                    </a:lnTo>
                    <a:lnTo>
                      <a:pt x="82" y="162"/>
                    </a:lnTo>
                    <a:lnTo>
                      <a:pt x="86" y="165"/>
                    </a:lnTo>
                    <a:lnTo>
                      <a:pt x="91" y="168"/>
                    </a:lnTo>
                    <a:lnTo>
                      <a:pt x="94" y="170"/>
                    </a:lnTo>
                    <a:lnTo>
                      <a:pt x="92" y="162"/>
                    </a:lnTo>
                    <a:lnTo>
                      <a:pt x="90" y="154"/>
                    </a:lnTo>
                    <a:lnTo>
                      <a:pt x="87" y="143"/>
                    </a:lnTo>
                    <a:lnTo>
                      <a:pt x="85" y="134"/>
                    </a:lnTo>
                    <a:lnTo>
                      <a:pt x="82" y="124"/>
                    </a:lnTo>
                    <a:lnTo>
                      <a:pt x="80" y="114"/>
                    </a:lnTo>
                    <a:lnTo>
                      <a:pt x="76" y="104"/>
                    </a:lnTo>
                    <a:lnTo>
                      <a:pt x="72" y="93"/>
                    </a:lnTo>
                    <a:lnTo>
                      <a:pt x="68" y="84"/>
                    </a:lnTo>
                    <a:lnTo>
                      <a:pt x="63" y="71"/>
                    </a:lnTo>
                    <a:lnTo>
                      <a:pt x="59" y="63"/>
                    </a:lnTo>
                    <a:lnTo>
                      <a:pt x="54" y="56"/>
                    </a:lnTo>
                    <a:lnTo>
                      <a:pt x="50" y="48"/>
                    </a:lnTo>
                    <a:lnTo>
                      <a:pt x="44" y="42"/>
                    </a:lnTo>
                    <a:lnTo>
                      <a:pt x="39" y="38"/>
                    </a:lnTo>
                    <a:lnTo>
                      <a:pt x="34" y="35"/>
                    </a:lnTo>
                    <a:lnTo>
                      <a:pt x="31" y="33"/>
                    </a:lnTo>
                    <a:lnTo>
                      <a:pt x="35" y="32"/>
                    </a:lnTo>
                    <a:lnTo>
                      <a:pt x="37" y="33"/>
                    </a:lnTo>
                    <a:lnTo>
                      <a:pt x="41" y="34"/>
                    </a:lnTo>
                    <a:lnTo>
                      <a:pt x="45" y="39"/>
                    </a:lnTo>
                    <a:lnTo>
                      <a:pt x="51" y="45"/>
                    </a:lnTo>
                    <a:lnTo>
                      <a:pt x="55" y="50"/>
                    </a:lnTo>
                    <a:lnTo>
                      <a:pt x="58" y="56"/>
                    </a:lnTo>
                    <a:lnTo>
                      <a:pt x="63" y="64"/>
                    </a:lnTo>
                    <a:lnTo>
                      <a:pt x="68" y="75"/>
                    </a:lnTo>
                    <a:lnTo>
                      <a:pt x="72" y="84"/>
                    </a:lnTo>
                    <a:lnTo>
                      <a:pt x="77" y="94"/>
                    </a:lnTo>
                    <a:lnTo>
                      <a:pt x="81" y="101"/>
                    </a:lnTo>
                    <a:lnTo>
                      <a:pt x="86" y="109"/>
                    </a:lnTo>
                    <a:lnTo>
                      <a:pt x="89" y="117"/>
                    </a:lnTo>
                    <a:lnTo>
                      <a:pt x="92" y="126"/>
                    </a:lnTo>
                    <a:lnTo>
                      <a:pt x="95" y="135"/>
                    </a:lnTo>
                    <a:lnTo>
                      <a:pt x="99" y="143"/>
                    </a:lnTo>
                    <a:lnTo>
                      <a:pt x="101" y="151"/>
                    </a:lnTo>
                    <a:lnTo>
                      <a:pt x="104" y="161"/>
                    </a:lnTo>
                    <a:lnTo>
                      <a:pt x="106" y="168"/>
                    </a:lnTo>
                    <a:lnTo>
                      <a:pt x="107" y="171"/>
                    </a:lnTo>
                    <a:lnTo>
                      <a:pt x="110" y="168"/>
                    </a:lnTo>
                    <a:lnTo>
                      <a:pt x="113" y="164"/>
                    </a:lnTo>
                    <a:lnTo>
                      <a:pt x="117" y="159"/>
                    </a:lnTo>
                    <a:lnTo>
                      <a:pt x="118" y="150"/>
                    </a:lnTo>
                    <a:lnTo>
                      <a:pt x="119" y="143"/>
                    </a:lnTo>
                    <a:lnTo>
                      <a:pt x="120" y="133"/>
                    </a:lnTo>
                    <a:lnTo>
                      <a:pt x="121" y="124"/>
                    </a:lnTo>
                    <a:lnTo>
                      <a:pt x="120" y="124"/>
                    </a:lnTo>
                    <a:lnTo>
                      <a:pt x="121" y="114"/>
                    </a:lnTo>
                    <a:lnTo>
                      <a:pt x="121" y="103"/>
                    </a:lnTo>
                    <a:lnTo>
                      <a:pt x="122" y="92"/>
                    </a:lnTo>
                    <a:lnTo>
                      <a:pt x="122" y="82"/>
                    </a:lnTo>
                    <a:lnTo>
                      <a:pt x="123" y="75"/>
                    </a:lnTo>
                    <a:lnTo>
                      <a:pt x="125" y="65"/>
                    </a:lnTo>
                    <a:lnTo>
                      <a:pt x="127" y="58"/>
                    </a:lnTo>
                    <a:lnTo>
                      <a:pt x="128" y="50"/>
                    </a:lnTo>
                    <a:lnTo>
                      <a:pt x="131" y="44"/>
                    </a:lnTo>
                    <a:lnTo>
                      <a:pt x="133" y="36"/>
                    </a:lnTo>
                    <a:lnTo>
                      <a:pt x="136" y="26"/>
                    </a:lnTo>
                    <a:lnTo>
                      <a:pt x="139" y="16"/>
                    </a:lnTo>
                    <a:lnTo>
                      <a:pt x="140" y="7"/>
                    </a:lnTo>
                    <a:lnTo>
                      <a:pt x="143" y="0"/>
                    </a:lnTo>
                    <a:lnTo>
                      <a:pt x="144" y="6"/>
                    </a:lnTo>
                    <a:lnTo>
                      <a:pt x="143" y="12"/>
                    </a:lnTo>
                    <a:lnTo>
                      <a:pt x="142" y="21"/>
                    </a:lnTo>
                    <a:lnTo>
                      <a:pt x="140" y="28"/>
                    </a:lnTo>
                    <a:lnTo>
                      <a:pt x="138" y="40"/>
                    </a:lnTo>
                    <a:lnTo>
                      <a:pt x="137" y="47"/>
                    </a:lnTo>
                    <a:lnTo>
                      <a:pt x="136" y="53"/>
                    </a:lnTo>
                    <a:lnTo>
                      <a:pt x="135" y="62"/>
                    </a:lnTo>
                    <a:lnTo>
                      <a:pt x="134" y="72"/>
                    </a:lnTo>
                    <a:lnTo>
                      <a:pt x="134" y="83"/>
                    </a:lnTo>
                    <a:lnTo>
                      <a:pt x="133" y="94"/>
                    </a:lnTo>
                    <a:lnTo>
                      <a:pt x="132" y="106"/>
                    </a:lnTo>
                    <a:lnTo>
                      <a:pt x="132" y="116"/>
                    </a:lnTo>
                    <a:lnTo>
                      <a:pt x="132" y="126"/>
                    </a:lnTo>
                    <a:lnTo>
                      <a:pt x="131" y="134"/>
                    </a:lnTo>
                    <a:lnTo>
                      <a:pt x="131" y="145"/>
                    </a:lnTo>
                    <a:lnTo>
                      <a:pt x="130" y="155"/>
                    </a:lnTo>
                    <a:lnTo>
                      <a:pt x="128" y="168"/>
                    </a:lnTo>
                    <a:lnTo>
                      <a:pt x="127" y="178"/>
                    </a:lnTo>
                    <a:lnTo>
                      <a:pt x="125" y="190"/>
                    </a:lnTo>
                    <a:lnTo>
                      <a:pt x="130" y="187"/>
                    </a:lnTo>
                    <a:lnTo>
                      <a:pt x="136" y="183"/>
                    </a:lnTo>
                    <a:lnTo>
                      <a:pt x="143" y="178"/>
                    </a:lnTo>
                    <a:lnTo>
                      <a:pt x="149" y="176"/>
                    </a:lnTo>
                    <a:lnTo>
                      <a:pt x="156" y="176"/>
                    </a:lnTo>
                    <a:lnTo>
                      <a:pt x="160" y="176"/>
                    </a:lnTo>
                    <a:lnTo>
                      <a:pt x="166" y="177"/>
                    </a:lnTo>
                    <a:lnTo>
                      <a:pt x="173" y="178"/>
                    </a:lnTo>
                    <a:lnTo>
                      <a:pt x="182" y="179"/>
                    </a:lnTo>
                    <a:lnTo>
                      <a:pt x="190" y="178"/>
                    </a:lnTo>
                    <a:lnTo>
                      <a:pt x="198" y="178"/>
                    </a:lnTo>
                    <a:lnTo>
                      <a:pt x="205" y="178"/>
                    </a:lnTo>
                    <a:lnTo>
                      <a:pt x="211" y="179"/>
                    </a:lnTo>
                    <a:lnTo>
                      <a:pt x="217" y="182"/>
                    </a:lnTo>
                    <a:lnTo>
                      <a:pt x="225" y="185"/>
                    </a:lnTo>
                    <a:lnTo>
                      <a:pt x="231" y="189"/>
                    </a:lnTo>
                    <a:lnTo>
                      <a:pt x="236" y="193"/>
                    </a:lnTo>
                    <a:lnTo>
                      <a:pt x="242" y="199"/>
                    </a:lnTo>
                    <a:lnTo>
                      <a:pt x="245" y="202"/>
                    </a:lnTo>
                    <a:lnTo>
                      <a:pt x="251" y="210"/>
                    </a:lnTo>
                    <a:lnTo>
                      <a:pt x="255" y="218"/>
                    </a:lnTo>
                    <a:lnTo>
                      <a:pt x="260" y="227"/>
                    </a:lnTo>
                    <a:lnTo>
                      <a:pt x="254" y="227"/>
                    </a:lnTo>
                    <a:lnTo>
                      <a:pt x="248" y="226"/>
                    </a:lnTo>
                    <a:lnTo>
                      <a:pt x="241" y="224"/>
                    </a:lnTo>
                    <a:lnTo>
                      <a:pt x="235" y="224"/>
                    </a:lnTo>
                    <a:lnTo>
                      <a:pt x="231" y="222"/>
                    </a:lnTo>
                    <a:lnTo>
                      <a:pt x="224" y="218"/>
                    </a:lnTo>
                    <a:lnTo>
                      <a:pt x="218" y="216"/>
                    </a:lnTo>
                    <a:lnTo>
                      <a:pt x="213" y="213"/>
                    </a:lnTo>
                    <a:lnTo>
                      <a:pt x="209" y="212"/>
                    </a:lnTo>
                    <a:lnTo>
                      <a:pt x="200" y="211"/>
                    </a:lnTo>
                    <a:lnTo>
                      <a:pt x="190" y="210"/>
                    </a:lnTo>
                    <a:lnTo>
                      <a:pt x="182" y="208"/>
                    </a:lnTo>
                    <a:lnTo>
                      <a:pt x="173" y="206"/>
                    </a:lnTo>
                    <a:lnTo>
                      <a:pt x="165" y="205"/>
                    </a:lnTo>
                    <a:lnTo>
                      <a:pt x="159" y="204"/>
                    </a:lnTo>
                    <a:lnTo>
                      <a:pt x="154" y="204"/>
                    </a:lnTo>
                    <a:lnTo>
                      <a:pt x="148" y="203"/>
                    </a:lnTo>
                    <a:lnTo>
                      <a:pt x="142" y="204"/>
                    </a:lnTo>
                    <a:lnTo>
                      <a:pt x="137" y="205"/>
                    </a:lnTo>
                    <a:lnTo>
                      <a:pt x="132" y="208"/>
                    </a:lnTo>
                    <a:lnTo>
                      <a:pt x="125" y="210"/>
                    </a:lnTo>
                    <a:lnTo>
                      <a:pt x="130" y="213"/>
                    </a:lnTo>
                    <a:lnTo>
                      <a:pt x="136" y="217"/>
                    </a:lnTo>
                    <a:lnTo>
                      <a:pt x="141" y="222"/>
                    </a:lnTo>
                    <a:lnTo>
                      <a:pt x="147" y="224"/>
                    </a:lnTo>
                    <a:lnTo>
                      <a:pt x="154" y="227"/>
                    </a:lnTo>
                    <a:lnTo>
                      <a:pt x="160" y="229"/>
                    </a:lnTo>
                    <a:lnTo>
                      <a:pt x="166" y="229"/>
                    </a:lnTo>
                    <a:lnTo>
                      <a:pt x="173" y="231"/>
                    </a:lnTo>
                    <a:lnTo>
                      <a:pt x="182" y="233"/>
                    </a:lnTo>
                    <a:lnTo>
                      <a:pt x="189" y="235"/>
                    </a:lnTo>
                    <a:lnTo>
                      <a:pt x="197" y="235"/>
                    </a:lnTo>
                    <a:lnTo>
                      <a:pt x="203" y="237"/>
                    </a:lnTo>
                    <a:lnTo>
                      <a:pt x="210" y="239"/>
                    </a:lnTo>
                    <a:lnTo>
                      <a:pt x="217" y="240"/>
                    </a:lnTo>
                    <a:lnTo>
                      <a:pt x="222" y="243"/>
                    </a:lnTo>
                    <a:lnTo>
                      <a:pt x="227" y="247"/>
                    </a:lnTo>
                    <a:lnTo>
                      <a:pt x="232" y="252"/>
                    </a:lnTo>
                    <a:lnTo>
                      <a:pt x="238" y="257"/>
                    </a:lnTo>
                    <a:lnTo>
                      <a:pt x="243" y="264"/>
                    </a:lnTo>
                    <a:lnTo>
                      <a:pt x="245" y="268"/>
                    </a:lnTo>
                    <a:lnTo>
                      <a:pt x="248" y="275"/>
                    </a:lnTo>
                    <a:lnTo>
                      <a:pt x="250" y="283"/>
                    </a:lnTo>
                    <a:lnTo>
                      <a:pt x="253" y="291"/>
                    </a:lnTo>
                    <a:lnTo>
                      <a:pt x="256" y="297"/>
                    </a:lnTo>
                    <a:lnTo>
                      <a:pt x="250" y="293"/>
                    </a:lnTo>
                    <a:lnTo>
                      <a:pt x="243" y="289"/>
                    </a:lnTo>
                    <a:lnTo>
                      <a:pt x="238" y="286"/>
                    </a:lnTo>
                    <a:lnTo>
                      <a:pt x="231" y="281"/>
                    </a:lnTo>
                    <a:lnTo>
                      <a:pt x="224" y="277"/>
                    </a:lnTo>
                    <a:lnTo>
                      <a:pt x="218" y="273"/>
                    </a:lnTo>
                    <a:lnTo>
                      <a:pt x="211" y="269"/>
                    </a:lnTo>
                    <a:lnTo>
                      <a:pt x="204" y="264"/>
                    </a:lnTo>
                    <a:lnTo>
                      <a:pt x="198" y="260"/>
                    </a:lnTo>
                    <a:lnTo>
                      <a:pt x="191" y="256"/>
                    </a:lnTo>
                    <a:lnTo>
                      <a:pt x="186" y="252"/>
                    </a:lnTo>
                    <a:lnTo>
                      <a:pt x="179" y="248"/>
                    </a:lnTo>
                    <a:lnTo>
                      <a:pt x="173" y="245"/>
                    </a:lnTo>
                    <a:lnTo>
                      <a:pt x="166" y="241"/>
                    </a:lnTo>
                    <a:lnTo>
                      <a:pt x="160" y="238"/>
                    </a:lnTo>
                    <a:lnTo>
                      <a:pt x="155" y="237"/>
                    </a:lnTo>
                    <a:lnTo>
                      <a:pt x="150" y="234"/>
                    </a:lnTo>
                    <a:lnTo>
                      <a:pt x="144" y="231"/>
                    </a:lnTo>
                    <a:lnTo>
                      <a:pt x="140" y="229"/>
                    </a:lnTo>
                    <a:lnTo>
                      <a:pt x="136" y="230"/>
                    </a:lnTo>
                    <a:lnTo>
                      <a:pt x="131" y="231"/>
                    </a:lnTo>
                    <a:lnTo>
                      <a:pt x="128" y="231"/>
                    </a:lnTo>
                    <a:lnTo>
                      <a:pt x="123" y="229"/>
                    </a:lnTo>
                    <a:lnTo>
                      <a:pt x="123" y="237"/>
                    </a:lnTo>
                    <a:lnTo>
                      <a:pt x="121" y="246"/>
                    </a:lnTo>
                    <a:lnTo>
                      <a:pt x="124" y="254"/>
                    </a:lnTo>
                    <a:lnTo>
                      <a:pt x="127" y="263"/>
                    </a:lnTo>
                    <a:lnTo>
                      <a:pt x="130" y="271"/>
                    </a:lnTo>
                    <a:lnTo>
                      <a:pt x="132" y="280"/>
                    </a:lnTo>
                    <a:lnTo>
                      <a:pt x="135" y="290"/>
                    </a:lnTo>
                    <a:lnTo>
                      <a:pt x="138" y="302"/>
                    </a:lnTo>
                    <a:lnTo>
                      <a:pt x="139" y="311"/>
                    </a:lnTo>
                    <a:lnTo>
                      <a:pt x="142" y="321"/>
                    </a:lnTo>
                    <a:lnTo>
                      <a:pt x="143" y="330"/>
                    </a:lnTo>
                    <a:lnTo>
                      <a:pt x="145" y="342"/>
                    </a:lnTo>
                    <a:lnTo>
                      <a:pt x="148" y="355"/>
                    </a:lnTo>
                    <a:lnTo>
                      <a:pt x="150" y="373"/>
                    </a:lnTo>
                    <a:lnTo>
                      <a:pt x="130" y="373"/>
                    </a:lnTo>
                    <a:lnTo>
                      <a:pt x="128" y="357"/>
                    </a:lnTo>
                    <a:lnTo>
                      <a:pt x="127" y="346"/>
                    </a:lnTo>
                    <a:lnTo>
                      <a:pt x="124" y="332"/>
                    </a:lnTo>
                    <a:lnTo>
                      <a:pt x="122" y="319"/>
                    </a:lnTo>
                    <a:lnTo>
                      <a:pt x="120" y="308"/>
                    </a:lnTo>
                    <a:lnTo>
                      <a:pt x="118" y="298"/>
                    </a:lnTo>
                    <a:lnTo>
                      <a:pt x="116" y="290"/>
                    </a:lnTo>
                    <a:lnTo>
                      <a:pt x="113" y="279"/>
                    </a:lnTo>
                    <a:lnTo>
                      <a:pt x="109" y="269"/>
                    </a:lnTo>
                    <a:lnTo>
                      <a:pt x="107" y="260"/>
                    </a:lnTo>
                    <a:lnTo>
                      <a:pt x="104" y="258"/>
                    </a:lnTo>
                    <a:lnTo>
                      <a:pt x="101" y="256"/>
                    </a:lnTo>
                    <a:lnTo>
                      <a:pt x="98" y="254"/>
                    </a:lnTo>
                    <a:lnTo>
                      <a:pt x="96" y="255"/>
                    </a:lnTo>
                    <a:lnTo>
                      <a:pt x="93" y="260"/>
                    </a:lnTo>
                    <a:lnTo>
                      <a:pt x="87" y="268"/>
                    </a:lnTo>
                    <a:lnTo>
                      <a:pt x="83" y="274"/>
                    </a:lnTo>
                    <a:lnTo>
                      <a:pt x="79" y="280"/>
                    </a:lnTo>
                    <a:lnTo>
                      <a:pt x="76" y="288"/>
                    </a:lnTo>
                    <a:lnTo>
                      <a:pt x="72" y="293"/>
                    </a:lnTo>
                    <a:lnTo>
                      <a:pt x="68" y="301"/>
                    </a:lnTo>
                    <a:lnTo>
                      <a:pt x="64" y="309"/>
                    </a:lnTo>
                    <a:lnTo>
                      <a:pt x="61" y="318"/>
                    </a:lnTo>
                    <a:lnTo>
                      <a:pt x="57" y="327"/>
                    </a:lnTo>
                    <a:lnTo>
                      <a:pt x="53" y="337"/>
                    </a:lnTo>
                    <a:lnTo>
                      <a:pt x="49" y="348"/>
                    </a:lnTo>
                    <a:lnTo>
                      <a:pt x="44" y="360"/>
                    </a:lnTo>
                    <a:lnTo>
                      <a:pt x="46" y="346"/>
                    </a:lnTo>
                    <a:lnTo>
                      <a:pt x="47" y="336"/>
                    </a:lnTo>
                    <a:lnTo>
                      <a:pt x="48" y="325"/>
                    </a:lnTo>
                    <a:lnTo>
                      <a:pt x="50" y="319"/>
                    </a:lnTo>
                    <a:lnTo>
                      <a:pt x="51" y="314"/>
                    </a:lnTo>
                    <a:lnTo>
                      <a:pt x="54" y="305"/>
                    </a:lnTo>
                    <a:lnTo>
                      <a:pt x="57" y="295"/>
                    </a:lnTo>
                    <a:lnTo>
                      <a:pt x="59" y="288"/>
                    </a:lnTo>
                    <a:lnTo>
                      <a:pt x="64" y="280"/>
                    </a:lnTo>
                    <a:lnTo>
                      <a:pt x="69" y="272"/>
                    </a:lnTo>
                    <a:lnTo>
                      <a:pt x="73" y="263"/>
                    </a:lnTo>
                    <a:lnTo>
                      <a:pt x="78" y="254"/>
                    </a:lnTo>
                    <a:lnTo>
                      <a:pt x="81" y="249"/>
                    </a:lnTo>
                    <a:lnTo>
                      <a:pt x="86" y="244"/>
                    </a:lnTo>
                    <a:lnTo>
                      <a:pt x="91" y="238"/>
                    </a:lnTo>
                    <a:lnTo>
                      <a:pt x="95" y="232"/>
                    </a:lnTo>
                    <a:lnTo>
                      <a:pt x="100" y="226"/>
                    </a:lnTo>
                    <a:lnTo>
                      <a:pt x="105" y="218"/>
                    </a:lnTo>
                    <a:lnTo>
                      <a:pt x="103" y="216"/>
                    </a:lnTo>
                    <a:lnTo>
                      <a:pt x="99" y="212"/>
                    </a:lnTo>
                    <a:lnTo>
                      <a:pt x="96" y="210"/>
                    </a:lnTo>
                    <a:lnTo>
                      <a:pt x="93" y="211"/>
                    </a:lnTo>
                    <a:lnTo>
                      <a:pt x="87" y="216"/>
                    </a:lnTo>
                    <a:lnTo>
                      <a:pt x="82" y="221"/>
                    </a:lnTo>
                    <a:lnTo>
                      <a:pt x="77" y="226"/>
                    </a:lnTo>
                    <a:lnTo>
                      <a:pt x="72" y="232"/>
                    </a:lnTo>
                    <a:lnTo>
                      <a:pt x="67" y="241"/>
                    </a:lnTo>
                    <a:lnTo>
                      <a:pt x="61" y="249"/>
                    </a:lnTo>
                    <a:lnTo>
                      <a:pt x="56" y="255"/>
                    </a:lnTo>
                    <a:lnTo>
                      <a:pt x="52" y="261"/>
                    </a:lnTo>
                    <a:lnTo>
                      <a:pt x="47" y="268"/>
                    </a:lnTo>
                    <a:lnTo>
                      <a:pt x="42" y="276"/>
                    </a:lnTo>
                    <a:lnTo>
                      <a:pt x="38" y="284"/>
                    </a:lnTo>
                    <a:lnTo>
                      <a:pt x="33" y="293"/>
                    </a:lnTo>
                    <a:lnTo>
                      <a:pt x="28" y="301"/>
                    </a:lnTo>
                    <a:lnTo>
                      <a:pt x="24" y="310"/>
                    </a:lnTo>
                    <a:lnTo>
                      <a:pt x="18" y="321"/>
                    </a:lnTo>
                    <a:lnTo>
                      <a:pt x="21" y="307"/>
                    </a:lnTo>
                    <a:lnTo>
                      <a:pt x="22" y="297"/>
                    </a:lnTo>
                    <a:lnTo>
                      <a:pt x="24" y="288"/>
                    </a:lnTo>
                    <a:lnTo>
                      <a:pt x="25" y="286"/>
                    </a:lnTo>
                    <a:lnTo>
                      <a:pt x="28" y="281"/>
                    </a:lnTo>
                    <a:lnTo>
                      <a:pt x="32" y="275"/>
                    </a:lnTo>
                    <a:lnTo>
                      <a:pt x="37" y="269"/>
                    </a:lnTo>
                    <a:lnTo>
                      <a:pt x="42" y="262"/>
                    </a:lnTo>
                    <a:lnTo>
                      <a:pt x="47" y="256"/>
                    </a:lnTo>
                    <a:lnTo>
                      <a:pt x="54" y="248"/>
                    </a:lnTo>
                    <a:lnTo>
                      <a:pt x="58" y="243"/>
                    </a:lnTo>
                    <a:lnTo>
                      <a:pt x="64" y="236"/>
                    </a:lnTo>
                    <a:lnTo>
                      <a:pt x="71" y="229"/>
                    </a:lnTo>
                    <a:lnTo>
                      <a:pt x="77" y="224"/>
                    </a:lnTo>
                    <a:lnTo>
                      <a:pt x="83" y="218"/>
                    </a:lnTo>
                    <a:lnTo>
                      <a:pt x="93" y="210"/>
                    </a:lnTo>
                    <a:lnTo>
                      <a:pt x="98" y="208"/>
                    </a:lnTo>
                    <a:lnTo>
                      <a:pt x="101" y="206"/>
                    </a:lnTo>
                    <a:lnTo>
                      <a:pt x="95" y="202"/>
                    </a:lnTo>
                    <a:lnTo>
                      <a:pt x="90" y="196"/>
                    </a:lnTo>
                    <a:lnTo>
                      <a:pt x="84" y="190"/>
                    </a:lnTo>
                    <a:lnTo>
                      <a:pt x="79" y="185"/>
                    </a:lnTo>
                    <a:lnTo>
                      <a:pt x="73" y="180"/>
                    </a:lnTo>
                    <a:lnTo>
                      <a:pt x="69" y="176"/>
                    </a:lnTo>
                    <a:lnTo>
                      <a:pt x="65" y="170"/>
                    </a:lnTo>
                    <a:lnTo>
                      <a:pt x="58" y="163"/>
                    </a:lnTo>
                    <a:lnTo>
                      <a:pt x="52" y="156"/>
                    </a:lnTo>
                    <a:lnTo>
                      <a:pt x="46" y="148"/>
                    </a:lnTo>
                    <a:lnTo>
                      <a:pt x="39" y="141"/>
                    </a:lnTo>
                    <a:lnTo>
                      <a:pt x="33" y="136"/>
                    </a:lnTo>
                    <a:lnTo>
                      <a:pt x="26" y="129"/>
                    </a:lnTo>
                    <a:lnTo>
                      <a:pt x="22" y="125"/>
                    </a:lnTo>
                    <a:lnTo>
                      <a:pt x="17" y="118"/>
                    </a:lnTo>
                    <a:lnTo>
                      <a:pt x="14" y="112"/>
                    </a:lnTo>
                    <a:lnTo>
                      <a:pt x="10" y="108"/>
                    </a:lnTo>
                    <a:lnTo>
                      <a:pt x="4" y="102"/>
                    </a:lnTo>
                    <a:lnTo>
                      <a:pt x="0" y="98"/>
                    </a:lnTo>
                    <a:lnTo>
                      <a:pt x="3" y="98"/>
                    </a:lnTo>
                    <a:lnTo>
                      <a:pt x="9" y="100"/>
                    </a:lnTo>
                    <a:lnTo>
                      <a:pt x="14" y="101"/>
                    </a:lnTo>
                    <a:lnTo>
                      <a:pt x="20" y="104"/>
                    </a:lnTo>
                    <a:lnTo>
                      <a:pt x="25" y="109"/>
                    </a:lnTo>
                    <a:lnTo>
                      <a:pt x="32" y="115"/>
                    </a:lnTo>
                    <a:lnTo>
                      <a:pt x="38" y="120"/>
                    </a:lnTo>
                    <a:lnTo>
                      <a:pt x="45" y="125"/>
                    </a:lnTo>
                    <a:lnTo>
                      <a:pt x="51" y="132"/>
                    </a:lnTo>
                    <a:lnTo>
                      <a:pt x="58" y="139"/>
                    </a:lnTo>
                    <a:lnTo>
                      <a:pt x="64" y="145"/>
                    </a:lnTo>
                  </a:path>
                </a:pathLst>
              </a:custGeom>
              <a:solidFill>
                <a:srgbClr val="037C03">
                  <a:alpha val="50195"/>
                </a:srgbClr>
              </a:solidFill>
              <a:ln w="9525">
                <a:noFill/>
              </a:ln>
            </p:spPr>
            <p:txBody>
              <a:bodyPr/>
              <a:lstStyle/>
              <a:p>
                <a:endParaRPr lang="zh-CN" altLang="en-US"/>
              </a:p>
            </p:txBody>
          </p:sp>
        </p:grpSp>
        <p:grpSp>
          <p:nvGrpSpPr>
            <p:cNvPr id="89258" name="Group 62"/>
            <p:cNvGrpSpPr/>
            <p:nvPr/>
          </p:nvGrpSpPr>
          <p:grpSpPr>
            <a:xfrm>
              <a:off x="300" y="3360"/>
              <a:ext cx="508" cy="820"/>
              <a:chOff x="1985" y="1201"/>
              <a:chExt cx="508" cy="820"/>
            </a:xfrm>
          </p:grpSpPr>
          <p:grpSp>
            <p:nvGrpSpPr>
              <p:cNvPr id="89259" name="Group 63"/>
              <p:cNvGrpSpPr/>
              <p:nvPr/>
            </p:nvGrpSpPr>
            <p:grpSpPr>
              <a:xfrm>
                <a:off x="2247" y="1201"/>
                <a:ext cx="246" cy="810"/>
                <a:chOff x="2247" y="1201"/>
                <a:chExt cx="246" cy="810"/>
              </a:xfrm>
            </p:grpSpPr>
            <p:sp>
              <p:nvSpPr>
                <p:cNvPr id="89268" name="Freeform 64"/>
                <p:cNvSpPr/>
                <p:nvPr/>
              </p:nvSpPr>
              <p:spPr>
                <a:xfrm>
                  <a:off x="2392" y="1373"/>
                  <a:ext cx="92" cy="638"/>
                </a:xfrm>
                <a:custGeom>
                  <a:avLst/>
                  <a:gdLst>
                    <a:gd name="txL" fmla="*/ 0 w 92"/>
                    <a:gd name="txT" fmla="*/ 0 h 638"/>
                    <a:gd name="txR" fmla="*/ 92 w 92"/>
                    <a:gd name="txB" fmla="*/ 638 h 638"/>
                  </a:gdLst>
                  <a:ahLst/>
                  <a:cxnLst>
                    <a:cxn ang="0">
                      <a:pos x="91" y="296"/>
                    </a:cxn>
                    <a:cxn ang="0">
                      <a:pos x="83" y="425"/>
                    </a:cxn>
                    <a:cxn ang="0">
                      <a:pos x="75" y="529"/>
                    </a:cxn>
                    <a:cxn ang="0">
                      <a:pos x="70" y="606"/>
                    </a:cxn>
                    <a:cxn ang="0">
                      <a:pos x="71" y="637"/>
                    </a:cxn>
                    <a:cxn ang="0">
                      <a:pos x="60" y="637"/>
                    </a:cxn>
                    <a:cxn ang="0">
                      <a:pos x="57" y="592"/>
                    </a:cxn>
                    <a:cxn ang="0">
                      <a:pos x="55" y="524"/>
                    </a:cxn>
                    <a:cxn ang="0">
                      <a:pos x="51" y="461"/>
                    </a:cxn>
                    <a:cxn ang="0">
                      <a:pos x="49" y="414"/>
                    </a:cxn>
                    <a:cxn ang="0">
                      <a:pos x="45" y="345"/>
                    </a:cxn>
                    <a:cxn ang="0">
                      <a:pos x="40" y="285"/>
                    </a:cxn>
                    <a:cxn ang="0">
                      <a:pos x="35" y="233"/>
                    </a:cxn>
                    <a:cxn ang="0">
                      <a:pos x="31" y="177"/>
                    </a:cxn>
                    <a:cxn ang="0">
                      <a:pos x="24" y="121"/>
                    </a:cxn>
                    <a:cxn ang="0">
                      <a:pos x="17" y="74"/>
                    </a:cxn>
                    <a:cxn ang="0">
                      <a:pos x="4" y="28"/>
                    </a:cxn>
                    <a:cxn ang="0">
                      <a:pos x="0" y="10"/>
                    </a:cxn>
                    <a:cxn ang="0">
                      <a:pos x="5" y="0"/>
                    </a:cxn>
                    <a:cxn ang="0">
                      <a:pos x="13" y="18"/>
                    </a:cxn>
                    <a:cxn ang="0">
                      <a:pos x="24" y="61"/>
                    </a:cxn>
                    <a:cxn ang="0">
                      <a:pos x="33" y="104"/>
                    </a:cxn>
                    <a:cxn ang="0">
                      <a:pos x="40" y="150"/>
                    </a:cxn>
                    <a:cxn ang="0">
                      <a:pos x="44" y="208"/>
                    </a:cxn>
                    <a:cxn ang="0">
                      <a:pos x="48" y="263"/>
                    </a:cxn>
                    <a:cxn ang="0">
                      <a:pos x="55" y="337"/>
                    </a:cxn>
                    <a:cxn ang="0">
                      <a:pos x="59" y="398"/>
                    </a:cxn>
                    <a:cxn ang="0">
                      <a:pos x="61" y="447"/>
                    </a:cxn>
                    <a:cxn ang="0">
                      <a:pos x="63" y="498"/>
                    </a:cxn>
                    <a:cxn ang="0">
                      <a:pos x="68" y="550"/>
                    </a:cxn>
                    <a:cxn ang="0">
                      <a:pos x="73" y="460"/>
                    </a:cxn>
                    <a:cxn ang="0">
                      <a:pos x="80" y="376"/>
                    </a:cxn>
                    <a:cxn ang="0">
                      <a:pos x="91" y="296"/>
                    </a:cxn>
                  </a:cxnLst>
                  <a:rect l="txL" t="txT" r="txR" b="txB"/>
                  <a:pathLst>
                    <a:path w="92" h="638">
                      <a:moveTo>
                        <a:pt x="91" y="296"/>
                      </a:moveTo>
                      <a:lnTo>
                        <a:pt x="83" y="425"/>
                      </a:lnTo>
                      <a:lnTo>
                        <a:pt x="75" y="529"/>
                      </a:lnTo>
                      <a:lnTo>
                        <a:pt x="70" y="606"/>
                      </a:lnTo>
                      <a:lnTo>
                        <a:pt x="71" y="637"/>
                      </a:lnTo>
                      <a:lnTo>
                        <a:pt x="60" y="637"/>
                      </a:lnTo>
                      <a:lnTo>
                        <a:pt x="57" y="592"/>
                      </a:lnTo>
                      <a:lnTo>
                        <a:pt x="55" y="524"/>
                      </a:lnTo>
                      <a:lnTo>
                        <a:pt x="51" y="461"/>
                      </a:lnTo>
                      <a:lnTo>
                        <a:pt x="49" y="414"/>
                      </a:lnTo>
                      <a:lnTo>
                        <a:pt x="45" y="345"/>
                      </a:lnTo>
                      <a:lnTo>
                        <a:pt x="40" y="285"/>
                      </a:lnTo>
                      <a:lnTo>
                        <a:pt x="35" y="233"/>
                      </a:lnTo>
                      <a:lnTo>
                        <a:pt x="31" y="177"/>
                      </a:lnTo>
                      <a:lnTo>
                        <a:pt x="24" y="121"/>
                      </a:lnTo>
                      <a:lnTo>
                        <a:pt x="17" y="74"/>
                      </a:lnTo>
                      <a:lnTo>
                        <a:pt x="4" y="28"/>
                      </a:lnTo>
                      <a:lnTo>
                        <a:pt x="0" y="10"/>
                      </a:lnTo>
                      <a:lnTo>
                        <a:pt x="5" y="0"/>
                      </a:lnTo>
                      <a:lnTo>
                        <a:pt x="13" y="18"/>
                      </a:lnTo>
                      <a:lnTo>
                        <a:pt x="24" y="61"/>
                      </a:lnTo>
                      <a:lnTo>
                        <a:pt x="33" y="104"/>
                      </a:lnTo>
                      <a:lnTo>
                        <a:pt x="40" y="150"/>
                      </a:lnTo>
                      <a:lnTo>
                        <a:pt x="44" y="208"/>
                      </a:lnTo>
                      <a:lnTo>
                        <a:pt x="48" y="263"/>
                      </a:lnTo>
                      <a:lnTo>
                        <a:pt x="55" y="337"/>
                      </a:lnTo>
                      <a:lnTo>
                        <a:pt x="59" y="398"/>
                      </a:lnTo>
                      <a:lnTo>
                        <a:pt x="61" y="447"/>
                      </a:lnTo>
                      <a:lnTo>
                        <a:pt x="63" y="498"/>
                      </a:lnTo>
                      <a:lnTo>
                        <a:pt x="68" y="550"/>
                      </a:lnTo>
                      <a:lnTo>
                        <a:pt x="73" y="460"/>
                      </a:lnTo>
                      <a:lnTo>
                        <a:pt x="80" y="376"/>
                      </a:lnTo>
                      <a:lnTo>
                        <a:pt x="91" y="296"/>
                      </a:lnTo>
                    </a:path>
                  </a:pathLst>
                </a:custGeom>
                <a:solidFill>
                  <a:srgbClr val="3C0023">
                    <a:alpha val="50195"/>
                  </a:srgbClr>
                </a:solidFill>
                <a:ln w="9525">
                  <a:noFill/>
                </a:ln>
              </p:spPr>
              <p:txBody>
                <a:bodyPr/>
                <a:lstStyle/>
                <a:p>
                  <a:endParaRPr lang="zh-CN" altLang="en-US"/>
                </a:p>
              </p:txBody>
            </p:sp>
            <p:sp>
              <p:nvSpPr>
                <p:cNvPr id="89269" name="Freeform 65"/>
                <p:cNvSpPr/>
                <p:nvPr/>
              </p:nvSpPr>
              <p:spPr>
                <a:xfrm>
                  <a:off x="2247" y="1201"/>
                  <a:ext cx="246" cy="466"/>
                </a:xfrm>
                <a:custGeom>
                  <a:avLst/>
                  <a:gdLst>
                    <a:gd name="txL" fmla="*/ 0 w 246"/>
                    <a:gd name="txT" fmla="*/ 0 h 466"/>
                    <a:gd name="txR" fmla="*/ 246 w 246"/>
                    <a:gd name="txB" fmla="*/ 466 h 466"/>
                  </a:gdLst>
                  <a:ahLst/>
                  <a:cxnLst>
                    <a:cxn ang="0">
                      <a:pos x="136" y="67"/>
                    </a:cxn>
                    <a:cxn ang="0">
                      <a:pos x="105" y="12"/>
                    </a:cxn>
                    <a:cxn ang="0">
                      <a:pos x="55" y="1"/>
                    </a:cxn>
                    <a:cxn ang="0">
                      <a:pos x="58" y="12"/>
                    </a:cxn>
                    <a:cxn ang="0">
                      <a:pos x="96" y="39"/>
                    </a:cxn>
                    <a:cxn ang="0">
                      <a:pos x="130" y="134"/>
                    </a:cxn>
                    <a:cxn ang="0">
                      <a:pos x="73" y="85"/>
                    </a:cxn>
                    <a:cxn ang="0">
                      <a:pos x="32" y="75"/>
                    </a:cxn>
                    <a:cxn ang="0">
                      <a:pos x="7" y="103"/>
                    </a:cxn>
                    <a:cxn ang="0">
                      <a:pos x="38" y="103"/>
                    </a:cxn>
                    <a:cxn ang="0">
                      <a:pos x="108" y="129"/>
                    </a:cxn>
                    <a:cxn ang="0">
                      <a:pos x="104" y="146"/>
                    </a:cxn>
                    <a:cxn ang="0">
                      <a:pos x="92" y="171"/>
                    </a:cxn>
                    <a:cxn ang="0">
                      <a:pos x="126" y="170"/>
                    </a:cxn>
                    <a:cxn ang="0">
                      <a:pos x="69" y="193"/>
                    </a:cxn>
                    <a:cxn ang="0">
                      <a:pos x="37" y="233"/>
                    </a:cxn>
                    <a:cxn ang="0">
                      <a:pos x="6" y="325"/>
                    </a:cxn>
                    <a:cxn ang="0">
                      <a:pos x="72" y="231"/>
                    </a:cxn>
                    <a:cxn ang="0">
                      <a:pos x="118" y="194"/>
                    </a:cxn>
                    <a:cxn ang="0">
                      <a:pos x="94" y="269"/>
                    </a:cxn>
                    <a:cxn ang="0">
                      <a:pos x="76" y="338"/>
                    </a:cxn>
                    <a:cxn ang="0">
                      <a:pos x="71" y="408"/>
                    </a:cxn>
                    <a:cxn ang="0">
                      <a:pos x="98" y="303"/>
                    </a:cxn>
                    <a:cxn ang="0">
                      <a:pos x="124" y="236"/>
                    </a:cxn>
                    <a:cxn ang="0">
                      <a:pos x="125" y="214"/>
                    </a:cxn>
                    <a:cxn ang="0">
                      <a:pos x="118" y="323"/>
                    </a:cxn>
                    <a:cxn ang="0">
                      <a:pos x="138" y="439"/>
                    </a:cxn>
                    <a:cxn ang="0">
                      <a:pos x="128" y="313"/>
                    </a:cxn>
                    <a:cxn ang="0">
                      <a:pos x="127" y="223"/>
                    </a:cxn>
                    <a:cxn ang="0">
                      <a:pos x="147" y="189"/>
                    </a:cxn>
                    <a:cxn ang="0">
                      <a:pos x="188" y="298"/>
                    </a:cxn>
                    <a:cxn ang="0">
                      <a:pos x="223" y="411"/>
                    </a:cxn>
                    <a:cxn ang="0">
                      <a:pos x="193" y="292"/>
                    </a:cxn>
                    <a:cxn ang="0">
                      <a:pos x="160" y="190"/>
                    </a:cxn>
                    <a:cxn ang="0">
                      <a:pos x="164" y="121"/>
                    </a:cxn>
                    <a:cxn ang="0">
                      <a:pos x="194" y="130"/>
                    </a:cxn>
                    <a:cxn ang="0">
                      <a:pos x="240" y="125"/>
                    </a:cxn>
                    <a:cxn ang="0">
                      <a:pos x="216" y="122"/>
                    </a:cxn>
                    <a:cxn ang="0">
                      <a:pos x="163" y="144"/>
                    </a:cxn>
                    <a:cxn ang="0">
                      <a:pos x="194" y="109"/>
                    </a:cxn>
                    <a:cxn ang="0">
                      <a:pos x="244" y="101"/>
                    </a:cxn>
                    <a:cxn ang="0">
                      <a:pos x="229" y="88"/>
                    </a:cxn>
                    <a:cxn ang="0">
                      <a:pos x="163" y="138"/>
                    </a:cxn>
                    <a:cxn ang="0">
                      <a:pos x="172" y="99"/>
                    </a:cxn>
                    <a:cxn ang="0">
                      <a:pos x="226" y="61"/>
                    </a:cxn>
                    <a:cxn ang="0">
                      <a:pos x="188" y="82"/>
                    </a:cxn>
                    <a:cxn ang="0">
                      <a:pos x="147" y="109"/>
                    </a:cxn>
                  </a:cxnLst>
                  <a:rect l="txL" t="txT" r="txR" b="txB"/>
                  <a:pathLst>
                    <a:path w="246" h="466">
                      <a:moveTo>
                        <a:pt x="147" y="109"/>
                      </a:moveTo>
                      <a:lnTo>
                        <a:pt x="143" y="88"/>
                      </a:lnTo>
                      <a:lnTo>
                        <a:pt x="136" y="67"/>
                      </a:lnTo>
                      <a:lnTo>
                        <a:pt x="127" y="44"/>
                      </a:lnTo>
                      <a:lnTo>
                        <a:pt x="117" y="27"/>
                      </a:lnTo>
                      <a:lnTo>
                        <a:pt x="105" y="12"/>
                      </a:lnTo>
                      <a:lnTo>
                        <a:pt x="89" y="5"/>
                      </a:lnTo>
                      <a:lnTo>
                        <a:pt x="69" y="0"/>
                      </a:lnTo>
                      <a:lnTo>
                        <a:pt x="55" y="1"/>
                      </a:lnTo>
                      <a:lnTo>
                        <a:pt x="39" y="0"/>
                      </a:lnTo>
                      <a:lnTo>
                        <a:pt x="49" y="11"/>
                      </a:lnTo>
                      <a:lnTo>
                        <a:pt x="58" y="12"/>
                      </a:lnTo>
                      <a:lnTo>
                        <a:pt x="69" y="19"/>
                      </a:lnTo>
                      <a:lnTo>
                        <a:pt x="80" y="25"/>
                      </a:lnTo>
                      <a:lnTo>
                        <a:pt x="96" y="39"/>
                      </a:lnTo>
                      <a:lnTo>
                        <a:pt x="109" y="58"/>
                      </a:lnTo>
                      <a:lnTo>
                        <a:pt x="118" y="82"/>
                      </a:lnTo>
                      <a:lnTo>
                        <a:pt x="130" y="134"/>
                      </a:lnTo>
                      <a:lnTo>
                        <a:pt x="96" y="99"/>
                      </a:lnTo>
                      <a:lnTo>
                        <a:pt x="85" y="91"/>
                      </a:lnTo>
                      <a:lnTo>
                        <a:pt x="73" y="85"/>
                      </a:lnTo>
                      <a:lnTo>
                        <a:pt x="61" y="83"/>
                      </a:lnTo>
                      <a:lnTo>
                        <a:pt x="54" y="80"/>
                      </a:lnTo>
                      <a:lnTo>
                        <a:pt x="32" y="75"/>
                      </a:lnTo>
                      <a:lnTo>
                        <a:pt x="0" y="72"/>
                      </a:lnTo>
                      <a:lnTo>
                        <a:pt x="0" y="103"/>
                      </a:lnTo>
                      <a:lnTo>
                        <a:pt x="7" y="103"/>
                      </a:lnTo>
                      <a:lnTo>
                        <a:pt x="17" y="104"/>
                      </a:lnTo>
                      <a:lnTo>
                        <a:pt x="29" y="103"/>
                      </a:lnTo>
                      <a:lnTo>
                        <a:pt x="38" y="103"/>
                      </a:lnTo>
                      <a:lnTo>
                        <a:pt x="62" y="107"/>
                      </a:lnTo>
                      <a:lnTo>
                        <a:pt x="72" y="111"/>
                      </a:lnTo>
                      <a:lnTo>
                        <a:pt x="108" y="129"/>
                      </a:lnTo>
                      <a:lnTo>
                        <a:pt x="127" y="144"/>
                      </a:lnTo>
                      <a:lnTo>
                        <a:pt x="113" y="146"/>
                      </a:lnTo>
                      <a:lnTo>
                        <a:pt x="104" y="146"/>
                      </a:lnTo>
                      <a:lnTo>
                        <a:pt x="89" y="161"/>
                      </a:lnTo>
                      <a:lnTo>
                        <a:pt x="82" y="183"/>
                      </a:lnTo>
                      <a:lnTo>
                        <a:pt x="92" y="171"/>
                      </a:lnTo>
                      <a:lnTo>
                        <a:pt x="120" y="155"/>
                      </a:lnTo>
                      <a:lnTo>
                        <a:pt x="137" y="162"/>
                      </a:lnTo>
                      <a:lnTo>
                        <a:pt x="126" y="170"/>
                      </a:lnTo>
                      <a:lnTo>
                        <a:pt x="113" y="171"/>
                      </a:lnTo>
                      <a:lnTo>
                        <a:pt x="79" y="189"/>
                      </a:lnTo>
                      <a:lnTo>
                        <a:pt x="69" y="193"/>
                      </a:lnTo>
                      <a:lnTo>
                        <a:pt x="57" y="199"/>
                      </a:lnTo>
                      <a:lnTo>
                        <a:pt x="48" y="209"/>
                      </a:lnTo>
                      <a:lnTo>
                        <a:pt x="37" y="233"/>
                      </a:lnTo>
                      <a:lnTo>
                        <a:pt x="31" y="251"/>
                      </a:lnTo>
                      <a:lnTo>
                        <a:pt x="13" y="310"/>
                      </a:lnTo>
                      <a:lnTo>
                        <a:pt x="6" y="325"/>
                      </a:lnTo>
                      <a:lnTo>
                        <a:pt x="36" y="281"/>
                      </a:lnTo>
                      <a:lnTo>
                        <a:pt x="50" y="265"/>
                      </a:lnTo>
                      <a:lnTo>
                        <a:pt x="72" y="231"/>
                      </a:lnTo>
                      <a:lnTo>
                        <a:pt x="83" y="218"/>
                      </a:lnTo>
                      <a:lnTo>
                        <a:pt x="92" y="209"/>
                      </a:lnTo>
                      <a:lnTo>
                        <a:pt x="118" y="194"/>
                      </a:lnTo>
                      <a:lnTo>
                        <a:pt x="132" y="181"/>
                      </a:lnTo>
                      <a:lnTo>
                        <a:pt x="121" y="195"/>
                      </a:lnTo>
                      <a:lnTo>
                        <a:pt x="94" y="269"/>
                      </a:lnTo>
                      <a:lnTo>
                        <a:pt x="84" y="302"/>
                      </a:lnTo>
                      <a:lnTo>
                        <a:pt x="79" y="320"/>
                      </a:lnTo>
                      <a:lnTo>
                        <a:pt x="76" y="338"/>
                      </a:lnTo>
                      <a:lnTo>
                        <a:pt x="75" y="359"/>
                      </a:lnTo>
                      <a:lnTo>
                        <a:pt x="74" y="375"/>
                      </a:lnTo>
                      <a:lnTo>
                        <a:pt x="71" y="408"/>
                      </a:lnTo>
                      <a:lnTo>
                        <a:pt x="84" y="375"/>
                      </a:lnTo>
                      <a:lnTo>
                        <a:pt x="92" y="330"/>
                      </a:lnTo>
                      <a:lnTo>
                        <a:pt x="98" y="303"/>
                      </a:lnTo>
                      <a:lnTo>
                        <a:pt x="104" y="286"/>
                      </a:lnTo>
                      <a:lnTo>
                        <a:pt x="118" y="252"/>
                      </a:lnTo>
                      <a:lnTo>
                        <a:pt x="124" y="236"/>
                      </a:lnTo>
                      <a:lnTo>
                        <a:pt x="128" y="216"/>
                      </a:lnTo>
                      <a:lnTo>
                        <a:pt x="137" y="188"/>
                      </a:lnTo>
                      <a:lnTo>
                        <a:pt x="125" y="214"/>
                      </a:lnTo>
                      <a:lnTo>
                        <a:pt x="119" y="243"/>
                      </a:lnTo>
                      <a:lnTo>
                        <a:pt x="117" y="302"/>
                      </a:lnTo>
                      <a:lnTo>
                        <a:pt x="118" y="323"/>
                      </a:lnTo>
                      <a:lnTo>
                        <a:pt x="120" y="362"/>
                      </a:lnTo>
                      <a:lnTo>
                        <a:pt x="123" y="377"/>
                      </a:lnTo>
                      <a:lnTo>
                        <a:pt x="138" y="439"/>
                      </a:lnTo>
                      <a:lnTo>
                        <a:pt x="141" y="465"/>
                      </a:lnTo>
                      <a:lnTo>
                        <a:pt x="137" y="379"/>
                      </a:lnTo>
                      <a:lnTo>
                        <a:pt x="128" y="313"/>
                      </a:lnTo>
                      <a:lnTo>
                        <a:pt x="126" y="291"/>
                      </a:lnTo>
                      <a:lnTo>
                        <a:pt x="125" y="238"/>
                      </a:lnTo>
                      <a:lnTo>
                        <a:pt x="127" y="223"/>
                      </a:lnTo>
                      <a:lnTo>
                        <a:pt x="133" y="196"/>
                      </a:lnTo>
                      <a:lnTo>
                        <a:pt x="138" y="179"/>
                      </a:lnTo>
                      <a:lnTo>
                        <a:pt x="147" y="189"/>
                      </a:lnTo>
                      <a:lnTo>
                        <a:pt x="161" y="212"/>
                      </a:lnTo>
                      <a:lnTo>
                        <a:pt x="177" y="259"/>
                      </a:lnTo>
                      <a:lnTo>
                        <a:pt x="188" y="298"/>
                      </a:lnTo>
                      <a:lnTo>
                        <a:pt x="197" y="333"/>
                      </a:lnTo>
                      <a:lnTo>
                        <a:pt x="213" y="384"/>
                      </a:lnTo>
                      <a:lnTo>
                        <a:pt x="223" y="411"/>
                      </a:lnTo>
                      <a:lnTo>
                        <a:pt x="232" y="429"/>
                      </a:lnTo>
                      <a:lnTo>
                        <a:pt x="228" y="403"/>
                      </a:lnTo>
                      <a:lnTo>
                        <a:pt x="193" y="292"/>
                      </a:lnTo>
                      <a:lnTo>
                        <a:pt x="171" y="232"/>
                      </a:lnTo>
                      <a:lnTo>
                        <a:pt x="165" y="210"/>
                      </a:lnTo>
                      <a:lnTo>
                        <a:pt x="160" y="190"/>
                      </a:lnTo>
                      <a:lnTo>
                        <a:pt x="144" y="150"/>
                      </a:lnTo>
                      <a:lnTo>
                        <a:pt x="147" y="132"/>
                      </a:lnTo>
                      <a:lnTo>
                        <a:pt x="164" y="121"/>
                      </a:lnTo>
                      <a:lnTo>
                        <a:pt x="172" y="125"/>
                      </a:lnTo>
                      <a:lnTo>
                        <a:pt x="183" y="126"/>
                      </a:lnTo>
                      <a:lnTo>
                        <a:pt x="194" y="130"/>
                      </a:lnTo>
                      <a:lnTo>
                        <a:pt x="239" y="136"/>
                      </a:lnTo>
                      <a:lnTo>
                        <a:pt x="236" y="136"/>
                      </a:lnTo>
                      <a:lnTo>
                        <a:pt x="240" y="125"/>
                      </a:lnTo>
                      <a:lnTo>
                        <a:pt x="242" y="125"/>
                      </a:lnTo>
                      <a:lnTo>
                        <a:pt x="230" y="122"/>
                      </a:lnTo>
                      <a:lnTo>
                        <a:pt x="216" y="122"/>
                      </a:lnTo>
                      <a:lnTo>
                        <a:pt x="199" y="127"/>
                      </a:lnTo>
                      <a:lnTo>
                        <a:pt x="180" y="135"/>
                      </a:lnTo>
                      <a:lnTo>
                        <a:pt x="163" y="144"/>
                      </a:lnTo>
                      <a:lnTo>
                        <a:pt x="150" y="149"/>
                      </a:lnTo>
                      <a:lnTo>
                        <a:pt x="168" y="129"/>
                      </a:lnTo>
                      <a:lnTo>
                        <a:pt x="194" y="109"/>
                      </a:lnTo>
                      <a:lnTo>
                        <a:pt x="220" y="100"/>
                      </a:lnTo>
                      <a:lnTo>
                        <a:pt x="232" y="100"/>
                      </a:lnTo>
                      <a:lnTo>
                        <a:pt x="244" y="101"/>
                      </a:lnTo>
                      <a:lnTo>
                        <a:pt x="239" y="101"/>
                      </a:lnTo>
                      <a:lnTo>
                        <a:pt x="245" y="85"/>
                      </a:lnTo>
                      <a:lnTo>
                        <a:pt x="229" y="88"/>
                      </a:lnTo>
                      <a:lnTo>
                        <a:pt x="212" y="97"/>
                      </a:lnTo>
                      <a:lnTo>
                        <a:pt x="193" y="111"/>
                      </a:lnTo>
                      <a:lnTo>
                        <a:pt x="163" y="138"/>
                      </a:lnTo>
                      <a:lnTo>
                        <a:pt x="150" y="149"/>
                      </a:lnTo>
                      <a:lnTo>
                        <a:pt x="157" y="114"/>
                      </a:lnTo>
                      <a:lnTo>
                        <a:pt x="172" y="99"/>
                      </a:lnTo>
                      <a:lnTo>
                        <a:pt x="190" y="85"/>
                      </a:lnTo>
                      <a:lnTo>
                        <a:pt x="214" y="67"/>
                      </a:lnTo>
                      <a:lnTo>
                        <a:pt x="226" y="61"/>
                      </a:lnTo>
                      <a:lnTo>
                        <a:pt x="212" y="57"/>
                      </a:lnTo>
                      <a:lnTo>
                        <a:pt x="200" y="67"/>
                      </a:lnTo>
                      <a:lnTo>
                        <a:pt x="188" y="82"/>
                      </a:lnTo>
                      <a:lnTo>
                        <a:pt x="178" y="93"/>
                      </a:lnTo>
                      <a:lnTo>
                        <a:pt x="163" y="115"/>
                      </a:lnTo>
                      <a:lnTo>
                        <a:pt x="147" y="109"/>
                      </a:lnTo>
                    </a:path>
                  </a:pathLst>
                </a:custGeom>
                <a:solidFill>
                  <a:srgbClr val="037C03">
                    <a:alpha val="50195"/>
                  </a:srgbClr>
                </a:solidFill>
                <a:ln w="9525">
                  <a:noFill/>
                </a:ln>
              </p:spPr>
              <p:txBody>
                <a:bodyPr/>
                <a:lstStyle/>
                <a:p>
                  <a:endParaRPr lang="zh-CN" altLang="en-US"/>
                </a:p>
              </p:txBody>
            </p:sp>
          </p:grpSp>
          <p:grpSp>
            <p:nvGrpSpPr>
              <p:cNvPr id="89260" name="Group 66"/>
              <p:cNvGrpSpPr/>
              <p:nvPr/>
            </p:nvGrpSpPr>
            <p:grpSpPr>
              <a:xfrm>
                <a:off x="1985" y="1419"/>
                <a:ext cx="465" cy="602"/>
                <a:chOff x="1985" y="1419"/>
                <a:chExt cx="465" cy="602"/>
              </a:xfrm>
            </p:grpSpPr>
            <p:sp>
              <p:nvSpPr>
                <p:cNvPr id="89261" name="Freeform 67"/>
                <p:cNvSpPr/>
                <p:nvPr/>
              </p:nvSpPr>
              <p:spPr>
                <a:xfrm>
                  <a:off x="2164" y="1525"/>
                  <a:ext cx="130" cy="496"/>
                </a:xfrm>
                <a:custGeom>
                  <a:avLst/>
                  <a:gdLst>
                    <a:gd name="txL" fmla="*/ 0 w 130"/>
                    <a:gd name="txT" fmla="*/ 0 h 496"/>
                    <a:gd name="txR" fmla="*/ 130 w 130"/>
                    <a:gd name="txB" fmla="*/ 496 h 496"/>
                  </a:gdLst>
                  <a:ahLst/>
                  <a:cxnLst>
                    <a:cxn ang="0">
                      <a:pos x="129" y="230"/>
                    </a:cxn>
                    <a:cxn ang="0">
                      <a:pos x="118" y="330"/>
                    </a:cxn>
                    <a:cxn ang="0">
                      <a:pos x="107" y="411"/>
                    </a:cxn>
                    <a:cxn ang="0">
                      <a:pos x="100" y="471"/>
                    </a:cxn>
                    <a:cxn ang="0">
                      <a:pos x="101" y="495"/>
                    </a:cxn>
                    <a:cxn ang="0">
                      <a:pos x="86" y="495"/>
                    </a:cxn>
                    <a:cxn ang="0">
                      <a:pos x="81" y="460"/>
                    </a:cxn>
                    <a:cxn ang="0">
                      <a:pos x="79" y="408"/>
                    </a:cxn>
                    <a:cxn ang="0">
                      <a:pos x="73" y="358"/>
                    </a:cxn>
                    <a:cxn ang="0">
                      <a:pos x="70" y="321"/>
                    </a:cxn>
                    <a:cxn ang="0">
                      <a:pos x="64" y="268"/>
                    </a:cxn>
                    <a:cxn ang="0">
                      <a:pos x="56" y="222"/>
                    </a:cxn>
                    <a:cxn ang="0">
                      <a:pos x="51" y="181"/>
                    </a:cxn>
                    <a:cxn ang="0">
                      <a:pos x="45" y="137"/>
                    </a:cxn>
                    <a:cxn ang="0">
                      <a:pos x="35" y="94"/>
                    </a:cxn>
                    <a:cxn ang="0">
                      <a:pos x="24" y="57"/>
                    </a:cxn>
                    <a:cxn ang="0">
                      <a:pos x="6" y="21"/>
                    </a:cxn>
                    <a:cxn ang="0">
                      <a:pos x="0" y="8"/>
                    </a:cxn>
                    <a:cxn ang="0">
                      <a:pos x="7" y="0"/>
                    </a:cxn>
                    <a:cxn ang="0">
                      <a:pos x="19" y="14"/>
                    </a:cxn>
                    <a:cxn ang="0">
                      <a:pos x="35" y="47"/>
                    </a:cxn>
                    <a:cxn ang="0">
                      <a:pos x="47" y="81"/>
                    </a:cxn>
                    <a:cxn ang="0">
                      <a:pos x="56" y="116"/>
                    </a:cxn>
                    <a:cxn ang="0">
                      <a:pos x="63" y="161"/>
                    </a:cxn>
                    <a:cxn ang="0">
                      <a:pos x="69" y="204"/>
                    </a:cxn>
                    <a:cxn ang="0">
                      <a:pos x="77" y="262"/>
                    </a:cxn>
                    <a:cxn ang="0">
                      <a:pos x="84" y="309"/>
                    </a:cxn>
                    <a:cxn ang="0">
                      <a:pos x="87" y="347"/>
                    </a:cxn>
                    <a:cxn ang="0">
                      <a:pos x="90" y="386"/>
                    </a:cxn>
                    <a:cxn ang="0">
                      <a:pos x="96" y="427"/>
                    </a:cxn>
                    <a:cxn ang="0">
                      <a:pos x="104" y="357"/>
                    </a:cxn>
                    <a:cxn ang="0">
                      <a:pos x="114" y="292"/>
                    </a:cxn>
                    <a:cxn ang="0">
                      <a:pos x="129" y="230"/>
                    </a:cxn>
                  </a:cxnLst>
                  <a:rect l="txL" t="txT" r="txR" b="txB"/>
                  <a:pathLst>
                    <a:path w="130" h="496">
                      <a:moveTo>
                        <a:pt x="129" y="230"/>
                      </a:moveTo>
                      <a:lnTo>
                        <a:pt x="118" y="330"/>
                      </a:lnTo>
                      <a:lnTo>
                        <a:pt x="107" y="411"/>
                      </a:lnTo>
                      <a:lnTo>
                        <a:pt x="100" y="471"/>
                      </a:lnTo>
                      <a:lnTo>
                        <a:pt x="101" y="495"/>
                      </a:lnTo>
                      <a:lnTo>
                        <a:pt x="86" y="495"/>
                      </a:lnTo>
                      <a:lnTo>
                        <a:pt x="81" y="460"/>
                      </a:lnTo>
                      <a:lnTo>
                        <a:pt x="79" y="408"/>
                      </a:lnTo>
                      <a:lnTo>
                        <a:pt x="73" y="358"/>
                      </a:lnTo>
                      <a:lnTo>
                        <a:pt x="70" y="321"/>
                      </a:lnTo>
                      <a:lnTo>
                        <a:pt x="64" y="268"/>
                      </a:lnTo>
                      <a:lnTo>
                        <a:pt x="56" y="222"/>
                      </a:lnTo>
                      <a:lnTo>
                        <a:pt x="51" y="181"/>
                      </a:lnTo>
                      <a:lnTo>
                        <a:pt x="45" y="137"/>
                      </a:lnTo>
                      <a:lnTo>
                        <a:pt x="35" y="94"/>
                      </a:lnTo>
                      <a:lnTo>
                        <a:pt x="24" y="57"/>
                      </a:lnTo>
                      <a:lnTo>
                        <a:pt x="6" y="21"/>
                      </a:lnTo>
                      <a:lnTo>
                        <a:pt x="0" y="8"/>
                      </a:lnTo>
                      <a:lnTo>
                        <a:pt x="7" y="0"/>
                      </a:lnTo>
                      <a:lnTo>
                        <a:pt x="19" y="14"/>
                      </a:lnTo>
                      <a:lnTo>
                        <a:pt x="35" y="47"/>
                      </a:lnTo>
                      <a:lnTo>
                        <a:pt x="47" y="81"/>
                      </a:lnTo>
                      <a:lnTo>
                        <a:pt x="56" y="116"/>
                      </a:lnTo>
                      <a:lnTo>
                        <a:pt x="63" y="161"/>
                      </a:lnTo>
                      <a:lnTo>
                        <a:pt x="69" y="204"/>
                      </a:lnTo>
                      <a:lnTo>
                        <a:pt x="77" y="262"/>
                      </a:lnTo>
                      <a:lnTo>
                        <a:pt x="84" y="309"/>
                      </a:lnTo>
                      <a:lnTo>
                        <a:pt x="87" y="347"/>
                      </a:lnTo>
                      <a:lnTo>
                        <a:pt x="90" y="386"/>
                      </a:lnTo>
                      <a:lnTo>
                        <a:pt x="96" y="427"/>
                      </a:lnTo>
                      <a:lnTo>
                        <a:pt x="104" y="357"/>
                      </a:lnTo>
                      <a:lnTo>
                        <a:pt x="114" y="292"/>
                      </a:lnTo>
                      <a:lnTo>
                        <a:pt x="129" y="230"/>
                      </a:lnTo>
                    </a:path>
                  </a:pathLst>
                </a:custGeom>
                <a:solidFill>
                  <a:srgbClr val="3C0023">
                    <a:alpha val="50195"/>
                  </a:srgbClr>
                </a:solidFill>
                <a:ln w="9525">
                  <a:noFill/>
                </a:ln>
              </p:spPr>
              <p:txBody>
                <a:bodyPr/>
                <a:lstStyle/>
                <a:p>
                  <a:endParaRPr lang="zh-CN" altLang="en-US"/>
                </a:p>
              </p:txBody>
            </p:sp>
            <p:sp>
              <p:nvSpPr>
                <p:cNvPr id="89262" name="Freeform 68"/>
                <p:cNvSpPr/>
                <p:nvPr/>
              </p:nvSpPr>
              <p:spPr>
                <a:xfrm>
                  <a:off x="2204" y="1606"/>
                  <a:ext cx="229" cy="358"/>
                </a:xfrm>
                <a:custGeom>
                  <a:avLst/>
                  <a:gdLst>
                    <a:gd name="txL" fmla="*/ 0 w 229"/>
                    <a:gd name="txT" fmla="*/ 0 h 358"/>
                    <a:gd name="txR" fmla="*/ 229 w 229"/>
                    <a:gd name="txB" fmla="*/ 358 h 358"/>
                  </a:gdLst>
                  <a:ahLst/>
                  <a:cxnLst>
                    <a:cxn ang="0">
                      <a:pos x="60" y="58"/>
                    </a:cxn>
                    <a:cxn ang="0">
                      <a:pos x="67" y="44"/>
                    </a:cxn>
                    <a:cxn ang="0">
                      <a:pos x="64" y="5"/>
                    </a:cxn>
                    <a:cxn ang="0">
                      <a:pos x="64" y="5"/>
                    </a:cxn>
                    <a:cxn ang="0">
                      <a:pos x="64" y="5"/>
                    </a:cxn>
                    <a:cxn ang="0">
                      <a:pos x="64" y="5"/>
                    </a:cxn>
                    <a:cxn ang="0">
                      <a:pos x="64" y="5"/>
                    </a:cxn>
                    <a:cxn ang="0">
                      <a:pos x="70" y="2"/>
                    </a:cxn>
                    <a:cxn ang="0">
                      <a:pos x="82" y="66"/>
                    </a:cxn>
                    <a:cxn ang="0">
                      <a:pos x="94" y="39"/>
                    </a:cxn>
                    <a:cxn ang="0">
                      <a:pos x="101" y="5"/>
                    </a:cxn>
                    <a:cxn ang="0">
                      <a:pos x="104" y="5"/>
                    </a:cxn>
                    <a:cxn ang="0">
                      <a:pos x="103" y="5"/>
                    </a:cxn>
                    <a:cxn ang="0">
                      <a:pos x="104" y="5"/>
                    </a:cxn>
                    <a:cxn ang="0">
                      <a:pos x="102" y="5"/>
                    </a:cxn>
                    <a:cxn ang="0">
                      <a:pos x="103" y="5"/>
                    </a:cxn>
                    <a:cxn ang="0">
                      <a:pos x="105" y="47"/>
                    </a:cxn>
                    <a:cxn ang="0">
                      <a:pos x="111" y="88"/>
                    </a:cxn>
                    <a:cxn ang="0">
                      <a:pos x="139" y="79"/>
                    </a:cxn>
                    <a:cxn ang="0">
                      <a:pos x="176" y="81"/>
                    </a:cxn>
                    <a:cxn ang="0">
                      <a:pos x="205" y="104"/>
                    </a:cxn>
                    <a:cxn ang="0">
                      <a:pos x="228" y="155"/>
                    </a:cxn>
                    <a:cxn ang="0">
                      <a:pos x="200" y="147"/>
                    </a:cxn>
                    <a:cxn ang="0">
                      <a:pos x="171" y="131"/>
                    </a:cxn>
                    <a:cxn ang="0">
                      <a:pos x="132" y="121"/>
                    </a:cxn>
                    <a:cxn ang="0">
                      <a:pos x="107" y="125"/>
                    </a:cxn>
                    <a:cxn ang="0">
                      <a:pos x="122" y="150"/>
                    </a:cxn>
                    <a:cxn ang="0">
                      <a:pos x="154" y="165"/>
                    </a:cxn>
                    <a:cxn ang="0">
                      <a:pos x="187" y="175"/>
                    </a:cxn>
                    <a:cxn ang="0">
                      <a:pos x="212" y="212"/>
                    </a:cxn>
                    <a:cxn ang="0">
                      <a:pos x="224" y="262"/>
                    </a:cxn>
                    <a:cxn ang="0">
                      <a:pos x="194" y="231"/>
                    </a:cxn>
                    <a:cxn ang="0">
                      <a:pos x="163" y="199"/>
                    </a:cxn>
                    <a:cxn ang="0">
                      <a:pos x="133" y="172"/>
                    </a:cxn>
                    <a:cxn ang="0">
                      <a:pos x="111" y="159"/>
                    </a:cxn>
                    <a:cxn ang="0">
                      <a:pos x="97" y="185"/>
                    </a:cxn>
                    <a:cxn ang="0">
                      <a:pos x="115" y="245"/>
                    </a:cxn>
                    <a:cxn ang="0">
                      <a:pos x="132" y="312"/>
                    </a:cxn>
                    <a:cxn ang="0">
                      <a:pos x="114" y="328"/>
                    </a:cxn>
                    <a:cxn ang="0">
                      <a:pos x="95" y="236"/>
                    </a:cxn>
                    <a:cxn ang="0">
                      <a:pos x="78" y="179"/>
                    </a:cxn>
                    <a:cxn ang="0">
                      <a:pos x="73" y="197"/>
                    </a:cxn>
                    <a:cxn ang="0">
                      <a:pos x="74" y="186"/>
                    </a:cxn>
                    <a:cxn ang="0">
                      <a:pos x="70" y="206"/>
                    </a:cxn>
                    <a:cxn ang="0">
                      <a:pos x="51" y="257"/>
                    </a:cxn>
                    <a:cxn ang="0">
                      <a:pos x="32" y="322"/>
                    </a:cxn>
                    <a:cxn ang="0">
                      <a:pos x="28" y="304"/>
                    </a:cxn>
                    <a:cxn ang="0">
                      <a:pos x="38" y="249"/>
                    </a:cxn>
                    <a:cxn ang="0">
                      <a:pos x="59" y="189"/>
                    </a:cxn>
                    <a:cxn ang="0">
                      <a:pos x="82" y="143"/>
                    </a:cxn>
                    <a:cxn ang="0">
                      <a:pos x="65" y="139"/>
                    </a:cxn>
                    <a:cxn ang="0">
                      <a:pos x="40" y="189"/>
                    </a:cxn>
                    <a:cxn ang="0">
                      <a:pos x="18" y="243"/>
                    </a:cxn>
                    <a:cxn ang="0">
                      <a:pos x="2" y="278"/>
                    </a:cxn>
                    <a:cxn ang="0">
                      <a:pos x="13" y="229"/>
                    </a:cxn>
                    <a:cxn ang="0">
                      <a:pos x="37" y="179"/>
                    </a:cxn>
                    <a:cxn ang="0">
                      <a:pos x="70" y="130"/>
                    </a:cxn>
                    <a:cxn ang="0">
                      <a:pos x="62" y="99"/>
                    </a:cxn>
                    <a:cxn ang="0">
                      <a:pos x="37" y="59"/>
                    </a:cxn>
                    <a:cxn ang="0">
                      <a:pos x="11" y="12"/>
                    </a:cxn>
                    <a:cxn ang="0">
                      <a:pos x="14" y="5"/>
                    </a:cxn>
                    <a:cxn ang="0">
                      <a:pos x="27" y="5"/>
                    </a:cxn>
                    <a:cxn ang="0">
                      <a:pos x="31" y="10"/>
                    </a:cxn>
                  </a:cxnLst>
                  <a:rect l="txL" t="txT" r="txR" b="txB"/>
                  <a:pathLst>
                    <a:path w="229" h="358">
                      <a:moveTo>
                        <a:pt x="43" y="31"/>
                      </a:moveTo>
                      <a:lnTo>
                        <a:pt x="47" y="39"/>
                      </a:lnTo>
                      <a:lnTo>
                        <a:pt x="51" y="44"/>
                      </a:lnTo>
                      <a:lnTo>
                        <a:pt x="55" y="51"/>
                      </a:lnTo>
                      <a:lnTo>
                        <a:pt x="60" y="58"/>
                      </a:lnTo>
                      <a:lnTo>
                        <a:pt x="64" y="63"/>
                      </a:lnTo>
                      <a:lnTo>
                        <a:pt x="68" y="66"/>
                      </a:lnTo>
                      <a:lnTo>
                        <a:pt x="72" y="69"/>
                      </a:lnTo>
                      <a:lnTo>
                        <a:pt x="70" y="58"/>
                      </a:lnTo>
                      <a:lnTo>
                        <a:pt x="67" y="44"/>
                      </a:lnTo>
                      <a:lnTo>
                        <a:pt x="65" y="30"/>
                      </a:lnTo>
                      <a:lnTo>
                        <a:pt x="63" y="15"/>
                      </a:lnTo>
                      <a:lnTo>
                        <a:pt x="64" y="5"/>
                      </a:lnTo>
                      <a:lnTo>
                        <a:pt x="69" y="5"/>
                      </a:lnTo>
                      <a:lnTo>
                        <a:pt x="70" y="5"/>
                      </a:lnTo>
                      <a:lnTo>
                        <a:pt x="70" y="2"/>
                      </a:lnTo>
                      <a:lnTo>
                        <a:pt x="73" y="16"/>
                      </a:lnTo>
                      <a:lnTo>
                        <a:pt x="76" y="30"/>
                      </a:lnTo>
                      <a:lnTo>
                        <a:pt x="78" y="41"/>
                      </a:lnTo>
                      <a:lnTo>
                        <a:pt x="81" y="56"/>
                      </a:lnTo>
                      <a:lnTo>
                        <a:pt x="82" y="66"/>
                      </a:lnTo>
                      <a:lnTo>
                        <a:pt x="84" y="71"/>
                      </a:lnTo>
                      <a:lnTo>
                        <a:pt x="87" y="66"/>
                      </a:lnTo>
                      <a:lnTo>
                        <a:pt x="89" y="59"/>
                      </a:lnTo>
                      <a:lnTo>
                        <a:pt x="93" y="52"/>
                      </a:lnTo>
                      <a:lnTo>
                        <a:pt x="94" y="39"/>
                      </a:lnTo>
                      <a:lnTo>
                        <a:pt x="95" y="30"/>
                      </a:lnTo>
                      <a:lnTo>
                        <a:pt x="96" y="14"/>
                      </a:lnTo>
                      <a:lnTo>
                        <a:pt x="96" y="0"/>
                      </a:lnTo>
                      <a:lnTo>
                        <a:pt x="101" y="5"/>
                      </a:lnTo>
                      <a:lnTo>
                        <a:pt x="102" y="5"/>
                      </a:lnTo>
                      <a:lnTo>
                        <a:pt x="103" y="5"/>
                      </a:lnTo>
                      <a:lnTo>
                        <a:pt x="104" y="5"/>
                      </a:lnTo>
                      <a:lnTo>
                        <a:pt x="105" y="5"/>
                      </a:lnTo>
                      <a:lnTo>
                        <a:pt x="104" y="5"/>
                      </a:lnTo>
                      <a:lnTo>
                        <a:pt x="102" y="5"/>
                      </a:lnTo>
                      <a:lnTo>
                        <a:pt x="103" y="5"/>
                      </a:lnTo>
                      <a:lnTo>
                        <a:pt x="105" y="5"/>
                      </a:lnTo>
                      <a:lnTo>
                        <a:pt x="103" y="5"/>
                      </a:lnTo>
                      <a:lnTo>
                        <a:pt x="101" y="5"/>
                      </a:lnTo>
                      <a:lnTo>
                        <a:pt x="102" y="5"/>
                      </a:lnTo>
                      <a:lnTo>
                        <a:pt x="101" y="5"/>
                      </a:lnTo>
                      <a:lnTo>
                        <a:pt x="104" y="5"/>
                      </a:lnTo>
                      <a:lnTo>
                        <a:pt x="103" y="5"/>
                      </a:lnTo>
                      <a:lnTo>
                        <a:pt x="100" y="5"/>
                      </a:lnTo>
                      <a:lnTo>
                        <a:pt x="101" y="5"/>
                      </a:lnTo>
                      <a:lnTo>
                        <a:pt x="103" y="5"/>
                      </a:lnTo>
                      <a:lnTo>
                        <a:pt x="102" y="5"/>
                      </a:lnTo>
                      <a:lnTo>
                        <a:pt x="104" y="5"/>
                      </a:lnTo>
                      <a:lnTo>
                        <a:pt x="102" y="5"/>
                      </a:lnTo>
                      <a:lnTo>
                        <a:pt x="107" y="5"/>
                      </a:lnTo>
                      <a:lnTo>
                        <a:pt x="103" y="5"/>
                      </a:lnTo>
                      <a:lnTo>
                        <a:pt x="104" y="5"/>
                      </a:lnTo>
                      <a:lnTo>
                        <a:pt x="107" y="2"/>
                      </a:lnTo>
                      <a:lnTo>
                        <a:pt x="107" y="15"/>
                      </a:lnTo>
                      <a:lnTo>
                        <a:pt x="106" y="31"/>
                      </a:lnTo>
                      <a:lnTo>
                        <a:pt x="105" y="47"/>
                      </a:lnTo>
                      <a:lnTo>
                        <a:pt x="103" y="66"/>
                      </a:lnTo>
                      <a:lnTo>
                        <a:pt x="102" y="83"/>
                      </a:lnTo>
                      <a:lnTo>
                        <a:pt x="101" y="100"/>
                      </a:lnTo>
                      <a:lnTo>
                        <a:pt x="105" y="95"/>
                      </a:lnTo>
                      <a:lnTo>
                        <a:pt x="111" y="88"/>
                      </a:lnTo>
                      <a:lnTo>
                        <a:pt x="118" y="80"/>
                      </a:lnTo>
                      <a:lnTo>
                        <a:pt x="123" y="78"/>
                      </a:lnTo>
                      <a:lnTo>
                        <a:pt x="129" y="76"/>
                      </a:lnTo>
                      <a:lnTo>
                        <a:pt x="134" y="79"/>
                      </a:lnTo>
                      <a:lnTo>
                        <a:pt x="139" y="79"/>
                      </a:lnTo>
                      <a:lnTo>
                        <a:pt x="146" y="81"/>
                      </a:lnTo>
                      <a:lnTo>
                        <a:pt x="154" y="83"/>
                      </a:lnTo>
                      <a:lnTo>
                        <a:pt x="162" y="83"/>
                      </a:lnTo>
                      <a:lnTo>
                        <a:pt x="169" y="81"/>
                      </a:lnTo>
                      <a:lnTo>
                        <a:pt x="176" y="81"/>
                      </a:lnTo>
                      <a:lnTo>
                        <a:pt x="182" y="83"/>
                      </a:lnTo>
                      <a:lnTo>
                        <a:pt x="188" y="88"/>
                      </a:lnTo>
                      <a:lnTo>
                        <a:pt x="195" y="93"/>
                      </a:lnTo>
                      <a:lnTo>
                        <a:pt x="200" y="98"/>
                      </a:lnTo>
                      <a:lnTo>
                        <a:pt x="205" y="104"/>
                      </a:lnTo>
                      <a:lnTo>
                        <a:pt x="211" y="112"/>
                      </a:lnTo>
                      <a:lnTo>
                        <a:pt x="214" y="117"/>
                      </a:lnTo>
                      <a:lnTo>
                        <a:pt x="220" y="129"/>
                      </a:lnTo>
                      <a:lnTo>
                        <a:pt x="223" y="142"/>
                      </a:lnTo>
                      <a:lnTo>
                        <a:pt x="228" y="155"/>
                      </a:lnTo>
                      <a:lnTo>
                        <a:pt x="223" y="156"/>
                      </a:lnTo>
                      <a:lnTo>
                        <a:pt x="217" y="154"/>
                      </a:lnTo>
                      <a:lnTo>
                        <a:pt x="210" y="152"/>
                      </a:lnTo>
                      <a:lnTo>
                        <a:pt x="205" y="150"/>
                      </a:lnTo>
                      <a:lnTo>
                        <a:pt x="200" y="147"/>
                      </a:lnTo>
                      <a:lnTo>
                        <a:pt x="195" y="143"/>
                      </a:lnTo>
                      <a:lnTo>
                        <a:pt x="189" y="138"/>
                      </a:lnTo>
                      <a:lnTo>
                        <a:pt x="184" y="135"/>
                      </a:lnTo>
                      <a:lnTo>
                        <a:pt x="179" y="133"/>
                      </a:lnTo>
                      <a:lnTo>
                        <a:pt x="171" y="131"/>
                      </a:lnTo>
                      <a:lnTo>
                        <a:pt x="162" y="129"/>
                      </a:lnTo>
                      <a:lnTo>
                        <a:pt x="154" y="126"/>
                      </a:lnTo>
                      <a:lnTo>
                        <a:pt x="146" y="124"/>
                      </a:lnTo>
                      <a:lnTo>
                        <a:pt x="138" y="122"/>
                      </a:lnTo>
                      <a:lnTo>
                        <a:pt x="132" y="121"/>
                      </a:lnTo>
                      <a:lnTo>
                        <a:pt x="128" y="120"/>
                      </a:lnTo>
                      <a:lnTo>
                        <a:pt x="122" y="120"/>
                      </a:lnTo>
                      <a:lnTo>
                        <a:pt x="116" y="121"/>
                      </a:lnTo>
                      <a:lnTo>
                        <a:pt x="112" y="122"/>
                      </a:lnTo>
                      <a:lnTo>
                        <a:pt x="107" y="125"/>
                      </a:lnTo>
                      <a:lnTo>
                        <a:pt x="100" y="129"/>
                      </a:lnTo>
                      <a:lnTo>
                        <a:pt x="105" y="135"/>
                      </a:lnTo>
                      <a:lnTo>
                        <a:pt x="111" y="140"/>
                      </a:lnTo>
                      <a:lnTo>
                        <a:pt x="116" y="147"/>
                      </a:lnTo>
                      <a:lnTo>
                        <a:pt x="122" y="150"/>
                      </a:lnTo>
                      <a:lnTo>
                        <a:pt x="129" y="155"/>
                      </a:lnTo>
                      <a:lnTo>
                        <a:pt x="133" y="158"/>
                      </a:lnTo>
                      <a:lnTo>
                        <a:pt x="139" y="159"/>
                      </a:lnTo>
                      <a:lnTo>
                        <a:pt x="147" y="162"/>
                      </a:lnTo>
                      <a:lnTo>
                        <a:pt x="154" y="165"/>
                      </a:lnTo>
                      <a:lnTo>
                        <a:pt x="161" y="167"/>
                      </a:lnTo>
                      <a:lnTo>
                        <a:pt x="168" y="169"/>
                      </a:lnTo>
                      <a:lnTo>
                        <a:pt x="174" y="170"/>
                      </a:lnTo>
                      <a:lnTo>
                        <a:pt x="181" y="174"/>
                      </a:lnTo>
                      <a:lnTo>
                        <a:pt x="187" y="175"/>
                      </a:lnTo>
                      <a:lnTo>
                        <a:pt x="191" y="179"/>
                      </a:lnTo>
                      <a:lnTo>
                        <a:pt x="197" y="186"/>
                      </a:lnTo>
                      <a:lnTo>
                        <a:pt x="202" y="193"/>
                      </a:lnTo>
                      <a:lnTo>
                        <a:pt x="206" y="202"/>
                      </a:lnTo>
                      <a:lnTo>
                        <a:pt x="212" y="212"/>
                      </a:lnTo>
                      <a:lnTo>
                        <a:pt x="214" y="218"/>
                      </a:lnTo>
                      <a:lnTo>
                        <a:pt x="217" y="229"/>
                      </a:lnTo>
                      <a:lnTo>
                        <a:pt x="219" y="240"/>
                      </a:lnTo>
                      <a:lnTo>
                        <a:pt x="221" y="253"/>
                      </a:lnTo>
                      <a:lnTo>
                        <a:pt x="224" y="262"/>
                      </a:lnTo>
                      <a:lnTo>
                        <a:pt x="219" y="257"/>
                      </a:lnTo>
                      <a:lnTo>
                        <a:pt x="212" y="250"/>
                      </a:lnTo>
                      <a:lnTo>
                        <a:pt x="206" y="245"/>
                      </a:lnTo>
                      <a:lnTo>
                        <a:pt x="200" y="238"/>
                      </a:lnTo>
                      <a:lnTo>
                        <a:pt x="194" y="231"/>
                      </a:lnTo>
                      <a:lnTo>
                        <a:pt x="188" y="226"/>
                      </a:lnTo>
                      <a:lnTo>
                        <a:pt x="182" y="219"/>
                      </a:lnTo>
                      <a:lnTo>
                        <a:pt x="176" y="213"/>
                      </a:lnTo>
                      <a:lnTo>
                        <a:pt x="169" y="206"/>
                      </a:lnTo>
                      <a:lnTo>
                        <a:pt x="163" y="199"/>
                      </a:lnTo>
                      <a:lnTo>
                        <a:pt x="158" y="194"/>
                      </a:lnTo>
                      <a:lnTo>
                        <a:pt x="151" y="187"/>
                      </a:lnTo>
                      <a:lnTo>
                        <a:pt x="145" y="182"/>
                      </a:lnTo>
                      <a:lnTo>
                        <a:pt x="139" y="177"/>
                      </a:lnTo>
                      <a:lnTo>
                        <a:pt x="133" y="172"/>
                      </a:lnTo>
                      <a:lnTo>
                        <a:pt x="129" y="170"/>
                      </a:lnTo>
                      <a:lnTo>
                        <a:pt x="125" y="166"/>
                      </a:lnTo>
                      <a:lnTo>
                        <a:pt x="119" y="162"/>
                      </a:lnTo>
                      <a:lnTo>
                        <a:pt x="115" y="158"/>
                      </a:lnTo>
                      <a:lnTo>
                        <a:pt x="111" y="159"/>
                      </a:lnTo>
                      <a:lnTo>
                        <a:pt x="107" y="162"/>
                      </a:lnTo>
                      <a:lnTo>
                        <a:pt x="103" y="161"/>
                      </a:lnTo>
                      <a:lnTo>
                        <a:pt x="99" y="158"/>
                      </a:lnTo>
                      <a:lnTo>
                        <a:pt x="98" y="170"/>
                      </a:lnTo>
                      <a:lnTo>
                        <a:pt x="97" y="185"/>
                      </a:lnTo>
                      <a:lnTo>
                        <a:pt x="100" y="197"/>
                      </a:lnTo>
                      <a:lnTo>
                        <a:pt x="102" y="211"/>
                      </a:lnTo>
                      <a:lnTo>
                        <a:pt x="107" y="220"/>
                      </a:lnTo>
                      <a:lnTo>
                        <a:pt x="111" y="231"/>
                      </a:lnTo>
                      <a:lnTo>
                        <a:pt x="115" y="245"/>
                      </a:lnTo>
                      <a:lnTo>
                        <a:pt x="119" y="259"/>
                      </a:lnTo>
                      <a:lnTo>
                        <a:pt x="123" y="268"/>
                      </a:lnTo>
                      <a:lnTo>
                        <a:pt x="127" y="278"/>
                      </a:lnTo>
                      <a:lnTo>
                        <a:pt x="131" y="297"/>
                      </a:lnTo>
                      <a:lnTo>
                        <a:pt x="132" y="312"/>
                      </a:lnTo>
                      <a:lnTo>
                        <a:pt x="135" y="331"/>
                      </a:lnTo>
                      <a:lnTo>
                        <a:pt x="138" y="349"/>
                      </a:lnTo>
                      <a:lnTo>
                        <a:pt x="125" y="349"/>
                      </a:lnTo>
                      <a:lnTo>
                        <a:pt x="122" y="349"/>
                      </a:lnTo>
                      <a:lnTo>
                        <a:pt x="114" y="328"/>
                      </a:lnTo>
                      <a:lnTo>
                        <a:pt x="108" y="307"/>
                      </a:lnTo>
                      <a:lnTo>
                        <a:pt x="103" y="290"/>
                      </a:lnTo>
                      <a:lnTo>
                        <a:pt x="100" y="273"/>
                      </a:lnTo>
                      <a:lnTo>
                        <a:pt x="98" y="255"/>
                      </a:lnTo>
                      <a:lnTo>
                        <a:pt x="95" y="236"/>
                      </a:lnTo>
                      <a:lnTo>
                        <a:pt x="90" y="209"/>
                      </a:lnTo>
                      <a:lnTo>
                        <a:pt x="87" y="200"/>
                      </a:lnTo>
                      <a:lnTo>
                        <a:pt x="84" y="184"/>
                      </a:lnTo>
                      <a:lnTo>
                        <a:pt x="81" y="177"/>
                      </a:lnTo>
                      <a:lnTo>
                        <a:pt x="78" y="179"/>
                      </a:lnTo>
                      <a:lnTo>
                        <a:pt x="75" y="181"/>
                      </a:lnTo>
                      <a:lnTo>
                        <a:pt x="74" y="191"/>
                      </a:lnTo>
                      <a:lnTo>
                        <a:pt x="74" y="186"/>
                      </a:lnTo>
                      <a:lnTo>
                        <a:pt x="74" y="192"/>
                      </a:lnTo>
                      <a:lnTo>
                        <a:pt x="73" y="197"/>
                      </a:lnTo>
                      <a:lnTo>
                        <a:pt x="72" y="198"/>
                      </a:lnTo>
                      <a:lnTo>
                        <a:pt x="74" y="197"/>
                      </a:lnTo>
                      <a:lnTo>
                        <a:pt x="73" y="194"/>
                      </a:lnTo>
                      <a:lnTo>
                        <a:pt x="74" y="189"/>
                      </a:lnTo>
                      <a:lnTo>
                        <a:pt x="74" y="186"/>
                      </a:lnTo>
                      <a:lnTo>
                        <a:pt x="74" y="187"/>
                      </a:lnTo>
                      <a:lnTo>
                        <a:pt x="74" y="192"/>
                      </a:lnTo>
                      <a:lnTo>
                        <a:pt x="75" y="197"/>
                      </a:lnTo>
                      <a:lnTo>
                        <a:pt x="73" y="198"/>
                      </a:lnTo>
                      <a:lnTo>
                        <a:pt x="70" y="206"/>
                      </a:lnTo>
                      <a:lnTo>
                        <a:pt x="65" y="218"/>
                      </a:lnTo>
                      <a:lnTo>
                        <a:pt x="61" y="227"/>
                      </a:lnTo>
                      <a:lnTo>
                        <a:pt x="58" y="236"/>
                      </a:lnTo>
                      <a:lnTo>
                        <a:pt x="54" y="248"/>
                      </a:lnTo>
                      <a:lnTo>
                        <a:pt x="51" y="257"/>
                      </a:lnTo>
                      <a:lnTo>
                        <a:pt x="47" y="268"/>
                      </a:lnTo>
                      <a:lnTo>
                        <a:pt x="43" y="280"/>
                      </a:lnTo>
                      <a:lnTo>
                        <a:pt x="40" y="293"/>
                      </a:lnTo>
                      <a:lnTo>
                        <a:pt x="36" y="307"/>
                      </a:lnTo>
                      <a:lnTo>
                        <a:pt x="32" y="322"/>
                      </a:lnTo>
                      <a:lnTo>
                        <a:pt x="29" y="339"/>
                      </a:lnTo>
                      <a:lnTo>
                        <a:pt x="24" y="357"/>
                      </a:lnTo>
                      <a:lnTo>
                        <a:pt x="26" y="335"/>
                      </a:lnTo>
                      <a:lnTo>
                        <a:pt x="27" y="321"/>
                      </a:lnTo>
                      <a:lnTo>
                        <a:pt x="28" y="304"/>
                      </a:lnTo>
                      <a:lnTo>
                        <a:pt x="29" y="295"/>
                      </a:lnTo>
                      <a:lnTo>
                        <a:pt x="31" y="287"/>
                      </a:lnTo>
                      <a:lnTo>
                        <a:pt x="33" y="273"/>
                      </a:lnTo>
                      <a:lnTo>
                        <a:pt x="36" y="260"/>
                      </a:lnTo>
                      <a:lnTo>
                        <a:pt x="38" y="249"/>
                      </a:lnTo>
                      <a:lnTo>
                        <a:pt x="43" y="236"/>
                      </a:lnTo>
                      <a:lnTo>
                        <a:pt x="47" y="224"/>
                      </a:lnTo>
                      <a:lnTo>
                        <a:pt x="52" y="211"/>
                      </a:lnTo>
                      <a:lnTo>
                        <a:pt x="56" y="197"/>
                      </a:lnTo>
                      <a:lnTo>
                        <a:pt x="59" y="189"/>
                      </a:lnTo>
                      <a:lnTo>
                        <a:pt x="63" y="181"/>
                      </a:lnTo>
                      <a:lnTo>
                        <a:pt x="68" y="172"/>
                      </a:lnTo>
                      <a:lnTo>
                        <a:pt x="73" y="164"/>
                      </a:lnTo>
                      <a:lnTo>
                        <a:pt x="77" y="154"/>
                      </a:lnTo>
                      <a:lnTo>
                        <a:pt x="82" y="143"/>
                      </a:lnTo>
                      <a:lnTo>
                        <a:pt x="80" y="139"/>
                      </a:lnTo>
                      <a:lnTo>
                        <a:pt x="76" y="133"/>
                      </a:lnTo>
                      <a:lnTo>
                        <a:pt x="73" y="129"/>
                      </a:lnTo>
                      <a:lnTo>
                        <a:pt x="70" y="132"/>
                      </a:lnTo>
                      <a:lnTo>
                        <a:pt x="65" y="139"/>
                      </a:lnTo>
                      <a:lnTo>
                        <a:pt x="60" y="147"/>
                      </a:lnTo>
                      <a:lnTo>
                        <a:pt x="55" y="154"/>
                      </a:lnTo>
                      <a:lnTo>
                        <a:pt x="51" y="164"/>
                      </a:lnTo>
                      <a:lnTo>
                        <a:pt x="45" y="177"/>
                      </a:lnTo>
                      <a:lnTo>
                        <a:pt x="40" y="189"/>
                      </a:lnTo>
                      <a:lnTo>
                        <a:pt x="36" y="199"/>
                      </a:lnTo>
                      <a:lnTo>
                        <a:pt x="31" y="207"/>
                      </a:lnTo>
                      <a:lnTo>
                        <a:pt x="27" y="218"/>
                      </a:lnTo>
                      <a:lnTo>
                        <a:pt x="22" y="230"/>
                      </a:lnTo>
                      <a:lnTo>
                        <a:pt x="18" y="243"/>
                      </a:lnTo>
                      <a:lnTo>
                        <a:pt x="14" y="255"/>
                      </a:lnTo>
                      <a:lnTo>
                        <a:pt x="9" y="268"/>
                      </a:lnTo>
                      <a:lnTo>
                        <a:pt x="5" y="282"/>
                      </a:lnTo>
                      <a:lnTo>
                        <a:pt x="0" y="298"/>
                      </a:lnTo>
                      <a:lnTo>
                        <a:pt x="2" y="278"/>
                      </a:lnTo>
                      <a:lnTo>
                        <a:pt x="4" y="262"/>
                      </a:lnTo>
                      <a:lnTo>
                        <a:pt x="5" y="248"/>
                      </a:lnTo>
                      <a:lnTo>
                        <a:pt x="6" y="244"/>
                      </a:lnTo>
                      <a:lnTo>
                        <a:pt x="9" y="238"/>
                      </a:lnTo>
                      <a:lnTo>
                        <a:pt x="13" y="229"/>
                      </a:lnTo>
                      <a:lnTo>
                        <a:pt x="17" y="219"/>
                      </a:lnTo>
                      <a:lnTo>
                        <a:pt x="22" y="209"/>
                      </a:lnTo>
                      <a:lnTo>
                        <a:pt x="27" y="199"/>
                      </a:lnTo>
                      <a:lnTo>
                        <a:pt x="33" y="187"/>
                      </a:lnTo>
                      <a:lnTo>
                        <a:pt x="37" y="179"/>
                      </a:lnTo>
                      <a:lnTo>
                        <a:pt x="43" y="170"/>
                      </a:lnTo>
                      <a:lnTo>
                        <a:pt x="49" y="159"/>
                      </a:lnTo>
                      <a:lnTo>
                        <a:pt x="55" y="149"/>
                      </a:lnTo>
                      <a:lnTo>
                        <a:pt x="60" y="142"/>
                      </a:lnTo>
                      <a:lnTo>
                        <a:pt x="70" y="130"/>
                      </a:lnTo>
                      <a:lnTo>
                        <a:pt x="75" y="125"/>
                      </a:lnTo>
                      <a:lnTo>
                        <a:pt x="78" y="123"/>
                      </a:lnTo>
                      <a:lnTo>
                        <a:pt x="73" y="117"/>
                      </a:lnTo>
                      <a:lnTo>
                        <a:pt x="67" y="108"/>
                      </a:lnTo>
                      <a:lnTo>
                        <a:pt x="62" y="99"/>
                      </a:lnTo>
                      <a:lnTo>
                        <a:pt x="57" y="92"/>
                      </a:lnTo>
                      <a:lnTo>
                        <a:pt x="52" y="85"/>
                      </a:lnTo>
                      <a:lnTo>
                        <a:pt x="47" y="78"/>
                      </a:lnTo>
                      <a:lnTo>
                        <a:pt x="43" y="71"/>
                      </a:lnTo>
                      <a:lnTo>
                        <a:pt x="37" y="59"/>
                      </a:lnTo>
                      <a:lnTo>
                        <a:pt x="32" y="48"/>
                      </a:lnTo>
                      <a:lnTo>
                        <a:pt x="26" y="38"/>
                      </a:lnTo>
                      <a:lnTo>
                        <a:pt x="19" y="26"/>
                      </a:lnTo>
                      <a:lnTo>
                        <a:pt x="14" y="19"/>
                      </a:lnTo>
                      <a:lnTo>
                        <a:pt x="11" y="12"/>
                      </a:lnTo>
                      <a:lnTo>
                        <a:pt x="7" y="4"/>
                      </a:lnTo>
                      <a:lnTo>
                        <a:pt x="14" y="5"/>
                      </a:lnTo>
                      <a:lnTo>
                        <a:pt x="27" y="5"/>
                      </a:lnTo>
                      <a:lnTo>
                        <a:pt x="31" y="10"/>
                      </a:lnTo>
                      <a:lnTo>
                        <a:pt x="37" y="22"/>
                      </a:lnTo>
                      <a:lnTo>
                        <a:pt x="43" y="31"/>
                      </a:lnTo>
                    </a:path>
                  </a:pathLst>
                </a:custGeom>
                <a:solidFill>
                  <a:srgbClr val="037C03">
                    <a:alpha val="50195"/>
                  </a:srgbClr>
                </a:solidFill>
                <a:ln w="9525">
                  <a:noFill/>
                </a:ln>
              </p:spPr>
              <p:txBody>
                <a:bodyPr/>
                <a:lstStyle/>
                <a:p>
                  <a:endParaRPr lang="zh-CN" altLang="en-US"/>
                </a:p>
              </p:txBody>
            </p:sp>
            <p:grpSp>
              <p:nvGrpSpPr>
                <p:cNvPr id="89263" name="Group 69"/>
                <p:cNvGrpSpPr/>
                <p:nvPr/>
              </p:nvGrpSpPr>
              <p:grpSpPr>
                <a:xfrm>
                  <a:off x="1985" y="1419"/>
                  <a:ext cx="465" cy="349"/>
                  <a:chOff x="1985" y="1419"/>
                  <a:chExt cx="465" cy="349"/>
                </a:xfrm>
              </p:grpSpPr>
              <p:sp>
                <p:nvSpPr>
                  <p:cNvPr id="89264" name="Freeform 70"/>
                  <p:cNvSpPr/>
                  <p:nvPr/>
                </p:nvSpPr>
                <p:spPr>
                  <a:xfrm>
                    <a:off x="2030" y="1419"/>
                    <a:ext cx="420" cy="326"/>
                  </a:xfrm>
                  <a:custGeom>
                    <a:avLst/>
                    <a:gdLst>
                      <a:gd name="txL" fmla="*/ 0 w 420"/>
                      <a:gd name="txT" fmla="*/ 0 h 326"/>
                      <a:gd name="txR" fmla="*/ 420 w 420"/>
                      <a:gd name="txB" fmla="*/ 326 h 326"/>
                    </a:gdLst>
                    <a:ahLst/>
                    <a:cxnLst>
                      <a:cxn ang="0">
                        <a:pos x="159" y="41"/>
                      </a:cxn>
                      <a:cxn ang="0">
                        <a:pos x="193" y="13"/>
                      </a:cxn>
                      <a:cxn ang="0">
                        <a:pos x="233" y="2"/>
                      </a:cxn>
                      <a:cxn ang="0">
                        <a:pos x="279" y="2"/>
                      </a:cxn>
                      <a:cxn ang="0">
                        <a:pos x="290" y="6"/>
                      </a:cxn>
                      <a:cxn ang="0">
                        <a:pos x="260" y="14"/>
                      </a:cxn>
                      <a:cxn ang="0">
                        <a:pos x="225" y="25"/>
                      </a:cxn>
                      <a:cxn ang="0">
                        <a:pos x="186" y="52"/>
                      </a:cxn>
                      <a:cxn ang="0">
                        <a:pos x="183" y="89"/>
                      </a:cxn>
                      <a:cxn ang="0">
                        <a:pos x="240" y="66"/>
                      </a:cxn>
                      <a:cxn ang="0">
                        <a:pos x="288" y="64"/>
                      </a:cxn>
                      <a:cxn ang="0">
                        <a:pos x="338" y="69"/>
                      </a:cxn>
                      <a:cxn ang="0">
                        <a:pos x="397" y="75"/>
                      </a:cxn>
                      <a:cxn ang="0">
                        <a:pos x="398" y="76"/>
                      </a:cxn>
                      <a:cxn ang="0">
                        <a:pos x="341" y="79"/>
                      </a:cxn>
                      <a:cxn ang="0">
                        <a:pos x="288" y="80"/>
                      </a:cxn>
                      <a:cxn ang="0">
                        <a:pos x="242" y="86"/>
                      </a:cxn>
                      <a:cxn ang="0">
                        <a:pos x="191" y="98"/>
                      </a:cxn>
                      <a:cxn ang="0">
                        <a:pos x="212" y="118"/>
                      </a:cxn>
                      <a:cxn ang="0">
                        <a:pos x="227" y="136"/>
                      </a:cxn>
                      <a:cxn ang="0">
                        <a:pos x="175" y="119"/>
                      </a:cxn>
                      <a:cxn ang="0">
                        <a:pos x="165" y="129"/>
                      </a:cxn>
                      <a:cxn ang="0">
                        <a:pos x="221" y="138"/>
                      </a:cxn>
                      <a:cxn ang="0">
                        <a:pos x="269" y="150"/>
                      </a:cxn>
                      <a:cxn ang="0">
                        <a:pos x="306" y="181"/>
                      </a:cxn>
                      <a:cxn ang="0">
                        <a:pos x="335" y="223"/>
                      </a:cxn>
                      <a:cxn ang="0">
                        <a:pos x="329" y="231"/>
                      </a:cxn>
                      <a:cxn ang="0">
                        <a:pos x="290" y="204"/>
                      </a:cxn>
                      <a:cxn ang="0">
                        <a:pos x="248" y="174"/>
                      </a:cxn>
                      <a:cxn ang="0">
                        <a:pos x="202" y="154"/>
                      </a:cxn>
                      <a:cxn ang="0">
                        <a:pos x="173" y="148"/>
                      </a:cxn>
                      <a:cxn ang="0">
                        <a:pos x="196" y="181"/>
                      </a:cxn>
                      <a:cxn ang="0">
                        <a:pos x="227" y="223"/>
                      </a:cxn>
                      <a:cxn ang="0">
                        <a:pos x="244" y="262"/>
                      </a:cxn>
                      <a:cxn ang="0">
                        <a:pos x="243" y="299"/>
                      </a:cxn>
                      <a:cxn ang="0">
                        <a:pos x="222" y="259"/>
                      </a:cxn>
                      <a:cxn ang="0">
                        <a:pos x="199" y="215"/>
                      </a:cxn>
                      <a:cxn ang="0">
                        <a:pos x="173" y="177"/>
                      </a:cxn>
                      <a:cxn ang="0">
                        <a:pos x="150" y="142"/>
                      </a:cxn>
                      <a:cxn ang="0">
                        <a:pos x="109" y="162"/>
                      </a:cxn>
                      <a:cxn ang="0">
                        <a:pos x="77" y="210"/>
                      </a:cxn>
                      <a:cxn ang="0">
                        <a:pos x="49" y="260"/>
                      </a:cxn>
                      <a:cxn ang="0">
                        <a:pos x="18" y="306"/>
                      </a:cxn>
                      <a:cxn ang="0">
                        <a:pos x="8" y="301"/>
                      </a:cxn>
                      <a:cxn ang="0">
                        <a:pos x="45" y="243"/>
                      </a:cxn>
                      <a:cxn ang="0">
                        <a:pos x="78" y="198"/>
                      </a:cxn>
                      <a:cxn ang="0">
                        <a:pos x="107" y="154"/>
                      </a:cxn>
                      <a:cxn ang="0">
                        <a:pos x="132" y="120"/>
                      </a:cxn>
                      <a:cxn ang="0">
                        <a:pos x="95" y="79"/>
                      </a:cxn>
                      <a:cxn ang="0">
                        <a:pos x="42" y="57"/>
                      </a:cxn>
                      <a:cxn ang="0">
                        <a:pos x="19" y="45"/>
                      </a:cxn>
                      <a:cxn ang="0">
                        <a:pos x="60" y="58"/>
                      </a:cxn>
                      <a:cxn ang="0">
                        <a:pos x="116" y="86"/>
                      </a:cxn>
                    </a:cxnLst>
                    <a:rect l="txL" t="txT" r="txR" b="txB"/>
                    <a:pathLst>
                      <a:path w="420" h="326">
                        <a:moveTo>
                          <a:pt x="132" y="83"/>
                        </a:moveTo>
                        <a:lnTo>
                          <a:pt x="135" y="74"/>
                        </a:lnTo>
                        <a:lnTo>
                          <a:pt x="140" y="65"/>
                        </a:lnTo>
                        <a:lnTo>
                          <a:pt x="146" y="57"/>
                        </a:lnTo>
                        <a:lnTo>
                          <a:pt x="152" y="48"/>
                        </a:lnTo>
                        <a:lnTo>
                          <a:pt x="159" y="41"/>
                        </a:lnTo>
                        <a:lnTo>
                          <a:pt x="164" y="34"/>
                        </a:lnTo>
                        <a:lnTo>
                          <a:pt x="170" y="29"/>
                        </a:lnTo>
                        <a:lnTo>
                          <a:pt x="176" y="25"/>
                        </a:lnTo>
                        <a:lnTo>
                          <a:pt x="181" y="20"/>
                        </a:lnTo>
                        <a:lnTo>
                          <a:pt x="187" y="17"/>
                        </a:lnTo>
                        <a:lnTo>
                          <a:pt x="193" y="13"/>
                        </a:lnTo>
                        <a:lnTo>
                          <a:pt x="199" y="10"/>
                        </a:lnTo>
                        <a:lnTo>
                          <a:pt x="204" y="8"/>
                        </a:lnTo>
                        <a:lnTo>
                          <a:pt x="212" y="6"/>
                        </a:lnTo>
                        <a:lnTo>
                          <a:pt x="220" y="5"/>
                        </a:lnTo>
                        <a:lnTo>
                          <a:pt x="226" y="3"/>
                        </a:lnTo>
                        <a:lnTo>
                          <a:pt x="233" y="2"/>
                        </a:lnTo>
                        <a:lnTo>
                          <a:pt x="241" y="2"/>
                        </a:lnTo>
                        <a:lnTo>
                          <a:pt x="248" y="1"/>
                        </a:lnTo>
                        <a:lnTo>
                          <a:pt x="258" y="1"/>
                        </a:lnTo>
                        <a:lnTo>
                          <a:pt x="265" y="1"/>
                        </a:lnTo>
                        <a:lnTo>
                          <a:pt x="272" y="2"/>
                        </a:lnTo>
                        <a:lnTo>
                          <a:pt x="279" y="2"/>
                        </a:lnTo>
                        <a:lnTo>
                          <a:pt x="285" y="1"/>
                        </a:lnTo>
                        <a:lnTo>
                          <a:pt x="293" y="1"/>
                        </a:lnTo>
                        <a:lnTo>
                          <a:pt x="300" y="0"/>
                        </a:lnTo>
                        <a:lnTo>
                          <a:pt x="296" y="2"/>
                        </a:lnTo>
                        <a:lnTo>
                          <a:pt x="293" y="3"/>
                        </a:lnTo>
                        <a:lnTo>
                          <a:pt x="290" y="6"/>
                        </a:lnTo>
                        <a:lnTo>
                          <a:pt x="287" y="10"/>
                        </a:lnTo>
                        <a:lnTo>
                          <a:pt x="281" y="10"/>
                        </a:lnTo>
                        <a:lnTo>
                          <a:pt x="275" y="10"/>
                        </a:lnTo>
                        <a:lnTo>
                          <a:pt x="270" y="11"/>
                        </a:lnTo>
                        <a:lnTo>
                          <a:pt x="265" y="12"/>
                        </a:lnTo>
                        <a:lnTo>
                          <a:pt x="260" y="14"/>
                        </a:lnTo>
                        <a:lnTo>
                          <a:pt x="254" y="15"/>
                        </a:lnTo>
                        <a:lnTo>
                          <a:pt x="248" y="17"/>
                        </a:lnTo>
                        <a:lnTo>
                          <a:pt x="242" y="19"/>
                        </a:lnTo>
                        <a:lnTo>
                          <a:pt x="236" y="20"/>
                        </a:lnTo>
                        <a:lnTo>
                          <a:pt x="231" y="22"/>
                        </a:lnTo>
                        <a:lnTo>
                          <a:pt x="225" y="25"/>
                        </a:lnTo>
                        <a:lnTo>
                          <a:pt x="218" y="28"/>
                        </a:lnTo>
                        <a:lnTo>
                          <a:pt x="212" y="31"/>
                        </a:lnTo>
                        <a:lnTo>
                          <a:pt x="205" y="35"/>
                        </a:lnTo>
                        <a:lnTo>
                          <a:pt x="199" y="39"/>
                        </a:lnTo>
                        <a:lnTo>
                          <a:pt x="192" y="45"/>
                        </a:lnTo>
                        <a:lnTo>
                          <a:pt x="186" y="52"/>
                        </a:lnTo>
                        <a:lnTo>
                          <a:pt x="180" y="61"/>
                        </a:lnTo>
                        <a:lnTo>
                          <a:pt x="173" y="73"/>
                        </a:lnTo>
                        <a:lnTo>
                          <a:pt x="167" y="86"/>
                        </a:lnTo>
                        <a:lnTo>
                          <a:pt x="159" y="101"/>
                        </a:lnTo>
                        <a:lnTo>
                          <a:pt x="172" y="95"/>
                        </a:lnTo>
                        <a:lnTo>
                          <a:pt x="183" y="89"/>
                        </a:lnTo>
                        <a:lnTo>
                          <a:pt x="197" y="82"/>
                        </a:lnTo>
                        <a:lnTo>
                          <a:pt x="212" y="75"/>
                        </a:lnTo>
                        <a:lnTo>
                          <a:pt x="218" y="73"/>
                        </a:lnTo>
                        <a:lnTo>
                          <a:pt x="225" y="70"/>
                        </a:lnTo>
                        <a:lnTo>
                          <a:pt x="232" y="69"/>
                        </a:lnTo>
                        <a:lnTo>
                          <a:pt x="240" y="66"/>
                        </a:lnTo>
                        <a:lnTo>
                          <a:pt x="249" y="65"/>
                        </a:lnTo>
                        <a:lnTo>
                          <a:pt x="256" y="64"/>
                        </a:lnTo>
                        <a:lnTo>
                          <a:pt x="263" y="64"/>
                        </a:lnTo>
                        <a:lnTo>
                          <a:pt x="272" y="63"/>
                        </a:lnTo>
                        <a:lnTo>
                          <a:pt x="281" y="64"/>
                        </a:lnTo>
                        <a:lnTo>
                          <a:pt x="288" y="64"/>
                        </a:lnTo>
                        <a:lnTo>
                          <a:pt x="297" y="65"/>
                        </a:lnTo>
                        <a:lnTo>
                          <a:pt x="305" y="65"/>
                        </a:lnTo>
                        <a:lnTo>
                          <a:pt x="313" y="66"/>
                        </a:lnTo>
                        <a:lnTo>
                          <a:pt x="321" y="67"/>
                        </a:lnTo>
                        <a:lnTo>
                          <a:pt x="329" y="68"/>
                        </a:lnTo>
                        <a:lnTo>
                          <a:pt x="338" y="69"/>
                        </a:lnTo>
                        <a:lnTo>
                          <a:pt x="346" y="69"/>
                        </a:lnTo>
                        <a:lnTo>
                          <a:pt x="354" y="70"/>
                        </a:lnTo>
                        <a:lnTo>
                          <a:pt x="364" y="71"/>
                        </a:lnTo>
                        <a:lnTo>
                          <a:pt x="374" y="72"/>
                        </a:lnTo>
                        <a:lnTo>
                          <a:pt x="383" y="74"/>
                        </a:lnTo>
                        <a:lnTo>
                          <a:pt x="397" y="75"/>
                        </a:lnTo>
                        <a:lnTo>
                          <a:pt x="402" y="75"/>
                        </a:lnTo>
                        <a:lnTo>
                          <a:pt x="406" y="75"/>
                        </a:lnTo>
                        <a:lnTo>
                          <a:pt x="411" y="77"/>
                        </a:lnTo>
                        <a:lnTo>
                          <a:pt x="419" y="80"/>
                        </a:lnTo>
                        <a:lnTo>
                          <a:pt x="404" y="77"/>
                        </a:lnTo>
                        <a:lnTo>
                          <a:pt x="398" y="76"/>
                        </a:lnTo>
                        <a:lnTo>
                          <a:pt x="392" y="76"/>
                        </a:lnTo>
                        <a:lnTo>
                          <a:pt x="379" y="77"/>
                        </a:lnTo>
                        <a:lnTo>
                          <a:pt x="370" y="78"/>
                        </a:lnTo>
                        <a:lnTo>
                          <a:pt x="360" y="78"/>
                        </a:lnTo>
                        <a:lnTo>
                          <a:pt x="350" y="78"/>
                        </a:lnTo>
                        <a:lnTo>
                          <a:pt x="341" y="79"/>
                        </a:lnTo>
                        <a:lnTo>
                          <a:pt x="332" y="79"/>
                        </a:lnTo>
                        <a:lnTo>
                          <a:pt x="325" y="78"/>
                        </a:lnTo>
                        <a:lnTo>
                          <a:pt x="315" y="78"/>
                        </a:lnTo>
                        <a:lnTo>
                          <a:pt x="305" y="78"/>
                        </a:lnTo>
                        <a:lnTo>
                          <a:pt x="296" y="79"/>
                        </a:lnTo>
                        <a:lnTo>
                          <a:pt x="288" y="80"/>
                        </a:lnTo>
                        <a:lnTo>
                          <a:pt x="279" y="80"/>
                        </a:lnTo>
                        <a:lnTo>
                          <a:pt x="272" y="80"/>
                        </a:lnTo>
                        <a:lnTo>
                          <a:pt x="264" y="81"/>
                        </a:lnTo>
                        <a:lnTo>
                          <a:pt x="256" y="83"/>
                        </a:lnTo>
                        <a:lnTo>
                          <a:pt x="249" y="84"/>
                        </a:lnTo>
                        <a:lnTo>
                          <a:pt x="242" y="86"/>
                        </a:lnTo>
                        <a:lnTo>
                          <a:pt x="235" y="87"/>
                        </a:lnTo>
                        <a:lnTo>
                          <a:pt x="227" y="89"/>
                        </a:lnTo>
                        <a:lnTo>
                          <a:pt x="219" y="92"/>
                        </a:lnTo>
                        <a:lnTo>
                          <a:pt x="212" y="93"/>
                        </a:lnTo>
                        <a:lnTo>
                          <a:pt x="199" y="97"/>
                        </a:lnTo>
                        <a:lnTo>
                          <a:pt x="191" y="98"/>
                        </a:lnTo>
                        <a:lnTo>
                          <a:pt x="180" y="104"/>
                        </a:lnTo>
                        <a:lnTo>
                          <a:pt x="164" y="109"/>
                        </a:lnTo>
                        <a:lnTo>
                          <a:pt x="180" y="111"/>
                        </a:lnTo>
                        <a:lnTo>
                          <a:pt x="199" y="112"/>
                        </a:lnTo>
                        <a:lnTo>
                          <a:pt x="203" y="113"/>
                        </a:lnTo>
                        <a:lnTo>
                          <a:pt x="212" y="118"/>
                        </a:lnTo>
                        <a:lnTo>
                          <a:pt x="217" y="120"/>
                        </a:lnTo>
                        <a:lnTo>
                          <a:pt x="223" y="123"/>
                        </a:lnTo>
                        <a:lnTo>
                          <a:pt x="224" y="125"/>
                        </a:lnTo>
                        <a:lnTo>
                          <a:pt x="227" y="130"/>
                        </a:lnTo>
                        <a:lnTo>
                          <a:pt x="233" y="140"/>
                        </a:lnTo>
                        <a:lnTo>
                          <a:pt x="227" y="136"/>
                        </a:lnTo>
                        <a:lnTo>
                          <a:pt x="219" y="131"/>
                        </a:lnTo>
                        <a:lnTo>
                          <a:pt x="212" y="129"/>
                        </a:lnTo>
                        <a:lnTo>
                          <a:pt x="199" y="125"/>
                        </a:lnTo>
                        <a:lnTo>
                          <a:pt x="190" y="123"/>
                        </a:lnTo>
                        <a:lnTo>
                          <a:pt x="180" y="120"/>
                        </a:lnTo>
                        <a:lnTo>
                          <a:pt x="175" y="119"/>
                        </a:lnTo>
                        <a:lnTo>
                          <a:pt x="165" y="120"/>
                        </a:lnTo>
                        <a:lnTo>
                          <a:pt x="158" y="122"/>
                        </a:lnTo>
                        <a:lnTo>
                          <a:pt x="148" y="123"/>
                        </a:lnTo>
                        <a:lnTo>
                          <a:pt x="153" y="125"/>
                        </a:lnTo>
                        <a:lnTo>
                          <a:pt x="158" y="127"/>
                        </a:lnTo>
                        <a:lnTo>
                          <a:pt x="165" y="129"/>
                        </a:lnTo>
                        <a:lnTo>
                          <a:pt x="173" y="129"/>
                        </a:lnTo>
                        <a:lnTo>
                          <a:pt x="186" y="129"/>
                        </a:lnTo>
                        <a:lnTo>
                          <a:pt x="194" y="131"/>
                        </a:lnTo>
                        <a:lnTo>
                          <a:pt x="204" y="133"/>
                        </a:lnTo>
                        <a:lnTo>
                          <a:pt x="212" y="136"/>
                        </a:lnTo>
                        <a:lnTo>
                          <a:pt x="221" y="138"/>
                        </a:lnTo>
                        <a:lnTo>
                          <a:pt x="231" y="141"/>
                        </a:lnTo>
                        <a:lnTo>
                          <a:pt x="240" y="143"/>
                        </a:lnTo>
                        <a:lnTo>
                          <a:pt x="248" y="145"/>
                        </a:lnTo>
                        <a:lnTo>
                          <a:pt x="254" y="146"/>
                        </a:lnTo>
                        <a:lnTo>
                          <a:pt x="261" y="148"/>
                        </a:lnTo>
                        <a:lnTo>
                          <a:pt x="269" y="150"/>
                        </a:lnTo>
                        <a:lnTo>
                          <a:pt x="277" y="154"/>
                        </a:lnTo>
                        <a:lnTo>
                          <a:pt x="285" y="158"/>
                        </a:lnTo>
                        <a:lnTo>
                          <a:pt x="289" y="160"/>
                        </a:lnTo>
                        <a:lnTo>
                          <a:pt x="295" y="167"/>
                        </a:lnTo>
                        <a:lnTo>
                          <a:pt x="302" y="174"/>
                        </a:lnTo>
                        <a:lnTo>
                          <a:pt x="306" y="181"/>
                        </a:lnTo>
                        <a:lnTo>
                          <a:pt x="311" y="188"/>
                        </a:lnTo>
                        <a:lnTo>
                          <a:pt x="316" y="195"/>
                        </a:lnTo>
                        <a:lnTo>
                          <a:pt x="320" y="202"/>
                        </a:lnTo>
                        <a:lnTo>
                          <a:pt x="325" y="208"/>
                        </a:lnTo>
                        <a:lnTo>
                          <a:pt x="329" y="215"/>
                        </a:lnTo>
                        <a:lnTo>
                          <a:pt x="335" y="223"/>
                        </a:lnTo>
                        <a:lnTo>
                          <a:pt x="339" y="232"/>
                        </a:lnTo>
                        <a:lnTo>
                          <a:pt x="345" y="238"/>
                        </a:lnTo>
                        <a:lnTo>
                          <a:pt x="351" y="246"/>
                        </a:lnTo>
                        <a:lnTo>
                          <a:pt x="343" y="240"/>
                        </a:lnTo>
                        <a:lnTo>
                          <a:pt x="337" y="236"/>
                        </a:lnTo>
                        <a:lnTo>
                          <a:pt x="329" y="231"/>
                        </a:lnTo>
                        <a:lnTo>
                          <a:pt x="321" y="225"/>
                        </a:lnTo>
                        <a:lnTo>
                          <a:pt x="315" y="220"/>
                        </a:lnTo>
                        <a:lnTo>
                          <a:pt x="309" y="215"/>
                        </a:lnTo>
                        <a:lnTo>
                          <a:pt x="303" y="212"/>
                        </a:lnTo>
                        <a:lnTo>
                          <a:pt x="297" y="208"/>
                        </a:lnTo>
                        <a:lnTo>
                          <a:pt x="290" y="204"/>
                        </a:lnTo>
                        <a:lnTo>
                          <a:pt x="284" y="200"/>
                        </a:lnTo>
                        <a:lnTo>
                          <a:pt x="278" y="196"/>
                        </a:lnTo>
                        <a:lnTo>
                          <a:pt x="271" y="191"/>
                        </a:lnTo>
                        <a:lnTo>
                          <a:pt x="263" y="186"/>
                        </a:lnTo>
                        <a:lnTo>
                          <a:pt x="255" y="179"/>
                        </a:lnTo>
                        <a:lnTo>
                          <a:pt x="248" y="174"/>
                        </a:lnTo>
                        <a:lnTo>
                          <a:pt x="241" y="170"/>
                        </a:lnTo>
                        <a:lnTo>
                          <a:pt x="234" y="166"/>
                        </a:lnTo>
                        <a:lnTo>
                          <a:pt x="226" y="162"/>
                        </a:lnTo>
                        <a:lnTo>
                          <a:pt x="219" y="159"/>
                        </a:lnTo>
                        <a:lnTo>
                          <a:pt x="212" y="157"/>
                        </a:lnTo>
                        <a:lnTo>
                          <a:pt x="202" y="154"/>
                        </a:lnTo>
                        <a:lnTo>
                          <a:pt x="192" y="151"/>
                        </a:lnTo>
                        <a:lnTo>
                          <a:pt x="185" y="150"/>
                        </a:lnTo>
                        <a:lnTo>
                          <a:pt x="178" y="147"/>
                        </a:lnTo>
                        <a:lnTo>
                          <a:pt x="167" y="142"/>
                        </a:lnTo>
                        <a:lnTo>
                          <a:pt x="156" y="137"/>
                        </a:lnTo>
                        <a:lnTo>
                          <a:pt x="173" y="148"/>
                        </a:lnTo>
                        <a:lnTo>
                          <a:pt x="174" y="150"/>
                        </a:lnTo>
                        <a:lnTo>
                          <a:pt x="178" y="155"/>
                        </a:lnTo>
                        <a:lnTo>
                          <a:pt x="182" y="160"/>
                        </a:lnTo>
                        <a:lnTo>
                          <a:pt x="187" y="167"/>
                        </a:lnTo>
                        <a:lnTo>
                          <a:pt x="192" y="173"/>
                        </a:lnTo>
                        <a:lnTo>
                          <a:pt x="196" y="181"/>
                        </a:lnTo>
                        <a:lnTo>
                          <a:pt x="202" y="188"/>
                        </a:lnTo>
                        <a:lnTo>
                          <a:pt x="207" y="194"/>
                        </a:lnTo>
                        <a:lnTo>
                          <a:pt x="212" y="200"/>
                        </a:lnTo>
                        <a:lnTo>
                          <a:pt x="216" y="207"/>
                        </a:lnTo>
                        <a:lnTo>
                          <a:pt x="223" y="216"/>
                        </a:lnTo>
                        <a:lnTo>
                          <a:pt x="227" y="223"/>
                        </a:lnTo>
                        <a:lnTo>
                          <a:pt x="231" y="229"/>
                        </a:lnTo>
                        <a:lnTo>
                          <a:pt x="235" y="236"/>
                        </a:lnTo>
                        <a:lnTo>
                          <a:pt x="238" y="243"/>
                        </a:lnTo>
                        <a:lnTo>
                          <a:pt x="241" y="250"/>
                        </a:lnTo>
                        <a:lnTo>
                          <a:pt x="243" y="255"/>
                        </a:lnTo>
                        <a:lnTo>
                          <a:pt x="244" y="262"/>
                        </a:lnTo>
                        <a:lnTo>
                          <a:pt x="245" y="272"/>
                        </a:lnTo>
                        <a:lnTo>
                          <a:pt x="246" y="281"/>
                        </a:lnTo>
                        <a:lnTo>
                          <a:pt x="247" y="290"/>
                        </a:lnTo>
                        <a:lnTo>
                          <a:pt x="249" y="299"/>
                        </a:lnTo>
                        <a:lnTo>
                          <a:pt x="250" y="308"/>
                        </a:lnTo>
                        <a:lnTo>
                          <a:pt x="243" y="299"/>
                        </a:lnTo>
                        <a:lnTo>
                          <a:pt x="238" y="292"/>
                        </a:lnTo>
                        <a:lnTo>
                          <a:pt x="233" y="286"/>
                        </a:lnTo>
                        <a:lnTo>
                          <a:pt x="231" y="281"/>
                        </a:lnTo>
                        <a:lnTo>
                          <a:pt x="227" y="274"/>
                        </a:lnTo>
                        <a:lnTo>
                          <a:pt x="225" y="267"/>
                        </a:lnTo>
                        <a:lnTo>
                          <a:pt x="222" y="259"/>
                        </a:lnTo>
                        <a:lnTo>
                          <a:pt x="218" y="251"/>
                        </a:lnTo>
                        <a:lnTo>
                          <a:pt x="214" y="242"/>
                        </a:lnTo>
                        <a:lnTo>
                          <a:pt x="211" y="235"/>
                        </a:lnTo>
                        <a:lnTo>
                          <a:pt x="207" y="227"/>
                        </a:lnTo>
                        <a:lnTo>
                          <a:pt x="202" y="220"/>
                        </a:lnTo>
                        <a:lnTo>
                          <a:pt x="199" y="215"/>
                        </a:lnTo>
                        <a:lnTo>
                          <a:pt x="193" y="208"/>
                        </a:lnTo>
                        <a:lnTo>
                          <a:pt x="187" y="201"/>
                        </a:lnTo>
                        <a:lnTo>
                          <a:pt x="182" y="196"/>
                        </a:lnTo>
                        <a:lnTo>
                          <a:pt x="177" y="190"/>
                        </a:lnTo>
                        <a:lnTo>
                          <a:pt x="176" y="184"/>
                        </a:lnTo>
                        <a:lnTo>
                          <a:pt x="173" y="177"/>
                        </a:lnTo>
                        <a:lnTo>
                          <a:pt x="169" y="170"/>
                        </a:lnTo>
                        <a:lnTo>
                          <a:pt x="166" y="163"/>
                        </a:lnTo>
                        <a:lnTo>
                          <a:pt x="164" y="161"/>
                        </a:lnTo>
                        <a:lnTo>
                          <a:pt x="158" y="154"/>
                        </a:lnTo>
                        <a:lnTo>
                          <a:pt x="154" y="148"/>
                        </a:lnTo>
                        <a:lnTo>
                          <a:pt x="150" y="142"/>
                        </a:lnTo>
                        <a:lnTo>
                          <a:pt x="145" y="136"/>
                        </a:lnTo>
                        <a:lnTo>
                          <a:pt x="138" y="140"/>
                        </a:lnTo>
                        <a:lnTo>
                          <a:pt x="131" y="144"/>
                        </a:lnTo>
                        <a:lnTo>
                          <a:pt x="123" y="151"/>
                        </a:lnTo>
                        <a:lnTo>
                          <a:pt x="115" y="156"/>
                        </a:lnTo>
                        <a:lnTo>
                          <a:pt x="109" y="162"/>
                        </a:lnTo>
                        <a:lnTo>
                          <a:pt x="105" y="168"/>
                        </a:lnTo>
                        <a:lnTo>
                          <a:pt x="99" y="176"/>
                        </a:lnTo>
                        <a:lnTo>
                          <a:pt x="93" y="186"/>
                        </a:lnTo>
                        <a:lnTo>
                          <a:pt x="87" y="193"/>
                        </a:lnTo>
                        <a:lnTo>
                          <a:pt x="81" y="202"/>
                        </a:lnTo>
                        <a:lnTo>
                          <a:pt x="77" y="210"/>
                        </a:lnTo>
                        <a:lnTo>
                          <a:pt x="72" y="218"/>
                        </a:lnTo>
                        <a:lnTo>
                          <a:pt x="67" y="226"/>
                        </a:lnTo>
                        <a:lnTo>
                          <a:pt x="64" y="233"/>
                        </a:lnTo>
                        <a:lnTo>
                          <a:pt x="59" y="242"/>
                        </a:lnTo>
                        <a:lnTo>
                          <a:pt x="55" y="250"/>
                        </a:lnTo>
                        <a:lnTo>
                          <a:pt x="49" y="260"/>
                        </a:lnTo>
                        <a:lnTo>
                          <a:pt x="43" y="269"/>
                        </a:lnTo>
                        <a:lnTo>
                          <a:pt x="37" y="280"/>
                        </a:lnTo>
                        <a:lnTo>
                          <a:pt x="31" y="289"/>
                        </a:lnTo>
                        <a:lnTo>
                          <a:pt x="27" y="294"/>
                        </a:lnTo>
                        <a:lnTo>
                          <a:pt x="22" y="300"/>
                        </a:lnTo>
                        <a:lnTo>
                          <a:pt x="18" y="306"/>
                        </a:lnTo>
                        <a:lnTo>
                          <a:pt x="12" y="312"/>
                        </a:lnTo>
                        <a:lnTo>
                          <a:pt x="7" y="317"/>
                        </a:lnTo>
                        <a:lnTo>
                          <a:pt x="0" y="325"/>
                        </a:lnTo>
                        <a:lnTo>
                          <a:pt x="2" y="316"/>
                        </a:lnTo>
                        <a:lnTo>
                          <a:pt x="4" y="309"/>
                        </a:lnTo>
                        <a:lnTo>
                          <a:pt x="8" y="301"/>
                        </a:lnTo>
                        <a:lnTo>
                          <a:pt x="12" y="294"/>
                        </a:lnTo>
                        <a:lnTo>
                          <a:pt x="19" y="284"/>
                        </a:lnTo>
                        <a:lnTo>
                          <a:pt x="26" y="274"/>
                        </a:lnTo>
                        <a:lnTo>
                          <a:pt x="33" y="262"/>
                        </a:lnTo>
                        <a:lnTo>
                          <a:pt x="39" y="253"/>
                        </a:lnTo>
                        <a:lnTo>
                          <a:pt x="45" y="243"/>
                        </a:lnTo>
                        <a:lnTo>
                          <a:pt x="51" y="235"/>
                        </a:lnTo>
                        <a:lnTo>
                          <a:pt x="56" y="227"/>
                        </a:lnTo>
                        <a:lnTo>
                          <a:pt x="61" y="220"/>
                        </a:lnTo>
                        <a:lnTo>
                          <a:pt x="66" y="214"/>
                        </a:lnTo>
                        <a:lnTo>
                          <a:pt x="72" y="206"/>
                        </a:lnTo>
                        <a:lnTo>
                          <a:pt x="78" y="198"/>
                        </a:lnTo>
                        <a:lnTo>
                          <a:pt x="84" y="190"/>
                        </a:lnTo>
                        <a:lnTo>
                          <a:pt x="90" y="181"/>
                        </a:lnTo>
                        <a:lnTo>
                          <a:pt x="95" y="174"/>
                        </a:lnTo>
                        <a:lnTo>
                          <a:pt x="101" y="166"/>
                        </a:lnTo>
                        <a:lnTo>
                          <a:pt x="104" y="160"/>
                        </a:lnTo>
                        <a:lnTo>
                          <a:pt x="107" y="154"/>
                        </a:lnTo>
                        <a:lnTo>
                          <a:pt x="109" y="149"/>
                        </a:lnTo>
                        <a:lnTo>
                          <a:pt x="112" y="143"/>
                        </a:lnTo>
                        <a:lnTo>
                          <a:pt x="116" y="138"/>
                        </a:lnTo>
                        <a:lnTo>
                          <a:pt x="122" y="131"/>
                        </a:lnTo>
                        <a:lnTo>
                          <a:pt x="128" y="125"/>
                        </a:lnTo>
                        <a:lnTo>
                          <a:pt x="132" y="120"/>
                        </a:lnTo>
                        <a:lnTo>
                          <a:pt x="137" y="114"/>
                        </a:lnTo>
                        <a:lnTo>
                          <a:pt x="135" y="109"/>
                        </a:lnTo>
                        <a:lnTo>
                          <a:pt x="133" y="101"/>
                        </a:lnTo>
                        <a:lnTo>
                          <a:pt x="121" y="97"/>
                        </a:lnTo>
                        <a:lnTo>
                          <a:pt x="108" y="88"/>
                        </a:lnTo>
                        <a:lnTo>
                          <a:pt x="95" y="79"/>
                        </a:lnTo>
                        <a:lnTo>
                          <a:pt x="87" y="74"/>
                        </a:lnTo>
                        <a:lnTo>
                          <a:pt x="81" y="71"/>
                        </a:lnTo>
                        <a:lnTo>
                          <a:pt x="71" y="66"/>
                        </a:lnTo>
                        <a:lnTo>
                          <a:pt x="61" y="63"/>
                        </a:lnTo>
                        <a:lnTo>
                          <a:pt x="50" y="60"/>
                        </a:lnTo>
                        <a:lnTo>
                          <a:pt x="42" y="57"/>
                        </a:lnTo>
                        <a:lnTo>
                          <a:pt x="32" y="53"/>
                        </a:lnTo>
                        <a:lnTo>
                          <a:pt x="23" y="51"/>
                        </a:lnTo>
                        <a:lnTo>
                          <a:pt x="14" y="49"/>
                        </a:lnTo>
                        <a:lnTo>
                          <a:pt x="7" y="47"/>
                        </a:lnTo>
                        <a:lnTo>
                          <a:pt x="14" y="46"/>
                        </a:lnTo>
                        <a:lnTo>
                          <a:pt x="19" y="45"/>
                        </a:lnTo>
                        <a:lnTo>
                          <a:pt x="23" y="44"/>
                        </a:lnTo>
                        <a:lnTo>
                          <a:pt x="28" y="44"/>
                        </a:lnTo>
                        <a:lnTo>
                          <a:pt x="33" y="44"/>
                        </a:lnTo>
                        <a:lnTo>
                          <a:pt x="43" y="49"/>
                        </a:lnTo>
                        <a:lnTo>
                          <a:pt x="51" y="53"/>
                        </a:lnTo>
                        <a:lnTo>
                          <a:pt x="60" y="58"/>
                        </a:lnTo>
                        <a:lnTo>
                          <a:pt x="69" y="63"/>
                        </a:lnTo>
                        <a:lnTo>
                          <a:pt x="79" y="68"/>
                        </a:lnTo>
                        <a:lnTo>
                          <a:pt x="89" y="74"/>
                        </a:lnTo>
                        <a:lnTo>
                          <a:pt x="96" y="77"/>
                        </a:lnTo>
                        <a:lnTo>
                          <a:pt x="109" y="84"/>
                        </a:lnTo>
                        <a:lnTo>
                          <a:pt x="116" y="86"/>
                        </a:lnTo>
                        <a:lnTo>
                          <a:pt x="122" y="85"/>
                        </a:lnTo>
                        <a:lnTo>
                          <a:pt x="127" y="84"/>
                        </a:lnTo>
                        <a:lnTo>
                          <a:pt x="132" y="83"/>
                        </a:lnTo>
                      </a:path>
                    </a:pathLst>
                  </a:custGeom>
                  <a:solidFill>
                    <a:srgbClr val="037C03">
                      <a:alpha val="50195"/>
                    </a:srgbClr>
                  </a:solidFill>
                  <a:ln w="9525">
                    <a:noFill/>
                  </a:ln>
                </p:spPr>
                <p:txBody>
                  <a:bodyPr/>
                  <a:lstStyle/>
                  <a:p>
                    <a:endParaRPr lang="zh-CN" altLang="en-US"/>
                  </a:p>
                </p:txBody>
              </p:sp>
              <p:sp>
                <p:nvSpPr>
                  <p:cNvPr id="89265" name="Freeform 71"/>
                  <p:cNvSpPr/>
                  <p:nvPr/>
                </p:nvSpPr>
                <p:spPr>
                  <a:xfrm>
                    <a:off x="2175" y="1587"/>
                    <a:ext cx="38" cy="181"/>
                  </a:xfrm>
                  <a:custGeom>
                    <a:avLst/>
                    <a:gdLst>
                      <a:gd name="txL" fmla="*/ 0 w 38"/>
                      <a:gd name="txT" fmla="*/ 0 h 181"/>
                      <a:gd name="txR" fmla="*/ 38 w 38"/>
                      <a:gd name="txB" fmla="*/ 181 h 181"/>
                    </a:gdLst>
                    <a:ahLst/>
                    <a:cxnLst>
                      <a:cxn ang="0">
                        <a:pos x="20" y="0"/>
                      </a:cxn>
                      <a:cxn ang="0">
                        <a:pos x="24" y="8"/>
                      </a:cxn>
                      <a:cxn ang="0">
                        <a:pos x="27" y="14"/>
                      </a:cxn>
                      <a:cxn ang="0">
                        <a:pos x="33" y="22"/>
                      </a:cxn>
                      <a:cxn ang="0">
                        <a:pos x="35" y="30"/>
                      </a:cxn>
                      <a:cxn ang="0">
                        <a:pos x="36" y="41"/>
                      </a:cxn>
                      <a:cxn ang="0">
                        <a:pos x="36" y="53"/>
                      </a:cxn>
                      <a:cxn ang="0">
                        <a:pos x="37" y="61"/>
                      </a:cxn>
                      <a:cxn ang="0">
                        <a:pos x="36" y="70"/>
                      </a:cxn>
                      <a:cxn ang="0">
                        <a:pos x="35" y="81"/>
                      </a:cxn>
                      <a:cxn ang="0">
                        <a:pos x="33" y="91"/>
                      </a:cxn>
                      <a:cxn ang="0">
                        <a:pos x="30" y="106"/>
                      </a:cxn>
                      <a:cxn ang="0">
                        <a:pos x="28" y="114"/>
                      </a:cxn>
                      <a:cxn ang="0">
                        <a:pos x="23" y="124"/>
                      </a:cxn>
                      <a:cxn ang="0">
                        <a:pos x="17" y="135"/>
                      </a:cxn>
                      <a:cxn ang="0">
                        <a:pos x="12" y="145"/>
                      </a:cxn>
                      <a:cxn ang="0">
                        <a:pos x="7" y="155"/>
                      </a:cxn>
                      <a:cxn ang="0">
                        <a:pos x="3" y="163"/>
                      </a:cxn>
                      <a:cxn ang="0">
                        <a:pos x="0" y="180"/>
                      </a:cxn>
                      <a:cxn ang="0">
                        <a:pos x="1" y="163"/>
                      </a:cxn>
                      <a:cxn ang="0">
                        <a:pos x="3" y="152"/>
                      </a:cxn>
                      <a:cxn ang="0">
                        <a:pos x="4" y="141"/>
                      </a:cxn>
                      <a:cxn ang="0">
                        <a:pos x="5" y="130"/>
                      </a:cxn>
                      <a:cxn ang="0">
                        <a:pos x="7" y="116"/>
                      </a:cxn>
                      <a:cxn ang="0">
                        <a:pos x="9" y="106"/>
                      </a:cxn>
                      <a:cxn ang="0">
                        <a:pos x="12" y="96"/>
                      </a:cxn>
                      <a:cxn ang="0">
                        <a:pos x="15" y="87"/>
                      </a:cxn>
                      <a:cxn ang="0">
                        <a:pos x="17" y="77"/>
                      </a:cxn>
                      <a:cxn ang="0">
                        <a:pos x="20" y="67"/>
                      </a:cxn>
                      <a:cxn ang="0">
                        <a:pos x="21" y="57"/>
                      </a:cxn>
                      <a:cxn ang="0">
                        <a:pos x="22" y="49"/>
                      </a:cxn>
                      <a:cxn ang="0">
                        <a:pos x="23" y="39"/>
                      </a:cxn>
                      <a:cxn ang="0">
                        <a:pos x="23" y="28"/>
                      </a:cxn>
                      <a:cxn ang="0">
                        <a:pos x="23" y="14"/>
                      </a:cxn>
                      <a:cxn ang="0">
                        <a:pos x="22" y="8"/>
                      </a:cxn>
                      <a:cxn ang="0">
                        <a:pos x="20" y="0"/>
                      </a:cxn>
                    </a:cxnLst>
                    <a:rect l="txL" t="txT" r="txR" b="txB"/>
                    <a:pathLst>
                      <a:path w="38" h="181">
                        <a:moveTo>
                          <a:pt x="20" y="0"/>
                        </a:moveTo>
                        <a:lnTo>
                          <a:pt x="24" y="8"/>
                        </a:lnTo>
                        <a:lnTo>
                          <a:pt x="27" y="14"/>
                        </a:lnTo>
                        <a:lnTo>
                          <a:pt x="33" y="22"/>
                        </a:lnTo>
                        <a:lnTo>
                          <a:pt x="35" y="30"/>
                        </a:lnTo>
                        <a:lnTo>
                          <a:pt x="36" y="41"/>
                        </a:lnTo>
                        <a:lnTo>
                          <a:pt x="36" y="53"/>
                        </a:lnTo>
                        <a:lnTo>
                          <a:pt x="37" y="61"/>
                        </a:lnTo>
                        <a:lnTo>
                          <a:pt x="36" y="70"/>
                        </a:lnTo>
                        <a:lnTo>
                          <a:pt x="35" y="81"/>
                        </a:lnTo>
                        <a:lnTo>
                          <a:pt x="33" y="91"/>
                        </a:lnTo>
                        <a:lnTo>
                          <a:pt x="30" y="106"/>
                        </a:lnTo>
                        <a:lnTo>
                          <a:pt x="28" y="114"/>
                        </a:lnTo>
                        <a:lnTo>
                          <a:pt x="23" y="124"/>
                        </a:lnTo>
                        <a:lnTo>
                          <a:pt x="17" y="135"/>
                        </a:lnTo>
                        <a:lnTo>
                          <a:pt x="12" y="145"/>
                        </a:lnTo>
                        <a:lnTo>
                          <a:pt x="7" y="155"/>
                        </a:lnTo>
                        <a:lnTo>
                          <a:pt x="3" y="163"/>
                        </a:lnTo>
                        <a:lnTo>
                          <a:pt x="0" y="180"/>
                        </a:lnTo>
                        <a:lnTo>
                          <a:pt x="1" y="163"/>
                        </a:lnTo>
                        <a:lnTo>
                          <a:pt x="3" y="152"/>
                        </a:lnTo>
                        <a:lnTo>
                          <a:pt x="4" y="141"/>
                        </a:lnTo>
                        <a:lnTo>
                          <a:pt x="5" y="130"/>
                        </a:lnTo>
                        <a:lnTo>
                          <a:pt x="7" y="116"/>
                        </a:lnTo>
                        <a:lnTo>
                          <a:pt x="9" y="106"/>
                        </a:lnTo>
                        <a:lnTo>
                          <a:pt x="12" y="96"/>
                        </a:lnTo>
                        <a:lnTo>
                          <a:pt x="15" y="87"/>
                        </a:lnTo>
                        <a:lnTo>
                          <a:pt x="17" y="77"/>
                        </a:lnTo>
                        <a:lnTo>
                          <a:pt x="20" y="67"/>
                        </a:lnTo>
                        <a:lnTo>
                          <a:pt x="21" y="57"/>
                        </a:lnTo>
                        <a:lnTo>
                          <a:pt x="22" y="49"/>
                        </a:lnTo>
                        <a:lnTo>
                          <a:pt x="23" y="39"/>
                        </a:lnTo>
                        <a:lnTo>
                          <a:pt x="23" y="28"/>
                        </a:lnTo>
                        <a:lnTo>
                          <a:pt x="23" y="14"/>
                        </a:lnTo>
                        <a:lnTo>
                          <a:pt x="22" y="8"/>
                        </a:lnTo>
                        <a:lnTo>
                          <a:pt x="20" y="0"/>
                        </a:lnTo>
                      </a:path>
                    </a:pathLst>
                  </a:custGeom>
                  <a:solidFill>
                    <a:srgbClr val="037C03">
                      <a:alpha val="50195"/>
                    </a:srgbClr>
                  </a:solidFill>
                  <a:ln w="9525">
                    <a:noFill/>
                  </a:ln>
                </p:spPr>
                <p:txBody>
                  <a:bodyPr/>
                  <a:lstStyle/>
                  <a:p>
                    <a:endParaRPr lang="zh-CN" altLang="en-US"/>
                  </a:p>
                </p:txBody>
              </p:sp>
              <p:sp>
                <p:nvSpPr>
                  <p:cNvPr id="89266" name="Freeform 72"/>
                  <p:cNvSpPr/>
                  <p:nvPr/>
                </p:nvSpPr>
                <p:spPr>
                  <a:xfrm>
                    <a:off x="1991" y="1486"/>
                    <a:ext cx="168" cy="48"/>
                  </a:xfrm>
                  <a:custGeom>
                    <a:avLst/>
                    <a:gdLst>
                      <a:gd name="txL" fmla="*/ 0 w 168"/>
                      <a:gd name="txT" fmla="*/ 0 h 48"/>
                      <a:gd name="txR" fmla="*/ 168 w 168"/>
                      <a:gd name="txB" fmla="*/ 48 h 48"/>
                    </a:gdLst>
                    <a:ahLst/>
                    <a:cxnLst>
                      <a:cxn ang="0">
                        <a:pos x="167" y="47"/>
                      </a:cxn>
                      <a:cxn ang="0">
                        <a:pos x="164" y="38"/>
                      </a:cxn>
                      <a:cxn ang="0">
                        <a:pos x="160" y="31"/>
                      </a:cxn>
                      <a:cxn ang="0">
                        <a:pos x="157" y="30"/>
                      </a:cxn>
                      <a:cxn ang="0">
                        <a:pos x="150" y="28"/>
                      </a:cxn>
                      <a:cxn ang="0">
                        <a:pos x="144" y="26"/>
                      </a:cxn>
                      <a:cxn ang="0">
                        <a:pos x="137" y="28"/>
                      </a:cxn>
                      <a:cxn ang="0">
                        <a:pos x="130" y="29"/>
                      </a:cxn>
                      <a:cxn ang="0">
                        <a:pos x="121" y="25"/>
                      </a:cxn>
                      <a:cxn ang="0">
                        <a:pos x="109" y="21"/>
                      </a:cxn>
                      <a:cxn ang="0">
                        <a:pos x="98" y="17"/>
                      </a:cxn>
                      <a:cxn ang="0">
                        <a:pos x="91" y="15"/>
                      </a:cxn>
                      <a:cxn ang="0">
                        <a:pos x="78" y="12"/>
                      </a:cxn>
                      <a:cxn ang="0">
                        <a:pos x="66" y="8"/>
                      </a:cxn>
                      <a:cxn ang="0">
                        <a:pos x="54" y="4"/>
                      </a:cxn>
                      <a:cxn ang="0">
                        <a:pos x="41" y="1"/>
                      </a:cxn>
                      <a:cxn ang="0">
                        <a:pos x="28" y="0"/>
                      </a:cxn>
                      <a:cxn ang="0">
                        <a:pos x="15" y="0"/>
                      </a:cxn>
                      <a:cxn ang="0">
                        <a:pos x="12" y="1"/>
                      </a:cxn>
                      <a:cxn ang="0">
                        <a:pos x="7" y="4"/>
                      </a:cxn>
                      <a:cxn ang="0">
                        <a:pos x="3" y="7"/>
                      </a:cxn>
                      <a:cxn ang="0">
                        <a:pos x="0" y="10"/>
                      </a:cxn>
                      <a:cxn ang="0">
                        <a:pos x="5" y="10"/>
                      </a:cxn>
                      <a:cxn ang="0">
                        <a:pos x="12" y="11"/>
                      </a:cxn>
                      <a:cxn ang="0">
                        <a:pos x="18" y="12"/>
                      </a:cxn>
                      <a:cxn ang="0">
                        <a:pos x="23" y="11"/>
                      </a:cxn>
                      <a:cxn ang="0">
                        <a:pos x="29" y="10"/>
                      </a:cxn>
                      <a:cxn ang="0">
                        <a:pos x="38" y="10"/>
                      </a:cxn>
                      <a:cxn ang="0">
                        <a:pos x="50" y="10"/>
                      </a:cxn>
                      <a:cxn ang="0">
                        <a:pos x="60" y="12"/>
                      </a:cxn>
                      <a:cxn ang="0">
                        <a:pos x="70" y="13"/>
                      </a:cxn>
                      <a:cxn ang="0">
                        <a:pos x="79" y="15"/>
                      </a:cxn>
                      <a:cxn ang="0">
                        <a:pos x="89" y="16"/>
                      </a:cxn>
                      <a:cxn ang="0">
                        <a:pos x="98" y="18"/>
                      </a:cxn>
                      <a:cxn ang="0">
                        <a:pos x="106" y="22"/>
                      </a:cxn>
                      <a:cxn ang="0">
                        <a:pos x="114" y="26"/>
                      </a:cxn>
                      <a:cxn ang="0">
                        <a:pos x="123" y="30"/>
                      </a:cxn>
                      <a:cxn ang="0">
                        <a:pos x="127" y="30"/>
                      </a:cxn>
                      <a:cxn ang="0">
                        <a:pos x="131" y="30"/>
                      </a:cxn>
                      <a:cxn ang="0">
                        <a:pos x="137" y="33"/>
                      </a:cxn>
                      <a:cxn ang="0">
                        <a:pos x="144" y="36"/>
                      </a:cxn>
                      <a:cxn ang="0">
                        <a:pos x="150" y="38"/>
                      </a:cxn>
                      <a:cxn ang="0">
                        <a:pos x="158" y="42"/>
                      </a:cxn>
                      <a:cxn ang="0">
                        <a:pos x="164" y="45"/>
                      </a:cxn>
                      <a:cxn ang="0">
                        <a:pos x="167" y="47"/>
                      </a:cxn>
                    </a:cxnLst>
                    <a:rect l="txL" t="txT" r="txR" b="txB"/>
                    <a:pathLst>
                      <a:path w="168" h="48">
                        <a:moveTo>
                          <a:pt x="167" y="47"/>
                        </a:moveTo>
                        <a:lnTo>
                          <a:pt x="164" y="38"/>
                        </a:lnTo>
                        <a:lnTo>
                          <a:pt x="160" y="31"/>
                        </a:lnTo>
                        <a:lnTo>
                          <a:pt x="157" y="30"/>
                        </a:lnTo>
                        <a:lnTo>
                          <a:pt x="150" y="28"/>
                        </a:lnTo>
                        <a:lnTo>
                          <a:pt x="144" y="26"/>
                        </a:lnTo>
                        <a:lnTo>
                          <a:pt x="137" y="28"/>
                        </a:lnTo>
                        <a:lnTo>
                          <a:pt x="130" y="29"/>
                        </a:lnTo>
                        <a:lnTo>
                          <a:pt x="121" y="25"/>
                        </a:lnTo>
                        <a:lnTo>
                          <a:pt x="109" y="21"/>
                        </a:lnTo>
                        <a:lnTo>
                          <a:pt x="98" y="17"/>
                        </a:lnTo>
                        <a:lnTo>
                          <a:pt x="91" y="15"/>
                        </a:lnTo>
                        <a:lnTo>
                          <a:pt x="78" y="12"/>
                        </a:lnTo>
                        <a:lnTo>
                          <a:pt x="66" y="8"/>
                        </a:lnTo>
                        <a:lnTo>
                          <a:pt x="54" y="4"/>
                        </a:lnTo>
                        <a:lnTo>
                          <a:pt x="41" y="1"/>
                        </a:lnTo>
                        <a:lnTo>
                          <a:pt x="28" y="0"/>
                        </a:lnTo>
                        <a:lnTo>
                          <a:pt x="15" y="0"/>
                        </a:lnTo>
                        <a:lnTo>
                          <a:pt x="12" y="1"/>
                        </a:lnTo>
                        <a:lnTo>
                          <a:pt x="7" y="4"/>
                        </a:lnTo>
                        <a:lnTo>
                          <a:pt x="3" y="7"/>
                        </a:lnTo>
                        <a:lnTo>
                          <a:pt x="0" y="10"/>
                        </a:lnTo>
                        <a:lnTo>
                          <a:pt x="5" y="10"/>
                        </a:lnTo>
                        <a:lnTo>
                          <a:pt x="12" y="11"/>
                        </a:lnTo>
                        <a:lnTo>
                          <a:pt x="18" y="12"/>
                        </a:lnTo>
                        <a:lnTo>
                          <a:pt x="23" y="11"/>
                        </a:lnTo>
                        <a:lnTo>
                          <a:pt x="29" y="10"/>
                        </a:lnTo>
                        <a:lnTo>
                          <a:pt x="38" y="10"/>
                        </a:lnTo>
                        <a:lnTo>
                          <a:pt x="50" y="10"/>
                        </a:lnTo>
                        <a:lnTo>
                          <a:pt x="60" y="12"/>
                        </a:lnTo>
                        <a:lnTo>
                          <a:pt x="70" y="13"/>
                        </a:lnTo>
                        <a:lnTo>
                          <a:pt x="79" y="15"/>
                        </a:lnTo>
                        <a:lnTo>
                          <a:pt x="89" y="16"/>
                        </a:lnTo>
                        <a:lnTo>
                          <a:pt x="98" y="18"/>
                        </a:lnTo>
                        <a:lnTo>
                          <a:pt x="106" y="22"/>
                        </a:lnTo>
                        <a:lnTo>
                          <a:pt x="114" y="26"/>
                        </a:lnTo>
                        <a:lnTo>
                          <a:pt x="123" y="30"/>
                        </a:lnTo>
                        <a:lnTo>
                          <a:pt x="127" y="30"/>
                        </a:lnTo>
                        <a:lnTo>
                          <a:pt x="131" y="30"/>
                        </a:lnTo>
                        <a:lnTo>
                          <a:pt x="137" y="33"/>
                        </a:lnTo>
                        <a:lnTo>
                          <a:pt x="144" y="36"/>
                        </a:lnTo>
                        <a:lnTo>
                          <a:pt x="150" y="38"/>
                        </a:lnTo>
                        <a:lnTo>
                          <a:pt x="158" y="42"/>
                        </a:lnTo>
                        <a:lnTo>
                          <a:pt x="164" y="45"/>
                        </a:lnTo>
                        <a:lnTo>
                          <a:pt x="167" y="47"/>
                        </a:lnTo>
                      </a:path>
                    </a:pathLst>
                  </a:custGeom>
                  <a:solidFill>
                    <a:srgbClr val="037C03">
                      <a:alpha val="50195"/>
                    </a:srgbClr>
                  </a:solidFill>
                  <a:ln w="9525">
                    <a:noFill/>
                  </a:ln>
                </p:spPr>
                <p:txBody>
                  <a:bodyPr/>
                  <a:lstStyle/>
                  <a:p>
                    <a:endParaRPr lang="zh-CN" altLang="en-US"/>
                  </a:p>
                </p:txBody>
              </p:sp>
              <p:sp>
                <p:nvSpPr>
                  <p:cNvPr id="89267" name="Freeform 73"/>
                  <p:cNvSpPr/>
                  <p:nvPr/>
                </p:nvSpPr>
                <p:spPr>
                  <a:xfrm>
                    <a:off x="1985" y="1514"/>
                    <a:ext cx="173" cy="20"/>
                  </a:xfrm>
                  <a:custGeom>
                    <a:avLst/>
                    <a:gdLst>
                      <a:gd name="txL" fmla="*/ 0 w 173"/>
                      <a:gd name="txT" fmla="*/ 0 h 20"/>
                      <a:gd name="txR" fmla="*/ 173 w 173"/>
                      <a:gd name="txB" fmla="*/ 20 h 20"/>
                    </a:gdLst>
                    <a:ahLst/>
                    <a:cxnLst>
                      <a:cxn ang="0">
                        <a:pos x="172" y="19"/>
                      </a:cxn>
                      <a:cxn ang="0">
                        <a:pos x="167" y="17"/>
                      </a:cxn>
                      <a:cxn ang="0">
                        <a:pos x="163" y="15"/>
                      </a:cxn>
                      <a:cxn ang="0">
                        <a:pos x="157" y="13"/>
                      </a:cxn>
                      <a:cxn ang="0">
                        <a:pos x="152" y="11"/>
                      </a:cxn>
                      <a:cxn ang="0">
                        <a:pos x="146" y="9"/>
                      </a:cxn>
                      <a:cxn ang="0">
                        <a:pos x="138" y="6"/>
                      </a:cxn>
                      <a:cxn ang="0">
                        <a:pos x="131" y="2"/>
                      </a:cxn>
                      <a:cxn ang="0">
                        <a:pos x="125" y="2"/>
                      </a:cxn>
                      <a:cxn ang="0">
                        <a:pos x="118" y="3"/>
                      </a:cxn>
                      <a:cxn ang="0">
                        <a:pos x="108" y="5"/>
                      </a:cxn>
                      <a:cxn ang="0">
                        <a:pos x="103" y="5"/>
                      </a:cxn>
                      <a:cxn ang="0">
                        <a:pos x="91" y="3"/>
                      </a:cxn>
                      <a:cxn ang="0">
                        <a:pos x="77" y="1"/>
                      </a:cxn>
                      <a:cxn ang="0">
                        <a:pos x="67" y="0"/>
                      </a:cxn>
                      <a:cxn ang="0">
                        <a:pos x="55" y="0"/>
                      </a:cxn>
                      <a:cxn ang="0">
                        <a:pos x="43" y="0"/>
                      </a:cxn>
                      <a:cxn ang="0">
                        <a:pos x="35" y="1"/>
                      </a:cxn>
                      <a:cxn ang="0">
                        <a:pos x="26" y="2"/>
                      </a:cxn>
                      <a:cxn ang="0">
                        <a:pos x="18" y="3"/>
                      </a:cxn>
                      <a:cxn ang="0">
                        <a:pos x="9" y="4"/>
                      </a:cxn>
                      <a:cxn ang="0">
                        <a:pos x="8" y="8"/>
                      </a:cxn>
                      <a:cxn ang="0">
                        <a:pos x="6" y="11"/>
                      </a:cxn>
                      <a:cxn ang="0">
                        <a:pos x="4" y="14"/>
                      </a:cxn>
                      <a:cxn ang="0">
                        <a:pos x="0" y="16"/>
                      </a:cxn>
                      <a:cxn ang="0">
                        <a:pos x="7" y="15"/>
                      </a:cxn>
                      <a:cxn ang="0">
                        <a:pos x="15" y="13"/>
                      </a:cxn>
                      <a:cxn ang="0">
                        <a:pos x="21" y="12"/>
                      </a:cxn>
                      <a:cxn ang="0">
                        <a:pos x="29" y="11"/>
                      </a:cxn>
                      <a:cxn ang="0">
                        <a:pos x="36" y="10"/>
                      </a:cxn>
                      <a:cxn ang="0">
                        <a:pos x="49" y="9"/>
                      </a:cxn>
                      <a:cxn ang="0">
                        <a:pos x="62" y="8"/>
                      </a:cxn>
                      <a:cxn ang="0">
                        <a:pos x="77" y="7"/>
                      </a:cxn>
                      <a:cxn ang="0">
                        <a:pos x="92" y="6"/>
                      </a:cxn>
                      <a:cxn ang="0">
                        <a:pos x="106" y="6"/>
                      </a:cxn>
                      <a:cxn ang="0">
                        <a:pos x="118" y="7"/>
                      </a:cxn>
                      <a:cxn ang="0">
                        <a:pos x="126" y="9"/>
                      </a:cxn>
                      <a:cxn ang="0">
                        <a:pos x="135" y="11"/>
                      </a:cxn>
                      <a:cxn ang="0">
                        <a:pos x="145" y="13"/>
                      </a:cxn>
                      <a:cxn ang="0">
                        <a:pos x="155" y="16"/>
                      </a:cxn>
                      <a:cxn ang="0">
                        <a:pos x="163" y="17"/>
                      </a:cxn>
                      <a:cxn ang="0">
                        <a:pos x="172" y="19"/>
                      </a:cxn>
                    </a:cxnLst>
                    <a:rect l="txL" t="txT" r="txR" b="txB"/>
                    <a:pathLst>
                      <a:path w="173" h="20">
                        <a:moveTo>
                          <a:pt x="172" y="19"/>
                        </a:moveTo>
                        <a:lnTo>
                          <a:pt x="167" y="17"/>
                        </a:lnTo>
                        <a:lnTo>
                          <a:pt x="163" y="15"/>
                        </a:lnTo>
                        <a:lnTo>
                          <a:pt x="157" y="13"/>
                        </a:lnTo>
                        <a:lnTo>
                          <a:pt x="152" y="11"/>
                        </a:lnTo>
                        <a:lnTo>
                          <a:pt x="146" y="9"/>
                        </a:lnTo>
                        <a:lnTo>
                          <a:pt x="138" y="6"/>
                        </a:lnTo>
                        <a:lnTo>
                          <a:pt x="131" y="2"/>
                        </a:lnTo>
                        <a:lnTo>
                          <a:pt x="125" y="2"/>
                        </a:lnTo>
                        <a:lnTo>
                          <a:pt x="118" y="3"/>
                        </a:lnTo>
                        <a:lnTo>
                          <a:pt x="108" y="5"/>
                        </a:lnTo>
                        <a:lnTo>
                          <a:pt x="103" y="5"/>
                        </a:lnTo>
                        <a:lnTo>
                          <a:pt x="91" y="3"/>
                        </a:lnTo>
                        <a:lnTo>
                          <a:pt x="77" y="1"/>
                        </a:lnTo>
                        <a:lnTo>
                          <a:pt x="67" y="0"/>
                        </a:lnTo>
                        <a:lnTo>
                          <a:pt x="55" y="0"/>
                        </a:lnTo>
                        <a:lnTo>
                          <a:pt x="43" y="0"/>
                        </a:lnTo>
                        <a:lnTo>
                          <a:pt x="35" y="1"/>
                        </a:lnTo>
                        <a:lnTo>
                          <a:pt x="26" y="2"/>
                        </a:lnTo>
                        <a:lnTo>
                          <a:pt x="18" y="3"/>
                        </a:lnTo>
                        <a:lnTo>
                          <a:pt x="9" y="4"/>
                        </a:lnTo>
                        <a:lnTo>
                          <a:pt x="8" y="8"/>
                        </a:lnTo>
                        <a:lnTo>
                          <a:pt x="6" y="11"/>
                        </a:lnTo>
                        <a:lnTo>
                          <a:pt x="4" y="14"/>
                        </a:lnTo>
                        <a:lnTo>
                          <a:pt x="0" y="16"/>
                        </a:lnTo>
                        <a:lnTo>
                          <a:pt x="7" y="15"/>
                        </a:lnTo>
                        <a:lnTo>
                          <a:pt x="15" y="13"/>
                        </a:lnTo>
                        <a:lnTo>
                          <a:pt x="21" y="12"/>
                        </a:lnTo>
                        <a:lnTo>
                          <a:pt x="29" y="11"/>
                        </a:lnTo>
                        <a:lnTo>
                          <a:pt x="36" y="10"/>
                        </a:lnTo>
                        <a:lnTo>
                          <a:pt x="49" y="9"/>
                        </a:lnTo>
                        <a:lnTo>
                          <a:pt x="62" y="8"/>
                        </a:lnTo>
                        <a:lnTo>
                          <a:pt x="77" y="7"/>
                        </a:lnTo>
                        <a:lnTo>
                          <a:pt x="92" y="6"/>
                        </a:lnTo>
                        <a:lnTo>
                          <a:pt x="106" y="6"/>
                        </a:lnTo>
                        <a:lnTo>
                          <a:pt x="118" y="7"/>
                        </a:lnTo>
                        <a:lnTo>
                          <a:pt x="126" y="9"/>
                        </a:lnTo>
                        <a:lnTo>
                          <a:pt x="135" y="11"/>
                        </a:lnTo>
                        <a:lnTo>
                          <a:pt x="145" y="13"/>
                        </a:lnTo>
                        <a:lnTo>
                          <a:pt x="155" y="16"/>
                        </a:lnTo>
                        <a:lnTo>
                          <a:pt x="163" y="17"/>
                        </a:lnTo>
                        <a:lnTo>
                          <a:pt x="172" y="19"/>
                        </a:lnTo>
                      </a:path>
                    </a:pathLst>
                  </a:custGeom>
                  <a:solidFill>
                    <a:srgbClr val="037C03">
                      <a:alpha val="50195"/>
                    </a:srgbClr>
                  </a:solidFill>
                  <a:ln w="9525">
                    <a:noFill/>
                  </a:ln>
                </p:spPr>
                <p:txBody>
                  <a:bodyPr/>
                  <a:lstStyle/>
                  <a:p>
                    <a:endParaRPr lang="zh-CN" altLang="en-US"/>
                  </a:p>
                </p:txBody>
              </p:sp>
            </p:grpSp>
          </p:grpSp>
        </p:grpSp>
      </p:grpSp>
      <p:grpSp>
        <p:nvGrpSpPr>
          <p:cNvPr id="89096" name="Group 74"/>
          <p:cNvGrpSpPr/>
          <p:nvPr/>
        </p:nvGrpSpPr>
        <p:grpSpPr>
          <a:xfrm>
            <a:off x="6084888" y="3933825"/>
            <a:ext cx="1371600" cy="1600200"/>
            <a:chOff x="0" y="3182"/>
            <a:chExt cx="808" cy="998"/>
          </a:xfrm>
        </p:grpSpPr>
        <p:grpSp>
          <p:nvGrpSpPr>
            <p:cNvPr id="89235" name="Group 75"/>
            <p:cNvGrpSpPr/>
            <p:nvPr/>
          </p:nvGrpSpPr>
          <p:grpSpPr>
            <a:xfrm>
              <a:off x="0" y="3182"/>
              <a:ext cx="506" cy="927"/>
              <a:chOff x="1685" y="1023"/>
              <a:chExt cx="506" cy="927"/>
            </a:xfrm>
          </p:grpSpPr>
          <p:sp>
            <p:nvSpPr>
              <p:cNvPr id="89248" name="Freeform 76"/>
              <p:cNvSpPr/>
              <p:nvPr/>
            </p:nvSpPr>
            <p:spPr>
              <a:xfrm>
                <a:off x="1733" y="1329"/>
                <a:ext cx="76" cy="621"/>
              </a:xfrm>
              <a:custGeom>
                <a:avLst/>
                <a:gdLst>
                  <a:gd name="txL" fmla="*/ 0 w 76"/>
                  <a:gd name="txT" fmla="*/ 0 h 621"/>
                  <a:gd name="txR" fmla="*/ 76 w 76"/>
                  <a:gd name="txB" fmla="*/ 621 h 621"/>
                </a:gdLst>
                <a:ahLst/>
                <a:cxnLst>
                  <a:cxn ang="0">
                    <a:pos x="0" y="54"/>
                  </a:cxn>
                  <a:cxn ang="0">
                    <a:pos x="11" y="269"/>
                  </a:cxn>
                  <a:cxn ang="0">
                    <a:pos x="22" y="442"/>
                  </a:cxn>
                  <a:cxn ang="0">
                    <a:pos x="30" y="570"/>
                  </a:cxn>
                  <a:cxn ang="0">
                    <a:pos x="28" y="620"/>
                  </a:cxn>
                  <a:cxn ang="0">
                    <a:pos x="44" y="620"/>
                  </a:cxn>
                  <a:cxn ang="0">
                    <a:pos x="49" y="546"/>
                  </a:cxn>
                  <a:cxn ang="0">
                    <a:pos x="52" y="434"/>
                  </a:cxn>
                  <a:cxn ang="0">
                    <a:pos x="58" y="329"/>
                  </a:cxn>
                  <a:cxn ang="0">
                    <a:pos x="61" y="250"/>
                  </a:cxn>
                  <a:cxn ang="0">
                    <a:pos x="67" y="135"/>
                  </a:cxn>
                  <a:cxn ang="0">
                    <a:pos x="75" y="36"/>
                  </a:cxn>
                  <a:cxn ang="0">
                    <a:pos x="70" y="11"/>
                  </a:cxn>
                  <a:cxn ang="0">
                    <a:pos x="62" y="0"/>
                  </a:cxn>
                  <a:cxn ang="0">
                    <a:pos x="53" y="121"/>
                  </a:cxn>
                  <a:cxn ang="0">
                    <a:pos x="45" y="224"/>
                  </a:cxn>
                  <a:cxn ang="0">
                    <a:pos x="43" y="305"/>
                  </a:cxn>
                  <a:cxn ang="0">
                    <a:pos x="40" y="390"/>
                  </a:cxn>
                  <a:cxn ang="0">
                    <a:pos x="34" y="475"/>
                  </a:cxn>
                  <a:cxn ang="0">
                    <a:pos x="25" y="327"/>
                  </a:cxn>
                  <a:cxn ang="0">
                    <a:pos x="15" y="187"/>
                  </a:cxn>
                  <a:cxn ang="0">
                    <a:pos x="0" y="54"/>
                  </a:cxn>
                </a:cxnLst>
                <a:rect l="txL" t="txT" r="txR" b="txB"/>
                <a:pathLst>
                  <a:path w="76" h="621">
                    <a:moveTo>
                      <a:pt x="0" y="54"/>
                    </a:moveTo>
                    <a:lnTo>
                      <a:pt x="11" y="269"/>
                    </a:lnTo>
                    <a:lnTo>
                      <a:pt x="22" y="442"/>
                    </a:lnTo>
                    <a:lnTo>
                      <a:pt x="30" y="570"/>
                    </a:lnTo>
                    <a:lnTo>
                      <a:pt x="28" y="620"/>
                    </a:lnTo>
                    <a:lnTo>
                      <a:pt x="44" y="620"/>
                    </a:lnTo>
                    <a:lnTo>
                      <a:pt x="49" y="546"/>
                    </a:lnTo>
                    <a:lnTo>
                      <a:pt x="52" y="434"/>
                    </a:lnTo>
                    <a:lnTo>
                      <a:pt x="58" y="329"/>
                    </a:lnTo>
                    <a:lnTo>
                      <a:pt x="61" y="250"/>
                    </a:lnTo>
                    <a:lnTo>
                      <a:pt x="67" y="135"/>
                    </a:lnTo>
                    <a:lnTo>
                      <a:pt x="75" y="36"/>
                    </a:lnTo>
                    <a:lnTo>
                      <a:pt x="70" y="11"/>
                    </a:lnTo>
                    <a:lnTo>
                      <a:pt x="62" y="0"/>
                    </a:lnTo>
                    <a:lnTo>
                      <a:pt x="53" y="121"/>
                    </a:lnTo>
                    <a:lnTo>
                      <a:pt x="45" y="224"/>
                    </a:lnTo>
                    <a:lnTo>
                      <a:pt x="43" y="305"/>
                    </a:lnTo>
                    <a:lnTo>
                      <a:pt x="40" y="390"/>
                    </a:lnTo>
                    <a:lnTo>
                      <a:pt x="34" y="475"/>
                    </a:lnTo>
                    <a:lnTo>
                      <a:pt x="25" y="327"/>
                    </a:lnTo>
                    <a:lnTo>
                      <a:pt x="15" y="187"/>
                    </a:lnTo>
                    <a:lnTo>
                      <a:pt x="0" y="54"/>
                    </a:lnTo>
                  </a:path>
                </a:pathLst>
              </a:custGeom>
              <a:solidFill>
                <a:srgbClr val="3C0023">
                  <a:alpha val="50195"/>
                </a:srgbClr>
              </a:solidFill>
              <a:ln w="9525">
                <a:noFill/>
              </a:ln>
            </p:spPr>
            <p:txBody>
              <a:bodyPr/>
              <a:lstStyle/>
              <a:p>
                <a:endParaRPr lang="zh-CN" altLang="en-US"/>
              </a:p>
            </p:txBody>
          </p:sp>
          <p:sp>
            <p:nvSpPr>
              <p:cNvPr id="89249" name="Freeform 77"/>
              <p:cNvSpPr/>
              <p:nvPr/>
            </p:nvSpPr>
            <p:spPr>
              <a:xfrm>
                <a:off x="1790" y="1583"/>
                <a:ext cx="120" cy="349"/>
              </a:xfrm>
              <a:custGeom>
                <a:avLst/>
                <a:gdLst>
                  <a:gd name="txL" fmla="*/ 0 w 120"/>
                  <a:gd name="txT" fmla="*/ 0 h 349"/>
                  <a:gd name="txR" fmla="*/ 120 w 120"/>
                  <a:gd name="txB" fmla="*/ 349 h 349"/>
                </a:gdLst>
                <a:ahLst/>
                <a:cxnLst>
                  <a:cxn ang="0">
                    <a:pos x="0" y="161"/>
                  </a:cxn>
                  <a:cxn ang="0">
                    <a:pos x="10" y="232"/>
                  </a:cxn>
                  <a:cxn ang="0">
                    <a:pos x="20" y="289"/>
                  </a:cxn>
                  <a:cxn ang="0">
                    <a:pos x="26" y="331"/>
                  </a:cxn>
                  <a:cxn ang="0">
                    <a:pos x="25" y="348"/>
                  </a:cxn>
                  <a:cxn ang="0">
                    <a:pos x="39" y="348"/>
                  </a:cxn>
                  <a:cxn ang="0">
                    <a:pos x="43" y="323"/>
                  </a:cxn>
                  <a:cxn ang="0">
                    <a:pos x="45" y="286"/>
                  </a:cxn>
                  <a:cxn ang="0">
                    <a:pos x="51" y="252"/>
                  </a:cxn>
                  <a:cxn ang="0">
                    <a:pos x="54" y="226"/>
                  </a:cxn>
                  <a:cxn ang="0">
                    <a:pos x="59" y="188"/>
                  </a:cxn>
                  <a:cxn ang="0">
                    <a:pos x="66" y="156"/>
                  </a:cxn>
                  <a:cxn ang="0">
                    <a:pos x="71" y="127"/>
                  </a:cxn>
                  <a:cxn ang="0">
                    <a:pos x="77" y="96"/>
                  </a:cxn>
                  <a:cxn ang="0">
                    <a:pos x="86" y="66"/>
                  </a:cxn>
                  <a:cxn ang="0">
                    <a:pos x="96" y="40"/>
                  </a:cxn>
                  <a:cxn ang="0">
                    <a:pos x="113" y="15"/>
                  </a:cxn>
                  <a:cxn ang="0">
                    <a:pos x="119" y="5"/>
                  </a:cxn>
                  <a:cxn ang="0">
                    <a:pos x="112" y="0"/>
                  </a:cxn>
                  <a:cxn ang="0">
                    <a:pos x="101" y="10"/>
                  </a:cxn>
                  <a:cxn ang="0">
                    <a:pos x="86" y="33"/>
                  </a:cxn>
                  <a:cxn ang="0">
                    <a:pos x="75" y="57"/>
                  </a:cxn>
                  <a:cxn ang="0">
                    <a:pos x="66" y="81"/>
                  </a:cxn>
                  <a:cxn ang="0">
                    <a:pos x="60" y="113"/>
                  </a:cxn>
                  <a:cxn ang="0">
                    <a:pos x="55" y="144"/>
                  </a:cxn>
                  <a:cxn ang="0">
                    <a:pos x="47" y="184"/>
                  </a:cxn>
                  <a:cxn ang="0">
                    <a:pos x="40" y="217"/>
                  </a:cxn>
                  <a:cxn ang="0">
                    <a:pos x="37" y="244"/>
                  </a:cxn>
                  <a:cxn ang="0">
                    <a:pos x="36" y="272"/>
                  </a:cxn>
                  <a:cxn ang="0">
                    <a:pos x="30" y="300"/>
                  </a:cxn>
                  <a:cxn ang="0">
                    <a:pos x="22" y="251"/>
                  </a:cxn>
                  <a:cxn ang="0">
                    <a:pos x="13" y="205"/>
                  </a:cxn>
                  <a:cxn ang="0">
                    <a:pos x="0" y="161"/>
                  </a:cxn>
                </a:cxnLst>
                <a:rect l="txL" t="txT" r="txR" b="txB"/>
                <a:pathLst>
                  <a:path w="120" h="349">
                    <a:moveTo>
                      <a:pt x="0" y="161"/>
                    </a:moveTo>
                    <a:lnTo>
                      <a:pt x="10" y="232"/>
                    </a:lnTo>
                    <a:lnTo>
                      <a:pt x="20" y="289"/>
                    </a:lnTo>
                    <a:lnTo>
                      <a:pt x="26" y="331"/>
                    </a:lnTo>
                    <a:lnTo>
                      <a:pt x="25" y="348"/>
                    </a:lnTo>
                    <a:lnTo>
                      <a:pt x="39" y="348"/>
                    </a:lnTo>
                    <a:lnTo>
                      <a:pt x="43" y="323"/>
                    </a:lnTo>
                    <a:lnTo>
                      <a:pt x="45" y="286"/>
                    </a:lnTo>
                    <a:lnTo>
                      <a:pt x="51" y="252"/>
                    </a:lnTo>
                    <a:lnTo>
                      <a:pt x="54" y="226"/>
                    </a:lnTo>
                    <a:lnTo>
                      <a:pt x="59" y="188"/>
                    </a:lnTo>
                    <a:lnTo>
                      <a:pt x="66" y="156"/>
                    </a:lnTo>
                    <a:lnTo>
                      <a:pt x="71" y="127"/>
                    </a:lnTo>
                    <a:lnTo>
                      <a:pt x="77" y="96"/>
                    </a:lnTo>
                    <a:lnTo>
                      <a:pt x="86" y="66"/>
                    </a:lnTo>
                    <a:lnTo>
                      <a:pt x="96" y="40"/>
                    </a:lnTo>
                    <a:lnTo>
                      <a:pt x="113" y="15"/>
                    </a:lnTo>
                    <a:lnTo>
                      <a:pt x="119" y="5"/>
                    </a:lnTo>
                    <a:lnTo>
                      <a:pt x="112" y="0"/>
                    </a:lnTo>
                    <a:lnTo>
                      <a:pt x="101" y="10"/>
                    </a:lnTo>
                    <a:lnTo>
                      <a:pt x="86" y="33"/>
                    </a:lnTo>
                    <a:lnTo>
                      <a:pt x="75" y="57"/>
                    </a:lnTo>
                    <a:lnTo>
                      <a:pt x="66" y="81"/>
                    </a:lnTo>
                    <a:lnTo>
                      <a:pt x="60" y="113"/>
                    </a:lnTo>
                    <a:lnTo>
                      <a:pt x="55" y="144"/>
                    </a:lnTo>
                    <a:lnTo>
                      <a:pt x="47" y="184"/>
                    </a:lnTo>
                    <a:lnTo>
                      <a:pt x="40" y="217"/>
                    </a:lnTo>
                    <a:lnTo>
                      <a:pt x="37" y="244"/>
                    </a:lnTo>
                    <a:lnTo>
                      <a:pt x="36" y="272"/>
                    </a:lnTo>
                    <a:lnTo>
                      <a:pt x="30" y="300"/>
                    </a:lnTo>
                    <a:lnTo>
                      <a:pt x="22" y="251"/>
                    </a:lnTo>
                    <a:lnTo>
                      <a:pt x="13" y="205"/>
                    </a:lnTo>
                    <a:lnTo>
                      <a:pt x="0" y="161"/>
                    </a:lnTo>
                  </a:path>
                </a:pathLst>
              </a:custGeom>
              <a:solidFill>
                <a:srgbClr val="3C0023">
                  <a:alpha val="50195"/>
                </a:srgbClr>
              </a:solidFill>
              <a:ln w="9525">
                <a:noFill/>
              </a:ln>
            </p:spPr>
            <p:txBody>
              <a:bodyPr/>
              <a:lstStyle/>
              <a:p>
                <a:endParaRPr lang="zh-CN" altLang="en-US"/>
              </a:p>
            </p:txBody>
          </p:sp>
          <p:sp>
            <p:nvSpPr>
              <p:cNvPr id="89250" name="Freeform 78"/>
              <p:cNvSpPr/>
              <p:nvPr/>
            </p:nvSpPr>
            <p:spPr>
              <a:xfrm>
                <a:off x="1685" y="1239"/>
                <a:ext cx="266" cy="391"/>
              </a:xfrm>
              <a:custGeom>
                <a:avLst/>
                <a:gdLst>
                  <a:gd name="txL" fmla="*/ 0 w 266"/>
                  <a:gd name="txT" fmla="*/ 0 h 391"/>
                  <a:gd name="txR" fmla="*/ 266 w 266"/>
                  <a:gd name="txB" fmla="*/ 391 h 391"/>
                </a:gdLst>
                <a:ahLst/>
                <a:cxnLst>
                  <a:cxn ang="0">
                    <a:pos x="107" y="123"/>
                  </a:cxn>
                  <a:cxn ang="0">
                    <a:pos x="116" y="135"/>
                  </a:cxn>
                  <a:cxn ang="0">
                    <a:pos x="163" y="114"/>
                  </a:cxn>
                  <a:cxn ang="0">
                    <a:pos x="211" y="81"/>
                  </a:cxn>
                  <a:cxn ang="0">
                    <a:pos x="233" y="46"/>
                  </a:cxn>
                  <a:cxn ang="0">
                    <a:pos x="220" y="76"/>
                  </a:cxn>
                  <a:cxn ang="0">
                    <a:pos x="183" y="109"/>
                  </a:cxn>
                  <a:cxn ang="0">
                    <a:pos x="142" y="138"/>
                  </a:cxn>
                  <a:cxn ang="0">
                    <a:pos x="102" y="159"/>
                  </a:cxn>
                  <a:cxn ang="0">
                    <a:pos x="119" y="178"/>
                  </a:cxn>
                  <a:cxn ang="0">
                    <a:pos x="155" y="180"/>
                  </a:cxn>
                  <a:cxn ang="0">
                    <a:pos x="202" y="187"/>
                  </a:cxn>
                  <a:cxn ang="0">
                    <a:pos x="239" y="204"/>
                  </a:cxn>
                  <a:cxn ang="0">
                    <a:pos x="251" y="215"/>
                  </a:cxn>
                  <a:cxn ang="0">
                    <a:pos x="213" y="204"/>
                  </a:cxn>
                  <a:cxn ang="0">
                    <a:pos x="162" y="198"/>
                  </a:cxn>
                  <a:cxn ang="0">
                    <a:pos x="114" y="195"/>
                  </a:cxn>
                  <a:cxn ang="0">
                    <a:pos x="88" y="203"/>
                  </a:cxn>
                  <a:cxn ang="0">
                    <a:pos x="93" y="248"/>
                  </a:cxn>
                  <a:cxn ang="0">
                    <a:pos x="93" y="307"/>
                  </a:cxn>
                  <a:cxn ang="0">
                    <a:pos x="77" y="354"/>
                  </a:cxn>
                  <a:cxn ang="0">
                    <a:pos x="46" y="390"/>
                  </a:cxn>
                  <a:cxn ang="0">
                    <a:pos x="50" y="346"/>
                  </a:cxn>
                  <a:cxn ang="0">
                    <a:pos x="61" y="299"/>
                  </a:cxn>
                  <a:cxn ang="0">
                    <a:pos x="67" y="238"/>
                  </a:cxn>
                  <a:cxn ang="0">
                    <a:pos x="64" y="198"/>
                  </a:cxn>
                  <a:cxn ang="0">
                    <a:pos x="48" y="221"/>
                  </a:cxn>
                  <a:cxn ang="0">
                    <a:pos x="39" y="273"/>
                  </a:cxn>
                  <a:cxn ang="0">
                    <a:pos x="32" y="325"/>
                  </a:cxn>
                  <a:cxn ang="0">
                    <a:pos x="10" y="364"/>
                  </a:cxn>
                  <a:cxn ang="0">
                    <a:pos x="2" y="364"/>
                  </a:cxn>
                  <a:cxn ang="0">
                    <a:pos x="2" y="324"/>
                  </a:cxn>
                  <a:cxn ang="0">
                    <a:pos x="17" y="287"/>
                  </a:cxn>
                  <a:cxn ang="0">
                    <a:pos x="34" y="239"/>
                  </a:cxn>
                  <a:cxn ang="0">
                    <a:pos x="42" y="204"/>
                  </a:cxn>
                  <a:cxn ang="0">
                    <a:pos x="26" y="182"/>
                  </a:cxn>
                  <a:cxn ang="0">
                    <a:pos x="2" y="184"/>
                  </a:cxn>
                  <a:cxn ang="0">
                    <a:pos x="2" y="184"/>
                  </a:cxn>
                  <a:cxn ang="0">
                    <a:pos x="2" y="184"/>
                  </a:cxn>
                  <a:cxn ang="0">
                    <a:pos x="2" y="184"/>
                  </a:cxn>
                  <a:cxn ang="0">
                    <a:pos x="2" y="184"/>
                  </a:cxn>
                  <a:cxn ang="0">
                    <a:pos x="2" y="184"/>
                  </a:cxn>
                  <a:cxn ang="0">
                    <a:pos x="13" y="161"/>
                  </a:cxn>
                  <a:cxn ang="0">
                    <a:pos x="13" y="138"/>
                  </a:cxn>
                  <a:cxn ang="0">
                    <a:pos x="2" y="105"/>
                  </a:cxn>
                  <a:cxn ang="0">
                    <a:pos x="2" y="105"/>
                  </a:cxn>
                  <a:cxn ang="0">
                    <a:pos x="2" y="105"/>
                  </a:cxn>
                  <a:cxn ang="0">
                    <a:pos x="2" y="105"/>
                  </a:cxn>
                  <a:cxn ang="0">
                    <a:pos x="24" y="122"/>
                  </a:cxn>
                  <a:cxn ang="0">
                    <a:pos x="53" y="157"/>
                  </a:cxn>
                  <a:cxn ang="0">
                    <a:pos x="55" y="130"/>
                  </a:cxn>
                  <a:cxn ang="0">
                    <a:pos x="24" y="91"/>
                  </a:cxn>
                  <a:cxn ang="0">
                    <a:pos x="2" y="65"/>
                  </a:cxn>
                  <a:cxn ang="0">
                    <a:pos x="2" y="65"/>
                  </a:cxn>
                  <a:cxn ang="0">
                    <a:pos x="2" y="48"/>
                  </a:cxn>
                  <a:cxn ang="0">
                    <a:pos x="30" y="87"/>
                  </a:cxn>
                  <a:cxn ang="0">
                    <a:pos x="61" y="138"/>
                  </a:cxn>
                  <a:cxn ang="0">
                    <a:pos x="80" y="127"/>
                  </a:cxn>
                  <a:cxn ang="0">
                    <a:pos x="106" y="87"/>
                  </a:cxn>
                  <a:cxn ang="0">
                    <a:pos x="139" y="39"/>
                  </a:cxn>
                  <a:cxn ang="0">
                    <a:pos x="165" y="6"/>
                  </a:cxn>
                  <a:cxn ang="0">
                    <a:pos x="163" y="29"/>
                  </a:cxn>
                  <a:cxn ang="0">
                    <a:pos x="137" y="76"/>
                  </a:cxn>
                </a:cxnLst>
                <a:rect l="txL" t="txT" r="txR" b="txB"/>
                <a:pathLst>
                  <a:path w="266" h="391">
                    <a:moveTo>
                      <a:pt x="124" y="95"/>
                    </a:moveTo>
                    <a:lnTo>
                      <a:pt x="119" y="101"/>
                    </a:lnTo>
                    <a:lnTo>
                      <a:pt x="115" y="108"/>
                    </a:lnTo>
                    <a:lnTo>
                      <a:pt x="111" y="115"/>
                    </a:lnTo>
                    <a:lnTo>
                      <a:pt x="107" y="123"/>
                    </a:lnTo>
                    <a:lnTo>
                      <a:pt x="104" y="129"/>
                    </a:lnTo>
                    <a:lnTo>
                      <a:pt x="102" y="136"/>
                    </a:lnTo>
                    <a:lnTo>
                      <a:pt x="100" y="142"/>
                    </a:lnTo>
                    <a:lnTo>
                      <a:pt x="107" y="138"/>
                    </a:lnTo>
                    <a:lnTo>
                      <a:pt x="116" y="135"/>
                    </a:lnTo>
                    <a:lnTo>
                      <a:pt x="125" y="131"/>
                    </a:lnTo>
                    <a:lnTo>
                      <a:pt x="134" y="127"/>
                    </a:lnTo>
                    <a:lnTo>
                      <a:pt x="144" y="124"/>
                    </a:lnTo>
                    <a:lnTo>
                      <a:pt x="154" y="119"/>
                    </a:lnTo>
                    <a:lnTo>
                      <a:pt x="163" y="114"/>
                    </a:lnTo>
                    <a:lnTo>
                      <a:pt x="175" y="107"/>
                    </a:lnTo>
                    <a:lnTo>
                      <a:pt x="184" y="101"/>
                    </a:lnTo>
                    <a:lnTo>
                      <a:pt x="195" y="93"/>
                    </a:lnTo>
                    <a:lnTo>
                      <a:pt x="203" y="89"/>
                    </a:lnTo>
                    <a:lnTo>
                      <a:pt x="211" y="81"/>
                    </a:lnTo>
                    <a:lnTo>
                      <a:pt x="218" y="75"/>
                    </a:lnTo>
                    <a:lnTo>
                      <a:pt x="224" y="66"/>
                    </a:lnTo>
                    <a:lnTo>
                      <a:pt x="227" y="59"/>
                    </a:lnTo>
                    <a:lnTo>
                      <a:pt x="230" y="51"/>
                    </a:lnTo>
                    <a:lnTo>
                      <a:pt x="233" y="46"/>
                    </a:lnTo>
                    <a:lnTo>
                      <a:pt x="233" y="52"/>
                    </a:lnTo>
                    <a:lnTo>
                      <a:pt x="233" y="56"/>
                    </a:lnTo>
                    <a:lnTo>
                      <a:pt x="231" y="61"/>
                    </a:lnTo>
                    <a:lnTo>
                      <a:pt x="227" y="67"/>
                    </a:lnTo>
                    <a:lnTo>
                      <a:pt x="220" y="76"/>
                    </a:lnTo>
                    <a:lnTo>
                      <a:pt x="217" y="83"/>
                    </a:lnTo>
                    <a:lnTo>
                      <a:pt x="210" y="88"/>
                    </a:lnTo>
                    <a:lnTo>
                      <a:pt x="202" y="94"/>
                    </a:lnTo>
                    <a:lnTo>
                      <a:pt x="192" y="101"/>
                    </a:lnTo>
                    <a:lnTo>
                      <a:pt x="183" y="109"/>
                    </a:lnTo>
                    <a:lnTo>
                      <a:pt x="173" y="116"/>
                    </a:lnTo>
                    <a:lnTo>
                      <a:pt x="167" y="122"/>
                    </a:lnTo>
                    <a:lnTo>
                      <a:pt x="159" y="129"/>
                    </a:lnTo>
                    <a:lnTo>
                      <a:pt x="151" y="133"/>
                    </a:lnTo>
                    <a:lnTo>
                      <a:pt x="142" y="138"/>
                    </a:lnTo>
                    <a:lnTo>
                      <a:pt x="133" y="143"/>
                    </a:lnTo>
                    <a:lnTo>
                      <a:pt x="125" y="148"/>
                    </a:lnTo>
                    <a:lnTo>
                      <a:pt x="118" y="152"/>
                    </a:lnTo>
                    <a:lnTo>
                      <a:pt x="109" y="156"/>
                    </a:lnTo>
                    <a:lnTo>
                      <a:pt x="102" y="159"/>
                    </a:lnTo>
                    <a:lnTo>
                      <a:pt x="100" y="161"/>
                    </a:lnTo>
                    <a:lnTo>
                      <a:pt x="102" y="165"/>
                    </a:lnTo>
                    <a:lnTo>
                      <a:pt x="106" y="170"/>
                    </a:lnTo>
                    <a:lnTo>
                      <a:pt x="110" y="176"/>
                    </a:lnTo>
                    <a:lnTo>
                      <a:pt x="119" y="178"/>
                    </a:lnTo>
                    <a:lnTo>
                      <a:pt x="125" y="178"/>
                    </a:lnTo>
                    <a:lnTo>
                      <a:pt x="135" y="180"/>
                    </a:lnTo>
                    <a:lnTo>
                      <a:pt x="144" y="180"/>
                    </a:lnTo>
                    <a:lnTo>
                      <a:pt x="155" y="180"/>
                    </a:lnTo>
                    <a:lnTo>
                      <a:pt x="165" y="182"/>
                    </a:lnTo>
                    <a:lnTo>
                      <a:pt x="175" y="182"/>
                    </a:lnTo>
                    <a:lnTo>
                      <a:pt x="185" y="184"/>
                    </a:lnTo>
                    <a:lnTo>
                      <a:pt x="193" y="185"/>
                    </a:lnTo>
                    <a:lnTo>
                      <a:pt x="202" y="187"/>
                    </a:lnTo>
                    <a:lnTo>
                      <a:pt x="208" y="189"/>
                    </a:lnTo>
                    <a:lnTo>
                      <a:pt x="215" y="193"/>
                    </a:lnTo>
                    <a:lnTo>
                      <a:pt x="221" y="196"/>
                    </a:lnTo>
                    <a:lnTo>
                      <a:pt x="229" y="200"/>
                    </a:lnTo>
                    <a:lnTo>
                      <a:pt x="239" y="204"/>
                    </a:lnTo>
                    <a:lnTo>
                      <a:pt x="249" y="208"/>
                    </a:lnTo>
                    <a:lnTo>
                      <a:pt x="256" y="211"/>
                    </a:lnTo>
                    <a:lnTo>
                      <a:pt x="265" y="214"/>
                    </a:lnTo>
                    <a:lnTo>
                      <a:pt x="258" y="215"/>
                    </a:lnTo>
                    <a:lnTo>
                      <a:pt x="251" y="215"/>
                    </a:lnTo>
                    <a:lnTo>
                      <a:pt x="244" y="213"/>
                    </a:lnTo>
                    <a:lnTo>
                      <a:pt x="236" y="211"/>
                    </a:lnTo>
                    <a:lnTo>
                      <a:pt x="226" y="207"/>
                    </a:lnTo>
                    <a:lnTo>
                      <a:pt x="219" y="206"/>
                    </a:lnTo>
                    <a:lnTo>
                      <a:pt x="213" y="204"/>
                    </a:lnTo>
                    <a:lnTo>
                      <a:pt x="204" y="202"/>
                    </a:lnTo>
                    <a:lnTo>
                      <a:pt x="195" y="201"/>
                    </a:lnTo>
                    <a:lnTo>
                      <a:pt x="184" y="200"/>
                    </a:lnTo>
                    <a:lnTo>
                      <a:pt x="173" y="199"/>
                    </a:lnTo>
                    <a:lnTo>
                      <a:pt x="162" y="198"/>
                    </a:lnTo>
                    <a:lnTo>
                      <a:pt x="152" y="198"/>
                    </a:lnTo>
                    <a:lnTo>
                      <a:pt x="142" y="198"/>
                    </a:lnTo>
                    <a:lnTo>
                      <a:pt x="134" y="197"/>
                    </a:lnTo>
                    <a:lnTo>
                      <a:pt x="124" y="197"/>
                    </a:lnTo>
                    <a:lnTo>
                      <a:pt x="114" y="195"/>
                    </a:lnTo>
                    <a:lnTo>
                      <a:pt x="102" y="192"/>
                    </a:lnTo>
                    <a:lnTo>
                      <a:pt x="92" y="189"/>
                    </a:lnTo>
                    <a:lnTo>
                      <a:pt x="80" y="188"/>
                    </a:lnTo>
                    <a:lnTo>
                      <a:pt x="84" y="195"/>
                    </a:lnTo>
                    <a:lnTo>
                      <a:pt x="88" y="203"/>
                    </a:lnTo>
                    <a:lnTo>
                      <a:pt x="93" y="215"/>
                    </a:lnTo>
                    <a:lnTo>
                      <a:pt x="94" y="223"/>
                    </a:lnTo>
                    <a:lnTo>
                      <a:pt x="95" y="233"/>
                    </a:lnTo>
                    <a:lnTo>
                      <a:pt x="94" y="241"/>
                    </a:lnTo>
                    <a:lnTo>
                      <a:pt x="93" y="248"/>
                    </a:lnTo>
                    <a:lnTo>
                      <a:pt x="93" y="259"/>
                    </a:lnTo>
                    <a:lnTo>
                      <a:pt x="92" y="273"/>
                    </a:lnTo>
                    <a:lnTo>
                      <a:pt x="92" y="285"/>
                    </a:lnTo>
                    <a:lnTo>
                      <a:pt x="93" y="297"/>
                    </a:lnTo>
                    <a:lnTo>
                      <a:pt x="93" y="307"/>
                    </a:lnTo>
                    <a:lnTo>
                      <a:pt x="92" y="316"/>
                    </a:lnTo>
                    <a:lnTo>
                      <a:pt x="89" y="326"/>
                    </a:lnTo>
                    <a:lnTo>
                      <a:pt x="85" y="338"/>
                    </a:lnTo>
                    <a:lnTo>
                      <a:pt x="82" y="346"/>
                    </a:lnTo>
                    <a:lnTo>
                      <a:pt x="77" y="354"/>
                    </a:lnTo>
                    <a:lnTo>
                      <a:pt x="73" y="363"/>
                    </a:lnTo>
                    <a:lnTo>
                      <a:pt x="69" y="369"/>
                    </a:lnTo>
                    <a:lnTo>
                      <a:pt x="62" y="376"/>
                    </a:lnTo>
                    <a:lnTo>
                      <a:pt x="53" y="382"/>
                    </a:lnTo>
                    <a:lnTo>
                      <a:pt x="46" y="390"/>
                    </a:lnTo>
                    <a:lnTo>
                      <a:pt x="45" y="382"/>
                    </a:lnTo>
                    <a:lnTo>
                      <a:pt x="46" y="372"/>
                    </a:lnTo>
                    <a:lnTo>
                      <a:pt x="47" y="362"/>
                    </a:lnTo>
                    <a:lnTo>
                      <a:pt x="48" y="353"/>
                    </a:lnTo>
                    <a:lnTo>
                      <a:pt x="50" y="346"/>
                    </a:lnTo>
                    <a:lnTo>
                      <a:pt x="53" y="337"/>
                    </a:lnTo>
                    <a:lnTo>
                      <a:pt x="56" y="328"/>
                    </a:lnTo>
                    <a:lnTo>
                      <a:pt x="58" y="320"/>
                    </a:lnTo>
                    <a:lnTo>
                      <a:pt x="59" y="313"/>
                    </a:lnTo>
                    <a:lnTo>
                      <a:pt x="61" y="299"/>
                    </a:lnTo>
                    <a:lnTo>
                      <a:pt x="62" y="285"/>
                    </a:lnTo>
                    <a:lnTo>
                      <a:pt x="63" y="273"/>
                    </a:lnTo>
                    <a:lnTo>
                      <a:pt x="65" y="260"/>
                    </a:lnTo>
                    <a:lnTo>
                      <a:pt x="67" y="247"/>
                    </a:lnTo>
                    <a:lnTo>
                      <a:pt x="67" y="238"/>
                    </a:lnTo>
                    <a:lnTo>
                      <a:pt x="67" y="231"/>
                    </a:lnTo>
                    <a:lnTo>
                      <a:pt x="68" y="222"/>
                    </a:lnTo>
                    <a:lnTo>
                      <a:pt x="67" y="212"/>
                    </a:lnTo>
                    <a:lnTo>
                      <a:pt x="66" y="206"/>
                    </a:lnTo>
                    <a:lnTo>
                      <a:pt x="64" y="198"/>
                    </a:lnTo>
                    <a:lnTo>
                      <a:pt x="62" y="187"/>
                    </a:lnTo>
                    <a:lnTo>
                      <a:pt x="58" y="195"/>
                    </a:lnTo>
                    <a:lnTo>
                      <a:pt x="54" y="203"/>
                    </a:lnTo>
                    <a:lnTo>
                      <a:pt x="50" y="212"/>
                    </a:lnTo>
                    <a:lnTo>
                      <a:pt x="48" y="221"/>
                    </a:lnTo>
                    <a:lnTo>
                      <a:pt x="46" y="232"/>
                    </a:lnTo>
                    <a:lnTo>
                      <a:pt x="44" y="239"/>
                    </a:lnTo>
                    <a:lnTo>
                      <a:pt x="43" y="249"/>
                    </a:lnTo>
                    <a:lnTo>
                      <a:pt x="41" y="260"/>
                    </a:lnTo>
                    <a:lnTo>
                      <a:pt x="39" y="273"/>
                    </a:lnTo>
                    <a:lnTo>
                      <a:pt x="38" y="283"/>
                    </a:lnTo>
                    <a:lnTo>
                      <a:pt x="37" y="295"/>
                    </a:lnTo>
                    <a:lnTo>
                      <a:pt x="36" y="305"/>
                    </a:lnTo>
                    <a:lnTo>
                      <a:pt x="33" y="315"/>
                    </a:lnTo>
                    <a:lnTo>
                      <a:pt x="32" y="325"/>
                    </a:lnTo>
                    <a:lnTo>
                      <a:pt x="30" y="333"/>
                    </a:lnTo>
                    <a:lnTo>
                      <a:pt x="26" y="340"/>
                    </a:lnTo>
                    <a:lnTo>
                      <a:pt x="21" y="348"/>
                    </a:lnTo>
                    <a:lnTo>
                      <a:pt x="15" y="356"/>
                    </a:lnTo>
                    <a:lnTo>
                      <a:pt x="10" y="364"/>
                    </a:lnTo>
                    <a:lnTo>
                      <a:pt x="5" y="368"/>
                    </a:lnTo>
                    <a:lnTo>
                      <a:pt x="2" y="364"/>
                    </a:lnTo>
                    <a:lnTo>
                      <a:pt x="2" y="344"/>
                    </a:lnTo>
                    <a:lnTo>
                      <a:pt x="2" y="364"/>
                    </a:lnTo>
                    <a:lnTo>
                      <a:pt x="2" y="344"/>
                    </a:lnTo>
                    <a:lnTo>
                      <a:pt x="2" y="324"/>
                    </a:lnTo>
                    <a:lnTo>
                      <a:pt x="5" y="316"/>
                    </a:lnTo>
                    <a:lnTo>
                      <a:pt x="9" y="306"/>
                    </a:lnTo>
                    <a:lnTo>
                      <a:pt x="13" y="297"/>
                    </a:lnTo>
                    <a:lnTo>
                      <a:pt x="17" y="287"/>
                    </a:lnTo>
                    <a:lnTo>
                      <a:pt x="21" y="278"/>
                    </a:lnTo>
                    <a:lnTo>
                      <a:pt x="25" y="268"/>
                    </a:lnTo>
                    <a:lnTo>
                      <a:pt x="28" y="259"/>
                    </a:lnTo>
                    <a:lnTo>
                      <a:pt x="31" y="249"/>
                    </a:lnTo>
                    <a:lnTo>
                      <a:pt x="34" y="239"/>
                    </a:lnTo>
                    <a:lnTo>
                      <a:pt x="36" y="233"/>
                    </a:lnTo>
                    <a:lnTo>
                      <a:pt x="38" y="225"/>
                    </a:lnTo>
                    <a:lnTo>
                      <a:pt x="41" y="216"/>
                    </a:lnTo>
                    <a:lnTo>
                      <a:pt x="44" y="210"/>
                    </a:lnTo>
                    <a:lnTo>
                      <a:pt x="42" y="204"/>
                    </a:lnTo>
                    <a:lnTo>
                      <a:pt x="41" y="197"/>
                    </a:lnTo>
                    <a:lnTo>
                      <a:pt x="42" y="192"/>
                    </a:lnTo>
                    <a:lnTo>
                      <a:pt x="43" y="185"/>
                    </a:lnTo>
                    <a:lnTo>
                      <a:pt x="36" y="184"/>
                    </a:lnTo>
                    <a:lnTo>
                      <a:pt x="26" y="182"/>
                    </a:lnTo>
                    <a:lnTo>
                      <a:pt x="18" y="187"/>
                    </a:lnTo>
                    <a:lnTo>
                      <a:pt x="11" y="191"/>
                    </a:lnTo>
                    <a:lnTo>
                      <a:pt x="3" y="195"/>
                    </a:lnTo>
                    <a:lnTo>
                      <a:pt x="2" y="184"/>
                    </a:lnTo>
                    <a:lnTo>
                      <a:pt x="2" y="164"/>
                    </a:lnTo>
                    <a:lnTo>
                      <a:pt x="2" y="184"/>
                    </a:lnTo>
                    <a:lnTo>
                      <a:pt x="2" y="164"/>
                    </a:lnTo>
                    <a:lnTo>
                      <a:pt x="5" y="164"/>
                    </a:lnTo>
                    <a:lnTo>
                      <a:pt x="13" y="161"/>
                    </a:lnTo>
                    <a:lnTo>
                      <a:pt x="15" y="156"/>
                    </a:lnTo>
                    <a:lnTo>
                      <a:pt x="17" y="151"/>
                    </a:lnTo>
                    <a:lnTo>
                      <a:pt x="19" y="146"/>
                    </a:lnTo>
                    <a:lnTo>
                      <a:pt x="18" y="144"/>
                    </a:lnTo>
                    <a:lnTo>
                      <a:pt x="13" y="138"/>
                    </a:lnTo>
                    <a:lnTo>
                      <a:pt x="6" y="132"/>
                    </a:lnTo>
                    <a:lnTo>
                      <a:pt x="0" y="125"/>
                    </a:lnTo>
                    <a:lnTo>
                      <a:pt x="2" y="124"/>
                    </a:lnTo>
                    <a:lnTo>
                      <a:pt x="2" y="105"/>
                    </a:lnTo>
                    <a:lnTo>
                      <a:pt x="1" y="103"/>
                    </a:lnTo>
                    <a:lnTo>
                      <a:pt x="11" y="110"/>
                    </a:lnTo>
                    <a:lnTo>
                      <a:pt x="19" y="117"/>
                    </a:lnTo>
                    <a:lnTo>
                      <a:pt x="24" y="122"/>
                    </a:lnTo>
                    <a:lnTo>
                      <a:pt x="28" y="128"/>
                    </a:lnTo>
                    <a:lnTo>
                      <a:pt x="35" y="137"/>
                    </a:lnTo>
                    <a:lnTo>
                      <a:pt x="40" y="143"/>
                    </a:lnTo>
                    <a:lnTo>
                      <a:pt x="46" y="150"/>
                    </a:lnTo>
                    <a:lnTo>
                      <a:pt x="53" y="157"/>
                    </a:lnTo>
                    <a:lnTo>
                      <a:pt x="55" y="155"/>
                    </a:lnTo>
                    <a:lnTo>
                      <a:pt x="59" y="148"/>
                    </a:lnTo>
                    <a:lnTo>
                      <a:pt x="62" y="143"/>
                    </a:lnTo>
                    <a:lnTo>
                      <a:pt x="60" y="138"/>
                    </a:lnTo>
                    <a:lnTo>
                      <a:pt x="55" y="130"/>
                    </a:lnTo>
                    <a:lnTo>
                      <a:pt x="51" y="123"/>
                    </a:lnTo>
                    <a:lnTo>
                      <a:pt x="46" y="115"/>
                    </a:lnTo>
                    <a:lnTo>
                      <a:pt x="40" y="109"/>
                    </a:lnTo>
                    <a:lnTo>
                      <a:pt x="31" y="100"/>
                    </a:lnTo>
                    <a:lnTo>
                      <a:pt x="24" y="91"/>
                    </a:lnTo>
                    <a:lnTo>
                      <a:pt x="17" y="84"/>
                    </a:lnTo>
                    <a:lnTo>
                      <a:pt x="12" y="78"/>
                    </a:lnTo>
                    <a:lnTo>
                      <a:pt x="6" y="70"/>
                    </a:lnTo>
                    <a:lnTo>
                      <a:pt x="2" y="65"/>
                    </a:lnTo>
                    <a:lnTo>
                      <a:pt x="2" y="44"/>
                    </a:lnTo>
                    <a:lnTo>
                      <a:pt x="2" y="65"/>
                    </a:lnTo>
                    <a:lnTo>
                      <a:pt x="2" y="44"/>
                    </a:lnTo>
                    <a:lnTo>
                      <a:pt x="2" y="53"/>
                    </a:lnTo>
                    <a:lnTo>
                      <a:pt x="2" y="48"/>
                    </a:lnTo>
                    <a:lnTo>
                      <a:pt x="4" y="55"/>
                    </a:lnTo>
                    <a:lnTo>
                      <a:pt x="11" y="63"/>
                    </a:lnTo>
                    <a:lnTo>
                      <a:pt x="17" y="70"/>
                    </a:lnTo>
                    <a:lnTo>
                      <a:pt x="25" y="80"/>
                    </a:lnTo>
                    <a:lnTo>
                      <a:pt x="30" y="87"/>
                    </a:lnTo>
                    <a:lnTo>
                      <a:pt x="37" y="95"/>
                    </a:lnTo>
                    <a:lnTo>
                      <a:pt x="43" y="106"/>
                    </a:lnTo>
                    <a:lnTo>
                      <a:pt x="48" y="115"/>
                    </a:lnTo>
                    <a:lnTo>
                      <a:pt x="54" y="124"/>
                    </a:lnTo>
                    <a:lnTo>
                      <a:pt x="61" y="138"/>
                    </a:lnTo>
                    <a:lnTo>
                      <a:pt x="64" y="146"/>
                    </a:lnTo>
                    <a:lnTo>
                      <a:pt x="66" y="151"/>
                    </a:lnTo>
                    <a:lnTo>
                      <a:pt x="70" y="143"/>
                    </a:lnTo>
                    <a:lnTo>
                      <a:pt x="75" y="135"/>
                    </a:lnTo>
                    <a:lnTo>
                      <a:pt x="80" y="127"/>
                    </a:lnTo>
                    <a:lnTo>
                      <a:pt x="85" y="118"/>
                    </a:lnTo>
                    <a:lnTo>
                      <a:pt x="90" y="110"/>
                    </a:lnTo>
                    <a:lnTo>
                      <a:pt x="94" y="103"/>
                    </a:lnTo>
                    <a:lnTo>
                      <a:pt x="100" y="96"/>
                    </a:lnTo>
                    <a:lnTo>
                      <a:pt x="106" y="87"/>
                    </a:lnTo>
                    <a:lnTo>
                      <a:pt x="113" y="78"/>
                    </a:lnTo>
                    <a:lnTo>
                      <a:pt x="120" y="68"/>
                    </a:lnTo>
                    <a:lnTo>
                      <a:pt x="127" y="58"/>
                    </a:lnTo>
                    <a:lnTo>
                      <a:pt x="132" y="50"/>
                    </a:lnTo>
                    <a:lnTo>
                      <a:pt x="139" y="39"/>
                    </a:lnTo>
                    <a:lnTo>
                      <a:pt x="144" y="33"/>
                    </a:lnTo>
                    <a:lnTo>
                      <a:pt x="150" y="26"/>
                    </a:lnTo>
                    <a:lnTo>
                      <a:pt x="156" y="21"/>
                    </a:lnTo>
                    <a:lnTo>
                      <a:pt x="161" y="15"/>
                    </a:lnTo>
                    <a:lnTo>
                      <a:pt x="165" y="6"/>
                    </a:lnTo>
                    <a:lnTo>
                      <a:pt x="170" y="0"/>
                    </a:lnTo>
                    <a:lnTo>
                      <a:pt x="169" y="5"/>
                    </a:lnTo>
                    <a:lnTo>
                      <a:pt x="168" y="13"/>
                    </a:lnTo>
                    <a:lnTo>
                      <a:pt x="166" y="21"/>
                    </a:lnTo>
                    <a:lnTo>
                      <a:pt x="163" y="29"/>
                    </a:lnTo>
                    <a:lnTo>
                      <a:pt x="159" y="37"/>
                    </a:lnTo>
                    <a:lnTo>
                      <a:pt x="153" y="47"/>
                    </a:lnTo>
                    <a:lnTo>
                      <a:pt x="148" y="56"/>
                    </a:lnTo>
                    <a:lnTo>
                      <a:pt x="143" y="67"/>
                    </a:lnTo>
                    <a:lnTo>
                      <a:pt x="137" y="76"/>
                    </a:lnTo>
                    <a:lnTo>
                      <a:pt x="130" y="87"/>
                    </a:lnTo>
                    <a:lnTo>
                      <a:pt x="124" y="95"/>
                    </a:lnTo>
                  </a:path>
                </a:pathLst>
              </a:custGeom>
              <a:solidFill>
                <a:srgbClr val="037C03">
                  <a:alpha val="50195"/>
                </a:srgbClr>
              </a:solidFill>
              <a:ln w="9525">
                <a:noFill/>
              </a:ln>
            </p:spPr>
            <p:txBody>
              <a:bodyPr/>
              <a:lstStyle/>
              <a:p>
                <a:endParaRPr lang="zh-CN" altLang="en-US"/>
              </a:p>
            </p:txBody>
          </p:sp>
          <p:grpSp>
            <p:nvGrpSpPr>
              <p:cNvPr id="89251" name="Group 79"/>
              <p:cNvGrpSpPr/>
              <p:nvPr/>
            </p:nvGrpSpPr>
            <p:grpSpPr>
              <a:xfrm>
                <a:off x="1707" y="1466"/>
                <a:ext cx="484" cy="368"/>
                <a:chOff x="1707" y="1466"/>
                <a:chExt cx="484" cy="368"/>
              </a:xfrm>
            </p:grpSpPr>
            <p:sp>
              <p:nvSpPr>
                <p:cNvPr id="89253" name="Freeform 80"/>
                <p:cNvSpPr/>
                <p:nvPr/>
              </p:nvSpPr>
              <p:spPr>
                <a:xfrm>
                  <a:off x="1751" y="1466"/>
                  <a:ext cx="440" cy="342"/>
                </a:xfrm>
                <a:custGeom>
                  <a:avLst/>
                  <a:gdLst>
                    <a:gd name="txL" fmla="*/ 0 w 440"/>
                    <a:gd name="txT" fmla="*/ 0 h 342"/>
                    <a:gd name="txR" fmla="*/ 440 w 440"/>
                    <a:gd name="txB" fmla="*/ 342 h 342"/>
                  </a:gdLst>
                  <a:ahLst/>
                  <a:cxnLst>
                    <a:cxn ang="0">
                      <a:pos x="167" y="42"/>
                    </a:cxn>
                    <a:cxn ang="0">
                      <a:pos x="202" y="14"/>
                    </a:cxn>
                    <a:cxn ang="0">
                      <a:pos x="245" y="3"/>
                    </a:cxn>
                    <a:cxn ang="0">
                      <a:pos x="292" y="2"/>
                    </a:cxn>
                    <a:cxn ang="0">
                      <a:pos x="304" y="7"/>
                    </a:cxn>
                    <a:cxn ang="0">
                      <a:pos x="272" y="15"/>
                    </a:cxn>
                    <a:cxn ang="0">
                      <a:pos x="236" y="26"/>
                    </a:cxn>
                    <a:cxn ang="0">
                      <a:pos x="195" y="55"/>
                    </a:cxn>
                    <a:cxn ang="0">
                      <a:pos x="191" y="94"/>
                    </a:cxn>
                    <a:cxn ang="0">
                      <a:pos x="252" y="70"/>
                    </a:cxn>
                    <a:cxn ang="0">
                      <a:pos x="301" y="67"/>
                    </a:cxn>
                    <a:cxn ang="0">
                      <a:pos x="354" y="72"/>
                    </a:cxn>
                    <a:cxn ang="0">
                      <a:pos x="416" y="79"/>
                    </a:cxn>
                    <a:cxn ang="0">
                      <a:pos x="417" y="80"/>
                    </a:cxn>
                    <a:cxn ang="0">
                      <a:pos x="357" y="83"/>
                    </a:cxn>
                    <a:cxn ang="0">
                      <a:pos x="302" y="84"/>
                    </a:cxn>
                    <a:cxn ang="0">
                      <a:pos x="254" y="90"/>
                    </a:cxn>
                    <a:cxn ang="0">
                      <a:pos x="200" y="103"/>
                    </a:cxn>
                    <a:cxn ang="0">
                      <a:pos x="222" y="123"/>
                    </a:cxn>
                    <a:cxn ang="0">
                      <a:pos x="238" y="142"/>
                    </a:cxn>
                    <a:cxn ang="0">
                      <a:pos x="184" y="125"/>
                    </a:cxn>
                    <a:cxn ang="0">
                      <a:pos x="173" y="136"/>
                    </a:cxn>
                    <a:cxn ang="0">
                      <a:pos x="232" y="145"/>
                    </a:cxn>
                    <a:cxn ang="0">
                      <a:pos x="282" y="157"/>
                    </a:cxn>
                    <a:cxn ang="0">
                      <a:pos x="321" y="190"/>
                    </a:cxn>
                    <a:cxn ang="0">
                      <a:pos x="351" y="234"/>
                    </a:cxn>
                    <a:cxn ang="0">
                      <a:pos x="344" y="242"/>
                    </a:cxn>
                    <a:cxn ang="0">
                      <a:pos x="304" y="214"/>
                    </a:cxn>
                    <a:cxn ang="0">
                      <a:pos x="259" y="183"/>
                    </a:cxn>
                    <a:cxn ang="0">
                      <a:pos x="211" y="162"/>
                    </a:cxn>
                    <a:cxn ang="0">
                      <a:pos x="180" y="155"/>
                    </a:cxn>
                    <a:cxn ang="0">
                      <a:pos x="206" y="189"/>
                    </a:cxn>
                    <a:cxn ang="0">
                      <a:pos x="238" y="234"/>
                    </a:cxn>
                    <a:cxn ang="0">
                      <a:pos x="256" y="275"/>
                    </a:cxn>
                    <a:cxn ang="0">
                      <a:pos x="255" y="313"/>
                    </a:cxn>
                    <a:cxn ang="0">
                      <a:pos x="232" y="271"/>
                    </a:cxn>
                    <a:cxn ang="0">
                      <a:pos x="208" y="226"/>
                    </a:cxn>
                    <a:cxn ang="0">
                      <a:pos x="181" y="185"/>
                    </a:cxn>
                    <a:cxn ang="0">
                      <a:pos x="157" y="149"/>
                    </a:cxn>
                    <a:cxn ang="0">
                      <a:pos x="115" y="170"/>
                    </a:cxn>
                    <a:cxn ang="0">
                      <a:pos x="80" y="221"/>
                    </a:cxn>
                    <a:cxn ang="0">
                      <a:pos x="51" y="273"/>
                    </a:cxn>
                    <a:cxn ang="0">
                      <a:pos x="18" y="321"/>
                    </a:cxn>
                    <a:cxn ang="0">
                      <a:pos x="8" y="315"/>
                    </a:cxn>
                    <a:cxn ang="0">
                      <a:pos x="47" y="255"/>
                    </a:cxn>
                    <a:cxn ang="0">
                      <a:pos x="82" y="208"/>
                    </a:cxn>
                    <a:cxn ang="0">
                      <a:pos x="112" y="162"/>
                    </a:cxn>
                    <a:cxn ang="0">
                      <a:pos x="139" y="126"/>
                    </a:cxn>
                    <a:cxn ang="0">
                      <a:pos x="99" y="83"/>
                    </a:cxn>
                    <a:cxn ang="0">
                      <a:pos x="43" y="60"/>
                    </a:cxn>
                    <a:cxn ang="0">
                      <a:pos x="20" y="47"/>
                    </a:cxn>
                    <a:cxn ang="0">
                      <a:pos x="63" y="61"/>
                    </a:cxn>
                    <a:cxn ang="0">
                      <a:pos x="122" y="90"/>
                    </a:cxn>
                  </a:cxnLst>
                  <a:rect l="txL" t="txT" r="txR" b="txB"/>
                  <a:pathLst>
                    <a:path w="440" h="342">
                      <a:moveTo>
                        <a:pt x="138" y="87"/>
                      </a:moveTo>
                      <a:lnTo>
                        <a:pt x="141" y="78"/>
                      </a:lnTo>
                      <a:lnTo>
                        <a:pt x="146" y="69"/>
                      </a:lnTo>
                      <a:lnTo>
                        <a:pt x="153" y="59"/>
                      </a:lnTo>
                      <a:lnTo>
                        <a:pt x="160" y="51"/>
                      </a:lnTo>
                      <a:lnTo>
                        <a:pt x="167" y="42"/>
                      </a:lnTo>
                      <a:lnTo>
                        <a:pt x="172" y="36"/>
                      </a:lnTo>
                      <a:lnTo>
                        <a:pt x="178" y="31"/>
                      </a:lnTo>
                      <a:lnTo>
                        <a:pt x="184" y="26"/>
                      </a:lnTo>
                      <a:lnTo>
                        <a:pt x="190" y="21"/>
                      </a:lnTo>
                      <a:lnTo>
                        <a:pt x="196" y="17"/>
                      </a:lnTo>
                      <a:lnTo>
                        <a:pt x="202" y="14"/>
                      </a:lnTo>
                      <a:lnTo>
                        <a:pt x="208" y="11"/>
                      </a:lnTo>
                      <a:lnTo>
                        <a:pt x="215" y="8"/>
                      </a:lnTo>
                      <a:lnTo>
                        <a:pt x="222" y="7"/>
                      </a:lnTo>
                      <a:lnTo>
                        <a:pt x="230" y="5"/>
                      </a:lnTo>
                      <a:lnTo>
                        <a:pt x="237" y="3"/>
                      </a:lnTo>
                      <a:lnTo>
                        <a:pt x="245" y="3"/>
                      </a:lnTo>
                      <a:lnTo>
                        <a:pt x="252" y="2"/>
                      </a:lnTo>
                      <a:lnTo>
                        <a:pt x="260" y="2"/>
                      </a:lnTo>
                      <a:lnTo>
                        <a:pt x="270" y="1"/>
                      </a:lnTo>
                      <a:lnTo>
                        <a:pt x="278" y="2"/>
                      </a:lnTo>
                      <a:lnTo>
                        <a:pt x="285" y="2"/>
                      </a:lnTo>
                      <a:lnTo>
                        <a:pt x="292" y="2"/>
                      </a:lnTo>
                      <a:lnTo>
                        <a:pt x="299" y="2"/>
                      </a:lnTo>
                      <a:lnTo>
                        <a:pt x="307" y="1"/>
                      </a:lnTo>
                      <a:lnTo>
                        <a:pt x="314" y="0"/>
                      </a:lnTo>
                      <a:lnTo>
                        <a:pt x="310" y="2"/>
                      </a:lnTo>
                      <a:lnTo>
                        <a:pt x="307" y="4"/>
                      </a:lnTo>
                      <a:lnTo>
                        <a:pt x="304" y="7"/>
                      </a:lnTo>
                      <a:lnTo>
                        <a:pt x="301" y="10"/>
                      </a:lnTo>
                      <a:lnTo>
                        <a:pt x="295" y="10"/>
                      </a:lnTo>
                      <a:lnTo>
                        <a:pt x="288" y="11"/>
                      </a:lnTo>
                      <a:lnTo>
                        <a:pt x="284" y="12"/>
                      </a:lnTo>
                      <a:lnTo>
                        <a:pt x="278" y="13"/>
                      </a:lnTo>
                      <a:lnTo>
                        <a:pt x="272" y="15"/>
                      </a:lnTo>
                      <a:lnTo>
                        <a:pt x="266" y="16"/>
                      </a:lnTo>
                      <a:lnTo>
                        <a:pt x="260" y="17"/>
                      </a:lnTo>
                      <a:lnTo>
                        <a:pt x="254" y="19"/>
                      </a:lnTo>
                      <a:lnTo>
                        <a:pt x="248" y="21"/>
                      </a:lnTo>
                      <a:lnTo>
                        <a:pt x="241" y="23"/>
                      </a:lnTo>
                      <a:lnTo>
                        <a:pt x="236" y="26"/>
                      </a:lnTo>
                      <a:lnTo>
                        <a:pt x="229" y="29"/>
                      </a:lnTo>
                      <a:lnTo>
                        <a:pt x="222" y="32"/>
                      </a:lnTo>
                      <a:lnTo>
                        <a:pt x="215" y="36"/>
                      </a:lnTo>
                      <a:lnTo>
                        <a:pt x="208" y="41"/>
                      </a:lnTo>
                      <a:lnTo>
                        <a:pt x="201" y="47"/>
                      </a:lnTo>
                      <a:lnTo>
                        <a:pt x="195" y="55"/>
                      </a:lnTo>
                      <a:lnTo>
                        <a:pt x="189" y="64"/>
                      </a:lnTo>
                      <a:lnTo>
                        <a:pt x="181" y="77"/>
                      </a:lnTo>
                      <a:lnTo>
                        <a:pt x="175" y="90"/>
                      </a:lnTo>
                      <a:lnTo>
                        <a:pt x="167" y="106"/>
                      </a:lnTo>
                      <a:lnTo>
                        <a:pt x="180" y="99"/>
                      </a:lnTo>
                      <a:lnTo>
                        <a:pt x="191" y="94"/>
                      </a:lnTo>
                      <a:lnTo>
                        <a:pt x="206" y="86"/>
                      </a:lnTo>
                      <a:lnTo>
                        <a:pt x="222" y="78"/>
                      </a:lnTo>
                      <a:lnTo>
                        <a:pt x="229" y="77"/>
                      </a:lnTo>
                      <a:lnTo>
                        <a:pt x="236" y="74"/>
                      </a:lnTo>
                      <a:lnTo>
                        <a:pt x="243" y="72"/>
                      </a:lnTo>
                      <a:lnTo>
                        <a:pt x="252" y="70"/>
                      </a:lnTo>
                      <a:lnTo>
                        <a:pt x="261" y="68"/>
                      </a:lnTo>
                      <a:lnTo>
                        <a:pt x="269" y="68"/>
                      </a:lnTo>
                      <a:lnTo>
                        <a:pt x="275" y="67"/>
                      </a:lnTo>
                      <a:lnTo>
                        <a:pt x="285" y="66"/>
                      </a:lnTo>
                      <a:lnTo>
                        <a:pt x="294" y="66"/>
                      </a:lnTo>
                      <a:lnTo>
                        <a:pt x="301" y="67"/>
                      </a:lnTo>
                      <a:lnTo>
                        <a:pt x="311" y="68"/>
                      </a:lnTo>
                      <a:lnTo>
                        <a:pt x="319" y="69"/>
                      </a:lnTo>
                      <a:lnTo>
                        <a:pt x="328" y="69"/>
                      </a:lnTo>
                      <a:lnTo>
                        <a:pt x="336" y="70"/>
                      </a:lnTo>
                      <a:lnTo>
                        <a:pt x="345" y="71"/>
                      </a:lnTo>
                      <a:lnTo>
                        <a:pt x="354" y="72"/>
                      </a:lnTo>
                      <a:lnTo>
                        <a:pt x="363" y="73"/>
                      </a:lnTo>
                      <a:lnTo>
                        <a:pt x="371" y="74"/>
                      </a:lnTo>
                      <a:lnTo>
                        <a:pt x="381" y="75"/>
                      </a:lnTo>
                      <a:lnTo>
                        <a:pt x="392" y="76"/>
                      </a:lnTo>
                      <a:lnTo>
                        <a:pt x="401" y="77"/>
                      </a:lnTo>
                      <a:lnTo>
                        <a:pt x="416" y="79"/>
                      </a:lnTo>
                      <a:lnTo>
                        <a:pt x="421" y="79"/>
                      </a:lnTo>
                      <a:lnTo>
                        <a:pt x="425" y="79"/>
                      </a:lnTo>
                      <a:lnTo>
                        <a:pt x="430" y="81"/>
                      </a:lnTo>
                      <a:lnTo>
                        <a:pt x="439" y="84"/>
                      </a:lnTo>
                      <a:lnTo>
                        <a:pt x="424" y="81"/>
                      </a:lnTo>
                      <a:lnTo>
                        <a:pt x="417" y="80"/>
                      </a:lnTo>
                      <a:lnTo>
                        <a:pt x="411" y="80"/>
                      </a:lnTo>
                      <a:lnTo>
                        <a:pt x="397" y="81"/>
                      </a:lnTo>
                      <a:lnTo>
                        <a:pt x="388" y="82"/>
                      </a:lnTo>
                      <a:lnTo>
                        <a:pt x="377" y="82"/>
                      </a:lnTo>
                      <a:lnTo>
                        <a:pt x="367" y="82"/>
                      </a:lnTo>
                      <a:lnTo>
                        <a:pt x="357" y="83"/>
                      </a:lnTo>
                      <a:lnTo>
                        <a:pt x="348" y="83"/>
                      </a:lnTo>
                      <a:lnTo>
                        <a:pt x="340" y="82"/>
                      </a:lnTo>
                      <a:lnTo>
                        <a:pt x="330" y="82"/>
                      </a:lnTo>
                      <a:lnTo>
                        <a:pt x="319" y="82"/>
                      </a:lnTo>
                      <a:lnTo>
                        <a:pt x="310" y="83"/>
                      </a:lnTo>
                      <a:lnTo>
                        <a:pt x="302" y="84"/>
                      </a:lnTo>
                      <a:lnTo>
                        <a:pt x="292" y="84"/>
                      </a:lnTo>
                      <a:lnTo>
                        <a:pt x="285" y="84"/>
                      </a:lnTo>
                      <a:lnTo>
                        <a:pt x="276" y="85"/>
                      </a:lnTo>
                      <a:lnTo>
                        <a:pt x="269" y="87"/>
                      </a:lnTo>
                      <a:lnTo>
                        <a:pt x="261" y="88"/>
                      </a:lnTo>
                      <a:lnTo>
                        <a:pt x="254" y="90"/>
                      </a:lnTo>
                      <a:lnTo>
                        <a:pt x="246" y="92"/>
                      </a:lnTo>
                      <a:lnTo>
                        <a:pt x="238" y="94"/>
                      </a:lnTo>
                      <a:lnTo>
                        <a:pt x="229" y="96"/>
                      </a:lnTo>
                      <a:lnTo>
                        <a:pt x="222" y="98"/>
                      </a:lnTo>
                      <a:lnTo>
                        <a:pt x="208" y="102"/>
                      </a:lnTo>
                      <a:lnTo>
                        <a:pt x="200" y="103"/>
                      </a:lnTo>
                      <a:lnTo>
                        <a:pt x="189" y="108"/>
                      </a:lnTo>
                      <a:lnTo>
                        <a:pt x="172" y="115"/>
                      </a:lnTo>
                      <a:lnTo>
                        <a:pt x="189" y="117"/>
                      </a:lnTo>
                      <a:lnTo>
                        <a:pt x="209" y="118"/>
                      </a:lnTo>
                      <a:lnTo>
                        <a:pt x="213" y="118"/>
                      </a:lnTo>
                      <a:lnTo>
                        <a:pt x="222" y="123"/>
                      </a:lnTo>
                      <a:lnTo>
                        <a:pt x="228" y="126"/>
                      </a:lnTo>
                      <a:lnTo>
                        <a:pt x="234" y="129"/>
                      </a:lnTo>
                      <a:lnTo>
                        <a:pt x="235" y="131"/>
                      </a:lnTo>
                      <a:lnTo>
                        <a:pt x="238" y="137"/>
                      </a:lnTo>
                      <a:lnTo>
                        <a:pt x="245" y="146"/>
                      </a:lnTo>
                      <a:lnTo>
                        <a:pt x="238" y="142"/>
                      </a:lnTo>
                      <a:lnTo>
                        <a:pt x="229" y="137"/>
                      </a:lnTo>
                      <a:lnTo>
                        <a:pt x="222" y="135"/>
                      </a:lnTo>
                      <a:lnTo>
                        <a:pt x="209" y="132"/>
                      </a:lnTo>
                      <a:lnTo>
                        <a:pt x="199" y="129"/>
                      </a:lnTo>
                      <a:lnTo>
                        <a:pt x="189" y="126"/>
                      </a:lnTo>
                      <a:lnTo>
                        <a:pt x="184" y="125"/>
                      </a:lnTo>
                      <a:lnTo>
                        <a:pt x="172" y="126"/>
                      </a:lnTo>
                      <a:lnTo>
                        <a:pt x="165" y="127"/>
                      </a:lnTo>
                      <a:lnTo>
                        <a:pt x="155" y="129"/>
                      </a:lnTo>
                      <a:lnTo>
                        <a:pt x="160" y="131"/>
                      </a:lnTo>
                      <a:lnTo>
                        <a:pt x="166" y="132"/>
                      </a:lnTo>
                      <a:lnTo>
                        <a:pt x="173" y="136"/>
                      </a:lnTo>
                      <a:lnTo>
                        <a:pt x="181" y="135"/>
                      </a:lnTo>
                      <a:lnTo>
                        <a:pt x="195" y="136"/>
                      </a:lnTo>
                      <a:lnTo>
                        <a:pt x="203" y="137"/>
                      </a:lnTo>
                      <a:lnTo>
                        <a:pt x="215" y="140"/>
                      </a:lnTo>
                      <a:lnTo>
                        <a:pt x="222" y="143"/>
                      </a:lnTo>
                      <a:lnTo>
                        <a:pt x="232" y="145"/>
                      </a:lnTo>
                      <a:lnTo>
                        <a:pt x="242" y="148"/>
                      </a:lnTo>
                      <a:lnTo>
                        <a:pt x="251" y="151"/>
                      </a:lnTo>
                      <a:lnTo>
                        <a:pt x="259" y="152"/>
                      </a:lnTo>
                      <a:lnTo>
                        <a:pt x="266" y="153"/>
                      </a:lnTo>
                      <a:lnTo>
                        <a:pt x="273" y="155"/>
                      </a:lnTo>
                      <a:lnTo>
                        <a:pt x="282" y="157"/>
                      </a:lnTo>
                      <a:lnTo>
                        <a:pt x="291" y="161"/>
                      </a:lnTo>
                      <a:lnTo>
                        <a:pt x="299" y="165"/>
                      </a:lnTo>
                      <a:lnTo>
                        <a:pt x="303" y="169"/>
                      </a:lnTo>
                      <a:lnTo>
                        <a:pt x="309" y="175"/>
                      </a:lnTo>
                      <a:lnTo>
                        <a:pt x="316" y="183"/>
                      </a:lnTo>
                      <a:lnTo>
                        <a:pt x="321" y="190"/>
                      </a:lnTo>
                      <a:lnTo>
                        <a:pt x="326" y="197"/>
                      </a:lnTo>
                      <a:lnTo>
                        <a:pt x="331" y="204"/>
                      </a:lnTo>
                      <a:lnTo>
                        <a:pt x="335" y="212"/>
                      </a:lnTo>
                      <a:lnTo>
                        <a:pt x="340" y="218"/>
                      </a:lnTo>
                      <a:lnTo>
                        <a:pt x="345" y="226"/>
                      </a:lnTo>
                      <a:lnTo>
                        <a:pt x="351" y="234"/>
                      </a:lnTo>
                      <a:lnTo>
                        <a:pt x="356" y="243"/>
                      </a:lnTo>
                      <a:lnTo>
                        <a:pt x="361" y="250"/>
                      </a:lnTo>
                      <a:lnTo>
                        <a:pt x="368" y="258"/>
                      </a:lnTo>
                      <a:lnTo>
                        <a:pt x="359" y="251"/>
                      </a:lnTo>
                      <a:lnTo>
                        <a:pt x="353" y="247"/>
                      </a:lnTo>
                      <a:lnTo>
                        <a:pt x="344" y="242"/>
                      </a:lnTo>
                      <a:lnTo>
                        <a:pt x="336" y="236"/>
                      </a:lnTo>
                      <a:lnTo>
                        <a:pt x="330" y="231"/>
                      </a:lnTo>
                      <a:lnTo>
                        <a:pt x="323" y="226"/>
                      </a:lnTo>
                      <a:lnTo>
                        <a:pt x="317" y="222"/>
                      </a:lnTo>
                      <a:lnTo>
                        <a:pt x="311" y="218"/>
                      </a:lnTo>
                      <a:lnTo>
                        <a:pt x="304" y="214"/>
                      </a:lnTo>
                      <a:lnTo>
                        <a:pt x="297" y="210"/>
                      </a:lnTo>
                      <a:lnTo>
                        <a:pt x="291" y="205"/>
                      </a:lnTo>
                      <a:lnTo>
                        <a:pt x="284" y="200"/>
                      </a:lnTo>
                      <a:lnTo>
                        <a:pt x="275" y="195"/>
                      </a:lnTo>
                      <a:lnTo>
                        <a:pt x="267" y="189"/>
                      </a:lnTo>
                      <a:lnTo>
                        <a:pt x="259" y="183"/>
                      </a:lnTo>
                      <a:lnTo>
                        <a:pt x="252" y="179"/>
                      </a:lnTo>
                      <a:lnTo>
                        <a:pt x="245" y="174"/>
                      </a:lnTo>
                      <a:lnTo>
                        <a:pt x="237" y="170"/>
                      </a:lnTo>
                      <a:lnTo>
                        <a:pt x="229" y="167"/>
                      </a:lnTo>
                      <a:lnTo>
                        <a:pt x="222" y="165"/>
                      </a:lnTo>
                      <a:lnTo>
                        <a:pt x="211" y="162"/>
                      </a:lnTo>
                      <a:lnTo>
                        <a:pt x="201" y="159"/>
                      </a:lnTo>
                      <a:lnTo>
                        <a:pt x="194" y="157"/>
                      </a:lnTo>
                      <a:lnTo>
                        <a:pt x="186" y="155"/>
                      </a:lnTo>
                      <a:lnTo>
                        <a:pt x="175" y="149"/>
                      </a:lnTo>
                      <a:lnTo>
                        <a:pt x="163" y="144"/>
                      </a:lnTo>
                      <a:lnTo>
                        <a:pt x="180" y="155"/>
                      </a:lnTo>
                      <a:lnTo>
                        <a:pt x="182" y="157"/>
                      </a:lnTo>
                      <a:lnTo>
                        <a:pt x="186" y="162"/>
                      </a:lnTo>
                      <a:lnTo>
                        <a:pt x="190" y="168"/>
                      </a:lnTo>
                      <a:lnTo>
                        <a:pt x="195" y="175"/>
                      </a:lnTo>
                      <a:lnTo>
                        <a:pt x="201" y="182"/>
                      </a:lnTo>
                      <a:lnTo>
                        <a:pt x="206" y="189"/>
                      </a:lnTo>
                      <a:lnTo>
                        <a:pt x="212" y="197"/>
                      </a:lnTo>
                      <a:lnTo>
                        <a:pt x="217" y="204"/>
                      </a:lnTo>
                      <a:lnTo>
                        <a:pt x="222" y="210"/>
                      </a:lnTo>
                      <a:lnTo>
                        <a:pt x="227" y="217"/>
                      </a:lnTo>
                      <a:lnTo>
                        <a:pt x="233" y="227"/>
                      </a:lnTo>
                      <a:lnTo>
                        <a:pt x="238" y="234"/>
                      </a:lnTo>
                      <a:lnTo>
                        <a:pt x="242" y="241"/>
                      </a:lnTo>
                      <a:lnTo>
                        <a:pt x="246" y="248"/>
                      </a:lnTo>
                      <a:lnTo>
                        <a:pt x="250" y="255"/>
                      </a:lnTo>
                      <a:lnTo>
                        <a:pt x="252" y="262"/>
                      </a:lnTo>
                      <a:lnTo>
                        <a:pt x="254" y="267"/>
                      </a:lnTo>
                      <a:lnTo>
                        <a:pt x="256" y="275"/>
                      </a:lnTo>
                      <a:lnTo>
                        <a:pt x="257" y="285"/>
                      </a:lnTo>
                      <a:lnTo>
                        <a:pt x="258" y="294"/>
                      </a:lnTo>
                      <a:lnTo>
                        <a:pt x="259" y="304"/>
                      </a:lnTo>
                      <a:lnTo>
                        <a:pt x="261" y="313"/>
                      </a:lnTo>
                      <a:lnTo>
                        <a:pt x="262" y="323"/>
                      </a:lnTo>
                      <a:lnTo>
                        <a:pt x="255" y="313"/>
                      </a:lnTo>
                      <a:lnTo>
                        <a:pt x="249" y="307"/>
                      </a:lnTo>
                      <a:lnTo>
                        <a:pt x="245" y="300"/>
                      </a:lnTo>
                      <a:lnTo>
                        <a:pt x="241" y="295"/>
                      </a:lnTo>
                      <a:lnTo>
                        <a:pt x="238" y="288"/>
                      </a:lnTo>
                      <a:lnTo>
                        <a:pt x="236" y="280"/>
                      </a:lnTo>
                      <a:lnTo>
                        <a:pt x="232" y="271"/>
                      </a:lnTo>
                      <a:lnTo>
                        <a:pt x="228" y="263"/>
                      </a:lnTo>
                      <a:lnTo>
                        <a:pt x="224" y="254"/>
                      </a:lnTo>
                      <a:lnTo>
                        <a:pt x="221" y="246"/>
                      </a:lnTo>
                      <a:lnTo>
                        <a:pt x="217" y="238"/>
                      </a:lnTo>
                      <a:lnTo>
                        <a:pt x="212" y="232"/>
                      </a:lnTo>
                      <a:lnTo>
                        <a:pt x="208" y="226"/>
                      </a:lnTo>
                      <a:lnTo>
                        <a:pt x="202" y="218"/>
                      </a:lnTo>
                      <a:lnTo>
                        <a:pt x="196" y="211"/>
                      </a:lnTo>
                      <a:lnTo>
                        <a:pt x="191" y="205"/>
                      </a:lnTo>
                      <a:lnTo>
                        <a:pt x="186" y="199"/>
                      </a:lnTo>
                      <a:lnTo>
                        <a:pt x="185" y="194"/>
                      </a:lnTo>
                      <a:lnTo>
                        <a:pt x="181" y="185"/>
                      </a:lnTo>
                      <a:lnTo>
                        <a:pt x="177" y="179"/>
                      </a:lnTo>
                      <a:lnTo>
                        <a:pt x="174" y="171"/>
                      </a:lnTo>
                      <a:lnTo>
                        <a:pt x="172" y="169"/>
                      </a:lnTo>
                      <a:lnTo>
                        <a:pt x="165" y="162"/>
                      </a:lnTo>
                      <a:lnTo>
                        <a:pt x="161" y="155"/>
                      </a:lnTo>
                      <a:lnTo>
                        <a:pt x="157" y="149"/>
                      </a:lnTo>
                      <a:lnTo>
                        <a:pt x="153" y="143"/>
                      </a:lnTo>
                      <a:lnTo>
                        <a:pt x="145" y="146"/>
                      </a:lnTo>
                      <a:lnTo>
                        <a:pt x="137" y="151"/>
                      </a:lnTo>
                      <a:lnTo>
                        <a:pt x="129" y="158"/>
                      </a:lnTo>
                      <a:lnTo>
                        <a:pt x="121" y="164"/>
                      </a:lnTo>
                      <a:lnTo>
                        <a:pt x="115" y="170"/>
                      </a:lnTo>
                      <a:lnTo>
                        <a:pt x="110" y="176"/>
                      </a:lnTo>
                      <a:lnTo>
                        <a:pt x="104" y="185"/>
                      </a:lnTo>
                      <a:lnTo>
                        <a:pt x="97" y="195"/>
                      </a:lnTo>
                      <a:lnTo>
                        <a:pt x="92" y="203"/>
                      </a:lnTo>
                      <a:lnTo>
                        <a:pt x="85" y="212"/>
                      </a:lnTo>
                      <a:lnTo>
                        <a:pt x="80" y="221"/>
                      </a:lnTo>
                      <a:lnTo>
                        <a:pt x="76" y="229"/>
                      </a:lnTo>
                      <a:lnTo>
                        <a:pt x="71" y="237"/>
                      </a:lnTo>
                      <a:lnTo>
                        <a:pt x="67" y="245"/>
                      </a:lnTo>
                      <a:lnTo>
                        <a:pt x="62" y="254"/>
                      </a:lnTo>
                      <a:lnTo>
                        <a:pt x="58" y="263"/>
                      </a:lnTo>
                      <a:lnTo>
                        <a:pt x="51" y="273"/>
                      </a:lnTo>
                      <a:lnTo>
                        <a:pt x="45" y="283"/>
                      </a:lnTo>
                      <a:lnTo>
                        <a:pt x="38" y="294"/>
                      </a:lnTo>
                      <a:lnTo>
                        <a:pt x="33" y="303"/>
                      </a:lnTo>
                      <a:lnTo>
                        <a:pt x="28" y="309"/>
                      </a:lnTo>
                      <a:lnTo>
                        <a:pt x="24" y="315"/>
                      </a:lnTo>
                      <a:lnTo>
                        <a:pt x="18" y="321"/>
                      </a:lnTo>
                      <a:lnTo>
                        <a:pt x="13" y="327"/>
                      </a:lnTo>
                      <a:lnTo>
                        <a:pt x="7" y="333"/>
                      </a:lnTo>
                      <a:lnTo>
                        <a:pt x="0" y="341"/>
                      </a:lnTo>
                      <a:lnTo>
                        <a:pt x="2" y="331"/>
                      </a:lnTo>
                      <a:lnTo>
                        <a:pt x="5" y="324"/>
                      </a:lnTo>
                      <a:lnTo>
                        <a:pt x="8" y="315"/>
                      </a:lnTo>
                      <a:lnTo>
                        <a:pt x="13" y="309"/>
                      </a:lnTo>
                      <a:lnTo>
                        <a:pt x="20" y="298"/>
                      </a:lnTo>
                      <a:lnTo>
                        <a:pt x="27" y="287"/>
                      </a:lnTo>
                      <a:lnTo>
                        <a:pt x="35" y="275"/>
                      </a:lnTo>
                      <a:lnTo>
                        <a:pt x="41" y="265"/>
                      </a:lnTo>
                      <a:lnTo>
                        <a:pt x="47" y="255"/>
                      </a:lnTo>
                      <a:lnTo>
                        <a:pt x="54" y="246"/>
                      </a:lnTo>
                      <a:lnTo>
                        <a:pt x="59" y="238"/>
                      </a:lnTo>
                      <a:lnTo>
                        <a:pt x="64" y="231"/>
                      </a:lnTo>
                      <a:lnTo>
                        <a:pt x="69" y="224"/>
                      </a:lnTo>
                      <a:lnTo>
                        <a:pt x="76" y="216"/>
                      </a:lnTo>
                      <a:lnTo>
                        <a:pt x="82" y="208"/>
                      </a:lnTo>
                      <a:lnTo>
                        <a:pt x="88" y="199"/>
                      </a:lnTo>
                      <a:lnTo>
                        <a:pt x="95" y="190"/>
                      </a:lnTo>
                      <a:lnTo>
                        <a:pt x="100" y="183"/>
                      </a:lnTo>
                      <a:lnTo>
                        <a:pt x="105" y="175"/>
                      </a:lnTo>
                      <a:lnTo>
                        <a:pt x="110" y="167"/>
                      </a:lnTo>
                      <a:lnTo>
                        <a:pt x="112" y="162"/>
                      </a:lnTo>
                      <a:lnTo>
                        <a:pt x="114" y="156"/>
                      </a:lnTo>
                      <a:lnTo>
                        <a:pt x="118" y="151"/>
                      </a:lnTo>
                      <a:lnTo>
                        <a:pt x="122" y="145"/>
                      </a:lnTo>
                      <a:lnTo>
                        <a:pt x="129" y="138"/>
                      </a:lnTo>
                      <a:lnTo>
                        <a:pt x="134" y="131"/>
                      </a:lnTo>
                      <a:lnTo>
                        <a:pt x="139" y="126"/>
                      </a:lnTo>
                      <a:lnTo>
                        <a:pt x="143" y="119"/>
                      </a:lnTo>
                      <a:lnTo>
                        <a:pt x="141" y="114"/>
                      </a:lnTo>
                      <a:lnTo>
                        <a:pt x="139" y="106"/>
                      </a:lnTo>
                      <a:lnTo>
                        <a:pt x="127" y="102"/>
                      </a:lnTo>
                      <a:lnTo>
                        <a:pt x="113" y="92"/>
                      </a:lnTo>
                      <a:lnTo>
                        <a:pt x="99" y="83"/>
                      </a:lnTo>
                      <a:lnTo>
                        <a:pt x="92" y="78"/>
                      </a:lnTo>
                      <a:lnTo>
                        <a:pt x="86" y="74"/>
                      </a:lnTo>
                      <a:lnTo>
                        <a:pt x="75" y="70"/>
                      </a:lnTo>
                      <a:lnTo>
                        <a:pt x="64" y="66"/>
                      </a:lnTo>
                      <a:lnTo>
                        <a:pt x="52" y="63"/>
                      </a:lnTo>
                      <a:lnTo>
                        <a:pt x="43" y="60"/>
                      </a:lnTo>
                      <a:lnTo>
                        <a:pt x="33" y="56"/>
                      </a:lnTo>
                      <a:lnTo>
                        <a:pt x="24" y="53"/>
                      </a:lnTo>
                      <a:lnTo>
                        <a:pt x="15" y="51"/>
                      </a:lnTo>
                      <a:lnTo>
                        <a:pt x="8" y="49"/>
                      </a:lnTo>
                      <a:lnTo>
                        <a:pt x="15" y="49"/>
                      </a:lnTo>
                      <a:lnTo>
                        <a:pt x="20" y="47"/>
                      </a:lnTo>
                      <a:lnTo>
                        <a:pt x="25" y="47"/>
                      </a:lnTo>
                      <a:lnTo>
                        <a:pt x="29" y="46"/>
                      </a:lnTo>
                      <a:lnTo>
                        <a:pt x="34" y="47"/>
                      </a:lnTo>
                      <a:lnTo>
                        <a:pt x="45" y="51"/>
                      </a:lnTo>
                      <a:lnTo>
                        <a:pt x="53" y="56"/>
                      </a:lnTo>
                      <a:lnTo>
                        <a:pt x="63" y="61"/>
                      </a:lnTo>
                      <a:lnTo>
                        <a:pt x="72" y="66"/>
                      </a:lnTo>
                      <a:lnTo>
                        <a:pt x="84" y="71"/>
                      </a:lnTo>
                      <a:lnTo>
                        <a:pt x="93" y="77"/>
                      </a:lnTo>
                      <a:lnTo>
                        <a:pt x="101" y="81"/>
                      </a:lnTo>
                      <a:lnTo>
                        <a:pt x="115" y="88"/>
                      </a:lnTo>
                      <a:lnTo>
                        <a:pt x="122" y="90"/>
                      </a:lnTo>
                      <a:lnTo>
                        <a:pt x="128" y="89"/>
                      </a:lnTo>
                      <a:lnTo>
                        <a:pt x="133" y="88"/>
                      </a:lnTo>
                      <a:lnTo>
                        <a:pt x="138" y="87"/>
                      </a:lnTo>
                    </a:path>
                  </a:pathLst>
                </a:custGeom>
                <a:solidFill>
                  <a:srgbClr val="037C03">
                    <a:alpha val="50195"/>
                  </a:srgbClr>
                </a:solidFill>
                <a:ln w="9525">
                  <a:noFill/>
                </a:ln>
              </p:spPr>
              <p:txBody>
                <a:bodyPr/>
                <a:lstStyle/>
                <a:p>
                  <a:endParaRPr lang="zh-CN" altLang="en-US"/>
                </a:p>
              </p:txBody>
            </p:sp>
            <p:sp>
              <p:nvSpPr>
                <p:cNvPr id="89254" name="Freeform 81"/>
                <p:cNvSpPr/>
                <p:nvPr/>
              </p:nvSpPr>
              <p:spPr>
                <a:xfrm>
                  <a:off x="1900" y="1641"/>
                  <a:ext cx="39" cy="193"/>
                </a:xfrm>
                <a:custGeom>
                  <a:avLst/>
                  <a:gdLst>
                    <a:gd name="txL" fmla="*/ 0 w 39"/>
                    <a:gd name="txT" fmla="*/ 0 h 193"/>
                    <a:gd name="txR" fmla="*/ 39 w 39"/>
                    <a:gd name="txB" fmla="*/ 193 h 193"/>
                  </a:gdLst>
                  <a:ahLst/>
                  <a:cxnLst>
                    <a:cxn ang="0">
                      <a:pos x="20" y="0"/>
                    </a:cxn>
                    <a:cxn ang="0">
                      <a:pos x="25" y="9"/>
                    </a:cxn>
                    <a:cxn ang="0">
                      <a:pos x="28" y="15"/>
                    </a:cxn>
                    <a:cxn ang="0">
                      <a:pos x="34" y="24"/>
                    </a:cxn>
                    <a:cxn ang="0">
                      <a:pos x="36" y="33"/>
                    </a:cxn>
                    <a:cxn ang="0">
                      <a:pos x="37" y="43"/>
                    </a:cxn>
                    <a:cxn ang="0">
                      <a:pos x="37" y="56"/>
                    </a:cxn>
                    <a:cxn ang="0">
                      <a:pos x="38" y="64"/>
                    </a:cxn>
                    <a:cxn ang="0">
                      <a:pos x="37" y="75"/>
                    </a:cxn>
                    <a:cxn ang="0">
                      <a:pos x="36" y="86"/>
                    </a:cxn>
                    <a:cxn ang="0">
                      <a:pos x="34" y="97"/>
                    </a:cxn>
                    <a:cxn ang="0">
                      <a:pos x="31" y="113"/>
                    </a:cxn>
                    <a:cxn ang="0">
                      <a:pos x="29" y="122"/>
                    </a:cxn>
                    <a:cxn ang="0">
                      <a:pos x="24" y="132"/>
                    </a:cxn>
                    <a:cxn ang="0">
                      <a:pos x="18" y="144"/>
                    </a:cxn>
                    <a:cxn ang="0">
                      <a:pos x="12" y="155"/>
                    </a:cxn>
                    <a:cxn ang="0">
                      <a:pos x="7" y="165"/>
                    </a:cxn>
                    <a:cxn ang="0">
                      <a:pos x="3" y="174"/>
                    </a:cxn>
                    <a:cxn ang="0">
                      <a:pos x="0" y="192"/>
                    </a:cxn>
                    <a:cxn ang="0">
                      <a:pos x="1" y="174"/>
                    </a:cxn>
                    <a:cxn ang="0">
                      <a:pos x="3" y="162"/>
                    </a:cxn>
                    <a:cxn ang="0">
                      <a:pos x="4" y="151"/>
                    </a:cxn>
                    <a:cxn ang="0">
                      <a:pos x="5" y="139"/>
                    </a:cxn>
                    <a:cxn ang="0">
                      <a:pos x="7" y="124"/>
                    </a:cxn>
                    <a:cxn ang="0">
                      <a:pos x="10" y="113"/>
                    </a:cxn>
                    <a:cxn ang="0">
                      <a:pos x="12" y="102"/>
                    </a:cxn>
                    <a:cxn ang="0">
                      <a:pos x="15" y="93"/>
                    </a:cxn>
                    <a:cxn ang="0">
                      <a:pos x="18" y="82"/>
                    </a:cxn>
                    <a:cxn ang="0">
                      <a:pos x="20" y="72"/>
                    </a:cxn>
                    <a:cxn ang="0">
                      <a:pos x="22" y="61"/>
                    </a:cxn>
                    <a:cxn ang="0">
                      <a:pos x="23" y="52"/>
                    </a:cxn>
                    <a:cxn ang="0">
                      <a:pos x="24" y="41"/>
                    </a:cxn>
                    <a:cxn ang="0">
                      <a:pos x="24" y="30"/>
                    </a:cxn>
                    <a:cxn ang="0">
                      <a:pos x="24" y="15"/>
                    </a:cxn>
                    <a:cxn ang="0">
                      <a:pos x="22" y="8"/>
                    </a:cxn>
                    <a:cxn ang="0">
                      <a:pos x="20" y="0"/>
                    </a:cxn>
                  </a:cxnLst>
                  <a:rect l="txL" t="txT" r="txR" b="txB"/>
                  <a:pathLst>
                    <a:path w="39" h="193">
                      <a:moveTo>
                        <a:pt x="20" y="0"/>
                      </a:moveTo>
                      <a:lnTo>
                        <a:pt x="25" y="9"/>
                      </a:lnTo>
                      <a:lnTo>
                        <a:pt x="28" y="15"/>
                      </a:lnTo>
                      <a:lnTo>
                        <a:pt x="34" y="24"/>
                      </a:lnTo>
                      <a:lnTo>
                        <a:pt x="36" y="33"/>
                      </a:lnTo>
                      <a:lnTo>
                        <a:pt x="37" y="43"/>
                      </a:lnTo>
                      <a:lnTo>
                        <a:pt x="37" y="56"/>
                      </a:lnTo>
                      <a:lnTo>
                        <a:pt x="38" y="64"/>
                      </a:lnTo>
                      <a:lnTo>
                        <a:pt x="37" y="75"/>
                      </a:lnTo>
                      <a:lnTo>
                        <a:pt x="36" y="86"/>
                      </a:lnTo>
                      <a:lnTo>
                        <a:pt x="34" y="97"/>
                      </a:lnTo>
                      <a:lnTo>
                        <a:pt x="31" y="113"/>
                      </a:lnTo>
                      <a:lnTo>
                        <a:pt x="29" y="122"/>
                      </a:lnTo>
                      <a:lnTo>
                        <a:pt x="24" y="132"/>
                      </a:lnTo>
                      <a:lnTo>
                        <a:pt x="18" y="144"/>
                      </a:lnTo>
                      <a:lnTo>
                        <a:pt x="12" y="155"/>
                      </a:lnTo>
                      <a:lnTo>
                        <a:pt x="7" y="165"/>
                      </a:lnTo>
                      <a:lnTo>
                        <a:pt x="3" y="174"/>
                      </a:lnTo>
                      <a:lnTo>
                        <a:pt x="0" y="192"/>
                      </a:lnTo>
                      <a:lnTo>
                        <a:pt x="1" y="174"/>
                      </a:lnTo>
                      <a:lnTo>
                        <a:pt x="3" y="162"/>
                      </a:lnTo>
                      <a:lnTo>
                        <a:pt x="4" y="151"/>
                      </a:lnTo>
                      <a:lnTo>
                        <a:pt x="5" y="139"/>
                      </a:lnTo>
                      <a:lnTo>
                        <a:pt x="7" y="124"/>
                      </a:lnTo>
                      <a:lnTo>
                        <a:pt x="10" y="113"/>
                      </a:lnTo>
                      <a:lnTo>
                        <a:pt x="12" y="102"/>
                      </a:lnTo>
                      <a:lnTo>
                        <a:pt x="15" y="93"/>
                      </a:lnTo>
                      <a:lnTo>
                        <a:pt x="18" y="82"/>
                      </a:lnTo>
                      <a:lnTo>
                        <a:pt x="20" y="72"/>
                      </a:lnTo>
                      <a:lnTo>
                        <a:pt x="22" y="61"/>
                      </a:lnTo>
                      <a:lnTo>
                        <a:pt x="23" y="52"/>
                      </a:lnTo>
                      <a:lnTo>
                        <a:pt x="24" y="41"/>
                      </a:lnTo>
                      <a:lnTo>
                        <a:pt x="24" y="30"/>
                      </a:lnTo>
                      <a:lnTo>
                        <a:pt x="24" y="15"/>
                      </a:lnTo>
                      <a:lnTo>
                        <a:pt x="22" y="8"/>
                      </a:lnTo>
                      <a:lnTo>
                        <a:pt x="20" y="0"/>
                      </a:lnTo>
                    </a:path>
                  </a:pathLst>
                </a:custGeom>
                <a:solidFill>
                  <a:srgbClr val="037C03">
                    <a:alpha val="50195"/>
                  </a:srgbClr>
                </a:solidFill>
                <a:ln w="9525">
                  <a:noFill/>
                </a:ln>
              </p:spPr>
              <p:txBody>
                <a:bodyPr/>
                <a:lstStyle/>
                <a:p>
                  <a:endParaRPr lang="zh-CN" altLang="en-US"/>
                </a:p>
              </p:txBody>
            </p:sp>
            <p:sp>
              <p:nvSpPr>
                <p:cNvPr id="89255" name="Freeform 82"/>
                <p:cNvSpPr/>
                <p:nvPr/>
              </p:nvSpPr>
              <p:spPr>
                <a:xfrm>
                  <a:off x="1716" y="1535"/>
                  <a:ext cx="171" cy="50"/>
                </a:xfrm>
                <a:custGeom>
                  <a:avLst/>
                  <a:gdLst>
                    <a:gd name="txL" fmla="*/ 0 w 171"/>
                    <a:gd name="txT" fmla="*/ 0 h 50"/>
                    <a:gd name="txR" fmla="*/ 171 w 171"/>
                    <a:gd name="txB" fmla="*/ 50 h 50"/>
                  </a:gdLst>
                  <a:ahLst/>
                  <a:cxnLst>
                    <a:cxn ang="0">
                      <a:pos x="170" y="49"/>
                    </a:cxn>
                    <a:cxn ang="0">
                      <a:pos x="167" y="40"/>
                    </a:cxn>
                    <a:cxn ang="0">
                      <a:pos x="163" y="33"/>
                    </a:cxn>
                    <a:cxn ang="0">
                      <a:pos x="160" y="31"/>
                    </a:cxn>
                    <a:cxn ang="0">
                      <a:pos x="153" y="29"/>
                    </a:cxn>
                    <a:cxn ang="0">
                      <a:pos x="147" y="27"/>
                    </a:cxn>
                    <a:cxn ang="0">
                      <a:pos x="140" y="29"/>
                    </a:cxn>
                    <a:cxn ang="0">
                      <a:pos x="132" y="30"/>
                    </a:cxn>
                    <a:cxn ang="0">
                      <a:pos x="123" y="27"/>
                    </a:cxn>
                    <a:cxn ang="0">
                      <a:pos x="111" y="22"/>
                    </a:cxn>
                    <a:cxn ang="0">
                      <a:pos x="100" y="18"/>
                    </a:cxn>
                    <a:cxn ang="0">
                      <a:pos x="92" y="16"/>
                    </a:cxn>
                    <a:cxn ang="0">
                      <a:pos x="80" y="12"/>
                    </a:cxn>
                    <a:cxn ang="0">
                      <a:pos x="67" y="8"/>
                    </a:cxn>
                    <a:cxn ang="0">
                      <a:pos x="55" y="5"/>
                    </a:cxn>
                    <a:cxn ang="0">
                      <a:pos x="42" y="1"/>
                    </a:cxn>
                    <a:cxn ang="0">
                      <a:pos x="28" y="1"/>
                    </a:cxn>
                    <a:cxn ang="0">
                      <a:pos x="15" y="0"/>
                    </a:cxn>
                    <a:cxn ang="0">
                      <a:pos x="12" y="1"/>
                    </a:cxn>
                    <a:cxn ang="0">
                      <a:pos x="7" y="4"/>
                    </a:cxn>
                    <a:cxn ang="0">
                      <a:pos x="3" y="7"/>
                    </a:cxn>
                    <a:cxn ang="0">
                      <a:pos x="0" y="11"/>
                    </a:cxn>
                    <a:cxn ang="0">
                      <a:pos x="5" y="11"/>
                    </a:cxn>
                    <a:cxn ang="0">
                      <a:pos x="12" y="12"/>
                    </a:cxn>
                    <a:cxn ang="0">
                      <a:pos x="19" y="12"/>
                    </a:cxn>
                    <a:cxn ang="0">
                      <a:pos x="23" y="11"/>
                    </a:cxn>
                    <a:cxn ang="0">
                      <a:pos x="30" y="11"/>
                    </a:cxn>
                    <a:cxn ang="0">
                      <a:pos x="39" y="11"/>
                    </a:cxn>
                    <a:cxn ang="0">
                      <a:pos x="51" y="11"/>
                    </a:cxn>
                    <a:cxn ang="0">
                      <a:pos x="61" y="12"/>
                    </a:cxn>
                    <a:cxn ang="0">
                      <a:pos x="71" y="14"/>
                    </a:cxn>
                    <a:cxn ang="0">
                      <a:pos x="81" y="15"/>
                    </a:cxn>
                    <a:cxn ang="0">
                      <a:pos x="91" y="16"/>
                    </a:cxn>
                    <a:cxn ang="0">
                      <a:pos x="99" y="19"/>
                    </a:cxn>
                    <a:cxn ang="0">
                      <a:pos x="108" y="23"/>
                    </a:cxn>
                    <a:cxn ang="0">
                      <a:pos x="116" y="27"/>
                    </a:cxn>
                    <a:cxn ang="0">
                      <a:pos x="125" y="31"/>
                    </a:cxn>
                    <a:cxn ang="0">
                      <a:pos x="129" y="32"/>
                    </a:cxn>
                    <a:cxn ang="0">
                      <a:pos x="134" y="31"/>
                    </a:cxn>
                    <a:cxn ang="0">
                      <a:pos x="140" y="34"/>
                    </a:cxn>
                    <a:cxn ang="0">
                      <a:pos x="146" y="37"/>
                    </a:cxn>
                    <a:cxn ang="0">
                      <a:pos x="152" y="40"/>
                    </a:cxn>
                    <a:cxn ang="0">
                      <a:pos x="161" y="44"/>
                    </a:cxn>
                    <a:cxn ang="0">
                      <a:pos x="167" y="46"/>
                    </a:cxn>
                    <a:cxn ang="0">
                      <a:pos x="170" y="49"/>
                    </a:cxn>
                  </a:cxnLst>
                  <a:rect l="txL" t="txT" r="txR" b="txB"/>
                  <a:pathLst>
                    <a:path w="171" h="50">
                      <a:moveTo>
                        <a:pt x="170" y="49"/>
                      </a:moveTo>
                      <a:lnTo>
                        <a:pt x="167" y="40"/>
                      </a:lnTo>
                      <a:lnTo>
                        <a:pt x="163" y="33"/>
                      </a:lnTo>
                      <a:lnTo>
                        <a:pt x="160" y="31"/>
                      </a:lnTo>
                      <a:lnTo>
                        <a:pt x="153" y="29"/>
                      </a:lnTo>
                      <a:lnTo>
                        <a:pt x="147" y="27"/>
                      </a:lnTo>
                      <a:lnTo>
                        <a:pt x="140" y="29"/>
                      </a:lnTo>
                      <a:lnTo>
                        <a:pt x="132" y="30"/>
                      </a:lnTo>
                      <a:lnTo>
                        <a:pt x="123" y="27"/>
                      </a:lnTo>
                      <a:lnTo>
                        <a:pt x="111" y="22"/>
                      </a:lnTo>
                      <a:lnTo>
                        <a:pt x="100" y="18"/>
                      </a:lnTo>
                      <a:lnTo>
                        <a:pt x="92" y="16"/>
                      </a:lnTo>
                      <a:lnTo>
                        <a:pt x="80" y="12"/>
                      </a:lnTo>
                      <a:lnTo>
                        <a:pt x="67" y="8"/>
                      </a:lnTo>
                      <a:lnTo>
                        <a:pt x="55" y="5"/>
                      </a:lnTo>
                      <a:lnTo>
                        <a:pt x="42" y="1"/>
                      </a:lnTo>
                      <a:lnTo>
                        <a:pt x="28" y="1"/>
                      </a:lnTo>
                      <a:lnTo>
                        <a:pt x="15" y="0"/>
                      </a:lnTo>
                      <a:lnTo>
                        <a:pt x="12" y="1"/>
                      </a:lnTo>
                      <a:lnTo>
                        <a:pt x="7" y="4"/>
                      </a:lnTo>
                      <a:lnTo>
                        <a:pt x="3" y="7"/>
                      </a:lnTo>
                      <a:lnTo>
                        <a:pt x="0" y="11"/>
                      </a:lnTo>
                      <a:lnTo>
                        <a:pt x="5" y="11"/>
                      </a:lnTo>
                      <a:lnTo>
                        <a:pt x="12" y="12"/>
                      </a:lnTo>
                      <a:lnTo>
                        <a:pt x="19" y="12"/>
                      </a:lnTo>
                      <a:lnTo>
                        <a:pt x="23" y="11"/>
                      </a:lnTo>
                      <a:lnTo>
                        <a:pt x="30" y="11"/>
                      </a:lnTo>
                      <a:lnTo>
                        <a:pt x="39" y="11"/>
                      </a:lnTo>
                      <a:lnTo>
                        <a:pt x="51" y="11"/>
                      </a:lnTo>
                      <a:lnTo>
                        <a:pt x="61" y="12"/>
                      </a:lnTo>
                      <a:lnTo>
                        <a:pt x="71" y="14"/>
                      </a:lnTo>
                      <a:lnTo>
                        <a:pt x="81" y="15"/>
                      </a:lnTo>
                      <a:lnTo>
                        <a:pt x="91" y="16"/>
                      </a:lnTo>
                      <a:lnTo>
                        <a:pt x="99" y="19"/>
                      </a:lnTo>
                      <a:lnTo>
                        <a:pt x="108" y="23"/>
                      </a:lnTo>
                      <a:lnTo>
                        <a:pt x="116" y="27"/>
                      </a:lnTo>
                      <a:lnTo>
                        <a:pt x="125" y="31"/>
                      </a:lnTo>
                      <a:lnTo>
                        <a:pt x="129" y="32"/>
                      </a:lnTo>
                      <a:lnTo>
                        <a:pt x="134" y="31"/>
                      </a:lnTo>
                      <a:lnTo>
                        <a:pt x="140" y="34"/>
                      </a:lnTo>
                      <a:lnTo>
                        <a:pt x="146" y="37"/>
                      </a:lnTo>
                      <a:lnTo>
                        <a:pt x="152" y="40"/>
                      </a:lnTo>
                      <a:lnTo>
                        <a:pt x="161" y="44"/>
                      </a:lnTo>
                      <a:lnTo>
                        <a:pt x="167" y="46"/>
                      </a:lnTo>
                      <a:lnTo>
                        <a:pt x="170" y="49"/>
                      </a:lnTo>
                    </a:path>
                  </a:pathLst>
                </a:custGeom>
                <a:solidFill>
                  <a:srgbClr val="037C03">
                    <a:alpha val="50195"/>
                  </a:srgbClr>
                </a:solidFill>
                <a:ln w="9525">
                  <a:noFill/>
                </a:ln>
              </p:spPr>
              <p:txBody>
                <a:bodyPr/>
                <a:lstStyle/>
                <a:p>
                  <a:endParaRPr lang="zh-CN" altLang="en-US"/>
                </a:p>
              </p:txBody>
            </p:sp>
            <p:sp>
              <p:nvSpPr>
                <p:cNvPr id="89256" name="Freeform 83"/>
                <p:cNvSpPr/>
                <p:nvPr/>
              </p:nvSpPr>
              <p:spPr>
                <a:xfrm>
                  <a:off x="1707" y="1563"/>
                  <a:ext cx="177" cy="21"/>
                </a:xfrm>
                <a:custGeom>
                  <a:avLst/>
                  <a:gdLst>
                    <a:gd name="txL" fmla="*/ 0 w 177"/>
                    <a:gd name="txT" fmla="*/ 0 h 21"/>
                    <a:gd name="txR" fmla="*/ 177 w 177"/>
                    <a:gd name="txB" fmla="*/ 21 h 21"/>
                  </a:gdLst>
                  <a:ahLst/>
                  <a:cxnLst>
                    <a:cxn ang="0">
                      <a:pos x="176" y="20"/>
                    </a:cxn>
                    <a:cxn ang="0">
                      <a:pos x="171" y="18"/>
                    </a:cxn>
                    <a:cxn ang="0">
                      <a:pos x="166" y="16"/>
                    </a:cxn>
                    <a:cxn ang="0">
                      <a:pos x="161" y="13"/>
                    </a:cxn>
                    <a:cxn ang="0">
                      <a:pos x="155" y="12"/>
                    </a:cxn>
                    <a:cxn ang="0">
                      <a:pos x="149" y="10"/>
                    </a:cxn>
                    <a:cxn ang="0">
                      <a:pos x="141" y="6"/>
                    </a:cxn>
                    <a:cxn ang="0">
                      <a:pos x="134" y="3"/>
                    </a:cxn>
                    <a:cxn ang="0">
                      <a:pos x="128" y="2"/>
                    </a:cxn>
                    <a:cxn ang="0">
                      <a:pos x="120" y="3"/>
                    </a:cxn>
                    <a:cxn ang="0">
                      <a:pos x="110" y="5"/>
                    </a:cxn>
                    <a:cxn ang="0">
                      <a:pos x="106" y="5"/>
                    </a:cxn>
                    <a:cxn ang="0">
                      <a:pos x="93" y="3"/>
                    </a:cxn>
                    <a:cxn ang="0">
                      <a:pos x="78" y="1"/>
                    </a:cxn>
                    <a:cxn ang="0">
                      <a:pos x="69" y="0"/>
                    </a:cxn>
                    <a:cxn ang="0">
                      <a:pos x="57" y="0"/>
                    </a:cxn>
                    <a:cxn ang="0">
                      <a:pos x="44" y="0"/>
                    </a:cxn>
                    <a:cxn ang="0">
                      <a:pos x="36" y="1"/>
                    </a:cxn>
                    <a:cxn ang="0">
                      <a:pos x="27" y="2"/>
                    </a:cxn>
                    <a:cxn ang="0">
                      <a:pos x="18" y="3"/>
                    </a:cxn>
                    <a:cxn ang="0">
                      <a:pos x="9" y="4"/>
                    </a:cxn>
                    <a:cxn ang="0">
                      <a:pos x="8" y="8"/>
                    </a:cxn>
                    <a:cxn ang="0">
                      <a:pos x="7" y="11"/>
                    </a:cxn>
                    <a:cxn ang="0">
                      <a:pos x="4" y="15"/>
                    </a:cxn>
                    <a:cxn ang="0">
                      <a:pos x="0" y="17"/>
                    </a:cxn>
                    <a:cxn ang="0">
                      <a:pos x="7" y="16"/>
                    </a:cxn>
                    <a:cxn ang="0">
                      <a:pos x="15" y="14"/>
                    </a:cxn>
                    <a:cxn ang="0">
                      <a:pos x="22" y="12"/>
                    </a:cxn>
                    <a:cxn ang="0">
                      <a:pos x="29" y="11"/>
                    </a:cxn>
                    <a:cxn ang="0">
                      <a:pos x="37" y="10"/>
                    </a:cxn>
                    <a:cxn ang="0">
                      <a:pos x="50" y="10"/>
                    </a:cxn>
                    <a:cxn ang="0">
                      <a:pos x="63" y="8"/>
                    </a:cxn>
                    <a:cxn ang="0">
                      <a:pos x="79" y="8"/>
                    </a:cxn>
                    <a:cxn ang="0">
                      <a:pos x="94" y="7"/>
                    </a:cxn>
                    <a:cxn ang="0">
                      <a:pos x="108" y="6"/>
                    </a:cxn>
                    <a:cxn ang="0">
                      <a:pos x="120" y="7"/>
                    </a:cxn>
                    <a:cxn ang="0">
                      <a:pos x="129" y="10"/>
                    </a:cxn>
                    <a:cxn ang="0">
                      <a:pos x="138" y="12"/>
                    </a:cxn>
                    <a:cxn ang="0">
                      <a:pos x="148" y="14"/>
                    </a:cxn>
                    <a:cxn ang="0">
                      <a:pos x="159" y="17"/>
                    </a:cxn>
                    <a:cxn ang="0">
                      <a:pos x="167" y="18"/>
                    </a:cxn>
                    <a:cxn ang="0">
                      <a:pos x="176" y="20"/>
                    </a:cxn>
                  </a:cxnLst>
                  <a:rect l="txL" t="txT" r="txR" b="txB"/>
                  <a:pathLst>
                    <a:path w="177" h="21">
                      <a:moveTo>
                        <a:pt x="176" y="20"/>
                      </a:moveTo>
                      <a:lnTo>
                        <a:pt x="171" y="18"/>
                      </a:lnTo>
                      <a:lnTo>
                        <a:pt x="166" y="16"/>
                      </a:lnTo>
                      <a:lnTo>
                        <a:pt x="161" y="13"/>
                      </a:lnTo>
                      <a:lnTo>
                        <a:pt x="155" y="12"/>
                      </a:lnTo>
                      <a:lnTo>
                        <a:pt x="149" y="10"/>
                      </a:lnTo>
                      <a:lnTo>
                        <a:pt x="141" y="6"/>
                      </a:lnTo>
                      <a:lnTo>
                        <a:pt x="134" y="3"/>
                      </a:lnTo>
                      <a:lnTo>
                        <a:pt x="128" y="2"/>
                      </a:lnTo>
                      <a:lnTo>
                        <a:pt x="120" y="3"/>
                      </a:lnTo>
                      <a:lnTo>
                        <a:pt x="110" y="5"/>
                      </a:lnTo>
                      <a:lnTo>
                        <a:pt x="106" y="5"/>
                      </a:lnTo>
                      <a:lnTo>
                        <a:pt x="93" y="3"/>
                      </a:lnTo>
                      <a:lnTo>
                        <a:pt x="78" y="1"/>
                      </a:lnTo>
                      <a:lnTo>
                        <a:pt x="69" y="0"/>
                      </a:lnTo>
                      <a:lnTo>
                        <a:pt x="57" y="0"/>
                      </a:lnTo>
                      <a:lnTo>
                        <a:pt x="44" y="0"/>
                      </a:lnTo>
                      <a:lnTo>
                        <a:pt x="36" y="1"/>
                      </a:lnTo>
                      <a:lnTo>
                        <a:pt x="27" y="2"/>
                      </a:lnTo>
                      <a:lnTo>
                        <a:pt x="18" y="3"/>
                      </a:lnTo>
                      <a:lnTo>
                        <a:pt x="9" y="4"/>
                      </a:lnTo>
                      <a:lnTo>
                        <a:pt x="8" y="8"/>
                      </a:lnTo>
                      <a:lnTo>
                        <a:pt x="7" y="11"/>
                      </a:lnTo>
                      <a:lnTo>
                        <a:pt x="4" y="15"/>
                      </a:lnTo>
                      <a:lnTo>
                        <a:pt x="0" y="17"/>
                      </a:lnTo>
                      <a:lnTo>
                        <a:pt x="7" y="16"/>
                      </a:lnTo>
                      <a:lnTo>
                        <a:pt x="15" y="14"/>
                      </a:lnTo>
                      <a:lnTo>
                        <a:pt x="22" y="12"/>
                      </a:lnTo>
                      <a:lnTo>
                        <a:pt x="29" y="11"/>
                      </a:lnTo>
                      <a:lnTo>
                        <a:pt x="37" y="10"/>
                      </a:lnTo>
                      <a:lnTo>
                        <a:pt x="50" y="10"/>
                      </a:lnTo>
                      <a:lnTo>
                        <a:pt x="63" y="8"/>
                      </a:lnTo>
                      <a:lnTo>
                        <a:pt x="79" y="8"/>
                      </a:lnTo>
                      <a:lnTo>
                        <a:pt x="94" y="7"/>
                      </a:lnTo>
                      <a:lnTo>
                        <a:pt x="108" y="6"/>
                      </a:lnTo>
                      <a:lnTo>
                        <a:pt x="120" y="7"/>
                      </a:lnTo>
                      <a:lnTo>
                        <a:pt x="129" y="10"/>
                      </a:lnTo>
                      <a:lnTo>
                        <a:pt x="138" y="12"/>
                      </a:lnTo>
                      <a:lnTo>
                        <a:pt x="148" y="14"/>
                      </a:lnTo>
                      <a:lnTo>
                        <a:pt x="159" y="17"/>
                      </a:lnTo>
                      <a:lnTo>
                        <a:pt x="167" y="18"/>
                      </a:lnTo>
                      <a:lnTo>
                        <a:pt x="176" y="20"/>
                      </a:lnTo>
                    </a:path>
                  </a:pathLst>
                </a:custGeom>
                <a:solidFill>
                  <a:srgbClr val="037C03">
                    <a:alpha val="50195"/>
                  </a:srgbClr>
                </a:solidFill>
                <a:ln w="9525">
                  <a:noFill/>
                </a:ln>
              </p:spPr>
              <p:txBody>
                <a:bodyPr/>
                <a:lstStyle/>
                <a:p>
                  <a:endParaRPr lang="zh-CN" altLang="en-US"/>
                </a:p>
              </p:txBody>
            </p:sp>
          </p:grpSp>
          <p:sp>
            <p:nvSpPr>
              <p:cNvPr id="89252" name="Freeform 84"/>
              <p:cNvSpPr/>
              <p:nvPr/>
            </p:nvSpPr>
            <p:spPr>
              <a:xfrm>
                <a:off x="1691" y="1023"/>
                <a:ext cx="261" cy="374"/>
              </a:xfrm>
              <a:custGeom>
                <a:avLst/>
                <a:gdLst>
                  <a:gd name="txL" fmla="*/ 0 w 261"/>
                  <a:gd name="txT" fmla="*/ 0 h 374"/>
                  <a:gd name="txR" fmla="*/ 261 w 261"/>
                  <a:gd name="txB" fmla="*/ 374 h 374"/>
                </a:gdLst>
                <a:ahLst/>
                <a:cxnLst>
                  <a:cxn ang="0">
                    <a:pos x="82" y="162"/>
                  </a:cxn>
                  <a:cxn ang="0">
                    <a:pos x="90" y="154"/>
                  </a:cxn>
                  <a:cxn ang="0">
                    <a:pos x="76" y="104"/>
                  </a:cxn>
                  <a:cxn ang="0">
                    <a:pos x="54" y="56"/>
                  </a:cxn>
                  <a:cxn ang="0">
                    <a:pos x="31" y="33"/>
                  </a:cxn>
                  <a:cxn ang="0">
                    <a:pos x="51" y="45"/>
                  </a:cxn>
                  <a:cxn ang="0">
                    <a:pos x="72" y="84"/>
                  </a:cxn>
                  <a:cxn ang="0">
                    <a:pos x="92" y="126"/>
                  </a:cxn>
                  <a:cxn ang="0">
                    <a:pos x="106" y="168"/>
                  </a:cxn>
                  <a:cxn ang="0">
                    <a:pos x="118" y="150"/>
                  </a:cxn>
                  <a:cxn ang="0">
                    <a:pos x="121" y="114"/>
                  </a:cxn>
                  <a:cxn ang="0">
                    <a:pos x="125" y="65"/>
                  </a:cxn>
                  <a:cxn ang="0">
                    <a:pos x="136" y="26"/>
                  </a:cxn>
                  <a:cxn ang="0">
                    <a:pos x="143" y="12"/>
                  </a:cxn>
                  <a:cxn ang="0">
                    <a:pos x="136" y="53"/>
                  </a:cxn>
                  <a:cxn ang="0">
                    <a:pos x="132" y="106"/>
                  </a:cxn>
                  <a:cxn ang="0">
                    <a:pos x="130" y="155"/>
                  </a:cxn>
                  <a:cxn ang="0">
                    <a:pos x="136" y="183"/>
                  </a:cxn>
                  <a:cxn ang="0">
                    <a:pos x="166" y="177"/>
                  </a:cxn>
                  <a:cxn ang="0">
                    <a:pos x="205" y="178"/>
                  </a:cxn>
                  <a:cxn ang="0">
                    <a:pos x="236" y="193"/>
                  </a:cxn>
                  <a:cxn ang="0">
                    <a:pos x="260" y="227"/>
                  </a:cxn>
                  <a:cxn ang="0">
                    <a:pos x="231" y="222"/>
                  </a:cxn>
                  <a:cxn ang="0">
                    <a:pos x="200" y="211"/>
                  </a:cxn>
                  <a:cxn ang="0">
                    <a:pos x="159" y="204"/>
                  </a:cxn>
                  <a:cxn ang="0">
                    <a:pos x="132" y="208"/>
                  </a:cxn>
                  <a:cxn ang="0">
                    <a:pos x="147" y="224"/>
                  </a:cxn>
                  <a:cxn ang="0">
                    <a:pos x="182" y="233"/>
                  </a:cxn>
                  <a:cxn ang="0">
                    <a:pos x="217" y="240"/>
                  </a:cxn>
                  <a:cxn ang="0">
                    <a:pos x="243" y="264"/>
                  </a:cxn>
                  <a:cxn ang="0">
                    <a:pos x="256" y="297"/>
                  </a:cxn>
                  <a:cxn ang="0">
                    <a:pos x="224" y="277"/>
                  </a:cxn>
                  <a:cxn ang="0">
                    <a:pos x="191" y="256"/>
                  </a:cxn>
                  <a:cxn ang="0">
                    <a:pos x="160" y="238"/>
                  </a:cxn>
                  <a:cxn ang="0">
                    <a:pos x="136" y="230"/>
                  </a:cxn>
                  <a:cxn ang="0">
                    <a:pos x="121" y="246"/>
                  </a:cxn>
                  <a:cxn ang="0">
                    <a:pos x="135" y="290"/>
                  </a:cxn>
                  <a:cxn ang="0">
                    <a:pos x="145" y="342"/>
                  </a:cxn>
                  <a:cxn ang="0">
                    <a:pos x="127" y="346"/>
                  </a:cxn>
                  <a:cxn ang="0">
                    <a:pos x="116" y="290"/>
                  </a:cxn>
                  <a:cxn ang="0">
                    <a:pos x="101" y="256"/>
                  </a:cxn>
                  <a:cxn ang="0">
                    <a:pos x="83" y="274"/>
                  </a:cxn>
                  <a:cxn ang="0">
                    <a:pos x="64" y="309"/>
                  </a:cxn>
                  <a:cxn ang="0">
                    <a:pos x="44" y="360"/>
                  </a:cxn>
                  <a:cxn ang="0">
                    <a:pos x="51" y="314"/>
                  </a:cxn>
                  <a:cxn ang="0">
                    <a:pos x="69" y="272"/>
                  </a:cxn>
                  <a:cxn ang="0">
                    <a:pos x="91" y="238"/>
                  </a:cxn>
                  <a:cxn ang="0">
                    <a:pos x="99" y="212"/>
                  </a:cxn>
                  <a:cxn ang="0">
                    <a:pos x="77" y="226"/>
                  </a:cxn>
                  <a:cxn ang="0">
                    <a:pos x="52" y="261"/>
                  </a:cxn>
                  <a:cxn ang="0">
                    <a:pos x="28" y="301"/>
                  </a:cxn>
                  <a:cxn ang="0">
                    <a:pos x="24" y="288"/>
                  </a:cxn>
                  <a:cxn ang="0">
                    <a:pos x="42" y="262"/>
                  </a:cxn>
                  <a:cxn ang="0">
                    <a:pos x="71" y="229"/>
                  </a:cxn>
                  <a:cxn ang="0">
                    <a:pos x="101" y="206"/>
                  </a:cxn>
                  <a:cxn ang="0">
                    <a:pos x="73" y="180"/>
                  </a:cxn>
                  <a:cxn ang="0">
                    <a:pos x="46" y="148"/>
                  </a:cxn>
                  <a:cxn ang="0">
                    <a:pos x="17" y="118"/>
                  </a:cxn>
                  <a:cxn ang="0">
                    <a:pos x="3" y="98"/>
                  </a:cxn>
                  <a:cxn ang="0">
                    <a:pos x="32" y="115"/>
                  </a:cxn>
                  <a:cxn ang="0">
                    <a:pos x="64" y="145"/>
                  </a:cxn>
                </a:cxnLst>
                <a:rect l="txL" t="txT" r="txR" b="txB"/>
                <a:pathLst>
                  <a:path w="261" h="374">
                    <a:moveTo>
                      <a:pt x="64" y="145"/>
                    </a:moveTo>
                    <a:lnTo>
                      <a:pt x="68" y="150"/>
                    </a:lnTo>
                    <a:lnTo>
                      <a:pt x="72" y="154"/>
                    </a:lnTo>
                    <a:lnTo>
                      <a:pt x="77" y="157"/>
                    </a:lnTo>
                    <a:lnTo>
                      <a:pt x="82" y="162"/>
                    </a:lnTo>
                    <a:lnTo>
                      <a:pt x="86" y="165"/>
                    </a:lnTo>
                    <a:lnTo>
                      <a:pt x="91" y="168"/>
                    </a:lnTo>
                    <a:lnTo>
                      <a:pt x="94" y="170"/>
                    </a:lnTo>
                    <a:lnTo>
                      <a:pt x="92" y="162"/>
                    </a:lnTo>
                    <a:lnTo>
                      <a:pt x="90" y="154"/>
                    </a:lnTo>
                    <a:lnTo>
                      <a:pt x="87" y="143"/>
                    </a:lnTo>
                    <a:lnTo>
                      <a:pt x="85" y="134"/>
                    </a:lnTo>
                    <a:lnTo>
                      <a:pt x="82" y="124"/>
                    </a:lnTo>
                    <a:lnTo>
                      <a:pt x="80" y="114"/>
                    </a:lnTo>
                    <a:lnTo>
                      <a:pt x="76" y="104"/>
                    </a:lnTo>
                    <a:lnTo>
                      <a:pt x="72" y="93"/>
                    </a:lnTo>
                    <a:lnTo>
                      <a:pt x="68" y="84"/>
                    </a:lnTo>
                    <a:lnTo>
                      <a:pt x="63" y="71"/>
                    </a:lnTo>
                    <a:lnTo>
                      <a:pt x="59" y="63"/>
                    </a:lnTo>
                    <a:lnTo>
                      <a:pt x="54" y="56"/>
                    </a:lnTo>
                    <a:lnTo>
                      <a:pt x="50" y="48"/>
                    </a:lnTo>
                    <a:lnTo>
                      <a:pt x="44" y="42"/>
                    </a:lnTo>
                    <a:lnTo>
                      <a:pt x="39" y="38"/>
                    </a:lnTo>
                    <a:lnTo>
                      <a:pt x="34" y="35"/>
                    </a:lnTo>
                    <a:lnTo>
                      <a:pt x="31" y="33"/>
                    </a:lnTo>
                    <a:lnTo>
                      <a:pt x="35" y="32"/>
                    </a:lnTo>
                    <a:lnTo>
                      <a:pt x="37" y="33"/>
                    </a:lnTo>
                    <a:lnTo>
                      <a:pt x="41" y="34"/>
                    </a:lnTo>
                    <a:lnTo>
                      <a:pt x="45" y="39"/>
                    </a:lnTo>
                    <a:lnTo>
                      <a:pt x="51" y="45"/>
                    </a:lnTo>
                    <a:lnTo>
                      <a:pt x="55" y="50"/>
                    </a:lnTo>
                    <a:lnTo>
                      <a:pt x="58" y="56"/>
                    </a:lnTo>
                    <a:lnTo>
                      <a:pt x="63" y="64"/>
                    </a:lnTo>
                    <a:lnTo>
                      <a:pt x="68" y="75"/>
                    </a:lnTo>
                    <a:lnTo>
                      <a:pt x="72" y="84"/>
                    </a:lnTo>
                    <a:lnTo>
                      <a:pt x="77" y="94"/>
                    </a:lnTo>
                    <a:lnTo>
                      <a:pt x="81" y="101"/>
                    </a:lnTo>
                    <a:lnTo>
                      <a:pt x="86" y="109"/>
                    </a:lnTo>
                    <a:lnTo>
                      <a:pt x="89" y="117"/>
                    </a:lnTo>
                    <a:lnTo>
                      <a:pt x="92" y="126"/>
                    </a:lnTo>
                    <a:lnTo>
                      <a:pt x="95" y="135"/>
                    </a:lnTo>
                    <a:lnTo>
                      <a:pt x="99" y="143"/>
                    </a:lnTo>
                    <a:lnTo>
                      <a:pt x="101" y="151"/>
                    </a:lnTo>
                    <a:lnTo>
                      <a:pt x="104" y="161"/>
                    </a:lnTo>
                    <a:lnTo>
                      <a:pt x="106" y="168"/>
                    </a:lnTo>
                    <a:lnTo>
                      <a:pt x="107" y="171"/>
                    </a:lnTo>
                    <a:lnTo>
                      <a:pt x="110" y="168"/>
                    </a:lnTo>
                    <a:lnTo>
                      <a:pt x="113" y="164"/>
                    </a:lnTo>
                    <a:lnTo>
                      <a:pt x="117" y="159"/>
                    </a:lnTo>
                    <a:lnTo>
                      <a:pt x="118" y="150"/>
                    </a:lnTo>
                    <a:lnTo>
                      <a:pt x="119" y="143"/>
                    </a:lnTo>
                    <a:lnTo>
                      <a:pt x="120" y="133"/>
                    </a:lnTo>
                    <a:lnTo>
                      <a:pt x="121" y="124"/>
                    </a:lnTo>
                    <a:lnTo>
                      <a:pt x="120" y="124"/>
                    </a:lnTo>
                    <a:lnTo>
                      <a:pt x="121" y="114"/>
                    </a:lnTo>
                    <a:lnTo>
                      <a:pt x="121" y="103"/>
                    </a:lnTo>
                    <a:lnTo>
                      <a:pt x="122" y="92"/>
                    </a:lnTo>
                    <a:lnTo>
                      <a:pt x="122" y="82"/>
                    </a:lnTo>
                    <a:lnTo>
                      <a:pt x="123" y="75"/>
                    </a:lnTo>
                    <a:lnTo>
                      <a:pt x="125" y="65"/>
                    </a:lnTo>
                    <a:lnTo>
                      <a:pt x="127" y="58"/>
                    </a:lnTo>
                    <a:lnTo>
                      <a:pt x="128" y="50"/>
                    </a:lnTo>
                    <a:lnTo>
                      <a:pt x="131" y="44"/>
                    </a:lnTo>
                    <a:lnTo>
                      <a:pt x="133" y="36"/>
                    </a:lnTo>
                    <a:lnTo>
                      <a:pt x="136" y="26"/>
                    </a:lnTo>
                    <a:lnTo>
                      <a:pt x="139" y="16"/>
                    </a:lnTo>
                    <a:lnTo>
                      <a:pt x="140" y="7"/>
                    </a:lnTo>
                    <a:lnTo>
                      <a:pt x="143" y="0"/>
                    </a:lnTo>
                    <a:lnTo>
                      <a:pt x="144" y="6"/>
                    </a:lnTo>
                    <a:lnTo>
                      <a:pt x="143" y="12"/>
                    </a:lnTo>
                    <a:lnTo>
                      <a:pt x="142" y="21"/>
                    </a:lnTo>
                    <a:lnTo>
                      <a:pt x="140" y="28"/>
                    </a:lnTo>
                    <a:lnTo>
                      <a:pt x="138" y="40"/>
                    </a:lnTo>
                    <a:lnTo>
                      <a:pt x="137" y="47"/>
                    </a:lnTo>
                    <a:lnTo>
                      <a:pt x="136" y="53"/>
                    </a:lnTo>
                    <a:lnTo>
                      <a:pt x="135" y="62"/>
                    </a:lnTo>
                    <a:lnTo>
                      <a:pt x="134" y="72"/>
                    </a:lnTo>
                    <a:lnTo>
                      <a:pt x="134" y="83"/>
                    </a:lnTo>
                    <a:lnTo>
                      <a:pt x="133" y="94"/>
                    </a:lnTo>
                    <a:lnTo>
                      <a:pt x="132" y="106"/>
                    </a:lnTo>
                    <a:lnTo>
                      <a:pt x="132" y="116"/>
                    </a:lnTo>
                    <a:lnTo>
                      <a:pt x="132" y="126"/>
                    </a:lnTo>
                    <a:lnTo>
                      <a:pt x="131" y="134"/>
                    </a:lnTo>
                    <a:lnTo>
                      <a:pt x="131" y="145"/>
                    </a:lnTo>
                    <a:lnTo>
                      <a:pt x="130" y="155"/>
                    </a:lnTo>
                    <a:lnTo>
                      <a:pt x="128" y="168"/>
                    </a:lnTo>
                    <a:lnTo>
                      <a:pt x="127" y="178"/>
                    </a:lnTo>
                    <a:lnTo>
                      <a:pt x="125" y="190"/>
                    </a:lnTo>
                    <a:lnTo>
                      <a:pt x="130" y="187"/>
                    </a:lnTo>
                    <a:lnTo>
                      <a:pt x="136" y="183"/>
                    </a:lnTo>
                    <a:lnTo>
                      <a:pt x="143" y="178"/>
                    </a:lnTo>
                    <a:lnTo>
                      <a:pt x="149" y="176"/>
                    </a:lnTo>
                    <a:lnTo>
                      <a:pt x="156" y="176"/>
                    </a:lnTo>
                    <a:lnTo>
                      <a:pt x="160" y="176"/>
                    </a:lnTo>
                    <a:lnTo>
                      <a:pt x="166" y="177"/>
                    </a:lnTo>
                    <a:lnTo>
                      <a:pt x="173" y="178"/>
                    </a:lnTo>
                    <a:lnTo>
                      <a:pt x="182" y="179"/>
                    </a:lnTo>
                    <a:lnTo>
                      <a:pt x="190" y="178"/>
                    </a:lnTo>
                    <a:lnTo>
                      <a:pt x="198" y="178"/>
                    </a:lnTo>
                    <a:lnTo>
                      <a:pt x="205" y="178"/>
                    </a:lnTo>
                    <a:lnTo>
                      <a:pt x="211" y="179"/>
                    </a:lnTo>
                    <a:lnTo>
                      <a:pt x="217" y="182"/>
                    </a:lnTo>
                    <a:lnTo>
                      <a:pt x="225" y="185"/>
                    </a:lnTo>
                    <a:lnTo>
                      <a:pt x="231" y="189"/>
                    </a:lnTo>
                    <a:lnTo>
                      <a:pt x="236" y="193"/>
                    </a:lnTo>
                    <a:lnTo>
                      <a:pt x="242" y="199"/>
                    </a:lnTo>
                    <a:lnTo>
                      <a:pt x="245" y="202"/>
                    </a:lnTo>
                    <a:lnTo>
                      <a:pt x="251" y="210"/>
                    </a:lnTo>
                    <a:lnTo>
                      <a:pt x="255" y="218"/>
                    </a:lnTo>
                    <a:lnTo>
                      <a:pt x="260" y="227"/>
                    </a:lnTo>
                    <a:lnTo>
                      <a:pt x="254" y="227"/>
                    </a:lnTo>
                    <a:lnTo>
                      <a:pt x="248" y="226"/>
                    </a:lnTo>
                    <a:lnTo>
                      <a:pt x="241" y="224"/>
                    </a:lnTo>
                    <a:lnTo>
                      <a:pt x="235" y="224"/>
                    </a:lnTo>
                    <a:lnTo>
                      <a:pt x="231" y="222"/>
                    </a:lnTo>
                    <a:lnTo>
                      <a:pt x="224" y="218"/>
                    </a:lnTo>
                    <a:lnTo>
                      <a:pt x="218" y="216"/>
                    </a:lnTo>
                    <a:lnTo>
                      <a:pt x="213" y="213"/>
                    </a:lnTo>
                    <a:lnTo>
                      <a:pt x="209" y="212"/>
                    </a:lnTo>
                    <a:lnTo>
                      <a:pt x="200" y="211"/>
                    </a:lnTo>
                    <a:lnTo>
                      <a:pt x="190" y="210"/>
                    </a:lnTo>
                    <a:lnTo>
                      <a:pt x="182" y="208"/>
                    </a:lnTo>
                    <a:lnTo>
                      <a:pt x="173" y="206"/>
                    </a:lnTo>
                    <a:lnTo>
                      <a:pt x="165" y="205"/>
                    </a:lnTo>
                    <a:lnTo>
                      <a:pt x="159" y="204"/>
                    </a:lnTo>
                    <a:lnTo>
                      <a:pt x="154" y="204"/>
                    </a:lnTo>
                    <a:lnTo>
                      <a:pt x="148" y="203"/>
                    </a:lnTo>
                    <a:lnTo>
                      <a:pt x="142" y="204"/>
                    </a:lnTo>
                    <a:lnTo>
                      <a:pt x="137" y="205"/>
                    </a:lnTo>
                    <a:lnTo>
                      <a:pt x="132" y="208"/>
                    </a:lnTo>
                    <a:lnTo>
                      <a:pt x="125" y="210"/>
                    </a:lnTo>
                    <a:lnTo>
                      <a:pt x="130" y="213"/>
                    </a:lnTo>
                    <a:lnTo>
                      <a:pt x="136" y="217"/>
                    </a:lnTo>
                    <a:lnTo>
                      <a:pt x="141" y="222"/>
                    </a:lnTo>
                    <a:lnTo>
                      <a:pt x="147" y="224"/>
                    </a:lnTo>
                    <a:lnTo>
                      <a:pt x="154" y="227"/>
                    </a:lnTo>
                    <a:lnTo>
                      <a:pt x="160" y="229"/>
                    </a:lnTo>
                    <a:lnTo>
                      <a:pt x="166" y="229"/>
                    </a:lnTo>
                    <a:lnTo>
                      <a:pt x="173" y="231"/>
                    </a:lnTo>
                    <a:lnTo>
                      <a:pt x="182" y="233"/>
                    </a:lnTo>
                    <a:lnTo>
                      <a:pt x="189" y="235"/>
                    </a:lnTo>
                    <a:lnTo>
                      <a:pt x="197" y="235"/>
                    </a:lnTo>
                    <a:lnTo>
                      <a:pt x="203" y="237"/>
                    </a:lnTo>
                    <a:lnTo>
                      <a:pt x="210" y="239"/>
                    </a:lnTo>
                    <a:lnTo>
                      <a:pt x="217" y="240"/>
                    </a:lnTo>
                    <a:lnTo>
                      <a:pt x="222" y="243"/>
                    </a:lnTo>
                    <a:lnTo>
                      <a:pt x="227" y="247"/>
                    </a:lnTo>
                    <a:lnTo>
                      <a:pt x="232" y="252"/>
                    </a:lnTo>
                    <a:lnTo>
                      <a:pt x="238" y="257"/>
                    </a:lnTo>
                    <a:lnTo>
                      <a:pt x="243" y="264"/>
                    </a:lnTo>
                    <a:lnTo>
                      <a:pt x="245" y="268"/>
                    </a:lnTo>
                    <a:lnTo>
                      <a:pt x="248" y="275"/>
                    </a:lnTo>
                    <a:lnTo>
                      <a:pt x="250" y="283"/>
                    </a:lnTo>
                    <a:lnTo>
                      <a:pt x="253" y="291"/>
                    </a:lnTo>
                    <a:lnTo>
                      <a:pt x="256" y="297"/>
                    </a:lnTo>
                    <a:lnTo>
                      <a:pt x="250" y="293"/>
                    </a:lnTo>
                    <a:lnTo>
                      <a:pt x="243" y="289"/>
                    </a:lnTo>
                    <a:lnTo>
                      <a:pt x="238" y="286"/>
                    </a:lnTo>
                    <a:lnTo>
                      <a:pt x="231" y="281"/>
                    </a:lnTo>
                    <a:lnTo>
                      <a:pt x="224" y="277"/>
                    </a:lnTo>
                    <a:lnTo>
                      <a:pt x="218" y="273"/>
                    </a:lnTo>
                    <a:lnTo>
                      <a:pt x="211" y="269"/>
                    </a:lnTo>
                    <a:lnTo>
                      <a:pt x="204" y="264"/>
                    </a:lnTo>
                    <a:lnTo>
                      <a:pt x="198" y="260"/>
                    </a:lnTo>
                    <a:lnTo>
                      <a:pt x="191" y="256"/>
                    </a:lnTo>
                    <a:lnTo>
                      <a:pt x="186" y="252"/>
                    </a:lnTo>
                    <a:lnTo>
                      <a:pt x="179" y="248"/>
                    </a:lnTo>
                    <a:lnTo>
                      <a:pt x="173" y="245"/>
                    </a:lnTo>
                    <a:lnTo>
                      <a:pt x="166" y="241"/>
                    </a:lnTo>
                    <a:lnTo>
                      <a:pt x="160" y="238"/>
                    </a:lnTo>
                    <a:lnTo>
                      <a:pt x="155" y="237"/>
                    </a:lnTo>
                    <a:lnTo>
                      <a:pt x="150" y="234"/>
                    </a:lnTo>
                    <a:lnTo>
                      <a:pt x="144" y="231"/>
                    </a:lnTo>
                    <a:lnTo>
                      <a:pt x="140" y="229"/>
                    </a:lnTo>
                    <a:lnTo>
                      <a:pt x="136" y="230"/>
                    </a:lnTo>
                    <a:lnTo>
                      <a:pt x="131" y="231"/>
                    </a:lnTo>
                    <a:lnTo>
                      <a:pt x="128" y="231"/>
                    </a:lnTo>
                    <a:lnTo>
                      <a:pt x="123" y="229"/>
                    </a:lnTo>
                    <a:lnTo>
                      <a:pt x="123" y="237"/>
                    </a:lnTo>
                    <a:lnTo>
                      <a:pt x="121" y="246"/>
                    </a:lnTo>
                    <a:lnTo>
                      <a:pt x="124" y="254"/>
                    </a:lnTo>
                    <a:lnTo>
                      <a:pt x="127" y="263"/>
                    </a:lnTo>
                    <a:lnTo>
                      <a:pt x="130" y="271"/>
                    </a:lnTo>
                    <a:lnTo>
                      <a:pt x="132" y="280"/>
                    </a:lnTo>
                    <a:lnTo>
                      <a:pt x="135" y="290"/>
                    </a:lnTo>
                    <a:lnTo>
                      <a:pt x="138" y="302"/>
                    </a:lnTo>
                    <a:lnTo>
                      <a:pt x="139" y="311"/>
                    </a:lnTo>
                    <a:lnTo>
                      <a:pt x="142" y="321"/>
                    </a:lnTo>
                    <a:lnTo>
                      <a:pt x="143" y="330"/>
                    </a:lnTo>
                    <a:lnTo>
                      <a:pt x="145" y="342"/>
                    </a:lnTo>
                    <a:lnTo>
                      <a:pt x="148" y="355"/>
                    </a:lnTo>
                    <a:lnTo>
                      <a:pt x="150" y="373"/>
                    </a:lnTo>
                    <a:lnTo>
                      <a:pt x="130" y="373"/>
                    </a:lnTo>
                    <a:lnTo>
                      <a:pt x="128" y="357"/>
                    </a:lnTo>
                    <a:lnTo>
                      <a:pt x="127" y="346"/>
                    </a:lnTo>
                    <a:lnTo>
                      <a:pt x="124" y="332"/>
                    </a:lnTo>
                    <a:lnTo>
                      <a:pt x="122" y="319"/>
                    </a:lnTo>
                    <a:lnTo>
                      <a:pt x="120" y="308"/>
                    </a:lnTo>
                    <a:lnTo>
                      <a:pt x="118" y="298"/>
                    </a:lnTo>
                    <a:lnTo>
                      <a:pt x="116" y="290"/>
                    </a:lnTo>
                    <a:lnTo>
                      <a:pt x="113" y="279"/>
                    </a:lnTo>
                    <a:lnTo>
                      <a:pt x="109" y="269"/>
                    </a:lnTo>
                    <a:lnTo>
                      <a:pt x="107" y="260"/>
                    </a:lnTo>
                    <a:lnTo>
                      <a:pt x="104" y="258"/>
                    </a:lnTo>
                    <a:lnTo>
                      <a:pt x="101" y="256"/>
                    </a:lnTo>
                    <a:lnTo>
                      <a:pt x="98" y="254"/>
                    </a:lnTo>
                    <a:lnTo>
                      <a:pt x="96" y="255"/>
                    </a:lnTo>
                    <a:lnTo>
                      <a:pt x="93" y="260"/>
                    </a:lnTo>
                    <a:lnTo>
                      <a:pt x="87" y="268"/>
                    </a:lnTo>
                    <a:lnTo>
                      <a:pt x="83" y="274"/>
                    </a:lnTo>
                    <a:lnTo>
                      <a:pt x="79" y="280"/>
                    </a:lnTo>
                    <a:lnTo>
                      <a:pt x="76" y="288"/>
                    </a:lnTo>
                    <a:lnTo>
                      <a:pt x="72" y="293"/>
                    </a:lnTo>
                    <a:lnTo>
                      <a:pt x="68" y="301"/>
                    </a:lnTo>
                    <a:lnTo>
                      <a:pt x="64" y="309"/>
                    </a:lnTo>
                    <a:lnTo>
                      <a:pt x="61" y="318"/>
                    </a:lnTo>
                    <a:lnTo>
                      <a:pt x="57" y="327"/>
                    </a:lnTo>
                    <a:lnTo>
                      <a:pt x="53" y="337"/>
                    </a:lnTo>
                    <a:lnTo>
                      <a:pt x="49" y="348"/>
                    </a:lnTo>
                    <a:lnTo>
                      <a:pt x="44" y="360"/>
                    </a:lnTo>
                    <a:lnTo>
                      <a:pt x="46" y="346"/>
                    </a:lnTo>
                    <a:lnTo>
                      <a:pt x="47" y="336"/>
                    </a:lnTo>
                    <a:lnTo>
                      <a:pt x="48" y="325"/>
                    </a:lnTo>
                    <a:lnTo>
                      <a:pt x="50" y="319"/>
                    </a:lnTo>
                    <a:lnTo>
                      <a:pt x="51" y="314"/>
                    </a:lnTo>
                    <a:lnTo>
                      <a:pt x="54" y="305"/>
                    </a:lnTo>
                    <a:lnTo>
                      <a:pt x="57" y="295"/>
                    </a:lnTo>
                    <a:lnTo>
                      <a:pt x="59" y="288"/>
                    </a:lnTo>
                    <a:lnTo>
                      <a:pt x="64" y="280"/>
                    </a:lnTo>
                    <a:lnTo>
                      <a:pt x="69" y="272"/>
                    </a:lnTo>
                    <a:lnTo>
                      <a:pt x="73" y="263"/>
                    </a:lnTo>
                    <a:lnTo>
                      <a:pt x="78" y="254"/>
                    </a:lnTo>
                    <a:lnTo>
                      <a:pt x="81" y="249"/>
                    </a:lnTo>
                    <a:lnTo>
                      <a:pt x="86" y="244"/>
                    </a:lnTo>
                    <a:lnTo>
                      <a:pt x="91" y="238"/>
                    </a:lnTo>
                    <a:lnTo>
                      <a:pt x="95" y="232"/>
                    </a:lnTo>
                    <a:lnTo>
                      <a:pt x="100" y="226"/>
                    </a:lnTo>
                    <a:lnTo>
                      <a:pt x="105" y="218"/>
                    </a:lnTo>
                    <a:lnTo>
                      <a:pt x="103" y="216"/>
                    </a:lnTo>
                    <a:lnTo>
                      <a:pt x="99" y="212"/>
                    </a:lnTo>
                    <a:lnTo>
                      <a:pt x="96" y="210"/>
                    </a:lnTo>
                    <a:lnTo>
                      <a:pt x="93" y="211"/>
                    </a:lnTo>
                    <a:lnTo>
                      <a:pt x="87" y="216"/>
                    </a:lnTo>
                    <a:lnTo>
                      <a:pt x="82" y="221"/>
                    </a:lnTo>
                    <a:lnTo>
                      <a:pt x="77" y="226"/>
                    </a:lnTo>
                    <a:lnTo>
                      <a:pt x="72" y="232"/>
                    </a:lnTo>
                    <a:lnTo>
                      <a:pt x="67" y="241"/>
                    </a:lnTo>
                    <a:lnTo>
                      <a:pt x="61" y="249"/>
                    </a:lnTo>
                    <a:lnTo>
                      <a:pt x="56" y="255"/>
                    </a:lnTo>
                    <a:lnTo>
                      <a:pt x="52" y="261"/>
                    </a:lnTo>
                    <a:lnTo>
                      <a:pt x="47" y="268"/>
                    </a:lnTo>
                    <a:lnTo>
                      <a:pt x="42" y="276"/>
                    </a:lnTo>
                    <a:lnTo>
                      <a:pt x="38" y="284"/>
                    </a:lnTo>
                    <a:lnTo>
                      <a:pt x="33" y="293"/>
                    </a:lnTo>
                    <a:lnTo>
                      <a:pt x="28" y="301"/>
                    </a:lnTo>
                    <a:lnTo>
                      <a:pt x="24" y="310"/>
                    </a:lnTo>
                    <a:lnTo>
                      <a:pt x="18" y="321"/>
                    </a:lnTo>
                    <a:lnTo>
                      <a:pt x="21" y="307"/>
                    </a:lnTo>
                    <a:lnTo>
                      <a:pt x="22" y="297"/>
                    </a:lnTo>
                    <a:lnTo>
                      <a:pt x="24" y="288"/>
                    </a:lnTo>
                    <a:lnTo>
                      <a:pt x="25" y="286"/>
                    </a:lnTo>
                    <a:lnTo>
                      <a:pt x="28" y="281"/>
                    </a:lnTo>
                    <a:lnTo>
                      <a:pt x="32" y="275"/>
                    </a:lnTo>
                    <a:lnTo>
                      <a:pt x="37" y="269"/>
                    </a:lnTo>
                    <a:lnTo>
                      <a:pt x="42" y="262"/>
                    </a:lnTo>
                    <a:lnTo>
                      <a:pt x="47" y="256"/>
                    </a:lnTo>
                    <a:lnTo>
                      <a:pt x="54" y="248"/>
                    </a:lnTo>
                    <a:lnTo>
                      <a:pt x="58" y="243"/>
                    </a:lnTo>
                    <a:lnTo>
                      <a:pt x="64" y="236"/>
                    </a:lnTo>
                    <a:lnTo>
                      <a:pt x="71" y="229"/>
                    </a:lnTo>
                    <a:lnTo>
                      <a:pt x="77" y="224"/>
                    </a:lnTo>
                    <a:lnTo>
                      <a:pt x="83" y="218"/>
                    </a:lnTo>
                    <a:lnTo>
                      <a:pt x="93" y="210"/>
                    </a:lnTo>
                    <a:lnTo>
                      <a:pt x="98" y="208"/>
                    </a:lnTo>
                    <a:lnTo>
                      <a:pt x="101" y="206"/>
                    </a:lnTo>
                    <a:lnTo>
                      <a:pt x="95" y="202"/>
                    </a:lnTo>
                    <a:lnTo>
                      <a:pt x="90" y="196"/>
                    </a:lnTo>
                    <a:lnTo>
                      <a:pt x="84" y="190"/>
                    </a:lnTo>
                    <a:lnTo>
                      <a:pt x="79" y="185"/>
                    </a:lnTo>
                    <a:lnTo>
                      <a:pt x="73" y="180"/>
                    </a:lnTo>
                    <a:lnTo>
                      <a:pt x="69" y="176"/>
                    </a:lnTo>
                    <a:lnTo>
                      <a:pt x="65" y="170"/>
                    </a:lnTo>
                    <a:lnTo>
                      <a:pt x="58" y="163"/>
                    </a:lnTo>
                    <a:lnTo>
                      <a:pt x="52" y="156"/>
                    </a:lnTo>
                    <a:lnTo>
                      <a:pt x="46" y="148"/>
                    </a:lnTo>
                    <a:lnTo>
                      <a:pt x="39" y="141"/>
                    </a:lnTo>
                    <a:lnTo>
                      <a:pt x="33" y="136"/>
                    </a:lnTo>
                    <a:lnTo>
                      <a:pt x="26" y="129"/>
                    </a:lnTo>
                    <a:lnTo>
                      <a:pt x="22" y="125"/>
                    </a:lnTo>
                    <a:lnTo>
                      <a:pt x="17" y="118"/>
                    </a:lnTo>
                    <a:lnTo>
                      <a:pt x="14" y="112"/>
                    </a:lnTo>
                    <a:lnTo>
                      <a:pt x="10" y="108"/>
                    </a:lnTo>
                    <a:lnTo>
                      <a:pt x="4" y="102"/>
                    </a:lnTo>
                    <a:lnTo>
                      <a:pt x="0" y="98"/>
                    </a:lnTo>
                    <a:lnTo>
                      <a:pt x="3" y="98"/>
                    </a:lnTo>
                    <a:lnTo>
                      <a:pt x="9" y="100"/>
                    </a:lnTo>
                    <a:lnTo>
                      <a:pt x="14" y="101"/>
                    </a:lnTo>
                    <a:lnTo>
                      <a:pt x="20" y="104"/>
                    </a:lnTo>
                    <a:lnTo>
                      <a:pt x="25" y="109"/>
                    </a:lnTo>
                    <a:lnTo>
                      <a:pt x="32" y="115"/>
                    </a:lnTo>
                    <a:lnTo>
                      <a:pt x="38" y="120"/>
                    </a:lnTo>
                    <a:lnTo>
                      <a:pt x="45" y="125"/>
                    </a:lnTo>
                    <a:lnTo>
                      <a:pt x="51" y="132"/>
                    </a:lnTo>
                    <a:lnTo>
                      <a:pt x="58" y="139"/>
                    </a:lnTo>
                    <a:lnTo>
                      <a:pt x="64" y="145"/>
                    </a:lnTo>
                  </a:path>
                </a:pathLst>
              </a:custGeom>
              <a:solidFill>
                <a:srgbClr val="037C03">
                  <a:alpha val="50195"/>
                </a:srgbClr>
              </a:solidFill>
              <a:ln w="9525">
                <a:noFill/>
              </a:ln>
            </p:spPr>
            <p:txBody>
              <a:bodyPr/>
              <a:lstStyle/>
              <a:p>
                <a:endParaRPr lang="zh-CN" altLang="en-US"/>
              </a:p>
            </p:txBody>
          </p:sp>
        </p:grpSp>
        <p:grpSp>
          <p:nvGrpSpPr>
            <p:cNvPr id="89236" name="Group 85"/>
            <p:cNvGrpSpPr/>
            <p:nvPr/>
          </p:nvGrpSpPr>
          <p:grpSpPr>
            <a:xfrm>
              <a:off x="300" y="3360"/>
              <a:ext cx="508" cy="820"/>
              <a:chOff x="1985" y="1201"/>
              <a:chExt cx="508" cy="820"/>
            </a:xfrm>
          </p:grpSpPr>
          <p:grpSp>
            <p:nvGrpSpPr>
              <p:cNvPr id="89237" name="Group 86"/>
              <p:cNvGrpSpPr/>
              <p:nvPr/>
            </p:nvGrpSpPr>
            <p:grpSpPr>
              <a:xfrm>
                <a:off x="2247" y="1201"/>
                <a:ext cx="246" cy="810"/>
                <a:chOff x="2247" y="1201"/>
                <a:chExt cx="246" cy="810"/>
              </a:xfrm>
            </p:grpSpPr>
            <p:sp>
              <p:nvSpPr>
                <p:cNvPr id="89246" name="Freeform 87"/>
                <p:cNvSpPr/>
                <p:nvPr/>
              </p:nvSpPr>
              <p:spPr>
                <a:xfrm>
                  <a:off x="2392" y="1373"/>
                  <a:ext cx="92" cy="638"/>
                </a:xfrm>
                <a:custGeom>
                  <a:avLst/>
                  <a:gdLst>
                    <a:gd name="txL" fmla="*/ 0 w 92"/>
                    <a:gd name="txT" fmla="*/ 0 h 638"/>
                    <a:gd name="txR" fmla="*/ 92 w 92"/>
                    <a:gd name="txB" fmla="*/ 638 h 638"/>
                  </a:gdLst>
                  <a:ahLst/>
                  <a:cxnLst>
                    <a:cxn ang="0">
                      <a:pos x="91" y="296"/>
                    </a:cxn>
                    <a:cxn ang="0">
                      <a:pos x="83" y="425"/>
                    </a:cxn>
                    <a:cxn ang="0">
                      <a:pos x="75" y="529"/>
                    </a:cxn>
                    <a:cxn ang="0">
                      <a:pos x="70" y="606"/>
                    </a:cxn>
                    <a:cxn ang="0">
                      <a:pos x="71" y="637"/>
                    </a:cxn>
                    <a:cxn ang="0">
                      <a:pos x="60" y="637"/>
                    </a:cxn>
                    <a:cxn ang="0">
                      <a:pos x="57" y="592"/>
                    </a:cxn>
                    <a:cxn ang="0">
                      <a:pos x="55" y="524"/>
                    </a:cxn>
                    <a:cxn ang="0">
                      <a:pos x="51" y="461"/>
                    </a:cxn>
                    <a:cxn ang="0">
                      <a:pos x="49" y="414"/>
                    </a:cxn>
                    <a:cxn ang="0">
                      <a:pos x="45" y="345"/>
                    </a:cxn>
                    <a:cxn ang="0">
                      <a:pos x="40" y="285"/>
                    </a:cxn>
                    <a:cxn ang="0">
                      <a:pos x="35" y="233"/>
                    </a:cxn>
                    <a:cxn ang="0">
                      <a:pos x="31" y="177"/>
                    </a:cxn>
                    <a:cxn ang="0">
                      <a:pos x="24" y="121"/>
                    </a:cxn>
                    <a:cxn ang="0">
                      <a:pos x="17" y="74"/>
                    </a:cxn>
                    <a:cxn ang="0">
                      <a:pos x="4" y="28"/>
                    </a:cxn>
                    <a:cxn ang="0">
                      <a:pos x="0" y="10"/>
                    </a:cxn>
                    <a:cxn ang="0">
                      <a:pos x="5" y="0"/>
                    </a:cxn>
                    <a:cxn ang="0">
                      <a:pos x="13" y="18"/>
                    </a:cxn>
                    <a:cxn ang="0">
                      <a:pos x="24" y="61"/>
                    </a:cxn>
                    <a:cxn ang="0">
                      <a:pos x="33" y="104"/>
                    </a:cxn>
                    <a:cxn ang="0">
                      <a:pos x="40" y="150"/>
                    </a:cxn>
                    <a:cxn ang="0">
                      <a:pos x="44" y="208"/>
                    </a:cxn>
                    <a:cxn ang="0">
                      <a:pos x="48" y="263"/>
                    </a:cxn>
                    <a:cxn ang="0">
                      <a:pos x="55" y="337"/>
                    </a:cxn>
                    <a:cxn ang="0">
                      <a:pos x="59" y="398"/>
                    </a:cxn>
                    <a:cxn ang="0">
                      <a:pos x="61" y="447"/>
                    </a:cxn>
                    <a:cxn ang="0">
                      <a:pos x="63" y="498"/>
                    </a:cxn>
                    <a:cxn ang="0">
                      <a:pos x="68" y="550"/>
                    </a:cxn>
                    <a:cxn ang="0">
                      <a:pos x="73" y="460"/>
                    </a:cxn>
                    <a:cxn ang="0">
                      <a:pos x="80" y="376"/>
                    </a:cxn>
                    <a:cxn ang="0">
                      <a:pos x="91" y="296"/>
                    </a:cxn>
                  </a:cxnLst>
                  <a:rect l="txL" t="txT" r="txR" b="txB"/>
                  <a:pathLst>
                    <a:path w="92" h="638">
                      <a:moveTo>
                        <a:pt x="91" y="296"/>
                      </a:moveTo>
                      <a:lnTo>
                        <a:pt x="83" y="425"/>
                      </a:lnTo>
                      <a:lnTo>
                        <a:pt x="75" y="529"/>
                      </a:lnTo>
                      <a:lnTo>
                        <a:pt x="70" y="606"/>
                      </a:lnTo>
                      <a:lnTo>
                        <a:pt x="71" y="637"/>
                      </a:lnTo>
                      <a:lnTo>
                        <a:pt x="60" y="637"/>
                      </a:lnTo>
                      <a:lnTo>
                        <a:pt x="57" y="592"/>
                      </a:lnTo>
                      <a:lnTo>
                        <a:pt x="55" y="524"/>
                      </a:lnTo>
                      <a:lnTo>
                        <a:pt x="51" y="461"/>
                      </a:lnTo>
                      <a:lnTo>
                        <a:pt x="49" y="414"/>
                      </a:lnTo>
                      <a:lnTo>
                        <a:pt x="45" y="345"/>
                      </a:lnTo>
                      <a:lnTo>
                        <a:pt x="40" y="285"/>
                      </a:lnTo>
                      <a:lnTo>
                        <a:pt x="35" y="233"/>
                      </a:lnTo>
                      <a:lnTo>
                        <a:pt x="31" y="177"/>
                      </a:lnTo>
                      <a:lnTo>
                        <a:pt x="24" y="121"/>
                      </a:lnTo>
                      <a:lnTo>
                        <a:pt x="17" y="74"/>
                      </a:lnTo>
                      <a:lnTo>
                        <a:pt x="4" y="28"/>
                      </a:lnTo>
                      <a:lnTo>
                        <a:pt x="0" y="10"/>
                      </a:lnTo>
                      <a:lnTo>
                        <a:pt x="5" y="0"/>
                      </a:lnTo>
                      <a:lnTo>
                        <a:pt x="13" y="18"/>
                      </a:lnTo>
                      <a:lnTo>
                        <a:pt x="24" y="61"/>
                      </a:lnTo>
                      <a:lnTo>
                        <a:pt x="33" y="104"/>
                      </a:lnTo>
                      <a:lnTo>
                        <a:pt x="40" y="150"/>
                      </a:lnTo>
                      <a:lnTo>
                        <a:pt x="44" y="208"/>
                      </a:lnTo>
                      <a:lnTo>
                        <a:pt x="48" y="263"/>
                      </a:lnTo>
                      <a:lnTo>
                        <a:pt x="55" y="337"/>
                      </a:lnTo>
                      <a:lnTo>
                        <a:pt x="59" y="398"/>
                      </a:lnTo>
                      <a:lnTo>
                        <a:pt x="61" y="447"/>
                      </a:lnTo>
                      <a:lnTo>
                        <a:pt x="63" y="498"/>
                      </a:lnTo>
                      <a:lnTo>
                        <a:pt x="68" y="550"/>
                      </a:lnTo>
                      <a:lnTo>
                        <a:pt x="73" y="460"/>
                      </a:lnTo>
                      <a:lnTo>
                        <a:pt x="80" y="376"/>
                      </a:lnTo>
                      <a:lnTo>
                        <a:pt x="91" y="296"/>
                      </a:lnTo>
                    </a:path>
                  </a:pathLst>
                </a:custGeom>
                <a:solidFill>
                  <a:srgbClr val="3C0023">
                    <a:alpha val="50195"/>
                  </a:srgbClr>
                </a:solidFill>
                <a:ln w="9525">
                  <a:noFill/>
                </a:ln>
              </p:spPr>
              <p:txBody>
                <a:bodyPr/>
                <a:lstStyle/>
                <a:p>
                  <a:endParaRPr lang="zh-CN" altLang="en-US"/>
                </a:p>
              </p:txBody>
            </p:sp>
            <p:sp>
              <p:nvSpPr>
                <p:cNvPr id="89247" name="Freeform 88"/>
                <p:cNvSpPr/>
                <p:nvPr/>
              </p:nvSpPr>
              <p:spPr>
                <a:xfrm>
                  <a:off x="2247" y="1201"/>
                  <a:ext cx="246" cy="466"/>
                </a:xfrm>
                <a:custGeom>
                  <a:avLst/>
                  <a:gdLst>
                    <a:gd name="txL" fmla="*/ 0 w 246"/>
                    <a:gd name="txT" fmla="*/ 0 h 466"/>
                    <a:gd name="txR" fmla="*/ 246 w 246"/>
                    <a:gd name="txB" fmla="*/ 466 h 466"/>
                  </a:gdLst>
                  <a:ahLst/>
                  <a:cxnLst>
                    <a:cxn ang="0">
                      <a:pos x="136" y="67"/>
                    </a:cxn>
                    <a:cxn ang="0">
                      <a:pos x="105" y="12"/>
                    </a:cxn>
                    <a:cxn ang="0">
                      <a:pos x="55" y="1"/>
                    </a:cxn>
                    <a:cxn ang="0">
                      <a:pos x="58" y="12"/>
                    </a:cxn>
                    <a:cxn ang="0">
                      <a:pos x="96" y="39"/>
                    </a:cxn>
                    <a:cxn ang="0">
                      <a:pos x="130" y="134"/>
                    </a:cxn>
                    <a:cxn ang="0">
                      <a:pos x="73" y="85"/>
                    </a:cxn>
                    <a:cxn ang="0">
                      <a:pos x="32" y="75"/>
                    </a:cxn>
                    <a:cxn ang="0">
                      <a:pos x="7" y="103"/>
                    </a:cxn>
                    <a:cxn ang="0">
                      <a:pos x="38" y="103"/>
                    </a:cxn>
                    <a:cxn ang="0">
                      <a:pos x="108" y="129"/>
                    </a:cxn>
                    <a:cxn ang="0">
                      <a:pos x="104" y="146"/>
                    </a:cxn>
                    <a:cxn ang="0">
                      <a:pos x="92" y="171"/>
                    </a:cxn>
                    <a:cxn ang="0">
                      <a:pos x="126" y="170"/>
                    </a:cxn>
                    <a:cxn ang="0">
                      <a:pos x="69" y="193"/>
                    </a:cxn>
                    <a:cxn ang="0">
                      <a:pos x="37" y="233"/>
                    </a:cxn>
                    <a:cxn ang="0">
                      <a:pos x="6" y="325"/>
                    </a:cxn>
                    <a:cxn ang="0">
                      <a:pos x="72" y="231"/>
                    </a:cxn>
                    <a:cxn ang="0">
                      <a:pos x="118" y="194"/>
                    </a:cxn>
                    <a:cxn ang="0">
                      <a:pos x="94" y="269"/>
                    </a:cxn>
                    <a:cxn ang="0">
                      <a:pos x="76" y="338"/>
                    </a:cxn>
                    <a:cxn ang="0">
                      <a:pos x="71" y="408"/>
                    </a:cxn>
                    <a:cxn ang="0">
                      <a:pos x="98" y="303"/>
                    </a:cxn>
                    <a:cxn ang="0">
                      <a:pos x="124" y="236"/>
                    </a:cxn>
                    <a:cxn ang="0">
                      <a:pos x="125" y="214"/>
                    </a:cxn>
                    <a:cxn ang="0">
                      <a:pos x="118" y="323"/>
                    </a:cxn>
                    <a:cxn ang="0">
                      <a:pos x="138" y="439"/>
                    </a:cxn>
                    <a:cxn ang="0">
                      <a:pos x="128" y="313"/>
                    </a:cxn>
                    <a:cxn ang="0">
                      <a:pos x="127" y="223"/>
                    </a:cxn>
                    <a:cxn ang="0">
                      <a:pos x="147" y="189"/>
                    </a:cxn>
                    <a:cxn ang="0">
                      <a:pos x="188" y="298"/>
                    </a:cxn>
                    <a:cxn ang="0">
                      <a:pos x="223" y="411"/>
                    </a:cxn>
                    <a:cxn ang="0">
                      <a:pos x="193" y="292"/>
                    </a:cxn>
                    <a:cxn ang="0">
                      <a:pos x="160" y="190"/>
                    </a:cxn>
                    <a:cxn ang="0">
                      <a:pos x="164" y="121"/>
                    </a:cxn>
                    <a:cxn ang="0">
                      <a:pos x="194" y="130"/>
                    </a:cxn>
                    <a:cxn ang="0">
                      <a:pos x="240" y="125"/>
                    </a:cxn>
                    <a:cxn ang="0">
                      <a:pos x="216" y="122"/>
                    </a:cxn>
                    <a:cxn ang="0">
                      <a:pos x="163" y="144"/>
                    </a:cxn>
                    <a:cxn ang="0">
                      <a:pos x="194" y="109"/>
                    </a:cxn>
                    <a:cxn ang="0">
                      <a:pos x="244" y="101"/>
                    </a:cxn>
                    <a:cxn ang="0">
                      <a:pos x="229" y="88"/>
                    </a:cxn>
                    <a:cxn ang="0">
                      <a:pos x="163" y="138"/>
                    </a:cxn>
                    <a:cxn ang="0">
                      <a:pos x="172" y="99"/>
                    </a:cxn>
                    <a:cxn ang="0">
                      <a:pos x="226" y="61"/>
                    </a:cxn>
                    <a:cxn ang="0">
                      <a:pos x="188" y="82"/>
                    </a:cxn>
                    <a:cxn ang="0">
                      <a:pos x="147" y="109"/>
                    </a:cxn>
                  </a:cxnLst>
                  <a:rect l="txL" t="txT" r="txR" b="txB"/>
                  <a:pathLst>
                    <a:path w="246" h="466">
                      <a:moveTo>
                        <a:pt x="147" y="109"/>
                      </a:moveTo>
                      <a:lnTo>
                        <a:pt x="143" y="88"/>
                      </a:lnTo>
                      <a:lnTo>
                        <a:pt x="136" y="67"/>
                      </a:lnTo>
                      <a:lnTo>
                        <a:pt x="127" y="44"/>
                      </a:lnTo>
                      <a:lnTo>
                        <a:pt x="117" y="27"/>
                      </a:lnTo>
                      <a:lnTo>
                        <a:pt x="105" y="12"/>
                      </a:lnTo>
                      <a:lnTo>
                        <a:pt x="89" y="5"/>
                      </a:lnTo>
                      <a:lnTo>
                        <a:pt x="69" y="0"/>
                      </a:lnTo>
                      <a:lnTo>
                        <a:pt x="55" y="1"/>
                      </a:lnTo>
                      <a:lnTo>
                        <a:pt x="39" y="0"/>
                      </a:lnTo>
                      <a:lnTo>
                        <a:pt x="49" y="11"/>
                      </a:lnTo>
                      <a:lnTo>
                        <a:pt x="58" y="12"/>
                      </a:lnTo>
                      <a:lnTo>
                        <a:pt x="69" y="19"/>
                      </a:lnTo>
                      <a:lnTo>
                        <a:pt x="80" y="25"/>
                      </a:lnTo>
                      <a:lnTo>
                        <a:pt x="96" y="39"/>
                      </a:lnTo>
                      <a:lnTo>
                        <a:pt x="109" y="58"/>
                      </a:lnTo>
                      <a:lnTo>
                        <a:pt x="118" y="82"/>
                      </a:lnTo>
                      <a:lnTo>
                        <a:pt x="130" y="134"/>
                      </a:lnTo>
                      <a:lnTo>
                        <a:pt x="96" y="99"/>
                      </a:lnTo>
                      <a:lnTo>
                        <a:pt x="85" y="91"/>
                      </a:lnTo>
                      <a:lnTo>
                        <a:pt x="73" y="85"/>
                      </a:lnTo>
                      <a:lnTo>
                        <a:pt x="61" y="83"/>
                      </a:lnTo>
                      <a:lnTo>
                        <a:pt x="54" y="80"/>
                      </a:lnTo>
                      <a:lnTo>
                        <a:pt x="32" y="75"/>
                      </a:lnTo>
                      <a:lnTo>
                        <a:pt x="0" y="72"/>
                      </a:lnTo>
                      <a:lnTo>
                        <a:pt x="0" y="103"/>
                      </a:lnTo>
                      <a:lnTo>
                        <a:pt x="7" y="103"/>
                      </a:lnTo>
                      <a:lnTo>
                        <a:pt x="17" y="104"/>
                      </a:lnTo>
                      <a:lnTo>
                        <a:pt x="29" y="103"/>
                      </a:lnTo>
                      <a:lnTo>
                        <a:pt x="38" y="103"/>
                      </a:lnTo>
                      <a:lnTo>
                        <a:pt x="62" y="107"/>
                      </a:lnTo>
                      <a:lnTo>
                        <a:pt x="72" y="111"/>
                      </a:lnTo>
                      <a:lnTo>
                        <a:pt x="108" y="129"/>
                      </a:lnTo>
                      <a:lnTo>
                        <a:pt x="127" y="144"/>
                      </a:lnTo>
                      <a:lnTo>
                        <a:pt x="113" y="146"/>
                      </a:lnTo>
                      <a:lnTo>
                        <a:pt x="104" y="146"/>
                      </a:lnTo>
                      <a:lnTo>
                        <a:pt x="89" y="161"/>
                      </a:lnTo>
                      <a:lnTo>
                        <a:pt x="82" y="183"/>
                      </a:lnTo>
                      <a:lnTo>
                        <a:pt x="92" y="171"/>
                      </a:lnTo>
                      <a:lnTo>
                        <a:pt x="120" y="155"/>
                      </a:lnTo>
                      <a:lnTo>
                        <a:pt x="137" y="162"/>
                      </a:lnTo>
                      <a:lnTo>
                        <a:pt x="126" y="170"/>
                      </a:lnTo>
                      <a:lnTo>
                        <a:pt x="113" y="171"/>
                      </a:lnTo>
                      <a:lnTo>
                        <a:pt x="79" y="189"/>
                      </a:lnTo>
                      <a:lnTo>
                        <a:pt x="69" y="193"/>
                      </a:lnTo>
                      <a:lnTo>
                        <a:pt x="57" y="199"/>
                      </a:lnTo>
                      <a:lnTo>
                        <a:pt x="48" y="209"/>
                      </a:lnTo>
                      <a:lnTo>
                        <a:pt x="37" y="233"/>
                      </a:lnTo>
                      <a:lnTo>
                        <a:pt x="31" y="251"/>
                      </a:lnTo>
                      <a:lnTo>
                        <a:pt x="13" y="310"/>
                      </a:lnTo>
                      <a:lnTo>
                        <a:pt x="6" y="325"/>
                      </a:lnTo>
                      <a:lnTo>
                        <a:pt x="36" y="281"/>
                      </a:lnTo>
                      <a:lnTo>
                        <a:pt x="50" y="265"/>
                      </a:lnTo>
                      <a:lnTo>
                        <a:pt x="72" y="231"/>
                      </a:lnTo>
                      <a:lnTo>
                        <a:pt x="83" y="218"/>
                      </a:lnTo>
                      <a:lnTo>
                        <a:pt x="92" y="209"/>
                      </a:lnTo>
                      <a:lnTo>
                        <a:pt x="118" y="194"/>
                      </a:lnTo>
                      <a:lnTo>
                        <a:pt x="132" y="181"/>
                      </a:lnTo>
                      <a:lnTo>
                        <a:pt x="121" y="195"/>
                      </a:lnTo>
                      <a:lnTo>
                        <a:pt x="94" y="269"/>
                      </a:lnTo>
                      <a:lnTo>
                        <a:pt x="84" y="302"/>
                      </a:lnTo>
                      <a:lnTo>
                        <a:pt x="79" y="320"/>
                      </a:lnTo>
                      <a:lnTo>
                        <a:pt x="76" y="338"/>
                      </a:lnTo>
                      <a:lnTo>
                        <a:pt x="75" y="359"/>
                      </a:lnTo>
                      <a:lnTo>
                        <a:pt x="74" y="375"/>
                      </a:lnTo>
                      <a:lnTo>
                        <a:pt x="71" y="408"/>
                      </a:lnTo>
                      <a:lnTo>
                        <a:pt x="84" y="375"/>
                      </a:lnTo>
                      <a:lnTo>
                        <a:pt x="92" y="330"/>
                      </a:lnTo>
                      <a:lnTo>
                        <a:pt x="98" y="303"/>
                      </a:lnTo>
                      <a:lnTo>
                        <a:pt x="104" y="286"/>
                      </a:lnTo>
                      <a:lnTo>
                        <a:pt x="118" y="252"/>
                      </a:lnTo>
                      <a:lnTo>
                        <a:pt x="124" y="236"/>
                      </a:lnTo>
                      <a:lnTo>
                        <a:pt x="128" y="216"/>
                      </a:lnTo>
                      <a:lnTo>
                        <a:pt x="137" y="188"/>
                      </a:lnTo>
                      <a:lnTo>
                        <a:pt x="125" y="214"/>
                      </a:lnTo>
                      <a:lnTo>
                        <a:pt x="119" y="243"/>
                      </a:lnTo>
                      <a:lnTo>
                        <a:pt x="117" y="302"/>
                      </a:lnTo>
                      <a:lnTo>
                        <a:pt x="118" y="323"/>
                      </a:lnTo>
                      <a:lnTo>
                        <a:pt x="120" y="362"/>
                      </a:lnTo>
                      <a:lnTo>
                        <a:pt x="123" y="377"/>
                      </a:lnTo>
                      <a:lnTo>
                        <a:pt x="138" y="439"/>
                      </a:lnTo>
                      <a:lnTo>
                        <a:pt x="141" y="465"/>
                      </a:lnTo>
                      <a:lnTo>
                        <a:pt x="137" y="379"/>
                      </a:lnTo>
                      <a:lnTo>
                        <a:pt x="128" y="313"/>
                      </a:lnTo>
                      <a:lnTo>
                        <a:pt x="126" y="291"/>
                      </a:lnTo>
                      <a:lnTo>
                        <a:pt x="125" y="238"/>
                      </a:lnTo>
                      <a:lnTo>
                        <a:pt x="127" y="223"/>
                      </a:lnTo>
                      <a:lnTo>
                        <a:pt x="133" y="196"/>
                      </a:lnTo>
                      <a:lnTo>
                        <a:pt x="138" y="179"/>
                      </a:lnTo>
                      <a:lnTo>
                        <a:pt x="147" y="189"/>
                      </a:lnTo>
                      <a:lnTo>
                        <a:pt x="161" y="212"/>
                      </a:lnTo>
                      <a:lnTo>
                        <a:pt x="177" y="259"/>
                      </a:lnTo>
                      <a:lnTo>
                        <a:pt x="188" y="298"/>
                      </a:lnTo>
                      <a:lnTo>
                        <a:pt x="197" y="333"/>
                      </a:lnTo>
                      <a:lnTo>
                        <a:pt x="213" y="384"/>
                      </a:lnTo>
                      <a:lnTo>
                        <a:pt x="223" y="411"/>
                      </a:lnTo>
                      <a:lnTo>
                        <a:pt x="232" y="429"/>
                      </a:lnTo>
                      <a:lnTo>
                        <a:pt x="228" y="403"/>
                      </a:lnTo>
                      <a:lnTo>
                        <a:pt x="193" y="292"/>
                      </a:lnTo>
                      <a:lnTo>
                        <a:pt x="171" y="232"/>
                      </a:lnTo>
                      <a:lnTo>
                        <a:pt x="165" y="210"/>
                      </a:lnTo>
                      <a:lnTo>
                        <a:pt x="160" y="190"/>
                      </a:lnTo>
                      <a:lnTo>
                        <a:pt x="144" y="150"/>
                      </a:lnTo>
                      <a:lnTo>
                        <a:pt x="147" y="132"/>
                      </a:lnTo>
                      <a:lnTo>
                        <a:pt x="164" y="121"/>
                      </a:lnTo>
                      <a:lnTo>
                        <a:pt x="172" y="125"/>
                      </a:lnTo>
                      <a:lnTo>
                        <a:pt x="183" y="126"/>
                      </a:lnTo>
                      <a:lnTo>
                        <a:pt x="194" y="130"/>
                      </a:lnTo>
                      <a:lnTo>
                        <a:pt x="239" y="136"/>
                      </a:lnTo>
                      <a:lnTo>
                        <a:pt x="236" y="136"/>
                      </a:lnTo>
                      <a:lnTo>
                        <a:pt x="240" y="125"/>
                      </a:lnTo>
                      <a:lnTo>
                        <a:pt x="242" y="125"/>
                      </a:lnTo>
                      <a:lnTo>
                        <a:pt x="230" y="122"/>
                      </a:lnTo>
                      <a:lnTo>
                        <a:pt x="216" y="122"/>
                      </a:lnTo>
                      <a:lnTo>
                        <a:pt x="199" y="127"/>
                      </a:lnTo>
                      <a:lnTo>
                        <a:pt x="180" y="135"/>
                      </a:lnTo>
                      <a:lnTo>
                        <a:pt x="163" y="144"/>
                      </a:lnTo>
                      <a:lnTo>
                        <a:pt x="150" y="149"/>
                      </a:lnTo>
                      <a:lnTo>
                        <a:pt x="168" y="129"/>
                      </a:lnTo>
                      <a:lnTo>
                        <a:pt x="194" y="109"/>
                      </a:lnTo>
                      <a:lnTo>
                        <a:pt x="220" y="100"/>
                      </a:lnTo>
                      <a:lnTo>
                        <a:pt x="232" y="100"/>
                      </a:lnTo>
                      <a:lnTo>
                        <a:pt x="244" y="101"/>
                      </a:lnTo>
                      <a:lnTo>
                        <a:pt x="239" y="101"/>
                      </a:lnTo>
                      <a:lnTo>
                        <a:pt x="245" y="85"/>
                      </a:lnTo>
                      <a:lnTo>
                        <a:pt x="229" y="88"/>
                      </a:lnTo>
                      <a:lnTo>
                        <a:pt x="212" y="97"/>
                      </a:lnTo>
                      <a:lnTo>
                        <a:pt x="193" y="111"/>
                      </a:lnTo>
                      <a:lnTo>
                        <a:pt x="163" y="138"/>
                      </a:lnTo>
                      <a:lnTo>
                        <a:pt x="150" y="149"/>
                      </a:lnTo>
                      <a:lnTo>
                        <a:pt x="157" y="114"/>
                      </a:lnTo>
                      <a:lnTo>
                        <a:pt x="172" y="99"/>
                      </a:lnTo>
                      <a:lnTo>
                        <a:pt x="190" y="85"/>
                      </a:lnTo>
                      <a:lnTo>
                        <a:pt x="214" y="67"/>
                      </a:lnTo>
                      <a:lnTo>
                        <a:pt x="226" y="61"/>
                      </a:lnTo>
                      <a:lnTo>
                        <a:pt x="212" y="57"/>
                      </a:lnTo>
                      <a:lnTo>
                        <a:pt x="200" y="67"/>
                      </a:lnTo>
                      <a:lnTo>
                        <a:pt x="188" y="82"/>
                      </a:lnTo>
                      <a:lnTo>
                        <a:pt x="178" y="93"/>
                      </a:lnTo>
                      <a:lnTo>
                        <a:pt x="163" y="115"/>
                      </a:lnTo>
                      <a:lnTo>
                        <a:pt x="147" y="109"/>
                      </a:lnTo>
                    </a:path>
                  </a:pathLst>
                </a:custGeom>
                <a:solidFill>
                  <a:srgbClr val="037C03">
                    <a:alpha val="50195"/>
                  </a:srgbClr>
                </a:solidFill>
                <a:ln w="9525">
                  <a:noFill/>
                </a:ln>
              </p:spPr>
              <p:txBody>
                <a:bodyPr/>
                <a:lstStyle/>
                <a:p>
                  <a:endParaRPr lang="zh-CN" altLang="en-US"/>
                </a:p>
              </p:txBody>
            </p:sp>
          </p:grpSp>
          <p:grpSp>
            <p:nvGrpSpPr>
              <p:cNvPr id="89238" name="Group 89"/>
              <p:cNvGrpSpPr/>
              <p:nvPr/>
            </p:nvGrpSpPr>
            <p:grpSpPr>
              <a:xfrm>
                <a:off x="1985" y="1419"/>
                <a:ext cx="465" cy="602"/>
                <a:chOff x="1985" y="1419"/>
                <a:chExt cx="465" cy="602"/>
              </a:xfrm>
            </p:grpSpPr>
            <p:sp>
              <p:nvSpPr>
                <p:cNvPr id="89239" name="Freeform 90"/>
                <p:cNvSpPr/>
                <p:nvPr/>
              </p:nvSpPr>
              <p:spPr>
                <a:xfrm>
                  <a:off x="2164" y="1525"/>
                  <a:ext cx="130" cy="496"/>
                </a:xfrm>
                <a:custGeom>
                  <a:avLst/>
                  <a:gdLst>
                    <a:gd name="txL" fmla="*/ 0 w 130"/>
                    <a:gd name="txT" fmla="*/ 0 h 496"/>
                    <a:gd name="txR" fmla="*/ 130 w 130"/>
                    <a:gd name="txB" fmla="*/ 496 h 496"/>
                  </a:gdLst>
                  <a:ahLst/>
                  <a:cxnLst>
                    <a:cxn ang="0">
                      <a:pos x="129" y="230"/>
                    </a:cxn>
                    <a:cxn ang="0">
                      <a:pos x="118" y="330"/>
                    </a:cxn>
                    <a:cxn ang="0">
                      <a:pos x="107" y="411"/>
                    </a:cxn>
                    <a:cxn ang="0">
                      <a:pos x="100" y="471"/>
                    </a:cxn>
                    <a:cxn ang="0">
                      <a:pos x="101" y="495"/>
                    </a:cxn>
                    <a:cxn ang="0">
                      <a:pos x="86" y="495"/>
                    </a:cxn>
                    <a:cxn ang="0">
                      <a:pos x="81" y="460"/>
                    </a:cxn>
                    <a:cxn ang="0">
                      <a:pos x="79" y="408"/>
                    </a:cxn>
                    <a:cxn ang="0">
                      <a:pos x="73" y="358"/>
                    </a:cxn>
                    <a:cxn ang="0">
                      <a:pos x="70" y="321"/>
                    </a:cxn>
                    <a:cxn ang="0">
                      <a:pos x="64" y="268"/>
                    </a:cxn>
                    <a:cxn ang="0">
                      <a:pos x="56" y="222"/>
                    </a:cxn>
                    <a:cxn ang="0">
                      <a:pos x="51" y="181"/>
                    </a:cxn>
                    <a:cxn ang="0">
                      <a:pos x="45" y="137"/>
                    </a:cxn>
                    <a:cxn ang="0">
                      <a:pos x="35" y="94"/>
                    </a:cxn>
                    <a:cxn ang="0">
                      <a:pos x="24" y="57"/>
                    </a:cxn>
                    <a:cxn ang="0">
                      <a:pos x="6" y="21"/>
                    </a:cxn>
                    <a:cxn ang="0">
                      <a:pos x="0" y="8"/>
                    </a:cxn>
                    <a:cxn ang="0">
                      <a:pos x="7" y="0"/>
                    </a:cxn>
                    <a:cxn ang="0">
                      <a:pos x="19" y="14"/>
                    </a:cxn>
                    <a:cxn ang="0">
                      <a:pos x="35" y="47"/>
                    </a:cxn>
                    <a:cxn ang="0">
                      <a:pos x="47" y="81"/>
                    </a:cxn>
                    <a:cxn ang="0">
                      <a:pos x="56" y="116"/>
                    </a:cxn>
                    <a:cxn ang="0">
                      <a:pos x="63" y="161"/>
                    </a:cxn>
                    <a:cxn ang="0">
                      <a:pos x="69" y="204"/>
                    </a:cxn>
                    <a:cxn ang="0">
                      <a:pos x="77" y="262"/>
                    </a:cxn>
                    <a:cxn ang="0">
                      <a:pos x="84" y="309"/>
                    </a:cxn>
                    <a:cxn ang="0">
                      <a:pos x="87" y="347"/>
                    </a:cxn>
                    <a:cxn ang="0">
                      <a:pos x="90" y="386"/>
                    </a:cxn>
                    <a:cxn ang="0">
                      <a:pos x="96" y="427"/>
                    </a:cxn>
                    <a:cxn ang="0">
                      <a:pos x="104" y="357"/>
                    </a:cxn>
                    <a:cxn ang="0">
                      <a:pos x="114" y="292"/>
                    </a:cxn>
                    <a:cxn ang="0">
                      <a:pos x="129" y="230"/>
                    </a:cxn>
                  </a:cxnLst>
                  <a:rect l="txL" t="txT" r="txR" b="txB"/>
                  <a:pathLst>
                    <a:path w="130" h="496">
                      <a:moveTo>
                        <a:pt x="129" y="230"/>
                      </a:moveTo>
                      <a:lnTo>
                        <a:pt x="118" y="330"/>
                      </a:lnTo>
                      <a:lnTo>
                        <a:pt x="107" y="411"/>
                      </a:lnTo>
                      <a:lnTo>
                        <a:pt x="100" y="471"/>
                      </a:lnTo>
                      <a:lnTo>
                        <a:pt x="101" y="495"/>
                      </a:lnTo>
                      <a:lnTo>
                        <a:pt x="86" y="495"/>
                      </a:lnTo>
                      <a:lnTo>
                        <a:pt x="81" y="460"/>
                      </a:lnTo>
                      <a:lnTo>
                        <a:pt x="79" y="408"/>
                      </a:lnTo>
                      <a:lnTo>
                        <a:pt x="73" y="358"/>
                      </a:lnTo>
                      <a:lnTo>
                        <a:pt x="70" y="321"/>
                      </a:lnTo>
                      <a:lnTo>
                        <a:pt x="64" y="268"/>
                      </a:lnTo>
                      <a:lnTo>
                        <a:pt x="56" y="222"/>
                      </a:lnTo>
                      <a:lnTo>
                        <a:pt x="51" y="181"/>
                      </a:lnTo>
                      <a:lnTo>
                        <a:pt x="45" y="137"/>
                      </a:lnTo>
                      <a:lnTo>
                        <a:pt x="35" y="94"/>
                      </a:lnTo>
                      <a:lnTo>
                        <a:pt x="24" y="57"/>
                      </a:lnTo>
                      <a:lnTo>
                        <a:pt x="6" y="21"/>
                      </a:lnTo>
                      <a:lnTo>
                        <a:pt x="0" y="8"/>
                      </a:lnTo>
                      <a:lnTo>
                        <a:pt x="7" y="0"/>
                      </a:lnTo>
                      <a:lnTo>
                        <a:pt x="19" y="14"/>
                      </a:lnTo>
                      <a:lnTo>
                        <a:pt x="35" y="47"/>
                      </a:lnTo>
                      <a:lnTo>
                        <a:pt x="47" y="81"/>
                      </a:lnTo>
                      <a:lnTo>
                        <a:pt x="56" y="116"/>
                      </a:lnTo>
                      <a:lnTo>
                        <a:pt x="63" y="161"/>
                      </a:lnTo>
                      <a:lnTo>
                        <a:pt x="69" y="204"/>
                      </a:lnTo>
                      <a:lnTo>
                        <a:pt x="77" y="262"/>
                      </a:lnTo>
                      <a:lnTo>
                        <a:pt x="84" y="309"/>
                      </a:lnTo>
                      <a:lnTo>
                        <a:pt x="87" y="347"/>
                      </a:lnTo>
                      <a:lnTo>
                        <a:pt x="90" y="386"/>
                      </a:lnTo>
                      <a:lnTo>
                        <a:pt x="96" y="427"/>
                      </a:lnTo>
                      <a:lnTo>
                        <a:pt x="104" y="357"/>
                      </a:lnTo>
                      <a:lnTo>
                        <a:pt x="114" y="292"/>
                      </a:lnTo>
                      <a:lnTo>
                        <a:pt x="129" y="230"/>
                      </a:lnTo>
                    </a:path>
                  </a:pathLst>
                </a:custGeom>
                <a:solidFill>
                  <a:srgbClr val="3C0023">
                    <a:alpha val="50195"/>
                  </a:srgbClr>
                </a:solidFill>
                <a:ln w="9525">
                  <a:noFill/>
                </a:ln>
              </p:spPr>
              <p:txBody>
                <a:bodyPr/>
                <a:lstStyle/>
                <a:p>
                  <a:endParaRPr lang="zh-CN" altLang="en-US"/>
                </a:p>
              </p:txBody>
            </p:sp>
            <p:sp>
              <p:nvSpPr>
                <p:cNvPr id="89240" name="Freeform 91"/>
                <p:cNvSpPr/>
                <p:nvPr/>
              </p:nvSpPr>
              <p:spPr>
                <a:xfrm>
                  <a:off x="2204" y="1606"/>
                  <a:ext cx="229" cy="358"/>
                </a:xfrm>
                <a:custGeom>
                  <a:avLst/>
                  <a:gdLst>
                    <a:gd name="txL" fmla="*/ 0 w 229"/>
                    <a:gd name="txT" fmla="*/ 0 h 358"/>
                    <a:gd name="txR" fmla="*/ 229 w 229"/>
                    <a:gd name="txB" fmla="*/ 358 h 358"/>
                  </a:gdLst>
                  <a:ahLst/>
                  <a:cxnLst>
                    <a:cxn ang="0">
                      <a:pos x="60" y="58"/>
                    </a:cxn>
                    <a:cxn ang="0">
                      <a:pos x="67" y="44"/>
                    </a:cxn>
                    <a:cxn ang="0">
                      <a:pos x="64" y="5"/>
                    </a:cxn>
                    <a:cxn ang="0">
                      <a:pos x="64" y="5"/>
                    </a:cxn>
                    <a:cxn ang="0">
                      <a:pos x="64" y="5"/>
                    </a:cxn>
                    <a:cxn ang="0">
                      <a:pos x="64" y="5"/>
                    </a:cxn>
                    <a:cxn ang="0">
                      <a:pos x="64" y="5"/>
                    </a:cxn>
                    <a:cxn ang="0">
                      <a:pos x="70" y="2"/>
                    </a:cxn>
                    <a:cxn ang="0">
                      <a:pos x="82" y="66"/>
                    </a:cxn>
                    <a:cxn ang="0">
                      <a:pos x="94" y="39"/>
                    </a:cxn>
                    <a:cxn ang="0">
                      <a:pos x="101" y="5"/>
                    </a:cxn>
                    <a:cxn ang="0">
                      <a:pos x="104" y="5"/>
                    </a:cxn>
                    <a:cxn ang="0">
                      <a:pos x="103" y="5"/>
                    </a:cxn>
                    <a:cxn ang="0">
                      <a:pos x="104" y="5"/>
                    </a:cxn>
                    <a:cxn ang="0">
                      <a:pos x="102" y="5"/>
                    </a:cxn>
                    <a:cxn ang="0">
                      <a:pos x="103" y="5"/>
                    </a:cxn>
                    <a:cxn ang="0">
                      <a:pos x="105" y="47"/>
                    </a:cxn>
                    <a:cxn ang="0">
                      <a:pos x="111" y="88"/>
                    </a:cxn>
                    <a:cxn ang="0">
                      <a:pos x="139" y="79"/>
                    </a:cxn>
                    <a:cxn ang="0">
                      <a:pos x="176" y="81"/>
                    </a:cxn>
                    <a:cxn ang="0">
                      <a:pos x="205" y="104"/>
                    </a:cxn>
                    <a:cxn ang="0">
                      <a:pos x="228" y="155"/>
                    </a:cxn>
                    <a:cxn ang="0">
                      <a:pos x="200" y="147"/>
                    </a:cxn>
                    <a:cxn ang="0">
                      <a:pos x="171" y="131"/>
                    </a:cxn>
                    <a:cxn ang="0">
                      <a:pos x="132" y="121"/>
                    </a:cxn>
                    <a:cxn ang="0">
                      <a:pos x="107" y="125"/>
                    </a:cxn>
                    <a:cxn ang="0">
                      <a:pos x="122" y="150"/>
                    </a:cxn>
                    <a:cxn ang="0">
                      <a:pos x="154" y="165"/>
                    </a:cxn>
                    <a:cxn ang="0">
                      <a:pos x="187" y="175"/>
                    </a:cxn>
                    <a:cxn ang="0">
                      <a:pos x="212" y="212"/>
                    </a:cxn>
                    <a:cxn ang="0">
                      <a:pos x="224" y="262"/>
                    </a:cxn>
                    <a:cxn ang="0">
                      <a:pos x="194" y="231"/>
                    </a:cxn>
                    <a:cxn ang="0">
                      <a:pos x="163" y="199"/>
                    </a:cxn>
                    <a:cxn ang="0">
                      <a:pos x="133" y="172"/>
                    </a:cxn>
                    <a:cxn ang="0">
                      <a:pos x="111" y="159"/>
                    </a:cxn>
                    <a:cxn ang="0">
                      <a:pos x="97" y="185"/>
                    </a:cxn>
                    <a:cxn ang="0">
                      <a:pos x="115" y="245"/>
                    </a:cxn>
                    <a:cxn ang="0">
                      <a:pos x="132" y="312"/>
                    </a:cxn>
                    <a:cxn ang="0">
                      <a:pos x="114" y="328"/>
                    </a:cxn>
                    <a:cxn ang="0">
                      <a:pos x="95" y="236"/>
                    </a:cxn>
                    <a:cxn ang="0">
                      <a:pos x="78" y="179"/>
                    </a:cxn>
                    <a:cxn ang="0">
                      <a:pos x="73" y="197"/>
                    </a:cxn>
                    <a:cxn ang="0">
                      <a:pos x="74" y="186"/>
                    </a:cxn>
                    <a:cxn ang="0">
                      <a:pos x="70" y="206"/>
                    </a:cxn>
                    <a:cxn ang="0">
                      <a:pos x="51" y="257"/>
                    </a:cxn>
                    <a:cxn ang="0">
                      <a:pos x="32" y="322"/>
                    </a:cxn>
                    <a:cxn ang="0">
                      <a:pos x="28" y="304"/>
                    </a:cxn>
                    <a:cxn ang="0">
                      <a:pos x="38" y="249"/>
                    </a:cxn>
                    <a:cxn ang="0">
                      <a:pos x="59" y="189"/>
                    </a:cxn>
                    <a:cxn ang="0">
                      <a:pos x="82" y="143"/>
                    </a:cxn>
                    <a:cxn ang="0">
                      <a:pos x="65" y="139"/>
                    </a:cxn>
                    <a:cxn ang="0">
                      <a:pos x="40" y="189"/>
                    </a:cxn>
                    <a:cxn ang="0">
                      <a:pos x="18" y="243"/>
                    </a:cxn>
                    <a:cxn ang="0">
                      <a:pos x="2" y="278"/>
                    </a:cxn>
                    <a:cxn ang="0">
                      <a:pos x="13" y="229"/>
                    </a:cxn>
                    <a:cxn ang="0">
                      <a:pos x="37" y="179"/>
                    </a:cxn>
                    <a:cxn ang="0">
                      <a:pos x="70" y="130"/>
                    </a:cxn>
                    <a:cxn ang="0">
                      <a:pos x="62" y="99"/>
                    </a:cxn>
                    <a:cxn ang="0">
                      <a:pos x="37" y="59"/>
                    </a:cxn>
                    <a:cxn ang="0">
                      <a:pos x="11" y="12"/>
                    </a:cxn>
                    <a:cxn ang="0">
                      <a:pos x="14" y="5"/>
                    </a:cxn>
                    <a:cxn ang="0">
                      <a:pos x="27" y="5"/>
                    </a:cxn>
                    <a:cxn ang="0">
                      <a:pos x="31" y="10"/>
                    </a:cxn>
                  </a:cxnLst>
                  <a:rect l="txL" t="txT" r="txR" b="txB"/>
                  <a:pathLst>
                    <a:path w="229" h="358">
                      <a:moveTo>
                        <a:pt x="43" y="31"/>
                      </a:moveTo>
                      <a:lnTo>
                        <a:pt x="47" y="39"/>
                      </a:lnTo>
                      <a:lnTo>
                        <a:pt x="51" y="44"/>
                      </a:lnTo>
                      <a:lnTo>
                        <a:pt x="55" y="51"/>
                      </a:lnTo>
                      <a:lnTo>
                        <a:pt x="60" y="58"/>
                      </a:lnTo>
                      <a:lnTo>
                        <a:pt x="64" y="63"/>
                      </a:lnTo>
                      <a:lnTo>
                        <a:pt x="68" y="66"/>
                      </a:lnTo>
                      <a:lnTo>
                        <a:pt x="72" y="69"/>
                      </a:lnTo>
                      <a:lnTo>
                        <a:pt x="70" y="58"/>
                      </a:lnTo>
                      <a:lnTo>
                        <a:pt x="67" y="44"/>
                      </a:lnTo>
                      <a:lnTo>
                        <a:pt x="65" y="30"/>
                      </a:lnTo>
                      <a:lnTo>
                        <a:pt x="63" y="15"/>
                      </a:lnTo>
                      <a:lnTo>
                        <a:pt x="64" y="5"/>
                      </a:lnTo>
                      <a:lnTo>
                        <a:pt x="69" y="5"/>
                      </a:lnTo>
                      <a:lnTo>
                        <a:pt x="70" y="5"/>
                      </a:lnTo>
                      <a:lnTo>
                        <a:pt x="70" y="2"/>
                      </a:lnTo>
                      <a:lnTo>
                        <a:pt x="73" y="16"/>
                      </a:lnTo>
                      <a:lnTo>
                        <a:pt x="76" y="30"/>
                      </a:lnTo>
                      <a:lnTo>
                        <a:pt x="78" y="41"/>
                      </a:lnTo>
                      <a:lnTo>
                        <a:pt x="81" y="56"/>
                      </a:lnTo>
                      <a:lnTo>
                        <a:pt x="82" y="66"/>
                      </a:lnTo>
                      <a:lnTo>
                        <a:pt x="84" y="71"/>
                      </a:lnTo>
                      <a:lnTo>
                        <a:pt x="87" y="66"/>
                      </a:lnTo>
                      <a:lnTo>
                        <a:pt x="89" y="59"/>
                      </a:lnTo>
                      <a:lnTo>
                        <a:pt x="93" y="52"/>
                      </a:lnTo>
                      <a:lnTo>
                        <a:pt x="94" y="39"/>
                      </a:lnTo>
                      <a:lnTo>
                        <a:pt x="95" y="30"/>
                      </a:lnTo>
                      <a:lnTo>
                        <a:pt x="96" y="14"/>
                      </a:lnTo>
                      <a:lnTo>
                        <a:pt x="96" y="0"/>
                      </a:lnTo>
                      <a:lnTo>
                        <a:pt x="101" y="5"/>
                      </a:lnTo>
                      <a:lnTo>
                        <a:pt x="102" y="5"/>
                      </a:lnTo>
                      <a:lnTo>
                        <a:pt x="103" y="5"/>
                      </a:lnTo>
                      <a:lnTo>
                        <a:pt x="104" y="5"/>
                      </a:lnTo>
                      <a:lnTo>
                        <a:pt x="105" y="5"/>
                      </a:lnTo>
                      <a:lnTo>
                        <a:pt x="104" y="5"/>
                      </a:lnTo>
                      <a:lnTo>
                        <a:pt x="102" y="5"/>
                      </a:lnTo>
                      <a:lnTo>
                        <a:pt x="103" y="5"/>
                      </a:lnTo>
                      <a:lnTo>
                        <a:pt x="105" y="5"/>
                      </a:lnTo>
                      <a:lnTo>
                        <a:pt x="103" y="5"/>
                      </a:lnTo>
                      <a:lnTo>
                        <a:pt x="101" y="5"/>
                      </a:lnTo>
                      <a:lnTo>
                        <a:pt x="102" y="5"/>
                      </a:lnTo>
                      <a:lnTo>
                        <a:pt x="101" y="5"/>
                      </a:lnTo>
                      <a:lnTo>
                        <a:pt x="104" y="5"/>
                      </a:lnTo>
                      <a:lnTo>
                        <a:pt x="103" y="5"/>
                      </a:lnTo>
                      <a:lnTo>
                        <a:pt x="100" y="5"/>
                      </a:lnTo>
                      <a:lnTo>
                        <a:pt x="101" y="5"/>
                      </a:lnTo>
                      <a:lnTo>
                        <a:pt x="103" y="5"/>
                      </a:lnTo>
                      <a:lnTo>
                        <a:pt x="102" y="5"/>
                      </a:lnTo>
                      <a:lnTo>
                        <a:pt x="104" y="5"/>
                      </a:lnTo>
                      <a:lnTo>
                        <a:pt x="102" y="5"/>
                      </a:lnTo>
                      <a:lnTo>
                        <a:pt x="107" y="5"/>
                      </a:lnTo>
                      <a:lnTo>
                        <a:pt x="103" y="5"/>
                      </a:lnTo>
                      <a:lnTo>
                        <a:pt x="104" y="5"/>
                      </a:lnTo>
                      <a:lnTo>
                        <a:pt x="107" y="2"/>
                      </a:lnTo>
                      <a:lnTo>
                        <a:pt x="107" y="15"/>
                      </a:lnTo>
                      <a:lnTo>
                        <a:pt x="106" y="31"/>
                      </a:lnTo>
                      <a:lnTo>
                        <a:pt x="105" y="47"/>
                      </a:lnTo>
                      <a:lnTo>
                        <a:pt x="103" y="66"/>
                      </a:lnTo>
                      <a:lnTo>
                        <a:pt x="102" y="83"/>
                      </a:lnTo>
                      <a:lnTo>
                        <a:pt x="101" y="100"/>
                      </a:lnTo>
                      <a:lnTo>
                        <a:pt x="105" y="95"/>
                      </a:lnTo>
                      <a:lnTo>
                        <a:pt x="111" y="88"/>
                      </a:lnTo>
                      <a:lnTo>
                        <a:pt x="118" y="80"/>
                      </a:lnTo>
                      <a:lnTo>
                        <a:pt x="123" y="78"/>
                      </a:lnTo>
                      <a:lnTo>
                        <a:pt x="129" y="76"/>
                      </a:lnTo>
                      <a:lnTo>
                        <a:pt x="134" y="79"/>
                      </a:lnTo>
                      <a:lnTo>
                        <a:pt x="139" y="79"/>
                      </a:lnTo>
                      <a:lnTo>
                        <a:pt x="146" y="81"/>
                      </a:lnTo>
                      <a:lnTo>
                        <a:pt x="154" y="83"/>
                      </a:lnTo>
                      <a:lnTo>
                        <a:pt x="162" y="83"/>
                      </a:lnTo>
                      <a:lnTo>
                        <a:pt x="169" y="81"/>
                      </a:lnTo>
                      <a:lnTo>
                        <a:pt x="176" y="81"/>
                      </a:lnTo>
                      <a:lnTo>
                        <a:pt x="182" y="83"/>
                      </a:lnTo>
                      <a:lnTo>
                        <a:pt x="188" y="88"/>
                      </a:lnTo>
                      <a:lnTo>
                        <a:pt x="195" y="93"/>
                      </a:lnTo>
                      <a:lnTo>
                        <a:pt x="200" y="98"/>
                      </a:lnTo>
                      <a:lnTo>
                        <a:pt x="205" y="104"/>
                      </a:lnTo>
                      <a:lnTo>
                        <a:pt x="211" y="112"/>
                      </a:lnTo>
                      <a:lnTo>
                        <a:pt x="214" y="117"/>
                      </a:lnTo>
                      <a:lnTo>
                        <a:pt x="220" y="129"/>
                      </a:lnTo>
                      <a:lnTo>
                        <a:pt x="223" y="142"/>
                      </a:lnTo>
                      <a:lnTo>
                        <a:pt x="228" y="155"/>
                      </a:lnTo>
                      <a:lnTo>
                        <a:pt x="223" y="156"/>
                      </a:lnTo>
                      <a:lnTo>
                        <a:pt x="217" y="154"/>
                      </a:lnTo>
                      <a:lnTo>
                        <a:pt x="210" y="152"/>
                      </a:lnTo>
                      <a:lnTo>
                        <a:pt x="205" y="150"/>
                      </a:lnTo>
                      <a:lnTo>
                        <a:pt x="200" y="147"/>
                      </a:lnTo>
                      <a:lnTo>
                        <a:pt x="195" y="143"/>
                      </a:lnTo>
                      <a:lnTo>
                        <a:pt x="189" y="138"/>
                      </a:lnTo>
                      <a:lnTo>
                        <a:pt x="184" y="135"/>
                      </a:lnTo>
                      <a:lnTo>
                        <a:pt x="179" y="133"/>
                      </a:lnTo>
                      <a:lnTo>
                        <a:pt x="171" y="131"/>
                      </a:lnTo>
                      <a:lnTo>
                        <a:pt x="162" y="129"/>
                      </a:lnTo>
                      <a:lnTo>
                        <a:pt x="154" y="126"/>
                      </a:lnTo>
                      <a:lnTo>
                        <a:pt x="146" y="124"/>
                      </a:lnTo>
                      <a:lnTo>
                        <a:pt x="138" y="122"/>
                      </a:lnTo>
                      <a:lnTo>
                        <a:pt x="132" y="121"/>
                      </a:lnTo>
                      <a:lnTo>
                        <a:pt x="128" y="120"/>
                      </a:lnTo>
                      <a:lnTo>
                        <a:pt x="122" y="120"/>
                      </a:lnTo>
                      <a:lnTo>
                        <a:pt x="116" y="121"/>
                      </a:lnTo>
                      <a:lnTo>
                        <a:pt x="112" y="122"/>
                      </a:lnTo>
                      <a:lnTo>
                        <a:pt x="107" y="125"/>
                      </a:lnTo>
                      <a:lnTo>
                        <a:pt x="100" y="129"/>
                      </a:lnTo>
                      <a:lnTo>
                        <a:pt x="105" y="135"/>
                      </a:lnTo>
                      <a:lnTo>
                        <a:pt x="111" y="140"/>
                      </a:lnTo>
                      <a:lnTo>
                        <a:pt x="116" y="147"/>
                      </a:lnTo>
                      <a:lnTo>
                        <a:pt x="122" y="150"/>
                      </a:lnTo>
                      <a:lnTo>
                        <a:pt x="129" y="155"/>
                      </a:lnTo>
                      <a:lnTo>
                        <a:pt x="133" y="158"/>
                      </a:lnTo>
                      <a:lnTo>
                        <a:pt x="139" y="159"/>
                      </a:lnTo>
                      <a:lnTo>
                        <a:pt x="147" y="162"/>
                      </a:lnTo>
                      <a:lnTo>
                        <a:pt x="154" y="165"/>
                      </a:lnTo>
                      <a:lnTo>
                        <a:pt x="161" y="167"/>
                      </a:lnTo>
                      <a:lnTo>
                        <a:pt x="168" y="169"/>
                      </a:lnTo>
                      <a:lnTo>
                        <a:pt x="174" y="170"/>
                      </a:lnTo>
                      <a:lnTo>
                        <a:pt x="181" y="174"/>
                      </a:lnTo>
                      <a:lnTo>
                        <a:pt x="187" y="175"/>
                      </a:lnTo>
                      <a:lnTo>
                        <a:pt x="191" y="179"/>
                      </a:lnTo>
                      <a:lnTo>
                        <a:pt x="197" y="186"/>
                      </a:lnTo>
                      <a:lnTo>
                        <a:pt x="202" y="193"/>
                      </a:lnTo>
                      <a:lnTo>
                        <a:pt x="206" y="202"/>
                      </a:lnTo>
                      <a:lnTo>
                        <a:pt x="212" y="212"/>
                      </a:lnTo>
                      <a:lnTo>
                        <a:pt x="214" y="218"/>
                      </a:lnTo>
                      <a:lnTo>
                        <a:pt x="217" y="229"/>
                      </a:lnTo>
                      <a:lnTo>
                        <a:pt x="219" y="240"/>
                      </a:lnTo>
                      <a:lnTo>
                        <a:pt x="221" y="253"/>
                      </a:lnTo>
                      <a:lnTo>
                        <a:pt x="224" y="262"/>
                      </a:lnTo>
                      <a:lnTo>
                        <a:pt x="219" y="257"/>
                      </a:lnTo>
                      <a:lnTo>
                        <a:pt x="212" y="250"/>
                      </a:lnTo>
                      <a:lnTo>
                        <a:pt x="206" y="245"/>
                      </a:lnTo>
                      <a:lnTo>
                        <a:pt x="200" y="238"/>
                      </a:lnTo>
                      <a:lnTo>
                        <a:pt x="194" y="231"/>
                      </a:lnTo>
                      <a:lnTo>
                        <a:pt x="188" y="226"/>
                      </a:lnTo>
                      <a:lnTo>
                        <a:pt x="182" y="219"/>
                      </a:lnTo>
                      <a:lnTo>
                        <a:pt x="176" y="213"/>
                      </a:lnTo>
                      <a:lnTo>
                        <a:pt x="169" y="206"/>
                      </a:lnTo>
                      <a:lnTo>
                        <a:pt x="163" y="199"/>
                      </a:lnTo>
                      <a:lnTo>
                        <a:pt x="158" y="194"/>
                      </a:lnTo>
                      <a:lnTo>
                        <a:pt x="151" y="187"/>
                      </a:lnTo>
                      <a:lnTo>
                        <a:pt x="145" y="182"/>
                      </a:lnTo>
                      <a:lnTo>
                        <a:pt x="139" y="177"/>
                      </a:lnTo>
                      <a:lnTo>
                        <a:pt x="133" y="172"/>
                      </a:lnTo>
                      <a:lnTo>
                        <a:pt x="129" y="170"/>
                      </a:lnTo>
                      <a:lnTo>
                        <a:pt x="125" y="166"/>
                      </a:lnTo>
                      <a:lnTo>
                        <a:pt x="119" y="162"/>
                      </a:lnTo>
                      <a:lnTo>
                        <a:pt x="115" y="158"/>
                      </a:lnTo>
                      <a:lnTo>
                        <a:pt x="111" y="159"/>
                      </a:lnTo>
                      <a:lnTo>
                        <a:pt x="107" y="162"/>
                      </a:lnTo>
                      <a:lnTo>
                        <a:pt x="103" y="161"/>
                      </a:lnTo>
                      <a:lnTo>
                        <a:pt x="99" y="158"/>
                      </a:lnTo>
                      <a:lnTo>
                        <a:pt x="98" y="170"/>
                      </a:lnTo>
                      <a:lnTo>
                        <a:pt x="97" y="185"/>
                      </a:lnTo>
                      <a:lnTo>
                        <a:pt x="100" y="197"/>
                      </a:lnTo>
                      <a:lnTo>
                        <a:pt x="102" y="211"/>
                      </a:lnTo>
                      <a:lnTo>
                        <a:pt x="107" y="220"/>
                      </a:lnTo>
                      <a:lnTo>
                        <a:pt x="111" y="231"/>
                      </a:lnTo>
                      <a:lnTo>
                        <a:pt x="115" y="245"/>
                      </a:lnTo>
                      <a:lnTo>
                        <a:pt x="119" y="259"/>
                      </a:lnTo>
                      <a:lnTo>
                        <a:pt x="123" y="268"/>
                      </a:lnTo>
                      <a:lnTo>
                        <a:pt x="127" y="278"/>
                      </a:lnTo>
                      <a:lnTo>
                        <a:pt x="131" y="297"/>
                      </a:lnTo>
                      <a:lnTo>
                        <a:pt x="132" y="312"/>
                      </a:lnTo>
                      <a:lnTo>
                        <a:pt x="135" y="331"/>
                      </a:lnTo>
                      <a:lnTo>
                        <a:pt x="138" y="349"/>
                      </a:lnTo>
                      <a:lnTo>
                        <a:pt x="125" y="349"/>
                      </a:lnTo>
                      <a:lnTo>
                        <a:pt x="122" y="349"/>
                      </a:lnTo>
                      <a:lnTo>
                        <a:pt x="114" y="328"/>
                      </a:lnTo>
                      <a:lnTo>
                        <a:pt x="108" y="307"/>
                      </a:lnTo>
                      <a:lnTo>
                        <a:pt x="103" y="290"/>
                      </a:lnTo>
                      <a:lnTo>
                        <a:pt x="100" y="273"/>
                      </a:lnTo>
                      <a:lnTo>
                        <a:pt x="98" y="255"/>
                      </a:lnTo>
                      <a:lnTo>
                        <a:pt x="95" y="236"/>
                      </a:lnTo>
                      <a:lnTo>
                        <a:pt x="90" y="209"/>
                      </a:lnTo>
                      <a:lnTo>
                        <a:pt x="87" y="200"/>
                      </a:lnTo>
                      <a:lnTo>
                        <a:pt x="84" y="184"/>
                      </a:lnTo>
                      <a:lnTo>
                        <a:pt x="81" y="177"/>
                      </a:lnTo>
                      <a:lnTo>
                        <a:pt x="78" y="179"/>
                      </a:lnTo>
                      <a:lnTo>
                        <a:pt x="75" y="181"/>
                      </a:lnTo>
                      <a:lnTo>
                        <a:pt x="74" y="191"/>
                      </a:lnTo>
                      <a:lnTo>
                        <a:pt x="74" y="186"/>
                      </a:lnTo>
                      <a:lnTo>
                        <a:pt x="74" y="192"/>
                      </a:lnTo>
                      <a:lnTo>
                        <a:pt x="73" y="197"/>
                      </a:lnTo>
                      <a:lnTo>
                        <a:pt x="72" y="198"/>
                      </a:lnTo>
                      <a:lnTo>
                        <a:pt x="74" y="197"/>
                      </a:lnTo>
                      <a:lnTo>
                        <a:pt x="73" y="194"/>
                      </a:lnTo>
                      <a:lnTo>
                        <a:pt x="74" y="189"/>
                      </a:lnTo>
                      <a:lnTo>
                        <a:pt x="74" y="186"/>
                      </a:lnTo>
                      <a:lnTo>
                        <a:pt x="74" y="187"/>
                      </a:lnTo>
                      <a:lnTo>
                        <a:pt x="74" y="192"/>
                      </a:lnTo>
                      <a:lnTo>
                        <a:pt x="75" y="197"/>
                      </a:lnTo>
                      <a:lnTo>
                        <a:pt x="73" y="198"/>
                      </a:lnTo>
                      <a:lnTo>
                        <a:pt x="70" y="206"/>
                      </a:lnTo>
                      <a:lnTo>
                        <a:pt x="65" y="218"/>
                      </a:lnTo>
                      <a:lnTo>
                        <a:pt x="61" y="227"/>
                      </a:lnTo>
                      <a:lnTo>
                        <a:pt x="58" y="236"/>
                      </a:lnTo>
                      <a:lnTo>
                        <a:pt x="54" y="248"/>
                      </a:lnTo>
                      <a:lnTo>
                        <a:pt x="51" y="257"/>
                      </a:lnTo>
                      <a:lnTo>
                        <a:pt x="47" y="268"/>
                      </a:lnTo>
                      <a:lnTo>
                        <a:pt x="43" y="280"/>
                      </a:lnTo>
                      <a:lnTo>
                        <a:pt x="40" y="293"/>
                      </a:lnTo>
                      <a:lnTo>
                        <a:pt x="36" y="307"/>
                      </a:lnTo>
                      <a:lnTo>
                        <a:pt x="32" y="322"/>
                      </a:lnTo>
                      <a:lnTo>
                        <a:pt x="29" y="339"/>
                      </a:lnTo>
                      <a:lnTo>
                        <a:pt x="24" y="357"/>
                      </a:lnTo>
                      <a:lnTo>
                        <a:pt x="26" y="335"/>
                      </a:lnTo>
                      <a:lnTo>
                        <a:pt x="27" y="321"/>
                      </a:lnTo>
                      <a:lnTo>
                        <a:pt x="28" y="304"/>
                      </a:lnTo>
                      <a:lnTo>
                        <a:pt x="29" y="295"/>
                      </a:lnTo>
                      <a:lnTo>
                        <a:pt x="31" y="287"/>
                      </a:lnTo>
                      <a:lnTo>
                        <a:pt x="33" y="273"/>
                      </a:lnTo>
                      <a:lnTo>
                        <a:pt x="36" y="260"/>
                      </a:lnTo>
                      <a:lnTo>
                        <a:pt x="38" y="249"/>
                      </a:lnTo>
                      <a:lnTo>
                        <a:pt x="43" y="236"/>
                      </a:lnTo>
                      <a:lnTo>
                        <a:pt x="47" y="224"/>
                      </a:lnTo>
                      <a:lnTo>
                        <a:pt x="52" y="211"/>
                      </a:lnTo>
                      <a:lnTo>
                        <a:pt x="56" y="197"/>
                      </a:lnTo>
                      <a:lnTo>
                        <a:pt x="59" y="189"/>
                      </a:lnTo>
                      <a:lnTo>
                        <a:pt x="63" y="181"/>
                      </a:lnTo>
                      <a:lnTo>
                        <a:pt x="68" y="172"/>
                      </a:lnTo>
                      <a:lnTo>
                        <a:pt x="73" y="164"/>
                      </a:lnTo>
                      <a:lnTo>
                        <a:pt x="77" y="154"/>
                      </a:lnTo>
                      <a:lnTo>
                        <a:pt x="82" y="143"/>
                      </a:lnTo>
                      <a:lnTo>
                        <a:pt x="80" y="139"/>
                      </a:lnTo>
                      <a:lnTo>
                        <a:pt x="76" y="133"/>
                      </a:lnTo>
                      <a:lnTo>
                        <a:pt x="73" y="129"/>
                      </a:lnTo>
                      <a:lnTo>
                        <a:pt x="70" y="132"/>
                      </a:lnTo>
                      <a:lnTo>
                        <a:pt x="65" y="139"/>
                      </a:lnTo>
                      <a:lnTo>
                        <a:pt x="60" y="147"/>
                      </a:lnTo>
                      <a:lnTo>
                        <a:pt x="55" y="154"/>
                      </a:lnTo>
                      <a:lnTo>
                        <a:pt x="51" y="164"/>
                      </a:lnTo>
                      <a:lnTo>
                        <a:pt x="45" y="177"/>
                      </a:lnTo>
                      <a:lnTo>
                        <a:pt x="40" y="189"/>
                      </a:lnTo>
                      <a:lnTo>
                        <a:pt x="36" y="199"/>
                      </a:lnTo>
                      <a:lnTo>
                        <a:pt x="31" y="207"/>
                      </a:lnTo>
                      <a:lnTo>
                        <a:pt x="27" y="218"/>
                      </a:lnTo>
                      <a:lnTo>
                        <a:pt x="22" y="230"/>
                      </a:lnTo>
                      <a:lnTo>
                        <a:pt x="18" y="243"/>
                      </a:lnTo>
                      <a:lnTo>
                        <a:pt x="14" y="255"/>
                      </a:lnTo>
                      <a:lnTo>
                        <a:pt x="9" y="268"/>
                      </a:lnTo>
                      <a:lnTo>
                        <a:pt x="5" y="282"/>
                      </a:lnTo>
                      <a:lnTo>
                        <a:pt x="0" y="298"/>
                      </a:lnTo>
                      <a:lnTo>
                        <a:pt x="2" y="278"/>
                      </a:lnTo>
                      <a:lnTo>
                        <a:pt x="4" y="262"/>
                      </a:lnTo>
                      <a:lnTo>
                        <a:pt x="5" y="248"/>
                      </a:lnTo>
                      <a:lnTo>
                        <a:pt x="6" y="244"/>
                      </a:lnTo>
                      <a:lnTo>
                        <a:pt x="9" y="238"/>
                      </a:lnTo>
                      <a:lnTo>
                        <a:pt x="13" y="229"/>
                      </a:lnTo>
                      <a:lnTo>
                        <a:pt x="17" y="219"/>
                      </a:lnTo>
                      <a:lnTo>
                        <a:pt x="22" y="209"/>
                      </a:lnTo>
                      <a:lnTo>
                        <a:pt x="27" y="199"/>
                      </a:lnTo>
                      <a:lnTo>
                        <a:pt x="33" y="187"/>
                      </a:lnTo>
                      <a:lnTo>
                        <a:pt x="37" y="179"/>
                      </a:lnTo>
                      <a:lnTo>
                        <a:pt x="43" y="170"/>
                      </a:lnTo>
                      <a:lnTo>
                        <a:pt x="49" y="159"/>
                      </a:lnTo>
                      <a:lnTo>
                        <a:pt x="55" y="149"/>
                      </a:lnTo>
                      <a:lnTo>
                        <a:pt x="60" y="142"/>
                      </a:lnTo>
                      <a:lnTo>
                        <a:pt x="70" y="130"/>
                      </a:lnTo>
                      <a:lnTo>
                        <a:pt x="75" y="125"/>
                      </a:lnTo>
                      <a:lnTo>
                        <a:pt x="78" y="123"/>
                      </a:lnTo>
                      <a:lnTo>
                        <a:pt x="73" y="117"/>
                      </a:lnTo>
                      <a:lnTo>
                        <a:pt x="67" y="108"/>
                      </a:lnTo>
                      <a:lnTo>
                        <a:pt x="62" y="99"/>
                      </a:lnTo>
                      <a:lnTo>
                        <a:pt x="57" y="92"/>
                      </a:lnTo>
                      <a:lnTo>
                        <a:pt x="52" y="85"/>
                      </a:lnTo>
                      <a:lnTo>
                        <a:pt x="47" y="78"/>
                      </a:lnTo>
                      <a:lnTo>
                        <a:pt x="43" y="71"/>
                      </a:lnTo>
                      <a:lnTo>
                        <a:pt x="37" y="59"/>
                      </a:lnTo>
                      <a:lnTo>
                        <a:pt x="32" y="48"/>
                      </a:lnTo>
                      <a:lnTo>
                        <a:pt x="26" y="38"/>
                      </a:lnTo>
                      <a:lnTo>
                        <a:pt x="19" y="26"/>
                      </a:lnTo>
                      <a:lnTo>
                        <a:pt x="14" y="19"/>
                      </a:lnTo>
                      <a:lnTo>
                        <a:pt x="11" y="12"/>
                      </a:lnTo>
                      <a:lnTo>
                        <a:pt x="7" y="4"/>
                      </a:lnTo>
                      <a:lnTo>
                        <a:pt x="14" y="5"/>
                      </a:lnTo>
                      <a:lnTo>
                        <a:pt x="27" y="5"/>
                      </a:lnTo>
                      <a:lnTo>
                        <a:pt x="31" y="10"/>
                      </a:lnTo>
                      <a:lnTo>
                        <a:pt x="37" y="22"/>
                      </a:lnTo>
                      <a:lnTo>
                        <a:pt x="43" y="31"/>
                      </a:lnTo>
                    </a:path>
                  </a:pathLst>
                </a:custGeom>
                <a:solidFill>
                  <a:srgbClr val="037C03">
                    <a:alpha val="50195"/>
                  </a:srgbClr>
                </a:solidFill>
                <a:ln w="9525">
                  <a:noFill/>
                </a:ln>
              </p:spPr>
              <p:txBody>
                <a:bodyPr/>
                <a:lstStyle/>
                <a:p>
                  <a:endParaRPr lang="zh-CN" altLang="en-US"/>
                </a:p>
              </p:txBody>
            </p:sp>
            <p:grpSp>
              <p:nvGrpSpPr>
                <p:cNvPr id="89241" name="Group 92"/>
                <p:cNvGrpSpPr/>
                <p:nvPr/>
              </p:nvGrpSpPr>
              <p:grpSpPr>
                <a:xfrm>
                  <a:off x="1985" y="1419"/>
                  <a:ext cx="465" cy="349"/>
                  <a:chOff x="1985" y="1419"/>
                  <a:chExt cx="465" cy="349"/>
                </a:xfrm>
              </p:grpSpPr>
              <p:sp>
                <p:nvSpPr>
                  <p:cNvPr id="89242" name="Freeform 93"/>
                  <p:cNvSpPr/>
                  <p:nvPr/>
                </p:nvSpPr>
                <p:spPr>
                  <a:xfrm>
                    <a:off x="2030" y="1419"/>
                    <a:ext cx="420" cy="326"/>
                  </a:xfrm>
                  <a:custGeom>
                    <a:avLst/>
                    <a:gdLst>
                      <a:gd name="txL" fmla="*/ 0 w 420"/>
                      <a:gd name="txT" fmla="*/ 0 h 326"/>
                      <a:gd name="txR" fmla="*/ 420 w 420"/>
                      <a:gd name="txB" fmla="*/ 326 h 326"/>
                    </a:gdLst>
                    <a:ahLst/>
                    <a:cxnLst>
                      <a:cxn ang="0">
                        <a:pos x="159" y="41"/>
                      </a:cxn>
                      <a:cxn ang="0">
                        <a:pos x="193" y="13"/>
                      </a:cxn>
                      <a:cxn ang="0">
                        <a:pos x="233" y="2"/>
                      </a:cxn>
                      <a:cxn ang="0">
                        <a:pos x="279" y="2"/>
                      </a:cxn>
                      <a:cxn ang="0">
                        <a:pos x="290" y="6"/>
                      </a:cxn>
                      <a:cxn ang="0">
                        <a:pos x="260" y="14"/>
                      </a:cxn>
                      <a:cxn ang="0">
                        <a:pos x="225" y="25"/>
                      </a:cxn>
                      <a:cxn ang="0">
                        <a:pos x="186" y="52"/>
                      </a:cxn>
                      <a:cxn ang="0">
                        <a:pos x="183" y="89"/>
                      </a:cxn>
                      <a:cxn ang="0">
                        <a:pos x="240" y="66"/>
                      </a:cxn>
                      <a:cxn ang="0">
                        <a:pos x="288" y="64"/>
                      </a:cxn>
                      <a:cxn ang="0">
                        <a:pos x="338" y="69"/>
                      </a:cxn>
                      <a:cxn ang="0">
                        <a:pos x="397" y="75"/>
                      </a:cxn>
                      <a:cxn ang="0">
                        <a:pos x="398" y="76"/>
                      </a:cxn>
                      <a:cxn ang="0">
                        <a:pos x="341" y="79"/>
                      </a:cxn>
                      <a:cxn ang="0">
                        <a:pos x="288" y="80"/>
                      </a:cxn>
                      <a:cxn ang="0">
                        <a:pos x="242" y="86"/>
                      </a:cxn>
                      <a:cxn ang="0">
                        <a:pos x="191" y="98"/>
                      </a:cxn>
                      <a:cxn ang="0">
                        <a:pos x="212" y="118"/>
                      </a:cxn>
                      <a:cxn ang="0">
                        <a:pos x="227" y="136"/>
                      </a:cxn>
                      <a:cxn ang="0">
                        <a:pos x="175" y="119"/>
                      </a:cxn>
                      <a:cxn ang="0">
                        <a:pos x="165" y="129"/>
                      </a:cxn>
                      <a:cxn ang="0">
                        <a:pos x="221" y="138"/>
                      </a:cxn>
                      <a:cxn ang="0">
                        <a:pos x="269" y="150"/>
                      </a:cxn>
                      <a:cxn ang="0">
                        <a:pos x="306" y="181"/>
                      </a:cxn>
                      <a:cxn ang="0">
                        <a:pos x="335" y="223"/>
                      </a:cxn>
                      <a:cxn ang="0">
                        <a:pos x="329" y="231"/>
                      </a:cxn>
                      <a:cxn ang="0">
                        <a:pos x="290" y="204"/>
                      </a:cxn>
                      <a:cxn ang="0">
                        <a:pos x="248" y="174"/>
                      </a:cxn>
                      <a:cxn ang="0">
                        <a:pos x="202" y="154"/>
                      </a:cxn>
                      <a:cxn ang="0">
                        <a:pos x="173" y="148"/>
                      </a:cxn>
                      <a:cxn ang="0">
                        <a:pos x="196" y="181"/>
                      </a:cxn>
                      <a:cxn ang="0">
                        <a:pos x="227" y="223"/>
                      </a:cxn>
                      <a:cxn ang="0">
                        <a:pos x="244" y="262"/>
                      </a:cxn>
                      <a:cxn ang="0">
                        <a:pos x="243" y="299"/>
                      </a:cxn>
                      <a:cxn ang="0">
                        <a:pos x="222" y="259"/>
                      </a:cxn>
                      <a:cxn ang="0">
                        <a:pos x="199" y="215"/>
                      </a:cxn>
                      <a:cxn ang="0">
                        <a:pos x="173" y="177"/>
                      </a:cxn>
                      <a:cxn ang="0">
                        <a:pos x="150" y="142"/>
                      </a:cxn>
                      <a:cxn ang="0">
                        <a:pos x="109" y="162"/>
                      </a:cxn>
                      <a:cxn ang="0">
                        <a:pos x="77" y="210"/>
                      </a:cxn>
                      <a:cxn ang="0">
                        <a:pos x="49" y="260"/>
                      </a:cxn>
                      <a:cxn ang="0">
                        <a:pos x="18" y="306"/>
                      </a:cxn>
                      <a:cxn ang="0">
                        <a:pos x="8" y="301"/>
                      </a:cxn>
                      <a:cxn ang="0">
                        <a:pos x="45" y="243"/>
                      </a:cxn>
                      <a:cxn ang="0">
                        <a:pos x="78" y="198"/>
                      </a:cxn>
                      <a:cxn ang="0">
                        <a:pos x="107" y="154"/>
                      </a:cxn>
                      <a:cxn ang="0">
                        <a:pos x="132" y="120"/>
                      </a:cxn>
                      <a:cxn ang="0">
                        <a:pos x="95" y="79"/>
                      </a:cxn>
                      <a:cxn ang="0">
                        <a:pos x="42" y="57"/>
                      </a:cxn>
                      <a:cxn ang="0">
                        <a:pos x="19" y="45"/>
                      </a:cxn>
                      <a:cxn ang="0">
                        <a:pos x="60" y="58"/>
                      </a:cxn>
                      <a:cxn ang="0">
                        <a:pos x="116" y="86"/>
                      </a:cxn>
                    </a:cxnLst>
                    <a:rect l="txL" t="txT" r="txR" b="txB"/>
                    <a:pathLst>
                      <a:path w="420" h="326">
                        <a:moveTo>
                          <a:pt x="132" y="83"/>
                        </a:moveTo>
                        <a:lnTo>
                          <a:pt x="135" y="74"/>
                        </a:lnTo>
                        <a:lnTo>
                          <a:pt x="140" y="65"/>
                        </a:lnTo>
                        <a:lnTo>
                          <a:pt x="146" y="57"/>
                        </a:lnTo>
                        <a:lnTo>
                          <a:pt x="152" y="48"/>
                        </a:lnTo>
                        <a:lnTo>
                          <a:pt x="159" y="41"/>
                        </a:lnTo>
                        <a:lnTo>
                          <a:pt x="164" y="34"/>
                        </a:lnTo>
                        <a:lnTo>
                          <a:pt x="170" y="29"/>
                        </a:lnTo>
                        <a:lnTo>
                          <a:pt x="176" y="25"/>
                        </a:lnTo>
                        <a:lnTo>
                          <a:pt x="181" y="20"/>
                        </a:lnTo>
                        <a:lnTo>
                          <a:pt x="187" y="17"/>
                        </a:lnTo>
                        <a:lnTo>
                          <a:pt x="193" y="13"/>
                        </a:lnTo>
                        <a:lnTo>
                          <a:pt x="199" y="10"/>
                        </a:lnTo>
                        <a:lnTo>
                          <a:pt x="204" y="8"/>
                        </a:lnTo>
                        <a:lnTo>
                          <a:pt x="212" y="6"/>
                        </a:lnTo>
                        <a:lnTo>
                          <a:pt x="220" y="5"/>
                        </a:lnTo>
                        <a:lnTo>
                          <a:pt x="226" y="3"/>
                        </a:lnTo>
                        <a:lnTo>
                          <a:pt x="233" y="2"/>
                        </a:lnTo>
                        <a:lnTo>
                          <a:pt x="241" y="2"/>
                        </a:lnTo>
                        <a:lnTo>
                          <a:pt x="248" y="1"/>
                        </a:lnTo>
                        <a:lnTo>
                          <a:pt x="258" y="1"/>
                        </a:lnTo>
                        <a:lnTo>
                          <a:pt x="265" y="1"/>
                        </a:lnTo>
                        <a:lnTo>
                          <a:pt x="272" y="2"/>
                        </a:lnTo>
                        <a:lnTo>
                          <a:pt x="279" y="2"/>
                        </a:lnTo>
                        <a:lnTo>
                          <a:pt x="285" y="1"/>
                        </a:lnTo>
                        <a:lnTo>
                          <a:pt x="293" y="1"/>
                        </a:lnTo>
                        <a:lnTo>
                          <a:pt x="300" y="0"/>
                        </a:lnTo>
                        <a:lnTo>
                          <a:pt x="296" y="2"/>
                        </a:lnTo>
                        <a:lnTo>
                          <a:pt x="293" y="3"/>
                        </a:lnTo>
                        <a:lnTo>
                          <a:pt x="290" y="6"/>
                        </a:lnTo>
                        <a:lnTo>
                          <a:pt x="287" y="10"/>
                        </a:lnTo>
                        <a:lnTo>
                          <a:pt x="281" y="10"/>
                        </a:lnTo>
                        <a:lnTo>
                          <a:pt x="275" y="10"/>
                        </a:lnTo>
                        <a:lnTo>
                          <a:pt x="270" y="11"/>
                        </a:lnTo>
                        <a:lnTo>
                          <a:pt x="265" y="12"/>
                        </a:lnTo>
                        <a:lnTo>
                          <a:pt x="260" y="14"/>
                        </a:lnTo>
                        <a:lnTo>
                          <a:pt x="254" y="15"/>
                        </a:lnTo>
                        <a:lnTo>
                          <a:pt x="248" y="17"/>
                        </a:lnTo>
                        <a:lnTo>
                          <a:pt x="242" y="19"/>
                        </a:lnTo>
                        <a:lnTo>
                          <a:pt x="236" y="20"/>
                        </a:lnTo>
                        <a:lnTo>
                          <a:pt x="231" y="22"/>
                        </a:lnTo>
                        <a:lnTo>
                          <a:pt x="225" y="25"/>
                        </a:lnTo>
                        <a:lnTo>
                          <a:pt x="218" y="28"/>
                        </a:lnTo>
                        <a:lnTo>
                          <a:pt x="212" y="31"/>
                        </a:lnTo>
                        <a:lnTo>
                          <a:pt x="205" y="35"/>
                        </a:lnTo>
                        <a:lnTo>
                          <a:pt x="199" y="39"/>
                        </a:lnTo>
                        <a:lnTo>
                          <a:pt x="192" y="45"/>
                        </a:lnTo>
                        <a:lnTo>
                          <a:pt x="186" y="52"/>
                        </a:lnTo>
                        <a:lnTo>
                          <a:pt x="180" y="61"/>
                        </a:lnTo>
                        <a:lnTo>
                          <a:pt x="173" y="73"/>
                        </a:lnTo>
                        <a:lnTo>
                          <a:pt x="167" y="86"/>
                        </a:lnTo>
                        <a:lnTo>
                          <a:pt x="159" y="101"/>
                        </a:lnTo>
                        <a:lnTo>
                          <a:pt x="172" y="95"/>
                        </a:lnTo>
                        <a:lnTo>
                          <a:pt x="183" y="89"/>
                        </a:lnTo>
                        <a:lnTo>
                          <a:pt x="197" y="82"/>
                        </a:lnTo>
                        <a:lnTo>
                          <a:pt x="212" y="75"/>
                        </a:lnTo>
                        <a:lnTo>
                          <a:pt x="218" y="73"/>
                        </a:lnTo>
                        <a:lnTo>
                          <a:pt x="225" y="70"/>
                        </a:lnTo>
                        <a:lnTo>
                          <a:pt x="232" y="69"/>
                        </a:lnTo>
                        <a:lnTo>
                          <a:pt x="240" y="66"/>
                        </a:lnTo>
                        <a:lnTo>
                          <a:pt x="249" y="65"/>
                        </a:lnTo>
                        <a:lnTo>
                          <a:pt x="256" y="64"/>
                        </a:lnTo>
                        <a:lnTo>
                          <a:pt x="263" y="64"/>
                        </a:lnTo>
                        <a:lnTo>
                          <a:pt x="272" y="63"/>
                        </a:lnTo>
                        <a:lnTo>
                          <a:pt x="281" y="64"/>
                        </a:lnTo>
                        <a:lnTo>
                          <a:pt x="288" y="64"/>
                        </a:lnTo>
                        <a:lnTo>
                          <a:pt x="297" y="65"/>
                        </a:lnTo>
                        <a:lnTo>
                          <a:pt x="305" y="65"/>
                        </a:lnTo>
                        <a:lnTo>
                          <a:pt x="313" y="66"/>
                        </a:lnTo>
                        <a:lnTo>
                          <a:pt x="321" y="67"/>
                        </a:lnTo>
                        <a:lnTo>
                          <a:pt x="329" y="68"/>
                        </a:lnTo>
                        <a:lnTo>
                          <a:pt x="338" y="69"/>
                        </a:lnTo>
                        <a:lnTo>
                          <a:pt x="346" y="69"/>
                        </a:lnTo>
                        <a:lnTo>
                          <a:pt x="354" y="70"/>
                        </a:lnTo>
                        <a:lnTo>
                          <a:pt x="364" y="71"/>
                        </a:lnTo>
                        <a:lnTo>
                          <a:pt x="374" y="72"/>
                        </a:lnTo>
                        <a:lnTo>
                          <a:pt x="383" y="74"/>
                        </a:lnTo>
                        <a:lnTo>
                          <a:pt x="397" y="75"/>
                        </a:lnTo>
                        <a:lnTo>
                          <a:pt x="402" y="75"/>
                        </a:lnTo>
                        <a:lnTo>
                          <a:pt x="406" y="75"/>
                        </a:lnTo>
                        <a:lnTo>
                          <a:pt x="411" y="77"/>
                        </a:lnTo>
                        <a:lnTo>
                          <a:pt x="419" y="80"/>
                        </a:lnTo>
                        <a:lnTo>
                          <a:pt x="404" y="77"/>
                        </a:lnTo>
                        <a:lnTo>
                          <a:pt x="398" y="76"/>
                        </a:lnTo>
                        <a:lnTo>
                          <a:pt x="392" y="76"/>
                        </a:lnTo>
                        <a:lnTo>
                          <a:pt x="379" y="77"/>
                        </a:lnTo>
                        <a:lnTo>
                          <a:pt x="370" y="78"/>
                        </a:lnTo>
                        <a:lnTo>
                          <a:pt x="360" y="78"/>
                        </a:lnTo>
                        <a:lnTo>
                          <a:pt x="350" y="78"/>
                        </a:lnTo>
                        <a:lnTo>
                          <a:pt x="341" y="79"/>
                        </a:lnTo>
                        <a:lnTo>
                          <a:pt x="332" y="79"/>
                        </a:lnTo>
                        <a:lnTo>
                          <a:pt x="325" y="78"/>
                        </a:lnTo>
                        <a:lnTo>
                          <a:pt x="315" y="78"/>
                        </a:lnTo>
                        <a:lnTo>
                          <a:pt x="305" y="78"/>
                        </a:lnTo>
                        <a:lnTo>
                          <a:pt x="296" y="79"/>
                        </a:lnTo>
                        <a:lnTo>
                          <a:pt x="288" y="80"/>
                        </a:lnTo>
                        <a:lnTo>
                          <a:pt x="279" y="80"/>
                        </a:lnTo>
                        <a:lnTo>
                          <a:pt x="272" y="80"/>
                        </a:lnTo>
                        <a:lnTo>
                          <a:pt x="264" y="81"/>
                        </a:lnTo>
                        <a:lnTo>
                          <a:pt x="256" y="83"/>
                        </a:lnTo>
                        <a:lnTo>
                          <a:pt x="249" y="84"/>
                        </a:lnTo>
                        <a:lnTo>
                          <a:pt x="242" y="86"/>
                        </a:lnTo>
                        <a:lnTo>
                          <a:pt x="235" y="87"/>
                        </a:lnTo>
                        <a:lnTo>
                          <a:pt x="227" y="89"/>
                        </a:lnTo>
                        <a:lnTo>
                          <a:pt x="219" y="92"/>
                        </a:lnTo>
                        <a:lnTo>
                          <a:pt x="212" y="93"/>
                        </a:lnTo>
                        <a:lnTo>
                          <a:pt x="199" y="97"/>
                        </a:lnTo>
                        <a:lnTo>
                          <a:pt x="191" y="98"/>
                        </a:lnTo>
                        <a:lnTo>
                          <a:pt x="180" y="104"/>
                        </a:lnTo>
                        <a:lnTo>
                          <a:pt x="164" y="109"/>
                        </a:lnTo>
                        <a:lnTo>
                          <a:pt x="180" y="111"/>
                        </a:lnTo>
                        <a:lnTo>
                          <a:pt x="199" y="112"/>
                        </a:lnTo>
                        <a:lnTo>
                          <a:pt x="203" y="113"/>
                        </a:lnTo>
                        <a:lnTo>
                          <a:pt x="212" y="118"/>
                        </a:lnTo>
                        <a:lnTo>
                          <a:pt x="217" y="120"/>
                        </a:lnTo>
                        <a:lnTo>
                          <a:pt x="223" y="123"/>
                        </a:lnTo>
                        <a:lnTo>
                          <a:pt x="224" y="125"/>
                        </a:lnTo>
                        <a:lnTo>
                          <a:pt x="227" y="130"/>
                        </a:lnTo>
                        <a:lnTo>
                          <a:pt x="233" y="140"/>
                        </a:lnTo>
                        <a:lnTo>
                          <a:pt x="227" y="136"/>
                        </a:lnTo>
                        <a:lnTo>
                          <a:pt x="219" y="131"/>
                        </a:lnTo>
                        <a:lnTo>
                          <a:pt x="212" y="129"/>
                        </a:lnTo>
                        <a:lnTo>
                          <a:pt x="199" y="125"/>
                        </a:lnTo>
                        <a:lnTo>
                          <a:pt x="190" y="123"/>
                        </a:lnTo>
                        <a:lnTo>
                          <a:pt x="180" y="120"/>
                        </a:lnTo>
                        <a:lnTo>
                          <a:pt x="175" y="119"/>
                        </a:lnTo>
                        <a:lnTo>
                          <a:pt x="165" y="120"/>
                        </a:lnTo>
                        <a:lnTo>
                          <a:pt x="158" y="122"/>
                        </a:lnTo>
                        <a:lnTo>
                          <a:pt x="148" y="123"/>
                        </a:lnTo>
                        <a:lnTo>
                          <a:pt x="153" y="125"/>
                        </a:lnTo>
                        <a:lnTo>
                          <a:pt x="158" y="127"/>
                        </a:lnTo>
                        <a:lnTo>
                          <a:pt x="165" y="129"/>
                        </a:lnTo>
                        <a:lnTo>
                          <a:pt x="173" y="129"/>
                        </a:lnTo>
                        <a:lnTo>
                          <a:pt x="186" y="129"/>
                        </a:lnTo>
                        <a:lnTo>
                          <a:pt x="194" y="131"/>
                        </a:lnTo>
                        <a:lnTo>
                          <a:pt x="204" y="133"/>
                        </a:lnTo>
                        <a:lnTo>
                          <a:pt x="212" y="136"/>
                        </a:lnTo>
                        <a:lnTo>
                          <a:pt x="221" y="138"/>
                        </a:lnTo>
                        <a:lnTo>
                          <a:pt x="231" y="141"/>
                        </a:lnTo>
                        <a:lnTo>
                          <a:pt x="240" y="143"/>
                        </a:lnTo>
                        <a:lnTo>
                          <a:pt x="248" y="145"/>
                        </a:lnTo>
                        <a:lnTo>
                          <a:pt x="254" y="146"/>
                        </a:lnTo>
                        <a:lnTo>
                          <a:pt x="261" y="148"/>
                        </a:lnTo>
                        <a:lnTo>
                          <a:pt x="269" y="150"/>
                        </a:lnTo>
                        <a:lnTo>
                          <a:pt x="277" y="154"/>
                        </a:lnTo>
                        <a:lnTo>
                          <a:pt x="285" y="158"/>
                        </a:lnTo>
                        <a:lnTo>
                          <a:pt x="289" y="160"/>
                        </a:lnTo>
                        <a:lnTo>
                          <a:pt x="295" y="167"/>
                        </a:lnTo>
                        <a:lnTo>
                          <a:pt x="302" y="174"/>
                        </a:lnTo>
                        <a:lnTo>
                          <a:pt x="306" y="181"/>
                        </a:lnTo>
                        <a:lnTo>
                          <a:pt x="311" y="188"/>
                        </a:lnTo>
                        <a:lnTo>
                          <a:pt x="316" y="195"/>
                        </a:lnTo>
                        <a:lnTo>
                          <a:pt x="320" y="202"/>
                        </a:lnTo>
                        <a:lnTo>
                          <a:pt x="325" y="208"/>
                        </a:lnTo>
                        <a:lnTo>
                          <a:pt x="329" y="215"/>
                        </a:lnTo>
                        <a:lnTo>
                          <a:pt x="335" y="223"/>
                        </a:lnTo>
                        <a:lnTo>
                          <a:pt x="339" y="232"/>
                        </a:lnTo>
                        <a:lnTo>
                          <a:pt x="345" y="238"/>
                        </a:lnTo>
                        <a:lnTo>
                          <a:pt x="351" y="246"/>
                        </a:lnTo>
                        <a:lnTo>
                          <a:pt x="343" y="240"/>
                        </a:lnTo>
                        <a:lnTo>
                          <a:pt x="337" y="236"/>
                        </a:lnTo>
                        <a:lnTo>
                          <a:pt x="329" y="231"/>
                        </a:lnTo>
                        <a:lnTo>
                          <a:pt x="321" y="225"/>
                        </a:lnTo>
                        <a:lnTo>
                          <a:pt x="315" y="220"/>
                        </a:lnTo>
                        <a:lnTo>
                          <a:pt x="309" y="215"/>
                        </a:lnTo>
                        <a:lnTo>
                          <a:pt x="303" y="212"/>
                        </a:lnTo>
                        <a:lnTo>
                          <a:pt x="297" y="208"/>
                        </a:lnTo>
                        <a:lnTo>
                          <a:pt x="290" y="204"/>
                        </a:lnTo>
                        <a:lnTo>
                          <a:pt x="284" y="200"/>
                        </a:lnTo>
                        <a:lnTo>
                          <a:pt x="278" y="196"/>
                        </a:lnTo>
                        <a:lnTo>
                          <a:pt x="271" y="191"/>
                        </a:lnTo>
                        <a:lnTo>
                          <a:pt x="263" y="186"/>
                        </a:lnTo>
                        <a:lnTo>
                          <a:pt x="255" y="179"/>
                        </a:lnTo>
                        <a:lnTo>
                          <a:pt x="248" y="174"/>
                        </a:lnTo>
                        <a:lnTo>
                          <a:pt x="241" y="170"/>
                        </a:lnTo>
                        <a:lnTo>
                          <a:pt x="234" y="166"/>
                        </a:lnTo>
                        <a:lnTo>
                          <a:pt x="226" y="162"/>
                        </a:lnTo>
                        <a:lnTo>
                          <a:pt x="219" y="159"/>
                        </a:lnTo>
                        <a:lnTo>
                          <a:pt x="212" y="157"/>
                        </a:lnTo>
                        <a:lnTo>
                          <a:pt x="202" y="154"/>
                        </a:lnTo>
                        <a:lnTo>
                          <a:pt x="192" y="151"/>
                        </a:lnTo>
                        <a:lnTo>
                          <a:pt x="185" y="150"/>
                        </a:lnTo>
                        <a:lnTo>
                          <a:pt x="178" y="147"/>
                        </a:lnTo>
                        <a:lnTo>
                          <a:pt x="167" y="142"/>
                        </a:lnTo>
                        <a:lnTo>
                          <a:pt x="156" y="137"/>
                        </a:lnTo>
                        <a:lnTo>
                          <a:pt x="173" y="148"/>
                        </a:lnTo>
                        <a:lnTo>
                          <a:pt x="174" y="150"/>
                        </a:lnTo>
                        <a:lnTo>
                          <a:pt x="178" y="155"/>
                        </a:lnTo>
                        <a:lnTo>
                          <a:pt x="182" y="160"/>
                        </a:lnTo>
                        <a:lnTo>
                          <a:pt x="187" y="167"/>
                        </a:lnTo>
                        <a:lnTo>
                          <a:pt x="192" y="173"/>
                        </a:lnTo>
                        <a:lnTo>
                          <a:pt x="196" y="181"/>
                        </a:lnTo>
                        <a:lnTo>
                          <a:pt x="202" y="188"/>
                        </a:lnTo>
                        <a:lnTo>
                          <a:pt x="207" y="194"/>
                        </a:lnTo>
                        <a:lnTo>
                          <a:pt x="212" y="200"/>
                        </a:lnTo>
                        <a:lnTo>
                          <a:pt x="216" y="207"/>
                        </a:lnTo>
                        <a:lnTo>
                          <a:pt x="223" y="216"/>
                        </a:lnTo>
                        <a:lnTo>
                          <a:pt x="227" y="223"/>
                        </a:lnTo>
                        <a:lnTo>
                          <a:pt x="231" y="229"/>
                        </a:lnTo>
                        <a:lnTo>
                          <a:pt x="235" y="236"/>
                        </a:lnTo>
                        <a:lnTo>
                          <a:pt x="238" y="243"/>
                        </a:lnTo>
                        <a:lnTo>
                          <a:pt x="241" y="250"/>
                        </a:lnTo>
                        <a:lnTo>
                          <a:pt x="243" y="255"/>
                        </a:lnTo>
                        <a:lnTo>
                          <a:pt x="244" y="262"/>
                        </a:lnTo>
                        <a:lnTo>
                          <a:pt x="245" y="272"/>
                        </a:lnTo>
                        <a:lnTo>
                          <a:pt x="246" y="281"/>
                        </a:lnTo>
                        <a:lnTo>
                          <a:pt x="247" y="290"/>
                        </a:lnTo>
                        <a:lnTo>
                          <a:pt x="249" y="299"/>
                        </a:lnTo>
                        <a:lnTo>
                          <a:pt x="250" y="308"/>
                        </a:lnTo>
                        <a:lnTo>
                          <a:pt x="243" y="299"/>
                        </a:lnTo>
                        <a:lnTo>
                          <a:pt x="238" y="292"/>
                        </a:lnTo>
                        <a:lnTo>
                          <a:pt x="233" y="286"/>
                        </a:lnTo>
                        <a:lnTo>
                          <a:pt x="231" y="281"/>
                        </a:lnTo>
                        <a:lnTo>
                          <a:pt x="227" y="274"/>
                        </a:lnTo>
                        <a:lnTo>
                          <a:pt x="225" y="267"/>
                        </a:lnTo>
                        <a:lnTo>
                          <a:pt x="222" y="259"/>
                        </a:lnTo>
                        <a:lnTo>
                          <a:pt x="218" y="251"/>
                        </a:lnTo>
                        <a:lnTo>
                          <a:pt x="214" y="242"/>
                        </a:lnTo>
                        <a:lnTo>
                          <a:pt x="211" y="235"/>
                        </a:lnTo>
                        <a:lnTo>
                          <a:pt x="207" y="227"/>
                        </a:lnTo>
                        <a:lnTo>
                          <a:pt x="202" y="220"/>
                        </a:lnTo>
                        <a:lnTo>
                          <a:pt x="199" y="215"/>
                        </a:lnTo>
                        <a:lnTo>
                          <a:pt x="193" y="208"/>
                        </a:lnTo>
                        <a:lnTo>
                          <a:pt x="187" y="201"/>
                        </a:lnTo>
                        <a:lnTo>
                          <a:pt x="182" y="196"/>
                        </a:lnTo>
                        <a:lnTo>
                          <a:pt x="177" y="190"/>
                        </a:lnTo>
                        <a:lnTo>
                          <a:pt x="176" y="184"/>
                        </a:lnTo>
                        <a:lnTo>
                          <a:pt x="173" y="177"/>
                        </a:lnTo>
                        <a:lnTo>
                          <a:pt x="169" y="170"/>
                        </a:lnTo>
                        <a:lnTo>
                          <a:pt x="166" y="163"/>
                        </a:lnTo>
                        <a:lnTo>
                          <a:pt x="164" y="161"/>
                        </a:lnTo>
                        <a:lnTo>
                          <a:pt x="158" y="154"/>
                        </a:lnTo>
                        <a:lnTo>
                          <a:pt x="154" y="148"/>
                        </a:lnTo>
                        <a:lnTo>
                          <a:pt x="150" y="142"/>
                        </a:lnTo>
                        <a:lnTo>
                          <a:pt x="145" y="136"/>
                        </a:lnTo>
                        <a:lnTo>
                          <a:pt x="138" y="140"/>
                        </a:lnTo>
                        <a:lnTo>
                          <a:pt x="131" y="144"/>
                        </a:lnTo>
                        <a:lnTo>
                          <a:pt x="123" y="151"/>
                        </a:lnTo>
                        <a:lnTo>
                          <a:pt x="115" y="156"/>
                        </a:lnTo>
                        <a:lnTo>
                          <a:pt x="109" y="162"/>
                        </a:lnTo>
                        <a:lnTo>
                          <a:pt x="105" y="168"/>
                        </a:lnTo>
                        <a:lnTo>
                          <a:pt x="99" y="176"/>
                        </a:lnTo>
                        <a:lnTo>
                          <a:pt x="93" y="186"/>
                        </a:lnTo>
                        <a:lnTo>
                          <a:pt x="87" y="193"/>
                        </a:lnTo>
                        <a:lnTo>
                          <a:pt x="81" y="202"/>
                        </a:lnTo>
                        <a:lnTo>
                          <a:pt x="77" y="210"/>
                        </a:lnTo>
                        <a:lnTo>
                          <a:pt x="72" y="218"/>
                        </a:lnTo>
                        <a:lnTo>
                          <a:pt x="67" y="226"/>
                        </a:lnTo>
                        <a:lnTo>
                          <a:pt x="64" y="233"/>
                        </a:lnTo>
                        <a:lnTo>
                          <a:pt x="59" y="242"/>
                        </a:lnTo>
                        <a:lnTo>
                          <a:pt x="55" y="250"/>
                        </a:lnTo>
                        <a:lnTo>
                          <a:pt x="49" y="260"/>
                        </a:lnTo>
                        <a:lnTo>
                          <a:pt x="43" y="269"/>
                        </a:lnTo>
                        <a:lnTo>
                          <a:pt x="37" y="280"/>
                        </a:lnTo>
                        <a:lnTo>
                          <a:pt x="31" y="289"/>
                        </a:lnTo>
                        <a:lnTo>
                          <a:pt x="27" y="294"/>
                        </a:lnTo>
                        <a:lnTo>
                          <a:pt x="22" y="300"/>
                        </a:lnTo>
                        <a:lnTo>
                          <a:pt x="18" y="306"/>
                        </a:lnTo>
                        <a:lnTo>
                          <a:pt x="12" y="312"/>
                        </a:lnTo>
                        <a:lnTo>
                          <a:pt x="7" y="317"/>
                        </a:lnTo>
                        <a:lnTo>
                          <a:pt x="0" y="325"/>
                        </a:lnTo>
                        <a:lnTo>
                          <a:pt x="2" y="316"/>
                        </a:lnTo>
                        <a:lnTo>
                          <a:pt x="4" y="309"/>
                        </a:lnTo>
                        <a:lnTo>
                          <a:pt x="8" y="301"/>
                        </a:lnTo>
                        <a:lnTo>
                          <a:pt x="12" y="294"/>
                        </a:lnTo>
                        <a:lnTo>
                          <a:pt x="19" y="284"/>
                        </a:lnTo>
                        <a:lnTo>
                          <a:pt x="26" y="274"/>
                        </a:lnTo>
                        <a:lnTo>
                          <a:pt x="33" y="262"/>
                        </a:lnTo>
                        <a:lnTo>
                          <a:pt x="39" y="253"/>
                        </a:lnTo>
                        <a:lnTo>
                          <a:pt x="45" y="243"/>
                        </a:lnTo>
                        <a:lnTo>
                          <a:pt x="51" y="235"/>
                        </a:lnTo>
                        <a:lnTo>
                          <a:pt x="56" y="227"/>
                        </a:lnTo>
                        <a:lnTo>
                          <a:pt x="61" y="220"/>
                        </a:lnTo>
                        <a:lnTo>
                          <a:pt x="66" y="214"/>
                        </a:lnTo>
                        <a:lnTo>
                          <a:pt x="72" y="206"/>
                        </a:lnTo>
                        <a:lnTo>
                          <a:pt x="78" y="198"/>
                        </a:lnTo>
                        <a:lnTo>
                          <a:pt x="84" y="190"/>
                        </a:lnTo>
                        <a:lnTo>
                          <a:pt x="90" y="181"/>
                        </a:lnTo>
                        <a:lnTo>
                          <a:pt x="95" y="174"/>
                        </a:lnTo>
                        <a:lnTo>
                          <a:pt x="101" y="166"/>
                        </a:lnTo>
                        <a:lnTo>
                          <a:pt x="104" y="160"/>
                        </a:lnTo>
                        <a:lnTo>
                          <a:pt x="107" y="154"/>
                        </a:lnTo>
                        <a:lnTo>
                          <a:pt x="109" y="149"/>
                        </a:lnTo>
                        <a:lnTo>
                          <a:pt x="112" y="143"/>
                        </a:lnTo>
                        <a:lnTo>
                          <a:pt x="116" y="138"/>
                        </a:lnTo>
                        <a:lnTo>
                          <a:pt x="122" y="131"/>
                        </a:lnTo>
                        <a:lnTo>
                          <a:pt x="128" y="125"/>
                        </a:lnTo>
                        <a:lnTo>
                          <a:pt x="132" y="120"/>
                        </a:lnTo>
                        <a:lnTo>
                          <a:pt x="137" y="114"/>
                        </a:lnTo>
                        <a:lnTo>
                          <a:pt x="135" y="109"/>
                        </a:lnTo>
                        <a:lnTo>
                          <a:pt x="133" y="101"/>
                        </a:lnTo>
                        <a:lnTo>
                          <a:pt x="121" y="97"/>
                        </a:lnTo>
                        <a:lnTo>
                          <a:pt x="108" y="88"/>
                        </a:lnTo>
                        <a:lnTo>
                          <a:pt x="95" y="79"/>
                        </a:lnTo>
                        <a:lnTo>
                          <a:pt x="87" y="74"/>
                        </a:lnTo>
                        <a:lnTo>
                          <a:pt x="81" y="71"/>
                        </a:lnTo>
                        <a:lnTo>
                          <a:pt x="71" y="66"/>
                        </a:lnTo>
                        <a:lnTo>
                          <a:pt x="61" y="63"/>
                        </a:lnTo>
                        <a:lnTo>
                          <a:pt x="50" y="60"/>
                        </a:lnTo>
                        <a:lnTo>
                          <a:pt x="42" y="57"/>
                        </a:lnTo>
                        <a:lnTo>
                          <a:pt x="32" y="53"/>
                        </a:lnTo>
                        <a:lnTo>
                          <a:pt x="23" y="51"/>
                        </a:lnTo>
                        <a:lnTo>
                          <a:pt x="14" y="49"/>
                        </a:lnTo>
                        <a:lnTo>
                          <a:pt x="7" y="47"/>
                        </a:lnTo>
                        <a:lnTo>
                          <a:pt x="14" y="46"/>
                        </a:lnTo>
                        <a:lnTo>
                          <a:pt x="19" y="45"/>
                        </a:lnTo>
                        <a:lnTo>
                          <a:pt x="23" y="44"/>
                        </a:lnTo>
                        <a:lnTo>
                          <a:pt x="28" y="44"/>
                        </a:lnTo>
                        <a:lnTo>
                          <a:pt x="33" y="44"/>
                        </a:lnTo>
                        <a:lnTo>
                          <a:pt x="43" y="49"/>
                        </a:lnTo>
                        <a:lnTo>
                          <a:pt x="51" y="53"/>
                        </a:lnTo>
                        <a:lnTo>
                          <a:pt x="60" y="58"/>
                        </a:lnTo>
                        <a:lnTo>
                          <a:pt x="69" y="63"/>
                        </a:lnTo>
                        <a:lnTo>
                          <a:pt x="79" y="68"/>
                        </a:lnTo>
                        <a:lnTo>
                          <a:pt x="89" y="74"/>
                        </a:lnTo>
                        <a:lnTo>
                          <a:pt x="96" y="77"/>
                        </a:lnTo>
                        <a:lnTo>
                          <a:pt x="109" y="84"/>
                        </a:lnTo>
                        <a:lnTo>
                          <a:pt x="116" y="86"/>
                        </a:lnTo>
                        <a:lnTo>
                          <a:pt x="122" y="85"/>
                        </a:lnTo>
                        <a:lnTo>
                          <a:pt x="127" y="84"/>
                        </a:lnTo>
                        <a:lnTo>
                          <a:pt x="132" y="83"/>
                        </a:lnTo>
                      </a:path>
                    </a:pathLst>
                  </a:custGeom>
                  <a:solidFill>
                    <a:srgbClr val="037C03">
                      <a:alpha val="50195"/>
                    </a:srgbClr>
                  </a:solidFill>
                  <a:ln w="9525">
                    <a:noFill/>
                  </a:ln>
                </p:spPr>
                <p:txBody>
                  <a:bodyPr/>
                  <a:lstStyle/>
                  <a:p>
                    <a:endParaRPr lang="zh-CN" altLang="en-US"/>
                  </a:p>
                </p:txBody>
              </p:sp>
              <p:sp>
                <p:nvSpPr>
                  <p:cNvPr id="89243" name="Freeform 94"/>
                  <p:cNvSpPr/>
                  <p:nvPr/>
                </p:nvSpPr>
                <p:spPr>
                  <a:xfrm>
                    <a:off x="2175" y="1587"/>
                    <a:ext cx="38" cy="181"/>
                  </a:xfrm>
                  <a:custGeom>
                    <a:avLst/>
                    <a:gdLst>
                      <a:gd name="txL" fmla="*/ 0 w 38"/>
                      <a:gd name="txT" fmla="*/ 0 h 181"/>
                      <a:gd name="txR" fmla="*/ 38 w 38"/>
                      <a:gd name="txB" fmla="*/ 181 h 181"/>
                    </a:gdLst>
                    <a:ahLst/>
                    <a:cxnLst>
                      <a:cxn ang="0">
                        <a:pos x="20" y="0"/>
                      </a:cxn>
                      <a:cxn ang="0">
                        <a:pos x="24" y="8"/>
                      </a:cxn>
                      <a:cxn ang="0">
                        <a:pos x="27" y="14"/>
                      </a:cxn>
                      <a:cxn ang="0">
                        <a:pos x="33" y="22"/>
                      </a:cxn>
                      <a:cxn ang="0">
                        <a:pos x="35" y="30"/>
                      </a:cxn>
                      <a:cxn ang="0">
                        <a:pos x="36" y="41"/>
                      </a:cxn>
                      <a:cxn ang="0">
                        <a:pos x="36" y="53"/>
                      </a:cxn>
                      <a:cxn ang="0">
                        <a:pos x="37" y="61"/>
                      </a:cxn>
                      <a:cxn ang="0">
                        <a:pos x="36" y="70"/>
                      </a:cxn>
                      <a:cxn ang="0">
                        <a:pos x="35" y="81"/>
                      </a:cxn>
                      <a:cxn ang="0">
                        <a:pos x="33" y="91"/>
                      </a:cxn>
                      <a:cxn ang="0">
                        <a:pos x="30" y="106"/>
                      </a:cxn>
                      <a:cxn ang="0">
                        <a:pos x="28" y="114"/>
                      </a:cxn>
                      <a:cxn ang="0">
                        <a:pos x="23" y="124"/>
                      </a:cxn>
                      <a:cxn ang="0">
                        <a:pos x="17" y="135"/>
                      </a:cxn>
                      <a:cxn ang="0">
                        <a:pos x="12" y="145"/>
                      </a:cxn>
                      <a:cxn ang="0">
                        <a:pos x="7" y="155"/>
                      </a:cxn>
                      <a:cxn ang="0">
                        <a:pos x="3" y="163"/>
                      </a:cxn>
                      <a:cxn ang="0">
                        <a:pos x="0" y="180"/>
                      </a:cxn>
                      <a:cxn ang="0">
                        <a:pos x="1" y="163"/>
                      </a:cxn>
                      <a:cxn ang="0">
                        <a:pos x="3" y="152"/>
                      </a:cxn>
                      <a:cxn ang="0">
                        <a:pos x="4" y="141"/>
                      </a:cxn>
                      <a:cxn ang="0">
                        <a:pos x="5" y="130"/>
                      </a:cxn>
                      <a:cxn ang="0">
                        <a:pos x="7" y="116"/>
                      </a:cxn>
                      <a:cxn ang="0">
                        <a:pos x="9" y="106"/>
                      </a:cxn>
                      <a:cxn ang="0">
                        <a:pos x="12" y="96"/>
                      </a:cxn>
                      <a:cxn ang="0">
                        <a:pos x="15" y="87"/>
                      </a:cxn>
                      <a:cxn ang="0">
                        <a:pos x="17" y="77"/>
                      </a:cxn>
                      <a:cxn ang="0">
                        <a:pos x="20" y="67"/>
                      </a:cxn>
                      <a:cxn ang="0">
                        <a:pos x="21" y="57"/>
                      </a:cxn>
                      <a:cxn ang="0">
                        <a:pos x="22" y="49"/>
                      </a:cxn>
                      <a:cxn ang="0">
                        <a:pos x="23" y="39"/>
                      </a:cxn>
                      <a:cxn ang="0">
                        <a:pos x="23" y="28"/>
                      </a:cxn>
                      <a:cxn ang="0">
                        <a:pos x="23" y="14"/>
                      </a:cxn>
                      <a:cxn ang="0">
                        <a:pos x="22" y="8"/>
                      </a:cxn>
                      <a:cxn ang="0">
                        <a:pos x="20" y="0"/>
                      </a:cxn>
                    </a:cxnLst>
                    <a:rect l="txL" t="txT" r="txR" b="txB"/>
                    <a:pathLst>
                      <a:path w="38" h="181">
                        <a:moveTo>
                          <a:pt x="20" y="0"/>
                        </a:moveTo>
                        <a:lnTo>
                          <a:pt x="24" y="8"/>
                        </a:lnTo>
                        <a:lnTo>
                          <a:pt x="27" y="14"/>
                        </a:lnTo>
                        <a:lnTo>
                          <a:pt x="33" y="22"/>
                        </a:lnTo>
                        <a:lnTo>
                          <a:pt x="35" y="30"/>
                        </a:lnTo>
                        <a:lnTo>
                          <a:pt x="36" y="41"/>
                        </a:lnTo>
                        <a:lnTo>
                          <a:pt x="36" y="53"/>
                        </a:lnTo>
                        <a:lnTo>
                          <a:pt x="37" y="61"/>
                        </a:lnTo>
                        <a:lnTo>
                          <a:pt x="36" y="70"/>
                        </a:lnTo>
                        <a:lnTo>
                          <a:pt x="35" y="81"/>
                        </a:lnTo>
                        <a:lnTo>
                          <a:pt x="33" y="91"/>
                        </a:lnTo>
                        <a:lnTo>
                          <a:pt x="30" y="106"/>
                        </a:lnTo>
                        <a:lnTo>
                          <a:pt x="28" y="114"/>
                        </a:lnTo>
                        <a:lnTo>
                          <a:pt x="23" y="124"/>
                        </a:lnTo>
                        <a:lnTo>
                          <a:pt x="17" y="135"/>
                        </a:lnTo>
                        <a:lnTo>
                          <a:pt x="12" y="145"/>
                        </a:lnTo>
                        <a:lnTo>
                          <a:pt x="7" y="155"/>
                        </a:lnTo>
                        <a:lnTo>
                          <a:pt x="3" y="163"/>
                        </a:lnTo>
                        <a:lnTo>
                          <a:pt x="0" y="180"/>
                        </a:lnTo>
                        <a:lnTo>
                          <a:pt x="1" y="163"/>
                        </a:lnTo>
                        <a:lnTo>
                          <a:pt x="3" y="152"/>
                        </a:lnTo>
                        <a:lnTo>
                          <a:pt x="4" y="141"/>
                        </a:lnTo>
                        <a:lnTo>
                          <a:pt x="5" y="130"/>
                        </a:lnTo>
                        <a:lnTo>
                          <a:pt x="7" y="116"/>
                        </a:lnTo>
                        <a:lnTo>
                          <a:pt x="9" y="106"/>
                        </a:lnTo>
                        <a:lnTo>
                          <a:pt x="12" y="96"/>
                        </a:lnTo>
                        <a:lnTo>
                          <a:pt x="15" y="87"/>
                        </a:lnTo>
                        <a:lnTo>
                          <a:pt x="17" y="77"/>
                        </a:lnTo>
                        <a:lnTo>
                          <a:pt x="20" y="67"/>
                        </a:lnTo>
                        <a:lnTo>
                          <a:pt x="21" y="57"/>
                        </a:lnTo>
                        <a:lnTo>
                          <a:pt x="22" y="49"/>
                        </a:lnTo>
                        <a:lnTo>
                          <a:pt x="23" y="39"/>
                        </a:lnTo>
                        <a:lnTo>
                          <a:pt x="23" y="28"/>
                        </a:lnTo>
                        <a:lnTo>
                          <a:pt x="23" y="14"/>
                        </a:lnTo>
                        <a:lnTo>
                          <a:pt x="22" y="8"/>
                        </a:lnTo>
                        <a:lnTo>
                          <a:pt x="20" y="0"/>
                        </a:lnTo>
                      </a:path>
                    </a:pathLst>
                  </a:custGeom>
                  <a:solidFill>
                    <a:srgbClr val="037C03">
                      <a:alpha val="50195"/>
                    </a:srgbClr>
                  </a:solidFill>
                  <a:ln w="9525">
                    <a:noFill/>
                  </a:ln>
                </p:spPr>
                <p:txBody>
                  <a:bodyPr/>
                  <a:lstStyle/>
                  <a:p>
                    <a:endParaRPr lang="zh-CN" altLang="en-US"/>
                  </a:p>
                </p:txBody>
              </p:sp>
              <p:sp>
                <p:nvSpPr>
                  <p:cNvPr id="89244" name="Freeform 95"/>
                  <p:cNvSpPr/>
                  <p:nvPr/>
                </p:nvSpPr>
                <p:spPr>
                  <a:xfrm>
                    <a:off x="1991" y="1486"/>
                    <a:ext cx="168" cy="48"/>
                  </a:xfrm>
                  <a:custGeom>
                    <a:avLst/>
                    <a:gdLst>
                      <a:gd name="txL" fmla="*/ 0 w 168"/>
                      <a:gd name="txT" fmla="*/ 0 h 48"/>
                      <a:gd name="txR" fmla="*/ 168 w 168"/>
                      <a:gd name="txB" fmla="*/ 48 h 48"/>
                    </a:gdLst>
                    <a:ahLst/>
                    <a:cxnLst>
                      <a:cxn ang="0">
                        <a:pos x="167" y="47"/>
                      </a:cxn>
                      <a:cxn ang="0">
                        <a:pos x="164" y="38"/>
                      </a:cxn>
                      <a:cxn ang="0">
                        <a:pos x="160" y="31"/>
                      </a:cxn>
                      <a:cxn ang="0">
                        <a:pos x="157" y="30"/>
                      </a:cxn>
                      <a:cxn ang="0">
                        <a:pos x="150" y="28"/>
                      </a:cxn>
                      <a:cxn ang="0">
                        <a:pos x="144" y="26"/>
                      </a:cxn>
                      <a:cxn ang="0">
                        <a:pos x="137" y="28"/>
                      </a:cxn>
                      <a:cxn ang="0">
                        <a:pos x="130" y="29"/>
                      </a:cxn>
                      <a:cxn ang="0">
                        <a:pos x="121" y="25"/>
                      </a:cxn>
                      <a:cxn ang="0">
                        <a:pos x="109" y="21"/>
                      </a:cxn>
                      <a:cxn ang="0">
                        <a:pos x="98" y="17"/>
                      </a:cxn>
                      <a:cxn ang="0">
                        <a:pos x="91" y="15"/>
                      </a:cxn>
                      <a:cxn ang="0">
                        <a:pos x="78" y="12"/>
                      </a:cxn>
                      <a:cxn ang="0">
                        <a:pos x="66" y="8"/>
                      </a:cxn>
                      <a:cxn ang="0">
                        <a:pos x="54" y="4"/>
                      </a:cxn>
                      <a:cxn ang="0">
                        <a:pos x="41" y="1"/>
                      </a:cxn>
                      <a:cxn ang="0">
                        <a:pos x="28" y="0"/>
                      </a:cxn>
                      <a:cxn ang="0">
                        <a:pos x="15" y="0"/>
                      </a:cxn>
                      <a:cxn ang="0">
                        <a:pos x="12" y="1"/>
                      </a:cxn>
                      <a:cxn ang="0">
                        <a:pos x="7" y="4"/>
                      </a:cxn>
                      <a:cxn ang="0">
                        <a:pos x="3" y="7"/>
                      </a:cxn>
                      <a:cxn ang="0">
                        <a:pos x="0" y="10"/>
                      </a:cxn>
                      <a:cxn ang="0">
                        <a:pos x="5" y="10"/>
                      </a:cxn>
                      <a:cxn ang="0">
                        <a:pos x="12" y="11"/>
                      </a:cxn>
                      <a:cxn ang="0">
                        <a:pos x="18" y="12"/>
                      </a:cxn>
                      <a:cxn ang="0">
                        <a:pos x="23" y="11"/>
                      </a:cxn>
                      <a:cxn ang="0">
                        <a:pos x="29" y="10"/>
                      </a:cxn>
                      <a:cxn ang="0">
                        <a:pos x="38" y="10"/>
                      </a:cxn>
                      <a:cxn ang="0">
                        <a:pos x="50" y="10"/>
                      </a:cxn>
                      <a:cxn ang="0">
                        <a:pos x="60" y="12"/>
                      </a:cxn>
                      <a:cxn ang="0">
                        <a:pos x="70" y="13"/>
                      </a:cxn>
                      <a:cxn ang="0">
                        <a:pos x="79" y="15"/>
                      </a:cxn>
                      <a:cxn ang="0">
                        <a:pos x="89" y="16"/>
                      </a:cxn>
                      <a:cxn ang="0">
                        <a:pos x="98" y="18"/>
                      </a:cxn>
                      <a:cxn ang="0">
                        <a:pos x="106" y="22"/>
                      </a:cxn>
                      <a:cxn ang="0">
                        <a:pos x="114" y="26"/>
                      </a:cxn>
                      <a:cxn ang="0">
                        <a:pos x="123" y="30"/>
                      </a:cxn>
                      <a:cxn ang="0">
                        <a:pos x="127" y="30"/>
                      </a:cxn>
                      <a:cxn ang="0">
                        <a:pos x="131" y="30"/>
                      </a:cxn>
                      <a:cxn ang="0">
                        <a:pos x="137" y="33"/>
                      </a:cxn>
                      <a:cxn ang="0">
                        <a:pos x="144" y="36"/>
                      </a:cxn>
                      <a:cxn ang="0">
                        <a:pos x="150" y="38"/>
                      </a:cxn>
                      <a:cxn ang="0">
                        <a:pos x="158" y="42"/>
                      </a:cxn>
                      <a:cxn ang="0">
                        <a:pos x="164" y="45"/>
                      </a:cxn>
                      <a:cxn ang="0">
                        <a:pos x="167" y="47"/>
                      </a:cxn>
                    </a:cxnLst>
                    <a:rect l="txL" t="txT" r="txR" b="txB"/>
                    <a:pathLst>
                      <a:path w="168" h="48">
                        <a:moveTo>
                          <a:pt x="167" y="47"/>
                        </a:moveTo>
                        <a:lnTo>
                          <a:pt x="164" y="38"/>
                        </a:lnTo>
                        <a:lnTo>
                          <a:pt x="160" y="31"/>
                        </a:lnTo>
                        <a:lnTo>
                          <a:pt x="157" y="30"/>
                        </a:lnTo>
                        <a:lnTo>
                          <a:pt x="150" y="28"/>
                        </a:lnTo>
                        <a:lnTo>
                          <a:pt x="144" y="26"/>
                        </a:lnTo>
                        <a:lnTo>
                          <a:pt x="137" y="28"/>
                        </a:lnTo>
                        <a:lnTo>
                          <a:pt x="130" y="29"/>
                        </a:lnTo>
                        <a:lnTo>
                          <a:pt x="121" y="25"/>
                        </a:lnTo>
                        <a:lnTo>
                          <a:pt x="109" y="21"/>
                        </a:lnTo>
                        <a:lnTo>
                          <a:pt x="98" y="17"/>
                        </a:lnTo>
                        <a:lnTo>
                          <a:pt x="91" y="15"/>
                        </a:lnTo>
                        <a:lnTo>
                          <a:pt x="78" y="12"/>
                        </a:lnTo>
                        <a:lnTo>
                          <a:pt x="66" y="8"/>
                        </a:lnTo>
                        <a:lnTo>
                          <a:pt x="54" y="4"/>
                        </a:lnTo>
                        <a:lnTo>
                          <a:pt x="41" y="1"/>
                        </a:lnTo>
                        <a:lnTo>
                          <a:pt x="28" y="0"/>
                        </a:lnTo>
                        <a:lnTo>
                          <a:pt x="15" y="0"/>
                        </a:lnTo>
                        <a:lnTo>
                          <a:pt x="12" y="1"/>
                        </a:lnTo>
                        <a:lnTo>
                          <a:pt x="7" y="4"/>
                        </a:lnTo>
                        <a:lnTo>
                          <a:pt x="3" y="7"/>
                        </a:lnTo>
                        <a:lnTo>
                          <a:pt x="0" y="10"/>
                        </a:lnTo>
                        <a:lnTo>
                          <a:pt x="5" y="10"/>
                        </a:lnTo>
                        <a:lnTo>
                          <a:pt x="12" y="11"/>
                        </a:lnTo>
                        <a:lnTo>
                          <a:pt x="18" y="12"/>
                        </a:lnTo>
                        <a:lnTo>
                          <a:pt x="23" y="11"/>
                        </a:lnTo>
                        <a:lnTo>
                          <a:pt x="29" y="10"/>
                        </a:lnTo>
                        <a:lnTo>
                          <a:pt x="38" y="10"/>
                        </a:lnTo>
                        <a:lnTo>
                          <a:pt x="50" y="10"/>
                        </a:lnTo>
                        <a:lnTo>
                          <a:pt x="60" y="12"/>
                        </a:lnTo>
                        <a:lnTo>
                          <a:pt x="70" y="13"/>
                        </a:lnTo>
                        <a:lnTo>
                          <a:pt x="79" y="15"/>
                        </a:lnTo>
                        <a:lnTo>
                          <a:pt x="89" y="16"/>
                        </a:lnTo>
                        <a:lnTo>
                          <a:pt x="98" y="18"/>
                        </a:lnTo>
                        <a:lnTo>
                          <a:pt x="106" y="22"/>
                        </a:lnTo>
                        <a:lnTo>
                          <a:pt x="114" y="26"/>
                        </a:lnTo>
                        <a:lnTo>
                          <a:pt x="123" y="30"/>
                        </a:lnTo>
                        <a:lnTo>
                          <a:pt x="127" y="30"/>
                        </a:lnTo>
                        <a:lnTo>
                          <a:pt x="131" y="30"/>
                        </a:lnTo>
                        <a:lnTo>
                          <a:pt x="137" y="33"/>
                        </a:lnTo>
                        <a:lnTo>
                          <a:pt x="144" y="36"/>
                        </a:lnTo>
                        <a:lnTo>
                          <a:pt x="150" y="38"/>
                        </a:lnTo>
                        <a:lnTo>
                          <a:pt x="158" y="42"/>
                        </a:lnTo>
                        <a:lnTo>
                          <a:pt x="164" y="45"/>
                        </a:lnTo>
                        <a:lnTo>
                          <a:pt x="167" y="47"/>
                        </a:lnTo>
                      </a:path>
                    </a:pathLst>
                  </a:custGeom>
                  <a:solidFill>
                    <a:srgbClr val="037C03">
                      <a:alpha val="50195"/>
                    </a:srgbClr>
                  </a:solidFill>
                  <a:ln w="9525">
                    <a:noFill/>
                  </a:ln>
                </p:spPr>
                <p:txBody>
                  <a:bodyPr/>
                  <a:lstStyle/>
                  <a:p>
                    <a:endParaRPr lang="zh-CN" altLang="en-US"/>
                  </a:p>
                </p:txBody>
              </p:sp>
              <p:sp>
                <p:nvSpPr>
                  <p:cNvPr id="89245" name="Freeform 96"/>
                  <p:cNvSpPr/>
                  <p:nvPr/>
                </p:nvSpPr>
                <p:spPr>
                  <a:xfrm>
                    <a:off x="1985" y="1514"/>
                    <a:ext cx="173" cy="20"/>
                  </a:xfrm>
                  <a:custGeom>
                    <a:avLst/>
                    <a:gdLst>
                      <a:gd name="txL" fmla="*/ 0 w 173"/>
                      <a:gd name="txT" fmla="*/ 0 h 20"/>
                      <a:gd name="txR" fmla="*/ 173 w 173"/>
                      <a:gd name="txB" fmla="*/ 20 h 20"/>
                    </a:gdLst>
                    <a:ahLst/>
                    <a:cxnLst>
                      <a:cxn ang="0">
                        <a:pos x="172" y="19"/>
                      </a:cxn>
                      <a:cxn ang="0">
                        <a:pos x="167" y="17"/>
                      </a:cxn>
                      <a:cxn ang="0">
                        <a:pos x="163" y="15"/>
                      </a:cxn>
                      <a:cxn ang="0">
                        <a:pos x="157" y="13"/>
                      </a:cxn>
                      <a:cxn ang="0">
                        <a:pos x="152" y="11"/>
                      </a:cxn>
                      <a:cxn ang="0">
                        <a:pos x="146" y="9"/>
                      </a:cxn>
                      <a:cxn ang="0">
                        <a:pos x="138" y="6"/>
                      </a:cxn>
                      <a:cxn ang="0">
                        <a:pos x="131" y="2"/>
                      </a:cxn>
                      <a:cxn ang="0">
                        <a:pos x="125" y="2"/>
                      </a:cxn>
                      <a:cxn ang="0">
                        <a:pos x="118" y="3"/>
                      </a:cxn>
                      <a:cxn ang="0">
                        <a:pos x="108" y="5"/>
                      </a:cxn>
                      <a:cxn ang="0">
                        <a:pos x="103" y="5"/>
                      </a:cxn>
                      <a:cxn ang="0">
                        <a:pos x="91" y="3"/>
                      </a:cxn>
                      <a:cxn ang="0">
                        <a:pos x="77" y="1"/>
                      </a:cxn>
                      <a:cxn ang="0">
                        <a:pos x="67" y="0"/>
                      </a:cxn>
                      <a:cxn ang="0">
                        <a:pos x="55" y="0"/>
                      </a:cxn>
                      <a:cxn ang="0">
                        <a:pos x="43" y="0"/>
                      </a:cxn>
                      <a:cxn ang="0">
                        <a:pos x="35" y="1"/>
                      </a:cxn>
                      <a:cxn ang="0">
                        <a:pos x="26" y="2"/>
                      </a:cxn>
                      <a:cxn ang="0">
                        <a:pos x="18" y="3"/>
                      </a:cxn>
                      <a:cxn ang="0">
                        <a:pos x="9" y="4"/>
                      </a:cxn>
                      <a:cxn ang="0">
                        <a:pos x="8" y="8"/>
                      </a:cxn>
                      <a:cxn ang="0">
                        <a:pos x="6" y="11"/>
                      </a:cxn>
                      <a:cxn ang="0">
                        <a:pos x="4" y="14"/>
                      </a:cxn>
                      <a:cxn ang="0">
                        <a:pos x="0" y="16"/>
                      </a:cxn>
                      <a:cxn ang="0">
                        <a:pos x="7" y="15"/>
                      </a:cxn>
                      <a:cxn ang="0">
                        <a:pos x="15" y="13"/>
                      </a:cxn>
                      <a:cxn ang="0">
                        <a:pos x="21" y="12"/>
                      </a:cxn>
                      <a:cxn ang="0">
                        <a:pos x="29" y="11"/>
                      </a:cxn>
                      <a:cxn ang="0">
                        <a:pos x="36" y="10"/>
                      </a:cxn>
                      <a:cxn ang="0">
                        <a:pos x="49" y="9"/>
                      </a:cxn>
                      <a:cxn ang="0">
                        <a:pos x="62" y="8"/>
                      </a:cxn>
                      <a:cxn ang="0">
                        <a:pos x="77" y="7"/>
                      </a:cxn>
                      <a:cxn ang="0">
                        <a:pos x="92" y="6"/>
                      </a:cxn>
                      <a:cxn ang="0">
                        <a:pos x="106" y="6"/>
                      </a:cxn>
                      <a:cxn ang="0">
                        <a:pos x="118" y="7"/>
                      </a:cxn>
                      <a:cxn ang="0">
                        <a:pos x="126" y="9"/>
                      </a:cxn>
                      <a:cxn ang="0">
                        <a:pos x="135" y="11"/>
                      </a:cxn>
                      <a:cxn ang="0">
                        <a:pos x="145" y="13"/>
                      </a:cxn>
                      <a:cxn ang="0">
                        <a:pos x="155" y="16"/>
                      </a:cxn>
                      <a:cxn ang="0">
                        <a:pos x="163" y="17"/>
                      </a:cxn>
                      <a:cxn ang="0">
                        <a:pos x="172" y="19"/>
                      </a:cxn>
                    </a:cxnLst>
                    <a:rect l="txL" t="txT" r="txR" b="txB"/>
                    <a:pathLst>
                      <a:path w="173" h="20">
                        <a:moveTo>
                          <a:pt x="172" y="19"/>
                        </a:moveTo>
                        <a:lnTo>
                          <a:pt x="167" y="17"/>
                        </a:lnTo>
                        <a:lnTo>
                          <a:pt x="163" y="15"/>
                        </a:lnTo>
                        <a:lnTo>
                          <a:pt x="157" y="13"/>
                        </a:lnTo>
                        <a:lnTo>
                          <a:pt x="152" y="11"/>
                        </a:lnTo>
                        <a:lnTo>
                          <a:pt x="146" y="9"/>
                        </a:lnTo>
                        <a:lnTo>
                          <a:pt x="138" y="6"/>
                        </a:lnTo>
                        <a:lnTo>
                          <a:pt x="131" y="2"/>
                        </a:lnTo>
                        <a:lnTo>
                          <a:pt x="125" y="2"/>
                        </a:lnTo>
                        <a:lnTo>
                          <a:pt x="118" y="3"/>
                        </a:lnTo>
                        <a:lnTo>
                          <a:pt x="108" y="5"/>
                        </a:lnTo>
                        <a:lnTo>
                          <a:pt x="103" y="5"/>
                        </a:lnTo>
                        <a:lnTo>
                          <a:pt x="91" y="3"/>
                        </a:lnTo>
                        <a:lnTo>
                          <a:pt x="77" y="1"/>
                        </a:lnTo>
                        <a:lnTo>
                          <a:pt x="67" y="0"/>
                        </a:lnTo>
                        <a:lnTo>
                          <a:pt x="55" y="0"/>
                        </a:lnTo>
                        <a:lnTo>
                          <a:pt x="43" y="0"/>
                        </a:lnTo>
                        <a:lnTo>
                          <a:pt x="35" y="1"/>
                        </a:lnTo>
                        <a:lnTo>
                          <a:pt x="26" y="2"/>
                        </a:lnTo>
                        <a:lnTo>
                          <a:pt x="18" y="3"/>
                        </a:lnTo>
                        <a:lnTo>
                          <a:pt x="9" y="4"/>
                        </a:lnTo>
                        <a:lnTo>
                          <a:pt x="8" y="8"/>
                        </a:lnTo>
                        <a:lnTo>
                          <a:pt x="6" y="11"/>
                        </a:lnTo>
                        <a:lnTo>
                          <a:pt x="4" y="14"/>
                        </a:lnTo>
                        <a:lnTo>
                          <a:pt x="0" y="16"/>
                        </a:lnTo>
                        <a:lnTo>
                          <a:pt x="7" y="15"/>
                        </a:lnTo>
                        <a:lnTo>
                          <a:pt x="15" y="13"/>
                        </a:lnTo>
                        <a:lnTo>
                          <a:pt x="21" y="12"/>
                        </a:lnTo>
                        <a:lnTo>
                          <a:pt x="29" y="11"/>
                        </a:lnTo>
                        <a:lnTo>
                          <a:pt x="36" y="10"/>
                        </a:lnTo>
                        <a:lnTo>
                          <a:pt x="49" y="9"/>
                        </a:lnTo>
                        <a:lnTo>
                          <a:pt x="62" y="8"/>
                        </a:lnTo>
                        <a:lnTo>
                          <a:pt x="77" y="7"/>
                        </a:lnTo>
                        <a:lnTo>
                          <a:pt x="92" y="6"/>
                        </a:lnTo>
                        <a:lnTo>
                          <a:pt x="106" y="6"/>
                        </a:lnTo>
                        <a:lnTo>
                          <a:pt x="118" y="7"/>
                        </a:lnTo>
                        <a:lnTo>
                          <a:pt x="126" y="9"/>
                        </a:lnTo>
                        <a:lnTo>
                          <a:pt x="135" y="11"/>
                        </a:lnTo>
                        <a:lnTo>
                          <a:pt x="145" y="13"/>
                        </a:lnTo>
                        <a:lnTo>
                          <a:pt x="155" y="16"/>
                        </a:lnTo>
                        <a:lnTo>
                          <a:pt x="163" y="17"/>
                        </a:lnTo>
                        <a:lnTo>
                          <a:pt x="172" y="19"/>
                        </a:lnTo>
                      </a:path>
                    </a:pathLst>
                  </a:custGeom>
                  <a:solidFill>
                    <a:srgbClr val="037C03">
                      <a:alpha val="50195"/>
                    </a:srgbClr>
                  </a:solidFill>
                  <a:ln w="9525">
                    <a:noFill/>
                  </a:ln>
                </p:spPr>
                <p:txBody>
                  <a:bodyPr/>
                  <a:lstStyle/>
                  <a:p>
                    <a:endParaRPr lang="zh-CN" altLang="en-US"/>
                  </a:p>
                </p:txBody>
              </p:sp>
            </p:grpSp>
          </p:grpSp>
        </p:grpSp>
      </p:grpSp>
      <p:grpSp>
        <p:nvGrpSpPr>
          <p:cNvPr id="89097" name="Group 97"/>
          <p:cNvGrpSpPr/>
          <p:nvPr/>
        </p:nvGrpSpPr>
        <p:grpSpPr>
          <a:xfrm>
            <a:off x="1692275" y="2205038"/>
            <a:ext cx="1371600" cy="1600200"/>
            <a:chOff x="0" y="3182"/>
            <a:chExt cx="808" cy="998"/>
          </a:xfrm>
        </p:grpSpPr>
        <p:grpSp>
          <p:nvGrpSpPr>
            <p:cNvPr id="89213" name="Group 98"/>
            <p:cNvGrpSpPr/>
            <p:nvPr/>
          </p:nvGrpSpPr>
          <p:grpSpPr>
            <a:xfrm>
              <a:off x="0" y="3182"/>
              <a:ext cx="506" cy="927"/>
              <a:chOff x="1685" y="1023"/>
              <a:chExt cx="506" cy="927"/>
            </a:xfrm>
          </p:grpSpPr>
          <p:sp>
            <p:nvSpPr>
              <p:cNvPr id="89226" name="Freeform 99"/>
              <p:cNvSpPr/>
              <p:nvPr/>
            </p:nvSpPr>
            <p:spPr>
              <a:xfrm>
                <a:off x="1733" y="1329"/>
                <a:ext cx="76" cy="621"/>
              </a:xfrm>
              <a:custGeom>
                <a:avLst/>
                <a:gdLst>
                  <a:gd name="txL" fmla="*/ 0 w 76"/>
                  <a:gd name="txT" fmla="*/ 0 h 621"/>
                  <a:gd name="txR" fmla="*/ 76 w 76"/>
                  <a:gd name="txB" fmla="*/ 621 h 621"/>
                </a:gdLst>
                <a:ahLst/>
                <a:cxnLst>
                  <a:cxn ang="0">
                    <a:pos x="0" y="54"/>
                  </a:cxn>
                  <a:cxn ang="0">
                    <a:pos x="11" y="269"/>
                  </a:cxn>
                  <a:cxn ang="0">
                    <a:pos x="22" y="442"/>
                  </a:cxn>
                  <a:cxn ang="0">
                    <a:pos x="30" y="570"/>
                  </a:cxn>
                  <a:cxn ang="0">
                    <a:pos x="28" y="620"/>
                  </a:cxn>
                  <a:cxn ang="0">
                    <a:pos x="44" y="620"/>
                  </a:cxn>
                  <a:cxn ang="0">
                    <a:pos x="49" y="546"/>
                  </a:cxn>
                  <a:cxn ang="0">
                    <a:pos x="52" y="434"/>
                  </a:cxn>
                  <a:cxn ang="0">
                    <a:pos x="58" y="329"/>
                  </a:cxn>
                  <a:cxn ang="0">
                    <a:pos x="61" y="250"/>
                  </a:cxn>
                  <a:cxn ang="0">
                    <a:pos x="67" y="135"/>
                  </a:cxn>
                  <a:cxn ang="0">
                    <a:pos x="75" y="36"/>
                  </a:cxn>
                  <a:cxn ang="0">
                    <a:pos x="70" y="11"/>
                  </a:cxn>
                  <a:cxn ang="0">
                    <a:pos x="62" y="0"/>
                  </a:cxn>
                  <a:cxn ang="0">
                    <a:pos x="53" y="121"/>
                  </a:cxn>
                  <a:cxn ang="0">
                    <a:pos x="45" y="224"/>
                  </a:cxn>
                  <a:cxn ang="0">
                    <a:pos x="43" y="305"/>
                  </a:cxn>
                  <a:cxn ang="0">
                    <a:pos x="40" y="390"/>
                  </a:cxn>
                  <a:cxn ang="0">
                    <a:pos x="34" y="475"/>
                  </a:cxn>
                  <a:cxn ang="0">
                    <a:pos x="25" y="327"/>
                  </a:cxn>
                  <a:cxn ang="0">
                    <a:pos x="15" y="187"/>
                  </a:cxn>
                  <a:cxn ang="0">
                    <a:pos x="0" y="54"/>
                  </a:cxn>
                </a:cxnLst>
                <a:rect l="txL" t="txT" r="txR" b="txB"/>
                <a:pathLst>
                  <a:path w="76" h="621">
                    <a:moveTo>
                      <a:pt x="0" y="54"/>
                    </a:moveTo>
                    <a:lnTo>
                      <a:pt x="11" y="269"/>
                    </a:lnTo>
                    <a:lnTo>
                      <a:pt x="22" y="442"/>
                    </a:lnTo>
                    <a:lnTo>
                      <a:pt x="30" y="570"/>
                    </a:lnTo>
                    <a:lnTo>
                      <a:pt x="28" y="620"/>
                    </a:lnTo>
                    <a:lnTo>
                      <a:pt x="44" y="620"/>
                    </a:lnTo>
                    <a:lnTo>
                      <a:pt x="49" y="546"/>
                    </a:lnTo>
                    <a:lnTo>
                      <a:pt x="52" y="434"/>
                    </a:lnTo>
                    <a:lnTo>
                      <a:pt x="58" y="329"/>
                    </a:lnTo>
                    <a:lnTo>
                      <a:pt x="61" y="250"/>
                    </a:lnTo>
                    <a:lnTo>
                      <a:pt x="67" y="135"/>
                    </a:lnTo>
                    <a:lnTo>
                      <a:pt x="75" y="36"/>
                    </a:lnTo>
                    <a:lnTo>
                      <a:pt x="70" y="11"/>
                    </a:lnTo>
                    <a:lnTo>
                      <a:pt x="62" y="0"/>
                    </a:lnTo>
                    <a:lnTo>
                      <a:pt x="53" y="121"/>
                    </a:lnTo>
                    <a:lnTo>
                      <a:pt x="45" y="224"/>
                    </a:lnTo>
                    <a:lnTo>
                      <a:pt x="43" y="305"/>
                    </a:lnTo>
                    <a:lnTo>
                      <a:pt x="40" y="390"/>
                    </a:lnTo>
                    <a:lnTo>
                      <a:pt x="34" y="475"/>
                    </a:lnTo>
                    <a:lnTo>
                      <a:pt x="25" y="327"/>
                    </a:lnTo>
                    <a:lnTo>
                      <a:pt x="15" y="187"/>
                    </a:lnTo>
                    <a:lnTo>
                      <a:pt x="0" y="54"/>
                    </a:lnTo>
                  </a:path>
                </a:pathLst>
              </a:custGeom>
              <a:solidFill>
                <a:srgbClr val="3C0023">
                  <a:alpha val="50195"/>
                </a:srgbClr>
              </a:solidFill>
              <a:ln w="9525">
                <a:noFill/>
              </a:ln>
            </p:spPr>
            <p:txBody>
              <a:bodyPr/>
              <a:lstStyle/>
              <a:p>
                <a:endParaRPr lang="zh-CN" altLang="en-US"/>
              </a:p>
            </p:txBody>
          </p:sp>
          <p:sp>
            <p:nvSpPr>
              <p:cNvPr id="89227" name="Freeform 100"/>
              <p:cNvSpPr/>
              <p:nvPr/>
            </p:nvSpPr>
            <p:spPr>
              <a:xfrm>
                <a:off x="1790" y="1583"/>
                <a:ext cx="120" cy="349"/>
              </a:xfrm>
              <a:custGeom>
                <a:avLst/>
                <a:gdLst>
                  <a:gd name="txL" fmla="*/ 0 w 120"/>
                  <a:gd name="txT" fmla="*/ 0 h 349"/>
                  <a:gd name="txR" fmla="*/ 120 w 120"/>
                  <a:gd name="txB" fmla="*/ 349 h 349"/>
                </a:gdLst>
                <a:ahLst/>
                <a:cxnLst>
                  <a:cxn ang="0">
                    <a:pos x="0" y="161"/>
                  </a:cxn>
                  <a:cxn ang="0">
                    <a:pos x="10" y="232"/>
                  </a:cxn>
                  <a:cxn ang="0">
                    <a:pos x="20" y="289"/>
                  </a:cxn>
                  <a:cxn ang="0">
                    <a:pos x="26" y="331"/>
                  </a:cxn>
                  <a:cxn ang="0">
                    <a:pos x="25" y="348"/>
                  </a:cxn>
                  <a:cxn ang="0">
                    <a:pos x="39" y="348"/>
                  </a:cxn>
                  <a:cxn ang="0">
                    <a:pos x="43" y="323"/>
                  </a:cxn>
                  <a:cxn ang="0">
                    <a:pos x="45" y="286"/>
                  </a:cxn>
                  <a:cxn ang="0">
                    <a:pos x="51" y="252"/>
                  </a:cxn>
                  <a:cxn ang="0">
                    <a:pos x="54" y="226"/>
                  </a:cxn>
                  <a:cxn ang="0">
                    <a:pos x="59" y="188"/>
                  </a:cxn>
                  <a:cxn ang="0">
                    <a:pos x="66" y="156"/>
                  </a:cxn>
                  <a:cxn ang="0">
                    <a:pos x="71" y="127"/>
                  </a:cxn>
                  <a:cxn ang="0">
                    <a:pos x="77" y="96"/>
                  </a:cxn>
                  <a:cxn ang="0">
                    <a:pos x="86" y="66"/>
                  </a:cxn>
                  <a:cxn ang="0">
                    <a:pos x="96" y="40"/>
                  </a:cxn>
                  <a:cxn ang="0">
                    <a:pos x="113" y="15"/>
                  </a:cxn>
                  <a:cxn ang="0">
                    <a:pos x="119" y="5"/>
                  </a:cxn>
                  <a:cxn ang="0">
                    <a:pos x="112" y="0"/>
                  </a:cxn>
                  <a:cxn ang="0">
                    <a:pos x="101" y="10"/>
                  </a:cxn>
                  <a:cxn ang="0">
                    <a:pos x="86" y="33"/>
                  </a:cxn>
                  <a:cxn ang="0">
                    <a:pos x="75" y="57"/>
                  </a:cxn>
                  <a:cxn ang="0">
                    <a:pos x="66" y="81"/>
                  </a:cxn>
                  <a:cxn ang="0">
                    <a:pos x="60" y="113"/>
                  </a:cxn>
                  <a:cxn ang="0">
                    <a:pos x="55" y="144"/>
                  </a:cxn>
                  <a:cxn ang="0">
                    <a:pos x="47" y="184"/>
                  </a:cxn>
                  <a:cxn ang="0">
                    <a:pos x="40" y="217"/>
                  </a:cxn>
                  <a:cxn ang="0">
                    <a:pos x="37" y="244"/>
                  </a:cxn>
                  <a:cxn ang="0">
                    <a:pos x="36" y="272"/>
                  </a:cxn>
                  <a:cxn ang="0">
                    <a:pos x="30" y="300"/>
                  </a:cxn>
                  <a:cxn ang="0">
                    <a:pos x="22" y="251"/>
                  </a:cxn>
                  <a:cxn ang="0">
                    <a:pos x="13" y="205"/>
                  </a:cxn>
                  <a:cxn ang="0">
                    <a:pos x="0" y="161"/>
                  </a:cxn>
                </a:cxnLst>
                <a:rect l="txL" t="txT" r="txR" b="txB"/>
                <a:pathLst>
                  <a:path w="120" h="349">
                    <a:moveTo>
                      <a:pt x="0" y="161"/>
                    </a:moveTo>
                    <a:lnTo>
                      <a:pt x="10" y="232"/>
                    </a:lnTo>
                    <a:lnTo>
                      <a:pt x="20" y="289"/>
                    </a:lnTo>
                    <a:lnTo>
                      <a:pt x="26" y="331"/>
                    </a:lnTo>
                    <a:lnTo>
                      <a:pt x="25" y="348"/>
                    </a:lnTo>
                    <a:lnTo>
                      <a:pt x="39" y="348"/>
                    </a:lnTo>
                    <a:lnTo>
                      <a:pt x="43" y="323"/>
                    </a:lnTo>
                    <a:lnTo>
                      <a:pt x="45" y="286"/>
                    </a:lnTo>
                    <a:lnTo>
                      <a:pt x="51" y="252"/>
                    </a:lnTo>
                    <a:lnTo>
                      <a:pt x="54" y="226"/>
                    </a:lnTo>
                    <a:lnTo>
                      <a:pt x="59" y="188"/>
                    </a:lnTo>
                    <a:lnTo>
                      <a:pt x="66" y="156"/>
                    </a:lnTo>
                    <a:lnTo>
                      <a:pt x="71" y="127"/>
                    </a:lnTo>
                    <a:lnTo>
                      <a:pt x="77" y="96"/>
                    </a:lnTo>
                    <a:lnTo>
                      <a:pt x="86" y="66"/>
                    </a:lnTo>
                    <a:lnTo>
                      <a:pt x="96" y="40"/>
                    </a:lnTo>
                    <a:lnTo>
                      <a:pt x="113" y="15"/>
                    </a:lnTo>
                    <a:lnTo>
                      <a:pt x="119" y="5"/>
                    </a:lnTo>
                    <a:lnTo>
                      <a:pt x="112" y="0"/>
                    </a:lnTo>
                    <a:lnTo>
                      <a:pt x="101" y="10"/>
                    </a:lnTo>
                    <a:lnTo>
                      <a:pt x="86" y="33"/>
                    </a:lnTo>
                    <a:lnTo>
                      <a:pt x="75" y="57"/>
                    </a:lnTo>
                    <a:lnTo>
                      <a:pt x="66" y="81"/>
                    </a:lnTo>
                    <a:lnTo>
                      <a:pt x="60" y="113"/>
                    </a:lnTo>
                    <a:lnTo>
                      <a:pt x="55" y="144"/>
                    </a:lnTo>
                    <a:lnTo>
                      <a:pt x="47" y="184"/>
                    </a:lnTo>
                    <a:lnTo>
                      <a:pt x="40" y="217"/>
                    </a:lnTo>
                    <a:lnTo>
                      <a:pt x="37" y="244"/>
                    </a:lnTo>
                    <a:lnTo>
                      <a:pt x="36" y="272"/>
                    </a:lnTo>
                    <a:lnTo>
                      <a:pt x="30" y="300"/>
                    </a:lnTo>
                    <a:lnTo>
                      <a:pt x="22" y="251"/>
                    </a:lnTo>
                    <a:lnTo>
                      <a:pt x="13" y="205"/>
                    </a:lnTo>
                    <a:lnTo>
                      <a:pt x="0" y="161"/>
                    </a:lnTo>
                  </a:path>
                </a:pathLst>
              </a:custGeom>
              <a:solidFill>
                <a:srgbClr val="3C0023">
                  <a:alpha val="50195"/>
                </a:srgbClr>
              </a:solidFill>
              <a:ln w="9525">
                <a:noFill/>
              </a:ln>
            </p:spPr>
            <p:txBody>
              <a:bodyPr/>
              <a:lstStyle/>
              <a:p>
                <a:endParaRPr lang="zh-CN" altLang="en-US"/>
              </a:p>
            </p:txBody>
          </p:sp>
          <p:sp>
            <p:nvSpPr>
              <p:cNvPr id="89228" name="Freeform 101"/>
              <p:cNvSpPr/>
              <p:nvPr/>
            </p:nvSpPr>
            <p:spPr>
              <a:xfrm>
                <a:off x="1685" y="1239"/>
                <a:ext cx="266" cy="391"/>
              </a:xfrm>
              <a:custGeom>
                <a:avLst/>
                <a:gdLst>
                  <a:gd name="txL" fmla="*/ 0 w 266"/>
                  <a:gd name="txT" fmla="*/ 0 h 391"/>
                  <a:gd name="txR" fmla="*/ 266 w 266"/>
                  <a:gd name="txB" fmla="*/ 391 h 391"/>
                </a:gdLst>
                <a:ahLst/>
                <a:cxnLst>
                  <a:cxn ang="0">
                    <a:pos x="107" y="123"/>
                  </a:cxn>
                  <a:cxn ang="0">
                    <a:pos x="116" y="135"/>
                  </a:cxn>
                  <a:cxn ang="0">
                    <a:pos x="163" y="114"/>
                  </a:cxn>
                  <a:cxn ang="0">
                    <a:pos x="211" y="81"/>
                  </a:cxn>
                  <a:cxn ang="0">
                    <a:pos x="233" y="46"/>
                  </a:cxn>
                  <a:cxn ang="0">
                    <a:pos x="220" y="76"/>
                  </a:cxn>
                  <a:cxn ang="0">
                    <a:pos x="183" y="109"/>
                  </a:cxn>
                  <a:cxn ang="0">
                    <a:pos x="142" y="138"/>
                  </a:cxn>
                  <a:cxn ang="0">
                    <a:pos x="102" y="159"/>
                  </a:cxn>
                  <a:cxn ang="0">
                    <a:pos x="119" y="178"/>
                  </a:cxn>
                  <a:cxn ang="0">
                    <a:pos x="155" y="180"/>
                  </a:cxn>
                  <a:cxn ang="0">
                    <a:pos x="202" y="187"/>
                  </a:cxn>
                  <a:cxn ang="0">
                    <a:pos x="239" y="204"/>
                  </a:cxn>
                  <a:cxn ang="0">
                    <a:pos x="251" y="215"/>
                  </a:cxn>
                  <a:cxn ang="0">
                    <a:pos x="213" y="204"/>
                  </a:cxn>
                  <a:cxn ang="0">
                    <a:pos x="162" y="198"/>
                  </a:cxn>
                  <a:cxn ang="0">
                    <a:pos x="114" y="195"/>
                  </a:cxn>
                  <a:cxn ang="0">
                    <a:pos x="88" y="203"/>
                  </a:cxn>
                  <a:cxn ang="0">
                    <a:pos x="93" y="248"/>
                  </a:cxn>
                  <a:cxn ang="0">
                    <a:pos x="93" y="307"/>
                  </a:cxn>
                  <a:cxn ang="0">
                    <a:pos x="77" y="354"/>
                  </a:cxn>
                  <a:cxn ang="0">
                    <a:pos x="46" y="390"/>
                  </a:cxn>
                  <a:cxn ang="0">
                    <a:pos x="50" y="346"/>
                  </a:cxn>
                  <a:cxn ang="0">
                    <a:pos x="61" y="299"/>
                  </a:cxn>
                  <a:cxn ang="0">
                    <a:pos x="67" y="238"/>
                  </a:cxn>
                  <a:cxn ang="0">
                    <a:pos x="64" y="198"/>
                  </a:cxn>
                  <a:cxn ang="0">
                    <a:pos x="48" y="221"/>
                  </a:cxn>
                  <a:cxn ang="0">
                    <a:pos x="39" y="273"/>
                  </a:cxn>
                  <a:cxn ang="0">
                    <a:pos x="32" y="325"/>
                  </a:cxn>
                  <a:cxn ang="0">
                    <a:pos x="10" y="364"/>
                  </a:cxn>
                  <a:cxn ang="0">
                    <a:pos x="2" y="364"/>
                  </a:cxn>
                  <a:cxn ang="0">
                    <a:pos x="2" y="324"/>
                  </a:cxn>
                  <a:cxn ang="0">
                    <a:pos x="17" y="287"/>
                  </a:cxn>
                  <a:cxn ang="0">
                    <a:pos x="34" y="239"/>
                  </a:cxn>
                  <a:cxn ang="0">
                    <a:pos x="42" y="204"/>
                  </a:cxn>
                  <a:cxn ang="0">
                    <a:pos x="26" y="182"/>
                  </a:cxn>
                  <a:cxn ang="0">
                    <a:pos x="2" y="184"/>
                  </a:cxn>
                  <a:cxn ang="0">
                    <a:pos x="2" y="184"/>
                  </a:cxn>
                  <a:cxn ang="0">
                    <a:pos x="2" y="184"/>
                  </a:cxn>
                  <a:cxn ang="0">
                    <a:pos x="2" y="184"/>
                  </a:cxn>
                  <a:cxn ang="0">
                    <a:pos x="2" y="184"/>
                  </a:cxn>
                  <a:cxn ang="0">
                    <a:pos x="2" y="184"/>
                  </a:cxn>
                  <a:cxn ang="0">
                    <a:pos x="13" y="161"/>
                  </a:cxn>
                  <a:cxn ang="0">
                    <a:pos x="13" y="138"/>
                  </a:cxn>
                  <a:cxn ang="0">
                    <a:pos x="2" y="105"/>
                  </a:cxn>
                  <a:cxn ang="0">
                    <a:pos x="2" y="105"/>
                  </a:cxn>
                  <a:cxn ang="0">
                    <a:pos x="2" y="105"/>
                  </a:cxn>
                  <a:cxn ang="0">
                    <a:pos x="2" y="105"/>
                  </a:cxn>
                  <a:cxn ang="0">
                    <a:pos x="24" y="122"/>
                  </a:cxn>
                  <a:cxn ang="0">
                    <a:pos x="53" y="157"/>
                  </a:cxn>
                  <a:cxn ang="0">
                    <a:pos x="55" y="130"/>
                  </a:cxn>
                  <a:cxn ang="0">
                    <a:pos x="24" y="91"/>
                  </a:cxn>
                  <a:cxn ang="0">
                    <a:pos x="2" y="65"/>
                  </a:cxn>
                  <a:cxn ang="0">
                    <a:pos x="2" y="65"/>
                  </a:cxn>
                  <a:cxn ang="0">
                    <a:pos x="2" y="48"/>
                  </a:cxn>
                  <a:cxn ang="0">
                    <a:pos x="30" y="87"/>
                  </a:cxn>
                  <a:cxn ang="0">
                    <a:pos x="61" y="138"/>
                  </a:cxn>
                  <a:cxn ang="0">
                    <a:pos x="80" y="127"/>
                  </a:cxn>
                  <a:cxn ang="0">
                    <a:pos x="106" y="87"/>
                  </a:cxn>
                  <a:cxn ang="0">
                    <a:pos x="139" y="39"/>
                  </a:cxn>
                  <a:cxn ang="0">
                    <a:pos x="165" y="6"/>
                  </a:cxn>
                  <a:cxn ang="0">
                    <a:pos x="163" y="29"/>
                  </a:cxn>
                  <a:cxn ang="0">
                    <a:pos x="137" y="76"/>
                  </a:cxn>
                </a:cxnLst>
                <a:rect l="txL" t="txT" r="txR" b="txB"/>
                <a:pathLst>
                  <a:path w="266" h="391">
                    <a:moveTo>
                      <a:pt x="124" y="95"/>
                    </a:moveTo>
                    <a:lnTo>
                      <a:pt x="119" y="101"/>
                    </a:lnTo>
                    <a:lnTo>
                      <a:pt x="115" y="108"/>
                    </a:lnTo>
                    <a:lnTo>
                      <a:pt x="111" y="115"/>
                    </a:lnTo>
                    <a:lnTo>
                      <a:pt x="107" y="123"/>
                    </a:lnTo>
                    <a:lnTo>
                      <a:pt x="104" y="129"/>
                    </a:lnTo>
                    <a:lnTo>
                      <a:pt x="102" y="136"/>
                    </a:lnTo>
                    <a:lnTo>
                      <a:pt x="100" y="142"/>
                    </a:lnTo>
                    <a:lnTo>
                      <a:pt x="107" y="138"/>
                    </a:lnTo>
                    <a:lnTo>
                      <a:pt x="116" y="135"/>
                    </a:lnTo>
                    <a:lnTo>
                      <a:pt x="125" y="131"/>
                    </a:lnTo>
                    <a:lnTo>
                      <a:pt x="134" y="127"/>
                    </a:lnTo>
                    <a:lnTo>
                      <a:pt x="144" y="124"/>
                    </a:lnTo>
                    <a:lnTo>
                      <a:pt x="154" y="119"/>
                    </a:lnTo>
                    <a:lnTo>
                      <a:pt x="163" y="114"/>
                    </a:lnTo>
                    <a:lnTo>
                      <a:pt x="175" y="107"/>
                    </a:lnTo>
                    <a:lnTo>
                      <a:pt x="184" y="101"/>
                    </a:lnTo>
                    <a:lnTo>
                      <a:pt x="195" y="93"/>
                    </a:lnTo>
                    <a:lnTo>
                      <a:pt x="203" y="89"/>
                    </a:lnTo>
                    <a:lnTo>
                      <a:pt x="211" y="81"/>
                    </a:lnTo>
                    <a:lnTo>
                      <a:pt x="218" y="75"/>
                    </a:lnTo>
                    <a:lnTo>
                      <a:pt x="224" y="66"/>
                    </a:lnTo>
                    <a:lnTo>
                      <a:pt x="227" y="59"/>
                    </a:lnTo>
                    <a:lnTo>
                      <a:pt x="230" y="51"/>
                    </a:lnTo>
                    <a:lnTo>
                      <a:pt x="233" y="46"/>
                    </a:lnTo>
                    <a:lnTo>
                      <a:pt x="233" y="52"/>
                    </a:lnTo>
                    <a:lnTo>
                      <a:pt x="233" y="56"/>
                    </a:lnTo>
                    <a:lnTo>
                      <a:pt x="231" y="61"/>
                    </a:lnTo>
                    <a:lnTo>
                      <a:pt x="227" y="67"/>
                    </a:lnTo>
                    <a:lnTo>
                      <a:pt x="220" y="76"/>
                    </a:lnTo>
                    <a:lnTo>
                      <a:pt x="217" y="83"/>
                    </a:lnTo>
                    <a:lnTo>
                      <a:pt x="210" y="88"/>
                    </a:lnTo>
                    <a:lnTo>
                      <a:pt x="202" y="94"/>
                    </a:lnTo>
                    <a:lnTo>
                      <a:pt x="192" y="101"/>
                    </a:lnTo>
                    <a:lnTo>
                      <a:pt x="183" y="109"/>
                    </a:lnTo>
                    <a:lnTo>
                      <a:pt x="173" y="116"/>
                    </a:lnTo>
                    <a:lnTo>
                      <a:pt x="167" y="122"/>
                    </a:lnTo>
                    <a:lnTo>
                      <a:pt x="159" y="129"/>
                    </a:lnTo>
                    <a:lnTo>
                      <a:pt x="151" y="133"/>
                    </a:lnTo>
                    <a:lnTo>
                      <a:pt x="142" y="138"/>
                    </a:lnTo>
                    <a:lnTo>
                      <a:pt x="133" y="143"/>
                    </a:lnTo>
                    <a:lnTo>
                      <a:pt x="125" y="148"/>
                    </a:lnTo>
                    <a:lnTo>
                      <a:pt x="118" y="152"/>
                    </a:lnTo>
                    <a:lnTo>
                      <a:pt x="109" y="156"/>
                    </a:lnTo>
                    <a:lnTo>
                      <a:pt x="102" y="159"/>
                    </a:lnTo>
                    <a:lnTo>
                      <a:pt x="100" y="161"/>
                    </a:lnTo>
                    <a:lnTo>
                      <a:pt x="102" y="165"/>
                    </a:lnTo>
                    <a:lnTo>
                      <a:pt x="106" y="170"/>
                    </a:lnTo>
                    <a:lnTo>
                      <a:pt x="110" y="176"/>
                    </a:lnTo>
                    <a:lnTo>
                      <a:pt x="119" y="178"/>
                    </a:lnTo>
                    <a:lnTo>
                      <a:pt x="125" y="178"/>
                    </a:lnTo>
                    <a:lnTo>
                      <a:pt x="135" y="180"/>
                    </a:lnTo>
                    <a:lnTo>
                      <a:pt x="144" y="180"/>
                    </a:lnTo>
                    <a:lnTo>
                      <a:pt x="155" y="180"/>
                    </a:lnTo>
                    <a:lnTo>
                      <a:pt x="165" y="182"/>
                    </a:lnTo>
                    <a:lnTo>
                      <a:pt x="175" y="182"/>
                    </a:lnTo>
                    <a:lnTo>
                      <a:pt x="185" y="184"/>
                    </a:lnTo>
                    <a:lnTo>
                      <a:pt x="193" y="185"/>
                    </a:lnTo>
                    <a:lnTo>
                      <a:pt x="202" y="187"/>
                    </a:lnTo>
                    <a:lnTo>
                      <a:pt x="208" y="189"/>
                    </a:lnTo>
                    <a:lnTo>
                      <a:pt x="215" y="193"/>
                    </a:lnTo>
                    <a:lnTo>
                      <a:pt x="221" y="196"/>
                    </a:lnTo>
                    <a:lnTo>
                      <a:pt x="229" y="200"/>
                    </a:lnTo>
                    <a:lnTo>
                      <a:pt x="239" y="204"/>
                    </a:lnTo>
                    <a:lnTo>
                      <a:pt x="249" y="208"/>
                    </a:lnTo>
                    <a:lnTo>
                      <a:pt x="256" y="211"/>
                    </a:lnTo>
                    <a:lnTo>
                      <a:pt x="265" y="214"/>
                    </a:lnTo>
                    <a:lnTo>
                      <a:pt x="258" y="215"/>
                    </a:lnTo>
                    <a:lnTo>
                      <a:pt x="251" y="215"/>
                    </a:lnTo>
                    <a:lnTo>
                      <a:pt x="244" y="213"/>
                    </a:lnTo>
                    <a:lnTo>
                      <a:pt x="236" y="211"/>
                    </a:lnTo>
                    <a:lnTo>
                      <a:pt x="226" y="207"/>
                    </a:lnTo>
                    <a:lnTo>
                      <a:pt x="219" y="206"/>
                    </a:lnTo>
                    <a:lnTo>
                      <a:pt x="213" y="204"/>
                    </a:lnTo>
                    <a:lnTo>
                      <a:pt x="204" y="202"/>
                    </a:lnTo>
                    <a:lnTo>
                      <a:pt x="195" y="201"/>
                    </a:lnTo>
                    <a:lnTo>
                      <a:pt x="184" y="200"/>
                    </a:lnTo>
                    <a:lnTo>
                      <a:pt x="173" y="199"/>
                    </a:lnTo>
                    <a:lnTo>
                      <a:pt x="162" y="198"/>
                    </a:lnTo>
                    <a:lnTo>
                      <a:pt x="152" y="198"/>
                    </a:lnTo>
                    <a:lnTo>
                      <a:pt x="142" y="198"/>
                    </a:lnTo>
                    <a:lnTo>
                      <a:pt x="134" y="197"/>
                    </a:lnTo>
                    <a:lnTo>
                      <a:pt x="124" y="197"/>
                    </a:lnTo>
                    <a:lnTo>
                      <a:pt x="114" y="195"/>
                    </a:lnTo>
                    <a:lnTo>
                      <a:pt x="102" y="192"/>
                    </a:lnTo>
                    <a:lnTo>
                      <a:pt x="92" y="189"/>
                    </a:lnTo>
                    <a:lnTo>
                      <a:pt x="80" y="188"/>
                    </a:lnTo>
                    <a:lnTo>
                      <a:pt x="84" y="195"/>
                    </a:lnTo>
                    <a:lnTo>
                      <a:pt x="88" y="203"/>
                    </a:lnTo>
                    <a:lnTo>
                      <a:pt x="93" y="215"/>
                    </a:lnTo>
                    <a:lnTo>
                      <a:pt x="94" y="223"/>
                    </a:lnTo>
                    <a:lnTo>
                      <a:pt x="95" y="233"/>
                    </a:lnTo>
                    <a:lnTo>
                      <a:pt x="94" y="241"/>
                    </a:lnTo>
                    <a:lnTo>
                      <a:pt x="93" y="248"/>
                    </a:lnTo>
                    <a:lnTo>
                      <a:pt x="93" y="259"/>
                    </a:lnTo>
                    <a:lnTo>
                      <a:pt x="92" y="273"/>
                    </a:lnTo>
                    <a:lnTo>
                      <a:pt x="92" y="285"/>
                    </a:lnTo>
                    <a:lnTo>
                      <a:pt x="93" y="297"/>
                    </a:lnTo>
                    <a:lnTo>
                      <a:pt x="93" y="307"/>
                    </a:lnTo>
                    <a:lnTo>
                      <a:pt x="92" y="316"/>
                    </a:lnTo>
                    <a:lnTo>
                      <a:pt x="89" y="326"/>
                    </a:lnTo>
                    <a:lnTo>
                      <a:pt x="85" y="338"/>
                    </a:lnTo>
                    <a:lnTo>
                      <a:pt x="82" y="346"/>
                    </a:lnTo>
                    <a:lnTo>
                      <a:pt x="77" y="354"/>
                    </a:lnTo>
                    <a:lnTo>
                      <a:pt x="73" y="363"/>
                    </a:lnTo>
                    <a:lnTo>
                      <a:pt x="69" y="369"/>
                    </a:lnTo>
                    <a:lnTo>
                      <a:pt x="62" y="376"/>
                    </a:lnTo>
                    <a:lnTo>
                      <a:pt x="53" y="382"/>
                    </a:lnTo>
                    <a:lnTo>
                      <a:pt x="46" y="390"/>
                    </a:lnTo>
                    <a:lnTo>
                      <a:pt x="45" y="382"/>
                    </a:lnTo>
                    <a:lnTo>
                      <a:pt x="46" y="372"/>
                    </a:lnTo>
                    <a:lnTo>
                      <a:pt x="47" y="362"/>
                    </a:lnTo>
                    <a:lnTo>
                      <a:pt x="48" y="353"/>
                    </a:lnTo>
                    <a:lnTo>
                      <a:pt x="50" y="346"/>
                    </a:lnTo>
                    <a:lnTo>
                      <a:pt x="53" y="337"/>
                    </a:lnTo>
                    <a:lnTo>
                      <a:pt x="56" y="328"/>
                    </a:lnTo>
                    <a:lnTo>
                      <a:pt x="58" y="320"/>
                    </a:lnTo>
                    <a:lnTo>
                      <a:pt x="59" y="313"/>
                    </a:lnTo>
                    <a:lnTo>
                      <a:pt x="61" y="299"/>
                    </a:lnTo>
                    <a:lnTo>
                      <a:pt x="62" y="285"/>
                    </a:lnTo>
                    <a:lnTo>
                      <a:pt x="63" y="273"/>
                    </a:lnTo>
                    <a:lnTo>
                      <a:pt x="65" y="260"/>
                    </a:lnTo>
                    <a:lnTo>
                      <a:pt x="67" y="247"/>
                    </a:lnTo>
                    <a:lnTo>
                      <a:pt x="67" y="238"/>
                    </a:lnTo>
                    <a:lnTo>
                      <a:pt x="67" y="231"/>
                    </a:lnTo>
                    <a:lnTo>
                      <a:pt x="68" y="222"/>
                    </a:lnTo>
                    <a:lnTo>
                      <a:pt x="67" y="212"/>
                    </a:lnTo>
                    <a:lnTo>
                      <a:pt x="66" y="206"/>
                    </a:lnTo>
                    <a:lnTo>
                      <a:pt x="64" y="198"/>
                    </a:lnTo>
                    <a:lnTo>
                      <a:pt x="62" y="187"/>
                    </a:lnTo>
                    <a:lnTo>
                      <a:pt x="58" y="195"/>
                    </a:lnTo>
                    <a:lnTo>
                      <a:pt x="54" y="203"/>
                    </a:lnTo>
                    <a:lnTo>
                      <a:pt x="50" y="212"/>
                    </a:lnTo>
                    <a:lnTo>
                      <a:pt x="48" y="221"/>
                    </a:lnTo>
                    <a:lnTo>
                      <a:pt x="46" y="232"/>
                    </a:lnTo>
                    <a:lnTo>
                      <a:pt x="44" y="239"/>
                    </a:lnTo>
                    <a:lnTo>
                      <a:pt x="43" y="249"/>
                    </a:lnTo>
                    <a:lnTo>
                      <a:pt x="41" y="260"/>
                    </a:lnTo>
                    <a:lnTo>
                      <a:pt x="39" y="273"/>
                    </a:lnTo>
                    <a:lnTo>
                      <a:pt x="38" y="283"/>
                    </a:lnTo>
                    <a:lnTo>
                      <a:pt x="37" y="295"/>
                    </a:lnTo>
                    <a:lnTo>
                      <a:pt x="36" y="305"/>
                    </a:lnTo>
                    <a:lnTo>
                      <a:pt x="33" y="315"/>
                    </a:lnTo>
                    <a:lnTo>
                      <a:pt x="32" y="325"/>
                    </a:lnTo>
                    <a:lnTo>
                      <a:pt x="30" y="333"/>
                    </a:lnTo>
                    <a:lnTo>
                      <a:pt x="26" y="340"/>
                    </a:lnTo>
                    <a:lnTo>
                      <a:pt x="21" y="348"/>
                    </a:lnTo>
                    <a:lnTo>
                      <a:pt x="15" y="356"/>
                    </a:lnTo>
                    <a:lnTo>
                      <a:pt x="10" y="364"/>
                    </a:lnTo>
                    <a:lnTo>
                      <a:pt x="5" y="368"/>
                    </a:lnTo>
                    <a:lnTo>
                      <a:pt x="2" y="364"/>
                    </a:lnTo>
                    <a:lnTo>
                      <a:pt x="2" y="344"/>
                    </a:lnTo>
                    <a:lnTo>
                      <a:pt x="2" y="364"/>
                    </a:lnTo>
                    <a:lnTo>
                      <a:pt x="2" y="344"/>
                    </a:lnTo>
                    <a:lnTo>
                      <a:pt x="2" y="324"/>
                    </a:lnTo>
                    <a:lnTo>
                      <a:pt x="5" y="316"/>
                    </a:lnTo>
                    <a:lnTo>
                      <a:pt x="9" y="306"/>
                    </a:lnTo>
                    <a:lnTo>
                      <a:pt x="13" y="297"/>
                    </a:lnTo>
                    <a:lnTo>
                      <a:pt x="17" y="287"/>
                    </a:lnTo>
                    <a:lnTo>
                      <a:pt x="21" y="278"/>
                    </a:lnTo>
                    <a:lnTo>
                      <a:pt x="25" y="268"/>
                    </a:lnTo>
                    <a:lnTo>
                      <a:pt x="28" y="259"/>
                    </a:lnTo>
                    <a:lnTo>
                      <a:pt x="31" y="249"/>
                    </a:lnTo>
                    <a:lnTo>
                      <a:pt x="34" y="239"/>
                    </a:lnTo>
                    <a:lnTo>
                      <a:pt x="36" y="233"/>
                    </a:lnTo>
                    <a:lnTo>
                      <a:pt x="38" y="225"/>
                    </a:lnTo>
                    <a:lnTo>
                      <a:pt x="41" y="216"/>
                    </a:lnTo>
                    <a:lnTo>
                      <a:pt x="44" y="210"/>
                    </a:lnTo>
                    <a:lnTo>
                      <a:pt x="42" y="204"/>
                    </a:lnTo>
                    <a:lnTo>
                      <a:pt x="41" y="197"/>
                    </a:lnTo>
                    <a:lnTo>
                      <a:pt x="42" y="192"/>
                    </a:lnTo>
                    <a:lnTo>
                      <a:pt x="43" y="185"/>
                    </a:lnTo>
                    <a:lnTo>
                      <a:pt x="36" y="184"/>
                    </a:lnTo>
                    <a:lnTo>
                      <a:pt x="26" y="182"/>
                    </a:lnTo>
                    <a:lnTo>
                      <a:pt x="18" y="187"/>
                    </a:lnTo>
                    <a:lnTo>
                      <a:pt x="11" y="191"/>
                    </a:lnTo>
                    <a:lnTo>
                      <a:pt x="3" y="195"/>
                    </a:lnTo>
                    <a:lnTo>
                      <a:pt x="2" y="184"/>
                    </a:lnTo>
                    <a:lnTo>
                      <a:pt x="2" y="164"/>
                    </a:lnTo>
                    <a:lnTo>
                      <a:pt x="2" y="184"/>
                    </a:lnTo>
                    <a:lnTo>
                      <a:pt x="2" y="164"/>
                    </a:lnTo>
                    <a:lnTo>
                      <a:pt x="5" y="164"/>
                    </a:lnTo>
                    <a:lnTo>
                      <a:pt x="13" y="161"/>
                    </a:lnTo>
                    <a:lnTo>
                      <a:pt x="15" y="156"/>
                    </a:lnTo>
                    <a:lnTo>
                      <a:pt x="17" y="151"/>
                    </a:lnTo>
                    <a:lnTo>
                      <a:pt x="19" y="146"/>
                    </a:lnTo>
                    <a:lnTo>
                      <a:pt x="18" y="144"/>
                    </a:lnTo>
                    <a:lnTo>
                      <a:pt x="13" y="138"/>
                    </a:lnTo>
                    <a:lnTo>
                      <a:pt x="6" y="132"/>
                    </a:lnTo>
                    <a:lnTo>
                      <a:pt x="0" y="125"/>
                    </a:lnTo>
                    <a:lnTo>
                      <a:pt x="2" y="124"/>
                    </a:lnTo>
                    <a:lnTo>
                      <a:pt x="2" y="105"/>
                    </a:lnTo>
                    <a:lnTo>
                      <a:pt x="1" y="103"/>
                    </a:lnTo>
                    <a:lnTo>
                      <a:pt x="11" y="110"/>
                    </a:lnTo>
                    <a:lnTo>
                      <a:pt x="19" y="117"/>
                    </a:lnTo>
                    <a:lnTo>
                      <a:pt x="24" y="122"/>
                    </a:lnTo>
                    <a:lnTo>
                      <a:pt x="28" y="128"/>
                    </a:lnTo>
                    <a:lnTo>
                      <a:pt x="35" y="137"/>
                    </a:lnTo>
                    <a:lnTo>
                      <a:pt x="40" y="143"/>
                    </a:lnTo>
                    <a:lnTo>
                      <a:pt x="46" y="150"/>
                    </a:lnTo>
                    <a:lnTo>
                      <a:pt x="53" y="157"/>
                    </a:lnTo>
                    <a:lnTo>
                      <a:pt x="55" y="155"/>
                    </a:lnTo>
                    <a:lnTo>
                      <a:pt x="59" y="148"/>
                    </a:lnTo>
                    <a:lnTo>
                      <a:pt x="62" y="143"/>
                    </a:lnTo>
                    <a:lnTo>
                      <a:pt x="60" y="138"/>
                    </a:lnTo>
                    <a:lnTo>
                      <a:pt x="55" y="130"/>
                    </a:lnTo>
                    <a:lnTo>
                      <a:pt x="51" y="123"/>
                    </a:lnTo>
                    <a:lnTo>
                      <a:pt x="46" y="115"/>
                    </a:lnTo>
                    <a:lnTo>
                      <a:pt x="40" y="109"/>
                    </a:lnTo>
                    <a:lnTo>
                      <a:pt x="31" y="100"/>
                    </a:lnTo>
                    <a:lnTo>
                      <a:pt x="24" y="91"/>
                    </a:lnTo>
                    <a:lnTo>
                      <a:pt x="17" y="84"/>
                    </a:lnTo>
                    <a:lnTo>
                      <a:pt x="12" y="78"/>
                    </a:lnTo>
                    <a:lnTo>
                      <a:pt x="6" y="70"/>
                    </a:lnTo>
                    <a:lnTo>
                      <a:pt x="2" y="65"/>
                    </a:lnTo>
                    <a:lnTo>
                      <a:pt x="2" y="44"/>
                    </a:lnTo>
                    <a:lnTo>
                      <a:pt x="2" y="65"/>
                    </a:lnTo>
                    <a:lnTo>
                      <a:pt x="2" y="44"/>
                    </a:lnTo>
                    <a:lnTo>
                      <a:pt x="2" y="53"/>
                    </a:lnTo>
                    <a:lnTo>
                      <a:pt x="2" y="48"/>
                    </a:lnTo>
                    <a:lnTo>
                      <a:pt x="4" y="55"/>
                    </a:lnTo>
                    <a:lnTo>
                      <a:pt x="11" y="63"/>
                    </a:lnTo>
                    <a:lnTo>
                      <a:pt x="17" y="70"/>
                    </a:lnTo>
                    <a:lnTo>
                      <a:pt x="25" y="80"/>
                    </a:lnTo>
                    <a:lnTo>
                      <a:pt x="30" y="87"/>
                    </a:lnTo>
                    <a:lnTo>
                      <a:pt x="37" y="95"/>
                    </a:lnTo>
                    <a:lnTo>
                      <a:pt x="43" y="106"/>
                    </a:lnTo>
                    <a:lnTo>
                      <a:pt x="48" y="115"/>
                    </a:lnTo>
                    <a:lnTo>
                      <a:pt x="54" y="124"/>
                    </a:lnTo>
                    <a:lnTo>
                      <a:pt x="61" y="138"/>
                    </a:lnTo>
                    <a:lnTo>
                      <a:pt x="64" y="146"/>
                    </a:lnTo>
                    <a:lnTo>
                      <a:pt x="66" y="151"/>
                    </a:lnTo>
                    <a:lnTo>
                      <a:pt x="70" y="143"/>
                    </a:lnTo>
                    <a:lnTo>
                      <a:pt x="75" y="135"/>
                    </a:lnTo>
                    <a:lnTo>
                      <a:pt x="80" y="127"/>
                    </a:lnTo>
                    <a:lnTo>
                      <a:pt x="85" y="118"/>
                    </a:lnTo>
                    <a:lnTo>
                      <a:pt x="90" y="110"/>
                    </a:lnTo>
                    <a:lnTo>
                      <a:pt x="94" y="103"/>
                    </a:lnTo>
                    <a:lnTo>
                      <a:pt x="100" y="96"/>
                    </a:lnTo>
                    <a:lnTo>
                      <a:pt x="106" y="87"/>
                    </a:lnTo>
                    <a:lnTo>
                      <a:pt x="113" y="78"/>
                    </a:lnTo>
                    <a:lnTo>
                      <a:pt x="120" y="68"/>
                    </a:lnTo>
                    <a:lnTo>
                      <a:pt x="127" y="58"/>
                    </a:lnTo>
                    <a:lnTo>
                      <a:pt x="132" y="50"/>
                    </a:lnTo>
                    <a:lnTo>
                      <a:pt x="139" y="39"/>
                    </a:lnTo>
                    <a:lnTo>
                      <a:pt x="144" y="33"/>
                    </a:lnTo>
                    <a:lnTo>
                      <a:pt x="150" y="26"/>
                    </a:lnTo>
                    <a:lnTo>
                      <a:pt x="156" y="21"/>
                    </a:lnTo>
                    <a:lnTo>
                      <a:pt x="161" y="15"/>
                    </a:lnTo>
                    <a:lnTo>
                      <a:pt x="165" y="6"/>
                    </a:lnTo>
                    <a:lnTo>
                      <a:pt x="170" y="0"/>
                    </a:lnTo>
                    <a:lnTo>
                      <a:pt x="169" y="5"/>
                    </a:lnTo>
                    <a:lnTo>
                      <a:pt x="168" y="13"/>
                    </a:lnTo>
                    <a:lnTo>
                      <a:pt x="166" y="21"/>
                    </a:lnTo>
                    <a:lnTo>
                      <a:pt x="163" y="29"/>
                    </a:lnTo>
                    <a:lnTo>
                      <a:pt x="159" y="37"/>
                    </a:lnTo>
                    <a:lnTo>
                      <a:pt x="153" y="47"/>
                    </a:lnTo>
                    <a:lnTo>
                      <a:pt x="148" y="56"/>
                    </a:lnTo>
                    <a:lnTo>
                      <a:pt x="143" y="67"/>
                    </a:lnTo>
                    <a:lnTo>
                      <a:pt x="137" y="76"/>
                    </a:lnTo>
                    <a:lnTo>
                      <a:pt x="130" y="87"/>
                    </a:lnTo>
                    <a:lnTo>
                      <a:pt x="124" y="95"/>
                    </a:lnTo>
                  </a:path>
                </a:pathLst>
              </a:custGeom>
              <a:solidFill>
                <a:srgbClr val="037C03">
                  <a:alpha val="50195"/>
                </a:srgbClr>
              </a:solidFill>
              <a:ln w="9525">
                <a:noFill/>
              </a:ln>
            </p:spPr>
            <p:txBody>
              <a:bodyPr/>
              <a:lstStyle/>
              <a:p>
                <a:endParaRPr lang="zh-CN" altLang="en-US"/>
              </a:p>
            </p:txBody>
          </p:sp>
          <p:grpSp>
            <p:nvGrpSpPr>
              <p:cNvPr id="89229" name="Group 102"/>
              <p:cNvGrpSpPr/>
              <p:nvPr/>
            </p:nvGrpSpPr>
            <p:grpSpPr>
              <a:xfrm>
                <a:off x="1707" y="1466"/>
                <a:ext cx="484" cy="368"/>
                <a:chOff x="1707" y="1466"/>
                <a:chExt cx="484" cy="368"/>
              </a:xfrm>
            </p:grpSpPr>
            <p:sp>
              <p:nvSpPr>
                <p:cNvPr id="89231" name="Freeform 103"/>
                <p:cNvSpPr/>
                <p:nvPr/>
              </p:nvSpPr>
              <p:spPr>
                <a:xfrm>
                  <a:off x="1751" y="1466"/>
                  <a:ext cx="440" cy="342"/>
                </a:xfrm>
                <a:custGeom>
                  <a:avLst/>
                  <a:gdLst>
                    <a:gd name="txL" fmla="*/ 0 w 440"/>
                    <a:gd name="txT" fmla="*/ 0 h 342"/>
                    <a:gd name="txR" fmla="*/ 440 w 440"/>
                    <a:gd name="txB" fmla="*/ 342 h 342"/>
                  </a:gdLst>
                  <a:ahLst/>
                  <a:cxnLst>
                    <a:cxn ang="0">
                      <a:pos x="167" y="42"/>
                    </a:cxn>
                    <a:cxn ang="0">
                      <a:pos x="202" y="14"/>
                    </a:cxn>
                    <a:cxn ang="0">
                      <a:pos x="245" y="3"/>
                    </a:cxn>
                    <a:cxn ang="0">
                      <a:pos x="292" y="2"/>
                    </a:cxn>
                    <a:cxn ang="0">
                      <a:pos x="304" y="7"/>
                    </a:cxn>
                    <a:cxn ang="0">
                      <a:pos x="272" y="15"/>
                    </a:cxn>
                    <a:cxn ang="0">
                      <a:pos x="236" y="26"/>
                    </a:cxn>
                    <a:cxn ang="0">
                      <a:pos x="195" y="55"/>
                    </a:cxn>
                    <a:cxn ang="0">
                      <a:pos x="191" y="94"/>
                    </a:cxn>
                    <a:cxn ang="0">
                      <a:pos x="252" y="70"/>
                    </a:cxn>
                    <a:cxn ang="0">
                      <a:pos x="301" y="67"/>
                    </a:cxn>
                    <a:cxn ang="0">
                      <a:pos x="354" y="72"/>
                    </a:cxn>
                    <a:cxn ang="0">
                      <a:pos x="416" y="79"/>
                    </a:cxn>
                    <a:cxn ang="0">
                      <a:pos x="417" y="80"/>
                    </a:cxn>
                    <a:cxn ang="0">
                      <a:pos x="357" y="83"/>
                    </a:cxn>
                    <a:cxn ang="0">
                      <a:pos x="302" y="84"/>
                    </a:cxn>
                    <a:cxn ang="0">
                      <a:pos x="254" y="90"/>
                    </a:cxn>
                    <a:cxn ang="0">
                      <a:pos x="200" y="103"/>
                    </a:cxn>
                    <a:cxn ang="0">
                      <a:pos x="222" y="123"/>
                    </a:cxn>
                    <a:cxn ang="0">
                      <a:pos x="238" y="142"/>
                    </a:cxn>
                    <a:cxn ang="0">
                      <a:pos x="184" y="125"/>
                    </a:cxn>
                    <a:cxn ang="0">
                      <a:pos x="173" y="136"/>
                    </a:cxn>
                    <a:cxn ang="0">
                      <a:pos x="232" y="145"/>
                    </a:cxn>
                    <a:cxn ang="0">
                      <a:pos x="282" y="157"/>
                    </a:cxn>
                    <a:cxn ang="0">
                      <a:pos x="321" y="190"/>
                    </a:cxn>
                    <a:cxn ang="0">
                      <a:pos x="351" y="234"/>
                    </a:cxn>
                    <a:cxn ang="0">
                      <a:pos x="344" y="242"/>
                    </a:cxn>
                    <a:cxn ang="0">
                      <a:pos x="304" y="214"/>
                    </a:cxn>
                    <a:cxn ang="0">
                      <a:pos x="259" y="183"/>
                    </a:cxn>
                    <a:cxn ang="0">
                      <a:pos x="211" y="162"/>
                    </a:cxn>
                    <a:cxn ang="0">
                      <a:pos x="180" y="155"/>
                    </a:cxn>
                    <a:cxn ang="0">
                      <a:pos x="206" y="189"/>
                    </a:cxn>
                    <a:cxn ang="0">
                      <a:pos x="238" y="234"/>
                    </a:cxn>
                    <a:cxn ang="0">
                      <a:pos x="256" y="275"/>
                    </a:cxn>
                    <a:cxn ang="0">
                      <a:pos x="255" y="313"/>
                    </a:cxn>
                    <a:cxn ang="0">
                      <a:pos x="232" y="271"/>
                    </a:cxn>
                    <a:cxn ang="0">
                      <a:pos x="208" y="226"/>
                    </a:cxn>
                    <a:cxn ang="0">
                      <a:pos x="181" y="185"/>
                    </a:cxn>
                    <a:cxn ang="0">
                      <a:pos x="157" y="149"/>
                    </a:cxn>
                    <a:cxn ang="0">
                      <a:pos x="115" y="170"/>
                    </a:cxn>
                    <a:cxn ang="0">
                      <a:pos x="80" y="221"/>
                    </a:cxn>
                    <a:cxn ang="0">
                      <a:pos x="51" y="273"/>
                    </a:cxn>
                    <a:cxn ang="0">
                      <a:pos x="18" y="321"/>
                    </a:cxn>
                    <a:cxn ang="0">
                      <a:pos x="8" y="315"/>
                    </a:cxn>
                    <a:cxn ang="0">
                      <a:pos x="47" y="255"/>
                    </a:cxn>
                    <a:cxn ang="0">
                      <a:pos x="82" y="208"/>
                    </a:cxn>
                    <a:cxn ang="0">
                      <a:pos x="112" y="162"/>
                    </a:cxn>
                    <a:cxn ang="0">
                      <a:pos x="139" y="126"/>
                    </a:cxn>
                    <a:cxn ang="0">
                      <a:pos x="99" y="83"/>
                    </a:cxn>
                    <a:cxn ang="0">
                      <a:pos x="43" y="60"/>
                    </a:cxn>
                    <a:cxn ang="0">
                      <a:pos x="20" y="47"/>
                    </a:cxn>
                    <a:cxn ang="0">
                      <a:pos x="63" y="61"/>
                    </a:cxn>
                    <a:cxn ang="0">
                      <a:pos x="122" y="90"/>
                    </a:cxn>
                  </a:cxnLst>
                  <a:rect l="txL" t="txT" r="txR" b="txB"/>
                  <a:pathLst>
                    <a:path w="440" h="342">
                      <a:moveTo>
                        <a:pt x="138" y="87"/>
                      </a:moveTo>
                      <a:lnTo>
                        <a:pt x="141" y="78"/>
                      </a:lnTo>
                      <a:lnTo>
                        <a:pt x="146" y="69"/>
                      </a:lnTo>
                      <a:lnTo>
                        <a:pt x="153" y="59"/>
                      </a:lnTo>
                      <a:lnTo>
                        <a:pt x="160" y="51"/>
                      </a:lnTo>
                      <a:lnTo>
                        <a:pt x="167" y="42"/>
                      </a:lnTo>
                      <a:lnTo>
                        <a:pt x="172" y="36"/>
                      </a:lnTo>
                      <a:lnTo>
                        <a:pt x="178" y="31"/>
                      </a:lnTo>
                      <a:lnTo>
                        <a:pt x="184" y="26"/>
                      </a:lnTo>
                      <a:lnTo>
                        <a:pt x="190" y="21"/>
                      </a:lnTo>
                      <a:lnTo>
                        <a:pt x="196" y="17"/>
                      </a:lnTo>
                      <a:lnTo>
                        <a:pt x="202" y="14"/>
                      </a:lnTo>
                      <a:lnTo>
                        <a:pt x="208" y="11"/>
                      </a:lnTo>
                      <a:lnTo>
                        <a:pt x="215" y="8"/>
                      </a:lnTo>
                      <a:lnTo>
                        <a:pt x="222" y="7"/>
                      </a:lnTo>
                      <a:lnTo>
                        <a:pt x="230" y="5"/>
                      </a:lnTo>
                      <a:lnTo>
                        <a:pt x="237" y="3"/>
                      </a:lnTo>
                      <a:lnTo>
                        <a:pt x="245" y="3"/>
                      </a:lnTo>
                      <a:lnTo>
                        <a:pt x="252" y="2"/>
                      </a:lnTo>
                      <a:lnTo>
                        <a:pt x="260" y="2"/>
                      </a:lnTo>
                      <a:lnTo>
                        <a:pt x="270" y="1"/>
                      </a:lnTo>
                      <a:lnTo>
                        <a:pt x="278" y="2"/>
                      </a:lnTo>
                      <a:lnTo>
                        <a:pt x="285" y="2"/>
                      </a:lnTo>
                      <a:lnTo>
                        <a:pt x="292" y="2"/>
                      </a:lnTo>
                      <a:lnTo>
                        <a:pt x="299" y="2"/>
                      </a:lnTo>
                      <a:lnTo>
                        <a:pt x="307" y="1"/>
                      </a:lnTo>
                      <a:lnTo>
                        <a:pt x="314" y="0"/>
                      </a:lnTo>
                      <a:lnTo>
                        <a:pt x="310" y="2"/>
                      </a:lnTo>
                      <a:lnTo>
                        <a:pt x="307" y="4"/>
                      </a:lnTo>
                      <a:lnTo>
                        <a:pt x="304" y="7"/>
                      </a:lnTo>
                      <a:lnTo>
                        <a:pt x="301" y="10"/>
                      </a:lnTo>
                      <a:lnTo>
                        <a:pt x="295" y="10"/>
                      </a:lnTo>
                      <a:lnTo>
                        <a:pt x="288" y="11"/>
                      </a:lnTo>
                      <a:lnTo>
                        <a:pt x="284" y="12"/>
                      </a:lnTo>
                      <a:lnTo>
                        <a:pt x="278" y="13"/>
                      </a:lnTo>
                      <a:lnTo>
                        <a:pt x="272" y="15"/>
                      </a:lnTo>
                      <a:lnTo>
                        <a:pt x="266" y="16"/>
                      </a:lnTo>
                      <a:lnTo>
                        <a:pt x="260" y="17"/>
                      </a:lnTo>
                      <a:lnTo>
                        <a:pt x="254" y="19"/>
                      </a:lnTo>
                      <a:lnTo>
                        <a:pt x="248" y="21"/>
                      </a:lnTo>
                      <a:lnTo>
                        <a:pt x="241" y="23"/>
                      </a:lnTo>
                      <a:lnTo>
                        <a:pt x="236" y="26"/>
                      </a:lnTo>
                      <a:lnTo>
                        <a:pt x="229" y="29"/>
                      </a:lnTo>
                      <a:lnTo>
                        <a:pt x="222" y="32"/>
                      </a:lnTo>
                      <a:lnTo>
                        <a:pt x="215" y="36"/>
                      </a:lnTo>
                      <a:lnTo>
                        <a:pt x="208" y="41"/>
                      </a:lnTo>
                      <a:lnTo>
                        <a:pt x="201" y="47"/>
                      </a:lnTo>
                      <a:lnTo>
                        <a:pt x="195" y="55"/>
                      </a:lnTo>
                      <a:lnTo>
                        <a:pt x="189" y="64"/>
                      </a:lnTo>
                      <a:lnTo>
                        <a:pt x="181" y="77"/>
                      </a:lnTo>
                      <a:lnTo>
                        <a:pt x="175" y="90"/>
                      </a:lnTo>
                      <a:lnTo>
                        <a:pt x="167" y="106"/>
                      </a:lnTo>
                      <a:lnTo>
                        <a:pt x="180" y="99"/>
                      </a:lnTo>
                      <a:lnTo>
                        <a:pt x="191" y="94"/>
                      </a:lnTo>
                      <a:lnTo>
                        <a:pt x="206" y="86"/>
                      </a:lnTo>
                      <a:lnTo>
                        <a:pt x="222" y="78"/>
                      </a:lnTo>
                      <a:lnTo>
                        <a:pt x="229" y="77"/>
                      </a:lnTo>
                      <a:lnTo>
                        <a:pt x="236" y="74"/>
                      </a:lnTo>
                      <a:lnTo>
                        <a:pt x="243" y="72"/>
                      </a:lnTo>
                      <a:lnTo>
                        <a:pt x="252" y="70"/>
                      </a:lnTo>
                      <a:lnTo>
                        <a:pt x="261" y="68"/>
                      </a:lnTo>
                      <a:lnTo>
                        <a:pt x="269" y="68"/>
                      </a:lnTo>
                      <a:lnTo>
                        <a:pt x="275" y="67"/>
                      </a:lnTo>
                      <a:lnTo>
                        <a:pt x="285" y="66"/>
                      </a:lnTo>
                      <a:lnTo>
                        <a:pt x="294" y="66"/>
                      </a:lnTo>
                      <a:lnTo>
                        <a:pt x="301" y="67"/>
                      </a:lnTo>
                      <a:lnTo>
                        <a:pt x="311" y="68"/>
                      </a:lnTo>
                      <a:lnTo>
                        <a:pt x="319" y="69"/>
                      </a:lnTo>
                      <a:lnTo>
                        <a:pt x="328" y="69"/>
                      </a:lnTo>
                      <a:lnTo>
                        <a:pt x="336" y="70"/>
                      </a:lnTo>
                      <a:lnTo>
                        <a:pt x="345" y="71"/>
                      </a:lnTo>
                      <a:lnTo>
                        <a:pt x="354" y="72"/>
                      </a:lnTo>
                      <a:lnTo>
                        <a:pt x="363" y="73"/>
                      </a:lnTo>
                      <a:lnTo>
                        <a:pt x="371" y="74"/>
                      </a:lnTo>
                      <a:lnTo>
                        <a:pt x="381" y="75"/>
                      </a:lnTo>
                      <a:lnTo>
                        <a:pt x="392" y="76"/>
                      </a:lnTo>
                      <a:lnTo>
                        <a:pt x="401" y="77"/>
                      </a:lnTo>
                      <a:lnTo>
                        <a:pt x="416" y="79"/>
                      </a:lnTo>
                      <a:lnTo>
                        <a:pt x="421" y="79"/>
                      </a:lnTo>
                      <a:lnTo>
                        <a:pt x="425" y="79"/>
                      </a:lnTo>
                      <a:lnTo>
                        <a:pt x="430" y="81"/>
                      </a:lnTo>
                      <a:lnTo>
                        <a:pt x="439" y="84"/>
                      </a:lnTo>
                      <a:lnTo>
                        <a:pt x="424" y="81"/>
                      </a:lnTo>
                      <a:lnTo>
                        <a:pt x="417" y="80"/>
                      </a:lnTo>
                      <a:lnTo>
                        <a:pt x="411" y="80"/>
                      </a:lnTo>
                      <a:lnTo>
                        <a:pt x="397" y="81"/>
                      </a:lnTo>
                      <a:lnTo>
                        <a:pt x="388" y="82"/>
                      </a:lnTo>
                      <a:lnTo>
                        <a:pt x="377" y="82"/>
                      </a:lnTo>
                      <a:lnTo>
                        <a:pt x="367" y="82"/>
                      </a:lnTo>
                      <a:lnTo>
                        <a:pt x="357" y="83"/>
                      </a:lnTo>
                      <a:lnTo>
                        <a:pt x="348" y="83"/>
                      </a:lnTo>
                      <a:lnTo>
                        <a:pt x="340" y="82"/>
                      </a:lnTo>
                      <a:lnTo>
                        <a:pt x="330" y="82"/>
                      </a:lnTo>
                      <a:lnTo>
                        <a:pt x="319" y="82"/>
                      </a:lnTo>
                      <a:lnTo>
                        <a:pt x="310" y="83"/>
                      </a:lnTo>
                      <a:lnTo>
                        <a:pt x="302" y="84"/>
                      </a:lnTo>
                      <a:lnTo>
                        <a:pt x="292" y="84"/>
                      </a:lnTo>
                      <a:lnTo>
                        <a:pt x="285" y="84"/>
                      </a:lnTo>
                      <a:lnTo>
                        <a:pt x="276" y="85"/>
                      </a:lnTo>
                      <a:lnTo>
                        <a:pt x="269" y="87"/>
                      </a:lnTo>
                      <a:lnTo>
                        <a:pt x="261" y="88"/>
                      </a:lnTo>
                      <a:lnTo>
                        <a:pt x="254" y="90"/>
                      </a:lnTo>
                      <a:lnTo>
                        <a:pt x="246" y="92"/>
                      </a:lnTo>
                      <a:lnTo>
                        <a:pt x="238" y="94"/>
                      </a:lnTo>
                      <a:lnTo>
                        <a:pt x="229" y="96"/>
                      </a:lnTo>
                      <a:lnTo>
                        <a:pt x="222" y="98"/>
                      </a:lnTo>
                      <a:lnTo>
                        <a:pt x="208" y="102"/>
                      </a:lnTo>
                      <a:lnTo>
                        <a:pt x="200" y="103"/>
                      </a:lnTo>
                      <a:lnTo>
                        <a:pt x="189" y="108"/>
                      </a:lnTo>
                      <a:lnTo>
                        <a:pt x="172" y="115"/>
                      </a:lnTo>
                      <a:lnTo>
                        <a:pt x="189" y="117"/>
                      </a:lnTo>
                      <a:lnTo>
                        <a:pt x="209" y="118"/>
                      </a:lnTo>
                      <a:lnTo>
                        <a:pt x="213" y="118"/>
                      </a:lnTo>
                      <a:lnTo>
                        <a:pt x="222" y="123"/>
                      </a:lnTo>
                      <a:lnTo>
                        <a:pt x="228" y="126"/>
                      </a:lnTo>
                      <a:lnTo>
                        <a:pt x="234" y="129"/>
                      </a:lnTo>
                      <a:lnTo>
                        <a:pt x="235" y="131"/>
                      </a:lnTo>
                      <a:lnTo>
                        <a:pt x="238" y="137"/>
                      </a:lnTo>
                      <a:lnTo>
                        <a:pt x="245" y="146"/>
                      </a:lnTo>
                      <a:lnTo>
                        <a:pt x="238" y="142"/>
                      </a:lnTo>
                      <a:lnTo>
                        <a:pt x="229" y="137"/>
                      </a:lnTo>
                      <a:lnTo>
                        <a:pt x="222" y="135"/>
                      </a:lnTo>
                      <a:lnTo>
                        <a:pt x="209" y="132"/>
                      </a:lnTo>
                      <a:lnTo>
                        <a:pt x="199" y="129"/>
                      </a:lnTo>
                      <a:lnTo>
                        <a:pt x="189" y="126"/>
                      </a:lnTo>
                      <a:lnTo>
                        <a:pt x="184" y="125"/>
                      </a:lnTo>
                      <a:lnTo>
                        <a:pt x="172" y="126"/>
                      </a:lnTo>
                      <a:lnTo>
                        <a:pt x="165" y="127"/>
                      </a:lnTo>
                      <a:lnTo>
                        <a:pt x="155" y="129"/>
                      </a:lnTo>
                      <a:lnTo>
                        <a:pt x="160" y="131"/>
                      </a:lnTo>
                      <a:lnTo>
                        <a:pt x="166" y="132"/>
                      </a:lnTo>
                      <a:lnTo>
                        <a:pt x="173" y="136"/>
                      </a:lnTo>
                      <a:lnTo>
                        <a:pt x="181" y="135"/>
                      </a:lnTo>
                      <a:lnTo>
                        <a:pt x="195" y="136"/>
                      </a:lnTo>
                      <a:lnTo>
                        <a:pt x="203" y="137"/>
                      </a:lnTo>
                      <a:lnTo>
                        <a:pt x="215" y="140"/>
                      </a:lnTo>
                      <a:lnTo>
                        <a:pt x="222" y="143"/>
                      </a:lnTo>
                      <a:lnTo>
                        <a:pt x="232" y="145"/>
                      </a:lnTo>
                      <a:lnTo>
                        <a:pt x="242" y="148"/>
                      </a:lnTo>
                      <a:lnTo>
                        <a:pt x="251" y="151"/>
                      </a:lnTo>
                      <a:lnTo>
                        <a:pt x="259" y="152"/>
                      </a:lnTo>
                      <a:lnTo>
                        <a:pt x="266" y="153"/>
                      </a:lnTo>
                      <a:lnTo>
                        <a:pt x="273" y="155"/>
                      </a:lnTo>
                      <a:lnTo>
                        <a:pt x="282" y="157"/>
                      </a:lnTo>
                      <a:lnTo>
                        <a:pt x="291" y="161"/>
                      </a:lnTo>
                      <a:lnTo>
                        <a:pt x="299" y="165"/>
                      </a:lnTo>
                      <a:lnTo>
                        <a:pt x="303" y="169"/>
                      </a:lnTo>
                      <a:lnTo>
                        <a:pt x="309" y="175"/>
                      </a:lnTo>
                      <a:lnTo>
                        <a:pt x="316" y="183"/>
                      </a:lnTo>
                      <a:lnTo>
                        <a:pt x="321" y="190"/>
                      </a:lnTo>
                      <a:lnTo>
                        <a:pt x="326" y="197"/>
                      </a:lnTo>
                      <a:lnTo>
                        <a:pt x="331" y="204"/>
                      </a:lnTo>
                      <a:lnTo>
                        <a:pt x="335" y="212"/>
                      </a:lnTo>
                      <a:lnTo>
                        <a:pt x="340" y="218"/>
                      </a:lnTo>
                      <a:lnTo>
                        <a:pt x="345" y="226"/>
                      </a:lnTo>
                      <a:lnTo>
                        <a:pt x="351" y="234"/>
                      </a:lnTo>
                      <a:lnTo>
                        <a:pt x="356" y="243"/>
                      </a:lnTo>
                      <a:lnTo>
                        <a:pt x="361" y="250"/>
                      </a:lnTo>
                      <a:lnTo>
                        <a:pt x="368" y="258"/>
                      </a:lnTo>
                      <a:lnTo>
                        <a:pt x="359" y="251"/>
                      </a:lnTo>
                      <a:lnTo>
                        <a:pt x="353" y="247"/>
                      </a:lnTo>
                      <a:lnTo>
                        <a:pt x="344" y="242"/>
                      </a:lnTo>
                      <a:lnTo>
                        <a:pt x="336" y="236"/>
                      </a:lnTo>
                      <a:lnTo>
                        <a:pt x="330" y="231"/>
                      </a:lnTo>
                      <a:lnTo>
                        <a:pt x="323" y="226"/>
                      </a:lnTo>
                      <a:lnTo>
                        <a:pt x="317" y="222"/>
                      </a:lnTo>
                      <a:lnTo>
                        <a:pt x="311" y="218"/>
                      </a:lnTo>
                      <a:lnTo>
                        <a:pt x="304" y="214"/>
                      </a:lnTo>
                      <a:lnTo>
                        <a:pt x="297" y="210"/>
                      </a:lnTo>
                      <a:lnTo>
                        <a:pt x="291" y="205"/>
                      </a:lnTo>
                      <a:lnTo>
                        <a:pt x="284" y="200"/>
                      </a:lnTo>
                      <a:lnTo>
                        <a:pt x="275" y="195"/>
                      </a:lnTo>
                      <a:lnTo>
                        <a:pt x="267" y="189"/>
                      </a:lnTo>
                      <a:lnTo>
                        <a:pt x="259" y="183"/>
                      </a:lnTo>
                      <a:lnTo>
                        <a:pt x="252" y="179"/>
                      </a:lnTo>
                      <a:lnTo>
                        <a:pt x="245" y="174"/>
                      </a:lnTo>
                      <a:lnTo>
                        <a:pt x="237" y="170"/>
                      </a:lnTo>
                      <a:lnTo>
                        <a:pt x="229" y="167"/>
                      </a:lnTo>
                      <a:lnTo>
                        <a:pt x="222" y="165"/>
                      </a:lnTo>
                      <a:lnTo>
                        <a:pt x="211" y="162"/>
                      </a:lnTo>
                      <a:lnTo>
                        <a:pt x="201" y="159"/>
                      </a:lnTo>
                      <a:lnTo>
                        <a:pt x="194" y="157"/>
                      </a:lnTo>
                      <a:lnTo>
                        <a:pt x="186" y="155"/>
                      </a:lnTo>
                      <a:lnTo>
                        <a:pt x="175" y="149"/>
                      </a:lnTo>
                      <a:lnTo>
                        <a:pt x="163" y="144"/>
                      </a:lnTo>
                      <a:lnTo>
                        <a:pt x="180" y="155"/>
                      </a:lnTo>
                      <a:lnTo>
                        <a:pt x="182" y="157"/>
                      </a:lnTo>
                      <a:lnTo>
                        <a:pt x="186" y="162"/>
                      </a:lnTo>
                      <a:lnTo>
                        <a:pt x="190" y="168"/>
                      </a:lnTo>
                      <a:lnTo>
                        <a:pt x="195" y="175"/>
                      </a:lnTo>
                      <a:lnTo>
                        <a:pt x="201" y="182"/>
                      </a:lnTo>
                      <a:lnTo>
                        <a:pt x="206" y="189"/>
                      </a:lnTo>
                      <a:lnTo>
                        <a:pt x="212" y="197"/>
                      </a:lnTo>
                      <a:lnTo>
                        <a:pt x="217" y="204"/>
                      </a:lnTo>
                      <a:lnTo>
                        <a:pt x="222" y="210"/>
                      </a:lnTo>
                      <a:lnTo>
                        <a:pt x="227" y="217"/>
                      </a:lnTo>
                      <a:lnTo>
                        <a:pt x="233" y="227"/>
                      </a:lnTo>
                      <a:lnTo>
                        <a:pt x="238" y="234"/>
                      </a:lnTo>
                      <a:lnTo>
                        <a:pt x="242" y="241"/>
                      </a:lnTo>
                      <a:lnTo>
                        <a:pt x="246" y="248"/>
                      </a:lnTo>
                      <a:lnTo>
                        <a:pt x="250" y="255"/>
                      </a:lnTo>
                      <a:lnTo>
                        <a:pt x="252" y="262"/>
                      </a:lnTo>
                      <a:lnTo>
                        <a:pt x="254" y="267"/>
                      </a:lnTo>
                      <a:lnTo>
                        <a:pt x="256" y="275"/>
                      </a:lnTo>
                      <a:lnTo>
                        <a:pt x="257" y="285"/>
                      </a:lnTo>
                      <a:lnTo>
                        <a:pt x="258" y="294"/>
                      </a:lnTo>
                      <a:lnTo>
                        <a:pt x="259" y="304"/>
                      </a:lnTo>
                      <a:lnTo>
                        <a:pt x="261" y="313"/>
                      </a:lnTo>
                      <a:lnTo>
                        <a:pt x="262" y="323"/>
                      </a:lnTo>
                      <a:lnTo>
                        <a:pt x="255" y="313"/>
                      </a:lnTo>
                      <a:lnTo>
                        <a:pt x="249" y="307"/>
                      </a:lnTo>
                      <a:lnTo>
                        <a:pt x="245" y="300"/>
                      </a:lnTo>
                      <a:lnTo>
                        <a:pt x="241" y="295"/>
                      </a:lnTo>
                      <a:lnTo>
                        <a:pt x="238" y="288"/>
                      </a:lnTo>
                      <a:lnTo>
                        <a:pt x="236" y="280"/>
                      </a:lnTo>
                      <a:lnTo>
                        <a:pt x="232" y="271"/>
                      </a:lnTo>
                      <a:lnTo>
                        <a:pt x="228" y="263"/>
                      </a:lnTo>
                      <a:lnTo>
                        <a:pt x="224" y="254"/>
                      </a:lnTo>
                      <a:lnTo>
                        <a:pt x="221" y="246"/>
                      </a:lnTo>
                      <a:lnTo>
                        <a:pt x="217" y="238"/>
                      </a:lnTo>
                      <a:lnTo>
                        <a:pt x="212" y="232"/>
                      </a:lnTo>
                      <a:lnTo>
                        <a:pt x="208" y="226"/>
                      </a:lnTo>
                      <a:lnTo>
                        <a:pt x="202" y="218"/>
                      </a:lnTo>
                      <a:lnTo>
                        <a:pt x="196" y="211"/>
                      </a:lnTo>
                      <a:lnTo>
                        <a:pt x="191" y="205"/>
                      </a:lnTo>
                      <a:lnTo>
                        <a:pt x="186" y="199"/>
                      </a:lnTo>
                      <a:lnTo>
                        <a:pt x="185" y="194"/>
                      </a:lnTo>
                      <a:lnTo>
                        <a:pt x="181" y="185"/>
                      </a:lnTo>
                      <a:lnTo>
                        <a:pt x="177" y="179"/>
                      </a:lnTo>
                      <a:lnTo>
                        <a:pt x="174" y="171"/>
                      </a:lnTo>
                      <a:lnTo>
                        <a:pt x="172" y="169"/>
                      </a:lnTo>
                      <a:lnTo>
                        <a:pt x="165" y="162"/>
                      </a:lnTo>
                      <a:lnTo>
                        <a:pt x="161" y="155"/>
                      </a:lnTo>
                      <a:lnTo>
                        <a:pt x="157" y="149"/>
                      </a:lnTo>
                      <a:lnTo>
                        <a:pt x="153" y="143"/>
                      </a:lnTo>
                      <a:lnTo>
                        <a:pt x="145" y="146"/>
                      </a:lnTo>
                      <a:lnTo>
                        <a:pt x="137" y="151"/>
                      </a:lnTo>
                      <a:lnTo>
                        <a:pt x="129" y="158"/>
                      </a:lnTo>
                      <a:lnTo>
                        <a:pt x="121" y="164"/>
                      </a:lnTo>
                      <a:lnTo>
                        <a:pt x="115" y="170"/>
                      </a:lnTo>
                      <a:lnTo>
                        <a:pt x="110" y="176"/>
                      </a:lnTo>
                      <a:lnTo>
                        <a:pt x="104" y="185"/>
                      </a:lnTo>
                      <a:lnTo>
                        <a:pt x="97" y="195"/>
                      </a:lnTo>
                      <a:lnTo>
                        <a:pt x="92" y="203"/>
                      </a:lnTo>
                      <a:lnTo>
                        <a:pt x="85" y="212"/>
                      </a:lnTo>
                      <a:lnTo>
                        <a:pt x="80" y="221"/>
                      </a:lnTo>
                      <a:lnTo>
                        <a:pt x="76" y="229"/>
                      </a:lnTo>
                      <a:lnTo>
                        <a:pt x="71" y="237"/>
                      </a:lnTo>
                      <a:lnTo>
                        <a:pt x="67" y="245"/>
                      </a:lnTo>
                      <a:lnTo>
                        <a:pt x="62" y="254"/>
                      </a:lnTo>
                      <a:lnTo>
                        <a:pt x="58" y="263"/>
                      </a:lnTo>
                      <a:lnTo>
                        <a:pt x="51" y="273"/>
                      </a:lnTo>
                      <a:lnTo>
                        <a:pt x="45" y="283"/>
                      </a:lnTo>
                      <a:lnTo>
                        <a:pt x="38" y="294"/>
                      </a:lnTo>
                      <a:lnTo>
                        <a:pt x="33" y="303"/>
                      </a:lnTo>
                      <a:lnTo>
                        <a:pt x="28" y="309"/>
                      </a:lnTo>
                      <a:lnTo>
                        <a:pt x="24" y="315"/>
                      </a:lnTo>
                      <a:lnTo>
                        <a:pt x="18" y="321"/>
                      </a:lnTo>
                      <a:lnTo>
                        <a:pt x="13" y="327"/>
                      </a:lnTo>
                      <a:lnTo>
                        <a:pt x="7" y="333"/>
                      </a:lnTo>
                      <a:lnTo>
                        <a:pt x="0" y="341"/>
                      </a:lnTo>
                      <a:lnTo>
                        <a:pt x="2" y="331"/>
                      </a:lnTo>
                      <a:lnTo>
                        <a:pt x="5" y="324"/>
                      </a:lnTo>
                      <a:lnTo>
                        <a:pt x="8" y="315"/>
                      </a:lnTo>
                      <a:lnTo>
                        <a:pt x="13" y="309"/>
                      </a:lnTo>
                      <a:lnTo>
                        <a:pt x="20" y="298"/>
                      </a:lnTo>
                      <a:lnTo>
                        <a:pt x="27" y="287"/>
                      </a:lnTo>
                      <a:lnTo>
                        <a:pt x="35" y="275"/>
                      </a:lnTo>
                      <a:lnTo>
                        <a:pt x="41" y="265"/>
                      </a:lnTo>
                      <a:lnTo>
                        <a:pt x="47" y="255"/>
                      </a:lnTo>
                      <a:lnTo>
                        <a:pt x="54" y="246"/>
                      </a:lnTo>
                      <a:lnTo>
                        <a:pt x="59" y="238"/>
                      </a:lnTo>
                      <a:lnTo>
                        <a:pt x="64" y="231"/>
                      </a:lnTo>
                      <a:lnTo>
                        <a:pt x="69" y="224"/>
                      </a:lnTo>
                      <a:lnTo>
                        <a:pt x="76" y="216"/>
                      </a:lnTo>
                      <a:lnTo>
                        <a:pt x="82" y="208"/>
                      </a:lnTo>
                      <a:lnTo>
                        <a:pt x="88" y="199"/>
                      </a:lnTo>
                      <a:lnTo>
                        <a:pt x="95" y="190"/>
                      </a:lnTo>
                      <a:lnTo>
                        <a:pt x="100" y="183"/>
                      </a:lnTo>
                      <a:lnTo>
                        <a:pt x="105" y="175"/>
                      </a:lnTo>
                      <a:lnTo>
                        <a:pt x="110" y="167"/>
                      </a:lnTo>
                      <a:lnTo>
                        <a:pt x="112" y="162"/>
                      </a:lnTo>
                      <a:lnTo>
                        <a:pt x="114" y="156"/>
                      </a:lnTo>
                      <a:lnTo>
                        <a:pt x="118" y="151"/>
                      </a:lnTo>
                      <a:lnTo>
                        <a:pt x="122" y="145"/>
                      </a:lnTo>
                      <a:lnTo>
                        <a:pt x="129" y="138"/>
                      </a:lnTo>
                      <a:lnTo>
                        <a:pt x="134" y="131"/>
                      </a:lnTo>
                      <a:lnTo>
                        <a:pt x="139" y="126"/>
                      </a:lnTo>
                      <a:lnTo>
                        <a:pt x="143" y="119"/>
                      </a:lnTo>
                      <a:lnTo>
                        <a:pt x="141" y="114"/>
                      </a:lnTo>
                      <a:lnTo>
                        <a:pt x="139" y="106"/>
                      </a:lnTo>
                      <a:lnTo>
                        <a:pt x="127" y="102"/>
                      </a:lnTo>
                      <a:lnTo>
                        <a:pt x="113" y="92"/>
                      </a:lnTo>
                      <a:lnTo>
                        <a:pt x="99" y="83"/>
                      </a:lnTo>
                      <a:lnTo>
                        <a:pt x="92" y="78"/>
                      </a:lnTo>
                      <a:lnTo>
                        <a:pt x="86" y="74"/>
                      </a:lnTo>
                      <a:lnTo>
                        <a:pt x="75" y="70"/>
                      </a:lnTo>
                      <a:lnTo>
                        <a:pt x="64" y="66"/>
                      </a:lnTo>
                      <a:lnTo>
                        <a:pt x="52" y="63"/>
                      </a:lnTo>
                      <a:lnTo>
                        <a:pt x="43" y="60"/>
                      </a:lnTo>
                      <a:lnTo>
                        <a:pt x="33" y="56"/>
                      </a:lnTo>
                      <a:lnTo>
                        <a:pt x="24" y="53"/>
                      </a:lnTo>
                      <a:lnTo>
                        <a:pt x="15" y="51"/>
                      </a:lnTo>
                      <a:lnTo>
                        <a:pt x="8" y="49"/>
                      </a:lnTo>
                      <a:lnTo>
                        <a:pt x="15" y="49"/>
                      </a:lnTo>
                      <a:lnTo>
                        <a:pt x="20" y="47"/>
                      </a:lnTo>
                      <a:lnTo>
                        <a:pt x="25" y="47"/>
                      </a:lnTo>
                      <a:lnTo>
                        <a:pt x="29" y="46"/>
                      </a:lnTo>
                      <a:lnTo>
                        <a:pt x="34" y="47"/>
                      </a:lnTo>
                      <a:lnTo>
                        <a:pt x="45" y="51"/>
                      </a:lnTo>
                      <a:lnTo>
                        <a:pt x="53" y="56"/>
                      </a:lnTo>
                      <a:lnTo>
                        <a:pt x="63" y="61"/>
                      </a:lnTo>
                      <a:lnTo>
                        <a:pt x="72" y="66"/>
                      </a:lnTo>
                      <a:lnTo>
                        <a:pt x="84" y="71"/>
                      </a:lnTo>
                      <a:lnTo>
                        <a:pt x="93" y="77"/>
                      </a:lnTo>
                      <a:lnTo>
                        <a:pt x="101" y="81"/>
                      </a:lnTo>
                      <a:lnTo>
                        <a:pt x="115" y="88"/>
                      </a:lnTo>
                      <a:lnTo>
                        <a:pt x="122" y="90"/>
                      </a:lnTo>
                      <a:lnTo>
                        <a:pt x="128" y="89"/>
                      </a:lnTo>
                      <a:lnTo>
                        <a:pt x="133" y="88"/>
                      </a:lnTo>
                      <a:lnTo>
                        <a:pt x="138" y="87"/>
                      </a:lnTo>
                    </a:path>
                  </a:pathLst>
                </a:custGeom>
                <a:solidFill>
                  <a:srgbClr val="037C03">
                    <a:alpha val="50195"/>
                  </a:srgbClr>
                </a:solidFill>
                <a:ln w="9525">
                  <a:noFill/>
                </a:ln>
              </p:spPr>
              <p:txBody>
                <a:bodyPr/>
                <a:lstStyle/>
                <a:p>
                  <a:endParaRPr lang="zh-CN" altLang="en-US"/>
                </a:p>
              </p:txBody>
            </p:sp>
            <p:sp>
              <p:nvSpPr>
                <p:cNvPr id="89232" name="Freeform 104"/>
                <p:cNvSpPr/>
                <p:nvPr/>
              </p:nvSpPr>
              <p:spPr>
                <a:xfrm>
                  <a:off x="1900" y="1641"/>
                  <a:ext cx="39" cy="193"/>
                </a:xfrm>
                <a:custGeom>
                  <a:avLst/>
                  <a:gdLst>
                    <a:gd name="txL" fmla="*/ 0 w 39"/>
                    <a:gd name="txT" fmla="*/ 0 h 193"/>
                    <a:gd name="txR" fmla="*/ 39 w 39"/>
                    <a:gd name="txB" fmla="*/ 193 h 193"/>
                  </a:gdLst>
                  <a:ahLst/>
                  <a:cxnLst>
                    <a:cxn ang="0">
                      <a:pos x="20" y="0"/>
                    </a:cxn>
                    <a:cxn ang="0">
                      <a:pos x="25" y="9"/>
                    </a:cxn>
                    <a:cxn ang="0">
                      <a:pos x="28" y="15"/>
                    </a:cxn>
                    <a:cxn ang="0">
                      <a:pos x="34" y="24"/>
                    </a:cxn>
                    <a:cxn ang="0">
                      <a:pos x="36" y="33"/>
                    </a:cxn>
                    <a:cxn ang="0">
                      <a:pos x="37" y="43"/>
                    </a:cxn>
                    <a:cxn ang="0">
                      <a:pos x="37" y="56"/>
                    </a:cxn>
                    <a:cxn ang="0">
                      <a:pos x="38" y="64"/>
                    </a:cxn>
                    <a:cxn ang="0">
                      <a:pos x="37" y="75"/>
                    </a:cxn>
                    <a:cxn ang="0">
                      <a:pos x="36" y="86"/>
                    </a:cxn>
                    <a:cxn ang="0">
                      <a:pos x="34" y="97"/>
                    </a:cxn>
                    <a:cxn ang="0">
                      <a:pos x="31" y="113"/>
                    </a:cxn>
                    <a:cxn ang="0">
                      <a:pos x="29" y="122"/>
                    </a:cxn>
                    <a:cxn ang="0">
                      <a:pos x="24" y="132"/>
                    </a:cxn>
                    <a:cxn ang="0">
                      <a:pos x="18" y="144"/>
                    </a:cxn>
                    <a:cxn ang="0">
                      <a:pos x="12" y="155"/>
                    </a:cxn>
                    <a:cxn ang="0">
                      <a:pos x="7" y="165"/>
                    </a:cxn>
                    <a:cxn ang="0">
                      <a:pos x="3" y="174"/>
                    </a:cxn>
                    <a:cxn ang="0">
                      <a:pos x="0" y="192"/>
                    </a:cxn>
                    <a:cxn ang="0">
                      <a:pos x="1" y="174"/>
                    </a:cxn>
                    <a:cxn ang="0">
                      <a:pos x="3" y="162"/>
                    </a:cxn>
                    <a:cxn ang="0">
                      <a:pos x="4" y="151"/>
                    </a:cxn>
                    <a:cxn ang="0">
                      <a:pos x="5" y="139"/>
                    </a:cxn>
                    <a:cxn ang="0">
                      <a:pos x="7" y="124"/>
                    </a:cxn>
                    <a:cxn ang="0">
                      <a:pos x="10" y="113"/>
                    </a:cxn>
                    <a:cxn ang="0">
                      <a:pos x="12" y="102"/>
                    </a:cxn>
                    <a:cxn ang="0">
                      <a:pos x="15" y="93"/>
                    </a:cxn>
                    <a:cxn ang="0">
                      <a:pos x="18" y="82"/>
                    </a:cxn>
                    <a:cxn ang="0">
                      <a:pos x="20" y="72"/>
                    </a:cxn>
                    <a:cxn ang="0">
                      <a:pos x="22" y="61"/>
                    </a:cxn>
                    <a:cxn ang="0">
                      <a:pos x="23" y="52"/>
                    </a:cxn>
                    <a:cxn ang="0">
                      <a:pos x="24" y="41"/>
                    </a:cxn>
                    <a:cxn ang="0">
                      <a:pos x="24" y="30"/>
                    </a:cxn>
                    <a:cxn ang="0">
                      <a:pos x="24" y="15"/>
                    </a:cxn>
                    <a:cxn ang="0">
                      <a:pos x="22" y="8"/>
                    </a:cxn>
                    <a:cxn ang="0">
                      <a:pos x="20" y="0"/>
                    </a:cxn>
                  </a:cxnLst>
                  <a:rect l="txL" t="txT" r="txR" b="txB"/>
                  <a:pathLst>
                    <a:path w="39" h="193">
                      <a:moveTo>
                        <a:pt x="20" y="0"/>
                      </a:moveTo>
                      <a:lnTo>
                        <a:pt x="25" y="9"/>
                      </a:lnTo>
                      <a:lnTo>
                        <a:pt x="28" y="15"/>
                      </a:lnTo>
                      <a:lnTo>
                        <a:pt x="34" y="24"/>
                      </a:lnTo>
                      <a:lnTo>
                        <a:pt x="36" y="33"/>
                      </a:lnTo>
                      <a:lnTo>
                        <a:pt x="37" y="43"/>
                      </a:lnTo>
                      <a:lnTo>
                        <a:pt x="37" y="56"/>
                      </a:lnTo>
                      <a:lnTo>
                        <a:pt x="38" y="64"/>
                      </a:lnTo>
                      <a:lnTo>
                        <a:pt x="37" y="75"/>
                      </a:lnTo>
                      <a:lnTo>
                        <a:pt x="36" y="86"/>
                      </a:lnTo>
                      <a:lnTo>
                        <a:pt x="34" y="97"/>
                      </a:lnTo>
                      <a:lnTo>
                        <a:pt x="31" y="113"/>
                      </a:lnTo>
                      <a:lnTo>
                        <a:pt x="29" y="122"/>
                      </a:lnTo>
                      <a:lnTo>
                        <a:pt x="24" y="132"/>
                      </a:lnTo>
                      <a:lnTo>
                        <a:pt x="18" y="144"/>
                      </a:lnTo>
                      <a:lnTo>
                        <a:pt x="12" y="155"/>
                      </a:lnTo>
                      <a:lnTo>
                        <a:pt x="7" y="165"/>
                      </a:lnTo>
                      <a:lnTo>
                        <a:pt x="3" y="174"/>
                      </a:lnTo>
                      <a:lnTo>
                        <a:pt x="0" y="192"/>
                      </a:lnTo>
                      <a:lnTo>
                        <a:pt x="1" y="174"/>
                      </a:lnTo>
                      <a:lnTo>
                        <a:pt x="3" y="162"/>
                      </a:lnTo>
                      <a:lnTo>
                        <a:pt x="4" y="151"/>
                      </a:lnTo>
                      <a:lnTo>
                        <a:pt x="5" y="139"/>
                      </a:lnTo>
                      <a:lnTo>
                        <a:pt x="7" y="124"/>
                      </a:lnTo>
                      <a:lnTo>
                        <a:pt x="10" y="113"/>
                      </a:lnTo>
                      <a:lnTo>
                        <a:pt x="12" y="102"/>
                      </a:lnTo>
                      <a:lnTo>
                        <a:pt x="15" y="93"/>
                      </a:lnTo>
                      <a:lnTo>
                        <a:pt x="18" y="82"/>
                      </a:lnTo>
                      <a:lnTo>
                        <a:pt x="20" y="72"/>
                      </a:lnTo>
                      <a:lnTo>
                        <a:pt x="22" y="61"/>
                      </a:lnTo>
                      <a:lnTo>
                        <a:pt x="23" y="52"/>
                      </a:lnTo>
                      <a:lnTo>
                        <a:pt x="24" y="41"/>
                      </a:lnTo>
                      <a:lnTo>
                        <a:pt x="24" y="30"/>
                      </a:lnTo>
                      <a:lnTo>
                        <a:pt x="24" y="15"/>
                      </a:lnTo>
                      <a:lnTo>
                        <a:pt x="22" y="8"/>
                      </a:lnTo>
                      <a:lnTo>
                        <a:pt x="20" y="0"/>
                      </a:lnTo>
                    </a:path>
                  </a:pathLst>
                </a:custGeom>
                <a:solidFill>
                  <a:srgbClr val="037C03">
                    <a:alpha val="50195"/>
                  </a:srgbClr>
                </a:solidFill>
                <a:ln w="9525">
                  <a:noFill/>
                </a:ln>
              </p:spPr>
              <p:txBody>
                <a:bodyPr/>
                <a:lstStyle/>
                <a:p>
                  <a:endParaRPr lang="zh-CN" altLang="en-US"/>
                </a:p>
              </p:txBody>
            </p:sp>
            <p:sp>
              <p:nvSpPr>
                <p:cNvPr id="89233" name="Freeform 105"/>
                <p:cNvSpPr/>
                <p:nvPr/>
              </p:nvSpPr>
              <p:spPr>
                <a:xfrm>
                  <a:off x="1716" y="1535"/>
                  <a:ext cx="171" cy="50"/>
                </a:xfrm>
                <a:custGeom>
                  <a:avLst/>
                  <a:gdLst>
                    <a:gd name="txL" fmla="*/ 0 w 171"/>
                    <a:gd name="txT" fmla="*/ 0 h 50"/>
                    <a:gd name="txR" fmla="*/ 171 w 171"/>
                    <a:gd name="txB" fmla="*/ 50 h 50"/>
                  </a:gdLst>
                  <a:ahLst/>
                  <a:cxnLst>
                    <a:cxn ang="0">
                      <a:pos x="170" y="49"/>
                    </a:cxn>
                    <a:cxn ang="0">
                      <a:pos x="167" y="40"/>
                    </a:cxn>
                    <a:cxn ang="0">
                      <a:pos x="163" y="33"/>
                    </a:cxn>
                    <a:cxn ang="0">
                      <a:pos x="160" y="31"/>
                    </a:cxn>
                    <a:cxn ang="0">
                      <a:pos x="153" y="29"/>
                    </a:cxn>
                    <a:cxn ang="0">
                      <a:pos x="147" y="27"/>
                    </a:cxn>
                    <a:cxn ang="0">
                      <a:pos x="140" y="29"/>
                    </a:cxn>
                    <a:cxn ang="0">
                      <a:pos x="132" y="30"/>
                    </a:cxn>
                    <a:cxn ang="0">
                      <a:pos x="123" y="27"/>
                    </a:cxn>
                    <a:cxn ang="0">
                      <a:pos x="111" y="22"/>
                    </a:cxn>
                    <a:cxn ang="0">
                      <a:pos x="100" y="18"/>
                    </a:cxn>
                    <a:cxn ang="0">
                      <a:pos x="92" y="16"/>
                    </a:cxn>
                    <a:cxn ang="0">
                      <a:pos x="80" y="12"/>
                    </a:cxn>
                    <a:cxn ang="0">
                      <a:pos x="67" y="8"/>
                    </a:cxn>
                    <a:cxn ang="0">
                      <a:pos x="55" y="5"/>
                    </a:cxn>
                    <a:cxn ang="0">
                      <a:pos x="42" y="1"/>
                    </a:cxn>
                    <a:cxn ang="0">
                      <a:pos x="28" y="1"/>
                    </a:cxn>
                    <a:cxn ang="0">
                      <a:pos x="15" y="0"/>
                    </a:cxn>
                    <a:cxn ang="0">
                      <a:pos x="12" y="1"/>
                    </a:cxn>
                    <a:cxn ang="0">
                      <a:pos x="7" y="4"/>
                    </a:cxn>
                    <a:cxn ang="0">
                      <a:pos x="3" y="7"/>
                    </a:cxn>
                    <a:cxn ang="0">
                      <a:pos x="0" y="11"/>
                    </a:cxn>
                    <a:cxn ang="0">
                      <a:pos x="5" y="11"/>
                    </a:cxn>
                    <a:cxn ang="0">
                      <a:pos x="12" y="12"/>
                    </a:cxn>
                    <a:cxn ang="0">
                      <a:pos x="19" y="12"/>
                    </a:cxn>
                    <a:cxn ang="0">
                      <a:pos x="23" y="11"/>
                    </a:cxn>
                    <a:cxn ang="0">
                      <a:pos x="30" y="11"/>
                    </a:cxn>
                    <a:cxn ang="0">
                      <a:pos x="39" y="11"/>
                    </a:cxn>
                    <a:cxn ang="0">
                      <a:pos x="51" y="11"/>
                    </a:cxn>
                    <a:cxn ang="0">
                      <a:pos x="61" y="12"/>
                    </a:cxn>
                    <a:cxn ang="0">
                      <a:pos x="71" y="14"/>
                    </a:cxn>
                    <a:cxn ang="0">
                      <a:pos x="81" y="15"/>
                    </a:cxn>
                    <a:cxn ang="0">
                      <a:pos x="91" y="16"/>
                    </a:cxn>
                    <a:cxn ang="0">
                      <a:pos x="99" y="19"/>
                    </a:cxn>
                    <a:cxn ang="0">
                      <a:pos x="108" y="23"/>
                    </a:cxn>
                    <a:cxn ang="0">
                      <a:pos x="116" y="27"/>
                    </a:cxn>
                    <a:cxn ang="0">
                      <a:pos x="125" y="31"/>
                    </a:cxn>
                    <a:cxn ang="0">
                      <a:pos x="129" y="32"/>
                    </a:cxn>
                    <a:cxn ang="0">
                      <a:pos x="134" y="31"/>
                    </a:cxn>
                    <a:cxn ang="0">
                      <a:pos x="140" y="34"/>
                    </a:cxn>
                    <a:cxn ang="0">
                      <a:pos x="146" y="37"/>
                    </a:cxn>
                    <a:cxn ang="0">
                      <a:pos x="152" y="40"/>
                    </a:cxn>
                    <a:cxn ang="0">
                      <a:pos x="161" y="44"/>
                    </a:cxn>
                    <a:cxn ang="0">
                      <a:pos x="167" y="46"/>
                    </a:cxn>
                    <a:cxn ang="0">
                      <a:pos x="170" y="49"/>
                    </a:cxn>
                  </a:cxnLst>
                  <a:rect l="txL" t="txT" r="txR" b="txB"/>
                  <a:pathLst>
                    <a:path w="171" h="50">
                      <a:moveTo>
                        <a:pt x="170" y="49"/>
                      </a:moveTo>
                      <a:lnTo>
                        <a:pt x="167" y="40"/>
                      </a:lnTo>
                      <a:lnTo>
                        <a:pt x="163" y="33"/>
                      </a:lnTo>
                      <a:lnTo>
                        <a:pt x="160" y="31"/>
                      </a:lnTo>
                      <a:lnTo>
                        <a:pt x="153" y="29"/>
                      </a:lnTo>
                      <a:lnTo>
                        <a:pt x="147" y="27"/>
                      </a:lnTo>
                      <a:lnTo>
                        <a:pt x="140" y="29"/>
                      </a:lnTo>
                      <a:lnTo>
                        <a:pt x="132" y="30"/>
                      </a:lnTo>
                      <a:lnTo>
                        <a:pt x="123" y="27"/>
                      </a:lnTo>
                      <a:lnTo>
                        <a:pt x="111" y="22"/>
                      </a:lnTo>
                      <a:lnTo>
                        <a:pt x="100" y="18"/>
                      </a:lnTo>
                      <a:lnTo>
                        <a:pt x="92" y="16"/>
                      </a:lnTo>
                      <a:lnTo>
                        <a:pt x="80" y="12"/>
                      </a:lnTo>
                      <a:lnTo>
                        <a:pt x="67" y="8"/>
                      </a:lnTo>
                      <a:lnTo>
                        <a:pt x="55" y="5"/>
                      </a:lnTo>
                      <a:lnTo>
                        <a:pt x="42" y="1"/>
                      </a:lnTo>
                      <a:lnTo>
                        <a:pt x="28" y="1"/>
                      </a:lnTo>
                      <a:lnTo>
                        <a:pt x="15" y="0"/>
                      </a:lnTo>
                      <a:lnTo>
                        <a:pt x="12" y="1"/>
                      </a:lnTo>
                      <a:lnTo>
                        <a:pt x="7" y="4"/>
                      </a:lnTo>
                      <a:lnTo>
                        <a:pt x="3" y="7"/>
                      </a:lnTo>
                      <a:lnTo>
                        <a:pt x="0" y="11"/>
                      </a:lnTo>
                      <a:lnTo>
                        <a:pt x="5" y="11"/>
                      </a:lnTo>
                      <a:lnTo>
                        <a:pt x="12" y="12"/>
                      </a:lnTo>
                      <a:lnTo>
                        <a:pt x="19" y="12"/>
                      </a:lnTo>
                      <a:lnTo>
                        <a:pt x="23" y="11"/>
                      </a:lnTo>
                      <a:lnTo>
                        <a:pt x="30" y="11"/>
                      </a:lnTo>
                      <a:lnTo>
                        <a:pt x="39" y="11"/>
                      </a:lnTo>
                      <a:lnTo>
                        <a:pt x="51" y="11"/>
                      </a:lnTo>
                      <a:lnTo>
                        <a:pt x="61" y="12"/>
                      </a:lnTo>
                      <a:lnTo>
                        <a:pt x="71" y="14"/>
                      </a:lnTo>
                      <a:lnTo>
                        <a:pt x="81" y="15"/>
                      </a:lnTo>
                      <a:lnTo>
                        <a:pt x="91" y="16"/>
                      </a:lnTo>
                      <a:lnTo>
                        <a:pt x="99" y="19"/>
                      </a:lnTo>
                      <a:lnTo>
                        <a:pt x="108" y="23"/>
                      </a:lnTo>
                      <a:lnTo>
                        <a:pt x="116" y="27"/>
                      </a:lnTo>
                      <a:lnTo>
                        <a:pt x="125" y="31"/>
                      </a:lnTo>
                      <a:lnTo>
                        <a:pt x="129" y="32"/>
                      </a:lnTo>
                      <a:lnTo>
                        <a:pt x="134" y="31"/>
                      </a:lnTo>
                      <a:lnTo>
                        <a:pt x="140" y="34"/>
                      </a:lnTo>
                      <a:lnTo>
                        <a:pt x="146" y="37"/>
                      </a:lnTo>
                      <a:lnTo>
                        <a:pt x="152" y="40"/>
                      </a:lnTo>
                      <a:lnTo>
                        <a:pt x="161" y="44"/>
                      </a:lnTo>
                      <a:lnTo>
                        <a:pt x="167" y="46"/>
                      </a:lnTo>
                      <a:lnTo>
                        <a:pt x="170" y="49"/>
                      </a:lnTo>
                    </a:path>
                  </a:pathLst>
                </a:custGeom>
                <a:solidFill>
                  <a:srgbClr val="037C03">
                    <a:alpha val="50195"/>
                  </a:srgbClr>
                </a:solidFill>
                <a:ln w="9525">
                  <a:noFill/>
                </a:ln>
              </p:spPr>
              <p:txBody>
                <a:bodyPr/>
                <a:lstStyle/>
                <a:p>
                  <a:endParaRPr lang="zh-CN" altLang="en-US"/>
                </a:p>
              </p:txBody>
            </p:sp>
            <p:sp>
              <p:nvSpPr>
                <p:cNvPr id="89234" name="Freeform 106"/>
                <p:cNvSpPr/>
                <p:nvPr/>
              </p:nvSpPr>
              <p:spPr>
                <a:xfrm>
                  <a:off x="1707" y="1563"/>
                  <a:ext cx="177" cy="21"/>
                </a:xfrm>
                <a:custGeom>
                  <a:avLst/>
                  <a:gdLst>
                    <a:gd name="txL" fmla="*/ 0 w 177"/>
                    <a:gd name="txT" fmla="*/ 0 h 21"/>
                    <a:gd name="txR" fmla="*/ 177 w 177"/>
                    <a:gd name="txB" fmla="*/ 21 h 21"/>
                  </a:gdLst>
                  <a:ahLst/>
                  <a:cxnLst>
                    <a:cxn ang="0">
                      <a:pos x="176" y="20"/>
                    </a:cxn>
                    <a:cxn ang="0">
                      <a:pos x="171" y="18"/>
                    </a:cxn>
                    <a:cxn ang="0">
                      <a:pos x="166" y="16"/>
                    </a:cxn>
                    <a:cxn ang="0">
                      <a:pos x="161" y="13"/>
                    </a:cxn>
                    <a:cxn ang="0">
                      <a:pos x="155" y="12"/>
                    </a:cxn>
                    <a:cxn ang="0">
                      <a:pos x="149" y="10"/>
                    </a:cxn>
                    <a:cxn ang="0">
                      <a:pos x="141" y="6"/>
                    </a:cxn>
                    <a:cxn ang="0">
                      <a:pos x="134" y="3"/>
                    </a:cxn>
                    <a:cxn ang="0">
                      <a:pos x="128" y="2"/>
                    </a:cxn>
                    <a:cxn ang="0">
                      <a:pos x="120" y="3"/>
                    </a:cxn>
                    <a:cxn ang="0">
                      <a:pos x="110" y="5"/>
                    </a:cxn>
                    <a:cxn ang="0">
                      <a:pos x="106" y="5"/>
                    </a:cxn>
                    <a:cxn ang="0">
                      <a:pos x="93" y="3"/>
                    </a:cxn>
                    <a:cxn ang="0">
                      <a:pos x="78" y="1"/>
                    </a:cxn>
                    <a:cxn ang="0">
                      <a:pos x="69" y="0"/>
                    </a:cxn>
                    <a:cxn ang="0">
                      <a:pos x="57" y="0"/>
                    </a:cxn>
                    <a:cxn ang="0">
                      <a:pos x="44" y="0"/>
                    </a:cxn>
                    <a:cxn ang="0">
                      <a:pos x="36" y="1"/>
                    </a:cxn>
                    <a:cxn ang="0">
                      <a:pos x="27" y="2"/>
                    </a:cxn>
                    <a:cxn ang="0">
                      <a:pos x="18" y="3"/>
                    </a:cxn>
                    <a:cxn ang="0">
                      <a:pos x="9" y="4"/>
                    </a:cxn>
                    <a:cxn ang="0">
                      <a:pos x="8" y="8"/>
                    </a:cxn>
                    <a:cxn ang="0">
                      <a:pos x="7" y="11"/>
                    </a:cxn>
                    <a:cxn ang="0">
                      <a:pos x="4" y="15"/>
                    </a:cxn>
                    <a:cxn ang="0">
                      <a:pos x="0" y="17"/>
                    </a:cxn>
                    <a:cxn ang="0">
                      <a:pos x="7" y="16"/>
                    </a:cxn>
                    <a:cxn ang="0">
                      <a:pos x="15" y="14"/>
                    </a:cxn>
                    <a:cxn ang="0">
                      <a:pos x="22" y="12"/>
                    </a:cxn>
                    <a:cxn ang="0">
                      <a:pos x="29" y="11"/>
                    </a:cxn>
                    <a:cxn ang="0">
                      <a:pos x="37" y="10"/>
                    </a:cxn>
                    <a:cxn ang="0">
                      <a:pos x="50" y="10"/>
                    </a:cxn>
                    <a:cxn ang="0">
                      <a:pos x="63" y="8"/>
                    </a:cxn>
                    <a:cxn ang="0">
                      <a:pos x="79" y="8"/>
                    </a:cxn>
                    <a:cxn ang="0">
                      <a:pos x="94" y="7"/>
                    </a:cxn>
                    <a:cxn ang="0">
                      <a:pos x="108" y="6"/>
                    </a:cxn>
                    <a:cxn ang="0">
                      <a:pos x="120" y="7"/>
                    </a:cxn>
                    <a:cxn ang="0">
                      <a:pos x="129" y="10"/>
                    </a:cxn>
                    <a:cxn ang="0">
                      <a:pos x="138" y="12"/>
                    </a:cxn>
                    <a:cxn ang="0">
                      <a:pos x="148" y="14"/>
                    </a:cxn>
                    <a:cxn ang="0">
                      <a:pos x="159" y="17"/>
                    </a:cxn>
                    <a:cxn ang="0">
                      <a:pos x="167" y="18"/>
                    </a:cxn>
                    <a:cxn ang="0">
                      <a:pos x="176" y="20"/>
                    </a:cxn>
                  </a:cxnLst>
                  <a:rect l="txL" t="txT" r="txR" b="txB"/>
                  <a:pathLst>
                    <a:path w="177" h="21">
                      <a:moveTo>
                        <a:pt x="176" y="20"/>
                      </a:moveTo>
                      <a:lnTo>
                        <a:pt x="171" y="18"/>
                      </a:lnTo>
                      <a:lnTo>
                        <a:pt x="166" y="16"/>
                      </a:lnTo>
                      <a:lnTo>
                        <a:pt x="161" y="13"/>
                      </a:lnTo>
                      <a:lnTo>
                        <a:pt x="155" y="12"/>
                      </a:lnTo>
                      <a:lnTo>
                        <a:pt x="149" y="10"/>
                      </a:lnTo>
                      <a:lnTo>
                        <a:pt x="141" y="6"/>
                      </a:lnTo>
                      <a:lnTo>
                        <a:pt x="134" y="3"/>
                      </a:lnTo>
                      <a:lnTo>
                        <a:pt x="128" y="2"/>
                      </a:lnTo>
                      <a:lnTo>
                        <a:pt x="120" y="3"/>
                      </a:lnTo>
                      <a:lnTo>
                        <a:pt x="110" y="5"/>
                      </a:lnTo>
                      <a:lnTo>
                        <a:pt x="106" y="5"/>
                      </a:lnTo>
                      <a:lnTo>
                        <a:pt x="93" y="3"/>
                      </a:lnTo>
                      <a:lnTo>
                        <a:pt x="78" y="1"/>
                      </a:lnTo>
                      <a:lnTo>
                        <a:pt x="69" y="0"/>
                      </a:lnTo>
                      <a:lnTo>
                        <a:pt x="57" y="0"/>
                      </a:lnTo>
                      <a:lnTo>
                        <a:pt x="44" y="0"/>
                      </a:lnTo>
                      <a:lnTo>
                        <a:pt x="36" y="1"/>
                      </a:lnTo>
                      <a:lnTo>
                        <a:pt x="27" y="2"/>
                      </a:lnTo>
                      <a:lnTo>
                        <a:pt x="18" y="3"/>
                      </a:lnTo>
                      <a:lnTo>
                        <a:pt x="9" y="4"/>
                      </a:lnTo>
                      <a:lnTo>
                        <a:pt x="8" y="8"/>
                      </a:lnTo>
                      <a:lnTo>
                        <a:pt x="7" y="11"/>
                      </a:lnTo>
                      <a:lnTo>
                        <a:pt x="4" y="15"/>
                      </a:lnTo>
                      <a:lnTo>
                        <a:pt x="0" y="17"/>
                      </a:lnTo>
                      <a:lnTo>
                        <a:pt x="7" y="16"/>
                      </a:lnTo>
                      <a:lnTo>
                        <a:pt x="15" y="14"/>
                      </a:lnTo>
                      <a:lnTo>
                        <a:pt x="22" y="12"/>
                      </a:lnTo>
                      <a:lnTo>
                        <a:pt x="29" y="11"/>
                      </a:lnTo>
                      <a:lnTo>
                        <a:pt x="37" y="10"/>
                      </a:lnTo>
                      <a:lnTo>
                        <a:pt x="50" y="10"/>
                      </a:lnTo>
                      <a:lnTo>
                        <a:pt x="63" y="8"/>
                      </a:lnTo>
                      <a:lnTo>
                        <a:pt x="79" y="8"/>
                      </a:lnTo>
                      <a:lnTo>
                        <a:pt x="94" y="7"/>
                      </a:lnTo>
                      <a:lnTo>
                        <a:pt x="108" y="6"/>
                      </a:lnTo>
                      <a:lnTo>
                        <a:pt x="120" y="7"/>
                      </a:lnTo>
                      <a:lnTo>
                        <a:pt x="129" y="10"/>
                      </a:lnTo>
                      <a:lnTo>
                        <a:pt x="138" y="12"/>
                      </a:lnTo>
                      <a:lnTo>
                        <a:pt x="148" y="14"/>
                      </a:lnTo>
                      <a:lnTo>
                        <a:pt x="159" y="17"/>
                      </a:lnTo>
                      <a:lnTo>
                        <a:pt x="167" y="18"/>
                      </a:lnTo>
                      <a:lnTo>
                        <a:pt x="176" y="20"/>
                      </a:lnTo>
                    </a:path>
                  </a:pathLst>
                </a:custGeom>
                <a:solidFill>
                  <a:srgbClr val="037C03">
                    <a:alpha val="50195"/>
                  </a:srgbClr>
                </a:solidFill>
                <a:ln w="9525">
                  <a:noFill/>
                </a:ln>
              </p:spPr>
              <p:txBody>
                <a:bodyPr/>
                <a:lstStyle/>
                <a:p>
                  <a:endParaRPr lang="zh-CN" altLang="en-US"/>
                </a:p>
              </p:txBody>
            </p:sp>
          </p:grpSp>
          <p:sp>
            <p:nvSpPr>
              <p:cNvPr id="89230" name="Freeform 107"/>
              <p:cNvSpPr/>
              <p:nvPr/>
            </p:nvSpPr>
            <p:spPr>
              <a:xfrm>
                <a:off x="1691" y="1023"/>
                <a:ext cx="261" cy="374"/>
              </a:xfrm>
              <a:custGeom>
                <a:avLst/>
                <a:gdLst>
                  <a:gd name="txL" fmla="*/ 0 w 261"/>
                  <a:gd name="txT" fmla="*/ 0 h 374"/>
                  <a:gd name="txR" fmla="*/ 261 w 261"/>
                  <a:gd name="txB" fmla="*/ 374 h 374"/>
                </a:gdLst>
                <a:ahLst/>
                <a:cxnLst>
                  <a:cxn ang="0">
                    <a:pos x="82" y="162"/>
                  </a:cxn>
                  <a:cxn ang="0">
                    <a:pos x="90" y="154"/>
                  </a:cxn>
                  <a:cxn ang="0">
                    <a:pos x="76" y="104"/>
                  </a:cxn>
                  <a:cxn ang="0">
                    <a:pos x="54" y="56"/>
                  </a:cxn>
                  <a:cxn ang="0">
                    <a:pos x="31" y="33"/>
                  </a:cxn>
                  <a:cxn ang="0">
                    <a:pos x="51" y="45"/>
                  </a:cxn>
                  <a:cxn ang="0">
                    <a:pos x="72" y="84"/>
                  </a:cxn>
                  <a:cxn ang="0">
                    <a:pos x="92" y="126"/>
                  </a:cxn>
                  <a:cxn ang="0">
                    <a:pos x="106" y="168"/>
                  </a:cxn>
                  <a:cxn ang="0">
                    <a:pos x="118" y="150"/>
                  </a:cxn>
                  <a:cxn ang="0">
                    <a:pos x="121" y="114"/>
                  </a:cxn>
                  <a:cxn ang="0">
                    <a:pos x="125" y="65"/>
                  </a:cxn>
                  <a:cxn ang="0">
                    <a:pos x="136" y="26"/>
                  </a:cxn>
                  <a:cxn ang="0">
                    <a:pos x="143" y="12"/>
                  </a:cxn>
                  <a:cxn ang="0">
                    <a:pos x="136" y="53"/>
                  </a:cxn>
                  <a:cxn ang="0">
                    <a:pos x="132" y="106"/>
                  </a:cxn>
                  <a:cxn ang="0">
                    <a:pos x="130" y="155"/>
                  </a:cxn>
                  <a:cxn ang="0">
                    <a:pos x="136" y="183"/>
                  </a:cxn>
                  <a:cxn ang="0">
                    <a:pos x="166" y="177"/>
                  </a:cxn>
                  <a:cxn ang="0">
                    <a:pos x="205" y="178"/>
                  </a:cxn>
                  <a:cxn ang="0">
                    <a:pos x="236" y="193"/>
                  </a:cxn>
                  <a:cxn ang="0">
                    <a:pos x="260" y="227"/>
                  </a:cxn>
                  <a:cxn ang="0">
                    <a:pos x="231" y="222"/>
                  </a:cxn>
                  <a:cxn ang="0">
                    <a:pos x="200" y="211"/>
                  </a:cxn>
                  <a:cxn ang="0">
                    <a:pos x="159" y="204"/>
                  </a:cxn>
                  <a:cxn ang="0">
                    <a:pos x="132" y="208"/>
                  </a:cxn>
                  <a:cxn ang="0">
                    <a:pos x="147" y="224"/>
                  </a:cxn>
                  <a:cxn ang="0">
                    <a:pos x="182" y="233"/>
                  </a:cxn>
                  <a:cxn ang="0">
                    <a:pos x="217" y="240"/>
                  </a:cxn>
                  <a:cxn ang="0">
                    <a:pos x="243" y="264"/>
                  </a:cxn>
                  <a:cxn ang="0">
                    <a:pos x="256" y="297"/>
                  </a:cxn>
                  <a:cxn ang="0">
                    <a:pos x="224" y="277"/>
                  </a:cxn>
                  <a:cxn ang="0">
                    <a:pos x="191" y="256"/>
                  </a:cxn>
                  <a:cxn ang="0">
                    <a:pos x="160" y="238"/>
                  </a:cxn>
                  <a:cxn ang="0">
                    <a:pos x="136" y="230"/>
                  </a:cxn>
                  <a:cxn ang="0">
                    <a:pos x="121" y="246"/>
                  </a:cxn>
                  <a:cxn ang="0">
                    <a:pos x="135" y="290"/>
                  </a:cxn>
                  <a:cxn ang="0">
                    <a:pos x="145" y="342"/>
                  </a:cxn>
                  <a:cxn ang="0">
                    <a:pos x="127" y="346"/>
                  </a:cxn>
                  <a:cxn ang="0">
                    <a:pos x="116" y="290"/>
                  </a:cxn>
                  <a:cxn ang="0">
                    <a:pos x="101" y="256"/>
                  </a:cxn>
                  <a:cxn ang="0">
                    <a:pos x="83" y="274"/>
                  </a:cxn>
                  <a:cxn ang="0">
                    <a:pos x="64" y="309"/>
                  </a:cxn>
                  <a:cxn ang="0">
                    <a:pos x="44" y="360"/>
                  </a:cxn>
                  <a:cxn ang="0">
                    <a:pos x="51" y="314"/>
                  </a:cxn>
                  <a:cxn ang="0">
                    <a:pos x="69" y="272"/>
                  </a:cxn>
                  <a:cxn ang="0">
                    <a:pos x="91" y="238"/>
                  </a:cxn>
                  <a:cxn ang="0">
                    <a:pos x="99" y="212"/>
                  </a:cxn>
                  <a:cxn ang="0">
                    <a:pos x="77" y="226"/>
                  </a:cxn>
                  <a:cxn ang="0">
                    <a:pos x="52" y="261"/>
                  </a:cxn>
                  <a:cxn ang="0">
                    <a:pos x="28" y="301"/>
                  </a:cxn>
                  <a:cxn ang="0">
                    <a:pos x="24" y="288"/>
                  </a:cxn>
                  <a:cxn ang="0">
                    <a:pos x="42" y="262"/>
                  </a:cxn>
                  <a:cxn ang="0">
                    <a:pos x="71" y="229"/>
                  </a:cxn>
                  <a:cxn ang="0">
                    <a:pos x="101" y="206"/>
                  </a:cxn>
                  <a:cxn ang="0">
                    <a:pos x="73" y="180"/>
                  </a:cxn>
                  <a:cxn ang="0">
                    <a:pos x="46" y="148"/>
                  </a:cxn>
                  <a:cxn ang="0">
                    <a:pos x="17" y="118"/>
                  </a:cxn>
                  <a:cxn ang="0">
                    <a:pos x="3" y="98"/>
                  </a:cxn>
                  <a:cxn ang="0">
                    <a:pos x="32" y="115"/>
                  </a:cxn>
                  <a:cxn ang="0">
                    <a:pos x="64" y="145"/>
                  </a:cxn>
                </a:cxnLst>
                <a:rect l="txL" t="txT" r="txR" b="txB"/>
                <a:pathLst>
                  <a:path w="261" h="374">
                    <a:moveTo>
                      <a:pt x="64" y="145"/>
                    </a:moveTo>
                    <a:lnTo>
                      <a:pt x="68" y="150"/>
                    </a:lnTo>
                    <a:lnTo>
                      <a:pt x="72" y="154"/>
                    </a:lnTo>
                    <a:lnTo>
                      <a:pt x="77" y="157"/>
                    </a:lnTo>
                    <a:lnTo>
                      <a:pt x="82" y="162"/>
                    </a:lnTo>
                    <a:lnTo>
                      <a:pt x="86" y="165"/>
                    </a:lnTo>
                    <a:lnTo>
                      <a:pt x="91" y="168"/>
                    </a:lnTo>
                    <a:lnTo>
                      <a:pt x="94" y="170"/>
                    </a:lnTo>
                    <a:lnTo>
                      <a:pt x="92" y="162"/>
                    </a:lnTo>
                    <a:lnTo>
                      <a:pt x="90" y="154"/>
                    </a:lnTo>
                    <a:lnTo>
                      <a:pt x="87" y="143"/>
                    </a:lnTo>
                    <a:lnTo>
                      <a:pt x="85" y="134"/>
                    </a:lnTo>
                    <a:lnTo>
                      <a:pt x="82" y="124"/>
                    </a:lnTo>
                    <a:lnTo>
                      <a:pt x="80" y="114"/>
                    </a:lnTo>
                    <a:lnTo>
                      <a:pt x="76" y="104"/>
                    </a:lnTo>
                    <a:lnTo>
                      <a:pt x="72" y="93"/>
                    </a:lnTo>
                    <a:lnTo>
                      <a:pt x="68" y="84"/>
                    </a:lnTo>
                    <a:lnTo>
                      <a:pt x="63" y="71"/>
                    </a:lnTo>
                    <a:lnTo>
                      <a:pt x="59" y="63"/>
                    </a:lnTo>
                    <a:lnTo>
                      <a:pt x="54" y="56"/>
                    </a:lnTo>
                    <a:lnTo>
                      <a:pt x="50" y="48"/>
                    </a:lnTo>
                    <a:lnTo>
                      <a:pt x="44" y="42"/>
                    </a:lnTo>
                    <a:lnTo>
                      <a:pt x="39" y="38"/>
                    </a:lnTo>
                    <a:lnTo>
                      <a:pt x="34" y="35"/>
                    </a:lnTo>
                    <a:lnTo>
                      <a:pt x="31" y="33"/>
                    </a:lnTo>
                    <a:lnTo>
                      <a:pt x="35" y="32"/>
                    </a:lnTo>
                    <a:lnTo>
                      <a:pt x="37" y="33"/>
                    </a:lnTo>
                    <a:lnTo>
                      <a:pt x="41" y="34"/>
                    </a:lnTo>
                    <a:lnTo>
                      <a:pt x="45" y="39"/>
                    </a:lnTo>
                    <a:lnTo>
                      <a:pt x="51" y="45"/>
                    </a:lnTo>
                    <a:lnTo>
                      <a:pt x="55" y="50"/>
                    </a:lnTo>
                    <a:lnTo>
                      <a:pt x="58" y="56"/>
                    </a:lnTo>
                    <a:lnTo>
                      <a:pt x="63" y="64"/>
                    </a:lnTo>
                    <a:lnTo>
                      <a:pt x="68" y="75"/>
                    </a:lnTo>
                    <a:lnTo>
                      <a:pt x="72" y="84"/>
                    </a:lnTo>
                    <a:lnTo>
                      <a:pt x="77" y="94"/>
                    </a:lnTo>
                    <a:lnTo>
                      <a:pt x="81" y="101"/>
                    </a:lnTo>
                    <a:lnTo>
                      <a:pt x="86" y="109"/>
                    </a:lnTo>
                    <a:lnTo>
                      <a:pt x="89" y="117"/>
                    </a:lnTo>
                    <a:lnTo>
                      <a:pt x="92" y="126"/>
                    </a:lnTo>
                    <a:lnTo>
                      <a:pt x="95" y="135"/>
                    </a:lnTo>
                    <a:lnTo>
                      <a:pt x="99" y="143"/>
                    </a:lnTo>
                    <a:lnTo>
                      <a:pt x="101" y="151"/>
                    </a:lnTo>
                    <a:lnTo>
                      <a:pt x="104" y="161"/>
                    </a:lnTo>
                    <a:lnTo>
                      <a:pt x="106" y="168"/>
                    </a:lnTo>
                    <a:lnTo>
                      <a:pt x="107" y="171"/>
                    </a:lnTo>
                    <a:lnTo>
                      <a:pt x="110" y="168"/>
                    </a:lnTo>
                    <a:lnTo>
                      <a:pt x="113" y="164"/>
                    </a:lnTo>
                    <a:lnTo>
                      <a:pt x="117" y="159"/>
                    </a:lnTo>
                    <a:lnTo>
                      <a:pt x="118" y="150"/>
                    </a:lnTo>
                    <a:lnTo>
                      <a:pt x="119" y="143"/>
                    </a:lnTo>
                    <a:lnTo>
                      <a:pt x="120" y="133"/>
                    </a:lnTo>
                    <a:lnTo>
                      <a:pt x="121" y="124"/>
                    </a:lnTo>
                    <a:lnTo>
                      <a:pt x="120" y="124"/>
                    </a:lnTo>
                    <a:lnTo>
                      <a:pt x="121" y="114"/>
                    </a:lnTo>
                    <a:lnTo>
                      <a:pt x="121" y="103"/>
                    </a:lnTo>
                    <a:lnTo>
                      <a:pt x="122" y="92"/>
                    </a:lnTo>
                    <a:lnTo>
                      <a:pt x="122" y="82"/>
                    </a:lnTo>
                    <a:lnTo>
                      <a:pt x="123" y="75"/>
                    </a:lnTo>
                    <a:lnTo>
                      <a:pt x="125" y="65"/>
                    </a:lnTo>
                    <a:lnTo>
                      <a:pt x="127" y="58"/>
                    </a:lnTo>
                    <a:lnTo>
                      <a:pt x="128" y="50"/>
                    </a:lnTo>
                    <a:lnTo>
                      <a:pt x="131" y="44"/>
                    </a:lnTo>
                    <a:lnTo>
                      <a:pt x="133" y="36"/>
                    </a:lnTo>
                    <a:lnTo>
                      <a:pt x="136" y="26"/>
                    </a:lnTo>
                    <a:lnTo>
                      <a:pt x="139" y="16"/>
                    </a:lnTo>
                    <a:lnTo>
                      <a:pt x="140" y="7"/>
                    </a:lnTo>
                    <a:lnTo>
                      <a:pt x="143" y="0"/>
                    </a:lnTo>
                    <a:lnTo>
                      <a:pt x="144" y="6"/>
                    </a:lnTo>
                    <a:lnTo>
                      <a:pt x="143" y="12"/>
                    </a:lnTo>
                    <a:lnTo>
                      <a:pt x="142" y="21"/>
                    </a:lnTo>
                    <a:lnTo>
                      <a:pt x="140" y="28"/>
                    </a:lnTo>
                    <a:lnTo>
                      <a:pt x="138" y="40"/>
                    </a:lnTo>
                    <a:lnTo>
                      <a:pt x="137" y="47"/>
                    </a:lnTo>
                    <a:lnTo>
                      <a:pt x="136" y="53"/>
                    </a:lnTo>
                    <a:lnTo>
                      <a:pt x="135" y="62"/>
                    </a:lnTo>
                    <a:lnTo>
                      <a:pt x="134" y="72"/>
                    </a:lnTo>
                    <a:lnTo>
                      <a:pt x="134" y="83"/>
                    </a:lnTo>
                    <a:lnTo>
                      <a:pt x="133" y="94"/>
                    </a:lnTo>
                    <a:lnTo>
                      <a:pt x="132" y="106"/>
                    </a:lnTo>
                    <a:lnTo>
                      <a:pt x="132" y="116"/>
                    </a:lnTo>
                    <a:lnTo>
                      <a:pt x="132" y="126"/>
                    </a:lnTo>
                    <a:lnTo>
                      <a:pt x="131" y="134"/>
                    </a:lnTo>
                    <a:lnTo>
                      <a:pt x="131" y="145"/>
                    </a:lnTo>
                    <a:lnTo>
                      <a:pt x="130" y="155"/>
                    </a:lnTo>
                    <a:lnTo>
                      <a:pt x="128" y="168"/>
                    </a:lnTo>
                    <a:lnTo>
                      <a:pt x="127" y="178"/>
                    </a:lnTo>
                    <a:lnTo>
                      <a:pt x="125" y="190"/>
                    </a:lnTo>
                    <a:lnTo>
                      <a:pt x="130" y="187"/>
                    </a:lnTo>
                    <a:lnTo>
                      <a:pt x="136" y="183"/>
                    </a:lnTo>
                    <a:lnTo>
                      <a:pt x="143" y="178"/>
                    </a:lnTo>
                    <a:lnTo>
                      <a:pt x="149" y="176"/>
                    </a:lnTo>
                    <a:lnTo>
                      <a:pt x="156" y="176"/>
                    </a:lnTo>
                    <a:lnTo>
                      <a:pt x="160" y="176"/>
                    </a:lnTo>
                    <a:lnTo>
                      <a:pt x="166" y="177"/>
                    </a:lnTo>
                    <a:lnTo>
                      <a:pt x="173" y="178"/>
                    </a:lnTo>
                    <a:lnTo>
                      <a:pt x="182" y="179"/>
                    </a:lnTo>
                    <a:lnTo>
                      <a:pt x="190" y="178"/>
                    </a:lnTo>
                    <a:lnTo>
                      <a:pt x="198" y="178"/>
                    </a:lnTo>
                    <a:lnTo>
                      <a:pt x="205" y="178"/>
                    </a:lnTo>
                    <a:lnTo>
                      <a:pt x="211" y="179"/>
                    </a:lnTo>
                    <a:lnTo>
                      <a:pt x="217" y="182"/>
                    </a:lnTo>
                    <a:lnTo>
                      <a:pt x="225" y="185"/>
                    </a:lnTo>
                    <a:lnTo>
                      <a:pt x="231" y="189"/>
                    </a:lnTo>
                    <a:lnTo>
                      <a:pt x="236" y="193"/>
                    </a:lnTo>
                    <a:lnTo>
                      <a:pt x="242" y="199"/>
                    </a:lnTo>
                    <a:lnTo>
                      <a:pt x="245" y="202"/>
                    </a:lnTo>
                    <a:lnTo>
                      <a:pt x="251" y="210"/>
                    </a:lnTo>
                    <a:lnTo>
                      <a:pt x="255" y="218"/>
                    </a:lnTo>
                    <a:lnTo>
                      <a:pt x="260" y="227"/>
                    </a:lnTo>
                    <a:lnTo>
                      <a:pt x="254" y="227"/>
                    </a:lnTo>
                    <a:lnTo>
                      <a:pt x="248" y="226"/>
                    </a:lnTo>
                    <a:lnTo>
                      <a:pt x="241" y="224"/>
                    </a:lnTo>
                    <a:lnTo>
                      <a:pt x="235" y="224"/>
                    </a:lnTo>
                    <a:lnTo>
                      <a:pt x="231" y="222"/>
                    </a:lnTo>
                    <a:lnTo>
                      <a:pt x="224" y="218"/>
                    </a:lnTo>
                    <a:lnTo>
                      <a:pt x="218" y="216"/>
                    </a:lnTo>
                    <a:lnTo>
                      <a:pt x="213" y="213"/>
                    </a:lnTo>
                    <a:lnTo>
                      <a:pt x="209" y="212"/>
                    </a:lnTo>
                    <a:lnTo>
                      <a:pt x="200" y="211"/>
                    </a:lnTo>
                    <a:lnTo>
                      <a:pt x="190" y="210"/>
                    </a:lnTo>
                    <a:lnTo>
                      <a:pt x="182" y="208"/>
                    </a:lnTo>
                    <a:lnTo>
                      <a:pt x="173" y="206"/>
                    </a:lnTo>
                    <a:lnTo>
                      <a:pt x="165" y="205"/>
                    </a:lnTo>
                    <a:lnTo>
                      <a:pt x="159" y="204"/>
                    </a:lnTo>
                    <a:lnTo>
                      <a:pt x="154" y="204"/>
                    </a:lnTo>
                    <a:lnTo>
                      <a:pt x="148" y="203"/>
                    </a:lnTo>
                    <a:lnTo>
                      <a:pt x="142" y="204"/>
                    </a:lnTo>
                    <a:lnTo>
                      <a:pt x="137" y="205"/>
                    </a:lnTo>
                    <a:lnTo>
                      <a:pt x="132" y="208"/>
                    </a:lnTo>
                    <a:lnTo>
                      <a:pt x="125" y="210"/>
                    </a:lnTo>
                    <a:lnTo>
                      <a:pt x="130" y="213"/>
                    </a:lnTo>
                    <a:lnTo>
                      <a:pt x="136" y="217"/>
                    </a:lnTo>
                    <a:lnTo>
                      <a:pt x="141" y="222"/>
                    </a:lnTo>
                    <a:lnTo>
                      <a:pt x="147" y="224"/>
                    </a:lnTo>
                    <a:lnTo>
                      <a:pt x="154" y="227"/>
                    </a:lnTo>
                    <a:lnTo>
                      <a:pt x="160" y="229"/>
                    </a:lnTo>
                    <a:lnTo>
                      <a:pt x="166" y="229"/>
                    </a:lnTo>
                    <a:lnTo>
                      <a:pt x="173" y="231"/>
                    </a:lnTo>
                    <a:lnTo>
                      <a:pt x="182" y="233"/>
                    </a:lnTo>
                    <a:lnTo>
                      <a:pt x="189" y="235"/>
                    </a:lnTo>
                    <a:lnTo>
                      <a:pt x="197" y="235"/>
                    </a:lnTo>
                    <a:lnTo>
                      <a:pt x="203" y="237"/>
                    </a:lnTo>
                    <a:lnTo>
                      <a:pt x="210" y="239"/>
                    </a:lnTo>
                    <a:lnTo>
                      <a:pt x="217" y="240"/>
                    </a:lnTo>
                    <a:lnTo>
                      <a:pt x="222" y="243"/>
                    </a:lnTo>
                    <a:lnTo>
                      <a:pt x="227" y="247"/>
                    </a:lnTo>
                    <a:lnTo>
                      <a:pt x="232" y="252"/>
                    </a:lnTo>
                    <a:lnTo>
                      <a:pt x="238" y="257"/>
                    </a:lnTo>
                    <a:lnTo>
                      <a:pt x="243" y="264"/>
                    </a:lnTo>
                    <a:lnTo>
                      <a:pt x="245" y="268"/>
                    </a:lnTo>
                    <a:lnTo>
                      <a:pt x="248" y="275"/>
                    </a:lnTo>
                    <a:lnTo>
                      <a:pt x="250" y="283"/>
                    </a:lnTo>
                    <a:lnTo>
                      <a:pt x="253" y="291"/>
                    </a:lnTo>
                    <a:lnTo>
                      <a:pt x="256" y="297"/>
                    </a:lnTo>
                    <a:lnTo>
                      <a:pt x="250" y="293"/>
                    </a:lnTo>
                    <a:lnTo>
                      <a:pt x="243" y="289"/>
                    </a:lnTo>
                    <a:lnTo>
                      <a:pt x="238" y="286"/>
                    </a:lnTo>
                    <a:lnTo>
                      <a:pt x="231" y="281"/>
                    </a:lnTo>
                    <a:lnTo>
                      <a:pt x="224" y="277"/>
                    </a:lnTo>
                    <a:lnTo>
                      <a:pt x="218" y="273"/>
                    </a:lnTo>
                    <a:lnTo>
                      <a:pt x="211" y="269"/>
                    </a:lnTo>
                    <a:lnTo>
                      <a:pt x="204" y="264"/>
                    </a:lnTo>
                    <a:lnTo>
                      <a:pt x="198" y="260"/>
                    </a:lnTo>
                    <a:lnTo>
                      <a:pt x="191" y="256"/>
                    </a:lnTo>
                    <a:lnTo>
                      <a:pt x="186" y="252"/>
                    </a:lnTo>
                    <a:lnTo>
                      <a:pt x="179" y="248"/>
                    </a:lnTo>
                    <a:lnTo>
                      <a:pt x="173" y="245"/>
                    </a:lnTo>
                    <a:lnTo>
                      <a:pt x="166" y="241"/>
                    </a:lnTo>
                    <a:lnTo>
                      <a:pt x="160" y="238"/>
                    </a:lnTo>
                    <a:lnTo>
                      <a:pt x="155" y="237"/>
                    </a:lnTo>
                    <a:lnTo>
                      <a:pt x="150" y="234"/>
                    </a:lnTo>
                    <a:lnTo>
                      <a:pt x="144" y="231"/>
                    </a:lnTo>
                    <a:lnTo>
                      <a:pt x="140" y="229"/>
                    </a:lnTo>
                    <a:lnTo>
                      <a:pt x="136" y="230"/>
                    </a:lnTo>
                    <a:lnTo>
                      <a:pt x="131" y="231"/>
                    </a:lnTo>
                    <a:lnTo>
                      <a:pt x="128" y="231"/>
                    </a:lnTo>
                    <a:lnTo>
                      <a:pt x="123" y="229"/>
                    </a:lnTo>
                    <a:lnTo>
                      <a:pt x="123" y="237"/>
                    </a:lnTo>
                    <a:lnTo>
                      <a:pt x="121" y="246"/>
                    </a:lnTo>
                    <a:lnTo>
                      <a:pt x="124" y="254"/>
                    </a:lnTo>
                    <a:lnTo>
                      <a:pt x="127" y="263"/>
                    </a:lnTo>
                    <a:lnTo>
                      <a:pt x="130" y="271"/>
                    </a:lnTo>
                    <a:lnTo>
                      <a:pt x="132" y="280"/>
                    </a:lnTo>
                    <a:lnTo>
                      <a:pt x="135" y="290"/>
                    </a:lnTo>
                    <a:lnTo>
                      <a:pt x="138" y="302"/>
                    </a:lnTo>
                    <a:lnTo>
                      <a:pt x="139" y="311"/>
                    </a:lnTo>
                    <a:lnTo>
                      <a:pt x="142" y="321"/>
                    </a:lnTo>
                    <a:lnTo>
                      <a:pt x="143" y="330"/>
                    </a:lnTo>
                    <a:lnTo>
                      <a:pt x="145" y="342"/>
                    </a:lnTo>
                    <a:lnTo>
                      <a:pt x="148" y="355"/>
                    </a:lnTo>
                    <a:lnTo>
                      <a:pt x="150" y="373"/>
                    </a:lnTo>
                    <a:lnTo>
                      <a:pt x="130" y="373"/>
                    </a:lnTo>
                    <a:lnTo>
                      <a:pt x="128" y="357"/>
                    </a:lnTo>
                    <a:lnTo>
                      <a:pt x="127" y="346"/>
                    </a:lnTo>
                    <a:lnTo>
                      <a:pt x="124" y="332"/>
                    </a:lnTo>
                    <a:lnTo>
                      <a:pt x="122" y="319"/>
                    </a:lnTo>
                    <a:lnTo>
                      <a:pt x="120" y="308"/>
                    </a:lnTo>
                    <a:lnTo>
                      <a:pt x="118" y="298"/>
                    </a:lnTo>
                    <a:lnTo>
                      <a:pt x="116" y="290"/>
                    </a:lnTo>
                    <a:lnTo>
                      <a:pt x="113" y="279"/>
                    </a:lnTo>
                    <a:lnTo>
                      <a:pt x="109" y="269"/>
                    </a:lnTo>
                    <a:lnTo>
                      <a:pt x="107" y="260"/>
                    </a:lnTo>
                    <a:lnTo>
                      <a:pt x="104" y="258"/>
                    </a:lnTo>
                    <a:lnTo>
                      <a:pt x="101" y="256"/>
                    </a:lnTo>
                    <a:lnTo>
                      <a:pt x="98" y="254"/>
                    </a:lnTo>
                    <a:lnTo>
                      <a:pt x="96" y="255"/>
                    </a:lnTo>
                    <a:lnTo>
                      <a:pt x="93" y="260"/>
                    </a:lnTo>
                    <a:lnTo>
                      <a:pt x="87" y="268"/>
                    </a:lnTo>
                    <a:lnTo>
                      <a:pt x="83" y="274"/>
                    </a:lnTo>
                    <a:lnTo>
                      <a:pt x="79" y="280"/>
                    </a:lnTo>
                    <a:lnTo>
                      <a:pt x="76" y="288"/>
                    </a:lnTo>
                    <a:lnTo>
                      <a:pt x="72" y="293"/>
                    </a:lnTo>
                    <a:lnTo>
                      <a:pt x="68" y="301"/>
                    </a:lnTo>
                    <a:lnTo>
                      <a:pt x="64" y="309"/>
                    </a:lnTo>
                    <a:lnTo>
                      <a:pt x="61" y="318"/>
                    </a:lnTo>
                    <a:lnTo>
                      <a:pt x="57" y="327"/>
                    </a:lnTo>
                    <a:lnTo>
                      <a:pt x="53" y="337"/>
                    </a:lnTo>
                    <a:lnTo>
                      <a:pt x="49" y="348"/>
                    </a:lnTo>
                    <a:lnTo>
                      <a:pt x="44" y="360"/>
                    </a:lnTo>
                    <a:lnTo>
                      <a:pt x="46" y="346"/>
                    </a:lnTo>
                    <a:lnTo>
                      <a:pt x="47" y="336"/>
                    </a:lnTo>
                    <a:lnTo>
                      <a:pt x="48" y="325"/>
                    </a:lnTo>
                    <a:lnTo>
                      <a:pt x="50" y="319"/>
                    </a:lnTo>
                    <a:lnTo>
                      <a:pt x="51" y="314"/>
                    </a:lnTo>
                    <a:lnTo>
                      <a:pt x="54" y="305"/>
                    </a:lnTo>
                    <a:lnTo>
                      <a:pt x="57" y="295"/>
                    </a:lnTo>
                    <a:lnTo>
                      <a:pt x="59" y="288"/>
                    </a:lnTo>
                    <a:lnTo>
                      <a:pt x="64" y="280"/>
                    </a:lnTo>
                    <a:lnTo>
                      <a:pt x="69" y="272"/>
                    </a:lnTo>
                    <a:lnTo>
                      <a:pt x="73" y="263"/>
                    </a:lnTo>
                    <a:lnTo>
                      <a:pt x="78" y="254"/>
                    </a:lnTo>
                    <a:lnTo>
                      <a:pt x="81" y="249"/>
                    </a:lnTo>
                    <a:lnTo>
                      <a:pt x="86" y="244"/>
                    </a:lnTo>
                    <a:lnTo>
                      <a:pt x="91" y="238"/>
                    </a:lnTo>
                    <a:lnTo>
                      <a:pt x="95" y="232"/>
                    </a:lnTo>
                    <a:lnTo>
                      <a:pt x="100" y="226"/>
                    </a:lnTo>
                    <a:lnTo>
                      <a:pt x="105" y="218"/>
                    </a:lnTo>
                    <a:lnTo>
                      <a:pt x="103" y="216"/>
                    </a:lnTo>
                    <a:lnTo>
                      <a:pt x="99" y="212"/>
                    </a:lnTo>
                    <a:lnTo>
                      <a:pt x="96" y="210"/>
                    </a:lnTo>
                    <a:lnTo>
                      <a:pt x="93" y="211"/>
                    </a:lnTo>
                    <a:lnTo>
                      <a:pt x="87" y="216"/>
                    </a:lnTo>
                    <a:lnTo>
                      <a:pt x="82" y="221"/>
                    </a:lnTo>
                    <a:lnTo>
                      <a:pt x="77" y="226"/>
                    </a:lnTo>
                    <a:lnTo>
                      <a:pt x="72" y="232"/>
                    </a:lnTo>
                    <a:lnTo>
                      <a:pt x="67" y="241"/>
                    </a:lnTo>
                    <a:lnTo>
                      <a:pt x="61" y="249"/>
                    </a:lnTo>
                    <a:lnTo>
                      <a:pt x="56" y="255"/>
                    </a:lnTo>
                    <a:lnTo>
                      <a:pt x="52" y="261"/>
                    </a:lnTo>
                    <a:lnTo>
                      <a:pt x="47" y="268"/>
                    </a:lnTo>
                    <a:lnTo>
                      <a:pt x="42" y="276"/>
                    </a:lnTo>
                    <a:lnTo>
                      <a:pt x="38" y="284"/>
                    </a:lnTo>
                    <a:lnTo>
                      <a:pt x="33" y="293"/>
                    </a:lnTo>
                    <a:lnTo>
                      <a:pt x="28" y="301"/>
                    </a:lnTo>
                    <a:lnTo>
                      <a:pt x="24" y="310"/>
                    </a:lnTo>
                    <a:lnTo>
                      <a:pt x="18" y="321"/>
                    </a:lnTo>
                    <a:lnTo>
                      <a:pt x="21" y="307"/>
                    </a:lnTo>
                    <a:lnTo>
                      <a:pt x="22" y="297"/>
                    </a:lnTo>
                    <a:lnTo>
                      <a:pt x="24" y="288"/>
                    </a:lnTo>
                    <a:lnTo>
                      <a:pt x="25" y="286"/>
                    </a:lnTo>
                    <a:lnTo>
                      <a:pt x="28" y="281"/>
                    </a:lnTo>
                    <a:lnTo>
                      <a:pt x="32" y="275"/>
                    </a:lnTo>
                    <a:lnTo>
                      <a:pt x="37" y="269"/>
                    </a:lnTo>
                    <a:lnTo>
                      <a:pt x="42" y="262"/>
                    </a:lnTo>
                    <a:lnTo>
                      <a:pt x="47" y="256"/>
                    </a:lnTo>
                    <a:lnTo>
                      <a:pt x="54" y="248"/>
                    </a:lnTo>
                    <a:lnTo>
                      <a:pt x="58" y="243"/>
                    </a:lnTo>
                    <a:lnTo>
                      <a:pt x="64" y="236"/>
                    </a:lnTo>
                    <a:lnTo>
                      <a:pt x="71" y="229"/>
                    </a:lnTo>
                    <a:lnTo>
                      <a:pt x="77" y="224"/>
                    </a:lnTo>
                    <a:lnTo>
                      <a:pt x="83" y="218"/>
                    </a:lnTo>
                    <a:lnTo>
                      <a:pt x="93" y="210"/>
                    </a:lnTo>
                    <a:lnTo>
                      <a:pt x="98" y="208"/>
                    </a:lnTo>
                    <a:lnTo>
                      <a:pt x="101" y="206"/>
                    </a:lnTo>
                    <a:lnTo>
                      <a:pt x="95" y="202"/>
                    </a:lnTo>
                    <a:lnTo>
                      <a:pt x="90" y="196"/>
                    </a:lnTo>
                    <a:lnTo>
                      <a:pt x="84" y="190"/>
                    </a:lnTo>
                    <a:lnTo>
                      <a:pt x="79" y="185"/>
                    </a:lnTo>
                    <a:lnTo>
                      <a:pt x="73" y="180"/>
                    </a:lnTo>
                    <a:lnTo>
                      <a:pt x="69" y="176"/>
                    </a:lnTo>
                    <a:lnTo>
                      <a:pt x="65" y="170"/>
                    </a:lnTo>
                    <a:lnTo>
                      <a:pt x="58" y="163"/>
                    </a:lnTo>
                    <a:lnTo>
                      <a:pt x="52" y="156"/>
                    </a:lnTo>
                    <a:lnTo>
                      <a:pt x="46" y="148"/>
                    </a:lnTo>
                    <a:lnTo>
                      <a:pt x="39" y="141"/>
                    </a:lnTo>
                    <a:lnTo>
                      <a:pt x="33" y="136"/>
                    </a:lnTo>
                    <a:lnTo>
                      <a:pt x="26" y="129"/>
                    </a:lnTo>
                    <a:lnTo>
                      <a:pt x="22" y="125"/>
                    </a:lnTo>
                    <a:lnTo>
                      <a:pt x="17" y="118"/>
                    </a:lnTo>
                    <a:lnTo>
                      <a:pt x="14" y="112"/>
                    </a:lnTo>
                    <a:lnTo>
                      <a:pt x="10" y="108"/>
                    </a:lnTo>
                    <a:lnTo>
                      <a:pt x="4" y="102"/>
                    </a:lnTo>
                    <a:lnTo>
                      <a:pt x="0" y="98"/>
                    </a:lnTo>
                    <a:lnTo>
                      <a:pt x="3" y="98"/>
                    </a:lnTo>
                    <a:lnTo>
                      <a:pt x="9" y="100"/>
                    </a:lnTo>
                    <a:lnTo>
                      <a:pt x="14" y="101"/>
                    </a:lnTo>
                    <a:lnTo>
                      <a:pt x="20" y="104"/>
                    </a:lnTo>
                    <a:lnTo>
                      <a:pt x="25" y="109"/>
                    </a:lnTo>
                    <a:lnTo>
                      <a:pt x="32" y="115"/>
                    </a:lnTo>
                    <a:lnTo>
                      <a:pt x="38" y="120"/>
                    </a:lnTo>
                    <a:lnTo>
                      <a:pt x="45" y="125"/>
                    </a:lnTo>
                    <a:lnTo>
                      <a:pt x="51" y="132"/>
                    </a:lnTo>
                    <a:lnTo>
                      <a:pt x="58" y="139"/>
                    </a:lnTo>
                    <a:lnTo>
                      <a:pt x="64" y="145"/>
                    </a:lnTo>
                  </a:path>
                </a:pathLst>
              </a:custGeom>
              <a:solidFill>
                <a:srgbClr val="037C03">
                  <a:alpha val="50195"/>
                </a:srgbClr>
              </a:solidFill>
              <a:ln w="9525">
                <a:noFill/>
              </a:ln>
            </p:spPr>
            <p:txBody>
              <a:bodyPr/>
              <a:lstStyle/>
              <a:p>
                <a:endParaRPr lang="zh-CN" altLang="en-US"/>
              </a:p>
            </p:txBody>
          </p:sp>
        </p:grpSp>
        <p:grpSp>
          <p:nvGrpSpPr>
            <p:cNvPr id="89214" name="Group 108"/>
            <p:cNvGrpSpPr/>
            <p:nvPr/>
          </p:nvGrpSpPr>
          <p:grpSpPr>
            <a:xfrm>
              <a:off x="300" y="3360"/>
              <a:ext cx="508" cy="820"/>
              <a:chOff x="1985" y="1201"/>
              <a:chExt cx="508" cy="820"/>
            </a:xfrm>
          </p:grpSpPr>
          <p:grpSp>
            <p:nvGrpSpPr>
              <p:cNvPr id="89215" name="Group 109"/>
              <p:cNvGrpSpPr/>
              <p:nvPr/>
            </p:nvGrpSpPr>
            <p:grpSpPr>
              <a:xfrm>
                <a:off x="2247" y="1201"/>
                <a:ext cx="246" cy="810"/>
                <a:chOff x="2247" y="1201"/>
                <a:chExt cx="246" cy="810"/>
              </a:xfrm>
            </p:grpSpPr>
            <p:sp>
              <p:nvSpPr>
                <p:cNvPr id="89224" name="Freeform 110"/>
                <p:cNvSpPr/>
                <p:nvPr/>
              </p:nvSpPr>
              <p:spPr>
                <a:xfrm>
                  <a:off x="2392" y="1373"/>
                  <a:ext cx="92" cy="638"/>
                </a:xfrm>
                <a:custGeom>
                  <a:avLst/>
                  <a:gdLst>
                    <a:gd name="txL" fmla="*/ 0 w 92"/>
                    <a:gd name="txT" fmla="*/ 0 h 638"/>
                    <a:gd name="txR" fmla="*/ 92 w 92"/>
                    <a:gd name="txB" fmla="*/ 638 h 638"/>
                  </a:gdLst>
                  <a:ahLst/>
                  <a:cxnLst>
                    <a:cxn ang="0">
                      <a:pos x="91" y="296"/>
                    </a:cxn>
                    <a:cxn ang="0">
                      <a:pos x="83" y="425"/>
                    </a:cxn>
                    <a:cxn ang="0">
                      <a:pos x="75" y="529"/>
                    </a:cxn>
                    <a:cxn ang="0">
                      <a:pos x="70" y="606"/>
                    </a:cxn>
                    <a:cxn ang="0">
                      <a:pos x="71" y="637"/>
                    </a:cxn>
                    <a:cxn ang="0">
                      <a:pos x="60" y="637"/>
                    </a:cxn>
                    <a:cxn ang="0">
                      <a:pos x="57" y="592"/>
                    </a:cxn>
                    <a:cxn ang="0">
                      <a:pos x="55" y="524"/>
                    </a:cxn>
                    <a:cxn ang="0">
                      <a:pos x="51" y="461"/>
                    </a:cxn>
                    <a:cxn ang="0">
                      <a:pos x="49" y="414"/>
                    </a:cxn>
                    <a:cxn ang="0">
                      <a:pos x="45" y="345"/>
                    </a:cxn>
                    <a:cxn ang="0">
                      <a:pos x="40" y="285"/>
                    </a:cxn>
                    <a:cxn ang="0">
                      <a:pos x="35" y="233"/>
                    </a:cxn>
                    <a:cxn ang="0">
                      <a:pos x="31" y="177"/>
                    </a:cxn>
                    <a:cxn ang="0">
                      <a:pos x="24" y="121"/>
                    </a:cxn>
                    <a:cxn ang="0">
                      <a:pos x="17" y="74"/>
                    </a:cxn>
                    <a:cxn ang="0">
                      <a:pos x="4" y="28"/>
                    </a:cxn>
                    <a:cxn ang="0">
                      <a:pos x="0" y="10"/>
                    </a:cxn>
                    <a:cxn ang="0">
                      <a:pos x="5" y="0"/>
                    </a:cxn>
                    <a:cxn ang="0">
                      <a:pos x="13" y="18"/>
                    </a:cxn>
                    <a:cxn ang="0">
                      <a:pos x="24" y="61"/>
                    </a:cxn>
                    <a:cxn ang="0">
                      <a:pos x="33" y="104"/>
                    </a:cxn>
                    <a:cxn ang="0">
                      <a:pos x="40" y="150"/>
                    </a:cxn>
                    <a:cxn ang="0">
                      <a:pos x="44" y="208"/>
                    </a:cxn>
                    <a:cxn ang="0">
                      <a:pos x="48" y="263"/>
                    </a:cxn>
                    <a:cxn ang="0">
                      <a:pos x="55" y="337"/>
                    </a:cxn>
                    <a:cxn ang="0">
                      <a:pos x="59" y="398"/>
                    </a:cxn>
                    <a:cxn ang="0">
                      <a:pos x="61" y="447"/>
                    </a:cxn>
                    <a:cxn ang="0">
                      <a:pos x="63" y="498"/>
                    </a:cxn>
                    <a:cxn ang="0">
                      <a:pos x="68" y="550"/>
                    </a:cxn>
                    <a:cxn ang="0">
                      <a:pos x="73" y="460"/>
                    </a:cxn>
                    <a:cxn ang="0">
                      <a:pos x="80" y="376"/>
                    </a:cxn>
                    <a:cxn ang="0">
                      <a:pos x="91" y="296"/>
                    </a:cxn>
                  </a:cxnLst>
                  <a:rect l="txL" t="txT" r="txR" b="txB"/>
                  <a:pathLst>
                    <a:path w="92" h="638">
                      <a:moveTo>
                        <a:pt x="91" y="296"/>
                      </a:moveTo>
                      <a:lnTo>
                        <a:pt x="83" y="425"/>
                      </a:lnTo>
                      <a:lnTo>
                        <a:pt x="75" y="529"/>
                      </a:lnTo>
                      <a:lnTo>
                        <a:pt x="70" y="606"/>
                      </a:lnTo>
                      <a:lnTo>
                        <a:pt x="71" y="637"/>
                      </a:lnTo>
                      <a:lnTo>
                        <a:pt x="60" y="637"/>
                      </a:lnTo>
                      <a:lnTo>
                        <a:pt x="57" y="592"/>
                      </a:lnTo>
                      <a:lnTo>
                        <a:pt x="55" y="524"/>
                      </a:lnTo>
                      <a:lnTo>
                        <a:pt x="51" y="461"/>
                      </a:lnTo>
                      <a:lnTo>
                        <a:pt x="49" y="414"/>
                      </a:lnTo>
                      <a:lnTo>
                        <a:pt x="45" y="345"/>
                      </a:lnTo>
                      <a:lnTo>
                        <a:pt x="40" y="285"/>
                      </a:lnTo>
                      <a:lnTo>
                        <a:pt x="35" y="233"/>
                      </a:lnTo>
                      <a:lnTo>
                        <a:pt x="31" y="177"/>
                      </a:lnTo>
                      <a:lnTo>
                        <a:pt x="24" y="121"/>
                      </a:lnTo>
                      <a:lnTo>
                        <a:pt x="17" y="74"/>
                      </a:lnTo>
                      <a:lnTo>
                        <a:pt x="4" y="28"/>
                      </a:lnTo>
                      <a:lnTo>
                        <a:pt x="0" y="10"/>
                      </a:lnTo>
                      <a:lnTo>
                        <a:pt x="5" y="0"/>
                      </a:lnTo>
                      <a:lnTo>
                        <a:pt x="13" y="18"/>
                      </a:lnTo>
                      <a:lnTo>
                        <a:pt x="24" y="61"/>
                      </a:lnTo>
                      <a:lnTo>
                        <a:pt x="33" y="104"/>
                      </a:lnTo>
                      <a:lnTo>
                        <a:pt x="40" y="150"/>
                      </a:lnTo>
                      <a:lnTo>
                        <a:pt x="44" y="208"/>
                      </a:lnTo>
                      <a:lnTo>
                        <a:pt x="48" y="263"/>
                      </a:lnTo>
                      <a:lnTo>
                        <a:pt x="55" y="337"/>
                      </a:lnTo>
                      <a:lnTo>
                        <a:pt x="59" y="398"/>
                      </a:lnTo>
                      <a:lnTo>
                        <a:pt x="61" y="447"/>
                      </a:lnTo>
                      <a:lnTo>
                        <a:pt x="63" y="498"/>
                      </a:lnTo>
                      <a:lnTo>
                        <a:pt x="68" y="550"/>
                      </a:lnTo>
                      <a:lnTo>
                        <a:pt x="73" y="460"/>
                      </a:lnTo>
                      <a:lnTo>
                        <a:pt x="80" y="376"/>
                      </a:lnTo>
                      <a:lnTo>
                        <a:pt x="91" y="296"/>
                      </a:lnTo>
                    </a:path>
                  </a:pathLst>
                </a:custGeom>
                <a:solidFill>
                  <a:srgbClr val="3C0023">
                    <a:alpha val="50195"/>
                  </a:srgbClr>
                </a:solidFill>
                <a:ln w="9525">
                  <a:noFill/>
                </a:ln>
              </p:spPr>
              <p:txBody>
                <a:bodyPr/>
                <a:lstStyle/>
                <a:p>
                  <a:endParaRPr lang="zh-CN" altLang="en-US"/>
                </a:p>
              </p:txBody>
            </p:sp>
            <p:sp>
              <p:nvSpPr>
                <p:cNvPr id="89225" name="Freeform 111"/>
                <p:cNvSpPr/>
                <p:nvPr/>
              </p:nvSpPr>
              <p:spPr>
                <a:xfrm>
                  <a:off x="2247" y="1201"/>
                  <a:ext cx="246" cy="466"/>
                </a:xfrm>
                <a:custGeom>
                  <a:avLst/>
                  <a:gdLst>
                    <a:gd name="txL" fmla="*/ 0 w 246"/>
                    <a:gd name="txT" fmla="*/ 0 h 466"/>
                    <a:gd name="txR" fmla="*/ 246 w 246"/>
                    <a:gd name="txB" fmla="*/ 466 h 466"/>
                  </a:gdLst>
                  <a:ahLst/>
                  <a:cxnLst>
                    <a:cxn ang="0">
                      <a:pos x="136" y="67"/>
                    </a:cxn>
                    <a:cxn ang="0">
                      <a:pos x="105" y="12"/>
                    </a:cxn>
                    <a:cxn ang="0">
                      <a:pos x="55" y="1"/>
                    </a:cxn>
                    <a:cxn ang="0">
                      <a:pos x="58" y="12"/>
                    </a:cxn>
                    <a:cxn ang="0">
                      <a:pos x="96" y="39"/>
                    </a:cxn>
                    <a:cxn ang="0">
                      <a:pos x="130" y="134"/>
                    </a:cxn>
                    <a:cxn ang="0">
                      <a:pos x="73" y="85"/>
                    </a:cxn>
                    <a:cxn ang="0">
                      <a:pos x="32" y="75"/>
                    </a:cxn>
                    <a:cxn ang="0">
                      <a:pos x="7" y="103"/>
                    </a:cxn>
                    <a:cxn ang="0">
                      <a:pos x="38" y="103"/>
                    </a:cxn>
                    <a:cxn ang="0">
                      <a:pos x="108" y="129"/>
                    </a:cxn>
                    <a:cxn ang="0">
                      <a:pos x="104" y="146"/>
                    </a:cxn>
                    <a:cxn ang="0">
                      <a:pos x="92" y="171"/>
                    </a:cxn>
                    <a:cxn ang="0">
                      <a:pos x="126" y="170"/>
                    </a:cxn>
                    <a:cxn ang="0">
                      <a:pos x="69" y="193"/>
                    </a:cxn>
                    <a:cxn ang="0">
                      <a:pos x="37" y="233"/>
                    </a:cxn>
                    <a:cxn ang="0">
                      <a:pos x="6" y="325"/>
                    </a:cxn>
                    <a:cxn ang="0">
                      <a:pos x="72" y="231"/>
                    </a:cxn>
                    <a:cxn ang="0">
                      <a:pos x="118" y="194"/>
                    </a:cxn>
                    <a:cxn ang="0">
                      <a:pos x="94" y="269"/>
                    </a:cxn>
                    <a:cxn ang="0">
                      <a:pos x="76" y="338"/>
                    </a:cxn>
                    <a:cxn ang="0">
                      <a:pos x="71" y="408"/>
                    </a:cxn>
                    <a:cxn ang="0">
                      <a:pos x="98" y="303"/>
                    </a:cxn>
                    <a:cxn ang="0">
                      <a:pos x="124" y="236"/>
                    </a:cxn>
                    <a:cxn ang="0">
                      <a:pos x="125" y="214"/>
                    </a:cxn>
                    <a:cxn ang="0">
                      <a:pos x="118" y="323"/>
                    </a:cxn>
                    <a:cxn ang="0">
                      <a:pos x="138" y="439"/>
                    </a:cxn>
                    <a:cxn ang="0">
                      <a:pos x="128" y="313"/>
                    </a:cxn>
                    <a:cxn ang="0">
                      <a:pos x="127" y="223"/>
                    </a:cxn>
                    <a:cxn ang="0">
                      <a:pos x="147" y="189"/>
                    </a:cxn>
                    <a:cxn ang="0">
                      <a:pos x="188" y="298"/>
                    </a:cxn>
                    <a:cxn ang="0">
                      <a:pos x="223" y="411"/>
                    </a:cxn>
                    <a:cxn ang="0">
                      <a:pos x="193" y="292"/>
                    </a:cxn>
                    <a:cxn ang="0">
                      <a:pos x="160" y="190"/>
                    </a:cxn>
                    <a:cxn ang="0">
                      <a:pos x="164" y="121"/>
                    </a:cxn>
                    <a:cxn ang="0">
                      <a:pos x="194" y="130"/>
                    </a:cxn>
                    <a:cxn ang="0">
                      <a:pos x="240" y="125"/>
                    </a:cxn>
                    <a:cxn ang="0">
                      <a:pos x="216" y="122"/>
                    </a:cxn>
                    <a:cxn ang="0">
                      <a:pos x="163" y="144"/>
                    </a:cxn>
                    <a:cxn ang="0">
                      <a:pos x="194" y="109"/>
                    </a:cxn>
                    <a:cxn ang="0">
                      <a:pos x="244" y="101"/>
                    </a:cxn>
                    <a:cxn ang="0">
                      <a:pos x="229" y="88"/>
                    </a:cxn>
                    <a:cxn ang="0">
                      <a:pos x="163" y="138"/>
                    </a:cxn>
                    <a:cxn ang="0">
                      <a:pos x="172" y="99"/>
                    </a:cxn>
                    <a:cxn ang="0">
                      <a:pos x="226" y="61"/>
                    </a:cxn>
                    <a:cxn ang="0">
                      <a:pos x="188" y="82"/>
                    </a:cxn>
                    <a:cxn ang="0">
                      <a:pos x="147" y="109"/>
                    </a:cxn>
                  </a:cxnLst>
                  <a:rect l="txL" t="txT" r="txR" b="txB"/>
                  <a:pathLst>
                    <a:path w="246" h="466">
                      <a:moveTo>
                        <a:pt x="147" y="109"/>
                      </a:moveTo>
                      <a:lnTo>
                        <a:pt x="143" y="88"/>
                      </a:lnTo>
                      <a:lnTo>
                        <a:pt x="136" y="67"/>
                      </a:lnTo>
                      <a:lnTo>
                        <a:pt x="127" y="44"/>
                      </a:lnTo>
                      <a:lnTo>
                        <a:pt x="117" y="27"/>
                      </a:lnTo>
                      <a:lnTo>
                        <a:pt x="105" y="12"/>
                      </a:lnTo>
                      <a:lnTo>
                        <a:pt x="89" y="5"/>
                      </a:lnTo>
                      <a:lnTo>
                        <a:pt x="69" y="0"/>
                      </a:lnTo>
                      <a:lnTo>
                        <a:pt x="55" y="1"/>
                      </a:lnTo>
                      <a:lnTo>
                        <a:pt x="39" y="0"/>
                      </a:lnTo>
                      <a:lnTo>
                        <a:pt x="49" y="11"/>
                      </a:lnTo>
                      <a:lnTo>
                        <a:pt x="58" y="12"/>
                      </a:lnTo>
                      <a:lnTo>
                        <a:pt x="69" y="19"/>
                      </a:lnTo>
                      <a:lnTo>
                        <a:pt x="80" y="25"/>
                      </a:lnTo>
                      <a:lnTo>
                        <a:pt x="96" y="39"/>
                      </a:lnTo>
                      <a:lnTo>
                        <a:pt x="109" y="58"/>
                      </a:lnTo>
                      <a:lnTo>
                        <a:pt x="118" y="82"/>
                      </a:lnTo>
                      <a:lnTo>
                        <a:pt x="130" y="134"/>
                      </a:lnTo>
                      <a:lnTo>
                        <a:pt x="96" y="99"/>
                      </a:lnTo>
                      <a:lnTo>
                        <a:pt x="85" y="91"/>
                      </a:lnTo>
                      <a:lnTo>
                        <a:pt x="73" y="85"/>
                      </a:lnTo>
                      <a:lnTo>
                        <a:pt x="61" y="83"/>
                      </a:lnTo>
                      <a:lnTo>
                        <a:pt x="54" y="80"/>
                      </a:lnTo>
                      <a:lnTo>
                        <a:pt x="32" y="75"/>
                      </a:lnTo>
                      <a:lnTo>
                        <a:pt x="0" y="72"/>
                      </a:lnTo>
                      <a:lnTo>
                        <a:pt x="0" y="103"/>
                      </a:lnTo>
                      <a:lnTo>
                        <a:pt x="7" y="103"/>
                      </a:lnTo>
                      <a:lnTo>
                        <a:pt x="17" y="104"/>
                      </a:lnTo>
                      <a:lnTo>
                        <a:pt x="29" y="103"/>
                      </a:lnTo>
                      <a:lnTo>
                        <a:pt x="38" y="103"/>
                      </a:lnTo>
                      <a:lnTo>
                        <a:pt x="62" y="107"/>
                      </a:lnTo>
                      <a:lnTo>
                        <a:pt x="72" y="111"/>
                      </a:lnTo>
                      <a:lnTo>
                        <a:pt x="108" y="129"/>
                      </a:lnTo>
                      <a:lnTo>
                        <a:pt x="127" y="144"/>
                      </a:lnTo>
                      <a:lnTo>
                        <a:pt x="113" y="146"/>
                      </a:lnTo>
                      <a:lnTo>
                        <a:pt x="104" y="146"/>
                      </a:lnTo>
                      <a:lnTo>
                        <a:pt x="89" y="161"/>
                      </a:lnTo>
                      <a:lnTo>
                        <a:pt x="82" y="183"/>
                      </a:lnTo>
                      <a:lnTo>
                        <a:pt x="92" y="171"/>
                      </a:lnTo>
                      <a:lnTo>
                        <a:pt x="120" y="155"/>
                      </a:lnTo>
                      <a:lnTo>
                        <a:pt x="137" y="162"/>
                      </a:lnTo>
                      <a:lnTo>
                        <a:pt x="126" y="170"/>
                      </a:lnTo>
                      <a:lnTo>
                        <a:pt x="113" y="171"/>
                      </a:lnTo>
                      <a:lnTo>
                        <a:pt x="79" y="189"/>
                      </a:lnTo>
                      <a:lnTo>
                        <a:pt x="69" y="193"/>
                      </a:lnTo>
                      <a:lnTo>
                        <a:pt x="57" y="199"/>
                      </a:lnTo>
                      <a:lnTo>
                        <a:pt x="48" y="209"/>
                      </a:lnTo>
                      <a:lnTo>
                        <a:pt x="37" y="233"/>
                      </a:lnTo>
                      <a:lnTo>
                        <a:pt x="31" y="251"/>
                      </a:lnTo>
                      <a:lnTo>
                        <a:pt x="13" y="310"/>
                      </a:lnTo>
                      <a:lnTo>
                        <a:pt x="6" y="325"/>
                      </a:lnTo>
                      <a:lnTo>
                        <a:pt x="36" y="281"/>
                      </a:lnTo>
                      <a:lnTo>
                        <a:pt x="50" y="265"/>
                      </a:lnTo>
                      <a:lnTo>
                        <a:pt x="72" y="231"/>
                      </a:lnTo>
                      <a:lnTo>
                        <a:pt x="83" y="218"/>
                      </a:lnTo>
                      <a:lnTo>
                        <a:pt x="92" y="209"/>
                      </a:lnTo>
                      <a:lnTo>
                        <a:pt x="118" y="194"/>
                      </a:lnTo>
                      <a:lnTo>
                        <a:pt x="132" y="181"/>
                      </a:lnTo>
                      <a:lnTo>
                        <a:pt x="121" y="195"/>
                      </a:lnTo>
                      <a:lnTo>
                        <a:pt x="94" y="269"/>
                      </a:lnTo>
                      <a:lnTo>
                        <a:pt x="84" y="302"/>
                      </a:lnTo>
                      <a:lnTo>
                        <a:pt x="79" y="320"/>
                      </a:lnTo>
                      <a:lnTo>
                        <a:pt x="76" y="338"/>
                      </a:lnTo>
                      <a:lnTo>
                        <a:pt x="75" y="359"/>
                      </a:lnTo>
                      <a:lnTo>
                        <a:pt x="74" y="375"/>
                      </a:lnTo>
                      <a:lnTo>
                        <a:pt x="71" y="408"/>
                      </a:lnTo>
                      <a:lnTo>
                        <a:pt x="84" y="375"/>
                      </a:lnTo>
                      <a:lnTo>
                        <a:pt x="92" y="330"/>
                      </a:lnTo>
                      <a:lnTo>
                        <a:pt x="98" y="303"/>
                      </a:lnTo>
                      <a:lnTo>
                        <a:pt x="104" y="286"/>
                      </a:lnTo>
                      <a:lnTo>
                        <a:pt x="118" y="252"/>
                      </a:lnTo>
                      <a:lnTo>
                        <a:pt x="124" y="236"/>
                      </a:lnTo>
                      <a:lnTo>
                        <a:pt x="128" y="216"/>
                      </a:lnTo>
                      <a:lnTo>
                        <a:pt x="137" y="188"/>
                      </a:lnTo>
                      <a:lnTo>
                        <a:pt x="125" y="214"/>
                      </a:lnTo>
                      <a:lnTo>
                        <a:pt x="119" y="243"/>
                      </a:lnTo>
                      <a:lnTo>
                        <a:pt x="117" y="302"/>
                      </a:lnTo>
                      <a:lnTo>
                        <a:pt x="118" y="323"/>
                      </a:lnTo>
                      <a:lnTo>
                        <a:pt x="120" y="362"/>
                      </a:lnTo>
                      <a:lnTo>
                        <a:pt x="123" y="377"/>
                      </a:lnTo>
                      <a:lnTo>
                        <a:pt x="138" y="439"/>
                      </a:lnTo>
                      <a:lnTo>
                        <a:pt x="141" y="465"/>
                      </a:lnTo>
                      <a:lnTo>
                        <a:pt x="137" y="379"/>
                      </a:lnTo>
                      <a:lnTo>
                        <a:pt x="128" y="313"/>
                      </a:lnTo>
                      <a:lnTo>
                        <a:pt x="126" y="291"/>
                      </a:lnTo>
                      <a:lnTo>
                        <a:pt x="125" y="238"/>
                      </a:lnTo>
                      <a:lnTo>
                        <a:pt x="127" y="223"/>
                      </a:lnTo>
                      <a:lnTo>
                        <a:pt x="133" y="196"/>
                      </a:lnTo>
                      <a:lnTo>
                        <a:pt x="138" y="179"/>
                      </a:lnTo>
                      <a:lnTo>
                        <a:pt x="147" y="189"/>
                      </a:lnTo>
                      <a:lnTo>
                        <a:pt x="161" y="212"/>
                      </a:lnTo>
                      <a:lnTo>
                        <a:pt x="177" y="259"/>
                      </a:lnTo>
                      <a:lnTo>
                        <a:pt x="188" y="298"/>
                      </a:lnTo>
                      <a:lnTo>
                        <a:pt x="197" y="333"/>
                      </a:lnTo>
                      <a:lnTo>
                        <a:pt x="213" y="384"/>
                      </a:lnTo>
                      <a:lnTo>
                        <a:pt x="223" y="411"/>
                      </a:lnTo>
                      <a:lnTo>
                        <a:pt x="232" y="429"/>
                      </a:lnTo>
                      <a:lnTo>
                        <a:pt x="228" y="403"/>
                      </a:lnTo>
                      <a:lnTo>
                        <a:pt x="193" y="292"/>
                      </a:lnTo>
                      <a:lnTo>
                        <a:pt x="171" y="232"/>
                      </a:lnTo>
                      <a:lnTo>
                        <a:pt x="165" y="210"/>
                      </a:lnTo>
                      <a:lnTo>
                        <a:pt x="160" y="190"/>
                      </a:lnTo>
                      <a:lnTo>
                        <a:pt x="144" y="150"/>
                      </a:lnTo>
                      <a:lnTo>
                        <a:pt x="147" y="132"/>
                      </a:lnTo>
                      <a:lnTo>
                        <a:pt x="164" y="121"/>
                      </a:lnTo>
                      <a:lnTo>
                        <a:pt x="172" y="125"/>
                      </a:lnTo>
                      <a:lnTo>
                        <a:pt x="183" y="126"/>
                      </a:lnTo>
                      <a:lnTo>
                        <a:pt x="194" y="130"/>
                      </a:lnTo>
                      <a:lnTo>
                        <a:pt x="239" y="136"/>
                      </a:lnTo>
                      <a:lnTo>
                        <a:pt x="236" y="136"/>
                      </a:lnTo>
                      <a:lnTo>
                        <a:pt x="240" y="125"/>
                      </a:lnTo>
                      <a:lnTo>
                        <a:pt x="242" y="125"/>
                      </a:lnTo>
                      <a:lnTo>
                        <a:pt x="230" y="122"/>
                      </a:lnTo>
                      <a:lnTo>
                        <a:pt x="216" y="122"/>
                      </a:lnTo>
                      <a:lnTo>
                        <a:pt x="199" y="127"/>
                      </a:lnTo>
                      <a:lnTo>
                        <a:pt x="180" y="135"/>
                      </a:lnTo>
                      <a:lnTo>
                        <a:pt x="163" y="144"/>
                      </a:lnTo>
                      <a:lnTo>
                        <a:pt x="150" y="149"/>
                      </a:lnTo>
                      <a:lnTo>
                        <a:pt x="168" y="129"/>
                      </a:lnTo>
                      <a:lnTo>
                        <a:pt x="194" y="109"/>
                      </a:lnTo>
                      <a:lnTo>
                        <a:pt x="220" y="100"/>
                      </a:lnTo>
                      <a:lnTo>
                        <a:pt x="232" y="100"/>
                      </a:lnTo>
                      <a:lnTo>
                        <a:pt x="244" y="101"/>
                      </a:lnTo>
                      <a:lnTo>
                        <a:pt x="239" y="101"/>
                      </a:lnTo>
                      <a:lnTo>
                        <a:pt x="245" y="85"/>
                      </a:lnTo>
                      <a:lnTo>
                        <a:pt x="229" y="88"/>
                      </a:lnTo>
                      <a:lnTo>
                        <a:pt x="212" y="97"/>
                      </a:lnTo>
                      <a:lnTo>
                        <a:pt x="193" y="111"/>
                      </a:lnTo>
                      <a:lnTo>
                        <a:pt x="163" y="138"/>
                      </a:lnTo>
                      <a:lnTo>
                        <a:pt x="150" y="149"/>
                      </a:lnTo>
                      <a:lnTo>
                        <a:pt x="157" y="114"/>
                      </a:lnTo>
                      <a:lnTo>
                        <a:pt x="172" y="99"/>
                      </a:lnTo>
                      <a:lnTo>
                        <a:pt x="190" y="85"/>
                      </a:lnTo>
                      <a:lnTo>
                        <a:pt x="214" y="67"/>
                      </a:lnTo>
                      <a:lnTo>
                        <a:pt x="226" y="61"/>
                      </a:lnTo>
                      <a:lnTo>
                        <a:pt x="212" y="57"/>
                      </a:lnTo>
                      <a:lnTo>
                        <a:pt x="200" y="67"/>
                      </a:lnTo>
                      <a:lnTo>
                        <a:pt x="188" y="82"/>
                      </a:lnTo>
                      <a:lnTo>
                        <a:pt x="178" y="93"/>
                      </a:lnTo>
                      <a:lnTo>
                        <a:pt x="163" y="115"/>
                      </a:lnTo>
                      <a:lnTo>
                        <a:pt x="147" y="109"/>
                      </a:lnTo>
                    </a:path>
                  </a:pathLst>
                </a:custGeom>
                <a:solidFill>
                  <a:srgbClr val="037C03">
                    <a:alpha val="50195"/>
                  </a:srgbClr>
                </a:solidFill>
                <a:ln w="9525">
                  <a:noFill/>
                </a:ln>
              </p:spPr>
              <p:txBody>
                <a:bodyPr/>
                <a:lstStyle/>
                <a:p>
                  <a:endParaRPr lang="zh-CN" altLang="en-US"/>
                </a:p>
              </p:txBody>
            </p:sp>
          </p:grpSp>
          <p:grpSp>
            <p:nvGrpSpPr>
              <p:cNvPr id="89216" name="Group 112"/>
              <p:cNvGrpSpPr/>
              <p:nvPr/>
            </p:nvGrpSpPr>
            <p:grpSpPr>
              <a:xfrm>
                <a:off x="1985" y="1419"/>
                <a:ext cx="465" cy="602"/>
                <a:chOff x="1985" y="1419"/>
                <a:chExt cx="465" cy="602"/>
              </a:xfrm>
            </p:grpSpPr>
            <p:sp>
              <p:nvSpPr>
                <p:cNvPr id="89217" name="Freeform 113"/>
                <p:cNvSpPr/>
                <p:nvPr/>
              </p:nvSpPr>
              <p:spPr>
                <a:xfrm>
                  <a:off x="2164" y="1525"/>
                  <a:ext cx="130" cy="496"/>
                </a:xfrm>
                <a:custGeom>
                  <a:avLst/>
                  <a:gdLst>
                    <a:gd name="txL" fmla="*/ 0 w 130"/>
                    <a:gd name="txT" fmla="*/ 0 h 496"/>
                    <a:gd name="txR" fmla="*/ 130 w 130"/>
                    <a:gd name="txB" fmla="*/ 496 h 496"/>
                  </a:gdLst>
                  <a:ahLst/>
                  <a:cxnLst>
                    <a:cxn ang="0">
                      <a:pos x="129" y="230"/>
                    </a:cxn>
                    <a:cxn ang="0">
                      <a:pos x="118" y="330"/>
                    </a:cxn>
                    <a:cxn ang="0">
                      <a:pos x="107" y="411"/>
                    </a:cxn>
                    <a:cxn ang="0">
                      <a:pos x="100" y="471"/>
                    </a:cxn>
                    <a:cxn ang="0">
                      <a:pos x="101" y="495"/>
                    </a:cxn>
                    <a:cxn ang="0">
                      <a:pos x="86" y="495"/>
                    </a:cxn>
                    <a:cxn ang="0">
                      <a:pos x="81" y="460"/>
                    </a:cxn>
                    <a:cxn ang="0">
                      <a:pos x="79" y="408"/>
                    </a:cxn>
                    <a:cxn ang="0">
                      <a:pos x="73" y="358"/>
                    </a:cxn>
                    <a:cxn ang="0">
                      <a:pos x="70" y="321"/>
                    </a:cxn>
                    <a:cxn ang="0">
                      <a:pos x="64" y="268"/>
                    </a:cxn>
                    <a:cxn ang="0">
                      <a:pos x="56" y="222"/>
                    </a:cxn>
                    <a:cxn ang="0">
                      <a:pos x="51" y="181"/>
                    </a:cxn>
                    <a:cxn ang="0">
                      <a:pos x="45" y="137"/>
                    </a:cxn>
                    <a:cxn ang="0">
                      <a:pos x="35" y="94"/>
                    </a:cxn>
                    <a:cxn ang="0">
                      <a:pos x="24" y="57"/>
                    </a:cxn>
                    <a:cxn ang="0">
                      <a:pos x="6" y="21"/>
                    </a:cxn>
                    <a:cxn ang="0">
                      <a:pos x="0" y="8"/>
                    </a:cxn>
                    <a:cxn ang="0">
                      <a:pos x="7" y="0"/>
                    </a:cxn>
                    <a:cxn ang="0">
                      <a:pos x="19" y="14"/>
                    </a:cxn>
                    <a:cxn ang="0">
                      <a:pos x="35" y="47"/>
                    </a:cxn>
                    <a:cxn ang="0">
                      <a:pos x="47" y="81"/>
                    </a:cxn>
                    <a:cxn ang="0">
                      <a:pos x="56" y="116"/>
                    </a:cxn>
                    <a:cxn ang="0">
                      <a:pos x="63" y="161"/>
                    </a:cxn>
                    <a:cxn ang="0">
                      <a:pos x="69" y="204"/>
                    </a:cxn>
                    <a:cxn ang="0">
                      <a:pos x="77" y="262"/>
                    </a:cxn>
                    <a:cxn ang="0">
                      <a:pos x="84" y="309"/>
                    </a:cxn>
                    <a:cxn ang="0">
                      <a:pos x="87" y="347"/>
                    </a:cxn>
                    <a:cxn ang="0">
                      <a:pos x="90" y="386"/>
                    </a:cxn>
                    <a:cxn ang="0">
                      <a:pos x="96" y="427"/>
                    </a:cxn>
                    <a:cxn ang="0">
                      <a:pos x="104" y="357"/>
                    </a:cxn>
                    <a:cxn ang="0">
                      <a:pos x="114" y="292"/>
                    </a:cxn>
                    <a:cxn ang="0">
                      <a:pos x="129" y="230"/>
                    </a:cxn>
                  </a:cxnLst>
                  <a:rect l="txL" t="txT" r="txR" b="txB"/>
                  <a:pathLst>
                    <a:path w="130" h="496">
                      <a:moveTo>
                        <a:pt x="129" y="230"/>
                      </a:moveTo>
                      <a:lnTo>
                        <a:pt x="118" y="330"/>
                      </a:lnTo>
                      <a:lnTo>
                        <a:pt x="107" y="411"/>
                      </a:lnTo>
                      <a:lnTo>
                        <a:pt x="100" y="471"/>
                      </a:lnTo>
                      <a:lnTo>
                        <a:pt x="101" y="495"/>
                      </a:lnTo>
                      <a:lnTo>
                        <a:pt x="86" y="495"/>
                      </a:lnTo>
                      <a:lnTo>
                        <a:pt x="81" y="460"/>
                      </a:lnTo>
                      <a:lnTo>
                        <a:pt x="79" y="408"/>
                      </a:lnTo>
                      <a:lnTo>
                        <a:pt x="73" y="358"/>
                      </a:lnTo>
                      <a:lnTo>
                        <a:pt x="70" y="321"/>
                      </a:lnTo>
                      <a:lnTo>
                        <a:pt x="64" y="268"/>
                      </a:lnTo>
                      <a:lnTo>
                        <a:pt x="56" y="222"/>
                      </a:lnTo>
                      <a:lnTo>
                        <a:pt x="51" y="181"/>
                      </a:lnTo>
                      <a:lnTo>
                        <a:pt x="45" y="137"/>
                      </a:lnTo>
                      <a:lnTo>
                        <a:pt x="35" y="94"/>
                      </a:lnTo>
                      <a:lnTo>
                        <a:pt x="24" y="57"/>
                      </a:lnTo>
                      <a:lnTo>
                        <a:pt x="6" y="21"/>
                      </a:lnTo>
                      <a:lnTo>
                        <a:pt x="0" y="8"/>
                      </a:lnTo>
                      <a:lnTo>
                        <a:pt x="7" y="0"/>
                      </a:lnTo>
                      <a:lnTo>
                        <a:pt x="19" y="14"/>
                      </a:lnTo>
                      <a:lnTo>
                        <a:pt x="35" y="47"/>
                      </a:lnTo>
                      <a:lnTo>
                        <a:pt x="47" y="81"/>
                      </a:lnTo>
                      <a:lnTo>
                        <a:pt x="56" y="116"/>
                      </a:lnTo>
                      <a:lnTo>
                        <a:pt x="63" y="161"/>
                      </a:lnTo>
                      <a:lnTo>
                        <a:pt x="69" y="204"/>
                      </a:lnTo>
                      <a:lnTo>
                        <a:pt x="77" y="262"/>
                      </a:lnTo>
                      <a:lnTo>
                        <a:pt x="84" y="309"/>
                      </a:lnTo>
                      <a:lnTo>
                        <a:pt x="87" y="347"/>
                      </a:lnTo>
                      <a:lnTo>
                        <a:pt x="90" y="386"/>
                      </a:lnTo>
                      <a:lnTo>
                        <a:pt x="96" y="427"/>
                      </a:lnTo>
                      <a:lnTo>
                        <a:pt x="104" y="357"/>
                      </a:lnTo>
                      <a:lnTo>
                        <a:pt x="114" y="292"/>
                      </a:lnTo>
                      <a:lnTo>
                        <a:pt x="129" y="230"/>
                      </a:lnTo>
                    </a:path>
                  </a:pathLst>
                </a:custGeom>
                <a:solidFill>
                  <a:srgbClr val="3C0023">
                    <a:alpha val="50195"/>
                  </a:srgbClr>
                </a:solidFill>
                <a:ln w="9525">
                  <a:noFill/>
                </a:ln>
              </p:spPr>
              <p:txBody>
                <a:bodyPr/>
                <a:lstStyle/>
                <a:p>
                  <a:endParaRPr lang="zh-CN" altLang="en-US"/>
                </a:p>
              </p:txBody>
            </p:sp>
            <p:sp>
              <p:nvSpPr>
                <p:cNvPr id="89218" name="Freeform 114"/>
                <p:cNvSpPr/>
                <p:nvPr/>
              </p:nvSpPr>
              <p:spPr>
                <a:xfrm>
                  <a:off x="2204" y="1606"/>
                  <a:ext cx="229" cy="358"/>
                </a:xfrm>
                <a:custGeom>
                  <a:avLst/>
                  <a:gdLst>
                    <a:gd name="txL" fmla="*/ 0 w 229"/>
                    <a:gd name="txT" fmla="*/ 0 h 358"/>
                    <a:gd name="txR" fmla="*/ 229 w 229"/>
                    <a:gd name="txB" fmla="*/ 358 h 358"/>
                  </a:gdLst>
                  <a:ahLst/>
                  <a:cxnLst>
                    <a:cxn ang="0">
                      <a:pos x="60" y="58"/>
                    </a:cxn>
                    <a:cxn ang="0">
                      <a:pos x="67" y="44"/>
                    </a:cxn>
                    <a:cxn ang="0">
                      <a:pos x="64" y="5"/>
                    </a:cxn>
                    <a:cxn ang="0">
                      <a:pos x="64" y="5"/>
                    </a:cxn>
                    <a:cxn ang="0">
                      <a:pos x="64" y="5"/>
                    </a:cxn>
                    <a:cxn ang="0">
                      <a:pos x="64" y="5"/>
                    </a:cxn>
                    <a:cxn ang="0">
                      <a:pos x="64" y="5"/>
                    </a:cxn>
                    <a:cxn ang="0">
                      <a:pos x="70" y="2"/>
                    </a:cxn>
                    <a:cxn ang="0">
                      <a:pos x="82" y="66"/>
                    </a:cxn>
                    <a:cxn ang="0">
                      <a:pos x="94" y="39"/>
                    </a:cxn>
                    <a:cxn ang="0">
                      <a:pos x="101" y="5"/>
                    </a:cxn>
                    <a:cxn ang="0">
                      <a:pos x="104" y="5"/>
                    </a:cxn>
                    <a:cxn ang="0">
                      <a:pos x="103" y="5"/>
                    </a:cxn>
                    <a:cxn ang="0">
                      <a:pos x="104" y="5"/>
                    </a:cxn>
                    <a:cxn ang="0">
                      <a:pos x="102" y="5"/>
                    </a:cxn>
                    <a:cxn ang="0">
                      <a:pos x="103" y="5"/>
                    </a:cxn>
                    <a:cxn ang="0">
                      <a:pos x="105" y="47"/>
                    </a:cxn>
                    <a:cxn ang="0">
                      <a:pos x="111" y="88"/>
                    </a:cxn>
                    <a:cxn ang="0">
                      <a:pos x="139" y="79"/>
                    </a:cxn>
                    <a:cxn ang="0">
                      <a:pos x="176" y="81"/>
                    </a:cxn>
                    <a:cxn ang="0">
                      <a:pos x="205" y="104"/>
                    </a:cxn>
                    <a:cxn ang="0">
                      <a:pos x="228" y="155"/>
                    </a:cxn>
                    <a:cxn ang="0">
                      <a:pos x="200" y="147"/>
                    </a:cxn>
                    <a:cxn ang="0">
                      <a:pos x="171" y="131"/>
                    </a:cxn>
                    <a:cxn ang="0">
                      <a:pos x="132" y="121"/>
                    </a:cxn>
                    <a:cxn ang="0">
                      <a:pos x="107" y="125"/>
                    </a:cxn>
                    <a:cxn ang="0">
                      <a:pos x="122" y="150"/>
                    </a:cxn>
                    <a:cxn ang="0">
                      <a:pos x="154" y="165"/>
                    </a:cxn>
                    <a:cxn ang="0">
                      <a:pos x="187" y="175"/>
                    </a:cxn>
                    <a:cxn ang="0">
                      <a:pos x="212" y="212"/>
                    </a:cxn>
                    <a:cxn ang="0">
                      <a:pos x="224" y="262"/>
                    </a:cxn>
                    <a:cxn ang="0">
                      <a:pos x="194" y="231"/>
                    </a:cxn>
                    <a:cxn ang="0">
                      <a:pos x="163" y="199"/>
                    </a:cxn>
                    <a:cxn ang="0">
                      <a:pos x="133" y="172"/>
                    </a:cxn>
                    <a:cxn ang="0">
                      <a:pos x="111" y="159"/>
                    </a:cxn>
                    <a:cxn ang="0">
                      <a:pos x="97" y="185"/>
                    </a:cxn>
                    <a:cxn ang="0">
                      <a:pos x="115" y="245"/>
                    </a:cxn>
                    <a:cxn ang="0">
                      <a:pos x="132" y="312"/>
                    </a:cxn>
                    <a:cxn ang="0">
                      <a:pos x="114" y="328"/>
                    </a:cxn>
                    <a:cxn ang="0">
                      <a:pos x="95" y="236"/>
                    </a:cxn>
                    <a:cxn ang="0">
                      <a:pos x="78" y="179"/>
                    </a:cxn>
                    <a:cxn ang="0">
                      <a:pos x="73" y="197"/>
                    </a:cxn>
                    <a:cxn ang="0">
                      <a:pos x="74" y="186"/>
                    </a:cxn>
                    <a:cxn ang="0">
                      <a:pos x="70" y="206"/>
                    </a:cxn>
                    <a:cxn ang="0">
                      <a:pos x="51" y="257"/>
                    </a:cxn>
                    <a:cxn ang="0">
                      <a:pos x="32" y="322"/>
                    </a:cxn>
                    <a:cxn ang="0">
                      <a:pos x="28" y="304"/>
                    </a:cxn>
                    <a:cxn ang="0">
                      <a:pos x="38" y="249"/>
                    </a:cxn>
                    <a:cxn ang="0">
                      <a:pos x="59" y="189"/>
                    </a:cxn>
                    <a:cxn ang="0">
                      <a:pos x="82" y="143"/>
                    </a:cxn>
                    <a:cxn ang="0">
                      <a:pos x="65" y="139"/>
                    </a:cxn>
                    <a:cxn ang="0">
                      <a:pos x="40" y="189"/>
                    </a:cxn>
                    <a:cxn ang="0">
                      <a:pos x="18" y="243"/>
                    </a:cxn>
                    <a:cxn ang="0">
                      <a:pos x="2" y="278"/>
                    </a:cxn>
                    <a:cxn ang="0">
                      <a:pos x="13" y="229"/>
                    </a:cxn>
                    <a:cxn ang="0">
                      <a:pos x="37" y="179"/>
                    </a:cxn>
                    <a:cxn ang="0">
                      <a:pos x="70" y="130"/>
                    </a:cxn>
                    <a:cxn ang="0">
                      <a:pos x="62" y="99"/>
                    </a:cxn>
                    <a:cxn ang="0">
                      <a:pos x="37" y="59"/>
                    </a:cxn>
                    <a:cxn ang="0">
                      <a:pos x="11" y="12"/>
                    </a:cxn>
                    <a:cxn ang="0">
                      <a:pos x="14" y="5"/>
                    </a:cxn>
                    <a:cxn ang="0">
                      <a:pos x="27" y="5"/>
                    </a:cxn>
                    <a:cxn ang="0">
                      <a:pos x="31" y="10"/>
                    </a:cxn>
                  </a:cxnLst>
                  <a:rect l="txL" t="txT" r="txR" b="txB"/>
                  <a:pathLst>
                    <a:path w="229" h="358">
                      <a:moveTo>
                        <a:pt x="43" y="31"/>
                      </a:moveTo>
                      <a:lnTo>
                        <a:pt x="47" y="39"/>
                      </a:lnTo>
                      <a:lnTo>
                        <a:pt x="51" y="44"/>
                      </a:lnTo>
                      <a:lnTo>
                        <a:pt x="55" y="51"/>
                      </a:lnTo>
                      <a:lnTo>
                        <a:pt x="60" y="58"/>
                      </a:lnTo>
                      <a:lnTo>
                        <a:pt x="64" y="63"/>
                      </a:lnTo>
                      <a:lnTo>
                        <a:pt x="68" y="66"/>
                      </a:lnTo>
                      <a:lnTo>
                        <a:pt x="72" y="69"/>
                      </a:lnTo>
                      <a:lnTo>
                        <a:pt x="70" y="58"/>
                      </a:lnTo>
                      <a:lnTo>
                        <a:pt x="67" y="44"/>
                      </a:lnTo>
                      <a:lnTo>
                        <a:pt x="65" y="30"/>
                      </a:lnTo>
                      <a:lnTo>
                        <a:pt x="63" y="15"/>
                      </a:lnTo>
                      <a:lnTo>
                        <a:pt x="64" y="5"/>
                      </a:lnTo>
                      <a:lnTo>
                        <a:pt x="69" y="5"/>
                      </a:lnTo>
                      <a:lnTo>
                        <a:pt x="70" y="5"/>
                      </a:lnTo>
                      <a:lnTo>
                        <a:pt x="70" y="2"/>
                      </a:lnTo>
                      <a:lnTo>
                        <a:pt x="73" y="16"/>
                      </a:lnTo>
                      <a:lnTo>
                        <a:pt x="76" y="30"/>
                      </a:lnTo>
                      <a:lnTo>
                        <a:pt x="78" y="41"/>
                      </a:lnTo>
                      <a:lnTo>
                        <a:pt x="81" y="56"/>
                      </a:lnTo>
                      <a:lnTo>
                        <a:pt x="82" y="66"/>
                      </a:lnTo>
                      <a:lnTo>
                        <a:pt x="84" y="71"/>
                      </a:lnTo>
                      <a:lnTo>
                        <a:pt x="87" y="66"/>
                      </a:lnTo>
                      <a:lnTo>
                        <a:pt x="89" y="59"/>
                      </a:lnTo>
                      <a:lnTo>
                        <a:pt x="93" y="52"/>
                      </a:lnTo>
                      <a:lnTo>
                        <a:pt x="94" y="39"/>
                      </a:lnTo>
                      <a:lnTo>
                        <a:pt x="95" y="30"/>
                      </a:lnTo>
                      <a:lnTo>
                        <a:pt x="96" y="14"/>
                      </a:lnTo>
                      <a:lnTo>
                        <a:pt x="96" y="0"/>
                      </a:lnTo>
                      <a:lnTo>
                        <a:pt x="101" y="5"/>
                      </a:lnTo>
                      <a:lnTo>
                        <a:pt x="102" y="5"/>
                      </a:lnTo>
                      <a:lnTo>
                        <a:pt x="103" y="5"/>
                      </a:lnTo>
                      <a:lnTo>
                        <a:pt x="104" y="5"/>
                      </a:lnTo>
                      <a:lnTo>
                        <a:pt x="105" y="5"/>
                      </a:lnTo>
                      <a:lnTo>
                        <a:pt x="104" y="5"/>
                      </a:lnTo>
                      <a:lnTo>
                        <a:pt x="102" y="5"/>
                      </a:lnTo>
                      <a:lnTo>
                        <a:pt x="103" y="5"/>
                      </a:lnTo>
                      <a:lnTo>
                        <a:pt x="105" y="5"/>
                      </a:lnTo>
                      <a:lnTo>
                        <a:pt x="103" y="5"/>
                      </a:lnTo>
                      <a:lnTo>
                        <a:pt x="101" y="5"/>
                      </a:lnTo>
                      <a:lnTo>
                        <a:pt x="102" y="5"/>
                      </a:lnTo>
                      <a:lnTo>
                        <a:pt x="101" y="5"/>
                      </a:lnTo>
                      <a:lnTo>
                        <a:pt x="104" y="5"/>
                      </a:lnTo>
                      <a:lnTo>
                        <a:pt x="103" y="5"/>
                      </a:lnTo>
                      <a:lnTo>
                        <a:pt x="100" y="5"/>
                      </a:lnTo>
                      <a:lnTo>
                        <a:pt x="101" y="5"/>
                      </a:lnTo>
                      <a:lnTo>
                        <a:pt x="103" y="5"/>
                      </a:lnTo>
                      <a:lnTo>
                        <a:pt x="102" y="5"/>
                      </a:lnTo>
                      <a:lnTo>
                        <a:pt x="104" y="5"/>
                      </a:lnTo>
                      <a:lnTo>
                        <a:pt x="102" y="5"/>
                      </a:lnTo>
                      <a:lnTo>
                        <a:pt x="107" y="5"/>
                      </a:lnTo>
                      <a:lnTo>
                        <a:pt x="103" y="5"/>
                      </a:lnTo>
                      <a:lnTo>
                        <a:pt x="104" y="5"/>
                      </a:lnTo>
                      <a:lnTo>
                        <a:pt x="107" y="2"/>
                      </a:lnTo>
                      <a:lnTo>
                        <a:pt x="107" y="15"/>
                      </a:lnTo>
                      <a:lnTo>
                        <a:pt x="106" y="31"/>
                      </a:lnTo>
                      <a:lnTo>
                        <a:pt x="105" y="47"/>
                      </a:lnTo>
                      <a:lnTo>
                        <a:pt x="103" y="66"/>
                      </a:lnTo>
                      <a:lnTo>
                        <a:pt x="102" y="83"/>
                      </a:lnTo>
                      <a:lnTo>
                        <a:pt x="101" y="100"/>
                      </a:lnTo>
                      <a:lnTo>
                        <a:pt x="105" y="95"/>
                      </a:lnTo>
                      <a:lnTo>
                        <a:pt x="111" y="88"/>
                      </a:lnTo>
                      <a:lnTo>
                        <a:pt x="118" y="80"/>
                      </a:lnTo>
                      <a:lnTo>
                        <a:pt x="123" y="78"/>
                      </a:lnTo>
                      <a:lnTo>
                        <a:pt x="129" y="76"/>
                      </a:lnTo>
                      <a:lnTo>
                        <a:pt x="134" y="79"/>
                      </a:lnTo>
                      <a:lnTo>
                        <a:pt x="139" y="79"/>
                      </a:lnTo>
                      <a:lnTo>
                        <a:pt x="146" y="81"/>
                      </a:lnTo>
                      <a:lnTo>
                        <a:pt x="154" y="83"/>
                      </a:lnTo>
                      <a:lnTo>
                        <a:pt x="162" y="83"/>
                      </a:lnTo>
                      <a:lnTo>
                        <a:pt x="169" y="81"/>
                      </a:lnTo>
                      <a:lnTo>
                        <a:pt x="176" y="81"/>
                      </a:lnTo>
                      <a:lnTo>
                        <a:pt x="182" y="83"/>
                      </a:lnTo>
                      <a:lnTo>
                        <a:pt x="188" y="88"/>
                      </a:lnTo>
                      <a:lnTo>
                        <a:pt x="195" y="93"/>
                      </a:lnTo>
                      <a:lnTo>
                        <a:pt x="200" y="98"/>
                      </a:lnTo>
                      <a:lnTo>
                        <a:pt x="205" y="104"/>
                      </a:lnTo>
                      <a:lnTo>
                        <a:pt x="211" y="112"/>
                      </a:lnTo>
                      <a:lnTo>
                        <a:pt x="214" y="117"/>
                      </a:lnTo>
                      <a:lnTo>
                        <a:pt x="220" y="129"/>
                      </a:lnTo>
                      <a:lnTo>
                        <a:pt x="223" y="142"/>
                      </a:lnTo>
                      <a:lnTo>
                        <a:pt x="228" y="155"/>
                      </a:lnTo>
                      <a:lnTo>
                        <a:pt x="223" y="156"/>
                      </a:lnTo>
                      <a:lnTo>
                        <a:pt x="217" y="154"/>
                      </a:lnTo>
                      <a:lnTo>
                        <a:pt x="210" y="152"/>
                      </a:lnTo>
                      <a:lnTo>
                        <a:pt x="205" y="150"/>
                      </a:lnTo>
                      <a:lnTo>
                        <a:pt x="200" y="147"/>
                      </a:lnTo>
                      <a:lnTo>
                        <a:pt x="195" y="143"/>
                      </a:lnTo>
                      <a:lnTo>
                        <a:pt x="189" y="138"/>
                      </a:lnTo>
                      <a:lnTo>
                        <a:pt x="184" y="135"/>
                      </a:lnTo>
                      <a:lnTo>
                        <a:pt x="179" y="133"/>
                      </a:lnTo>
                      <a:lnTo>
                        <a:pt x="171" y="131"/>
                      </a:lnTo>
                      <a:lnTo>
                        <a:pt x="162" y="129"/>
                      </a:lnTo>
                      <a:lnTo>
                        <a:pt x="154" y="126"/>
                      </a:lnTo>
                      <a:lnTo>
                        <a:pt x="146" y="124"/>
                      </a:lnTo>
                      <a:lnTo>
                        <a:pt x="138" y="122"/>
                      </a:lnTo>
                      <a:lnTo>
                        <a:pt x="132" y="121"/>
                      </a:lnTo>
                      <a:lnTo>
                        <a:pt x="128" y="120"/>
                      </a:lnTo>
                      <a:lnTo>
                        <a:pt x="122" y="120"/>
                      </a:lnTo>
                      <a:lnTo>
                        <a:pt x="116" y="121"/>
                      </a:lnTo>
                      <a:lnTo>
                        <a:pt x="112" y="122"/>
                      </a:lnTo>
                      <a:lnTo>
                        <a:pt x="107" y="125"/>
                      </a:lnTo>
                      <a:lnTo>
                        <a:pt x="100" y="129"/>
                      </a:lnTo>
                      <a:lnTo>
                        <a:pt x="105" y="135"/>
                      </a:lnTo>
                      <a:lnTo>
                        <a:pt x="111" y="140"/>
                      </a:lnTo>
                      <a:lnTo>
                        <a:pt x="116" y="147"/>
                      </a:lnTo>
                      <a:lnTo>
                        <a:pt x="122" y="150"/>
                      </a:lnTo>
                      <a:lnTo>
                        <a:pt x="129" y="155"/>
                      </a:lnTo>
                      <a:lnTo>
                        <a:pt x="133" y="158"/>
                      </a:lnTo>
                      <a:lnTo>
                        <a:pt x="139" y="159"/>
                      </a:lnTo>
                      <a:lnTo>
                        <a:pt x="147" y="162"/>
                      </a:lnTo>
                      <a:lnTo>
                        <a:pt x="154" y="165"/>
                      </a:lnTo>
                      <a:lnTo>
                        <a:pt x="161" y="167"/>
                      </a:lnTo>
                      <a:lnTo>
                        <a:pt x="168" y="169"/>
                      </a:lnTo>
                      <a:lnTo>
                        <a:pt x="174" y="170"/>
                      </a:lnTo>
                      <a:lnTo>
                        <a:pt x="181" y="174"/>
                      </a:lnTo>
                      <a:lnTo>
                        <a:pt x="187" y="175"/>
                      </a:lnTo>
                      <a:lnTo>
                        <a:pt x="191" y="179"/>
                      </a:lnTo>
                      <a:lnTo>
                        <a:pt x="197" y="186"/>
                      </a:lnTo>
                      <a:lnTo>
                        <a:pt x="202" y="193"/>
                      </a:lnTo>
                      <a:lnTo>
                        <a:pt x="206" y="202"/>
                      </a:lnTo>
                      <a:lnTo>
                        <a:pt x="212" y="212"/>
                      </a:lnTo>
                      <a:lnTo>
                        <a:pt x="214" y="218"/>
                      </a:lnTo>
                      <a:lnTo>
                        <a:pt x="217" y="229"/>
                      </a:lnTo>
                      <a:lnTo>
                        <a:pt x="219" y="240"/>
                      </a:lnTo>
                      <a:lnTo>
                        <a:pt x="221" y="253"/>
                      </a:lnTo>
                      <a:lnTo>
                        <a:pt x="224" y="262"/>
                      </a:lnTo>
                      <a:lnTo>
                        <a:pt x="219" y="257"/>
                      </a:lnTo>
                      <a:lnTo>
                        <a:pt x="212" y="250"/>
                      </a:lnTo>
                      <a:lnTo>
                        <a:pt x="206" y="245"/>
                      </a:lnTo>
                      <a:lnTo>
                        <a:pt x="200" y="238"/>
                      </a:lnTo>
                      <a:lnTo>
                        <a:pt x="194" y="231"/>
                      </a:lnTo>
                      <a:lnTo>
                        <a:pt x="188" y="226"/>
                      </a:lnTo>
                      <a:lnTo>
                        <a:pt x="182" y="219"/>
                      </a:lnTo>
                      <a:lnTo>
                        <a:pt x="176" y="213"/>
                      </a:lnTo>
                      <a:lnTo>
                        <a:pt x="169" y="206"/>
                      </a:lnTo>
                      <a:lnTo>
                        <a:pt x="163" y="199"/>
                      </a:lnTo>
                      <a:lnTo>
                        <a:pt x="158" y="194"/>
                      </a:lnTo>
                      <a:lnTo>
                        <a:pt x="151" y="187"/>
                      </a:lnTo>
                      <a:lnTo>
                        <a:pt x="145" y="182"/>
                      </a:lnTo>
                      <a:lnTo>
                        <a:pt x="139" y="177"/>
                      </a:lnTo>
                      <a:lnTo>
                        <a:pt x="133" y="172"/>
                      </a:lnTo>
                      <a:lnTo>
                        <a:pt x="129" y="170"/>
                      </a:lnTo>
                      <a:lnTo>
                        <a:pt x="125" y="166"/>
                      </a:lnTo>
                      <a:lnTo>
                        <a:pt x="119" y="162"/>
                      </a:lnTo>
                      <a:lnTo>
                        <a:pt x="115" y="158"/>
                      </a:lnTo>
                      <a:lnTo>
                        <a:pt x="111" y="159"/>
                      </a:lnTo>
                      <a:lnTo>
                        <a:pt x="107" y="162"/>
                      </a:lnTo>
                      <a:lnTo>
                        <a:pt x="103" y="161"/>
                      </a:lnTo>
                      <a:lnTo>
                        <a:pt x="99" y="158"/>
                      </a:lnTo>
                      <a:lnTo>
                        <a:pt x="98" y="170"/>
                      </a:lnTo>
                      <a:lnTo>
                        <a:pt x="97" y="185"/>
                      </a:lnTo>
                      <a:lnTo>
                        <a:pt x="100" y="197"/>
                      </a:lnTo>
                      <a:lnTo>
                        <a:pt x="102" y="211"/>
                      </a:lnTo>
                      <a:lnTo>
                        <a:pt x="107" y="220"/>
                      </a:lnTo>
                      <a:lnTo>
                        <a:pt x="111" y="231"/>
                      </a:lnTo>
                      <a:lnTo>
                        <a:pt x="115" y="245"/>
                      </a:lnTo>
                      <a:lnTo>
                        <a:pt x="119" y="259"/>
                      </a:lnTo>
                      <a:lnTo>
                        <a:pt x="123" y="268"/>
                      </a:lnTo>
                      <a:lnTo>
                        <a:pt x="127" y="278"/>
                      </a:lnTo>
                      <a:lnTo>
                        <a:pt x="131" y="297"/>
                      </a:lnTo>
                      <a:lnTo>
                        <a:pt x="132" y="312"/>
                      </a:lnTo>
                      <a:lnTo>
                        <a:pt x="135" y="331"/>
                      </a:lnTo>
                      <a:lnTo>
                        <a:pt x="138" y="349"/>
                      </a:lnTo>
                      <a:lnTo>
                        <a:pt x="125" y="349"/>
                      </a:lnTo>
                      <a:lnTo>
                        <a:pt x="122" y="349"/>
                      </a:lnTo>
                      <a:lnTo>
                        <a:pt x="114" y="328"/>
                      </a:lnTo>
                      <a:lnTo>
                        <a:pt x="108" y="307"/>
                      </a:lnTo>
                      <a:lnTo>
                        <a:pt x="103" y="290"/>
                      </a:lnTo>
                      <a:lnTo>
                        <a:pt x="100" y="273"/>
                      </a:lnTo>
                      <a:lnTo>
                        <a:pt x="98" y="255"/>
                      </a:lnTo>
                      <a:lnTo>
                        <a:pt x="95" y="236"/>
                      </a:lnTo>
                      <a:lnTo>
                        <a:pt x="90" y="209"/>
                      </a:lnTo>
                      <a:lnTo>
                        <a:pt x="87" y="200"/>
                      </a:lnTo>
                      <a:lnTo>
                        <a:pt x="84" y="184"/>
                      </a:lnTo>
                      <a:lnTo>
                        <a:pt x="81" y="177"/>
                      </a:lnTo>
                      <a:lnTo>
                        <a:pt x="78" y="179"/>
                      </a:lnTo>
                      <a:lnTo>
                        <a:pt x="75" y="181"/>
                      </a:lnTo>
                      <a:lnTo>
                        <a:pt x="74" y="191"/>
                      </a:lnTo>
                      <a:lnTo>
                        <a:pt x="74" y="186"/>
                      </a:lnTo>
                      <a:lnTo>
                        <a:pt x="74" y="192"/>
                      </a:lnTo>
                      <a:lnTo>
                        <a:pt x="73" y="197"/>
                      </a:lnTo>
                      <a:lnTo>
                        <a:pt x="72" y="198"/>
                      </a:lnTo>
                      <a:lnTo>
                        <a:pt x="74" y="197"/>
                      </a:lnTo>
                      <a:lnTo>
                        <a:pt x="73" y="194"/>
                      </a:lnTo>
                      <a:lnTo>
                        <a:pt x="74" y="189"/>
                      </a:lnTo>
                      <a:lnTo>
                        <a:pt x="74" y="186"/>
                      </a:lnTo>
                      <a:lnTo>
                        <a:pt x="74" y="187"/>
                      </a:lnTo>
                      <a:lnTo>
                        <a:pt x="74" y="192"/>
                      </a:lnTo>
                      <a:lnTo>
                        <a:pt x="75" y="197"/>
                      </a:lnTo>
                      <a:lnTo>
                        <a:pt x="73" y="198"/>
                      </a:lnTo>
                      <a:lnTo>
                        <a:pt x="70" y="206"/>
                      </a:lnTo>
                      <a:lnTo>
                        <a:pt x="65" y="218"/>
                      </a:lnTo>
                      <a:lnTo>
                        <a:pt x="61" y="227"/>
                      </a:lnTo>
                      <a:lnTo>
                        <a:pt x="58" y="236"/>
                      </a:lnTo>
                      <a:lnTo>
                        <a:pt x="54" y="248"/>
                      </a:lnTo>
                      <a:lnTo>
                        <a:pt x="51" y="257"/>
                      </a:lnTo>
                      <a:lnTo>
                        <a:pt x="47" y="268"/>
                      </a:lnTo>
                      <a:lnTo>
                        <a:pt x="43" y="280"/>
                      </a:lnTo>
                      <a:lnTo>
                        <a:pt x="40" y="293"/>
                      </a:lnTo>
                      <a:lnTo>
                        <a:pt x="36" y="307"/>
                      </a:lnTo>
                      <a:lnTo>
                        <a:pt x="32" y="322"/>
                      </a:lnTo>
                      <a:lnTo>
                        <a:pt x="29" y="339"/>
                      </a:lnTo>
                      <a:lnTo>
                        <a:pt x="24" y="357"/>
                      </a:lnTo>
                      <a:lnTo>
                        <a:pt x="26" y="335"/>
                      </a:lnTo>
                      <a:lnTo>
                        <a:pt x="27" y="321"/>
                      </a:lnTo>
                      <a:lnTo>
                        <a:pt x="28" y="304"/>
                      </a:lnTo>
                      <a:lnTo>
                        <a:pt x="29" y="295"/>
                      </a:lnTo>
                      <a:lnTo>
                        <a:pt x="31" y="287"/>
                      </a:lnTo>
                      <a:lnTo>
                        <a:pt x="33" y="273"/>
                      </a:lnTo>
                      <a:lnTo>
                        <a:pt x="36" y="260"/>
                      </a:lnTo>
                      <a:lnTo>
                        <a:pt x="38" y="249"/>
                      </a:lnTo>
                      <a:lnTo>
                        <a:pt x="43" y="236"/>
                      </a:lnTo>
                      <a:lnTo>
                        <a:pt x="47" y="224"/>
                      </a:lnTo>
                      <a:lnTo>
                        <a:pt x="52" y="211"/>
                      </a:lnTo>
                      <a:lnTo>
                        <a:pt x="56" y="197"/>
                      </a:lnTo>
                      <a:lnTo>
                        <a:pt x="59" y="189"/>
                      </a:lnTo>
                      <a:lnTo>
                        <a:pt x="63" y="181"/>
                      </a:lnTo>
                      <a:lnTo>
                        <a:pt x="68" y="172"/>
                      </a:lnTo>
                      <a:lnTo>
                        <a:pt x="73" y="164"/>
                      </a:lnTo>
                      <a:lnTo>
                        <a:pt x="77" y="154"/>
                      </a:lnTo>
                      <a:lnTo>
                        <a:pt x="82" y="143"/>
                      </a:lnTo>
                      <a:lnTo>
                        <a:pt x="80" y="139"/>
                      </a:lnTo>
                      <a:lnTo>
                        <a:pt x="76" y="133"/>
                      </a:lnTo>
                      <a:lnTo>
                        <a:pt x="73" y="129"/>
                      </a:lnTo>
                      <a:lnTo>
                        <a:pt x="70" y="132"/>
                      </a:lnTo>
                      <a:lnTo>
                        <a:pt x="65" y="139"/>
                      </a:lnTo>
                      <a:lnTo>
                        <a:pt x="60" y="147"/>
                      </a:lnTo>
                      <a:lnTo>
                        <a:pt x="55" y="154"/>
                      </a:lnTo>
                      <a:lnTo>
                        <a:pt x="51" y="164"/>
                      </a:lnTo>
                      <a:lnTo>
                        <a:pt x="45" y="177"/>
                      </a:lnTo>
                      <a:lnTo>
                        <a:pt x="40" y="189"/>
                      </a:lnTo>
                      <a:lnTo>
                        <a:pt x="36" y="199"/>
                      </a:lnTo>
                      <a:lnTo>
                        <a:pt x="31" y="207"/>
                      </a:lnTo>
                      <a:lnTo>
                        <a:pt x="27" y="218"/>
                      </a:lnTo>
                      <a:lnTo>
                        <a:pt x="22" y="230"/>
                      </a:lnTo>
                      <a:lnTo>
                        <a:pt x="18" y="243"/>
                      </a:lnTo>
                      <a:lnTo>
                        <a:pt x="14" y="255"/>
                      </a:lnTo>
                      <a:lnTo>
                        <a:pt x="9" y="268"/>
                      </a:lnTo>
                      <a:lnTo>
                        <a:pt x="5" y="282"/>
                      </a:lnTo>
                      <a:lnTo>
                        <a:pt x="0" y="298"/>
                      </a:lnTo>
                      <a:lnTo>
                        <a:pt x="2" y="278"/>
                      </a:lnTo>
                      <a:lnTo>
                        <a:pt x="4" y="262"/>
                      </a:lnTo>
                      <a:lnTo>
                        <a:pt x="5" y="248"/>
                      </a:lnTo>
                      <a:lnTo>
                        <a:pt x="6" y="244"/>
                      </a:lnTo>
                      <a:lnTo>
                        <a:pt x="9" y="238"/>
                      </a:lnTo>
                      <a:lnTo>
                        <a:pt x="13" y="229"/>
                      </a:lnTo>
                      <a:lnTo>
                        <a:pt x="17" y="219"/>
                      </a:lnTo>
                      <a:lnTo>
                        <a:pt x="22" y="209"/>
                      </a:lnTo>
                      <a:lnTo>
                        <a:pt x="27" y="199"/>
                      </a:lnTo>
                      <a:lnTo>
                        <a:pt x="33" y="187"/>
                      </a:lnTo>
                      <a:lnTo>
                        <a:pt x="37" y="179"/>
                      </a:lnTo>
                      <a:lnTo>
                        <a:pt x="43" y="170"/>
                      </a:lnTo>
                      <a:lnTo>
                        <a:pt x="49" y="159"/>
                      </a:lnTo>
                      <a:lnTo>
                        <a:pt x="55" y="149"/>
                      </a:lnTo>
                      <a:lnTo>
                        <a:pt x="60" y="142"/>
                      </a:lnTo>
                      <a:lnTo>
                        <a:pt x="70" y="130"/>
                      </a:lnTo>
                      <a:lnTo>
                        <a:pt x="75" y="125"/>
                      </a:lnTo>
                      <a:lnTo>
                        <a:pt x="78" y="123"/>
                      </a:lnTo>
                      <a:lnTo>
                        <a:pt x="73" y="117"/>
                      </a:lnTo>
                      <a:lnTo>
                        <a:pt x="67" y="108"/>
                      </a:lnTo>
                      <a:lnTo>
                        <a:pt x="62" y="99"/>
                      </a:lnTo>
                      <a:lnTo>
                        <a:pt x="57" y="92"/>
                      </a:lnTo>
                      <a:lnTo>
                        <a:pt x="52" y="85"/>
                      </a:lnTo>
                      <a:lnTo>
                        <a:pt x="47" y="78"/>
                      </a:lnTo>
                      <a:lnTo>
                        <a:pt x="43" y="71"/>
                      </a:lnTo>
                      <a:lnTo>
                        <a:pt x="37" y="59"/>
                      </a:lnTo>
                      <a:lnTo>
                        <a:pt x="32" y="48"/>
                      </a:lnTo>
                      <a:lnTo>
                        <a:pt x="26" y="38"/>
                      </a:lnTo>
                      <a:lnTo>
                        <a:pt x="19" y="26"/>
                      </a:lnTo>
                      <a:lnTo>
                        <a:pt x="14" y="19"/>
                      </a:lnTo>
                      <a:lnTo>
                        <a:pt x="11" y="12"/>
                      </a:lnTo>
                      <a:lnTo>
                        <a:pt x="7" y="4"/>
                      </a:lnTo>
                      <a:lnTo>
                        <a:pt x="14" y="5"/>
                      </a:lnTo>
                      <a:lnTo>
                        <a:pt x="27" y="5"/>
                      </a:lnTo>
                      <a:lnTo>
                        <a:pt x="31" y="10"/>
                      </a:lnTo>
                      <a:lnTo>
                        <a:pt x="37" y="22"/>
                      </a:lnTo>
                      <a:lnTo>
                        <a:pt x="43" y="31"/>
                      </a:lnTo>
                    </a:path>
                  </a:pathLst>
                </a:custGeom>
                <a:solidFill>
                  <a:srgbClr val="037C03">
                    <a:alpha val="50195"/>
                  </a:srgbClr>
                </a:solidFill>
                <a:ln w="9525">
                  <a:noFill/>
                </a:ln>
              </p:spPr>
              <p:txBody>
                <a:bodyPr/>
                <a:lstStyle/>
                <a:p>
                  <a:endParaRPr lang="zh-CN" altLang="en-US"/>
                </a:p>
              </p:txBody>
            </p:sp>
            <p:grpSp>
              <p:nvGrpSpPr>
                <p:cNvPr id="89219" name="Group 115"/>
                <p:cNvGrpSpPr/>
                <p:nvPr/>
              </p:nvGrpSpPr>
              <p:grpSpPr>
                <a:xfrm>
                  <a:off x="1985" y="1419"/>
                  <a:ext cx="465" cy="349"/>
                  <a:chOff x="1985" y="1419"/>
                  <a:chExt cx="465" cy="349"/>
                </a:xfrm>
              </p:grpSpPr>
              <p:sp>
                <p:nvSpPr>
                  <p:cNvPr id="89220" name="Freeform 116"/>
                  <p:cNvSpPr/>
                  <p:nvPr/>
                </p:nvSpPr>
                <p:spPr>
                  <a:xfrm>
                    <a:off x="2030" y="1419"/>
                    <a:ext cx="420" cy="326"/>
                  </a:xfrm>
                  <a:custGeom>
                    <a:avLst/>
                    <a:gdLst>
                      <a:gd name="txL" fmla="*/ 0 w 420"/>
                      <a:gd name="txT" fmla="*/ 0 h 326"/>
                      <a:gd name="txR" fmla="*/ 420 w 420"/>
                      <a:gd name="txB" fmla="*/ 326 h 326"/>
                    </a:gdLst>
                    <a:ahLst/>
                    <a:cxnLst>
                      <a:cxn ang="0">
                        <a:pos x="159" y="41"/>
                      </a:cxn>
                      <a:cxn ang="0">
                        <a:pos x="193" y="13"/>
                      </a:cxn>
                      <a:cxn ang="0">
                        <a:pos x="233" y="2"/>
                      </a:cxn>
                      <a:cxn ang="0">
                        <a:pos x="279" y="2"/>
                      </a:cxn>
                      <a:cxn ang="0">
                        <a:pos x="290" y="6"/>
                      </a:cxn>
                      <a:cxn ang="0">
                        <a:pos x="260" y="14"/>
                      </a:cxn>
                      <a:cxn ang="0">
                        <a:pos x="225" y="25"/>
                      </a:cxn>
                      <a:cxn ang="0">
                        <a:pos x="186" y="52"/>
                      </a:cxn>
                      <a:cxn ang="0">
                        <a:pos x="183" y="89"/>
                      </a:cxn>
                      <a:cxn ang="0">
                        <a:pos x="240" y="66"/>
                      </a:cxn>
                      <a:cxn ang="0">
                        <a:pos x="288" y="64"/>
                      </a:cxn>
                      <a:cxn ang="0">
                        <a:pos x="338" y="69"/>
                      </a:cxn>
                      <a:cxn ang="0">
                        <a:pos x="397" y="75"/>
                      </a:cxn>
                      <a:cxn ang="0">
                        <a:pos x="398" y="76"/>
                      </a:cxn>
                      <a:cxn ang="0">
                        <a:pos x="341" y="79"/>
                      </a:cxn>
                      <a:cxn ang="0">
                        <a:pos x="288" y="80"/>
                      </a:cxn>
                      <a:cxn ang="0">
                        <a:pos x="242" y="86"/>
                      </a:cxn>
                      <a:cxn ang="0">
                        <a:pos x="191" y="98"/>
                      </a:cxn>
                      <a:cxn ang="0">
                        <a:pos x="212" y="118"/>
                      </a:cxn>
                      <a:cxn ang="0">
                        <a:pos x="227" y="136"/>
                      </a:cxn>
                      <a:cxn ang="0">
                        <a:pos x="175" y="119"/>
                      </a:cxn>
                      <a:cxn ang="0">
                        <a:pos x="165" y="129"/>
                      </a:cxn>
                      <a:cxn ang="0">
                        <a:pos x="221" y="138"/>
                      </a:cxn>
                      <a:cxn ang="0">
                        <a:pos x="269" y="150"/>
                      </a:cxn>
                      <a:cxn ang="0">
                        <a:pos x="306" y="181"/>
                      </a:cxn>
                      <a:cxn ang="0">
                        <a:pos x="335" y="223"/>
                      </a:cxn>
                      <a:cxn ang="0">
                        <a:pos x="329" y="231"/>
                      </a:cxn>
                      <a:cxn ang="0">
                        <a:pos x="290" y="204"/>
                      </a:cxn>
                      <a:cxn ang="0">
                        <a:pos x="248" y="174"/>
                      </a:cxn>
                      <a:cxn ang="0">
                        <a:pos x="202" y="154"/>
                      </a:cxn>
                      <a:cxn ang="0">
                        <a:pos x="173" y="148"/>
                      </a:cxn>
                      <a:cxn ang="0">
                        <a:pos x="196" y="181"/>
                      </a:cxn>
                      <a:cxn ang="0">
                        <a:pos x="227" y="223"/>
                      </a:cxn>
                      <a:cxn ang="0">
                        <a:pos x="244" y="262"/>
                      </a:cxn>
                      <a:cxn ang="0">
                        <a:pos x="243" y="299"/>
                      </a:cxn>
                      <a:cxn ang="0">
                        <a:pos x="222" y="259"/>
                      </a:cxn>
                      <a:cxn ang="0">
                        <a:pos x="199" y="215"/>
                      </a:cxn>
                      <a:cxn ang="0">
                        <a:pos x="173" y="177"/>
                      </a:cxn>
                      <a:cxn ang="0">
                        <a:pos x="150" y="142"/>
                      </a:cxn>
                      <a:cxn ang="0">
                        <a:pos x="109" y="162"/>
                      </a:cxn>
                      <a:cxn ang="0">
                        <a:pos x="77" y="210"/>
                      </a:cxn>
                      <a:cxn ang="0">
                        <a:pos x="49" y="260"/>
                      </a:cxn>
                      <a:cxn ang="0">
                        <a:pos x="18" y="306"/>
                      </a:cxn>
                      <a:cxn ang="0">
                        <a:pos x="8" y="301"/>
                      </a:cxn>
                      <a:cxn ang="0">
                        <a:pos x="45" y="243"/>
                      </a:cxn>
                      <a:cxn ang="0">
                        <a:pos x="78" y="198"/>
                      </a:cxn>
                      <a:cxn ang="0">
                        <a:pos x="107" y="154"/>
                      </a:cxn>
                      <a:cxn ang="0">
                        <a:pos x="132" y="120"/>
                      </a:cxn>
                      <a:cxn ang="0">
                        <a:pos x="95" y="79"/>
                      </a:cxn>
                      <a:cxn ang="0">
                        <a:pos x="42" y="57"/>
                      </a:cxn>
                      <a:cxn ang="0">
                        <a:pos x="19" y="45"/>
                      </a:cxn>
                      <a:cxn ang="0">
                        <a:pos x="60" y="58"/>
                      </a:cxn>
                      <a:cxn ang="0">
                        <a:pos x="116" y="86"/>
                      </a:cxn>
                    </a:cxnLst>
                    <a:rect l="txL" t="txT" r="txR" b="txB"/>
                    <a:pathLst>
                      <a:path w="420" h="326">
                        <a:moveTo>
                          <a:pt x="132" y="83"/>
                        </a:moveTo>
                        <a:lnTo>
                          <a:pt x="135" y="74"/>
                        </a:lnTo>
                        <a:lnTo>
                          <a:pt x="140" y="65"/>
                        </a:lnTo>
                        <a:lnTo>
                          <a:pt x="146" y="57"/>
                        </a:lnTo>
                        <a:lnTo>
                          <a:pt x="152" y="48"/>
                        </a:lnTo>
                        <a:lnTo>
                          <a:pt x="159" y="41"/>
                        </a:lnTo>
                        <a:lnTo>
                          <a:pt x="164" y="34"/>
                        </a:lnTo>
                        <a:lnTo>
                          <a:pt x="170" y="29"/>
                        </a:lnTo>
                        <a:lnTo>
                          <a:pt x="176" y="25"/>
                        </a:lnTo>
                        <a:lnTo>
                          <a:pt x="181" y="20"/>
                        </a:lnTo>
                        <a:lnTo>
                          <a:pt x="187" y="17"/>
                        </a:lnTo>
                        <a:lnTo>
                          <a:pt x="193" y="13"/>
                        </a:lnTo>
                        <a:lnTo>
                          <a:pt x="199" y="10"/>
                        </a:lnTo>
                        <a:lnTo>
                          <a:pt x="204" y="8"/>
                        </a:lnTo>
                        <a:lnTo>
                          <a:pt x="212" y="6"/>
                        </a:lnTo>
                        <a:lnTo>
                          <a:pt x="220" y="5"/>
                        </a:lnTo>
                        <a:lnTo>
                          <a:pt x="226" y="3"/>
                        </a:lnTo>
                        <a:lnTo>
                          <a:pt x="233" y="2"/>
                        </a:lnTo>
                        <a:lnTo>
                          <a:pt x="241" y="2"/>
                        </a:lnTo>
                        <a:lnTo>
                          <a:pt x="248" y="1"/>
                        </a:lnTo>
                        <a:lnTo>
                          <a:pt x="258" y="1"/>
                        </a:lnTo>
                        <a:lnTo>
                          <a:pt x="265" y="1"/>
                        </a:lnTo>
                        <a:lnTo>
                          <a:pt x="272" y="2"/>
                        </a:lnTo>
                        <a:lnTo>
                          <a:pt x="279" y="2"/>
                        </a:lnTo>
                        <a:lnTo>
                          <a:pt x="285" y="1"/>
                        </a:lnTo>
                        <a:lnTo>
                          <a:pt x="293" y="1"/>
                        </a:lnTo>
                        <a:lnTo>
                          <a:pt x="300" y="0"/>
                        </a:lnTo>
                        <a:lnTo>
                          <a:pt x="296" y="2"/>
                        </a:lnTo>
                        <a:lnTo>
                          <a:pt x="293" y="3"/>
                        </a:lnTo>
                        <a:lnTo>
                          <a:pt x="290" y="6"/>
                        </a:lnTo>
                        <a:lnTo>
                          <a:pt x="287" y="10"/>
                        </a:lnTo>
                        <a:lnTo>
                          <a:pt x="281" y="10"/>
                        </a:lnTo>
                        <a:lnTo>
                          <a:pt x="275" y="10"/>
                        </a:lnTo>
                        <a:lnTo>
                          <a:pt x="270" y="11"/>
                        </a:lnTo>
                        <a:lnTo>
                          <a:pt x="265" y="12"/>
                        </a:lnTo>
                        <a:lnTo>
                          <a:pt x="260" y="14"/>
                        </a:lnTo>
                        <a:lnTo>
                          <a:pt x="254" y="15"/>
                        </a:lnTo>
                        <a:lnTo>
                          <a:pt x="248" y="17"/>
                        </a:lnTo>
                        <a:lnTo>
                          <a:pt x="242" y="19"/>
                        </a:lnTo>
                        <a:lnTo>
                          <a:pt x="236" y="20"/>
                        </a:lnTo>
                        <a:lnTo>
                          <a:pt x="231" y="22"/>
                        </a:lnTo>
                        <a:lnTo>
                          <a:pt x="225" y="25"/>
                        </a:lnTo>
                        <a:lnTo>
                          <a:pt x="218" y="28"/>
                        </a:lnTo>
                        <a:lnTo>
                          <a:pt x="212" y="31"/>
                        </a:lnTo>
                        <a:lnTo>
                          <a:pt x="205" y="35"/>
                        </a:lnTo>
                        <a:lnTo>
                          <a:pt x="199" y="39"/>
                        </a:lnTo>
                        <a:lnTo>
                          <a:pt x="192" y="45"/>
                        </a:lnTo>
                        <a:lnTo>
                          <a:pt x="186" y="52"/>
                        </a:lnTo>
                        <a:lnTo>
                          <a:pt x="180" y="61"/>
                        </a:lnTo>
                        <a:lnTo>
                          <a:pt x="173" y="73"/>
                        </a:lnTo>
                        <a:lnTo>
                          <a:pt x="167" y="86"/>
                        </a:lnTo>
                        <a:lnTo>
                          <a:pt x="159" y="101"/>
                        </a:lnTo>
                        <a:lnTo>
                          <a:pt x="172" y="95"/>
                        </a:lnTo>
                        <a:lnTo>
                          <a:pt x="183" y="89"/>
                        </a:lnTo>
                        <a:lnTo>
                          <a:pt x="197" y="82"/>
                        </a:lnTo>
                        <a:lnTo>
                          <a:pt x="212" y="75"/>
                        </a:lnTo>
                        <a:lnTo>
                          <a:pt x="218" y="73"/>
                        </a:lnTo>
                        <a:lnTo>
                          <a:pt x="225" y="70"/>
                        </a:lnTo>
                        <a:lnTo>
                          <a:pt x="232" y="69"/>
                        </a:lnTo>
                        <a:lnTo>
                          <a:pt x="240" y="66"/>
                        </a:lnTo>
                        <a:lnTo>
                          <a:pt x="249" y="65"/>
                        </a:lnTo>
                        <a:lnTo>
                          <a:pt x="256" y="64"/>
                        </a:lnTo>
                        <a:lnTo>
                          <a:pt x="263" y="64"/>
                        </a:lnTo>
                        <a:lnTo>
                          <a:pt x="272" y="63"/>
                        </a:lnTo>
                        <a:lnTo>
                          <a:pt x="281" y="64"/>
                        </a:lnTo>
                        <a:lnTo>
                          <a:pt x="288" y="64"/>
                        </a:lnTo>
                        <a:lnTo>
                          <a:pt x="297" y="65"/>
                        </a:lnTo>
                        <a:lnTo>
                          <a:pt x="305" y="65"/>
                        </a:lnTo>
                        <a:lnTo>
                          <a:pt x="313" y="66"/>
                        </a:lnTo>
                        <a:lnTo>
                          <a:pt x="321" y="67"/>
                        </a:lnTo>
                        <a:lnTo>
                          <a:pt x="329" y="68"/>
                        </a:lnTo>
                        <a:lnTo>
                          <a:pt x="338" y="69"/>
                        </a:lnTo>
                        <a:lnTo>
                          <a:pt x="346" y="69"/>
                        </a:lnTo>
                        <a:lnTo>
                          <a:pt x="354" y="70"/>
                        </a:lnTo>
                        <a:lnTo>
                          <a:pt x="364" y="71"/>
                        </a:lnTo>
                        <a:lnTo>
                          <a:pt x="374" y="72"/>
                        </a:lnTo>
                        <a:lnTo>
                          <a:pt x="383" y="74"/>
                        </a:lnTo>
                        <a:lnTo>
                          <a:pt x="397" y="75"/>
                        </a:lnTo>
                        <a:lnTo>
                          <a:pt x="402" y="75"/>
                        </a:lnTo>
                        <a:lnTo>
                          <a:pt x="406" y="75"/>
                        </a:lnTo>
                        <a:lnTo>
                          <a:pt x="411" y="77"/>
                        </a:lnTo>
                        <a:lnTo>
                          <a:pt x="419" y="80"/>
                        </a:lnTo>
                        <a:lnTo>
                          <a:pt x="404" y="77"/>
                        </a:lnTo>
                        <a:lnTo>
                          <a:pt x="398" y="76"/>
                        </a:lnTo>
                        <a:lnTo>
                          <a:pt x="392" y="76"/>
                        </a:lnTo>
                        <a:lnTo>
                          <a:pt x="379" y="77"/>
                        </a:lnTo>
                        <a:lnTo>
                          <a:pt x="370" y="78"/>
                        </a:lnTo>
                        <a:lnTo>
                          <a:pt x="360" y="78"/>
                        </a:lnTo>
                        <a:lnTo>
                          <a:pt x="350" y="78"/>
                        </a:lnTo>
                        <a:lnTo>
                          <a:pt x="341" y="79"/>
                        </a:lnTo>
                        <a:lnTo>
                          <a:pt x="332" y="79"/>
                        </a:lnTo>
                        <a:lnTo>
                          <a:pt x="325" y="78"/>
                        </a:lnTo>
                        <a:lnTo>
                          <a:pt x="315" y="78"/>
                        </a:lnTo>
                        <a:lnTo>
                          <a:pt x="305" y="78"/>
                        </a:lnTo>
                        <a:lnTo>
                          <a:pt x="296" y="79"/>
                        </a:lnTo>
                        <a:lnTo>
                          <a:pt x="288" y="80"/>
                        </a:lnTo>
                        <a:lnTo>
                          <a:pt x="279" y="80"/>
                        </a:lnTo>
                        <a:lnTo>
                          <a:pt x="272" y="80"/>
                        </a:lnTo>
                        <a:lnTo>
                          <a:pt x="264" y="81"/>
                        </a:lnTo>
                        <a:lnTo>
                          <a:pt x="256" y="83"/>
                        </a:lnTo>
                        <a:lnTo>
                          <a:pt x="249" y="84"/>
                        </a:lnTo>
                        <a:lnTo>
                          <a:pt x="242" y="86"/>
                        </a:lnTo>
                        <a:lnTo>
                          <a:pt x="235" y="87"/>
                        </a:lnTo>
                        <a:lnTo>
                          <a:pt x="227" y="89"/>
                        </a:lnTo>
                        <a:lnTo>
                          <a:pt x="219" y="92"/>
                        </a:lnTo>
                        <a:lnTo>
                          <a:pt x="212" y="93"/>
                        </a:lnTo>
                        <a:lnTo>
                          <a:pt x="199" y="97"/>
                        </a:lnTo>
                        <a:lnTo>
                          <a:pt x="191" y="98"/>
                        </a:lnTo>
                        <a:lnTo>
                          <a:pt x="180" y="104"/>
                        </a:lnTo>
                        <a:lnTo>
                          <a:pt x="164" y="109"/>
                        </a:lnTo>
                        <a:lnTo>
                          <a:pt x="180" y="111"/>
                        </a:lnTo>
                        <a:lnTo>
                          <a:pt x="199" y="112"/>
                        </a:lnTo>
                        <a:lnTo>
                          <a:pt x="203" y="113"/>
                        </a:lnTo>
                        <a:lnTo>
                          <a:pt x="212" y="118"/>
                        </a:lnTo>
                        <a:lnTo>
                          <a:pt x="217" y="120"/>
                        </a:lnTo>
                        <a:lnTo>
                          <a:pt x="223" y="123"/>
                        </a:lnTo>
                        <a:lnTo>
                          <a:pt x="224" y="125"/>
                        </a:lnTo>
                        <a:lnTo>
                          <a:pt x="227" y="130"/>
                        </a:lnTo>
                        <a:lnTo>
                          <a:pt x="233" y="140"/>
                        </a:lnTo>
                        <a:lnTo>
                          <a:pt x="227" y="136"/>
                        </a:lnTo>
                        <a:lnTo>
                          <a:pt x="219" y="131"/>
                        </a:lnTo>
                        <a:lnTo>
                          <a:pt x="212" y="129"/>
                        </a:lnTo>
                        <a:lnTo>
                          <a:pt x="199" y="125"/>
                        </a:lnTo>
                        <a:lnTo>
                          <a:pt x="190" y="123"/>
                        </a:lnTo>
                        <a:lnTo>
                          <a:pt x="180" y="120"/>
                        </a:lnTo>
                        <a:lnTo>
                          <a:pt x="175" y="119"/>
                        </a:lnTo>
                        <a:lnTo>
                          <a:pt x="165" y="120"/>
                        </a:lnTo>
                        <a:lnTo>
                          <a:pt x="158" y="122"/>
                        </a:lnTo>
                        <a:lnTo>
                          <a:pt x="148" y="123"/>
                        </a:lnTo>
                        <a:lnTo>
                          <a:pt x="153" y="125"/>
                        </a:lnTo>
                        <a:lnTo>
                          <a:pt x="158" y="127"/>
                        </a:lnTo>
                        <a:lnTo>
                          <a:pt x="165" y="129"/>
                        </a:lnTo>
                        <a:lnTo>
                          <a:pt x="173" y="129"/>
                        </a:lnTo>
                        <a:lnTo>
                          <a:pt x="186" y="129"/>
                        </a:lnTo>
                        <a:lnTo>
                          <a:pt x="194" y="131"/>
                        </a:lnTo>
                        <a:lnTo>
                          <a:pt x="204" y="133"/>
                        </a:lnTo>
                        <a:lnTo>
                          <a:pt x="212" y="136"/>
                        </a:lnTo>
                        <a:lnTo>
                          <a:pt x="221" y="138"/>
                        </a:lnTo>
                        <a:lnTo>
                          <a:pt x="231" y="141"/>
                        </a:lnTo>
                        <a:lnTo>
                          <a:pt x="240" y="143"/>
                        </a:lnTo>
                        <a:lnTo>
                          <a:pt x="248" y="145"/>
                        </a:lnTo>
                        <a:lnTo>
                          <a:pt x="254" y="146"/>
                        </a:lnTo>
                        <a:lnTo>
                          <a:pt x="261" y="148"/>
                        </a:lnTo>
                        <a:lnTo>
                          <a:pt x="269" y="150"/>
                        </a:lnTo>
                        <a:lnTo>
                          <a:pt x="277" y="154"/>
                        </a:lnTo>
                        <a:lnTo>
                          <a:pt x="285" y="158"/>
                        </a:lnTo>
                        <a:lnTo>
                          <a:pt x="289" y="160"/>
                        </a:lnTo>
                        <a:lnTo>
                          <a:pt x="295" y="167"/>
                        </a:lnTo>
                        <a:lnTo>
                          <a:pt x="302" y="174"/>
                        </a:lnTo>
                        <a:lnTo>
                          <a:pt x="306" y="181"/>
                        </a:lnTo>
                        <a:lnTo>
                          <a:pt x="311" y="188"/>
                        </a:lnTo>
                        <a:lnTo>
                          <a:pt x="316" y="195"/>
                        </a:lnTo>
                        <a:lnTo>
                          <a:pt x="320" y="202"/>
                        </a:lnTo>
                        <a:lnTo>
                          <a:pt x="325" y="208"/>
                        </a:lnTo>
                        <a:lnTo>
                          <a:pt x="329" y="215"/>
                        </a:lnTo>
                        <a:lnTo>
                          <a:pt x="335" y="223"/>
                        </a:lnTo>
                        <a:lnTo>
                          <a:pt x="339" y="232"/>
                        </a:lnTo>
                        <a:lnTo>
                          <a:pt x="345" y="238"/>
                        </a:lnTo>
                        <a:lnTo>
                          <a:pt x="351" y="246"/>
                        </a:lnTo>
                        <a:lnTo>
                          <a:pt x="343" y="240"/>
                        </a:lnTo>
                        <a:lnTo>
                          <a:pt x="337" y="236"/>
                        </a:lnTo>
                        <a:lnTo>
                          <a:pt x="329" y="231"/>
                        </a:lnTo>
                        <a:lnTo>
                          <a:pt x="321" y="225"/>
                        </a:lnTo>
                        <a:lnTo>
                          <a:pt x="315" y="220"/>
                        </a:lnTo>
                        <a:lnTo>
                          <a:pt x="309" y="215"/>
                        </a:lnTo>
                        <a:lnTo>
                          <a:pt x="303" y="212"/>
                        </a:lnTo>
                        <a:lnTo>
                          <a:pt x="297" y="208"/>
                        </a:lnTo>
                        <a:lnTo>
                          <a:pt x="290" y="204"/>
                        </a:lnTo>
                        <a:lnTo>
                          <a:pt x="284" y="200"/>
                        </a:lnTo>
                        <a:lnTo>
                          <a:pt x="278" y="196"/>
                        </a:lnTo>
                        <a:lnTo>
                          <a:pt x="271" y="191"/>
                        </a:lnTo>
                        <a:lnTo>
                          <a:pt x="263" y="186"/>
                        </a:lnTo>
                        <a:lnTo>
                          <a:pt x="255" y="179"/>
                        </a:lnTo>
                        <a:lnTo>
                          <a:pt x="248" y="174"/>
                        </a:lnTo>
                        <a:lnTo>
                          <a:pt x="241" y="170"/>
                        </a:lnTo>
                        <a:lnTo>
                          <a:pt x="234" y="166"/>
                        </a:lnTo>
                        <a:lnTo>
                          <a:pt x="226" y="162"/>
                        </a:lnTo>
                        <a:lnTo>
                          <a:pt x="219" y="159"/>
                        </a:lnTo>
                        <a:lnTo>
                          <a:pt x="212" y="157"/>
                        </a:lnTo>
                        <a:lnTo>
                          <a:pt x="202" y="154"/>
                        </a:lnTo>
                        <a:lnTo>
                          <a:pt x="192" y="151"/>
                        </a:lnTo>
                        <a:lnTo>
                          <a:pt x="185" y="150"/>
                        </a:lnTo>
                        <a:lnTo>
                          <a:pt x="178" y="147"/>
                        </a:lnTo>
                        <a:lnTo>
                          <a:pt x="167" y="142"/>
                        </a:lnTo>
                        <a:lnTo>
                          <a:pt x="156" y="137"/>
                        </a:lnTo>
                        <a:lnTo>
                          <a:pt x="173" y="148"/>
                        </a:lnTo>
                        <a:lnTo>
                          <a:pt x="174" y="150"/>
                        </a:lnTo>
                        <a:lnTo>
                          <a:pt x="178" y="155"/>
                        </a:lnTo>
                        <a:lnTo>
                          <a:pt x="182" y="160"/>
                        </a:lnTo>
                        <a:lnTo>
                          <a:pt x="187" y="167"/>
                        </a:lnTo>
                        <a:lnTo>
                          <a:pt x="192" y="173"/>
                        </a:lnTo>
                        <a:lnTo>
                          <a:pt x="196" y="181"/>
                        </a:lnTo>
                        <a:lnTo>
                          <a:pt x="202" y="188"/>
                        </a:lnTo>
                        <a:lnTo>
                          <a:pt x="207" y="194"/>
                        </a:lnTo>
                        <a:lnTo>
                          <a:pt x="212" y="200"/>
                        </a:lnTo>
                        <a:lnTo>
                          <a:pt x="216" y="207"/>
                        </a:lnTo>
                        <a:lnTo>
                          <a:pt x="223" y="216"/>
                        </a:lnTo>
                        <a:lnTo>
                          <a:pt x="227" y="223"/>
                        </a:lnTo>
                        <a:lnTo>
                          <a:pt x="231" y="229"/>
                        </a:lnTo>
                        <a:lnTo>
                          <a:pt x="235" y="236"/>
                        </a:lnTo>
                        <a:lnTo>
                          <a:pt x="238" y="243"/>
                        </a:lnTo>
                        <a:lnTo>
                          <a:pt x="241" y="250"/>
                        </a:lnTo>
                        <a:lnTo>
                          <a:pt x="243" y="255"/>
                        </a:lnTo>
                        <a:lnTo>
                          <a:pt x="244" y="262"/>
                        </a:lnTo>
                        <a:lnTo>
                          <a:pt x="245" y="272"/>
                        </a:lnTo>
                        <a:lnTo>
                          <a:pt x="246" y="281"/>
                        </a:lnTo>
                        <a:lnTo>
                          <a:pt x="247" y="290"/>
                        </a:lnTo>
                        <a:lnTo>
                          <a:pt x="249" y="299"/>
                        </a:lnTo>
                        <a:lnTo>
                          <a:pt x="250" y="308"/>
                        </a:lnTo>
                        <a:lnTo>
                          <a:pt x="243" y="299"/>
                        </a:lnTo>
                        <a:lnTo>
                          <a:pt x="238" y="292"/>
                        </a:lnTo>
                        <a:lnTo>
                          <a:pt x="233" y="286"/>
                        </a:lnTo>
                        <a:lnTo>
                          <a:pt x="231" y="281"/>
                        </a:lnTo>
                        <a:lnTo>
                          <a:pt x="227" y="274"/>
                        </a:lnTo>
                        <a:lnTo>
                          <a:pt x="225" y="267"/>
                        </a:lnTo>
                        <a:lnTo>
                          <a:pt x="222" y="259"/>
                        </a:lnTo>
                        <a:lnTo>
                          <a:pt x="218" y="251"/>
                        </a:lnTo>
                        <a:lnTo>
                          <a:pt x="214" y="242"/>
                        </a:lnTo>
                        <a:lnTo>
                          <a:pt x="211" y="235"/>
                        </a:lnTo>
                        <a:lnTo>
                          <a:pt x="207" y="227"/>
                        </a:lnTo>
                        <a:lnTo>
                          <a:pt x="202" y="220"/>
                        </a:lnTo>
                        <a:lnTo>
                          <a:pt x="199" y="215"/>
                        </a:lnTo>
                        <a:lnTo>
                          <a:pt x="193" y="208"/>
                        </a:lnTo>
                        <a:lnTo>
                          <a:pt x="187" y="201"/>
                        </a:lnTo>
                        <a:lnTo>
                          <a:pt x="182" y="196"/>
                        </a:lnTo>
                        <a:lnTo>
                          <a:pt x="177" y="190"/>
                        </a:lnTo>
                        <a:lnTo>
                          <a:pt x="176" y="184"/>
                        </a:lnTo>
                        <a:lnTo>
                          <a:pt x="173" y="177"/>
                        </a:lnTo>
                        <a:lnTo>
                          <a:pt x="169" y="170"/>
                        </a:lnTo>
                        <a:lnTo>
                          <a:pt x="166" y="163"/>
                        </a:lnTo>
                        <a:lnTo>
                          <a:pt x="164" y="161"/>
                        </a:lnTo>
                        <a:lnTo>
                          <a:pt x="158" y="154"/>
                        </a:lnTo>
                        <a:lnTo>
                          <a:pt x="154" y="148"/>
                        </a:lnTo>
                        <a:lnTo>
                          <a:pt x="150" y="142"/>
                        </a:lnTo>
                        <a:lnTo>
                          <a:pt x="145" y="136"/>
                        </a:lnTo>
                        <a:lnTo>
                          <a:pt x="138" y="140"/>
                        </a:lnTo>
                        <a:lnTo>
                          <a:pt x="131" y="144"/>
                        </a:lnTo>
                        <a:lnTo>
                          <a:pt x="123" y="151"/>
                        </a:lnTo>
                        <a:lnTo>
                          <a:pt x="115" y="156"/>
                        </a:lnTo>
                        <a:lnTo>
                          <a:pt x="109" y="162"/>
                        </a:lnTo>
                        <a:lnTo>
                          <a:pt x="105" y="168"/>
                        </a:lnTo>
                        <a:lnTo>
                          <a:pt x="99" y="176"/>
                        </a:lnTo>
                        <a:lnTo>
                          <a:pt x="93" y="186"/>
                        </a:lnTo>
                        <a:lnTo>
                          <a:pt x="87" y="193"/>
                        </a:lnTo>
                        <a:lnTo>
                          <a:pt x="81" y="202"/>
                        </a:lnTo>
                        <a:lnTo>
                          <a:pt x="77" y="210"/>
                        </a:lnTo>
                        <a:lnTo>
                          <a:pt x="72" y="218"/>
                        </a:lnTo>
                        <a:lnTo>
                          <a:pt x="67" y="226"/>
                        </a:lnTo>
                        <a:lnTo>
                          <a:pt x="64" y="233"/>
                        </a:lnTo>
                        <a:lnTo>
                          <a:pt x="59" y="242"/>
                        </a:lnTo>
                        <a:lnTo>
                          <a:pt x="55" y="250"/>
                        </a:lnTo>
                        <a:lnTo>
                          <a:pt x="49" y="260"/>
                        </a:lnTo>
                        <a:lnTo>
                          <a:pt x="43" y="269"/>
                        </a:lnTo>
                        <a:lnTo>
                          <a:pt x="37" y="280"/>
                        </a:lnTo>
                        <a:lnTo>
                          <a:pt x="31" y="289"/>
                        </a:lnTo>
                        <a:lnTo>
                          <a:pt x="27" y="294"/>
                        </a:lnTo>
                        <a:lnTo>
                          <a:pt x="22" y="300"/>
                        </a:lnTo>
                        <a:lnTo>
                          <a:pt x="18" y="306"/>
                        </a:lnTo>
                        <a:lnTo>
                          <a:pt x="12" y="312"/>
                        </a:lnTo>
                        <a:lnTo>
                          <a:pt x="7" y="317"/>
                        </a:lnTo>
                        <a:lnTo>
                          <a:pt x="0" y="325"/>
                        </a:lnTo>
                        <a:lnTo>
                          <a:pt x="2" y="316"/>
                        </a:lnTo>
                        <a:lnTo>
                          <a:pt x="4" y="309"/>
                        </a:lnTo>
                        <a:lnTo>
                          <a:pt x="8" y="301"/>
                        </a:lnTo>
                        <a:lnTo>
                          <a:pt x="12" y="294"/>
                        </a:lnTo>
                        <a:lnTo>
                          <a:pt x="19" y="284"/>
                        </a:lnTo>
                        <a:lnTo>
                          <a:pt x="26" y="274"/>
                        </a:lnTo>
                        <a:lnTo>
                          <a:pt x="33" y="262"/>
                        </a:lnTo>
                        <a:lnTo>
                          <a:pt x="39" y="253"/>
                        </a:lnTo>
                        <a:lnTo>
                          <a:pt x="45" y="243"/>
                        </a:lnTo>
                        <a:lnTo>
                          <a:pt x="51" y="235"/>
                        </a:lnTo>
                        <a:lnTo>
                          <a:pt x="56" y="227"/>
                        </a:lnTo>
                        <a:lnTo>
                          <a:pt x="61" y="220"/>
                        </a:lnTo>
                        <a:lnTo>
                          <a:pt x="66" y="214"/>
                        </a:lnTo>
                        <a:lnTo>
                          <a:pt x="72" y="206"/>
                        </a:lnTo>
                        <a:lnTo>
                          <a:pt x="78" y="198"/>
                        </a:lnTo>
                        <a:lnTo>
                          <a:pt x="84" y="190"/>
                        </a:lnTo>
                        <a:lnTo>
                          <a:pt x="90" y="181"/>
                        </a:lnTo>
                        <a:lnTo>
                          <a:pt x="95" y="174"/>
                        </a:lnTo>
                        <a:lnTo>
                          <a:pt x="101" y="166"/>
                        </a:lnTo>
                        <a:lnTo>
                          <a:pt x="104" y="160"/>
                        </a:lnTo>
                        <a:lnTo>
                          <a:pt x="107" y="154"/>
                        </a:lnTo>
                        <a:lnTo>
                          <a:pt x="109" y="149"/>
                        </a:lnTo>
                        <a:lnTo>
                          <a:pt x="112" y="143"/>
                        </a:lnTo>
                        <a:lnTo>
                          <a:pt x="116" y="138"/>
                        </a:lnTo>
                        <a:lnTo>
                          <a:pt x="122" y="131"/>
                        </a:lnTo>
                        <a:lnTo>
                          <a:pt x="128" y="125"/>
                        </a:lnTo>
                        <a:lnTo>
                          <a:pt x="132" y="120"/>
                        </a:lnTo>
                        <a:lnTo>
                          <a:pt x="137" y="114"/>
                        </a:lnTo>
                        <a:lnTo>
                          <a:pt x="135" y="109"/>
                        </a:lnTo>
                        <a:lnTo>
                          <a:pt x="133" y="101"/>
                        </a:lnTo>
                        <a:lnTo>
                          <a:pt x="121" y="97"/>
                        </a:lnTo>
                        <a:lnTo>
                          <a:pt x="108" y="88"/>
                        </a:lnTo>
                        <a:lnTo>
                          <a:pt x="95" y="79"/>
                        </a:lnTo>
                        <a:lnTo>
                          <a:pt x="87" y="74"/>
                        </a:lnTo>
                        <a:lnTo>
                          <a:pt x="81" y="71"/>
                        </a:lnTo>
                        <a:lnTo>
                          <a:pt x="71" y="66"/>
                        </a:lnTo>
                        <a:lnTo>
                          <a:pt x="61" y="63"/>
                        </a:lnTo>
                        <a:lnTo>
                          <a:pt x="50" y="60"/>
                        </a:lnTo>
                        <a:lnTo>
                          <a:pt x="42" y="57"/>
                        </a:lnTo>
                        <a:lnTo>
                          <a:pt x="32" y="53"/>
                        </a:lnTo>
                        <a:lnTo>
                          <a:pt x="23" y="51"/>
                        </a:lnTo>
                        <a:lnTo>
                          <a:pt x="14" y="49"/>
                        </a:lnTo>
                        <a:lnTo>
                          <a:pt x="7" y="47"/>
                        </a:lnTo>
                        <a:lnTo>
                          <a:pt x="14" y="46"/>
                        </a:lnTo>
                        <a:lnTo>
                          <a:pt x="19" y="45"/>
                        </a:lnTo>
                        <a:lnTo>
                          <a:pt x="23" y="44"/>
                        </a:lnTo>
                        <a:lnTo>
                          <a:pt x="28" y="44"/>
                        </a:lnTo>
                        <a:lnTo>
                          <a:pt x="33" y="44"/>
                        </a:lnTo>
                        <a:lnTo>
                          <a:pt x="43" y="49"/>
                        </a:lnTo>
                        <a:lnTo>
                          <a:pt x="51" y="53"/>
                        </a:lnTo>
                        <a:lnTo>
                          <a:pt x="60" y="58"/>
                        </a:lnTo>
                        <a:lnTo>
                          <a:pt x="69" y="63"/>
                        </a:lnTo>
                        <a:lnTo>
                          <a:pt x="79" y="68"/>
                        </a:lnTo>
                        <a:lnTo>
                          <a:pt x="89" y="74"/>
                        </a:lnTo>
                        <a:lnTo>
                          <a:pt x="96" y="77"/>
                        </a:lnTo>
                        <a:lnTo>
                          <a:pt x="109" y="84"/>
                        </a:lnTo>
                        <a:lnTo>
                          <a:pt x="116" y="86"/>
                        </a:lnTo>
                        <a:lnTo>
                          <a:pt x="122" y="85"/>
                        </a:lnTo>
                        <a:lnTo>
                          <a:pt x="127" y="84"/>
                        </a:lnTo>
                        <a:lnTo>
                          <a:pt x="132" y="83"/>
                        </a:lnTo>
                      </a:path>
                    </a:pathLst>
                  </a:custGeom>
                  <a:solidFill>
                    <a:srgbClr val="037C03">
                      <a:alpha val="50195"/>
                    </a:srgbClr>
                  </a:solidFill>
                  <a:ln w="9525">
                    <a:noFill/>
                  </a:ln>
                </p:spPr>
                <p:txBody>
                  <a:bodyPr/>
                  <a:lstStyle/>
                  <a:p>
                    <a:endParaRPr lang="zh-CN" altLang="en-US"/>
                  </a:p>
                </p:txBody>
              </p:sp>
              <p:sp>
                <p:nvSpPr>
                  <p:cNvPr id="89221" name="Freeform 117"/>
                  <p:cNvSpPr/>
                  <p:nvPr/>
                </p:nvSpPr>
                <p:spPr>
                  <a:xfrm>
                    <a:off x="2175" y="1587"/>
                    <a:ext cx="38" cy="181"/>
                  </a:xfrm>
                  <a:custGeom>
                    <a:avLst/>
                    <a:gdLst>
                      <a:gd name="txL" fmla="*/ 0 w 38"/>
                      <a:gd name="txT" fmla="*/ 0 h 181"/>
                      <a:gd name="txR" fmla="*/ 38 w 38"/>
                      <a:gd name="txB" fmla="*/ 181 h 181"/>
                    </a:gdLst>
                    <a:ahLst/>
                    <a:cxnLst>
                      <a:cxn ang="0">
                        <a:pos x="20" y="0"/>
                      </a:cxn>
                      <a:cxn ang="0">
                        <a:pos x="24" y="8"/>
                      </a:cxn>
                      <a:cxn ang="0">
                        <a:pos x="27" y="14"/>
                      </a:cxn>
                      <a:cxn ang="0">
                        <a:pos x="33" y="22"/>
                      </a:cxn>
                      <a:cxn ang="0">
                        <a:pos x="35" y="30"/>
                      </a:cxn>
                      <a:cxn ang="0">
                        <a:pos x="36" y="41"/>
                      </a:cxn>
                      <a:cxn ang="0">
                        <a:pos x="36" y="53"/>
                      </a:cxn>
                      <a:cxn ang="0">
                        <a:pos x="37" y="61"/>
                      </a:cxn>
                      <a:cxn ang="0">
                        <a:pos x="36" y="70"/>
                      </a:cxn>
                      <a:cxn ang="0">
                        <a:pos x="35" y="81"/>
                      </a:cxn>
                      <a:cxn ang="0">
                        <a:pos x="33" y="91"/>
                      </a:cxn>
                      <a:cxn ang="0">
                        <a:pos x="30" y="106"/>
                      </a:cxn>
                      <a:cxn ang="0">
                        <a:pos x="28" y="114"/>
                      </a:cxn>
                      <a:cxn ang="0">
                        <a:pos x="23" y="124"/>
                      </a:cxn>
                      <a:cxn ang="0">
                        <a:pos x="17" y="135"/>
                      </a:cxn>
                      <a:cxn ang="0">
                        <a:pos x="12" y="145"/>
                      </a:cxn>
                      <a:cxn ang="0">
                        <a:pos x="7" y="155"/>
                      </a:cxn>
                      <a:cxn ang="0">
                        <a:pos x="3" y="163"/>
                      </a:cxn>
                      <a:cxn ang="0">
                        <a:pos x="0" y="180"/>
                      </a:cxn>
                      <a:cxn ang="0">
                        <a:pos x="1" y="163"/>
                      </a:cxn>
                      <a:cxn ang="0">
                        <a:pos x="3" y="152"/>
                      </a:cxn>
                      <a:cxn ang="0">
                        <a:pos x="4" y="141"/>
                      </a:cxn>
                      <a:cxn ang="0">
                        <a:pos x="5" y="130"/>
                      </a:cxn>
                      <a:cxn ang="0">
                        <a:pos x="7" y="116"/>
                      </a:cxn>
                      <a:cxn ang="0">
                        <a:pos x="9" y="106"/>
                      </a:cxn>
                      <a:cxn ang="0">
                        <a:pos x="12" y="96"/>
                      </a:cxn>
                      <a:cxn ang="0">
                        <a:pos x="15" y="87"/>
                      </a:cxn>
                      <a:cxn ang="0">
                        <a:pos x="17" y="77"/>
                      </a:cxn>
                      <a:cxn ang="0">
                        <a:pos x="20" y="67"/>
                      </a:cxn>
                      <a:cxn ang="0">
                        <a:pos x="21" y="57"/>
                      </a:cxn>
                      <a:cxn ang="0">
                        <a:pos x="22" y="49"/>
                      </a:cxn>
                      <a:cxn ang="0">
                        <a:pos x="23" y="39"/>
                      </a:cxn>
                      <a:cxn ang="0">
                        <a:pos x="23" y="28"/>
                      </a:cxn>
                      <a:cxn ang="0">
                        <a:pos x="23" y="14"/>
                      </a:cxn>
                      <a:cxn ang="0">
                        <a:pos x="22" y="8"/>
                      </a:cxn>
                      <a:cxn ang="0">
                        <a:pos x="20" y="0"/>
                      </a:cxn>
                    </a:cxnLst>
                    <a:rect l="txL" t="txT" r="txR" b="txB"/>
                    <a:pathLst>
                      <a:path w="38" h="181">
                        <a:moveTo>
                          <a:pt x="20" y="0"/>
                        </a:moveTo>
                        <a:lnTo>
                          <a:pt x="24" y="8"/>
                        </a:lnTo>
                        <a:lnTo>
                          <a:pt x="27" y="14"/>
                        </a:lnTo>
                        <a:lnTo>
                          <a:pt x="33" y="22"/>
                        </a:lnTo>
                        <a:lnTo>
                          <a:pt x="35" y="30"/>
                        </a:lnTo>
                        <a:lnTo>
                          <a:pt x="36" y="41"/>
                        </a:lnTo>
                        <a:lnTo>
                          <a:pt x="36" y="53"/>
                        </a:lnTo>
                        <a:lnTo>
                          <a:pt x="37" y="61"/>
                        </a:lnTo>
                        <a:lnTo>
                          <a:pt x="36" y="70"/>
                        </a:lnTo>
                        <a:lnTo>
                          <a:pt x="35" y="81"/>
                        </a:lnTo>
                        <a:lnTo>
                          <a:pt x="33" y="91"/>
                        </a:lnTo>
                        <a:lnTo>
                          <a:pt x="30" y="106"/>
                        </a:lnTo>
                        <a:lnTo>
                          <a:pt x="28" y="114"/>
                        </a:lnTo>
                        <a:lnTo>
                          <a:pt x="23" y="124"/>
                        </a:lnTo>
                        <a:lnTo>
                          <a:pt x="17" y="135"/>
                        </a:lnTo>
                        <a:lnTo>
                          <a:pt x="12" y="145"/>
                        </a:lnTo>
                        <a:lnTo>
                          <a:pt x="7" y="155"/>
                        </a:lnTo>
                        <a:lnTo>
                          <a:pt x="3" y="163"/>
                        </a:lnTo>
                        <a:lnTo>
                          <a:pt x="0" y="180"/>
                        </a:lnTo>
                        <a:lnTo>
                          <a:pt x="1" y="163"/>
                        </a:lnTo>
                        <a:lnTo>
                          <a:pt x="3" y="152"/>
                        </a:lnTo>
                        <a:lnTo>
                          <a:pt x="4" y="141"/>
                        </a:lnTo>
                        <a:lnTo>
                          <a:pt x="5" y="130"/>
                        </a:lnTo>
                        <a:lnTo>
                          <a:pt x="7" y="116"/>
                        </a:lnTo>
                        <a:lnTo>
                          <a:pt x="9" y="106"/>
                        </a:lnTo>
                        <a:lnTo>
                          <a:pt x="12" y="96"/>
                        </a:lnTo>
                        <a:lnTo>
                          <a:pt x="15" y="87"/>
                        </a:lnTo>
                        <a:lnTo>
                          <a:pt x="17" y="77"/>
                        </a:lnTo>
                        <a:lnTo>
                          <a:pt x="20" y="67"/>
                        </a:lnTo>
                        <a:lnTo>
                          <a:pt x="21" y="57"/>
                        </a:lnTo>
                        <a:lnTo>
                          <a:pt x="22" y="49"/>
                        </a:lnTo>
                        <a:lnTo>
                          <a:pt x="23" y="39"/>
                        </a:lnTo>
                        <a:lnTo>
                          <a:pt x="23" y="28"/>
                        </a:lnTo>
                        <a:lnTo>
                          <a:pt x="23" y="14"/>
                        </a:lnTo>
                        <a:lnTo>
                          <a:pt x="22" y="8"/>
                        </a:lnTo>
                        <a:lnTo>
                          <a:pt x="20" y="0"/>
                        </a:lnTo>
                      </a:path>
                    </a:pathLst>
                  </a:custGeom>
                  <a:solidFill>
                    <a:srgbClr val="037C03">
                      <a:alpha val="50195"/>
                    </a:srgbClr>
                  </a:solidFill>
                  <a:ln w="9525">
                    <a:noFill/>
                  </a:ln>
                </p:spPr>
                <p:txBody>
                  <a:bodyPr/>
                  <a:lstStyle/>
                  <a:p>
                    <a:endParaRPr lang="zh-CN" altLang="en-US"/>
                  </a:p>
                </p:txBody>
              </p:sp>
              <p:sp>
                <p:nvSpPr>
                  <p:cNvPr id="89222" name="Freeform 118"/>
                  <p:cNvSpPr/>
                  <p:nvPr/>
                </p:nvSpPr>
                <p:spPr>
                  <a:xfrm>
                    <a:off x="1991" y="1486"/>
                    <a:ext cx="168" cy="48"/>
                  </a:xfrm>
                  <a:custGeom>
                    <a:avLst/>
                    <a:gdLst>
                      <a:gd name="txL" fmla="*/ 0 w 168"/>
                      <a:gd name="txT" fmla="*/ 0 h 48"/>
                      <a:gd name="txR" fmla="*/ 168 w 168"/>
                      <a:gd name="txB" fmla="*/ 48 h 48"/>
                    </a:gdLst>
                    <a:ahLst/>
                    <a:cxnLst>
                      <a:cxn ang="0">
                        <a:pos x="167" y="47"/>
                      </a:cxn>
                      <a:cxn ang="0">
                        <a:pos x="164" y="38"/>
                      </a:cxn>
                      <a:cxn ang="0">
                        <a:pos x="160" y="31"/>
                      </a:cxn>
                      <a:cxn ang="0">
                        <a:pos x="157" y="30"/>
                      </a:cxn>
                      <a:cxn ang="0">
                        <a:pos x="150" y="28"/>
                      </a:cxn>
                      <a:cxn ang="0">
                        <a:pos x="144" y="26"/>
                      </a:cxn>
                      <a:cxn ang="0">
                        <a:pos x="137" y="28"/>
                      </a:cxn>
                      <a:cxn ang="0">
                        <a:pos x="130" y="29"/>
                      </a:cxn>
                      <a:cxn ang="0">
                        <a:pos x="121" y="25"/>
                      </a:cxn>
                      <a:cxn ang="0">
                        <a:pos x="109" y="21"/>
                      </a:cxn>
                      <a:cxn ang="0">
                        <a:pos x="98" y="17"/>
                      </a:cxn>
                      <a:cxn ang="0">
                        <a:pos x="91" y="15"/>
                      </a:cxn>
                      <a:cxn ang="0">
                        <a:pos x="78" y="12"/>
                      </a:cxn>
                      <a:cxn ang="0">
                        <a:pos x="66" y="8"/>
                      </a:cxn>
                      <a:cxn ang="0">
                        <a:pos x="54" y="4"/>
                      </a:cxn>
                      <a:cxn ang="0">
                        <a:pos x="41" y="1"/>
                      </a:cxn>
                      <a:cxn ang="0">
                        <a:pos x="28" y="0"/>
                      </a:cxn>
                      <a:cxn ang="0">
                        <a:pos x="15" y="0"/>
                      </a:cxn>
                      <a:cxn ang="0">
                        <a:pos x="12" y="1"/>
                      </a:cxn>
                      <a:cxn ang="0">
                        <a:pos x="7" y="4"/>
                      </a:cxn>
                      <a:cxn ang="0">
                        <a:pos x="3" y="7"/>
                      </a:cxn>
                      <a:cxn ang="0">
                        <a:pos x="0" y="10"/>
                      </a:cxn>
                      <a:cxn ang="0">
                        <a:pos x="5" y="10"/>
                      </a:cxn>
                      <a:cxn ang="0">
                        <a:pos x="12" y="11"/>
                      </a:cxn>
                      <a:cxn ang="0">
                        <a:pos x="18" y="12"/>
                      </a:cxn>
                      <a:cxn ang="0">
                        <a:pos x="23" y="11"/>
                      </a:cxn>
                      <a:cxn ang="0">
                        <a:pos x="29" y="10"/>
                      </a:cxn>
                      <a:cxn ang="0">
                        <a:pos x="38" y="10"/>
                      </a:cxn>
                      <a:cxn ang="0">
                        <a:pos x="50" y="10"/>
                      </a:cxn>
                      <a:cxn ang="0">
                        <a:pos x="60" y="12"/>
                      </a:cxn>
                      <a:cxn ang="0">
                        <a:pos x="70" y="13"/>
                      </a:cxn>
                      <a:cxn ang="0">
                        <a:pos x="79" y="15"/>
                      </a:cxn>
                      <a:cxn ang="0">
                        <a:pos x="89" y="16"/>
                      </a:cxn>
                      <a:cxn ang="0">
                        <a:pos x="98" y="18"/>
                      </a:cxn>
                      <a:cxn ang="0">
                        <a:pos x="106" y="22"/>
                      </a:cxn>
                      <a:cxn ang="0">
                        <a:pos x="114" y="26"/>
                      </a:cxn>
                      <a:cxn ang="0">
                        <a:pos x="123" y="30"/>
                      </a:cxn>
                      <a:cxn ang="0">
                        <a:pos x="127" y="30"/>
                      </a:cxn>
                      <a:cxn ang="0">
                        <a:pos x="131" y="30"/>
                      </a:cxn>
                      <a:cxn ang="0">
                        <a:pos x="137" y="33"/>
                      </a:cxn>
                      <a:cxn ang="0">
                        <a:pos x="144" y="36"/>
                      </a:cxn>
                      <a:cxn ang="0">
                        <a:pos x="150" y="38"/>
                      </a:cxn>
                      <a:cxn ang="0">
                        <a:pos x="158" y="42"/>
                      </a:cxn>
                      <a:cxn ang="0">
                        <a:pos x="164" y="45"/>
                      </a:cxn>
                      <a:cxn ang="0">
                        <a:pos x="167" y="47"/>
                      </a:cxn>
                    </a:cxnLst>
                    <a:rect l="txL" t="txT" r="txR" b="txB"/>
                    <a:pathLst>
                      <a:path w="168" h="48">
                        <a:moveTo>
                          <a:pt x="167" y="47"/>
                        </a:moveTo>
                        <a:lnTo>
                          <a:pt x="164" y="38"/>
                        </a:lnTo>
                        <a:lnTo>
                          <a:pt x="160" y="31"/>
                        </a:lnTo>
                        <a:lnTo>
                          <a:pt x="157" y="30"/>
                        </a:lnTo>
                        <a:lnTo>
                          <a:pt x="150" y="28"/>
                        </a:lnTo>
                        <a:lnTo>
                          <a:pt x="144" y="26"/>
                        </a:lnTo>
                        <a:lnTo>
                          <a:pt x="137" y="28"/>
                        </a:lnTo>
                        <a:lnTo>
                          <a:pt x="130" y="29"/>
                        </a:lnTo>
                        <a:lnTo>
                          <a:pt x="121" y="25"/>
                        </a:lnTo>
                        <a:lnTo>
                          <a:pt x="109" y="21"/>
                        </a:lnTo>
                        <a:lnTo>
                          <a:pt x="98" y="17"/>
                        </a:lnTo>
                        <a:lnTo>
                          <a:pt x="91" y="15"/>
                        </a:lnTo>
                        <a:lnTo>
                          <a:pt x="78" y="12"/>
                        </a:lnTo>
                        <a:lnTo>
                          <a:pt x="66" y="8"/>
                        </a:lnTo>
                        <a:lnTo>
                          <a:pt x="54" y="4"/>
                        </a:lnTo>
                        <a:lnTo>
                          <a:pt x="41" y="1"/>
                        </a:lnTo>
                        <a:lnTo>
                          <a:pt x="28" y="0"/>
                        </a:lnTo>
                        <a:lnTo>
                          <a:pt x="15" y="0"/>
                        </a:lnTo>
                        <a:lnTo>
                          <a:pt x="12" y="1"/>
                        </a:lnTo>
                        <a:lnTo>
                          <a:pt x="7" y="4"/>
                        </a:lnTo>
                        <a:lnTo>
                          <a:pt x="3" y="7"/>
                        </a:lnTo>
                        <a:lnTo>
                          <a:pt x="0" y="10"/>
                        </a:lnTo>
                        <a:lnTo>
                          <a:pt x="5" y="10"/>
                        </a:lnTo>
                        <a:lnTo>
                          <a:pt x="12" y="11"/>
                        </a:lnTo>
                        <a:lnTo>
                          <a:pt x="18" y="12"/>
                        </a:lnTo>
                        <a:lnTo>
                          <a:pt x="23" y="11"/>
                        </a:lnTo>
                        <a:lnTo>
                          <a:pt x="29" y="10"/>
                        </a:lnTo>
                        <a:lnTo>
                          <a:pt x="38" y="10"/>
                        </a:lnTo>
                        <a:lnTo>
                          <a:pt x="50" y="10"/>
                        </a:lnTo>
                        <a:lnTo>
                          <a:pt x="60" y="12"/>
                        </a:lnTo>
                        <a:lnTo>
                          <a:pt x="70" y="13"/>
                        </a:lnTo>
                        <a:lnTo>
                          <a:pt x="79" y="15"/>
                        </a:lnTo>
                        <a:lnTo>
                          <a:pt x="89" y="16"/>
                        </a:lnTo>
                        <a:lnTo>
                          <a:pt x="98" y="18"/>
                        </a:lnTo>
                        <a:lnTo>
                          <a:pt x="106" y="22"/>
                        </a:lnTo>
                        <a:lnTo>
                          <a:pt x="114" y="26"/>
                        </a:lnTo>
                        <a:lnTo>
                          <a:pt x="123" y="30"/>
                        </a:lnTo>
                        <a:lnTo>
                          <a:pt x="127" y="30"/>
                        </a:lnTo>
                        <a:lnTo>
                          <a:pt x="131" y="30"/>
                        </a:lnTo>
                        <a:lnTo>
                          <a:pt x="137" y="33"/>
                        </a:lnTo>
                        <a:lnTo>
                          <a:pt x="144" y="36"/>
                        </a:lnTo>
                        <a:lnTo>
                          <a:pt x="150" y="38"/>
                        </a:lnTo>
                        <a:lnTo>
                          <a:pt x="158" y="42"/>
                        </a:lnTo>
                        <a:lnTo>
                          <a:pt x="164" y="45"/>
                        </a:lnTo>
                        <a:lnTo>
                          <a:pt x="167" y="47"/>
                        </a:lnTo>
                      </a:path>
                    </a:pathLst>
                  </a:custGeom>
                  <a:solidFill>
                    <a:srgbClr val="037C03">
                      <a:alpha val="50195"/>
                    </a:srgbClr>
                  </a:solidFill>
                  <a:ln w="9525">
                    <a:noFill/>
                  </a:ln>
                </p:spPr>
                <p:txBody>
                  <a:bodyPr/>
                  <a:lstStyle/>
                  <a:p>
                    <a:endParaRPr lang="zh-CN" altLang="en-US"/>
                  </a:p>
                </p:txBody>
              </p:sp>
              <p:sp>
                <p:nvSpPr>
                  <p:cNvPr id="89223" name="Freeform 119"/>
                  <p:cNvSpPr/>
                  <p:nvPr/>
                </p:nvSpPr>
                <p:spPr>
                  <a:xfrm>
                    <a:off x="1985" y="1514"/>
                    <a:ext cx="173" cy="20"/>
                  </a:xfrm>
                  <a:custGeom>
                    <a:avLst/>
                    <a:gdLst>
                      <a:gd name="txL" fmla="*/ 0 w 173"/>
                      <a:gd name="txT" fmla="*/ 0 h 20"/>
                      <a:gd name="txR" fmla="*/ 173 w 173"/>
                      <a:gd name="txB" fmla="*/ 20 h 20"/>
                    </a:gdLst>
                    <a:ahLst/>
                    <a:cxnLst>
                      <a:cxn ang="0">
                        <a:pos x="172" y="19"/>
                      </a:cxn>
                      <a:cxn ang="0">
                        <a:pos x="167" y="17"/>
                      </a:cxn>
                      <a:cxn ang="0">
                        <a:pos x="163" y="15"/>
                      </a:cxn>
                      <a:cxn ang="0">
                        <a:pos x="157" y="13"/>
                      </a:cxn>
                      <a:cxn ang="0">
                        <a:pos x="152" y="11"/>
                      </a:cxn>
                      <a:cxn ang="0">
                        <a:pos x="146" y="9"/>
                      </a:cxn>
                      <a:cxn ang="0">
                        <a:pos x="138" y="6"/>
                      </a:cxn>
                      <a:cxn ang="0">
                        <a:pos x="131" y="2"/>
                      </a:cxn>
                      <a:cxn ang="0">
                        <a:pos x="125" y="2"/>
                      </a:cxn>
                      <a:cxn ang="0">
                        <a:pos x="118" y="3"/>
                      </a:cxn>
                      <a:cxn ang="0">
                        <a:pos x="108" y="5"/>
                      </a:cxn>
                      <a:cxn ang="0">
                        <a:pos x="103" y="5"/>
                      </a:cxn>
                      <a:cxn ang="0">
                        <a:pos x="91" y="3"/>
                      </a:cxn>
                      <a:cxn ang="0">
                        <a:pos x="77" y="1"/>
                      </a:cxn>
                      <a:cxn ang="0">
                        <a:pos x="67" y="0"/>
                      </a:cxn>
                      <a:cxn ang="0">
                        <a:pos x="55" y="0"/>
                      </a:cxn>
                      <a:cxn ang="0">
                        <a:pos x="43" y="0"/>
                      </a:cxn>
                      <a:cxn ang="0">
                        <a:pos x="35" y="1"/>
                      </a:cxn>
                      <a:cxn ang="0">
                        <a:pos x="26" y="2"/>
                      </a:cxn>
                      <a:cxn ang="0">
                        <a:pos x="18" y="3"/>
                      </a:cxn>
                      <a:cxn ang="0">
                        <a:pos x="9" y="4"/>
                      </a:cxn>
                      <a:cxn ang="0">
                        <a:pos x="8" y="8"/>
                      </a:cxn>
                      <a:cxn ang="0">
                        <a:pos x="6" y="11"/>
                      </a:cxn>
                      <a:cxn ang="0">
                        <a:pos x="4" y="14"/>
                      </a:cxn>
                      <a:cxn ang="0">
                        <a:pos x="0" y="16"/>
                      </a:cxn>
                      <a:cxn ang="0">
                        <a:pos x="7" y="15"/>
                      </a:cxn>
                      <a:cxn ang="0">
                        <a:pos x="15" y="13"/>
                      </a:cxn>
                      <a:cxn ang="0">
                        <a:pos x="21" y="12"/>
                      </a:cxn>
                      <a:cxn ang="0">
                        <a:pos x="29" y="11"/>
                      </a:cxn>
                      <a:cxn ang="0">
                        <a:pos x="36" y="10"/>
                      </a:cxn>
                      <a:cxn ang="0">
                        <a:pos x="49" y="9"/>
                      </a:cxn>
                      <a:cxn ang="0">
                        <a:pos x="62" y="8"/>
                      </a:cxn>
                      <a:cxn ang="0">
                        <a:pos x="77" y="7"/>
                      </a:cxn>
                      <a:cxn ang="0">
                        <a:pos x="92" y="6"/>
                      </a:cxn>
                      <a:cxn ang="0">
                        <a:pos x="106" y="6"/>
                      </a:cxn>
                      <a:cxn ang="0">
                        <a:pos x="118" y="7"/>
                      </a:cxn>
                      <a:cxn ang="0">
                        <a:pos x="126" y="9"/>
                      </a:cxn>
                      <a:cxn ang="0">
                        <a:pos x="135" y="11"/>
                      </a:cxn>
                      <a:cxn ang="0">
                        <a:pos x="145" y="13"/>
                      </a:cxn>
                      <a:cxn ang="0">
                        <a:pos x="155" y="16"/>
                      </a:cxn>
                      <a:cxn ang="0">
                        <a:pos x="163" y="17"/>
                      </a:cxn>
                      <a:cxn ang="0">
                        <a:pos x="172" y="19"/>
                      </a:cxn>
                    </a:cxnLst>
                    <a:rect l="txL" t="txT" r="txR" b="txB"/>
                    <a:pathLst>
                      <a:path w="173" h="20">
                        <a:moveTo>
                          <a:pt x="172" y="19"/>
                        </a:moveTo>
                        <a:lnTo>
                          <a:pt x="167" y="17"/>
                        </a:lnTo>
                        <a:lnTo>
                          <a:pt x="163" y="15"/>
                        </a:lnTo>
                        <a:lnTo>
                          <a:pt x="157" y="13"/>
                        </a:lnTo>
                        <a:lnTo>
                          <a:pt x="152" y="11"/>
                        </a:lnTo>
                        <a:lnTo>
                          <a:pt x="146" y="9"/>
                        </a:lnTo>
                        <a:lnTo>
                          <a:pt x="138" y="6"/>
                        </a:lnTo>
                        <a:lnTo>
                          <a:pt x="131" y="2"/>
                        </a:lnTo>
                        <a:lnTo>
                          <a:pt x="125" y="2"/>
                        </a:lnTo>
                        <a:lnTo>
                          <a:pt x="118" y="3"/>
                        </a:lnTo>
                        <a:lnTo>
                          <a:pt x="108" y="5"/>
                        </a:lnTo>
                        <a:lnTo>
                          <a:pt x="103" y="5"/>
                        </a:lnTo>
                        <a:lnTo>
                          <a:pt x="91" y="3"/>
                        </a:lnTo>
                        <a:lnTo>
                          <a:pt x="77" y="1"/>
                        </a:lnTo>
                        <a:lnTo>
                          <a:pt x="67" y="0"/>
                        </a:lnTo>
                        <a:lnTo>
                          <a:pt x="55" y="0"/>
                        </a:lnTo>
                        <a:lnTo>
                          <a:pt x="43" y="0"/>
                        </a:lnTo>
                        <a:lnTo>
                          <a:pt x="35" y="1"/>
                        </a:lnTo>
                        <a:lnTo>
                          <a:pt x="26" y="2"/>
                        </a:lnTo>
                        <a:lnTo>
                          <a:pt x="18" y="3"/>
                        </a:lnTo>
                        <a:lnTo>
                          <a:pt x="9" y="4"/>
                        </a:lnTo>
                        <a:lnTo>
                          <a:pt x="8" y="8"/>
                        </a:lnTo>
                        <a:lnTo>
                          <a:pt x="6" y="11"/>
                        </a:lnTo>
                        <a:lnTo>
                          <a:pt x="4" y="14"/>
                        </a:lnTo>
                        <a:lnTo>
                          <a:pt x="0" y="16"/>
                        </a:lnTo>
                        <a:lnTo>
                          <a:pt x="7" y="15"/>
                        </a:lnTo>
                        <a:lnTo>
                          <a:pt x="15" y="13"/>
                        </a:lnTo>
                        <a:lnTo>
                          <a:pt x="21" y="12"/>
                        </a:lnTo>
                        <a:lnTo>
                          <a:pt x="29" y="11"/>
                        </a:lnTo>
                        <a:lnTo>
                          <a:pt x="36" y="10"/>
                        </a:lnTo>
                        <a:lnTo>
                          <a:pt x="49" y="9"/>
                        </a:lnTo>
                        <a:lnTo>
                          <a:pt x="62" y="8"/>
                        </a:lnTo>
                        <a:lnTo>
                          <a:pt x="77" y="7"/>
                        </a:lnTo>
                        <a:lnTo>
                          <a:pt x="92" y="6"/>
                        </a:lnTo>
                        <a:lnTo>
                          <a:pt x="106" y="6"/>
                        </a:lnTo>
                        <a:lnTo>
                          <a:pt x="118" y="7"/>
                        </a:lnTo>
                        <a:lnTo>
                          <a:pt x="126" y="9"/>
                        </a:lnTo>
                        <a:lnTo>
                          <a:pt x="135" y="11"/>
                        </a:lnTo>
                        <a:lnTo>
                          <a:pt x="145" y="13"/>
                        </a:lnTo>
                        <a:lnTo>
                          <a:pt x="155" y="16"/>
                        </a:lnTo>
                        <a:lnTo>
                          <a:pt x="163" y="17"/>
                        </a:lnTo>
                        <a:lnTo>
                          <a:pt x="172" y="19"/>
                        </a:lnTo>
                      </a:path>
                    </a:pathLst>
                  </a:custGeom>
                  <a:solidFill>
                    <a:srgbClr val="037C03">
                      <a:alpha val="50195"/>
                    </a:srgbClr>
                  </a:solidFill>
                  <a:ln w="9525">
                    <a:noFill/>
                  </a:ln>
                </p:spPr>
                <p:txBody>
                  <a:bodyPr/>
                  <a:lstStyle/>
                  <a:p>
                    <a:endParaRPr lang="zh-CN" altLang="en-US"/>
                  </a:p>
                </p:txBody>
              </p:sp>
            </p:grpSp>
          </p:grpSp>
        </p:grpSp>
      </p:grpSp>
      <p:grpSp>
        <p:nvGrpSpPr>
          <p:cNvPr id="89098" name="Group 120"/>
          <p:cNvGrpSpPr/>
          <p:nvPr/>
        </p:nvGrpSpPr>
        <p:grpSpPr>
          <a:xfrm>
            <a:off x="1331913" y="3716338"/>
            <a:ext cx="1371600" cy="1600200"/>
            <a:chOff x="0" y="3182"/>
            <a:chExt cx="808" cy="998"/>
          </a:xfrm>
        </p:grpSpPr>
        <p:grpSp>
          <p:nvGrpSpPr>
            <p:cNvPr id="89191" name="Group 121"/>
            <p:cNvGrpSpPr/>
            <p:nvPr/>
          </p:nvGrpSpPr>
          <p:grpSpPr>
            <a:xfrm>
              <a:off x="0" y="3182"/>
              <a:ext cx="506" cy="927"/>
              <a:chOff x="1685" y="1023"/>
              <a:chExt cx="506" cy="927"/>
            </a:xfrm>
          </p:grpSpPr>
          <p:sp>
            <p:nvSpPr>
              <p:cNvPr id="89204" name="Freeform 122"/>
              <p:cNvSpPr/>
              <p:nvPr/>
            </p:nvSpPr>
            <p:spPr>
              <a:xfrm>
                <a:off x="1733" y="1329"/>
                <a:ext cx="76" cy="621"/>
              </a:xfrm>
              <a:custGeom>
                <a:avLst/>
                <a:gdLst>
                  <a:gd name="txL" fmla="*/ 0 w 76"/>
                  <a:gd name="txT" fmla="*/ 0 h 621"/>
                  <a:gd name="txR" fmla="*/ 76 w 76"/>
                  <a:gd name="txB" fmla="*/ 621 h 621"/>
                </a:gdLst>
                <a:ahLst/>
                <a:cxnLst>
                  <a:cxn ang="0">
                    <a:pos x="0" y="54"/>
                  </a:cxn>
                  <a:cxn ang="0">
                    <a:pos x="11" y="269"/>
                  </a:cxn>
                  <a:cxn ang="0">
                    <a:pos x="22" y="442"/>
                  </a:cxn>
                  <a:cxn ang="0">
                    <a:pos x="30" y="570"/>
                  </a:cxn>
                  <a:cxn ang="0">
                    <a:pos x="28" y="620"/>
                  </a:cxn>
                  <a:cxn ang="0">
                    <a:pos x="44" y="620"/>
                  </a:cxn>
                  <a:cxn ang="0">
                    <a:pos x="49" y="546"/>
                  </a:cxn>
                  <a:cxn ang="0">
                    <a:pos x="52" y="434"/>
                  </a:cxn>
                  <a:cxn ang="0">
                    <a:pos x="58" y="329"/>
                  </a:cxn>
                  <a:cxn ang="0">
                    <a:pos x="61" y="250"/>
                  </a:cxn>
                  <a:cxn ang="0">
                    <a:pos x="67" y="135"/>
                  </a:cxn>
                  <a:cxn ang="0">
                    <a:pos x="75" y="36"/>
                  </a:cxn>
                  <a:cxn ang="0">
                    <a:pos x="70" y="11"/>
                  </a:cxn>
                  <a:cxn ang="0">
                    <a:pos x="62" y="0"/>
                  </a:cxn>
                  <a:cxn ang="0">
                    <a:pos x="53" y="121"/>
                  </a:cxn>
                  <a:cxn ang="0">
                    <a:pos x="45" y="224"/>
                  </a:cxn>
                  <a:cxn ang="0">
                    <a:pos x="43" y="305"/>
                  </a:cxn>
                  <a:cxn ang="0">
                    <a:pos x="40" y="390"/>
                  </a:cxn>
                  <a:cxn ang="0">
                    <a:pos x="34" y="475"/>
                  </a:cxn>
                  <a:cxn ang="0">
                    <a:pos x="25" y="327"/>
                  </a:cxn>
                  <a:cxn ang="0">
                    <a:pos x="15" y="187"/>
                  </a:cxn>
                  <a:cxn ang="0">
                    <a:pos x="0" y="54"/>
                  </a:cxn>
                </a:cxnLst>
                <a:rect l="txL" t="txT" r="txR" b="txB"/>
                <a:pathLst>
                  <a:path w="76" h="621">
                    <a:moveTo>
                      <a:pt x="0" y="54"/>
                    </a:moveTo>
                    <a:lnTo>
                      <a:pt x="11" y="269"/>
                    </a:lnTo>
                    <a:lnTo>
                      <a:pt x="22" y="442"/>
                    </a:lnTo>
                    <a:lnTo>
                      <a:pt x="30" y="570"/>
                    </a:lnTo>
                    <a:lnTo>
                      <a:pt x="28" y="620"/>
                    </a:lnTo>
                    <a:lnTo>
                      <a:pt x="44" y="620"/>
                    </a:lnTo>
                    <a:lnTo>
                      <a:pt x="49" y="546"/>
                    </a:lnTo>
                    <a:lnTo>
                      <a:pt x="52" y="434"/>
                    </a:lnTo>
                    <a:lnTo>
                      <a:pt x="58" y="329"/>
                    </a:lnTo>
                    <a:lnTo>
                      <a:pt x="61" y="250"/>
                    </a:lnTo>
                    <a:lnTo>
                      <a:pt x="67" y="135"/>
                    </a:lnTo>
                    <a:lnTo>
                      <a:pt x="75" y="36"/>
                    </a:lnTo>
                    <a:lnTo>
                      <a:pt x="70" y="11"/>
                    </a:lnTo>
                    <a:lnTo>
                      <a:pt x="62" y="0"/>
                    </a:lnTo>
                    <a:lnTo>
                      <a:pt x="53" y="121"/>
                    </a:lnTo>
                    <a:lnTo>
                      <a:pt x="45" y="224"/>
                    </a:lnTo>
                    <a:lnTo>
                      <a:pt x="43" y="305"/>
                    </a:lnTo>
                    <a:lnTo>
                      <a:pt x="40" y="390"/>
                    </a:lnTo>
                    <a:lnTo>
                      <a:pt x="34" y="475"/>
                    </a:lnTo>
                    <a:lnTo>
                      <a:pt x="25" y="327"/>
                    </a:lnTo>
                    <a:lnTo>
                      <a:pt x="15" y="187"/>
                    </a:lnTo>
                    <a:lnTo>
                      <a:pt x="0" y="54"/>
                    </a:lnTo>
                  </a:path>
                </a:pathLst>
              </a:custGeom>
              <a:solidFill>
                <a:srgbClr val="3C0023">
                  <a:alpha val="50195"/>
                </a:srgbClr>
              </a:solidFill>
              <a:ln w="9525">
                <a:noFill/>
              </a:ln>
            </p:spPr>
            <p:txBody>
              <a:bodyPr/>
              <a:lstStyle/>
              <a:p>
                <a:endParaRPr lang="zh-CN" altLang="en-US"/>
              </a:p>
            </p:txBody>
          </p:sp>
          <p:sp>
            <p:nvSpPr>
              <p:cNvPr id="89205" name="Freeform 123"/>
              <p:cNvSpPr/>
              <p:nvPr/>
            </p:nvSpPr>
            <p:spPr>
              <a:xfrm>
                <a:off x="1790" y="1583"/>
                <a:ext cx="120" cy="349"/>
              </a:xfrm>
              <a:custGeom>
                <a:avLst/>
                <a:gdLst>
                  <a:gd name="txL" fmla="*/ 0 w 120"/>
                  <a:gd name="txT" fmla="*/ 0 h 349"/>
                  <a:gd name="txR" fmla="*/ 120 w 120"/>
                  <a:gd name="txB" fmla="*/ 349 h 349"/>
                </a:gdLst>
                <a:ahLst/>
                <a:cxnLst>
                  <a:cxn ang="0">
                    <a:pos x="0" y="161"/>
                  </a:cxn>
                  <a:cxn ang="0">
                    <a:pos x="10" y="232"/>
                  </a:cxn>
                  <a:cxn ang="0">
                    <a:pos x="20" y="289"/>
                  </a:cxn>
                  <a:cxn ang="0">
                    <a:pos x="26" y="331"/>
                  </a:cxn>
                  <a:cxn ang="0">
                    <a:pos x="25" y="348"/>
                  </a:cxn>
                  <a:cxn ang="0">
                    <a:pos x="39" y="348"/>
                  </a:cxn>
                  <a:cxn ang="0">
                    <a:pos x="43" y="323"/>
                  </a:cxn>
                  <a:cxn ang="0">
                    <a:pos x="45" y="286"/>
                  </a:cxn>
                  <a:cxn ang="0">
                    <a:pos x="51" y="252"/>
                  </a:cxn>
                  <a:cxn ang="0">
                    <a:pos x="54" y="226"/>
                  </a:cxn>
                  <a:cxn ang="0">
                    <a:pos x="59" y="188"/>
                  </a:cxn>
                  <a:cxn ang="0">
                    <a:pos x="66" y="156"/>
                  </a:cxn>
                  <a:cxn ang="0">
                    <a:pos x="71" y="127"/>
                  </a:cxn>
                  <a:cxn ang="0">
                    <a:pos x="77" y="96"/>
                  </a:cxn>
                  <a:cxn ang="0">
                    <a:pos x="86" y="66"/>
                  </a:cxn>
                  <a:cxn ang="0">
                    <a:pos x="96" y="40"/>
                  </a:cxn>
                  <a:cxn ang="0">
                    <a:pos x="113" y="15"/>
                  </a:cxn>
                  <a:cxn ang="0">
                    <a:pos x="119" y="5"/>
                  </a:cxn>
                  <a:cxn ang="0">
                    <a:pos x="112" y="0"/>
                  </a:cxn>
                  <a:cxn ang="0">
                    <a:pos x="101" y="10"/>
                  </a:cxn>
                  <a:cxn ang="0">
                    <a:pos x="86" y="33"/>
                  </a:cxn>
                  <a:cxn ang="0">
                    <a:pos x="75" y="57"/>
                  </a:cxn>
                  <a:cxn ang="0">
                    <a:pos x="66" y="81"/>
                  </a:cxn>
                  <a:cxn ang="0">
                    <a:pos x="60" y="113"/>
                  </a:cxn>
                  <a:cxn ang="0">
                    <a:pos x="55" y="144"/>
                  </a:cxn>
                  <a:cxn ang="0">
                    <a:pos x="47" y="184"/>
                  </a:cxn>
                  <a:cxn ang="0">
                    <a:pos x="40" y="217"/>
                  </a:cxn>
                  <a:cxn ang="0">
                    <a:pos x="37" y="244"/>
                  </a:cxn>
                  <a:cxn ang="0">
                    <a:pos x="36" y="272"/>
                  </a:cxn>
                  <a:cxn ang="0">
                    <a:pos x="30" y="300"/>
                  </a:cxn>
                  <a:cxn ang="0">
                    <a:pos x="22" y="251"/>
                  </a:cxn>
                  <a:cxn ang="0">
                    <a:pos x="13" y="205"/>
                  </a:cxn>
                  <a:cxn ang="0">
                    <a:pos x="0" y="161"/>
                  </a:cxn>
                </a:cxnLst>
                <a:rect l="txL" t="txT" r="txR" b="txB"/>
                <a:pathLst>
                  <a:path w="120" h="349">
                    <a:moveTo>
                      <a:pt x="0" y="161"/>
                    </a:moveTo>
                    <a:lnTo>
                      <a:pt x="10" y="232"/>
                    </a:lnTo>
                    <a:lnTo>
                      <a:pt x="20" y="289"/>
                    </a:lnTo>
                    <a:lnTo>
                      <a:pt x="26" y="331"/>
                    </a:lnTo>
                    <a:lnTo>
                      <a:pt x="25" y="348"/>
                    </a:lnTo>
                    <a:lnTo>
                      <a:pt x="39" y="348"/>
                    </a:lnTo>
                    <a:lnTo>
                      <a:pt x="43" y="323"/>
                    </a:lnTo>
                    <a:lnTo>
                      <a:pt x="45" y="286"/>
                    </a:lnTo>
                    <a:lnTo>
                      <a:pt x="51" y="252"/>
                    </a:lnTo>
                    <a:lnTo>
                      <a:pt x="54" y="226"/>
                    </a:lnTo>
                    <a:lnTo>
                      <a:pt x="59" y="188"/>
                    </a:lnTo>
                    <a:lnTo>
                      <a:pt x="66" y="156"/>
                    </a:lnTo>
                    <a:lnTo>
                      <a:pt x="71" y="127"/>
                    </a:lnTo>
                    <a:lnTo>
                      <a:pt x="77" y="96"/>
                    </a:lnTo>
                    <a:lnTo>
                      <a:pt x="86" y="66"/>
                    </a:lnTo>
                    <a:lnTo>
                      <a:pt x="96" y="40"/>
                    </a:lnTo>
                    <a:lnTo>
                      <a:pt x="113" y="15"/>
                    </a:lnTo>
                    <a:lnTo>
                      <a:pt x="119" y="5"/>
                    </a:lnTo>
                    <a:lnTo>
                      <a:pt x="112" y="0"/>
                    </a:lnTo>
                    <a:lnTo>
                      <a:pt x="101" y="10"/>
                    </a:lnTo>
                    <a:lnTo>
                      <a:pt x="86" y="33"/>
                    </a:lnTo>
                    <a:lnTo>
                      <a:pt x="75" y="57"/>
                    </a:lnTo>
                    <a:lnTo>
                      <a:pt x="66" y="81"/>
                    </a:lnTo>
                    <a:lnTo>
                      <a:pt x="60" y="113"/>
                    </a:lnTo>
                    <a:lnTo>
                      <a:pt x="55" y="144"/>
                    </a:lnTo>
                    <a:lnTo>
                      <a:pt x="47" y="184"/>
                    </a:lnTo>
                    <a:lnTo>
                      <a:pt x="40" y="217"/>
                    </a:lnTo>
                    <a:lnTo>
                      <a:pt x="37" y="244"/>
                    </a:lnTo>
                    <a:lnTo>
                      <a:pt x="36" y="272"/>
                    </a:lnTo>
                    <a:lnTo>
                      <a:pt x="30" y="300"/>
                    </a:lnTo>
                    <a:lnTo>
                      <a:pt x="22" y="251"/>
                    </a:lnTo>
                    <a:lnTo>
                      <a:pt x="13" y="205"/>
                    </a:lnTo>
                    <a:lnTo>
                      <a:pt x="0" y="161"/>
                    </a:lnTo>
                  </a:path>
                </a:pathLst>
              </a:custGeom>
              <a:solidFill>
                <a:srgbClr val="3C0023">
                  <a:alpha val="50195"/>
                </a:srgbClr>
              </a:solidFill>
              <a:ln w="9525">
                <a:noFill/>
              </a:ln>
            </p:spPr>
            <p:txBody>
              <a:bodyPr/>
              <a:lstStyle/>
              <a:p>
                <a:endParaRPr lang="zh-CN" altLang="en-US"/>
              </a:p>
            </p:txBody>
          </p:sp>
          <p:sp>
            <p:nvSpPr>
              <p:cNvPr id="89206" name="Freeform 124"/>
              <p:cNvSpPr/>
              <p:nvPr/>
            </p:nvSpPr>
            <p:spPr>
              <a:xfrm>
                <a:off x="1685" y="1239"/>
                <a:ext cx="266" cy="391"/>
              </a:xfrm>
              <a:custGeom>
                <a:avLst/>
                <a:gdLst>
                  <a:gd name="txL" fmla="*/ 0 w 266"/>
                  <a:gd name="txT" fmla="*/ 0 h 391"/>
                  <a:gd name="txR" fmla="*/ 266 w 266"/>
                  <a:gd name="txB" fmla="*/ 391 h 391"/>
                </a:gdLst>
                <a:ahLst/>
                <a:cxnLst>
                  <a:cxn ang="0">
                    <a:pos x="107" y="123"/>
                  </a:cxn>
                  <a:cxn ang="0">
                    <a:pos x="116" y="135"/>
                  </a:cxn>
                  <a:cxn ang="0">
                    <a:pos x="163" y="114"/>
                  </a:cxn>
                  <a:cxn ang="0">
                    <a:pos x="211" y="81"/>
                  </a:cxn>
                  <a:cxn ang="0">
                    <a:pos x="233" y="46"/>
                  </a:cxn>
                  <a:cxn ang="0">
                    <a:pos x="220" y="76"/>
                  </a:cxn>
                  <a:cxn ang="0">
                    <a:pos x="183" y="109"/>
                  </a:cxn>
                  <a:cxn ang="0">
                    <a:pos x="142" y="138"/>
                  </a:cxn>
                  <a:cxn ang="0">
                    <a:pos x="102" y="159"/>
                  </a:cxn>
                  <a:cxn ang="0">
                    <a:pos x="119" y="178"/>
                  </a:cxn>
                  <a:cxn ang="0">
                    <a:pos x="155" y="180"/>
                  </a:cxn>
                  <a:cxn ang="0">
                    <a:pos x="202" y="187"/>
                  </a:cxn>
                  <a:cxn ang="0">
                    <a:pos x="239" y="204"/>
                  </a:cxn>
                  <a:cxn ang="0">
                    <a:pos x="251" y="215"/>
                  </a:cxn>
                  <a:cxn ang="0">
                    <a:pos x="213" y="204"/>
                  </a:cxn>
                  <a:cxn ang="0">
                    <a:pos x="162" y="198"/>
                  </a:cxn>
                  <a:cxn ang="0">
                    <a:pos x="114" y="195"/>
                  </a:cxn>
                  <a:cxn ang="0">
                    <a:pos x="88" y="203"/>
                  </a:cxn>
                  <a:cxn ang="0">
                    <a:pos x="93" y="248"/>
                  </a:cxn>
                  <a:cxn ang="0">
                    <a:pos x="93" y="307"/>
                  </a:cxn>
                  <a:cxn ang="0">
                    <a:pos x="77" y="354"/>
                  </a:cxn>
                  <a:cxn ang="0">
                    <a:pos x="46" y="390"/>
                  </a:cxn>
                  <a:cxn ang="0">
                    <a:pos x="50" y="346"/>
                  </a:cxn>
                  <a:cxn ang="0">
                    <a:pos x="61" y="299"/>
                  </a:cxn>
                  <a:cxn ang="0">
                    <a:pos x="67" y="238"/>
                  </a:cxn>
                  <a:cxn ang="0">
                    <a:pos x="64" y="198"/>
                  </a:cxn>
                  <a:cxn ang="0">
                    <a:pos x="48" y="221"/>
                  </a:cxn>
                  <a:cxn ang="0">
                    <a:pos x="39" y="273"/>
                  </a:cxn>
                  <a:cxn ang="0">
                    <a:pos x="32" y="325"/>
                  </a:cxn>
                  <a:cxn ang="0">
                    <a:pos x="10" y="364"/>
                  </a:cxn>
                  <a:cxn ang="0">
                    <a:pos x="2" y="364"/>
                  </a:cxn>
                  <a:cxn ang="0">
                    <a:pos x="2" y="324"/>
                  </a:cxn>
                  <a:cxn ang="0">
                    <a:pos x="17" y="287"/>
                  </a:cxn>
                  <a:cxn ang="0">
                    <a:pos x="34" y="239"/>
                  </a:cxn>
                  <a:cxn ang="0">
                    <a:pos x="42" y="204"/>
                  </a:cxn>
                  <a:cxn ang="0">
                    <a:pos x="26" y="182"/>
                  </a:cxn>
                  <a:cxn ang="0">
                    <a:pos x="2" y="184"/>
                  </a:cxn>
                  <a:cxn ang="0">
                    <a:pos x="2" y="184"/>
                  </a:cxn>
                  <a:cxn ang="0">
                    <a:pos x="2" y="184"/>
                  </a:cxn>
                  <a:cxn ang="0">
                    <a:pos x="2" y="184"/>
                  </a:cxn>
                  <a:cxn ang="0">
                    <a:pos x="2" y="184"/>
                  </a:cxn>
                  <a:cxn ang="0">
                    <a:pos x="2" y="184"/>
                  </a:cxn>
                  <a:cxn ang="0">
                    <a:pos x="13" y="161"/>
                  </a:cxn>
                  <a:cxn ang="0">
                    <a:pos x="13" y="138"/>
                  </a:cxn>
                  <a:cxn ang="0">
                    <a:pos x="2" y="105"/>
                  </a:cxn>
                  <a:cxn ang="0">
                    <a:pos x="2" y="105"/>
                  </a:cxn>
                  <a:cxn ang="0">
                    <a:pos x="2" y="105"/>
                  </a:cxn>
                  <a:cxn ang="0">
                    <a:pos x="2" y="105"/>
                  </a:cxn>
                  <a:cxn ang="0">
                    <a:pos x="24" y="122"/>
                  </a:cxn>
                  <a:cxn ang="0">
                    <a:pos x="53" y="157"/>
                  </a:cxn>
                  <a:cxn ang="0">
                    <a:pos x="55" y="130"/>
                  </a:cxn>
                  <a:cxn ang="0">
                    <a:pos x="24" y="91"/>
                  </a:cxn>
                  <a:cxn ang="0">
                    <a:pos x="2" y="65"/>
                  </a:cxn>
                  <a:cxn ang="0">
                    <a:pos x="2" y="65"/>
                  </a:cxn>
                  <a:cxn ang="0">
                    <a:pos x="2" y="48"/>
                  </a:cxn>
                  <a:cxn ang="0">
                    <a:pos x="30" y="87"/>
                  </a:cxn>
                  <a:cxn ang="0">
                    <a:pos x="61" y="138"/>
                  </a:cxn>
                  <a:cxn ang="0">
                    <a:pos x="80" y="127"/>
                  </a:cxn>
                  <a:cxn ang="0">
                    <a:pos x="106" y="87"/>
                  </a:cxn>
                  <a:cxn ang="0">
                    <a:pos x="139" y="39"/>
                  </a:cxn>
                  <a:cxn ang="0">
                    <a:pos x="165" y="6"/>
                  </a:cxn>
                  <a:cxn ang="0">
                    <a:pos x="163" y="29"/>
                  </a:cxn>
                  <a:cxn ang="0">
                    <a:pos x="137" y="76"/>
                  </a:cxn>
                </a:cxnLst>
                <a:rect l="txL" t="txT" r="txR" b="txB"/>
                <a:pathLst>
                  <a:path w="266" h="391">
                    <a:moveTo>
                      <a:pt x="124" y="95"/>
                    </a:moveTo>
                    <a:lnTo>
                      <a:pt x="119" y="101"/>
                    </a:lnTo>
                    <a:lnTo>
                      <a:pt x="115" y="108"/>
                    </a:lnTo>
                    <a:lnTo>
                      <a:pt x="111" y="115"/>
                    </a:lnTo>
                    <a:lnTo>
                      <a:pt x="107" y="123"/>
                    </a:lnTo>
                    <a:lnTo>
                      <a:pt x="104" y="129"/>
                    </a:lnTo>
                    <a:lnTo>
                      <a:pt x="102" y="136"/>
                    </a:lnTo>
                    <a:lnTo>
                      <a:pt x="100" y="142"/>
                    </a:lnTo>
                    <a:lnTo>
                      <a:pt x="107" y="138"/>
                    </a:lnTo>
                    <a:lnTo>
                      <a:pt x="116" y="135"/>
                    </a:lnTo>
                    <a:lnTo>
                      <a:pt x="125" y="131"/>
                    </a:lnTo>
                    <a:lnTo>
                      <a:pt x="134" y="127"/>
                    </a:lnTo>
                    <a:lnTo>
                      <a:pt x="144" y="124"/>
                    </a:lnTo>
                    <a:lnTo>
                      <a:pt x="154" y="119"/>
                    </a:lnTo>
                    <a:lnTo>
                      <a:pt x="163" y="114"/>
                    </a:lnTo>
                    <a:lnTo>
                      <a:pt x="175" y="107"/>
                    </a:lnTo>
                    <a:lnTo>
                      <a:pt x="184" y="101"/>
                    </a:lnTo>
                    <a:lnTo>
                      <a:pt x="195" y="93"/>
                    </a:lnTo>
                    <a:lnTo>
                      <a:pt x="203" y="89"/>
                    </a:lnTo>
                    <a:lnTo>
                      <a:pt x="211" y="81"/>
                    </a:lnTo>
                    <a:lnTo>
                      <a:pt x="218" y="75"/>
                    </a:lnTo>
                    <a:lnTo>
                      <a:pt x="224" y="66"/>
                    </a:lnTo>
                    <a:lnTo>
                      <a:pt x="227" y="59"/>
                    </a:lnTo>
                    <a:lnTo>
                      <a:pt x="230" y="51"/>
                    </a:lnTo>
                    <a:lnTo>
                      <a:pt x="233" y="46"/>
                    </a:lnTo>
                    <a:lnTo>
                      <a:pt x="233" y="52"/>
                    </a:lnTo>
                    <a:lnTo>
                      <a:pt x="233" y="56"/>
                    </a:lnTo>
                    <a:lnTo>
                      <a:pt x="231" y="61"/>
                    </a:lnTo>
                    <a:lnTo>
                      <a:pt x="227" y="67"/>
                    </a:lnTo>
                    <a:lnTo>
                      <a:pt x="220" y="76"/>
                    </a:lnTo>
                    <a:lnTo>
                      <a:pt x="217" y="83"/>
                    </a:lnTo>
                    <a:lnTo>
                      <a:pt x="210" y="88"/>
                    </a:lnTo>
                    <a:lnTo>
                      <a:pt x="202" y="94"/>
                    </a:lnTo>
                    <a:lnTo>
                      <a:pt x="192" y="101"/>
                    </a:lnTo>
                    <a:lnTo>
                      <a:pt x="183" y="109"/>
                    </a:lnTo>
                    <a:lnTo>
                      <a:pt x="173" y="116"/>
                    </a:lnTo>
                    <a:lnTo>
                      <a:pt x="167" y="122"/>
                    </a:lnTo>
                    <a:lnTo>
                      <a:pt x="159" y="129"/>
                    </a:lnTo>
                    <a:lnTo>
                      <a:pt x="151" y="133"/>
                    </a:lnTo>
                    <a:lnTo>
                      <a:pt x="142" y="138"/>
                    </a:lnTo>
                    <a:lnTo>
                      <a:pt x="133" y="143"/>
                    </a:lnTo>
                    <a:lnTo>
                      <a:pt x="125" y="148"/>
                    </a:lnTo>
                    <a:lnTo>
                      <a:pt x="118" y="152"/>
                    </a:lnTo>
                    <a:lnTo>
                      <a:pt x="109" y="156"/>
                    </a:lnTo>
                    <a:lnTo>
                      <a:pt x="102" y="159"/>
                    </a:lnTo>
                    <a:lnTo>
                      <a:pt x="100" y="161"/>
                    </a:lnTo>
                    <a:lnTo>
                      <a:pt x="102" y="165"/>
                    </a:lnTo>
                    <a:lnTo>
                      <a:pt x="106" y="170"/>
                    </a:lnTo>
                    <a:lnTo>
                      <a:pt x="110" y="176"/>
                    </a:lnTo>
                    <a:lnTo>
                      <a:pt x="119" y="178"/>
                    </a:lnTo>
                    <a:lnTo>
                      <a:pt x="125" y="178"/>
                    </a:lnTo>
                    <a:lnTo>
                      <a:pt x="135" y="180"/>
                    </a:lnTo>
                    <a:lnTo>
                      <a:pt x="144" y="180"/>
                    </a:lnTo>
                    <a:lnTo>
                      <a:pt x="155" y="180"/>
                    </a:lnTo>
                    <a:lnTo>
                      <a:pt x="165" y="182"/>
                    </a:lnTo>
                    <a:lnTo>
                      <a:pt x="175" y="182"/>
                    </a:lnTo>
                    <a:lnTo>
                      <a:pt x="185" y="184"/>
                    </a:lnTo>
                    <a:lnTo>
                      <a:pt x="193" y="185"/>
                    </a:lnTo>
                    <a:lnTo>
                      <a:pt x="202" y="187"/>
                    </a:lnTo>
                    <a:lnTo>
                      <a:pt x="208" y="189"/>
                    </a:lnTo>
                    <a:lnTo>
                      <a:pt x="215" y="193"/>
                    </a:lnTo>
                    <a:lnTo>
                      <a:pt x="221" y="196"/>
                    </a:lnTo>
                    <a:lnTo>
                      <a:pt x="229" y="200"/>
                    </a:lnTo>
                    <a:lnTo>
                      <a:pt x="239" y="204"/>
                    </a:lnTo>
                    <a:lnTo>
                      <a:pt x="249" y="208"/>
                    </a:lnTo>
                    <a:lnTo>
                      <a:pt x="256" y="211"/>
                    </a:lnTo>
                    <a:lnTo>
                      <a:pt x="265" y="214"/>
                    </a:lnTo>
                    <a:lnTo>
                      <a:pt x="258" y="215"/>
                    </a:lnTo>
                    <a:lnTo>
                      <a:pt x="251" y="215"/>
                    </a:lnTo>
                    <a:lnTo>
                      <a:pt x="244" y="213"/>
                    </a:lnTo>
                    <a:lnTo>
                      <a:pt x="236" y="211"/>
                    </a:lnTo>
                    <a:lnTo>
                      <a:pt x="226" y="207"/>
                    </a:lnTo>
                    <a:lnTo>
                      <a:pt x="219" y="206"/>
                    </a:lnTo>
                    <a:lnTo>
                      <a:pt x="213" y="204"/>
                    </a:lnTo>
                    <a:lnTo>
                      <a:pt x="204" y="202"/>
                    </a:lnTo>
                    <a:lnTo>
                      <a:pt x="195" y="201"/>
                    </a:lnTo>
                    <a:lnTo>
                      <a:pt x="184" y="200"/>
                    </a:lnTo>
                    <a:lnTo>
                      <a:pt x="173" y="199"/>
                    </a:lnTo>
                    <a:lnTo>
                      <a:pt x="162" y="198"/>
                    </a:lnTo>
                    <a:lnTo>
                      <a:pt x="152" y="198"/>
                    </a:lnTo>
                    <a:lnTo>
                      <a:pt x="142" y="198"/>
                    </a:lnTo>
                    <a:lnTo>
                      <a:pt x="134" y="197"/>
                    </a:lnTo>
                    <a:lnTo>
                      <a:pt x="124" y="197"/>
                    </a:lnTo>
                    <a:lnTo>
                      <a:pt x="114" y="195"/>
                    </a:lnTo>
                    <a:lnTo>
                      <a:pt x="102" y="192"/>
                    </a:lnTo>
                    <a:lnTo>
                      <a:pt x="92" y="189"/>
                    </a:lnTo>
                    <a:lnTo>
                      <a:pt x="80" y="188"/>
                    </a:lnTo>
                    <a:lnTo>
                      <a:pt x="84" y="195"/>
                    </a:lnTo>
                    <a:lnTo>
                      <a:pt x="88" y="203"/>
                    </a:lnTo>
                    <a:lnTo>
                      <a:pt x="93" y="215"/>
                    </a:lnTo>
                    <a:lnTo>
                      <a:pt x="94" y="223"/>
                    </a:lnTo>
                    <a:lnTo>
                      <a:pt x="95" y="233"/>
                    </a:lnTo>
                    <a:lnTo>
                      <a:pt x="94" y="241"/>
                    </a:lnTo>
                    <a:lnTo>
                      <a:pt x="93" y="248"/>
                    </a:lnTo>
                    <a:lnTo>
                      <a:pt x="93" y="259"/>
                    </a:lnTo>
                    <a:lnTo>
                      <a:pt x="92" y="273"/>
                    </a:lnTo>
                    <a:lnTo>
                      <a:pt x="92" y="285"/>
                    </a:lnTo>
                    <a:lnTo>
                      <a:pt x="93" y="297"/>
                    </a:lnTo>
                    <a:lnTo>
                      <a:pt x="93" y="307"/>
                    </a:lnTo>
                    <a:lnTo>
                      <a:pt x="92" y="316"/>
                    </a:lnTo>
                    <a:lnTo>
                      <a:pt x="89" y="326"/>
                    </a:lnTo>
                    <a:lnTo>
                      <a:pt x="85" y="338"/>
                    </a:lnTo>
                    <a:lnTo>
                      <a:pt x="82" y="346"/>
                    </a:lnTo>
                    <a:lnTo>
                      <a:pt x="77" y="354"/>
                    </a:lnTo>
                    <a:lnTo>
                      <a:pt x="73" y="363"/>
                    </a:lnTo>
                    <a:lnTo>
                      <a:pt x="69" y="369"/>
                    </a:lnTo>
                    <a:lnTo>
                      <a:pt x="62" y="376"/>
                    </a:lnTo>
                    <a:lnTo>
                      <a:pt x="53" y="382"/>
                    </a:lnTo>
                    <a:lnTo>
                      <a:pt x="46" y="390"/>
                    </a:lnTo>
                    <a:lnTo>
                      <a:pt x="45" y="382"/>
                    </a:lnTo>
                    <a:lnTo>
                      <a:pt x="46" y="372"/>
                    </a:lnTo>
                    <a:lnTo>
                      <a:pt x="47" y="362"/>
                    </a:lnTo>
                    <a:lnTo>
                      <a:pt x="48" y="353"/>
                    </a:lnTo>
                    <a:lnTo>
                      <a:pt x="50" y="346"/>
                    </a:lnTo>
                    <a:lnTo>
                      <a:pt x="53" y="337"/>
                    </a:lnTo>
                    <a:lnTo>
                      <a:pt x="56" y="328"/>
                    </a:lnTo>
                    <a:lnTo>
                      <a:pt x="58" y="320"/>
                    </a:lnTo>
                    <a:lnTo>
                      <a:pt x="59" y="313"/>
                    </a:lnTo>
                    <a:lnTo>
                      <a:pt x="61" y="299"/>
                    </a:lnTo>
                    <a:lnTo>
                      <a:pt x="62" y="285"/>
                    </a:lnTo>
                    <a:lnTo>
                      <a:pt x="63" y="273"/>
                    </a:lnTo>
                    <a:lnTo>
                      <a:pt x="65" y="260"/>
                    </a:lnTo>
                    <a:lnTo>
                      <a:pt x="67" y="247"/>
                    </a:lnTo>
                    <a:lnTo>
                      <a:pt x="67" y="238"/>
                    </a:lnTo>
                    <a:lnTo>
                      <a:pt x="67" y="231"/>
                    </a:lnTo>
                    <a:lnTo>
                      <a:pt x="68" y="222"/>
                    </a:lnTo>
                    <a:lnTo>
                      <a:pt x="67" y="212"/>
                    </a:lnTo>
                    <a:lnTo>
                      <a:pt x="66" y="206"/>
                    </a:lnTo>
                    <a:lnTo>
                      <a:pt x="64" y="198"/>
                    </a:lnTo>
                    <a:lnTo>
                      <a:pt x="62" y="187"/>
                    </a:lnTo>
                    <a:lnTo>
                      <a:pt x="58" y="195"/>
                    </a:lnTo>
                    <a:lnTo>
                      <a:pt x="54" y="203"/>
                    </a:lnTo>
                    <a:lnTo>
                      <a:pt x="50" y="212"/>
                    </a:lnTo>
                    <a:lnTo>
                      <a:pt x="48" y="221"/>
                    </a:lnTo>
                    <a:lnTo>
                      <a:pt x="46" y="232"/>
                    </a:lnTo>
                    <a:lnTo>
                      <a:pt x="44" y="239"/>
                    </a:lnTo>
                    <a:lnTo>
                      <a:pt x="43" y="249"/>
                    </a:lnTo>
                    <a:lnTo>
                      <a:pt x="41" y="260"/>
                    </a:lnTo>
                    <a:lnTo>
                      <a:pt x="39" y="273"/>
                    </a:lnTo>
                    <a:lnTo>
                      <a:pt x="38" y="283"/>
                    </a:lnTo>
                    <a:lnTo>
                      <a:pt x="37" y="295"/>
                    </a:lnTo>
                    <a:lnTo>
                      <a:pt x="36" y="305"/>
                    </a:lnTo>
                    <a:lnTo>
                      <a:pt x="33" y="315"/>
                    </a:lnTo>
                    <a:lnTo>
                      <a:pt x="32" y="325"/>
                    </a:lnTo>
                    <a:lnTo>
                      <a:pt x="30" y="333"/>
                    </a:lnTo>
                    <a:lnTo>
                      <a:pt x="26" y="340"/>
                    </a:lnTo>
                    <a:lnTo>
                      <a:pt x="21" y="348"/>
                    </a:lnTo>
                    <a:lnTo>
                      <a:pt x="15" y="356"/>
                    </a:lnTo>
                    <a:lnTo>
                      <a:pt x="10" y="364"/>
                    </a:lnTo>
                    <a:lnTo>
                      <a:pt x="5" y="368"/>
                    </a:lnTo>
                    <a:lnTo>
                      <a:pt x="2" y="364"/>
                    </a:lnTo>
                    <a:lnTo>
                      <a:pt x="2" y="344"/>
                    </a:lnTo>
                    <a:lnTo>
                      <a:pt x="2" y="364"/>
                    </a:lnTo>
                    <a:lnTo>
                      <a:pt x="2" y="344"/>
                    </a:lnTo>
                    <a:lnTo>
                      <a:pt x="2" y="324"/>
                    </a:lnTo>
                    <a:lnTo>
                      <a:pt x="5" y="316"/>
                    </a:lnTo>
                    <a:lnTo>
                      <a:pt x="9" y="306"/>
                    </a:lnTo>
                    <a:lnTo>
                      <a:pt x="13" y="297"/>
                    </a:lnTo>
                    <a:lnTo>
                      <a:pt x="17" y="287"/>
                    </a:lnTo>
                    <a:lnTo>
                      <a:pt x="21" y="278"/>
                    </a:lnTo>
                    <a:lnTo>
                      <a:pt x="25" y="268"/>
                    </a:lnTo>
                    <a:lnTo>
                      <a:pt x="28" y="259"/>
                    </a:lnTo>
                    <a:lnTo>
                      <a:pt x="31" y="249"/>
                    </a:lnTo>
                    <a:lnTo>
                      <a:pt x="34" y="239"/>
                    </a:lnTo>
                    <a:lnTo>
                      <a:pt x="36" y="233"/>
                    </a:lnTo>
                    <a:lnTo>
                      <a:pt x="38" y="225"/>
                    </a:lnTo>
                    <a:lnTo>
                      <a:pt x="41" y="216"/>
                    </a:lnTo>
                    <a:lnTo>
                      <a:pt x="44" y="210"/>
                    </a:lnTo>
                    <a:lnTo>
                      <a:pt x="42" y="204"/>
                    </a:lnTo>
                    <a:lnTo>
                      <a:pt x="41" y="197"/>
                    </a:lnTo>
                    <a:lnTo>
                      <a:pt x="42" y="192"/>
                    </a:lnTo>
                    <a:lnTo>
                      <a:pt x="43" y="185"/>
                    </a:lnTo>
                    <a:lnTo>
                      <a:pt x="36" y="184"/>
                    </a:lnTo>
                    <a:lnTo>
                      <a:pt x="26" y="182"/>
                    </a:lnTo>
                    <a:lnTo>
                      <a:pt x="18" y="187"/>
                    </a:lnTo>
                    <a:lnTo>
                      <a:pt x="11" y="191"/>
                    </a:lnTo>
                    <a:lnTo>
                      <a:pt x="3" y="195"/>
                    </a:lnTo>
                    <a:lnTo>
                      <a:pt x="2" y="184"/>
                    </a:lnTo>
                    <a:lnTo>
                      <a:pt x="2" y="164"/>
                    </a:lnTo>
                    <a:lnTo>
                      <a:pt x="2" y="184"/>
                    </a:lnTo>
                    <a:lnTo>
                      <a:pt x="2" y="164"/>
                    </a:lnTo>
                    <a:lnTo>
                      <a:pt x="5" y="164"/>
                    </a:lnTo>
                    <a:lnTo>
                      <a:pt x="13" y="161"/>
                    </a:lnTo>
                    <a:lnTo>
                      <a:pt x="15" y="156"/>
                    </a:lnTo>
                    <a:lnTo>
                      <a:pt x="17" y="151"/>
                    </a:lnTo>
                    <a:lnTo>
                      <a:pt x="19" y="146"/>
                    </a:lnTo>
                    <a:lnTo>
                      <a:pt x="18" y="144"/>
                    </a:lnTo>
                    <a:lnTo>
                      <a:pt x="13" y="138"/>
                    </a:lnTo>
                    <a:lnTo>
                      <a:pt x="6" y="132"/>
                    </a:lnTo>
                    <a:lnTo>
                      <a:pt x="0" y="125"/>
                    </a:lnTo>
                    <a:lnTo>
                      <a:pt x="2" y="124"/>
                    </a:lnTo>
                    <a:lnTo>
                      <a:pt x="2" y="105"/>
                    </a:lnTo>
                    <a:lnTo>
                      <a:pt x="1" y="103"/>
                    </a:lnTo>
                    <a:lnTo>
                      <a:pt x="11" y="110"/>
                    </a:lnTo>
                    <a:lnTo>
                      <a:pt x="19" y="117"/>
                    </a:lnTo>
                    <a:lnTo>
                      <a:pt x="24" y="122"/>
                    </a:lnTo>
                    <a:lnTo>
                      <a:pt x="28" y="128"/>
                    </a:lnTo>
                    <a:lnTo>
                      <a:pt x="35" y="137"/>
                    </a:lnTo>
                    <a:lnTo>
                      <a:pt x="40" y="143"/>
                    </a:lnTo>
                    <a:lnTo>
                      <a:pt x="46" y="150"/>
                    </a:lnTo>
                    <a:lnTo>
                      <a:pt x="53" y="157"/>
                    </a:lnTo>
                    <a:lnTo>
                      <a:pt x="55" y="155"/>
                    </a:lnTo>
                    <a:lnTo>
                      <a:pt x="59" y="148"/>
                    </a:lnTo>
                    <a:lnTo>
                      <a:pt x="62" y="143"/>
                    </a:lnTo>
                    <a:lnTo>
                      <a:pt x="60" y="138"/>
                    </a:lnTo>
                    <a:lnTo>
                      <a:pt x="55" y="130"/>
                    </a:lnTo>
                    <a:lnTo>
                      <a:pt x="51" y="123"/>
                    </a:lnTo>
                    <a:lnTo>
                      <a:pt x="46" y="115"/>
                    </a:lnTo>
                    <a:lnTo>
                      <a:pt x="40" y="109"/>
                    </a:lnTo>
                    <a:lnTo>
                      <a:pt x="31" y="100"/>
                    </a:lnTo>
                    <a:lnTo>
                      <a:pt x="24" y="91"/>
                    </a:lnTo>
                    <a:lnTo>
                      <a:pt x="17" y="84"/>
                    </a:lnTo>
                    <a:lnTo>
                      <a:pt x="12" y="78"/>
                    </a:lnTo>
                    <a:lnTo>
                      <a:pt x="6" y="70"/>
                    </a:lnTo>
                    <a:lnTo>
                      <a:pt x="2" y="65"/>
                    </a:lnTo>
                    <a:lnTo>
                      <a:pt x="2" y="44"/>
                    </a:lnTo>
                    <a:lnTo>
                      <a:pt x="2" y="65"/>
                    </a:lnTo>
                    <a:lnTo>
                      <a:pt x="2" y="44"/>
                    </a:lnTo>
                    <a:lnTo>
                      <a:pt x="2" y="53"/>
                    </a:lnTo>
                    <a:lnTo>
                      <a:pt x="2" y="48"/>
                    </a:lnTo>
                    <a:lnTo>
                      <a:pt x="4" y="55"/>
                    </a:lnTo>
                    <a:lnTo>
                      <a:pt x="11" y="63"/>
                    </a:lnTo>
                    <a:lnTo>
                      <a:pt x="17" y="70"/>
                    </a:lnTo>
                    <a:lnTo>
                      <a:pt x="25" y="80"/>
                    </a:lnTo>
                    <a:lnTo>
                      <a:pt x="30" y="87"/>
                    </a:lnTo>
                    <a:lnTo>
                      <a:pt x="37" y="95"/>
                    </a:lnTo>
                    <a:lnTo>
                      <a:pt x="43" y="106"/>
                    </a:lnTo>
                    <a:lnTo>
                      <a:pt x="48" y="115"/>
                    </a:lnTo>
                    <a:lnTo>
                      <a:pt x="54" y="124"/>
                    </a:lnTo>
                    <a:lnTo>
                      <a:pt x="61" y="138"/>
                    </a:lnTo>
                    <a:lnTo>
                      <a:pt x="64" y="146"/>
                    </a:lnTo>
                    <a:lnTo>
                      <a:pt x="66" y="151"/>
                    </a:lnTo>
                    <a:lnTo>
                      <a:pt x="70" y="143"/>
                    </a:lnTo>
                    <a:lnTo>
                      <a:pt x="75" y="135"/>
                    </a:lnTo>
                    <a:lnTo>
                      <a:pt x="80" y="127"/>
                    </a:lnTo>
                    <a:lnTo>
                      <a:pt x="85" y="118"/>
                    </a:lnTo>
                    <a:lnTo>
                      <a:pt x="90" y="110"/>
                    </a:lnTo>
                    <a:lnTo>
                      <a:pt x="94" y="103"/>
                    </a:lnTo>
                    <a:lnTo>
                      <a:pt x="100" y="96"/>
                    </a:lnTo>
                    <a:lnTo>
                      <a:pt x="106" y="87"/>
                    </a:lnTo>
                    <a:lnTo>
                      <a:pt x="113" y="78"/>
                    </a:lnTo>
                    <a:lnTo>
                      <a:pt x="120" y="68"/>
                    </a:lnTo>
                    <a:lnTo>
                      <a:pt x="127" y="58"/>
                    </a:lnTo>
                    <a:lnTo>
                      <a:pt x="132" y="50"/>
                    </a:lnTo>
                    <a:lnTo>
                      <a:pt x="139" y="39"/>
                    </a:lnTo>
                    <a:lnTo>
                      <a:pt x="144" y="33"/>
                    </a:lnTo>
                    <a:lnTo>
                      <a:pt x="150" y="26"/>
                    </a:lnTo>
                    <a:lnTo>
                      <a:pt x="156" y="21"/>
                    </a:lnTo>
                    <a:lnTo>
                      <a:pt x="161" y="15"/>
                    </a:lnTo>
                    <a:lnTo>
                      <a:pt x="165" y="6"/>
                    </a:lnTo>
                    <a:lnTo>
                      <a:pt x="170" y="0"/>
                    </a:lnTo>
                    <a:lnTo>
                      <a:pt x="169" y="5"/>
                    </a:lnTo>
                    <a:lnTo>
                      <a:pt x="168" y="13"/>
                    </a:lnTo>
                    <a:lnTo>
                      <a:pt x="166" y="21"/>
                    </a:lnTo>
                    <a:lnTo>
                      <a:pt x="163" y="29"/>
                    </a:lnTo>
                    <a:lnTo>
                      <a:pt x="159" y="37"/>
                    </a:lnTo>
                    <a:lnTo>
                      <a:pt x="153" y="47"/>
                    </a:lnTo>
                    <a:lnTo>
                      <a:pt x="148" y="56"/>
                    </a:lnTo>
                    <a:lnTo>
                      <a:pt x="143" y="67"/>
                    </a:lnTo>
                    <a:lnTo>
                      <a:pt x="137" y="76"/>
                    </a:lnTo>
                    <a:lnTo>
                      <a:pt x="130" y="87"/>
                    </a:lnTo>
                    <a:lnTo>
                      <a:pt x="124" y="95"/>
                    </a:lnTo>
                  </a:path>
                </a:pathLst>
              </a:custGeom>
              <a:solidFill>
                <a:srgbClr val="037C03">
                  <a:alpha val="50195"/>
                </a:srgbClr>
              </a:solidFill>
              <a:ln w="9525">
                <a:noFill/>
              </a:ln>
            </p:spPr>
            <p:txBody>
              <a:bodyPr/>
              <a:lstStyle/>
              <a:p>
                <a:endParaRPr lang="zh-CN" altLang="en-US"/>
              </a:p>
            </p:txBody>
          </p:sp>
          <p:grpSp>
            <p:nvGrpSpPr>
              <p:cNvPr id="89207" name="Group 125"/>
              <p:cNvGrpSpPr/>
              <p:nvPr/>
            </p:nvGrpSpPr>
            <p:grpSpPr>
              <a:xfrm>
                <a:off x="1707" y="1466"/>
                <a:ext cx="484" cy="368"/>
                <a:chOff x="1707" y="1466"/>
                <a:chExt cx="484" cy="368"/>
              </a:xfrm>
            </p:grpSpPr>
            <p:sp>
              <p:nvSpPr>
                <p:cNvPr id="89209" name="Freeform 126"/>
                <p:cNvSpPr/>
                <p:nvPr/>
              </p:nvSpPr>
              <p:spPr>
                <a:xfrm>
                  <a:off x="1751" y="1466"/>
                  <a:ext cx="440" cy="342"/>
                </a:xfrm>
                <a:custGeom>
                  <a:avLst/>
                  <a:gdLst>
                    <a:gd name="txL" fmla="*/ 0 w 440"/>
                    <a:gd name="txT" fmla="*/ 0 h 342"/>
                    <a:gd name="txR" fmla="*/ 440 w 440"/>
                    <a:gd name="txB" fmla="*/ 342 h 342"/>
                  </a:gdLst>
                  <a:ahLst/>
                  <a:cxnLst>
                    <a:cxn ang="0">
                      <a:pos x="167" y="42"/>
                    </a:cxn>
                    <a:cxn ang="0">
                      <a:pos x="202" y="14"/>
                    </a:cxn>
                    <a:cxn ang="0">
                      <a:pos x="245" y="3"/>
                    </a:cxn>
                    <a:cxn ang="0">
                      <a:pos x="292" y="2"/>
                    </a:cxn>
                    <a:cxn ang="0">
                      <a:pos x="304" y="7"/>
                    </a:cxn>
                    <a:cxn ang="0">
                      <a:pos x="272" y="15"/>
                    </a:cxn>
                    <a:cxn ang="0">
                      <a:pos x="236" y="26"/>
                    </a:cxn>
                    <a:cxn ang="0">
                      <a:pos x="195" y="55"/>
                    </a:cxn>
                    <a:cxn ang="0">
                      <a:pos x="191" y="94"/>
                    </a:cxn>
                    <a:cxn ang="0">
                      <a:pos x="252" y="70"/>
                    </a:cxn>
                    <a:cxn ang="0">
                      <a:pos x="301" y="67"/>
                    </a:cxn>
                    <a:cxn ang="0">
                      <a:pos x="354" y="72"/>
                    </a:cxn>
                    <a:cxn ang="0">
                      <a:pos x="416" y="79"/>
                    </a:cxn>
                    <a:cxn ang="0">
                      <a:pos x="417" y="80"/>
                    </a:cxn>
                    <a:cxn ang="0">
                      <a:pos x="357" y="83"/>
                    </a:cxn>
                    <a:cxn ang="0">
                      <a:pos x="302" y="84"/>
                    </a:cxn>
                    <a:cxn ang="0">
                      <a:pos x="254" y="90"/>
                    </a:cxn>
                    <a:cxn ang="0">
                      <a:pos x="200" y="103"/>
                    </a:cxn>
                    <a:cxn ang="0">
                      <a:pos x="222" y="123"/>
                    </a:cxn>
                    <a:cxn ang="0">
                      <a:pos x="238" y="142"/>
                    </a:cxn>
                    <a:cxn ang="0">
                      <a:pos x="184" y="125"/>
                    </a:cxn>
                    <a:cxn ang="0">
                      <a:pos x="173" y="136"/>
                    </a:cxn>
                    <a:cxn ang="0">
                      <a:pos x="232" y="145"/>
                    </a:cxn>
                    <a:cxn ang="0">
                      <a:pos x="282" y="157"/>
                    </a:cxn>
                    <a:cxn ang="0">
                      <a:pos x="321" y="190"/>
                    </a:cxn>
                    <a:cxn ang="0">
                      <a:pos x="351" y="234"/>
                    </a:cxn>
                    <a:cxn ang="0">
                      <a:pos x="344" y="242"/>
                    </a:cxn>
                    <a:cxn ang="0">
                      <a:pos x="304" y="214"/>
                    </a:cxn>
                    <a:cxn ang="0">
                      <a:pos x="259" y="183"/>
                    </a:cxn>
                    <a:cxn ang="0">
                      <a:pos x="211" y="162"/>
                    </a:cxn>
                    <a:cxn ang="0">
                      <a:pos x="180" y="155"/>
                    </a:cxn>
                    <a:cxn ang="0">
                      <a:pos x="206" y="189"/>
                    </a:cxn>
                    <a:cxn ang="0">
                      <a:pos x="238" y="234"/>
                    </a:cxn>
                    <a:cxn ang="0">
                      <a:pos x="256" y="275"/>
                    </a:cxn>
                    <a:cxn ang="0">
                      <a:pos x="255" y="313"/>
                    </a:cxn>
                    <a:cxn ang="0">
                      <a:pos x="232" y="271"/>
                    </a:cxn>
                    <a:cxn ang="0">
                      <a:pos x="208" y="226"/>
                    </a:cxn>
                    <a:cxn ang="0">
                      <a:pos x="181" y="185"/>
                    </a:cxn>
                    <a:cxn ang="0">
                      <a:pos x="157" y="149"/>
                    </a:cxn>
                    <a:cxn ang="0">
                      <a:pos x="115" y="170"/>
                    </a:cxn>
                    <a:cxn ang="0">
                      <a:pos x="80" y="221"/>
                    </a:cxn>
                    <a:cxn ang="0">
                      <a:pos x="51" y="273"/>
                    </a:cxn>
                    <a:cxn ang="0">
                      <a:pos x="18" y="321"/>
                    </a:cxn>
                    <a:cxn ang="0">
                      <a:pos x="8" y="315"/>
                    </a:cxn>
                    <a:cxn ang="0">
                      <a:pos x="47" y="255"/>
                    </a:cxn>
                    <a:cxn ang="0">
                      <a:pos x="82" y="208"/>
                    </a:cxn>
                    <a:cxn ang="0">
                      <a:pos x="112" y="162"/>
                    </a:cxn>
                    <a:cxn ang="0">
                      <a:pos x="139" y="126"/>
                    </a:cxn>
                    <a:cxn ang="0">
                      <a:pos x="99" y="83"/>
                    </a:cxn>
                    <a:cxn ang="0">
                      <a:pos x="43" y="60"/>
                    </a:cxn>
                    <a:cxn ang="0">
                      <a:pos x="20" y="47"/>
                    </a:cxn>
                    <a:cxn ang="0">
                      <a:pos x="63" y="61"/>
                    </a:cxn>
                    <a:cxn ang="0">
                      <a:pos x="122" y="90"/>
                    </a:cxn>
                  </a:cxnLst>
                  <a:rect l="txL" t="txT" r="txR" b="txB"/>
                  <a:pathLst>
                    <a:path w="440" h="342">
                      <a:moveTo>
                        <a:pt x="138" y="87"/>
                      </a:moveTo>
                      <a:lnTo>
                        <a:pt x="141" y="78"/>
                      </a:lnTo>
                      <a:lnTo>
                        <a:pt x="146" y="69"/>
                      </a:lnTo>
                      <a:lnTo>
                        <a:pt x="153" y="59"/>
                      </a:lnTo>
                      <a:lnTo>
                        <a:pt x="160" y="51"/>
                      </a:lnTo>
                      <a:lnTo>
                        <a:pt x="167" y="42"/>
                      </a:lnTo>
                      <a:lnTo>
                        <a:pt x="172" y="36"/>
                      </a:lnTo>
                      <a:lnTo>
                        <a:pt x="178" y="31"/>
                      </a:lnTo>
                      <a:lnTo>
                        <a:pt x="184" y="26"/>
                      </a:lnTo>
                      <a:lnTo>
                        <a:pt x="190" y="21"/>
                      </a:lnTo>
                      <a:lnTo>
                        <a:pt x="196" y="17"/>
                      </a:lnTo>
                      <a:lnTo>
                        <a:pt x="202" y="14"/>
                      </a:lnTo>
                      <a:lnTo>
                        <a:pt x="208" y="11"/>
                      </a:lnTo>
                      <a:lnTo>
                        <a:pt x="215" y="8"/>
                      </a:lnTo>
                      <a:lnTo>
                        <a:pt x="222" y="7"/>
                      </a:lnTo>
                      <a:lnTo>
                        <a:pt x="230" y="5"/>
                      </a:lnTo>
                      <a:lnTo>
                        <a:pt x="237" y="3"/>
                      </a:lnTo>
                      <a:lnTo>
                        <a:pt x="245" y="3"/>
                      </a:lnTo>
                      <a:lnTo>
                        <a:pt x="252" y="2"/>
                      </a:lnTo>
                      <a:lnTo>
                        <a:pt x="260" y="2"/>
                      </a:lnTo>
                      <a:lnTo>
                        <a:pt x="270" y="1"/>
                      </a:lnTo>
                      <a:lnTo>
                        <a:pt x="278" y="2"/>
                      </a:lnTo>
                      <a:lnTo>
                        <a:pt x="285" y="2"/>
                      </a:lnTo>
                      <a:lnTo>
                        <a:pt x="292" y="2"/>
                      </a:lnTo>
                      <a:lnTo>
                        <a:pt x="299" y="2"/>
                      </a:lnTo>
                      <a:lnTo>
                        <a:pt x="307" y="1"/>
                      </a:lnTo>
                      <a:lnTo>
                        <a:pt x="314" y="0"/>
                      </a:lnTo>
                      <a:lnTo>
                        <a:pt x="310" y="2"/>
                      </a:lnTo>
                      <a:lnTo>
                        <a:pt x="307" y="4"/>
                      </a:lnTo>
                      <a:lnTo>
                        <a:pt x="304" y="7"/>
                      </a:lnTo>
                      <a:lnTo>
                        <a:pt x="301" y="10"/>
                      </a:lnTo>
                      <a:lnTo>
                        <a:pt x="295" y="10"/>
                      </a:lnTo>
                      <a:lnTo>
                        <a:pt x="288" y="11"/>
                      </a:lnTo>
                      <a:lnTo>
                        <a:pt x="284" y="12"/>
                      </a:lnTo>
                      <a:lnTo>
                        <a:pt x="278" y="13"/>
                      </a:lnTo>
                      <a:lnTo>
                        <a:pt x="272" y="15"/>
                      </a:lnTo>
                      <a:lnTo>
                        <a:pt x="266" y="16"/>
                      </a:lnTo>
                      <a:lnTo>
                        <a:pt x="260" y="17"/>
                      </a:lnTo>
                      <a:lnTo>
                        <a:pt x="254" y="19"/>
                      </a:lnTo>
                      <a:lnTo>
                        <a:pt x="248" y="21"/>
                      </a:lnTo>
                      <a:lnTo>
                        <a:pt x="241" y="23"/>
                      </a:lnTo>
                      <a:lnTo>
                        <a:pt x="236" y="26"/>
                      </a:lnTo>
                      <a:lnTo>
                        <a:pt x="229" y="29"/>
                      </a:lnTo>
                      <a:lnTo>
                        <a:pt x="222" y="32"/>
                      </a:lnTo>
                      <a:lnTo>
                        <a:pt x="215" y="36"/>
                      </a:lnTo>
                      <a:lnTo>
                        <a:pt x="208" y="41"/>
                      </a:lnTo>
                      <a:lnTo>
                        <a:pt x="201" y="47"/>
                      </a:lnTo>
                      <a:lnTo>
                        <a:pt x="195" y="55"/>
                      </a:lnTo>
                      <a:lnTo>
                        <a:pt x="189" y="64"/>
                      </a:lnTo>
                      <a:lnTo>
                        <a:pt x="181" y="77"/>
                      </a:lnTo>
                      <a:lnTo>
                        <a:pt x="175" y="90"/>
                      </a:lnTo>
                      <a:lnTo>
                        <a:pt x="167" y="106"/>
                      </a:lnTo>
                      <a:lnTo>
                        <a:pt x="180" y="99"/>
                      </a:lnTo>
                      <a:lnTo>
                        <a:pt x="191" y="94"/>
                      </a:lnTo>
                      <a:lnTo>
                        <a:pt x="206" y="86"/>
                      </a:lnTo>
                      <a:lnTo>
                        <a:pt x="222" y="78"/>
                      </a:lnTo>
                      <a:lnTo>
                        <a:pt x="229" y="77"/>
                      </a:lnTo>
                      <a:lnTo>
                        <a:pt x="236" y="74"/>
                      </a:lnTo>
                      <a:lnTo>
                        <a:pt x="243" y="72"/>
                      </a:lnTo>
                      <a:lnTo>
                        <a:pt x="252" y="70"/>
                      </a:lnTo>
                      <a:lnTo>
                        <a:pt x="261" y="68"/>
                      </a:lnTo>
                      <a:lnTo>
                        <a:pt x="269" y="68"/>
                      </a:lnTo>
                      <a:lnTo>
                        <a:pt x="275" y="67"/>
                      </a:lnTo>
                      <a:lnTo>
                        <a:pt x="285" y="66"/>
                      </a:lnTo>
                      <a:lnTo>
                        <a:pt x="294" y="66"/>
                      </a:lnTo>
                      <a:lnTo>
                        <a:pt x="301" y="67"/>
                      </a:lnTo>
                      <a:lnTo>
                        <a:pt x="311" y="68"/>
                      </a:lnTo>
                      <a:lnTo>
                        <a:pt x="319" y="69"/>
                      </a:lnTo>
                      <a:lnTo>
                        <a:pt x="328" y="69"/>
                      </a:lnTo>
                      <a:lnTo>
                        <a:pt x="336" y="70"/>
                      </a:lnTo>
                      <a:lnTo>
                        <a:pt x="345" y="71"/>
                      </a:lnTo>
                      <a:lnTo>
                        <a:pt x="354" y="72"/>
                      </a:lnTo>
                      <a:lnTo>
                        <a:pt x="363" y="73"/>
                      </a:lnTo>
                      <a:lnTo>
                        <a:pt x="371" y="74"/>
                      </a:lnTo>
                      <a:lnTo>
                        <a:pt x="381" y="75"/>
                      </a:lnTo>
                      <a:lnTo>
                        <a:pt x="392" y="76"/>
                      </a:lnTo>
                      <a:lnTo>
                        <a:pt x="401" y="77"/>
                      </a:lnTo>
                      <a:lnTo>
                        <a:pt x="416" y="79"/>
                      </a:lnTo>
                      <a:lnTo>
                        <a:pt x="421" y="79"/>
                      </a:lnTo>
                      <a:lnTo>
                        <a:pt x="425" y="79"/>
                      </a:lnTo>
                      <a:lnTo>
                        <a:pt x="430" y="81"/>
                      </a:lnTo>
                      <a:lnTo>
                        <a:pt x="439" y="84"/>
                      </a:lnTo>
                      <a:lnTo>
                        <a:pt x="424" y="81"/>
                      </a:lnTo>
                      <a:lnTo>
                        <a:pt x="417" y="80"/>
                      </a:lnTo>
                      <a:lnTo>
                        <a:pt x="411" y="80"/>
                      </a:lnTo>
                      <a:lnTo>
                        <a:pt x="397" y="81"/>
                      </a:lnTo>
                      <a:lnTo>
                        <a:pt x="388" y="82"/>
                      </a:lnTo>
                      <a:lnTo>
                        <a:pt x="377" y="82"/>
                      </a:lnTo>
                      <a:lnTo>
                        <a:pt x="367" y="82"/>
                      </a:lnTo>
                      <a:lnTo>
                        <a:pt x="357" y="83"/>
                      </a:lnTo>
                      <a:lnTo>
                        <a:pt x="348" y="83"/>
                      </a:lnTo>
                      <a:lnTo>
                        <a:pt x="340" y="82"/>
                      </a:lnTo>
                      <a:lnTo>
                        <a:pt x="330" y="82"/>
                      </a:lnTo>
                      <a:lnTo>
                        <a:pt x="319" y="82"/>
                      </a:lnTo>
                      <a:lnTo>
                        <a:pt x="310" y="83"/>
                      </a:lnTo>
                      <a:lnTo>
                        <a:pt x="302" y="84"/>
                      </a:lnTo>
                      <a:lnTo>
                        <a:pt x="292" y="84"/>
                      </a:lnTo>
                      <a:lnTo>
                        <a:pt x="285" y="84"/>
                      </a:lnTo>
                      <a:lnTo>
                        <a:pt x="276" y="85"/>
                      </a:lnTo>
                      <a:lnTo>
                        <a:pt x="269" y="87"/>
                      </a:lnTo>
                      <a:lnTo>
                        <a:pt x="261" y="88"/>
                      </a:lnTo>
                      <a:lnTo>
                        <a:pt x="254" y="90"/>
                      </a:lnTo>
                      <a:lnTo>
                        <a:pt x="246" y="92"/>
                      </a:lnTo>
                      <a:lnTo>
                        <a:pt x="238" y="94"/>
                      </a:lnTo>
                      <a:lnTo>
                        <a:pt x="229" y="96"/>
                      </a:lnTo>
                      <a:lnTo>
                        <a:pt x="222" y="98"/>
                      </a:lnTo>
                      <a:lnTo>
                        <a:pt x="208" y="102"/>
                      </a:lnTo>
                      <a:lnTo>
                        <a:pt x="200" y="103"/>
                      </a:lnTo>
                      <a:lnTo>
                        <a:pt x="189" y="108"/>
                      </a:lnTo>
                      <a:lnTo>
                        <a:pt x="172" y="115"/>
                      </a:lnTo>
                      <a:lnTo>
                        <a:pt x="189" y="117"/>
                      </a:lnTo>
                      <a:lnTo>
                        <a:pt x="209" y="118"/>
                      </a:lnTo>
                      <a:lnTo>
                        <a:pt x="213" y="118"/>
                      </a:lnTo>
                      <a:lnTo>
                        <a:pt x="222" y="123"/>
                      </a:lnTo>
                      <a:lnTo>
                        <a:pt x="228" y="126"/>
                      </a:lnTo>
                      <a:lnTo>
                        <a:pt x="234" y="129"/>
                      </a:lnTo>
                      <a:lnTo>
                        <a:pt x="235" y="131"/>
                      </a:lnTo>
                      <a:lnTo>
                        <a:pt x="238" y="137"/>
                      </a:lnTo>
                      <a:lnTo>
                        <a:pt x="245" y="146"/>
                      </a:lnTo>
                      <a:lnTo>
                        <a:pt x="238" y="142"/>
                      </a:lnTo>
                      <a:lnTo>
                        <a:pt x="229" y="137"/>
                      </a:lnTo>
                      <a:lnTo>
                        <a:pt x="222" y="135"/>
                      </a:lnTo>
                      <a:lnTo>
                        <a:pt x="209" y="132"/>
                      </a:lnTo>
                      <a:lnTo>
                        <a:pt x="199" y="129"/>
                      </a:lnTo>
                      <a:lnTo>
                        <a:pt x="189" y="126"/>
                      </a:lnTo>
                      <a:lnTo>
                        <a:pt x="184" y="125"/>
                      </a:lnTo>
                      <a:lnTo>
                        <a:pt x="172" y="126"/>
                      </a:lnTo>
                      <a:lnTo>
                        <a:pt x="165" y="127"/>
                      </a:lnTo>
                      <a:lnTo>
                        <a:pt x="155" y="129"/>
                      </a:lnTo>
                      <a:lnTo>
                        <a:pt x="160" y="131"/>
                      </a:lnTo>
                      <a:lnTo>
                        <a:pt x="166" y="132"/>
                      </a:lnTo>
                      <a:lnTo>
                        <a:pt x="173" y="136"/>
                      </a:lnTo>
                      <a:lnTo>
                        <a:pt x="181" y="135"/>
                      </a:lnTo>
                      <a:lnTo>
                        <a:pt x="195" y="136"/>
                      </a:lnTo>
                      <a:lnTo>
                        <a:pt x="203" y="137"/>
                      </a:lnTo>
                      <a:lnTo>
                        <a:pt x="215" y="140"/>
                      </a:lnTo>
                      <a:lnTo>
                        <a:pt x="222" y="143"/>
                      </a:lnTo>
                      <a:lnTo>
                        <a:pt x="232" y="145"/>
                      </a:lnTo>
                      <a:lnTo>
                        <a:pt x="242" y="148"/>
                      </a:lnTo>
                      <a:lnTo>
                        <a:pt x="251" y="151"/>
                      </a:lnTo>
                      <a:lnTo>
                        <a:pt x="259" y="152"/>
                      </a:lnTo>
                      <a:lnTo>
                        <a:pt x="266" y="153"/>
                      </a:lnTo>
                      <a:lnTo>
                        <a:pt x="273" y="155"/>
                      </a:lnTo>
                      <a:lnTo>
                        <a:pt x="282" y="157"/>
                      </a:lnTo>
                      <a:lnTo>
                        <a:pt x="291" y="161"/>
                      </a:lnTo>
                      <a:lnTo>
                        <a:pt x="299" y="165"/>
                      </a:lnTo>
                      <a:lnTo>
                        <a:pt x="303" y="169"/>
                      </a:lnTo>
                      <a:lnTo>
                        <a:pt x="309" y="175"/>
                      </a:lnTo>
                      <a:lnTo>
                        <a:pt x="316" y="183"/>
                      </a:lnTo>
                      <a:lnTo>
                        <a:pt x="321" y="190"/>
                      </a:lnTo>
                      <a:lnTo>
                        <a:pt x="326" y="197"/>
                      </a:lnTo>
                      <a:lnTo>
                        <a:pt x="331" y="204"/>
                      </a:lnTo>
                      <a:lnTo>
                        <a:pt x="335" y="212"/>
                      </a:lnTo>
                      <a:lnTo>
                        <a:pt x="340" y="218"/>
                      </a:lnTo>
                      <a:lnTo>
                        <a:pt x="345" y="226"/>
                      </a:lnTo>
                      <a:lnTo>
                        <a:pt x="351" y="234"/>
                      </a:lnTo>
                      <a:lnTo>
                        <a:pt x="356" y="243"/>
                      </a:lnTo>
                      <a:lnTo>
                        <a:pt x="361" y="250"/>
                      </a:lnTo>
                      <a:lnTo>
                        <a:pt x="368" y="258"/>
                      </a:lnTo>
                      <a:lnTo>
                        <a:pt x="359" y="251"/>
                      </a:lnTo>
                      <a:lnTo>
                        <a:pt x="353" y="247"/>
                      </a:lnTo>
                      <a:lnTo>
                        <a:pt x="344" y="242"/>
                      </a:lnTo>
                      <a:lnTo>
                        <a:pt x="336" y="236"/>
                      </a:lnTo>
                      <a:lnTo>
                        <a:pt x="330" y="231"/>
                      </a:lnTo>
                      <a:lnTo>
                        <a:pt x="323" y="226"/>
                      </a:lnTo>
                      <a:lnTo>
                        <a:pt x="317" y="222"/>
                      </a:lnTo>
                      <a:lnTo>
                        <a:pt x="311" y="218"/>
                      </a:lnTo>
                      <a:lnTo>
                        <a:pt x="304" y="214"/>
                      </a:lnTo>
                      <a:lnTo>
                        <a:pt x="297" y="210"/>
                      </a:lnTo>
                      <a:lnTo>
                        <a:pt x="291" y="205"/>
                      </a:lnTo>
                      <a:lnTo>
                        <a:pt x="284" y="200"/>
                      </a:lnTo>
                      <a:lnTo>
                        <a:pt x="275" y="195"/>
                      </a:lnTo>
                      <a:lnTo>
                        <a:pt x="267" y="189"/>
                      </a:lnTo>
                      <a:lnTo>
                        <a:pt x="259" y="183"/>
                      </a:lnTo>
                      <a:lnTo>
                        <a:pt x="252" y="179"/>
                      </a:lnTo>
                      <a:lnTo>
                        <a:pt x="245" y="174"/>
                      </a:lnTo>
                      <a:lnTo>
                        <a:pt x="237" y="170"/>
                      </a:lnTo>
                      <a:lnTo>
                        <a:pt x="229" y="167"/>
                      </a:lnTo>
                      <a:lnTo>
                        <a:pt x="222" y="165"/>
                      </a:lnTo>
                      <a:lnTo>
                        <a:pt x="211" y="162"/>
                      </a:lnTo>
                      <a:lnTo>
                        <a:pt x="201" y="159"/>
                      </a:lnTo>
                      <a:lnTo>
                        <a:pt x="194" y="157"/>
                      </a:lnTo>
                      <a:lnTo>
                        <a:pt x="186" y="155"/>
                      </a:lnTo>
                      <a:lnTo>
                        <a:pt x="175" y="149"/>
                      </a:lnTo>
                      <a:lnTo>
                        <a:pt x="163" y="144"/>
                      </a:lnTo>
                      <a:lnTo>
                        <a:pt x="180" y="155"/>
                      </a:lnTo>
                      <a:lnTo>
                        <a:pt x="182" y="157"/>
                      </a:lnTo>
                      <a:lnTo>
                        <a:pt x="186" y="162"/>
                      </a:lnTo>
                      <a:lnTo>
                        <a:pt x="190" y="168"/>
                      </a:lnTo>
                      <a:lnTo>
                        <a:pt x="195" y="175"/>
                      </a:lnTo>
                      <a:lnTo>
                        <a:pt x="201" y="182"/>
                      </a:lnTo>
                      <a:lnTo>
                        <a:pt x="206" y="189"/>
                      </a:lnTo>
                      <a:lnTo>
                        <a:pt x="212" y="197"/>
                      </a:lnTo>
                      <a:lnTo>
                        <a:pt x="217" y="204"/>
                      </a:lnTo>
                      <a:lnTo>
                        <a:pt x="222" y="210"/>
                      </a:lnTo>
                      <a:lnTo>
                        <a:pt x="227" y="217"/>
                      </a:lnTo>
                      <a:lnTo>
                        <a:pt x="233" y="227"/>
                      </a:lnTo>
                      <a:lnTo>
                        <a:pt x="238" y="234"/>
                      </a:lnTo>
                      <a:lnTo>
                        <a:pt x="242" y="241"/>
                      </a:lnTo>
                      <a:lnTo>
                        <a:pt x="246" y="248"/>
                      </a:lnTo>
                      <a:lnTo>
                        <a:pt x="250" y="255"/>
                      </a:lnTo>
                      <a:lnTo>
                        <a:pt x="252" y="262"/>
                      </a:lnTo>
                      <a:lnTo>
                        <a:pt x="254" y="267"/>
                      </a:lnTo>
                      <a:lnTo>
                        <a:pt x="256" y="275"/>
                      </a:lnTo>
                      <a:lnTo>
                        <a:pt x="257" y="285"/>
                      </a:lnTo>
                      <a:lnTo>
                        <a:pt x="258" y="294"/>
                      </a:lnTo>
                      <a:lnTo>
                        <a:pt x="259" y="304"/>
                      </a:lnTo>
                      <a:lnTo>
                        <a:pt x="261" y="313"/>
                      </a:lnTo>
                      <a:lnTo>
                        <a:pt x="262" y="323"/>
                      </a:lnTo>
                      <a:lnTo>
                        <a:pt x="255" y="313"/>
                      </a:lnTo>
                      <a:lnTo>
                        <a:pt x="249" y="307"/>
                      </a:lnTo>
                      <a:lnTo>
                        <a:pt x="245" y="300"/>
                      </a:lnTo>
                      <a:lnTo>
                        <a:pt x="241" y="295"/>
                      </a:lnTo>
                      <a:lnTo>
                        <a:pt x="238" y="288"/>
                      </a:lnTo>
                      <a:lnTo>
                        <a:pt x="236" y="280"/>
                      </a:lnTo>
                      <a:lnTo>
                        <a:pt x="232" y="271"/>
                      </a:lnTo>
                      <a:lnTo>
                        <a:pt x="228" y="263"/>
                      </a:lnTo>
                      <a:lnTo>
                        <a:pt x="224" y="254"/>
                      </a:lnTo>
                      <a:lnTo>
                        <a:pt x="221" y="246"/>
                      </a:lnTo>
                      <a:lnTo>
                        <a:pt x="217" y="238"/>
                      </a:lnTo>
                      <a:lnTo>
                        <a:pt x="212" y="232"/>
                      </a:lnTo>
                      <a:lnTo>
                        <a:pt x="208" y="226"/>
                      </a:lnTo>
                      <a:lnTo>
                        <a:pt x="202" y="218"/>
                      </a:lnTo>
                      <a:lnTo>
                        <a:pt x="196" y="211"/>
                      </a:lnTo>
                      <a:lnTo>
                        <a:pt x="191" y="205"/>
                      </a:lnTo>
                      <a:lnTo>
                        <a:pt x="186" y="199"/>
                      </a:lnTo>
                      <a:lnTo>
                        <a:pt x="185" y="194"/>
                      </a:lnTo>
                      <a:lnTo>
                        <a:pt x="181" y="185"/>
                      </a:lnTo>
                      <a:lnTo>
                        <a:pt x="177" y="179"/>
                      </a:lnTo>
                      <a:lnTo>
                        <a:pt x="174" y="171"/>
                      </a:lnTo>
                      <a:lnTo>
                        <a:pt x="172" y="169"/>
                      </a:lnTo>
                      <a:lnTo>
                        <a:pt x="165" y="162"/>
                      </a:lnTo>
                      <a:lnTo>
                        <a:pt x="161" y="155"/>
                      </a:lnTo>
                      <a:lnTo>
                        <a:pt x="157" y="149"/>
                      </a:lnTo>
                      <a:lnTo>
                        <a:pt x="153" y="143"/>
                      </a:lnTo>
                      <a:lnTo>
                        <a:pt x="145" y="146"/>
                      </a:lnTo>
                      <a:lnTo>
                        <a:pt x="137" y="151"/>
                      </a:lnTo>
                      <a:lnTo>
                        <a:pt x="129" y="158"/>
                      </a:lnTo>
                      <a:lnTo>
                        <a:pt x="121" y="164"/>
                      </a:lnTo>
                      <a:lnTo>
                        <a:pt x="115" y="170"/>
                      </a:lnTo>
                      <a:lnTo>
                        <a:pt x="110" y="176"/>
                      </a:lnTo>
                      <a:lnTo>
                        <a:pt x="104" y="185"/>
                      </a:lnTo>
                      <a:lnTo>
                        <a:pt x="97" y="195"/>
                      </a:lnTo>
                      <a:lnTo>
                        <a:pt x="92" y="203"/>
                      </a:lnTo>
                      <a:lnTo>
                        <a:pt x="85" y="212"/>
                      </a:lnTo>
                      <a:lnTo>
                        <a:pt x="80" y="221"/>
                      </a:lnTo>
                      <a:lnTo>
                        <a:pt x="76" y="229"/>
                      </a:lnTo>
                      <a:lnTo>
                        <a:pt x="71" y="237"/>
                      </a:lnTo>
                      <a:lnTo>
                        <a:pt x="67" y="245"/>
                      </a:lnTo>
                      <a:lnTo>
                        <a:pt x="62" y="254"/>
                      </a:lnTo>
                      <a:lnTo>
                        <a:pt x="58" y="263"/>
                      </a:lnTo>
                      <a:lnTo>
                        <a:pt x="51" y="273"/>
                      </a:lnTo>
                      <a:lnTo>
                        <a:pt x="45" y="283"/>
                      </a:lnTo>
                      <a:lnTo>
                        <a:pt x="38" y="294"/>
                      </a:lnTo>
                      <a:lnTo>
                        <a:pt x="33" y="303"/>
                      </a:lnTo>
                      <a:lnTo>
                        <a:pt x="28" y="309"/>
                      </a:lnTo>
                      <a:lnTo>
                        <a:pt x="24" y="315"/>
                      </a:lnTo>
                      <a:lnTo>
                        <a:pt x="18" y="321"/>
                      </a:lnTo>
                      <a:lnTo>
                        <a:pt x="13" y="327"/>
                      </a:lnTo>
                      <a:lnTo>
                        <a:pt x="7" y="333"/>
                      </a:lnTo>
                      <a:lnTo>
                        <a:pt x="0" y="341"/>
                      </a:lnTo>
                      <a:lnTo>
                        <a:pt x="2" y="331"/>
                      </a:lnTo>
                      <a:lnTo>
                        <a:pt x="5" y="324"/>
                      </a:lnTo>
                      <a:lnTo>
                        <a:pt x="8" y="315"/>
                      </a:lnTo>
                      <a:lnTo>
                        <a:pt x="13" y="309"/>
                      </a:lnTo>
                      <a:lnTo>
                        <a:pt x="20" y="298"/>
                      </a:lnTo>
                      <a:lnTo>
                        <a:pt x="27" y="287"/>
                      </a:lnTo>
                      <a:lnTo>
                        <a:pt x="35" y="275"/>
                      </a:lnTo>
                      <a:lnTo>
                        <a:pt x="41" y="265"/>
                      </a:lnTo>
                      <a:lnTo>
                        <a:pt x="47" y="255"/>
                      </a:lnTo>
                      <a:lnTo>
                        <a:pt x="54" y="246"/>
                      </a:lnTo>
                      <a:lnTo>
                        <a:pt x="59" y="238"/>
                      </a:lnTo>
                      <a:lnTo>
                        <a:pt x="64" y="231"/>
                      </a:lnTo>
                      <a:lnTo>
                        <a:pt x="69" y="224"/>
                      </a:lnTo>
                      <a:lnTo>
                        <a:pt x="76" y="216"/>
                      </a:lnTo>
                      <a:lnTo>
                        <a:pt x="82" y="208"/>
                      </a:lnTo>
                      <a:lnTo>
                        <a:pt x="88" y="199"/>
                      </a:lnTo>
                      <a:lnTo>
                        <a:pt x="95" y="190"/>
                      </a:lnTo>
                      <a:lnTo>
                        <a:pt x="100" y="183"/>
                      </a:lnTo>
                      <a:lnTo>
                        <a:pt x="105" y="175"/>
                      </a:lnTo>
                      <a:lnTo>
                        <a:pt x="110" y="167"/>
                      </a:lnTo>
                      <a:lnTo>
                        <a:pt x="112" y="162"/>
                      </a:lnTo>
                      <a:lnTo>
                        <a:pt x="114" y="156"/>
                      </a:lnTo>
                      <a:lnTo>
                        <a:pt x="118" y="151"/>
                      </a:lnTo>
                      <a:lnTo>
                        <a:pt x="122" y="145"/>
                      </a:lnTo>
                      <a:lnTo>
                        <a:pt x="129" y="138"/>
                      </a:lnTo>
                      <a:lnTo>
                        <a:pt x="134" y="131"/>
                      </a:lnTo>
                      <a:lnTo>
                        <a:pt x="139" y="126"/>
                      </a:lnTo>
                      <a:lnTo>
                        <a:pt x="143" y="119"/>
                      </a:lnTo>
                      <a:lnTo>
                        <a:pt x="141" y="114"/>
                      </a:lnTo>
                      <a:lnTo>
                        <a:pt x="139" y="106"/>
                      </a:lnTo>
                      <a:lnTo>
                        <a:pt x="127" y="102"/>
                      </a:lnTo>
                      <a:lnTo>
                        <a:pt x="113" y="92"/>
                      </a:lnTo>
                      <a:lnTo>
                        <a:pt x="99" y="83"/>
                      </a:lnTo>
                      <a:lnTo>
                        <a:pt x="92" y="78"/>
                      </a:lnTo>
                      <a:lnTo>
                        <a:pt x="86" y="74"/>
                      </a:lnTo>
                      <a:lnTo>
                        <a:pt x="75" y="70"/>
                      </a:lnTo>
                      <a:lnTo>
                        <a:pt x="64" y="66"/>
                      </a:lnTo>
                      <a:lnTo>
                        <a:pt x="52" y="63"/>
                      </a:lnTo>
                      <a:lnTo>
                        <a:pt x="43" y="60"/>
                      </a:lnTo>
                      <a:lnTo>
                        <a:pt x="33" y="56"/>
                      </a:lnTo>
                      <a:lnTo>
                        <a:pt x="24" y="53"/>
                      </a:lnTo>
                      <a:lnTo>
                        <a:pt x="15" y="51"/>
                      </a:lnTo>
                      <a:lnTo>
                        <a:pt x="8" y="49"/>
                      </a:lnTo>
                      <a:lnTo>
                        <a:pt x="15" y="49"/>
                      </a:lnTo>
                      <a:lnTo>
                        <a:pt x="20" y="47"/>
                      </a:lnTo>
                      <a:lnTo>
                        <a:pt x="25" y="47"/>
                      </a:lnTo>
                      <a:lnTo>
                        <a:pt x="29" y="46"/>
                      </a:lnTo>
                      <a:lnTo>
                        <a:pt x="34" y="47"/>
                      </a:lnTo>
                      <a:lnTo>
                        <a:pt x="45" y="51"/>
                      </a:lnTo>
                      <a:lnTo>
                        <a:pt x="53" y="56"/>
                      </a:lnTo>
                      <a:lnTo>
                        <a:pt x="63" y="61"/>
                      </a:lnTo>
                      <a:lnTo>
                        <a:pt x="72" y="66"/>
                      </a:lnTo>
                      <a:lnTo>
                        <a:pt x="84" y="71"/>
                      </a:lnTo>
                      <a:lnTo>
                        <a:pt x="93" y="77"/>
                      </a:lnTo>
                      <a:lnTo>
                        <a:pt x="101" y="81"/>
                      </a:lnTo>
                      <a:lnTo>
                        <a:pt x="115" y="88"/>
                      </a:lnTo>
                      <a:lnTo>
                        <a:pt x="122" y="90"/>
                      </a:lnTo>
                      <a:lnTo>
                        <a:pt x="128" y="89"/>
                      </a:lnTo>
                      <a:lnTo>
                        <a:pt x="133" y="88"/>
                      </a:lnTo>
                      <a:lnTo>
                        <a:pt x="138" y="87"/>
                      </a:lnTo>
                    </a:path>
                  </a:pathLst>
                </a:custGeom>
                <a:solidFill>
                  <a:srgbClr val="037C03">
                    <a:alpha val="50195"/>
                  </a:srgbClr>
                </a:solidFill>
                <a:ln w="9525">
                  <a:noFill/>
                </a:ln>
              </p:spPr>
              <p:txBody>
                <a:bodyPr/>
                <a:lstStyle/>
                <a:p>
                  <a:endParaRPr lang="zh-CN" altLang="en-US"/>
                </a:p>
              </p:txBody>
            </p:sp>
            <p:sp>
              <p:nvSpPr>
                <p:cNvPr id="89210" name="Freeform 127"/>
                <p:cNvSpPr/>
                <p:nvPr/>
              </p:nvSpPr>
              <p:spPr>
                <a:xfrm>
                  <a:off x="1900" y="1641"/>
                  <a:ext cx="39" cy="193"/>
                </a:xfrm>
                <a:custGeom>
                  <a:avLst/>
                  <a:gdLst>
                    <a:gd name="txL" fmla="*/ 0 w 39"/>
                    <a:gd name="txT" fmla="*/ 0 h 193"/>
                    <a:gd name="txR" fmla="*/ 39 w 39"/>
                    <a:gd name="txB" fmla="*/ 193 h 193"/>
                  </a:gdLst>
                  <a:ahLst/>
                  <a:cxnLst>
                    <a:cxn ang="0">
                      <a:pos x="20" y="0"/>
                    </a:cxn>
                    <a:cxn ang="0">
                      <a:pos x="25" y="9"/>
                    </a:cxn>
                    <a:cxn ang="0">
                      <a:pos x="28" y="15"/>
                    </a:cxn>
                    <a:cxn ang="0">
                      <a:pos x="34" y="24"/>
                    </a:cxn>
                    <a:cxn ang="0">
                      <a:pos x="36" y="33"/>
                    </a:cxn>
                    <a:cxn ang="0">
                      <a:pos x="37" y="43"/>
                    </a:cxn>
                    <a:cxn ang="0">
                      <a:pos x="37" y="56"/>
                    </a:cxn>
                    <a:cxn ang="0">
                      <a:pos x="38" y="64"/>
                    </a:cxn>
                    <a:cxn ang="0">
                      <a:pos x="37" y="75"/>
                    </a:cxn>
                    <a:cxn ang="0">
                      <a:pos x="36" y="86"/>
                    </a:cxn>
                    <a:cxn ang="0">
                      <a:pos x="34" y="97"/>
                    </a:cxn>
                    <a:cxn ang="0">
                      <a:pos x="31" y="113"/>
                    </a:cxn>
                    <a:cxn ang="0">
                      <a:pos x="29" y="122"/>
                    </a:cxn>
                    <a:cxn ang="0">
                      <a:pos x="24" y="132"/>
                    </a:cxn>
                    <a:cxn ang="0">
                      <a:pos x="18" y="144"/>
                    </a:cxn>
                    <a:cxn ang="0">
                      <a:pos x="12" y="155"/>
                    </a:cxn>
                    <a:cxn ang="0">
                      <a:pos x="7" y="165"/>
                    </a:cxn>
                    <a:cxn ang="0">
                      <a:pos x="3" y="174"/>
                    </a:cxn>
                    <a:cxn ang="0">
                      <a:pos x="0" y="192"/>
                    </a:cxn>
                    <a:cxn ang="0">
                      <a:pos x="1" y="174"/>
                    </a:cxn>
                    <a:cxn ang="0">
                      <a:pos x="3" y="162"/>
                    </a:cxn>
                    <a:cxn ang="0">
                      <a:pos x="4" y="151"/>
                    </a:cxn>
                    <a:cxn ang="0">
                      <a:pos x="5" y="139"/>
                    </a:cxn>
                    <a:cxn ang="0">
                      <a:pos x="7" y="124"/>
                    </a:cxn>
                    <a:cxn ang="0">
                      <a:pos x="10" y="113"/>
                    </a:cxn>
                    <a:cxn ang="0">
                      <a:pos x="12" y="102"/>
                    </a:cxn>
                    <a:cxn ang="0">
                      <a:pos x="15" y="93"/>
                    </a:cxn>
                    <a:cxn ang="0">
                      <a:pos x="18" y="82"/>
                    </a:cxn>
                    <a:cxn ang="0">
                      <a:pos x="20" y="72"/>
                    </a:cxn>
                    <a:cxn ang="0">
                      <a:pos x="22" y="61"/>
                    </a:cxn>
                    <a:cxn ang="0">
                      <a:pos x="23" y="52"/>
                    </a:cxn>
                    <a:cxn ang="0">
                      <a:pos x="24" y="41"/>
                    </a:cxn>
                    <a:cxn ang="0">
                      <a:pos x="24" y="30"/>
                    </a:cxn>
                    <a:cxn ang="0">
                      <a:pos x="24" y="15"/>
                    </a:cxn>
                    <a:cxn ang="0">
                      <a:pos x="22" y="8"/>
                    </a:cxn>
                    <a:cxn ang="0">
                      <a:pos x="20" y="0"/>
                    </a:cxn>
                  </a:cxnLst>
                  <a:rect l="txL" t="txT" r="txR" b="txB"/>
                  <a:pathLst>
                    <a:path w="39" h="193">
                      <a:moveTo>
                        <a:pt x="20" y="0"/>
                      </a:moveTo>
                      <a:lnTo>
                        <a:pt x="25" y="9"/>
                      </a:lnTo>
                      <a:lnTo>
                        <a:pt x="28" y="15"/>
                      </a:lnTo>
                      <a:lnTo>
                        <a:pt x="34" y="24"/>
                      </a:lnTo>
                      <a:lnTo>
                        <a:pt x="36" y="33"/>
                      </a:lnTo>
                      <a:lnTo>
                        <a:pt x="37" y="43"/>
                      </a:lnTo>
                      <a:lnTo>
                        <a:pt x="37" y="56"/>
                      </a:lnTo>
                      <a:lnTo>
                        <a:pt x="38" y="64"/>
                      </a:lnTo>
                      <a:lnTo>
                        <a:pt x="37" y="75"/>
                      </a:lnTo>
                      <a:lnTo>
                        <a:pt x="36" y="86"/>
                      </a:lnTo>
                      <a:lnTo>
                        <a:pt x="34" y="97"/>
                      </a:lnTo>
                      <a:lnTo>
                        <a:pt x="31" y="113"/>
                      </a:lnTo>
                      <a:lnTo>
                        <a:pt x="29" y="122"/>
                      </a:lnTo>
                      <a:lnTo>
                        <a:pt x="24" y="132"/>
                      </a:lnTo>
                      <a:lnTo>
                        <a:pt x="18" y="144"/>
                      </a:lnTo>
                      <a:lnTo>
                        <a:pt x="12" y="155"/>
                      </a:lnTo>
                      <a:lnTo>
                        <a:pt x="7" y="165"/>
                      </a:lnTo>
                      <a:lnTo>
                        <a:pt x="3" y="174"/>
                      </a:lnTo>
                      <a:lnTo>
                        <a:pt x="0" y="192"/>
                      </a:lnTo>
                      <a:lnTo>
                        <a:pt x="1" y="174"/>
                      </a:lnTo>
                      <a:lnTo>
                        <a:pt x="3" y="162"/>
                      </a:lnTo>
                      <a:lnTo>
                        <a:pt x="4" y="151"/>
                      </a:lnTo>
                      <a:lnTo>
                        <a:pt x="5" y="139"/>
                      </a:lnTo>
                      <a:lnTo>
                        <a:pt x="7" y="124"/>
                      </a:lnTo>
                      <a:lnTo>
                        <a:pt x="10" y="113"/>
                      </a:lnTo>
                      <a:lnTo>
                        <a:pt x="12" y="102"/>
                      </a:lnTo>
                      <a:lnTo>
                        <a:pt x="15" y="93"/>
                      </a:lnTo>
                      <a:lnTo>
                        <a:pt x="18" y="82"/>
                      </a:lnTo>
                      <a:lnTo>
                        <a:pt x="20" y="72"/>
                      </a:lnTo>
                      <a:lnTo>
                        <a:pt x="22" y="61"/>
                      </a:lnTo>
                      <a:lnTo>
                        <a:pt x="23" y="52"/>
                      </a:lnTo>
                      <a:lnTo>
                        <a:pt x="24" y="41"/>
                      </a:lnTo>
                      <a:lnTo>
                        <a:pt x="24" y="30"/>
                      </a:lnTo>
                      <a:lnTo>
                        <a:pt x="24" y="15"/>
                      </a:lnTo>
                      <a:lnTo>
                        <a:pt x="22" y="8"/>
                      </a:lnTo>
                      <a:lnTo>
                        <a:pt x="20" y="0"/>
                      </a:lnTo>
                    </a:path>
                  </a:pathLst>
                </a:custGeom>
                <a:solidFill>
                  <a:srgbClr val="037C03">
                    <a:alpha val="50195"/>
                  </a:srgbClr>
                </a:solidFill>
                <a:ln w="9525">
                  <a:noFill/>
                </a:ln>
              </p:spPr>
              <p:txBody>
                <a:bodyPr/>
                <a:lstStyle/>
                <a:p>
                  <a:endParaRPr lang="zh-CN" altLang="en-US"/>
                </a:p>
              </p:txBody>
            </p:sp>
            <p:sp>
              <p:nvSpPr>
                <p:cNvPr id="89211" name="Freeform 128"/>
                <p:cNvSpPr/>
                <p:nvPr/>
              </p:nvSpPr>
              <p:spPr>
                <a:xfrm>
                  <a:off x="1716" y="1535"/>
                  <a:ext cx="171" cy="50"/>
                </a:xfrm>
                <a:custGeom>
                  <a:avLst/>
                  <a:gdLst>
                    <a:gd name="txL" fmla="*/ 0 w 171"/>
                    <a:gd name="txT" fmla="*/ 0 h 50"/>
                    <a:gd name="txR" fmla="*/ 171 w 171"/>
                    <a:gd name="txB" fmla="*/ 50 h 50"/>
                  </a:gdLst>
                  <a:ahLst/>
                  <a:cxnLst>
                    <a:cxn ang="0">
                      <a:pos x="170" y="49"/>
                    </a:cxn>
                    <a:cxn ang="0">
                      <a:pos x="167" y="40"/>
                    </a:cxn>
                    <a:cxn ang="0">
                      <a:pos x="163" y="33"/>
                    </a:cxn>
                    <a:cxn ang="0">
                      <a:pos x="160" y="31"/>
                    </a:cxn>
                    <a:cxn ang="0">
                      <a:pos x="153" y="29"/>
                    </a:cxn>
                    <a:cxn ang="0">
                      <a:pos x="147" y="27"/>
                    </a:cxn>
                    <a:cxn ang="0">
                      <a:pos x="140" y="29"/>
                    </a:cxn>
                    <a:cxn ang="0">
                      <a:pos x="132" y="30"/>
                    </a:cxn>
                    <a:cxn ang="0">
                      <a:pos x="123" y="27"/>
                    </a:cxn>
                    <a:cxn ang="0">
                      <a:pos x="111" y="22"/>
                    </a:cxn>
                    <a:cxn ang="0">
                      <a:pos x="100" y="18"/>
                    </a:cxn>
                    <a:cxn ang="0">
                      <a:pos x="92" y="16"/>
                    </a:cxn>
                    <a:cxn ang="0">
                      <a:pos x="80" y="12"/>
                    </a:cxn>
                    <a:cxn ang="0">
                      <a:pos x="67" y="8"/>
                    </a:cxn>
                    <a:cxn ang="0">
                      <a:pos x="55" y="5"/>
                    </a:cxn>
                    <a:cxn ang="0">
                      <a:pos x="42" y="1"/>
                    </a:cxn>
                    <a:cxn ang="0">
                      <a:pos x="28" y="1"/>
                    </a:cxn>
                    <a:cxn ang="0">
                      <a:pos x="15" y="0"/>
                    </a:cxn>
                    <a:cxn ang="0">
                      <a:pos x="12" y="1"/>
                    </a:cxn>
                    <a:cxn ang="0">
                      <a:pos x="7" y="4"/>
                    </a:cxn>
                    <a:cxn ang="0">
                      <a:pos x="3" y="7"/>
                    </a:cxn>
                    <a:cxn ang="0">
                      <a:pos x="0" y="11"/>
                    </a:cxn>
                    <a:cxn ang="0">
                      <a:pos x="5" y="11"/>
                    </a:cxn>
                    <a:cxn ang="0">
                      <a:pos x="12" y="12"/>
                    </a:cxn>
                    <a:cxn ang="0">
                      <a:pos x="19" y="12"/>
                    </a:cxn>
                    <a:cxn ang="0">
                      <a:pos x="23" y="11"/>
                    </a:cxn>
                    <a:cxn ang="0">
                      <a:pos x="30" y="11"/>
                    </a:cxn>
                    <a:cxn ang="0">
                      <a:pos x="39" y="11"/>
                    </a:cxn>
                    <a:cxn ang="0">
                      <a:pos x="51" y="11"/>
                    </a:cxn>
                    <a:cxn ang="0">
                      <a:pos x="61" y="12"/>
                    </a:cxn>
                    <a:cxn ang="0">
                      <a:pos x="71" y="14"/>
                    </a:cxn>
                    <a:cxn ang="0">
                      <a:pos x="81" y="15"/>
                    </a:cxn>
                    <a:cxn ang="0">
                      <a:pos x="91" y="16"/>
                    </a:cxn>
                    <a:cxn ang="0">
                      <a:pos x="99" y="19"/>
                    </a:cxn>
                    <a:cxn ang="0">
                      <a:pos x="108" y="23"/>
                    </a:cxn>
                    <a:cxn ang="0">
                      <a:pos x="116" y="27"/>
                    </a:cxn>
                    <a:cxn ang="0">
                      <a:pos x="125" y="31"/>
                    </a:cxn>
                    <a:cxn ang="0">
                      <a:pos x="129" y="32"/>
                    </a:cxn>
                    <a:cxn ang="0">
                      <a:pos x="134" y="31"/>
                    </a:cxn>
                    <a:cxn ang="0">
                      <a:pos x="140" y="34"/>
                    </a:cxn>
                    <a:cxn ang="0">
                      <a:pos x="146" y="37"/>
                    </a:cxn>
                    <a:cxn ang="0">
                      <a:pos x="152" y="40"/>
                    </a:cxn>
                    <a:cxn ang="0">
                      <a:pos x="161" y="44"/>
                    </a:cxn>
                    <a:cxn ang="0">
                      <a:pos x="167" y="46"/>
                    </a:cxn>
                    <a:cxn ang="0">
                      <a:pos x="170" y="49"/>
                    </a:cxn>
                  </a:cxnLst>
                  <a:rect l="txL" t="txT" r="txR" b="txB"/>
                  <a:pathLst>
                    <a:path w="171" h="50">
                      <a:moveTo>
                        <a:pt x="170" y="49"/>
                      </a:moveTo>
                      <a:lnTo>
                        <a:pt x="167" y="40"/>
                      </a:lnTo>
                      <a:lnTo>
                        <a:pt x="163" y="33"/>
                      </a:lnTo>
                      <a:lnTo>
                        <a:pt x="160" y="31"/>
                      </a:lnTo>
                      <a:lnTo>
                        <a:pt x="153" y="29"/>
                      </a:lnTo>
                      <a:lnTo>
                        <a:pt x="147" y="27"/>
                      </a:lnTo>
                      <a:lnTo>
                        <a:pt x="140" y="29"/>
                      </a:lnTo>
                      <a:lnTo>
                        <a:pt x="132" y="30"/>
                      </a:lnTo>
                      <a:lnTo>
                        <a:pt x="123" y="27"/>
                      </a:lnTo>
                      <a:lnTo>
                        <a:pt x="111" y="22"/>
                      </a:lnTo>
                      <a:lnTo>
                        <a:pt x="100" y="18"/>
                      </a:lnTo>
                      <a:lnTo>
                        <a:pt x="92" y="16"/>
                      </a:lnTo>
                      <a:lnTo>
                        <a:pt x="80" y="12"/>
                      </a:lnTo>
                      <a:lnTo>
                        <a:pt x="67" y="8"/>
                      </a:lnTo>
                      <a:lnTo>
                        <a:pt x="55" y="5"/>
                      </a:lnTo>
                      <a:lnTo>
                        <a:pt x="42" y="1"/>
                      </a:lnTo>
                      <a:lnTo>
                        <a:pt x="28" y="1"/>
                      </a:lnTo>
                      <a:lnTo>
                        <a:pt x="15" y="0"/>
                      </a:lnTo>
                      <a:lnTo>
                        <a:pt x="12" y="1"/>
                      </a:lnTo>
                      <a:lnTo>
                        <a:pt x="7" y="4"/>
                      </a:lnTo>
                      <a:lnTo>
                        <a:pt x="3" y="7"/>
                      </a:lnTo>
                      <a:lnTo>
                        <a:pt x="0" y="11"/>
                      </a:lnTo>
                      <a:lnTo>
                        <a:pt x="5" y="11"/>
                      </a:lnTo>
                      <a:lnTo>
                        <a:pt x="12" y="12"/>
                      </a:lnTo>
                      <a:lnTo>
                        <a:pt x="19" y="12"/>
                      </a:lnTo>
                      <a:lnTo>
                        <a:pt x="23" y="11"/>
                      </a:lnTo>
                      <a:lnTo>
                        <a:pt x="30" y="11"/>
                      </a:lnTo>
                      <a:lnTo>
                        <a:pt x="39" y="11"/>
                      </a:lnTo>
                      <a:lnTo>
                        <a:pt x="51" y="11"/>
                      </a:lnTo>
                      <a:lnTo>
                        <a:pt x="61" y="12"/>
                      </a:lnTo>
                      <a:lnTo>
                        <a:pt x="71" y="14"/>
                      </a:lnTo>
                      <a:lnTo>
                        <a:pt x="81" y="15"/>
                      </a:lnTo>
                      <a:lnTo>
                        <a:pt x="91" y="16"/>
                      </a:lnTo>
                      <a:lnTo>
                        <a:pt x="99" y="19"/>
                      </a:lnTo>
                      <a:lnTo>
                        <a:pt x="108" y="23"/>
                      </a:lnTo>
                      <a:lnTo>
                        <a:pt x="116" y="27"/>
                      </a:lnTo>
                      <a:lnTo>
                        <a:pt x="125" y="31"/>
                      </a:lnTo>
                      <a:lnTo>
                        <a:pt x="129" y="32"/>
                      </a:lnTo>
                      <a:lnTo>
                        <a:pt x="134" y="31"/>
                      </a:lnTo>
                      <a:lnTo>
                        <a:pt x="140" y="34"/>
                      </a:lnTo>
                      <a:lnTo>
                        <a:pt x="146" y="37"/>
                      </a:lnTo>
                      <a:lnTo>
                        <a:pt x="152" y="40"/>
                      </a:lnTo>
                      <a:lnTo>
                        <a:pt x="161" y="44"/>
                      </a:lnTo>
                      <a:lnTo>
                        <a:pt x="167" y="46"/>
                      </a:lnTo>
                      <a:lnTo>
                        <a:pt x="170" y="49"/>
                      </a:lnTo>
                    </a:path>
                  </a:pathLst>
                </a:custGeom>
                <a:solidFill>
                  <a:srgbClr val="037C03">
                    <a:alpha val="50195"/>
                  </a:srgbClr>
                </a:solidFill>
                <a:ln w="9525">
                  <a:noFill/>
                </a:ln>
              </p:spPr>
              <p:txBody>
                <a:bodyPr/>
                <a:lstStyle/>
                <a:p>
                  <a:endParaRPr lang="zh-CN" altLang="en-US"/>
                </a:p>
              </p:txBody>
            </p:sp>
            <p:sp>
              <p:nvSpPr>
                <p:cNvPr id="89212" name="Freeform 129"/>
                <p:cNvSpPr/>
                <p:nvPr/>
              </p:nvSpPr>
              <p:spPr>
                <a:xfrm>
                  <a:off x="1707" y="1563"/>
                  <a:ext cx="177" cy="21"/>
                </a:xfrm>
                <a:custGeom>
                  <a:avLst/>
                  <a:gdLst>
                    <a:gd name="txL" fmla="*/ 0 w 177"/>
                    <a:gd name="txT" fmla="*/ 0 h 21"/>
                    <a:gd name="txR" fmla="*/ 177 w 177"/>
                    <a:gd name="txB" fmla="*/ 21 h 21"/>
                  </a:gdLst>
                  <a:ahLst/>
                  <a:cxnLst>
                    <a:cxn ang="0">
                      <a:pos x="176" y="20"/>
                    </a:cxn>
                    <a:cxn ang="0">
                      <a:pos x="171" y="18"/>
                    </a:cxn>
                    <a:cxn ang="0">
                      <a:pos x="166" y="16"/>
                    </a:cxn>
                    <a:cxn ang="0">
                      <a:pos x="161" y="13"/>
                    </a:cxn>
                    <a:cxn ang="0">
                      <a:pos x="155" y="12"/>
                    </a:cxn>
                    <a:cxn ang="0">
                      <a:pos x="149" y="10"/>
                    </a:cxn>
                    <a:cxn ang="0">
                      <a:pos x="141" y="6"/>
                    </a:cxn>
                    <a:cxn ang="0">
                      <a:pos x="134" y="3"/>
                    </a:cxn>
                    <a:cxn ang="0">
                      <a:pos x="128" y="2"/>
                    </a:cxn>
                    <a:cxn ang="0">
                      <a:pos x="120" y="3"/>
                    </a:cxn>
                    <a:cxn ang="0">
                      <a:pos x="110" y="5"/>
                    </a:cxn>
                    <a:cxn ang="0">
                      <a:pos x="106" y="5"/>
                    </a:cxn>
                    <a:cxn ang="0">
                      <a:pos x="93" y="3"/>
                    </a:cxn>
                    <a:cxn ang="0">
                      <a:pos x="78" y="1"/>
                    </a:cxn>
                    <a:cxn ang="0">
                      <a:pos x="69" y="0"/>
                    </a:cxn>
                    <a:cxn ang="0">
                      <a:pos x="57" y="0"/>
                    </a:cxn>
                    <a:cxn ang="0">
                      <a:pos x="44" y="0"/>
                    </a:cxn>
                    <a:cxn ang="0">
                      <a:pos x="36" y="1"/>
                    </a:cxn>
                    <a:cxn ang="0">
                      <a:pos x="27" y="2"/>
                    </a:cxn>
                    <a:cxn ang="0">
                      <a:pos x="18" y="3"/>
                    </a:cxn>
                    <a:cxn ang="0">
                      <a:pos x="9" y="4"/>
                    </a:cxn>
                    <a:cxn ang="0">
                      <a:pos x="8" y="8"/>
                    </a:cxn>
                    <a:cxn ang="0">
                      <a:pos x="7" y="11"/>
                    </a:cxn>
                    <a:cxn ang="0">
                      <a:pos x="4" y="15"/>
                    </a:cxn>
                    <a:cxn ang="0">
                      <a:pos x="0" y="17"/>
                    </a:cxn>
                    <a:cxn ang="0">
                      <a:pos x="7" y="16"/>
                    </a:cxn>
                    <a:cxn ang="0">
                      <a:pos x="15" y="14"/>
                    </a:cxn>
                    <a:cxn ang="0">
                      <a:pos x="22" y="12"/>
                    </a:cxn>
                    <a:cxn ang="0">
                      <a:pos x="29" y="11"/>
                    </a:cxn>
                    <a:cxn ang="0">
                      <a:pos x="37" y="10"/>
                    </a:cxn>
                    <a:cxn ang="0">
                      <a:pos x="50" y="10"/>
                    </a:cxn>
                    <a:cxn ang="0">
                      <a:pos x="63" y="8"/>
                    </a:cxn>
                    <a:cxn ang="0">
                      <a:pos x="79" y="8"/>
                    </a:cxn>
                    <a:cxn ang="0">
                      <a:pos x="94" y="7"/>
                    </a:cxn>
                    <a:cxn ang="0">
                      <a:pos x="108" y="6"/>
                    </a:cxn>
                    <a:cxn ang="0">
                      <a:pos x="120" y="7"/>
                    </a:cxn>
                    <a:cxn ang="0">
                      <a:pos x="129" y="10"/>
                    </a:cxn>
                    <a:cxn ang="0">
                      <a:pos x="138" y="12"/>
                    </a:cxn>
                    <a:cxn ang="0">
                      <a:pos x="148" y="14"/>
                    </a:cxn>
                    <a:cxn ang="0">
                      <a:pos x="159" y="17"/>
                    </a:cxn>
                    <a:cxn ang="0">
                      <a:pos x="167" y="18"/>
                    </a:cxn>
                    <a:cxn ang="0">
                      <a:pos x="176" y="20"/>
                    </a:cxn>
                  </a:cxnLst>
                  <a:rect l="txL" t="txT" r="txR" b="txB"/>
                  <a:pathLst>
                    <a:path w="177" h="21">
                      <a:moveTo>
                        <a:pt x="176" y="20"/>
                      </a:moveTo>
                      <a:lnTo>
                        <a:pt x="171" y="18"/>
                      </a:lnTo>
                      <a:lnTo>
                        <a:pt x="166" y="16"/>
                      </a:lnTo>
                      <a:lnTo>
                        <a:pt x="161" y="13"/>
                      </a:lnTo>
                      <a:lnTo>
                        <a:pt x="155" y="12"/>
                      </a:lnTo>
                      <a:lnTo>
                        <a:pt x="149" y="10"/>
                      </a:lnTo>
                      <a:lnTo>
                        <a:pt x="141" y="6"/>
                      </a:lnTo>
                      <a:lnTo>
                        <a:pt x="134" y="3"/>
                      </a:lnTo>
                      <a:lnTo>
                        <a:pt x="128" y="2"/>
                      </a:lnTo>
                      <a:lnTo>
                        <a:pt x="120" y="3"/>
                      </a:lnTo>
                      <a:lnTo>
                        <a:pt x="110" y="5"/>
                      </a:lnTo>
                      <a:lnTo>
                        <a:pt x="106" y="5"/>
                      </a:lnTo>
                      <a:lnTo>
                        <a:pt x="93" y="3"/>
                      </a:lnTo>
                      <a:lnTo>
                        <a:pt x="78" y="1"/>
                      </a:lnTo>
                      <a:lnTo>
                        <a:pt x="69" y="0"/>
                      </a:lnTo>
                      <a:lnTo>
                        <a:pt x="57" y="0"/>
                      </a:lnTo>
                      <a:lnTo>
                        <a:pt x="44" y="0"/>
                      </a:lnTo>
                      <a:lnTo>
                        <a:pt x="36" y="1"/>
                      </a:lnTo>
                      <a:lnTo>
                        <a:pt x="27" y="2"/>
                      </a:lnTo>
                      <a:lnTo>
                        <a:pt x="18" y="3"/>
                      </a:lnTo>
                      <a:lnTo>
                        <a:pt x="9" y="4"/>
                      </a:lnTo>
                      <a:lnTo>
                        <a:pt x="8" y="8"/>
                      </a:lnTo>
                      <a:lnTo>
                        <a:pt x="7" y="11"/>
                      </a:lnTo>
                      <a:lnTo>
                        <a:pt x="4" y="15"/>
                      </a:lnTo>
                      <a:lnTo>
                        <a:pt x="0" y="17"/>
                      </a:lnTo>
                      <a:lnTo>
                        <a:pt x="7" y="16"/>
                      </a:lnTo>
                      <a:lnTo>
                        <a:pt x="15" y="14"/>
                      </a:lnTo>
                      <a:lnTo>
                        <a:pt x="22" y="12"/>
                      </a:lnTo>
                      <a:lnTo>
                        <a:pt x="29" y="11"/>
                      </a:lnTo>
                      <a:lnTo>
                        <a:pt x="37" y="10"/>
                      </a:lnTo>
                      <a:lnTo>
                        <a:pt x="50" y="10"/>
                      </a:lnTo>
                      <a:lnTo>
                        <a:pt x="63" y="8"/>
                      </a:lnTo>
                      <a:lnTo>
                        <a:pt x="79" y="8"/>
                      </a:lnTo>
                      <a:lnTo>
                        <a:pt x="94" y="7"/>
                      </a:lnTo>
                      <a:lnTo>
                        <a:pt x="108" y="6"/>
                      </a:lnTo>
                      <a:lnTo>
                        <a:pt x="120" y="7"/>
                      </a:lnTo>
                      <a:lnTo>
                        <a:pt x="129" y="10"/>
                      </a:lnTo>
                      <a:lnTo>
                        <a:pt x="138" y="12"/>
                      </a:lnTo>
                      <a:lnTo>
                        <a:pt x="148" y="14"/>
                      </a:lnTo>
                      <a:lnTo>
                        <a:pt x="159" y="17"/>
                      </a:lnTo>
                      <a:lnTo>
                        <a:pt x="167" y="18"/>
                      </a:lnTo>
                      <a:lnTo>
                        <a:pt x="176" y="20"/>
                      </a:lnTo>
                    </a:path>
                  </a:pathLst>
                </a:custGeom>
                <a:solidFill>
                  <a:srgbClr val="037C03">
                    <a:alpha val="50195"/>
                  </a:srgbClr>
                </a:solidFill>
                <a:ln w="9525">
                  <a:noFill/>
                </a:ln>
              </p:spPr>
              <p:txBody>
                <a:bodyPr/>
                <a:lstStyle/>
                <a:p>
                  <a:endParaRPr lang="zh-CN" altLang="en-US"/>
                </a:p>
              </p:txBody>
            </p:sp>
          </p:grpSp>
          <p:sp>
            <p:nvSpPr>
              <p:cNvPr id="89208" name="Freeform 130"/>
              <p:cNvSpPr/>
              <p:nvPr/>
            </p:nvSpPr>
            <p:spPr>
              <a:xfrm>
                <a:off x="1691" y="1023"/>
                <a:ext cx="261" cy="374"/>
              </a:xfrm>
              <a:custGeom>
                <a:avLst/>
                <a:gdLst>
                  <a:gd name="txL" fmla="*/ 0 w 261"/>
                  <a:gd name="txT" fmla="*/ 0 h 374"/>
                  <a:gd name="txR" fmla="*/ 261 w 261"/>
                  <a:gd name="txB" fmla="*/ 374 h 374"/>
                </a:gdLst>
                <a:ahLst/>
                <a:cxnLst>
                  <a:cxn ang="0">
                    <a:pos x="82" y="162"/>
                  </a:cxn>
                  <a:cxn ang="0">
                    <a:pos x="90" y="154"/>
                  </a:cxn>
                  <a:cxn ang="0">
                    <a:pos x="76" y="104"/>
                  </a:cxn>
                  <a:cxn ang="0">
                    <a:pos x="54" y="56"/>
                  </a:cxn>
                  <a:cxn ang="0">
                    <a:pos x="31" y="33"/>
                  </a:cxn>
                  <a:cxn ang="0">
                    <a:pos x="51" y="45"/>
                  </a:cxn>
                  <a:cxn ang="0">
                    <a:pos x="72" y="84"/>
                  </a:cxn>
                  <a:cxn ang="0">
                    <a:pos x="92" y="126"/>
                  </a:cxn>
                  <a:cxn ang="0">
                    <a:pos x="106" y="168"/>
                  </a:cxn>
                  <a:cxn ang="0">
                    <a:pos x="118" y="150"/>
                  </a:cxn>
                  <a:cxn ang="0">
                    <a:pos x="121" y="114"/>
                  </a:cxn>
                  <a:cxn ang="0">
                    <a:pos x="125" y="65"/>
                  </a:cxn>
                  <a:cxn ang="0">
                    <a:pos x="136" y="26"/>
                  </a:cxn>
                  <a:cxn ang="0">
                    <a:pos x="143" y="12"/>
                  </a:cxn>
                  <a:cxn ang="0">
                    <a:pos x="136" y="53"/>
                  </a:cxn>
                  <a:cxn ang="0">
                    <a:pos x="132" y="106"/>
                  </a:cxn>
                  <a:cxn ang="0">
                    <a:pos x="130" y="155"/>
                  </a:cxn>
                  <a:cxn ang="0">
                    <a:pos x="136" y="183"/>
                  </a:cxn>
                  <a:cxn ang="0">
                    <a:pos x="166" y="177"/>
                  </a:cxn>
                  <a:cxn ang="0">
                    <a:pos x="205" y="178"/>
                  </a:cxn>
                  <a:cxn ang="0">
                    <a:pos x="236" y="193"/>
                  </a:cxn>
                  <a:cxn ang="0">
                    <a:pos x="260" y="227"/>
                  </a:cxn>
                  <a:cxn ang="0">
                    <a:pos x="231" y="222"/>
                  </a:cxn>
                  <a:cxn ang="0">
                    <a:pos x="200" y="211"/>
                  </a:cxn>
                  <a:cxn ang="0">
                    <a:pos x="159" y="204"/>
                  </a:cxn>
                  <a:cxn ang="0">
                    <a:pos x="132" y="208"/>
                  </a:cxn>
                  <a:cxn ang="0">
                    <a:pos x="147" y="224"/>
                  </a:cxn>
                  <a:cxn ang="0">
                    <a:pos x="182" y="233"/>
                  </a:cxn>
                  <a:cxn ang="0">
                    <a:pos x="217" y="240"/>
                  </a:cxn>
                  <a:cxn ang="0">
                    <a:pos x="243" y="264"/>
                  </a:cxn>
                  <a:cxn ang="0">
                    <a:pos x="256" y="297"/>
                  </a:cxn>
                  <a:cxn ang="0">
                    <a:pos x="224" y="277"/>
                  </a:cxn>
                  <a:cxn ang="0">
                    <a:pos x="191" y="256"/>
                  </a:cxn>
                  <a:cxn ang="0">
                    <a:pos x="160" y="238"/>
                  </a:cxn>
                  <a:cxn ang="0">
                    <a:pos x="136" y="230"/>
                  </a:cxn>
                  <a:cxn ang="0">
                    <a:pos x="121" y="246"/>
                  </a:cxn>
                  <a:cxn ang="0">
                    <a:pos x="135" y="290"/>
                  </a:cxn>
                  <a:cxn ang="0">
                    <a:pos x="145" y="342"/>
                  </a:cxn>
                  <a:cxn ang="0">
                    <a:pos x="127" y="346"/>
                  </a:cxn>
                  <a:cxn ang="0">
                    <a:pos x="116" y="290"/>
                  </a:cxn>
                  <a:cxn ang="0">
                    <a:pos x="101" y="256"/>
                  </a:cxn>
                  <a:cxn ang="0">
                    <a:pos x="83" y="274"/>
                  </a:cxn>
                  <a:cxn ang="0">
                    <a:pos x="64" y="309"/>
                  </a:cxn>
                  <a:cxn ang="0">
                    <a:pos x="44" y="360"/>
                  </a:cxn>
                  <a:cxn ang="0">
                    <a:pos x="51" y="314"/>
                  </a:cxn>
                  <a:cxn ang="0">
                    <a:pos x="69" y="272"/>
                  </a:cxn>
                  <a:cxn ang="0">
                    <a:pos x="91" y="238"/>
                  </a:cxn>
                  <a:cxn ang="0">
                    <a:pos x="99" y="212"/>
                  </a:cxn>
                  <a:cxn ang="0">
                    <a:pos x="77" y="226"/>
                  </a:cxn>
                  <a:cxn ang="0">
                    <a:pos x="52" y="261"/>
                  </a:cxn>
                  <a:cxn ang="0">
                    <a:pos x="28" y="301"/>
                  </a:cxn>
                  <a:cxn ang="0">
                    <a:pos x="24" y="288"/>
                  </a:cxn>
                  <a:cxn ang="0">
                    <a:pos x="42" y="262"/>
                  </a:cxn>
                  <a:cxn ang="0">
                    <a:pos x="71" y="229"/>
                  </a:cxn>
                  <a:cxn ang="0">
                    <a:pos x="101" y="206"/>
                  </a:cxn>
                  <a:cxn ang="0">
                    <a:pos x="73" y="180"/>
                  </a:cxn>
                  <a:cxn ang="0">
                    <a:pos x="46" y="148"/>
                  </a:cxn>
                  <a:cxn ang="0">
                    <a:pos x="17" y="118"/>
                  </a:cxn>
                  <a:cxn ang="0">
                    <a:pos x="3" y="98"/>
                  </a:cxn>
                  <a:cxn ang="0">
                    <a:pos x="32" y="115"/>
                  </a:cxn>
                  <a:cxn ang="0">
                    <a:pos x="64" y="145"/>
                  </a:cxn>
                </a:cxnLst>
                <a:rect l="txL" t="txT" r="txR" b="txB"/>
                <a:pathLst>
                  <a:path w="261" h="374">
                    <a:moveTo>
                      <a:pt x="64" y="145"/>
                    </a:moveTo>
                    <a:lnTo>
                      <a:pt x="68" y="150"/>
                    </a:lnTo>
                    <a:lnTo>
                      <a:pt x="72" y="154"/>
                    </a:lnTo>
                    <a:lnTo>
                      <a:pt x="77" y="157"/>
                    </a:lnTo>
                    <a:lnTo>
                      <a:pt x="82" y="162"/>
                    </a:lnTo>
                    <a:lnTo>
                      <a:pt x="86" y="165"/>
                    </a:lnTo>
                    <a:lnTo>
                      <a:pt x="91" y="168"/>
                    </a:lnTo>
                    <a:lnTo>
                      <a:pt x="94" y="170"/>
                    </a:lnTo>
                    <a:lnTo>
                      <a:pt x="92" y="162"/>
                    </a:lnTo>
                    <a:lnTo>
                      <a:pt x="90" y="154"/>
                    </a:lnTo>
                    <a:lnTo>
                      <a:pt x="87" y="143"/>
                    </a:lnTo>
                    <a:lnTo>
                      <a:pt x="85" y="134"/>
                    </a:lnTo>
                    <a:lnTo>
                      <a:pt x="82" y="124"/>
                    </a:lnTo>
                    <a:lnTo>
                      <a:pt x="80" y="114"/>
                    </a:lnTo>
                    <a:lnTo>
                      <a:pt x="76" y="104"/>
                    </a:lnTo>
                    <a:lnTo>
                      <a:pt x="72" y="93"/>
                    </a:lnTo>
                    <a:lnTo>
                      <a:pt x="68" y="84"/>
                    </a:lnTo>
                    <a:lnTo>
                      <a:pt x="63" y="71"/>
                    </a:lnTo>
                    <a:lnTo>
                      <a:pt x="59" y="63"/>
                    </a:lnTo>
                    <a:lnTo>
                      <a:pt x="54" y="56"/>
                    </a:lnTo>
                    <a:lnTo>
                      <a:pt x="50" y="48"/>
                    </a:lnTo>
                    <a:lnTo>
                      <a:pt x="44" y="42"/>
                    </a:lnTo>
                    <a:lnTo>
                      <a:pt x="39" y="38"/>
                    </a:lnTo>
                    <a:lnTo>
                      <a:pt x="34" y="35"/>
                    </a:lnTo>
                    <a:lnTo>
                      <a:pt x="31" y="33"/>
                    </a:lnTo>
                    <a:lnTo>
                      <a:pt x="35" y="32"/>
                    </a:lnTo>
                    <a:lnTo>
                      <a:pt x="37" y="33"/>
                    </a:lnTo>
                    <a:lnTo>
                      <a:pt x="41" y="34"/>
                    </a:lnTo>
                    <a:lnTo>
                      <a:pt x="45" y="39"/>
                    </a:lnTo>
                    <a:lnTo>
                      <a:pt x="51" y="45"/>
                    </a:lnTo>
                    <a:lnTo>
                      <a:pt x="55" y="50"/>
                    </a:lnTo>
                    <a:lnTo>
                      <a:pt x="58" y="56"/>
                    </a:lnTo>
                    <a:lnTo>
                      <a:pt x="63" y="64"/>
                    </a:lnTo>
                    <a:lnTo>
                      <a:pt x="68" y="75"/>
                    </a:lnTo>
                    <a:lnTo>
                      <a:pt x="72" y="84"/>
                    </a:lnTo>
                    <a:lnTo>
                      <a:pt x="77" y="94"/>
                    </a:lnTo>
                    <a:lnTo>
                      <a:pt x="81" y="101"/>
                    </a:lnTo>
                    <a:lnTo>
                      <a:pt x="86" y="109"/>
                    </a:lnTo>
                    <a:lnTo>
                      <a:pt x="89" y="117"/>
                    </a:lnTo>
                    <a:lnTo>
                      <a:pt x="92" y="126"/>
                    </a:lnTo>
                    <a:lnTo>
                      <a:pt x="95" y="135"/>
                    </a:lnTo>
                    <a:lnTo>
                      <a:pt x="99" y="143"/>
                    </a:lnTo>
                    <a:lnTo>
                      <a:pt x="101" y="151"/>
                    </a:lnTo>
                    <a:lnTo>
                      <a:pt x="104" y="161"/>
                    </a:lnTo>
                    <a:lnTo>
                      <a:pt x="106" y="168"/>
                    </a:lnTo>
                    <a:lnTo>
                      <a:pt x="107" y="171"/>
                    </a:lnTo>
                    <a:lnTo>
                      <a:pt x="110" y="168"/>
                    </a:lnTo>
                    <a:lnTo>
                      <a:pt x="113" y="164"/>
                    </a:lnTo>
                    <a:lnTo>
                      <a:pt x="117" y="159"/>
                    </a:lnTo>
                    <a:lnTo>
                      <a:pt x="118" y="150"/>
                    </a:lnTo>
                    <a:lnTo>
                      <a:pt x="119" y="143"/>
                    </a:lnTo>
                    <a:lnTo>
                      <a:pt x="120" y="133"/>
                    </a:lnTo>
                    <a:lnTo>
                      <a:pt x="121" y="124"/>
                    </a:lnTo>
                    <a:lnTo>
                      <a:pt x="120" y="124"/>
                    </a:lnTo>
                    <a:lnTo>
                      <a:pt x="121" y="114"/>
                    </a:lnTo>
                    <a:lnTo>
                      <a:pt x="121" y="103"/>
                    </a:lnTo>
                    <a:lnTo>
                      <a:pt x="122" y="92"/>
                    </a:lnTo>
                    <a:lnTo>
                      <a:pt x="122" y="82"/>
                    </a:lnTo>
                    <a:lnTo>
                      <a:pt x="123" y="75"/>
                    </a:lnTo>
                    <a:lnTo>
                      <a:pt x="125" y="65"/>
                    </a:lnTo>
                    <a:lnTo>
                      <a:pt x="127" y="58"/>
                    </a:lnTo>
                    <a:lnTo>
                      <a:pt x="128" y="50"/>
                    </a:lnTo>
                    <a:lnTo>
                      <a:pt x="131" y="44"/>
                    </a:lnTo>
                    <a:lnTo>
                      <a:pt x="133" y="36"/>
                    </a:lnTo>
                    <a:lnTo>
                      <a:pt x="136" y="26"/>
                    </a:lnTo>
                    <a:lnTo>
                      <a:pt x="139" y="16"/>
                    </a:lnTo>
                    <a:lnTo>
                      <a:pt x="140" y="7"/>
                    </a:lnTo>
                    <a:lnTo>
                      <a:pt x="143" y="0"/>
                    </a:lnTo>
                    <a:lnTo>
                      <a:pt x="144" y="6"/>
                    </a:lnTo>
                    <a:lnTo>
                      <a:pt x="143" y="12"/>
                    </a:lnTo>
                    <a:lnTo>
                      <a:pt x="142" y="21"/>
                    </a:lnTo>
                    <a:lnTo>
                      <a:pt x="140" y="28"/>
                    </a:lnTo>
                    <a:lnTo>
                      <a:pt x="138" y="40"/>
                    </a:lnTo>
                    <a:lnTo>
                      <a:pt x="137" y="47"/>
                    </a:lnTo>
                    <a:lnTo>
                      <a:pt x="136" y="53"/>
                    </a:lnTo>
                    <a:lnTo>
                      <a:pt x="135" y="62"/>
                    </a:lnTo>
                    <a:lnTo>
                      <a:pt x="134" y="72"/>
                    </a:lnTo>
                    <a:lnTo>
                      <a:pt x="134" y="83"/>
                    </a:lnTo>
                    <a:lnTo>
                      <a:pt x="133" y="94"/>
                    </a:lnTo>
                    <a:lnTo>
                      <a:pt x="132" y="106"/>
                    </a:lnTo>
                    <a:lnTo>
                      <a:pt x="132" y="116"/>
                    </a:lnTo>
                    <a:lnTo>
                      <a:pt x="132" y="126"/>
                    </a:lnTo>
                    <a:lnTo>
                      <a:pt x="131" y="134"/>
                    </a:lnTo>
                    <a:lnTo>
                      <a:pt x="131" y="145"/>
                    </a:lnTo>
                    <a:lnTo>
                      <a:pt x="130" y="155"/>
                    </a:lnTo>
                    <a:lnTo>
                      <a:pt x="128" y="168"/>
                    </a:lnTo>
                    <a:lnTo>
                      <a:pt x="127" y="178"/>
                    </a:lnTo>
                    <a:lnTo>
                      <a:pt x="125" y="190"/>
                    </a:lnTo>
                    <a:lnTo>
                      <a:pt x="130" y="187"/>
                    </a:lnTo>
                    <a:lnTo>
                      <a:pt x="136" y="183"/>
                    </a:lnTo>
                    <a:lnTo>
                      <a:pt x="143" y="178"/>
                    </a:lnTo>
                    <a:lnTo>
                      <a:pt x="149" y="176"/>
                    </a:lnTo>
                    <a:lnTo>
                      <a:pt x="156" y="176"/>
                    </a:lnTo>
                    <a:lnTo>
                      <a:pt x="160" y="176"/>
                    </a:lnTo>
                    <a:lnTo>
                      <a:pt x="166" y="177"/>
                    </a:lnTo>
                    <a:lnTo>
                      <a:pt x="173" y="178"/>
                    </a:lnTo>
                    <a:lnTo>
                      <a:pt x="182" y="179"/>
                    </a:lnTo>
                    <a:lnTo>
                      <a:pt x="190" y="178"/>
                    </a:lnTo>
                    <a:lnTo>
                      <a:pt x="198" y="178"/>
                    </a:lnTo>
                    <a:lnTo>
                      <a:pt x="205" y="178"/>
                    </a:lnTo>
                    <a:lnTo>
                      <a:pt x="211" y="179"/>
                    </a:lnTo>
                    <a:lnTo>
                      <a:pt x="217" y="182"/>
                    </a:lnTo>
                    <a:lnTo>
                      <a:pt x="225" y="185"/>
                    </a:lnTo>
                    <a:lnTo>
                      <a:pt x="231" y="189"/>
                    </a:lnTo>
                    <a:lnTo>
                      <a:pt x="236" y="193"/>
                    </a:lnTo>
                    <a:lnTo>
                      <a:pt x="242" y="199"/>
                    </a:lnTo>
                    <a:lnTo>
                      <a:pt x="245" y="202"/>
                    </a:lnTo>
                    <a:lnTo>
                      <a:pt x="251" y="210"/>
                    </a:lnTo>
                    <a:lnTo>
                      <a:pt x="255" y="218"/>
                    </a:lnTo>
                    <a:lnTo>
                      <a:pt x="260" y="227"/>
                    </a:lnTo>
                    <a:lnTo>
                      <a:pt x="254" y="227"/>
                    </a:lnTo>
                    <a:lnTo>
                      <a:pt x="248" y="226"/>
                    </a:lnTo>
                    <a:lnTo>
                      <a:pt x="241" y="224"/>
                    </a:lnTo>
                    <a:lnTo>
                      <a:pt x="235" y="224"/>
                    </a:lnTo>
                    <a:lnTo>
                      <a:pt x="231" y="222"/>
                    </a:lnTo>
                    <a:lnTo>
                      <a:pt x="224" y="218"/>
                    </a:lnTo>
                    <a:lnTo>
                      <a:pt x="218" y="216"/>
                    </a:lnTo>
                    <a:lnTo>
                      <a:pt x="213" y="213"/>
                    </a:lnTo>
                    <a:lnTo>
                      <a:pt x="209" y="212"/>
                    </a:lnTo>
                    <a:lnTo>
                      <a:pt x="200" y="211"/>
                    </a:lnTo>
                    <a:lnTo>
                      <a:pt x="190" y="210"/>
                    </a:lnTo>
                    <a:lnTo>
                      <a:pt x="182" y="208"/>
                    </a:lnTo>
                    <a:lnTo>
                      <a:pt x="173" y="206"/>
                    </a:lnTo>
                    <a:lnTo>
                      <a:pt x="165" y="205"/>
                    </a:lnTo>
                    <a:lnTo>
                      <a:pt x="159" y="204"/>
                    </a:lnTo>
                    <a:lnTo>
                      <a:pt x="154" y="204"/>
                    </a:lnTo>
                    <a:lnTo>
                      <a:pt x="148" y="203"/>
                    </a:lnTo>
                    <a:lnTo>
                      <a:pt x="142" y="204"/>
                    </a:lnTo>
                    <a:lnTo>
                      <a:pt x="137" y="205"/>
                    </a:lnTo>
                    <a:lnTo>
                      <a:pt x="132" y="208"/>
                    </a:lnTo>
                    <a:lnTo>
                      <a:pt x="125" y="210"/>
                    </a:lnTo>
                    <a:lnTo>
                      <a:pt x="130" y="213"/>
                    </a:lnTo>
                    <a:lnTo>
                      <a:pt x="136" y="217"/>
                    </a:lnTo>
                    <a:lnTo>
                      <a:pt x="141" y="222"/>
                    </a:lnTo>
                    <a:lnTo>
                      <a:pt x="147" y="224"/>
                    </a:lnTo>
                    <a:lnTo>
                      <a:pt x="154" y="227"/>
                    </a:lnTo>
                    <a:lnTo>
                      <a:pt x="160" y="229"/>
                    </a:lnTo>
                    <a:lnTo>
                      <a:pt x="166" y="229"/>
                    </a:lnTo>
                    <a:lnTo>
                      <a:pt x="173" y="231"/>
                    </a:lnTo>
                    <a:lnTo>
                      <a:pt x="182" y="233"/>
                    </a:lnTo>
                    <a:lnTo>
                      <a:pt x="189" y="235"/>
                    </a:lnTo>
                    <a:lnTo>
                      <a:pt x="197" y="235"/>
                    </a:lnTo>
                    <a:lnTo>
                      <a:pt x="203" y="237"/>
                    </a:lnTo>
                    <a:lnTo>
                      <a:pt x="210" y="239"/>
                    </a:lnTo>
                    <a:lnTo>
                      <a:pt x="217" y="240"/>
                    </a:lnTo>
                    <a:lnTo>
                      <a:pt x="222" y="243"/>
                    </a:lnTo>
                    <a:lnTo>
                      <a:pt x="227" y="247"/>
                    </a:lnTo>
                    <a:lnTo>
                      <a:pt x="232" y="252"/>
                    </a:lnTo>
                    <a:lnTo>
                      <a:pt x="238" y="257"/>
                    </a:lnTo>
                    <a:lnTo>
                      <a:pt x="243" y="264"/>
                    </a:lnTo>
                    <a:lnTo>
                      <a:pt x="245" y="268"/>
                    </a:lnTo>
                    <a:lnTo>
                      <a:pt x="248" y="275"/>
                    </a:lnTo>
                    <a:lnTo>
                      <a:pt x="250" y="283"/>
                    </a:lnTo>
                    <a:lnTo>
                      <a:pt x="253" y="291"/>
                    </a:lnTo>
                    <a:lnTo>
                      <a:pt x="256" y="297"/>
                    </a:lnTo>
                    <a:lnTo>
                      <a:pt x="250" y="293"/>
                    </a:lnTo>
                    <a:lnTo>
                      <a:pt x="243" y="289"/>
                    </a:lnTo>
                    <a:lnTo>
                      <a:pt x="238" y="286"/>
                    </a:lnTo>
                    <a:lnTo>
                      <a:pt x="231" y="281"/>
                    </a:lnTo>
                    <a:lnTo>
                      <a:pt x="224" y="277"/>
                    </a:lnTo>
                    <a:lnTo>
                      <a:pt x="218" y="273"/>
                    </a:lnTo>
                    <a:lnTo>
                      <a:pt x="211" y="269"/>
                    </a:lnTo>
                    <a:lnTo>
                      <a:pt x="204" y="264"/>
                    </a:lnTo>
                    <a:lnTo>
                      <a:pt x="198" y="260"/>
                    </a:lnTo>
                    <a:lnTo>
                      <a:pt x="191" y="256"/>
                    </a:lnTo>
                    <a:lnTo>
                      <a:pt x="186" y="252"/>
                    </a:lnTo>
                    <a:lnTo>
                      <a:pt x="179" y="248"/>
                    </a:lnTo>
                    <a:lnTo>
                      <a:pt x="173" y="245"/>
                    </a:lnTo>
                    <a:lnTo>
                      <a:pt x="166" y="241"/>
                    </a:lnTo>
                    <a:lnTo>
                      <a:pt x="160" y="238"/>
                    </a:lnTo>
                    <a:lnTo>
                      <a:pt x="155" y="237"/>
                    </a:lnTo>
                    <a:lnTo>
                      <a:pt x="150" y="234"/>
                    </a:lnTo>
                    <a:lnTo>
                      <a:pt x="144" y="231"/>
                    </a:lnTo>
                    <a:lnTo>
                      <a:pt x="140" y="229"/>
                    </a:lnTo>
                    <a:lnTo>
                      <a:pt x="136" y="230"/>
                    </a:lnTo>
                    <a:lnTo>
                      <a:pt x="131" y="231"/>
                    </a:lnTo>
                    <a:lnTo>
                      <a:pt x="128" y="231"/>
                    </a:lnTo>
                    <a:lnTo>
                      <a:pt x="123" y="229"/>
                    </a:lnTo>
                    <a:lnTo>
                      <a:pt x="123" y="237"/>
                    </a:lnTo>
                    <a:lnTo>
                      <a:pt x="121" y="246"/>
                    </a:lnTo>
                    <a:lnTo>
                      <a:pt x="124" y="254"/>
                    </a:lnTo>
                    <a:lnTo>
                      <a:pt x="127" y="263"/>
                    </a:lnTo>
                    <a:lnTo>
                      <a:pt x="130" y="271"/>
                    </a:lnTo>
                    <a:lnTo>
                      <a:pt x="132" y="280"/>
                    </a:lnTo>
                    <a:lnTo>
                      <a:pt x="135" y="290"/>
                    </a:lnTo>
                    <a:lnTo>
                      <a:pt x="138" y="302"/>
                    </a:lnTo>
                    <a:lnTo>
                      <a:pt x="139" y="311"/>
                    </a:lnTo>
                    <a:lnTo>
                      <a:pt x="142" y="321"/>
                    </a:lnTo>
                    <a:lnTo>
                      <a:pt x="143" y="330"/>
                    </a:lnTo>
                    <a:lnTo>
                      <a:pt x="145" y="342"/>
                    </a:lnTo>
                    <a:lnTo>
                      <a:pt x="148" y="355"/>
                    </a:lnTo>
                    <a:lnTo>
                      <a:pt x="150" y="373"/>
                    </a:lnTo>
                    <a:lnTo>
                      <a:pt x="130" y="373"/>
                    </a:lnTo>
                    <a:lnTo>
                      <a:pt x="128" y="357"/>
                    </a:lnTo>
                    <a:lnTo>
                      <a:pt x="127" y="346"/>
                    </a:lnTo>
                    <a:lnTo>
                      <a:pt x="124" y="332"/>
                    </a:lnTo>
                    <a:lnTo>
                      <a:pt x="122" y="319"/>
                    </a:lnTo>
                    <a:lnTo>
                      <a:pt x="120" y="308"/>
                    </a:lnTo>
                    <a:lnTo>
                      <a:pt x="118" y="298"/>
                    </a:lnTo>
                    <a:lnTo>
                      <a:pt x="116" y="290"/>
                    </a:lnTo>
                    <a:lnTo>
                      <a:pt x="113" y="279"/>
                    </a:lnTo>
                    <a:lnTo>
                      <a:pt x="109" y="269"/>
                    </a:lnTo>
                    <a:lnTo>
                      <a:pt x="107" y="260"/>
                    </a:lnTo>
                    <a:lnTo>
                      <a:pt x="104" y="258"/>
                    </a:lnTo>
                    <a:lnTo>
                      <a:pt x="101" y="256"/>
                    </a:lnTo>
                    <a:lnTo>
                      <a:pt x="98" y="254"/>
                    </a:lnTo>
                    <a:lnTo>
                      <a:pt x="96" y="255"/>
                    </a:lnTo>
                    <a:lnTo>
                      <a:pt x="93" y="260"/>
                    </a:lnTo>
                    <a:lnTo>
                      <a:pt x="87" y="268"/>
                    </a:lnTo>
                    <a:lnTo>
                      <a:pt x="83" y="274"/>
                    </a:lnTo>
                    <a:lnTo>
                      <a:pt x="79" y="280"/>
                    </a:lnTo>
                    <a:lnTo>
                      <a:pt x="76" y="288"/>
                    </a:lnTo>
                    <a:lnTo>
                      <a:pt x="72" y="293"/>
                    </a:lnTo>
                    <a:lnTo>
                      <a:pt x="68" y="301"/>
                    </a:lnTo>
                    <a:lnTo>
                      <a:pt x="64" y="309"/>
                    </a:lnTo>
                    <a:lnTo>
                      <a:pt x="61" y="318"/>
                    </a:lnTo>
                    <a:lnTo>
                      <a:pt x="57" y="327"/>
                    </a:lnTo>
                    <a:lnTo>
                      <a:pt x="53" y="337"/>
                    </a:lnTo>
                    <a:lnTo>
                      <a:pt x="49" y="348"/>
                    </a:lnTo>
                    <a:lnTo>
                      <a:pt x="44" y="360"/>
                    </a:lnTo>
                    <a:lnTo>
                      <a:pt x="46" y="346"/>
                    </a:lnTo>
                    <a:lnTo>
                      <a:pt x="47" y="336"/>
                    </a:lnTo>
                    <a:lnTo>
                      <a:pt x="48" y="325"/>
                    </a:lnTo>
                    <a:lnTo>
                      <a:pt x="50" y="319"/>
                    </a:lnTo>
                    <a:lnTo>
                      <a:pt x="51" y="314"/>
                    </a:lnTo>
                    <a:lnTo>
                      <a:pt x="54" y="305"/>
                    </a:lnTo>
                    <a:lnTo>
                      <a:pt x="57" y="295"/>
                    </a:lnTo>
                    <a:lnTo>
                      <a:pt x="59" y="288"/>
                    </a:lnTo>
                    <a:lnTo>
                      <a:pt x="64" y="280"/>
                    </a:lnTo>
                    <a:lnTo>
                      <a:pt x="69" y="272"/>
                    </a:lnTo>
                    <a:lnTo>
                      <a:pt x="73" y="263"/>
                    </a:lnTo>
                    <a:lnTo>
                      <a:pt x="78" y="254"/>
                    </a:lnTo>
                    <a:lnTo>
                      <a:pt x="81" y="249"/>
                    </a:lnTo>
                    <a:lnTo>
                      <a:pt x="86" y="244"/>
                    </a:lnTo>
                    <a:lnTo>
                      <a:pt x="91" y="238"/>
                    </a:lnTo>
                    <a:lnTo>
                      <a:pt x="95" y="232"/>
                    </a:lnTo>
                    <a:lnTo>
                      <a:pt x="100" y="226"/>
                    </a:lnTo>
                    <a:lnTo>
                      <a:pt x="105" y="218"/>
                    </a:lnTo>
                    <a:lnTo>
                      <a:pt x="103" y="216"/>
                    </a:lnTo>
                    <a:lnTo>
                      <a:pt x="99" y="212"/>
                    </a:lnTo>
                    <a:lnTo>
                      <a:pt x="96" y="210"/>
                    </a:lnTo>
                    <a:lnTo>
                      <a:pt x="93" y="211"/>
                    </a:lnTo>
                    <a:lnTo>
                      <a:pt x="87" y="216"/>
                    </a:lnTo>
                    <a:lnTo>
                      <a:pt x="82" y="221"/>
                    </a:lnTo>
                    <a:lnTo>
                      <a:pt x="77" y="226"/>
                    </a:lnTo>
                    <a:lnTo>
                      <a:pt x="72" y="232"/>
                    </a:lnTo>
                    <a:lnTo>
                      <a:pt x="67" y="241"/>
                    </a:lnTo>
                    <a:lnTo>
                      <a:pt x="61" y="249"/>
                    </a:lnTo>
                    <a:lnTo>
                      <a:pt x="56" y="255"/>
                    </a:lnTo>
                    <a:lnTo>
                      <a:pt x="52" y="261"/>
                    </a:lnTo>
                    <a:lnTo>
                      <a:pt x="47" y="268"/>
                    </a:lnTo>
                    <a:lnTo>
                      <a:pt x="42" y="276"/>
                    </a:lnTo>
                    <a:lnTo>
                      <a:pt x="38" y="284"/>
                    </a:lnTo>
                    <a:lnTo>
                      <a:pt x="33" y="293"/>
                    </a:lnTo>
                    <a:lnTo>
                      <a:pt x="28" y="301"/>
                    </a:lnTo>
                    <a:lnTo>
                      <a:pt x="24" y="310"/>
                    </a:lnTo>
                    <a:lnTo>
                      <a:pt x="18" y="321"/>
                    </a:lnTo>
                    <a:lnTo>
                      <a:pt x="21" y="307"/>
                    </a:lnTo>
                    <a:lnTo>
                      <a:pt x="22" y="297"/>
                    </a:lnTo>
                    <a:lnTo>
                      <a:pt x="24" y="288"/>
                    </a:lnTo>
                    <a:lnTo>
                      <a:pt x="25" y="286"/>
                    </a:lnTo>
                    <a:lnTo>
                      <a:pt x="28" y="281"/>
                    </a:lnTo>
                    <a:lnTo>
                      <a:pt x="32" y="275"/>
                    </a:lnTo>
                    <a:lnTo>
                      <a:pt x="37" y="269"/>
                    </a:lnTo>
                    <a:lnTo>
                      <a:pt x="42" y="262"/>
                    </a:lnTo>
                    <a:lnTo>
                      <a:pt x="47" y="256"/>
                    </a:lnTo>
                    <a:lnTo>
                      <a:pt x="54" y="248"/>
                    </a:lnTo>
                    <a:lnTo>
                      <a:pt x="58" y="243"/>
                    </a:lnTo>
                    <a:lnTo>
                      <a:pt x="64" y="236"/>
                    </a:lnTo>
                    <a:lnTo>
                      <a:pt x="71" y="229"/>
                    </a:lnTo>
                    <a:lnTo>
                      <a:pt x="77" y="224"/>
                    </a:lnTo>
                    <a:lnTo>
                      <a:pt x="83" y="218"/>
                    </a:lnTo>
                    <a:lnTo>
                      <a:pt x="93" y="210"/>
                    </a:lnTo>
                    <a:lnTo>
                      <a:pt x="98" y="208"/>
                    </a:lnTo>
                    <a:lnTo>
                      <a:pt x="101" y="206"/>
                    </a:lnTo>
                    <a:lnTo>
                      <a:pt x="95" y="202"/>
                    </a:lnTo>
                    <a:lnTo>
                      <a:pt x="90" y="196"/>
                    </a:lnTo>
                    <a:lnTo>
                      <a:pt x="84" y="190"/>
                    </a:lnTo>
                    <a:lnTo>
                      <a:pt x="79" y="185"/>
                    </a:lnTo>
                    <a:lnTo>
                      <a:pt x="73" y="180"/>
                    </a:lnTo>
                    <a:lnTo>
                      <a:pt x="69" y="176"/>
                    </a:lnTo>
                    <a:lnTo>
                      <a:pt x="65" y="170"/>
                    </a:lnTo>
                    <a:lnTo>
                      <a:pt x="58" y="163"/>
                    </a:lnTo>
                    <a:lnTo>
                      <a:pt x="52" y="156"/>
                    </a:lnTo>
                    <a:lnTo>
                      <a:pt x="46" y="148"/>
                    </a:lnTo>
                    <a:lnTo>
                      <a:pt x="39" y="141"/>
                    </a:lnTo>
                    <a:lnTo>
                      <a:pt x="33" y="136"/>
                    </a:lnTo>
                    <a:lnTo>
                      <a:pt x="26" y="129"/>
                    </a:lnTo>
                    <a:lnTo>
                      <a:pt x="22" y="125"/>
                    </a:lnTo>
                    <a:lnTo>
                      <a:pt x="17" y="118"/>
                    </a:lnTo>
                    <a:lnTo>
                      <a:pt x="14" y="112"/>
                    </a:lnTo>
                    <a:lnTo>
                      <a:pt x="10" y="108"/>
                    </a:lnTo>
                    <a:lnTo>
                      <a:pt x="4" y="102"/>
                    </a:lnTo>
                    <a:lnTo>
                      <a:pt x="0" y="98"/>
                    </a:lnTo>
                    <a:lnTo>
                      <a:pt x="3" y="98"/>
                    </a:lnTo>
                    <a:lnTo>
                      <a:pt x="9" y="100"/>
                    </a:lnTo>
                    <a:lnTo>
                      <a:pt x="14" y="101"/>
                    </a:lnTo>
                    <a:lnTo>
                      <a:pt x="20" y="104"/>
                    </a:lnTo>
                    <a:lnTo>
                      <a:pt x="25" y="109"/>
                    </a:lnTo>
                    <a:lnTo>
                      <a:pt x="32" y="115"/>
                    </a:lnTo>
                    <a:lnTo>
                      <a:pt x="38" y="120"/>
                    </a:lnTo>
                    <a:lnTo>
                      <a:pt x="45" y="125"/>
                    </a:lnTo>
                    <a:lnTo>
                      <a:pt x="51" y="132"/>
                    </a:lnTo>
                    <a:lnTo>
                      <a:pt x="58" y="139"/>
                    </a:lnTo>
                    <a:lnTo>
                      <a:pt x="64" y="145"/>
                    </a:lnTo>
                  </a:path>
                </a:pathLst>
              </a:custGeom>
              <a:solidFill>
                <a:srgbClr val="037C03">
                  <a:alpha val="50195"/>
                </a:srgbClr>
              </a:solidFill>
              <a:ln w="9525">
                <a:noFill/>
              </a:ln>
            </p:spPr>
            <p:txBody>
              <a:bodyPr/>
              <a:lstStyle/>
              <a:p>
                <a:endParaRPr lang="zh-CN" altLang="en-US"/>
              </a:p>
            </p:txBody>
          </p:sp>
        </p:grpSp>
        <p:grpSp>
          <p:nvGrpSpPr>
            <p:cNvPr id="89192" name="Group 131"/>
            <p:cNvGrpSpPr/>
            <p:nvPr/>
          </p:nvGrpSpPr>
          <p:grpSpPr>
            <a:xfrm>
              <a:off x="300" y="3360"/>
              <a:ext cx="508" cy="820"/>
              <a:chOff x="1985" y="1201"/>
              <a:chExt cx="508" cy="820"/>
            </a:xfrm>
          </p:grpSpPr>
          <p:grpSp>
            <p:nvGrpSpPr>
              <p:cNvPr id="89193" name="Group 132"/>
              <p:cNvGrpSpPr/>
              <p:nvPr/>
            </p:nvGrpSpPr>
            <p:grpSpPr>
              <a:xfrm>
                <a:off x="2247" y="1201"/>
                <a:ext cx="246" cy="810"/>
                <a:chOff x="2247" y="1201"/>
                <a:chExt cx="246" cy="810"/>
              </a:xfrm>
            </p:grpSpPr>
            <p:sp>
              <p:nvSpPr>
                <p:cNvPr id="89202" name="Freeform 133"/>
                <p:cNvSpPr/>
                <p:nvPr/>
              </p:nvSpPr>
              <p:spPr>
                <a:xfrm>
                  <a:off x="2392" y="1373"/>
                  <a:ext cx="92" cy="638"/>
                </a:xfrm>
                <a:custGeom>
                  <a:avLst/>
                  <a:gdLst>
                    <a:gd name="txL" fmla="*/ 0 w 92"/>
                    <a:gd name="txT" fmla="*/ 0 h 638"/>
                    <a:gd name="txR" fmla="*/ 92 w 92"/>
                    <a:gd name="txB" fmla="*/ 638 h 638"/>
                  </a:gdLst>
                  <a:ahLst/>
                  <a:cxnLst>
                    <a:cxn ang="0">
                      <a:pos x="91" y="296"/>
                    </a:cxn>
                    <a:cxn ang="0">
                      <a:pos x="83" y="425"/>
                    </a:cxn>
                    <a:cxn ang="0">
                      <a:pos x="75" y="529"/>
                    </a:cxn>
                    <a:cxn ang="0">
                      <a:pos x="70" y="606"/>
                    </a:cxn>
                    <a:cxn ang="0">
                      <a:pos x="71" y="637"/>
                    </a:cxn>
                    <a:cxn ang="0">
                      <a:pos x="60" y="637"/>
                    </a:cxn>
                    <a:cxn ang="0">
                      <a:pos x="57" y="592"/>
                    </a:cxn>
                    <a:cxn ang="0">
                      <a:pos x="55" y="524"/>
                    </a:cxn>
                    <a:cxn ang="0">
                      <a:pos x="51" y="461"/>
                    </a:cxn>
                    <a:cxn ang="0">
                      <a:pos x="49" y="414"/>
                    </a:cxn>
                    <a:cxn ang="0">
                      <a:pos x="45" y="345"/>
                    </a:cxn>
                    <a:cxn ang="0">
                      <a:pos x="40" y="285"/>
                    </a:cxn>
                    <a:cxn ang="0">
                      <a:pos x="35" y="233"/>
                    </a:cxn>
                    <a:cxn ang="0">
                      <a:pos x="31" y="177"/>
                    </a:cxn>
                    <a:cxn ang="0">
                      <a:pos x="24" y="121"/>
                    </a:cxn>
                    <a:cxn ang="0">
                      <a:pos x="17" y="74"/>
                    </a:cxn>
                    <a:cxn ang="0">
                      <a:pos x="4" y="28"/>
                    </a:cxn>
                    <a:cxn ang="0">
                      <a:pos x="0" y="10"/>
                    </a:cxn>
                    <a:cxn ang="0">
                      <a:pos x="5" y="0"/>
                    </a:cxn>
                    <a:cxn ang="0">
                      <a:pos x="13" y="18"/>
                    </a:cxn>
                    <a:cxn ang="0">
                      <a:pos x="24" y="61"/>
                    </a:cxn>
                    <a:cxn ang="0">
                      <a:pos x="33" y="104"/>
                    </a:cxn>
                    <a:cxn ang="0">
                      <a:pos x="40" y="150"/>
                    </a:cxn>
                    <a:cxn ang="0">
                      <a:pos x="44" y="208"/>
                    </a:cxn>
                    <a:cxn ang="0">
                      <a:pos x="48" y="263"/>
                    </a:cxn>
                    <a:cxn ang="0">
                      <a:pos x="55" y="337"/>
                    </a:cxn>
                    <a:cxn ang="0">
                      <a:pos x="59" y="398"/>
                    </a:cxn>
                    <a:cxn ang="0">
                      <a:pos x="61" y="447"/>
                    </a:cxn>
                    <a:cxn ang="0">
                      <a:pos x="63" y="498"/>
                    </a:cxn>
                    <a:cxn ang="0">
                      <a:pos x="68" y="550"/>
                    </a:cxn>
                    <a:cxn ang="0">
                      <a:pos x="73" y="460"/>
                    </a:cxn>
                    <a:cxn ang="0">
                      <a:pos x="80" y="376"/>
                    </a:cxn>
                    <a:cxn ang="0">
                      <a:pos x="91" y="296"/>
                    </a:cxn>
                  </a:cxnLst>
                  <a:rect l="txL" t="txT" r="txR" b="txB"/>
                  <a:pathLst>
                    <a:path w="92" h="638">
                      <a:moveTo>
                        <a:pt x="91" y="296"/>
                      </a:moveTo>
                      <a:lnTo>
                        <a:pt x="83" y="425"/>
                      </a:lnTo>
                      <a:lnTo>
                        <a:pt x="75" y="529"/>
                      </a:lnTo>
                      <a:lnTo>
                        <a:pt x="70" y="606"/>
                      </a:lnTo>
                      <a:lnTo>
                        <a:pt x="71" y="637"/>
                      </a:lnTo>
                      <a:lnTo>
                        <a:pt x="60" y="637"/>
                      </a:lnTo>
                      <a:lnTo>
                        <a:pt x="57" y="592"/>
                      </a:lnTo>
                      <a:lnTo>
                        <a:pt x="55" y="524"/>
                      </a:lnTo>
                      <a:lnTo>
                        <a:pt x="51" y="461"/>
                      </a:lnTo>
                      <a:lnTo>
                        <a:pt x="49" y="414"/>
                      </a:lnTo>
                      <a:lnTo>
                        <a:pt x="45" y="345"/>
                      </a:lnTo>
                      <a:lnTo>
                        <a:pt x="40" y="285"/>
                      </a:lnTo>
                      <a:lnTo>
                        <a:pt x="35" y="233"/>
                      </a:lnTo>
                      <a:lnTo>
                        <a:pt x="31" y="177"/>
                      </a:lnTo>
                      <a:lnTo>
                        <a:pt x="24" y="121"/>
                      </a:lnTo>
                      <a:lnTo>
                        <a:pt x="17" y="74"/>
                      </a:lnTo>
                      <a:lnTo>
                        <a:pt x="4" y="28"/>
                      </a:lnTo>
                      <a:lnTo>
                        <a:pt x="0" y="10"/>
                      </a:lnTo>
                      <a:lnTo>
                        <a:pt x="5" y="0"/>
                      </a:lnTo>
                      <a:lnTo>
                        <a:pt x="13" y="18"/>
                      </a:lnTo>
                      <a:lnTo>
                        <a:pt x="24" y="61"/>
                      </a:lnTo>
                      <a:lnTo>
                        <a:pt x="33" y="104"/>
                      </a:lnTo>
                      <a:lnTo>
                        <a:pt x="40" y="150"/>
                      </a:lnTo>
                      <a:lnTo>
                        <a:pt x="44" y="208"/>
                      </a:lnTo>
                      <a:lnTo>
                        <a:pt x="48" y="263"/>
                      </a:lnTo>
                      <a:lnTo>
                        <a:pt x="55" y="337"/>
                      </a:lnTo>
                      <a:lnTo>
                        <a:pt x="59" y="398"/>
                      </a:lnTo>
                      <a:lnTo>
                        <a:pt x="61" y="447"/>
                      </a:lnTo>
                      <a:lnTo>
                        <a:pt x="63" y="498"/>
                      </a:lnTo>
                      <a:lnTo>
                        <a:pt x="68" y="550"/>
                      </a:lnTo>
                      <a:lnTo>
                        <a:pt x="73" y="460"/>
                      </a:lnTo>
                      <a:lnTo>
                        <a:pt x="80" y="376"/>
                      </a:lnTo>
                      <a:lnTo>
                        <a:pt x="91" y="296"/>
                      </a:lnTo>
                    </a:path>
                  </a:pathLst>
                </a:custGeom>
                <a:solidFill>
                  <a:srgbClr val="3C0023">
                    <a:alpha val="50195"/>
                  </a:srgbClr>
                </a:solidFill>
                <a:ln w="9525">
                  <a:noFill/>
                </a:ln>
              </p:spPr>
              <p:txBody>
                <a:bodyPr/>
                <a:lstStyle/>
                <a:p>
                  <a:endParaRPr lang="zh-CN" altLang="en-US"/>
                </a:p>
              </p:txBody>
            </p:sp>
            <p:sp>
              <p:nvSpPr>
                <p:cNvPr id="89203" name="Freeform 134"/>
                <p:cNvSpPr/>
                <p:nvPr/>
              </p:nvSpPr>
              <p:spPr>
                <a:xfrm>
                  <a:off x="2247" y="1201"/>
                  <a:ext cx="246" cy="466"/>
                </a:xfrm>
                <a:custGeom>
                  <a:avLst/>
                  <a:gdLst>
                    <a:gd name="txL" fmla="*/ 0 w 246"/>
                    <a:gd name="txT" fmla="*/ 0 h 466"/>
                    <a:gd name="txR" fmla="*/ 246 w 246"/>
                    <a:gd name="txB" fmla="*/ 466 h 466"/>
                  </a:gdLst>
                  <a:ahLst/>
                  <a:cxnLst>
                    <a:cxn ang="0">
                      <a:pos x="136" y="67"/>
                    </a:cxn>
                    <a:cxn ang="0">
                      <a:pos x="105" y="12"/>
                    </a:cxn>
                    <a:cxn ang="0">
                      <a:pos x="55" y="1"/>
                    </a:cxn>
                    <a:cxn ang="0">
                      <a:pos x="58" y="12"/>
                    </a:cxn>
                    <a:cxn ang="0">
                      <a:pos x="96" y="39"/>
                    </a:cxn>
                    <a:cxn ang="0">
                      <a:pos x="130" y="134"/>
                    </a:cxn>
                    <a:cxn ang="0">
                      <a:pos x="73" y="85"/>
                    </a:cxn>
                    <a:cxn ang="0">
                      <a:pos x="32" y="75"/>
                    </a:cxn>
                    <a:cxn ang="0">
                      <a:pos x="7" y="103"/>
                    </a:cxn>
                    <a:cxn ang="0">
                      <a:pos x="38" y="103"/>
                    </a:cxn>
                    <a:cxn ang="0">
                      <a:pos x="108" y="129"/>
                    </a:cxn>
                    <a:cxn ang="0">
                      <a:pos x="104" y="146"/>
                    </a:cxn>
                    <a:cxn ang="0">
                      <a:pos x="92" y="171"/>
                    </a:cxn>
                    <a:cxn ang="0">
                      <a:pos x="126" y="170"/>
                    </a:cxn>
                    <a:cxn ang="0">
                      <a:pos x="69" y="193"/>
                    </a:cxn>
                    <a:cxn ang="0">
                      <a:pos x="37" y="233"/>
                    </a:cxn>
                    <a:cxn ang="0">
                      <a:pos x="6" y="325"/>
                    </a:cxn>
                    <a:cxn ang="0">
                      <a:pos x="72" y="231"/>
                    </a:cxn>
                    <a:cxn ang="0">
                      <a:pos x="118" y="194"/>
                    </a:cxn>
                    <a:cxn ang="0">
                      <a:pos x="94" y="269"/>
                    </a:cxn>
                    <a:cxn ang="0">
                      <a:pos x="76" y="338"/>
                    </a:cxn>
                    <a:cxn ang="0">
                      <a:pos x="71" y="408"/>
                    </a:cxn>
                    <a:cxn ang="0">
                      <a:pos x="98" y="303"/>
                    </a:cxn>
                    <a:cxn ang="0">
                      <a:pos x="124" y="236"/>
                    </a:cxn>
                    <a:cxn ang="0">
                      <a:pos x="125" y="214"/>
                    </a:cxn>
                    <a:cxn ang="0">
                      <a:pos x="118" y="323"/>
                    </a:cxn>
                    <a:cxn ang="0">
                      <a:pos x="138" y="439"/>
                    </a:cxn>
                    <a:cxn ang="0">
                      <a:pos x="128" y="313"/>
                    </a:cxn>
                    <a:cxn ang="0">
                      <a:pos x="127" y="223"/>
                    </a:cxn>
                    <a:cxn ang="0">
                      <a:pos x="147" y="189"/>
                    </a:cxn>
                    <a:cxn ang="0">
                      <a:pos x="188" y="298"/>
                    </a:cxn>
                    <a:cxn ang="0">
                      <a:pos x="223" y="411"/>
                    </a:cxn>
                    <a:cxn ang="0">
                      <a:pos x="193" y="292"/>
                    </a:cxn>
                    <a:cxn ang="0">
                      <a:pos x="160" y="190"/>
                    </a:cxn>
                    <a:cxn ang="0">
                      <a:pos x="164" y="121"/>
                    </a:cxn>
                    <a:cxn ang="0">
                      <a:pos x="194" y="130"/>
                    </a:cxn>
                    <a:cxn ang="0">
                      <a:pos x="240" y="125"/>
                    </a:cxn>
                    <a:cxn ang="0">
                      <a:pos x="216" y="122"/>
                    </a:cxn>
                    <a:cxn ang="0">
                      <a:pos x="163" y="144"/>
                    </a:cxn>
                    <a:cxn ang="0">
                      <a:pos x="194" y="109"/>
                    </a:cxn>
                    <a:cxn ang="0">
                      <a:pos x="244" y="101"/>
                    </a:cxn>
                    <a:cxn ang="0">
                      <a:pos x="229" y="88"/>
                    </a:cxn>
                    <a:cxn ang="0">
                      <a:pos x="163" y="138"/>
                    </a:cxn>
                    <a:cxn ang="0">
                      <a:pos x="172" y="99"/>
                    </a:cxn>
                    <a:cxn ang="0">
                      <a:pos x="226" y="61"/>
                    </a:cxn>
                    <a:cxn ang="0">
                      <a:pos x="188" y="82"/>
                    </a:cxn>
                    <a:cxn ang="0">
                      <a:pos x="147" y="109"/>
                    </a:cxn>
                  </a:cxnLst>
                  <a:rect l="txL" t="txT" r="txR" b="txB"/>
                  <a:pathLst>
                    <a:path w="246" h="466">
                      <a:moveTo>
                        <a:pt x="147" y="109"/>
                      </a:moveTo>
                      <a:lnTo>
                        <a:pt x="143" y="88"/>
                      </a:lnTo>
                      <a:lnTo>
                        <a:pt x="136" y="67"/>
                      </a:lnTo>
                      <a:lnTo>
                        <a:pt x="127" y="44"/>
                      </a:lnTo>
                      <a:lnTo>
                        <a:pt x="117" y="27"/>
                      </a:lnTo>
                      <a:lnTo>
                        <a:pt x="105" y="12"/>
                      </a:lnTo>
                      <a:lnTo>
                        <a:pt x="89" y="5"/>
                      </a:lnTo>
                      <a:lnTo>
                        <a:pt x="69" y="0"/>
                      </a:lnTo>
                      <a:lnTo>
                        <a:pt x="55" y="1"/>
                      </a:lnTo>
                      <a:lnTo>
                        <a:pt x="39" y="0"/>
                      </a:lnTo>
                      <a:lnTo>
                        <a:pt x="49" y="11"/>
                      </a:lnTo>
                      <a:lnTo>
                        <a:pt x="58" y="12"/>
                      </a:lnTo>
                      <a:lnTo>
                        <a:pt x="69" y="19"/>
                      </a:lnTo>
                      <a:lnTo>
                        <a:pt x="80" y="25"/>
                      </a:lnTo>
                      <a:lnTo>
                        <a:pt x="96" y="39"/>
                      </a:lnTo>
                      <a:lnTo>
                        <a:pt x="109" y="58"/>
                      </a:lnTo>
                      <a:lnTo>
                        <a:pt x="118" y="82"/>
                      </a:lnTo>
                      <a:lnTo>
                        <a:pt x="130" y="134"/>
                      </a:lnTo>
                      <a:lnTo>
                        <a:pt x="96" y="99"/>
                      </a:lnTo>
                      <a:lnTo>
                        <a:pt x="85" y="91"/>
                      </a:lnTo>
                      <a:lnTo>
                        <a:pt x="73" y="85"/>
                      </a:lnTo>
                      <a:lnTo>
                        <a:pt x="61" y="83"/>
                      </a:lnTo>
                      <a:lnTo>
                        <a:pt x="54" y="80"/>
                      </a:lnTo>
                      <a:lnTo>
                        <a:pt x="32" y="75"/>
                      </a:lnTo>
                      <a:lnTo>
                        <a:pt x="0" y="72"/>
                      </a:lnTo>
                      <a:lnTo>
                        <a:pt x="0" y="103"/>
                      </a:lnTo>
                      <a:lnTo>
                        <a:pt x="7" y="103"/>
                      </a:lnTo>
                      <a:lnTo>
                        <a:pt x="17" y="104"/>
                      </a:lnTo>
                      <a:lnTo>
                        <a:pt x="29" y="103"/>
                      </a:lnTo>
                      <a:lnTo>
                        <a:pt x="38" y="103"/>
                      </a:lnTo>
                      <a:lnTo>
                        <a:pt x="62" y="107"/>
                      </a:lnTo>
                      <a:lnTo>
                        <a:pt x="72" y="111"/>
                      </a:lnTo>
                      <a:lnTo>
                        <a:pt x="108" y="129"/>
                      </a:lnTo>
                      <a:lnTo>
                        <a:pt x="127" y="144"/>
                      </a:lnTo>
                      <a:lnTo>
                        <a:pt x="113" y="146"/>
                      </a:lnTo>
                      <a:lnTo>
                        <a:pt x="104" y="146"/>
                      </a:lnTo>
                      <a:lnTo>
                        <a:pt x="89" y="161"/>
                      </a:lnTo>
                      <a:lnTo>
                        <a:pt x="82" y="183"/>
                      </a:lnTo>
                      <a:lnTo>
                        <a:pt x="92" y="171"/>
                      </a:lnTo>
                      <a:lnTo>
                        <a:pt x="120" y="155"/>
                      </a:lnTo>
                      <a:lnTo>
                        <a:pt x="137" y="162"/>
                      </a:lnTo>
                      <a:lnTo>
                        <a:pt x="126" y="170"/>
                      </a:lnTo>
                      <a:lnTo>
                        <a:pt x="113" y="171"/>
                      </a:lnTo>
                      <a:lnTo>
                        <a:pt x="79" y="189"/>
                      </a:lnTo>
                      <a:lnTo>
                        <a:pt x="69" y="193"/>
                      </a:lnTo>
                      <a:lnTo>
                        <a:pt x="57" y="199"/>
                      </a:lnTo>
                      <a:lnTo>
                        <a:pt x="48" y="209"/>
                      </a:lnTo>
                      <a:lnTo>
                        <a:pt x="37" y="233"/>
                      </a:lnTo>
                      <a:lnTo>
                        <a:pt x="31" y="251"/>
                      </a:lnTo>
                      <a:lnTo>
                        <a:pt x="13" y="310"/>
                      </a:lnTo>
                      <a:lnTo>
                        <a:pt x="6" y="325"/>
                      </a:lnTo>
                      <a:lnTo>
                        <a:pt x="36" y="281"/>
                      </a:lnTo>
                      <a:lnTo>
                        <a:pt x="50" y="265"/>
                      </a:lnTo>
                      <a:lnTo>
                        <a:pt x="72" y="231"/>
                      </a:lnTo>
                      <a:lnTo>
                        <a:pt x="83" y="218"/>
                      </a:lnTo>
                      <a:lnTo>
                        <a:pt x="92" y="209"/>
                      </a:lnTo>
                      <a:lnTo>
                        <a:pt x="118" y="194"/>
                      </a:lnTo>
                      <a:lnTo>
                        <a:pt x="132" y="181"/>
                      </a:lnTo>
                      <a:lnTo>
                        <a:pt x="121" y="195"/>
                      </a:lnTo>
                      <a:lnTo>
                        <a:pt x="94" y="269"/>
                      </a:lnTo>
                      <a:lnTo>
                        <a:pt x="84" y="302"/>
                      </a:lnTo>
                      <a:lnTo>
                        <a:pt x="79" y="320"/>
                      </a:lnTo>
                      <a:lnTo>
                        <a:pt x="76" y="338"/>
                      </a:lnTo>
                      <a:lnTo>
                        <a:pt x="75" y="359"/>
                      </a:lnTo>
                      <a:lnTo>
                        <a:pt x="74" y="375"/>
                      </a:lnTo>
                      <a:lnTo>
                        <a:pt x="71" y="408"/>
                      </a:lnTo>
                      <a:lnTo>
                        <a:pt x="84" y="375"/>
                      </a:lnTo>
                      <a:lnTo>
                        <a:pt x="92" y="330"/>
                      </a:lnTo>
                      <a:lnTo>
                        <a:pt x="98" y="303"/>
                      </a:lnTo>
                      <a:lnTo>
                        <a:pt x="104" y="286"/>
                      </a:lnTo>
                      <a:lnTo>
                        <a:pt x="118" y="252"/>
                      </a:lnTo>
                      <a:lnTo>
                        <a:pt x="124" y="236"/>
                      </a:lnTo>
                      <a:lnTo>
                        <a:pt x="128" y="216"/>
                      </a:lnTo>
                      <a:lnTo>
                        <a:pt x="137" y="188"/>
                      </a:lnTo>
                      <a:lnTo>
                        <a:pt x="125" y="214"/>
                      </a:lnTo>
                      <a:lnTo>
                        <a:pt x="119" y="243"/>
                      </a:lnTo>
                      <a:lnTo>
                        <a:pt x="117" y="302"/>
                      </a:lnTo>
                      <a:lnTo>
                        <a:pt x="118" y="323"/>
                      </a:lnTo>
                      <a:lnTo>
                        <a:pt x="120" y="362"/>
                      </a:lnTo>
                      <a:lnTo>
                        <a:pt x="123" y="377"/>
                      </a:lnTo>
                      <a:lnTo>
                        <a:pt x="138" y="439"/>
                      </a:lnTo>
                      <a:lnTo>
                        <a:pt x="141" y="465"/>
                      </a:lnTo>
                      <a:lnTo>
                        <a:pt x="137" y="379"/>
                      </a:lnTo>
                      <a:lnTo>
                        <a:pt x="128" y="313"/>
                      </a:lnTo>
                      <a:lnTo>
                        <a:pt x="126" y="291"/>
                      </a:lnTo>
                      <a:lnTo>
                        <a:pt x="125" y="238"/>
                      </a:lnTo>
                      <a:lnTo>
                        <a:pt x="127" y="223"/>
                      </a:lnTo>
                      <a:lnTo>
                        <a:pt x="133" y="196"/>
                      </a:lnTo>
                      <a:lnTo>
                        <a:pt x="138" y="179"/>
                      </a:lnTo>
                      <a:lnTo>
                        <a:pt x="147" y="189"/>
                      </a:lnTo>
                      <a:lnTo>
                        <a:pt x="161" y="212"/>
                      </a:lnTo>
                      <a:lnTo>
                        <a:pt x="177" y="259"/>
                      </a:lnTo>
                      <a:lnTo>
                        <a:pt x="188" y="298"/>
                      </a:lnTo>
                      <a:lnTo>
                        <a:pt x="197" y="333"/>
                      </a:lnTo>
                      <a:lnTo>
                        <a:pt x="213" y="384"/>
                      </a:lnTo>
                      <a:lnTo>
                        <a:pt x="223" y="411"/>
                      </a:lnTo>
                      <a:lnTo>
                        <a:pt x="232" y="429"/>
                      </a:lnTo>
                      <a:lnTo>
                        <a:pt x="228" y="403"/>
                      </a:lnTo>
                      <a:lnTo>
                        <a:pt x="193" y="292"/>
                      </a:lnTo>
                      <a:lnTo>
                        <a:pt x="171" y="232"/>
                      </a:lnTo>
                      <a:lnTo>
                        <a:pt x="165" y="210"/>
                      </a:lnTo>
                      <a:lnTo>
                        <a:pt x="160" y="190"/>
                      </a:lnTo>
                      <a:lnTo>
                        <a:pt x="144" y="150"/>
                      </a:lnTo>
                      <a:lnTo>
                        <a:pt x="147" y="132"/>
                      </a:lnTo>
                      <a:lnTo>
                        <a:pt x="164" y="121"/>
                      </a:lnTo>
                      <a:lnTo>
                        <a:pt x="172" y="125"/>
                      </a:lnTo>
                      <a:lnTo>
                        <a:pt x="183" y="126"/>
                      </a:lnTo>
                      <a:lnTo>
                        <a:pt x="194" y="130"/>
                      </a:lnTo>
                      <a:lnTo>
                        <a:pt x="239" y="136"/>
                      </a:lnTo>
                      <a:lnTo>
                        <a:pt x="236" y="136"/>
                      </a:lnTo>
                      <a:lnTo>
                        <a:pt x="240" y="125"/>
                      </a:lnTo>
                      <a:lnTo>
                        <a:pt x="242" y="125"/>
                      </a:lnTo>
                      <a:lnTo>
                        <a:pt x="230" y="122"/>
                      </a:lnTo>
                      <a:lnTo>
                        <a:pt x="216" y="122"/>
                      </a:lnTo>
                      <a:lnTo>
                        <a:pt x="199" y="127"/>
                      </a:lnTo>
                      <a:lnTo>
                        <a:pt x="180" y="135"/>
                      </a:lnTo>
                      <a:lnTo>
                        <a:pt x="163" y="144"/>
                      </a:lnTo>
                      <a:lnTo>
                        <a:pt x="150" y="149"/>
                      </a:lnTo>
                      <a:lnTo>
                        <a:pt x="168" y="129"/>
                      </a:lnTo>
                      <a:lnTo>
                        <a:pt x="194" y="109"/>
                      </a:lnTo>
                      <a:lnTo>
                        <a:pt x="220" y="100"/>
                      </a:lnTo>
                      <a:lnTo>
                        <a:pt x="232" y="100"/>
                      </a:lnTo>
                      <a:lnTo>
                        <a:pt x="244" y="101"/>
                      </a:lnTo>
                      <a:lnTo>
                        <a:pt x="239" y="101"/>
                      </a:lnTo>
                      <a:lnTo>
                        <a:pt x="245" y="85"/>
                      </a:lnTo>
                      <a:lnTo>
                        <a:pt x="229" y="88"/>
                      </a:lnTo>
                      <a:lnTo>
                        <a:pt x="212" y="97"/>
                      </a:lnTo>
                      <a:lnTo>
                        <a:pt x="193" y="111"/>
                      </a:lnTo>
                      <a:lnTo>
                        <a:pt x="163" y="138"/>
                      </a:lnTo>
                      <a:lnTo>
                        <a:pt x="150" y="149"/>
                      </a:lnTo>
                      <a:lnTo>
                        <a:pt x="157" y="114"/>
                      </a:lnTo>
                      <a:lnTo>
                        <a:pt x="172" y="99"/>
                      </a:lnTo>
                      <a:lnTo>
                        <a:pt x="190" y="85"/>
                      </a:lnTo>
                      <a:lnTo>
                        <a:pt x="214" y="67"/>
                      </a:lnTo>
                      <a:lnTo>
                        <a:pt x="226" y="61"/>
                      </a:lnTo>
                      <a:lnTo>
                        <a:pt x="212" y="57"/>
                      </a:lnTo>
                      <a:lnTo>
                        <a:pt x="200" y="67"/>
                      </a:lnTo>
                      <a:lnTo>
                        <a:pt x="188" y="82"/>
                      </a:lnTo>
                      <a:lnTo>
                        <a:pt x="178" y="93"/>
                      </a:lnTo>
                      <a:lnTo>
                        <a:pt x="163" y="115"/>
                      </a:lnTo>
                      <a:lnTo>
                        <a:pt x="147" y="109"/>
                      </a:lnTo>
                    </a:path>
                  </a:pathLst>
                </a:custGeom>
                <a:solidFill>
                  <a:srgbClr val="037C03">
                    <a:alpha val="50195"/>
                  </a:srgbClr>
                </a:solidFill>
                <a:ln w="9525">
                  <a:noFill/>
                </a:ln>
              </p:spPr>
              <p:txBody>
                <a:bodyPr/>
                <a:lstStyle/>
                <a:p>
                  <a:endParaRPr lang="zh-CN" altLang="en-US"/>
                </a:p>
              </p:txBody>
            </p:sp>
          </p:grpSp>
          <p:grpSp>
            <p:nvGrpSpPr>
              <p:cNvPr id="89194" name="Group 135"/>
              <p:cNvGrpSpPr/>
              <p:nvPr/>
            </p:nvGrpSpPr>
            <p:grpSpPr>
              <a:xfrm>
                <a:off x="1985" y="1419"/>
                <a:ext cx="465" cy="602"/>
                <a:chOff x="1985" y="1419"/>
                <a:chExt cx="465" cy="602"/>
              </a:xfrm>
            </p:grpSpPr>
            <p:sp>
              <p:nvSpPr>
                <p:cNvPr id="89195" name="Freeform 136"/>
                <p:cNvSpPr/>
                <p:nvPr/>
              </p:nvSpPr>
              <p:spPr>
                <a:xfrm>
                  <a:off x="2164" y="1525"/>
                  <a:ext cx="130" cy="496"/>
                </a:xfrm>
                <a:custGeom>
                  <a:avLst/>
                  <a:gdLst>
                    <a:gd name="txL" fmla="*/ 0 w 130"/>
                    <a:gd name="txT" fmla="*/ 0 h 496"/>
                    <a:gd name="txR" fmla="*/ 130 w 130"/>
                    <a:gd name="txB" fmla="*/ 496 h 496"/>
                  </a:gdLst>
                  <a:ahLst/>
                  <a:cxnLst>
                    <a:cxn ang="0">
                      <a:pos x="129" y="230"/>
                    </a:cxn>
                    <a:cxn ang="0">
                      <a:pos x="118" y="330"/>
                    </a:cxn>
                    <a:cxn ang="0">
                      <a:pos x="107" y="411"/>
                    </a:cxn>
                    <a:cxn ang="0">
                      <a:pos x="100" y="471"/>
                    </a:cxn>
                    <a:cxn ang="0">
                      <a:pos x="101" y="495"/>
                    </a:cxn>
                    <a:cxn ang="0">
                      <a:pos x="86" y="495"/>
                    </a:cxn>
                    <a:cxn ang="0">
                      <a:pos x="81" y="460"/>
                    </a:cxn>
                    <a:cxn ang="0">
                      <a:pos x="79" y="408"/>
                    </a:cxn>
                    <a:cxn ang="0">
                      <a:pos x="73" y="358"/>
                    </a:cxn>
                    <a:cxn ang="0">
                      <a:pos x="70" y="321"/>
                    </a:cxn>
                    <a:cxn ang="0">
                      <a:pos x="64" y="268"/>
                    </a:cxn>
                    <a:cxn ang="0">
                      <a:pos x="56" y="222"/>
                    </a:cxn>
                    <a:cxn ang="0">
                      <a:pos x="51" y="181"/>
                    </a:cxn>
                    <a:cxn ang="0">
                      <a:pos x="45" y="137"/>
                    </a:cxn>
                    <a:cxn ang="0">
                      <a:pos x="35" y="94"/>
                    </a:cxn>
                    <a:cxn ang="0">
                      <a:pos x="24" y="57"/>
                    </a:cxn>
                    <a:cxn ang="0">
                      <a:pos x="6" y="21"/>
                    </a:cxn>
                    <a:cxn ang="0">
                      <a:pos x="0" y="8"/>
                    </a:cxn>
                    <a:cxn ang="0">
                      <a:pos x="7" y="0"/>
                    </a:cxn>
                    <a:cxn ang="0">
                      <a:pos x="19" y="14"/>
                    </a:cxn>
                    <a:cxn ang="0">
                      <a:pos x="35" y="47"/>
                    </a:cxn>
                    <a:cxn ang="0">
                      <a:pos x="47" y="81"/>
                    </a:cxn>
                    <a:cxn ang="0">
                      <a:pos x="56" y="116"/>
                    </a:cxn>
                    <a:cxn ang="0">
                      <a:pos x="63" y="161"/>
                    </a:cxn>
                    <a:cxn ang="0">
                      <a:pos x="69" y="204"/>
                    </a:cxn>
                    <a:cxn ang="0">
                      <a:pos x="77" y="262"/>
                    </a:cxn>
                    <a:cxn ang="0">
                      <a:pos x="84" y="309"/>
                    </a:cxn>
                    <a:cxn ang="0">
                      <a:pos x="87" y="347"/>
                    </a:cxn>
                    <a:cxn ang="0">
                      <a:pos x="90" y="386"/>
                    </a:cxn>
                    <a:cxn ang="0">
                      <a:pos x="96" y="427"/>
                    </a:cxn>
                    <a:cxn ang="0">
                      <a:pos x="104" y="357"/>
                    </a:cxn>
                    <a:cxn ang="0">
                      <a:pos x="114" y="292"/>
                    </a:cxn>
                    <a:cxn ang="0">
                      <a:pos x="129" y="230"/>
                    </a:cxn>
                  </a:cxnLst>
                  <a:rect l="txL" t="txT" r="txR" b="txB"/>
                  <a:pathLst>
                    <a:path w="130" h="496">
                      <a:moveTo>
                        <a:pt x="129" y="230"/>
                      </a:moveTo>
                      <a:lnTo>
                        <a:pt x="118" y="330"/>
                      </a:lnTo>
                      <a:lnTo>
                        <a:pt x="107" y="411"/>
                      </a:lnTo>
                      <a:lnTo>
                        <a:pt x="100" y="471"/>
                      </a:lnTo>
                      <a:lnTo>
                        <a:pt x="101" y="495"/>
                      </a:lnTo>
                      <a:lnTo>
                        <a:pt x="86" y="495"/>
                      </a:lnTo>
                      <a:lnTo>
                        <a:pt x="81" y="460"/>
                      </a:lnTo>
                      <a:lnTo>
                        <a:pt x="79" y="408"/>
                      </a:lnTo>
                      <a:lnTo>
                        <a:pt x="73" y="358"/>
                      </a:lnTo>
                      <a:lnTo>
                        <a:pt x="70" y="321"/>
                      </a:lnTo>
                      <a:lnTo>
                        <a:pt x="64" y="268"/>
                      </a:lnTo>
                      <a:lnTo>
                        <a:pt x="56" y="222"/>
                      </a:lnTo>
                      <a:lnTo>
                        <a:pt x="51" y="181"/>
                      </a:lnTo>
                      <a:lnTo>
                        <a:pt x="45" y="137"/>
                      </a:lnTo>
                      <a:lnTo>
                        <a:pt x="35" y="94"/>
                      </a:lnTo>
                      <a:lnTo>
                        <a:pt x="24" y="57"/>
                      </a:lnTo>
                      <a:lnTo>
                        <a:pt x="6" y="21"/>
                      </a:lnTo>
                      <a:lnTo>
                        <a:pt x="0" y="8"/>
                      </a:lnTo>
                      <a:lnTo>
                        <a:pt x="7" y="0"/>
                      </a:lnTo>
                      <a:lnTo>
                        <a:pt x="19" y="14"/>
                      </a:lnTo>
                      <a:lnTo>
                        <a:pt x="35" y="47"/>
                      </a:lnTo>
                      <a:lnTo>
                        <a:pt x="47" y="81"/>
                      </a:lnTo>
                      <a:lnTo>
                        <a:pt x="56" y="116"/>
                      </a:lnTo>
                      <a:lnTo>
                        <a:pt x="63" y="161"/>
                      </a:lnTo>
                      <a:lnTo>
                        <a:pt x="69" y="204"/>
                      </a:lnTo>
                      <a:lnTo>
                        <a:pt x="77" y="262"/>
                      </a:lnTo>
                      <a:lnTo>
                        <a:pt x="84" y="309"/>
                      </a:lnTo>
                      <a:lnTo>
                        <a:pt x="87" y="347"/>
                      </a:lnTo>
                      <a:lnTo>
                        <a:pt x="90" y="386"/>
                      </a:lnTo>
                      <a:lnTo>
                        <a:pt x="96" y="427"/>
                      </a:lnTo>
                      <a:lnTo>
                        <a:pt x="104" y="357"/>
                      </a:lnTo>
                      <a:lnTo>
                        <a:pt x="114" y="292"/>
                      </a:lnTo>
                      <a:lnTo>
                        <a:pt x="129" y="230"/>
                      </a:lnTo>
                    </a:path>
                  </a:pathLst>
                </a:custGeom>
                <a:solidFill>
                  <a:srgbClr val="3C0023">
                    <a:alpha val="50195"/>
                  </a:srgbClr>
                </a:solidFill>
                <a:ln w="9525">
                  <a:noFill/>
                </a:ln>
              </p:spPr>
              <p:txBody>
                <a:bodyPr/>
                <a:lstStyle/>
                <a:p>
                  <a:endParaRPr lang="zh-CN" altLang="en-US"/>
                </a:p>
              </p:txBody>
            </p:sp>
            <p:sp>
              <p:nvSpPr>
                <p:cNvPr id="89196" name="Freeform 137"/>
                <p:cNvSpPr/>
                <p:nvPr/>
              </p:nvSpPr>
              <p:spPr>
                <a:xfrm>
                  <a:off x="2204" y="1606"/>
                  <a:ext cx="229" cy="358"/>
                </a:xfrm>
                <a:custGeom>
                  <a:avLst/>
                  <a:gdLst>
                    <a:gd name="txL" fmla="*/ 0 w 229"/>
                    <a:gd name="txT" fmla="*/ 0 h 358"/>
                    <a:gd name="txR" fmla="*/ 229 w 229"/>
                    <a:gd name="txB" fmla="*/ 358 h 358"/>
                  </a:gdLst>
                  <a:ahLst/>
                  <a:cxnLst>
                    <a:cxn ang="0">
                      <a:pos x="60" y="58"/>
                    </a:cxn>
                    <a:cxn ang="0">
                      <a:pos x="67" y="44"/>
                    </a:cxn>
                    <a:cxn ang="0">
                      <a:pos x="64" y="5"/>
                    </a:cxn>
                    <a:cxn ang="0">
                      <a:pos x="64" y="5"/>
                    </a:cxn>
                    <a:cxn ang="0">
                      <a:pos x="64" y="5"/>
                    </a:cxn>
                    <a:cxn ang="0">
                      <a:pos x="64" y="5"/>
                    </a:cxn>
                    <a:cxn ang="0">
                      <a:pos x="64" y="5"/>
                    </a:cxn>
                    <a:cxn ang="0">
                      <a:pos x="70" y="2"/>
                    </a:cxn>
                    <a:cxn ang="0">
                      <a:pos x="82" y="66"/>
                    </a:cxn>
                    <a:cxn ang="0">
                      <a:pos x="94" y="39"/>
                    </a:cxn>
                    <a:cxn ang="0">
                      <a:pos x="101" y="5"/>
                    </a:cxn>
                    <a:cxn ang="0">
                      <a:pos x="104" y="5"/>
                    </a:cxn>
                    <a:cxn ang="0">
                      <a:pos x="103" y="5"/>
                    </a:cxn>
                    <a:cxn ang="0">
                      <a:pos x="104" y="5"/>
                    </a:cxn>
                    <a:cxn ang="0">
                      <a:pos x="102" y="5"/>
                    </a:cxn>
                    <a:cxn ang="0">
                      <a:pos x="103" y="5"/>
                    </a:cxn>
                    <a:cxn ang="0">
                      <a:pos x="105" y="47"/>
                    </a:cxn>
                    <a:cxn ang="0">
                      <a:pos x="111" y="88"/>
                    </a:cxn>
                    <a:cxn ang="0">
                      <a:pos x="139" y="79"/>
                    </a:cxn>
                    <a:cxn ang="0">
                      <a:pos x="176" y="81"/>
                    </a:cxn>
                    <a:cxn ang="0">
                      <a:pos x="205" y="104"/>
                    </a:cxn>
                    <a:cxn ang="0">
                      <a:pos x="228" y="155"/>
                    </a:cxn>
                    <a:cxn ang="0">
                      <a:pos x="200" y="147"/>
                    </a:cxn>
                    <a:cxn ang="0">
                      <a:pos x="171" y="131"/>
                    </a:cxn>
                    <a:cxn ang="0">
                      <a:pos x="132" y="121"/>
                    </a:cxn>
                    <a:cxn ang="0">
                      <a:pos x="107" y="125"/>
                    </a:cxn>
                    <a:cxn ang="0">
                      <a:pos x="122" y="150"/>
                    </a:cxn>
                    <a:cxn ang="0">
                      <a:pos x="154" y="165"/>
                    </a:cxn>
                    <a:cxn ang="0">
                      <a:pos x="187" y="175"/>
                    </a:cxn>
                    <a:cxn ang="0">
                      <a:pos x="212" y="212"/>
                    </a:cxn>
                    <a:cxn ang="0">
                      <a:pos x="224" y="262"/>
                    </a:cxn>
                    <a:cxn ang="0">
                      <a:pos x="194" y="231"/>
                    </a:cxn>
                    <a:cxn ang="0">
                      <a:pos x="163" y="199"/>
                    </a:cxn>
                    <a:cxn ang="0">
                      <a:pos x="133" y="172"/>
                    </a:cxn>
                    <a:cxn ang="0">
                      <a:pos x="111" y="159"/>
                    </a:cxn>
                    <a:cxn ang="0">
                      <a:pos x="97" y="185"/>
                    </a:cxn>
                    <a:cxn ang="0">
                      <a:pos x="115" y="245"/>
                    </a:cxn>
                    <a:cxn ang="0">
                      <a:pos x="132" y="312"/>
                    </a:cxn>
                    <a:cxn ang="0">
                      <a:pos x="114" y="328"/>
                    </a:cxn>
                    <a:cxn ang="0">
                      <a:pos x="95" y="236"/>
                    </a:cxn>
                    <a:cxn ang="0">
                      <a:pos x="78" y="179"/>
                    </a:cxn>
                    <a:cxn ang="0">
                      <a:pos x="73" y="197"/>
                    </a:cxn>
                    <a:cxn ang="0">
                      <a:pos x="74" y="186"/>
                    </a:cxn>
                    <a:cxn ang="0">
                      <a:pos x="70" y="206"/>
                    </a:cxn>
                    <a:cxn ang="0">
                      <a:pos x="51" y="257"/>
                    </a:cxn>
                    <a:cxn ang="0">
                      <a:pos x="32" y="322"/>
                    </a:cxn>
                    <a:cxn ang="0">
                      <a:pos x="28" y="304"/>
                    </a:cxn>
                    <a:cxn ang="0">
                      <a:pos x="38" y="249"/>
                    </a:cxn>
                    <a:cxn ang="0">
                      <a:pos x="59" y="189"/>
                    </a:cxn>
                    <a:cxn ang="0">
                      <a:pos x="82" y="143"/>
                    </a:cxn>
                    <a:cxn ang="0">
                      <a:pos x="65" y="139"/>
                    </a:cxn>
                    <a:cxn ang="0">
                      <a:pos x="40" y="189"/>
                    </a:cxn>
                    <a:cxn ang="0">
                      <a:pos x="18" y="243"/>
                    </a:cxn>
                    <a:cxn ang="0">
                      <a:pos x="2" y="278"/>
                    </a:cxn>
                    <a:cxn ang="0">
                      <a:pos x="13" y="229"/>
                    </a:cxn>
                    <a:cxn ang="0">
                      <a:pos x="37" y="179"/>
                    </a:cxn>
                    <a:cxn ang="0">
                      <a:pos x="70" y="130"/>
                    </a:cxn>
                    <a:cxn ang="0">
                      <a:pos x="62" y="99"/>
                    </a:cxn>
                    <a:cxn ang="0">
                      <a:pos x="37" y="59"/>
                    </a:cxn>
                    <a:cxn ang="0">
                      <a:pos x="11" y="12"/>
                    </a:cxn>
                    <a:cxn ang="0">
                      <a:pos x="14" y="5"/>
                    </a:cxn>
                    <a:cxn ang="0">
                      <a:pos x="27" y="5"/>
                    </a:cxn>
                    <a:cxn ang="0">
                      <a:pos x="31" y="10"/>
                    </a:cxn>
                  </a:cxnLst>
                  <a:rect l="txL" t="txT" r="txR" b="txB"/>
                  <a:pathLst>
                    <a:path w="229" h="358">
                      <a:moveTo>
                        <a:pt x="43" y="31"/>
                      </a:moveTo>
                      <a:lnTo>
                        <a:pt x="47" y="39"/>
                      </a:lnTo>
                      <a:lnTo>
                        <a:pt x="51" y="44"/>
                      </a:lnTo>
                      <a:lnTo>
                        <a:pt x="55" y="51"/>
                      </a:lnTo>
                      <a:lnTo>
                        <a:pt x="60" y="58"/>
                      </a:lnTo>
                      <a:lnTo>
                        <a:pt x="64" y="63"/>
                      </a:lnTo>
                      <a:lnTo>
                        <a:pt x="68" y="66"/>
                      </a:lnTo>
                      <a:lnTo>
                        <a:pt x="72" y="69"/>
                      </a:lnTo>
                      <a:lnTo>
                        <a:pt x="70" y="58"/>
                      </a:lnTo>
                      <a:lnTo>
                        <a:pt x="67" y="44"/>
                      </a:lnTo>
                      <a:lnTo>
                        <a:pt x="65" y="30"/>
                      </a:lnTo>
                      <a:lnTo>
                        <a:pt x="63" y="15"/>
                      </a:lnTo>
                      <a:lnTo>
                        <a:pt x="64" y="5"/>
                      </a:lnTo>
                      <a:lnTo>
                        <a:pt x="69" y="5"/>
                      </a:lnTo>
                      <a:lnTo>
                        <a:pt x="70" y="5"/>
                      </a:lnTo>
                      <a:lnTo>
                        <a:pt x="70" y="2"/>
                      </a:lnTo>
                      <a:lnTo>
                        <a:pt x="73" y="16"/>
                      </a:lnTo>
                      <a:lnTo>
                        <a:pt x="76" y="30"/>
                      </a:lnTo>
                      <a:lnTo>
                        <a:pt x="78" y="41"/>
                      </a:lnTo>
                      <a:lnTo>
                        <a:pt x="81" y="56"/>
                      </a:lnTo>
                      <a:lnTo>
                        <a:pt x="82" y="66"/>
                      </a:lnTo>
                      <a:lnTo>
                        <a:pt x="84" y="71"/>
                      </a:lnTo>
                      <a:lnTo>
                        <a:pt x="87" y="66"/>
                      </a:lnTo>
                      <a:lnTo>
                        <a:pt x="89" y="59"/>
                      </a:lnTo>
                      <a:lnTo>
                        <a:pt x="93" y="52"/>
                      </a:lnTo>
                      <a:lnTo>
                        <a:pt x="94" y="39"/>
                      </a:lnTo>
                      <a:lnTo>
                        <a:pt x="95" y="30"/>
                      </a:lnTo>
                      <a:lnTo>
                        <a:pt x="96" y="14"/>
                      </a:lnTo>
                      <a:lnTo>
                        <a:pt x="96" y="0"/>
                      </a:lnTo>
                      <a:lnTo>
                        <a:pt x="101" y="5"/>
                      </a:lnTo>
                      <a:lnTo>
                        <a:pt x="102" y="5"/>
                      </a:lnTo>
                      <a:lnTo>
                        <a:pt x="103" y="5"/>
                      </a:lnTo>
                      <a:lnTo>
                        <a:pt x="104" y="5"/>
                      </a:lnTo>
                      <a:lnTo>
                        <a:pt x="105" y="5"/>
                      </a:lnTo>
                      <a:lnTo>
                        <a:pt x="104" y="5"/>
                      </a:lnTo>
                      <a:lnTo>
                        <a:pt x="102" y="5"/>
                      </a:lnTo>
                      <a:lnTo>
                        <a:pt x="103" y="5"/>
                      </a:lnTo>
                      <a:lnTo>
                        <a:pt x="105" y="5"/>
                      </a:lnTo>
                      <a:lnTo>
                        <a:pt x="103" y="5"/>
                      </a:lnTo>
                      <a:lnTo>
                        <a:pt x="101" y="5"/>
                      </a:lnTo>
                      <a:lnTo>
                        <a:pt x="102" y="5"/>
                      </a:lnTo>
                      <a:lnTo>
                        <a:pt x="101" y="5"/>
                      </a:lnTo>
                      <a:lnTo>
                        <a:pt x="104" y="5"/>
                      </a:lnTo>
                      <a:lnTo>
                        <a:pt x="103" y="5"/>
                      </a:lnTo>
                      <a:lnTo>
                        <a:pt x="100" y="5"/>
                      </a:lnTo>
                      <a:lnTo>
                        <a:pt x="101" y="5"/>
                      </a:lnTo>
                      <a:lnTo>
                        <a:pt x="103" y="5"/>
                      </a:lnTo>
                      <a:lnTo>
                        <a:pt x="102" y="5"/>
                      </a:lnTo>
                      <a:lnTo>
                        <a:pt x="104" y="5"/>
                      </a:lnTo>
                      <a:lnTo>
                        <a:pt x="102" y="5"/>
                      </a:lnTo>
                      <a:lnTo>
                        <a:pt x="107" y="5"/>
                      </a:lnTo>
                      <a:lnTo>
                        <a:pt x="103" y="5"/>
                      </a:lnTo>
                      <a:lnTo>
                        <a:pt x="104" y="5"/>
                      </a:lnTo>
                      <a:lnTo>
                        <a:pt x="107" y="2"/>
                      </a:lnTo>
                      <a:lnTo>
                        <a:pt x="107" y="15"/>
                      </a:lnTo>
                      <a:lnTo>
                        <a:pt x="106" y="31"/>
                      </a:lnTo>
                      <a:lnTo>
                        <a:pt x="105" y="47"/>
                      </a:lnTo>
                      <a:lnTo>
                        <a:pt x="103" y="66"/>
                      </a:lnTo>
                      <a:lnTo>
                        <a:pt x="102" y="83"/>
                      </a:lnTo>
                      <a:lnTo>
                        <a:pt x="101" y="100"/>
                      </a:lnTo>
                      <a:lnTo>
                        <a:pt x="105" y="95"/>
                      </a:lnTo>
                      <a:lnTo>
                        <a:pt x="111" y="88"/>
                      </a:lnTo>
                      <a:lnTo>
                        <a:pt x="118" y="80"/>
                      </a:lnTo>
                      <a:lnTo>
                        <a:pt x="123" y="78"/>
                      </a:lnTo>
                      <a:lnTo>
                        <a:pt x="129" y="76"/>
                      </a:lnTo>
                      <a:lnTo>
                        <a:pt x="134" y="79"/>
                      </a:lnTo>
                      <a:lnTo>
                        <a:pt x="139" y="79"/>
                      </a:lnTo>
                      <a:lnTo>
                        <a:pt x="146" y="81"/>
                      </a:lnTo>
                      <a:lnTo>
                        <a:pt x="154" y="83"/>
                      </a:lnTo>
                      <a:lnTo>
                        <a:pt x="162" y="83"/>
                      </a:lnTo>
                      <a:lnTo>
                        <a:pt x="169" y="81"/>
                      </a:lnTo>
                      <a:lnTo>
                        <a:pt x="176" y="81"/>
                      </a:lnTo>
                      <a:lnTo>
                        <a:pt x="182" y="83"/>
                      </a:lnTo>
                      <a:lnTo>
                        <a:pt x="188" y="88"/>
                      </a:lnTo>
                      <a:lnTo>
                        <a:pt x="195" y="93"/>
                      </a:lnTo>
                      <a:lnTo>
                        <a:pt x="200" y="98"/>
                      </a:lnTo>
                      <a:lnTo>
                        <a:pt x="205" y="104"/>
                      </a:lnTo>
                      <a:lnTo>
                        <a:pt x="211" y="112"/>
                      </a:lnTo>
                      <a:lnTo>
                        <a:pt x="214" y="117"/>
                      </a:lnTo>
                      <a:lnTo>
                        <a:pt x="220" y="129"/>
                      </a:lnTo>
                      <a:lnTo>
                        <a:pt x="223" y="142"/>
                      </a:lnTo>
                      <a:lnTo>
                        <a:pt x="228" y="155"/>
                      </a:lnTo>
                      <a:lnTo>
                        <a:pt x="223" y="156"/>
                      </a:lnTo>
                      <a:lnTo>
                        <a:pt x="217" y="154"/>
                      </a:lnTo>
                      <a:lnTo>
                        <a:pt x="210" y="152"/>
                      </a:lnTo>
                      <a:lnTo>
                        <a:pt x="205" y="150"/>
                      </a:lnTo>
                      <a:lnTo>
                        <a:pt x="200" y="147"/>
                      </a:lnTo>
                      <a:lnTo>
                        <a:pt x="195" y="143"/>
                      </a:lnTo>
                      <a:lnTo>
                        <a:pt x="189" y="138"/>
                      </a:lnTo>
                      <a:lnTo>
                        <a:pt x="184" y="135"/>
                      </a:lnTo>
                      <a:lnTo>
                        <a:pt x="179" y="133"/>
                      </a:lnTo>
                      <a:lnTo>
                        <a:pt x="171" y="131"/>
                      </a:lnTo>
                      <a:lnTo>
                        <a:pt x="162" y="129"/>
                      </a:lnTo>
                      <a:lnTo>
                        <a:pt x="154" y="126"/>
                      </a:lnTo>
                      <a:lnTo>
                        <a:pt x="146" y="124"/>
                      </a:lnTo>
                      <a:lnTo>
                        <a:pt x="138" y="122"/>
                      </a:lnTo>
                      <a:lnTo>
                        <a:pt x="132" y="121"/>
                      </a:lnTo>
                      <a:lnTo>
                        <a:pt x="128" y="120"/>
                      </a:lnTo>
                      <a:lnTo>
                        <a:pt x="122" y="120"/>
                      </a:lnTo>
                      <a:lnTo>
                        <a:pt x="116" y="121"/>
                      </a:lnTo>
                      <a:lnTo>
                        <a:pt x="112" y="122"/>
                      </a:lnTo>
                      <a:lnTo>
                        <a:pt x="107" y="125"/>
                      </a:lnTo>
                      <a:lnTo>
                        <a:pt x="100" y="129"/>
                      </a:lnTo>
                      <a:lnTo>
                        <a:pt x="105" y="135"/>
                      </a:lnTo>
                      <a:lnTo>
                        <a:pt x="111" y="140"/>
                      </a:lnTo>
                      <a:lnTo>
                        <a:pt x="116" y="147"/>
                      </a:lnTo>
                      <a:lnTo>
                        <a:pt x="122" y="150"/>
                      </a:lnTo>
                      <a:lnTo>
                        <a:pt x="129" y="155"/>
                      </a:lnTo>
                      <a:lnTo>
                        <a:pt x="133" y="158"/>
                      </a:lnTo>
                      <a:lnTo>
                        <a:pt x="139" y="159"/>
                      </a:lnTo>
                      <a:lnTo>
                        <a:pt x="147" y="162"/>
                      </a:lnTo>
                      <a:lnTo>
                        <a:pt x="154" y="165"/>
                      </a:lnTo>
                      <a:lnTo>
                        <a:pt x="161" y="167"/>
                      </a:lnTo>
                      <a:lnTo>
                        <a:pt x="168" y="169"/>
                      </a:lnTo>
                      <a:lnTo>
                        <a:pt x="174" y="170"/>
                      </a:lnTo>
                      <a:lnTo>
                        <a:pt x="181" y="174"/>
                      </a:lnTo>
                      <a:lnTo>
                        <a:pt x="187" y="175"/>
                      </a:lnTo>
                      <a:lnTo>
                        <a:pt x="191" y="179"/>
                      </a:lnTo>
                      <a:lnTo>
                        <a:pt x="197" y="186"/>
                      </a:lnTo>
                      <a:lnTo>
                        <a:pt x="202" y="193"/>
                      </a:lnTo>
                      <a:lnTo>
                        <a:pt x="206" y="202"/>
                      </a:lnTo>
                      <a:lnTo>
                        <a:pt x="212" y="212"/>
                      </a:lnTo>
                      <a:lnTo>
                        <a:pt x="214" y="218"/>
                      </a:lnTo>
                      <a:lnTo>
                        <a:pt x="217" y="229"/>
                      </a:lnTo>
                      <a:lnTo>
                        <a:pt x="219" y="240"/>
                      </a:lnTo>
                      <a:lnTo>
                        <a:pt x="221" y="253"/>
                      </a:lnTo>
                      <a:lnTo>
                        <a:pt x="224" y="262"/>
                      </a:lnTo>
                      <a:lnTo>
                        <a:pt x="219" y="257"/>
                      </a:lnTo>
                      <a:lnTo>
                        <a:pt x="212" y="250"/>
                      </a:lnTo>
                      <a:lnTo>
                        <a:pt x="206" y="245"/>
                      </a:lnTo>
                      <a:lnTo>
                        <a:pt x="200" y="238"/>
                      </a:lnTo>
                      <a:lnTo>
                        <a:pt x="194" y="231"/>
                      </a:lnTo>
                      <a:lnTo>
                        <a:pt x="188" y="226"/>
                      </a:lnTo>
                      <a:lnTo>
                        <a:pt x="182" y="219"/>
                      </a:lnTo>
                      <a:lnTo>
                        <a:pt x="176" y="213"/>
                      </a:lnTo>
                      <a:lnTo>
                        <a:pt x="169" y="206"/>
                      </a:lnTo>
                      <a:lnTo>
                        <a:pt x="163" y="199"/>
                      </a:lnTo>
                      <a:lnTo>
                        <a:pt x="158" y="194"/>
                      </a:lnTo>
                      <a:lnTo>
                        <a:pt x="151" y="187"/>
                      </a:lnTo>
                      <a:lnTo>
                        <a:pt x="145" y="182"/>
                      </a:lnTo>
                      <a:lnTo>
                        <a:pt x="139" y="177"/>
                      </a:lnTo>
                      <a:lnTo>
                        <a:pt x="133" y="172"/>
                      </a:lnTo>
                      <a:lnTo>
                        <a:pt x="129" y="170"/>
                      </a:lnTo>
                      <a:lnTo>
                        <a:pt x="125" y="166"/>
                      </a:lnTo>
                      <a:lnTo>
                        <a:pt x="119" y="162"/>
                      </a:lnTo>
                      <a:lnTo>
                        <a:pt x="115" y="158"/>
                      </a:lnTo>
                      <a:lnTo>
                        <a:pt x="111" y="159"/>
                      </a:lnTo>
                      <a:lnTo>
                        <a:pt x="107" y="162"/>
                      </a:lnTo>
                      <a:lnTo>
                        <a:pt x="103" y="161"/>
                      </a:lnTo>
                      <a:lnTo>
                        <a:pt x="99" y="158"/>
                      </a:lnTo>
                      <a:lnTo>
                        <a:pt x="98" y="170"/>
                      </a:lnTo>
                      <a:lnTo>
                        <a:pt x="97" y="185"/>
                      </a:lnTo>
                      <a:lnTo>
                        <a:pt x="100" y="197"/>
                      </a:lnTo>
                      <a:lnTo>
                        <a:pt x="102" y="211"/>
                      </a:lnTo>
                      <a:lnTo>
                        <a:pt x="107" y="220"/>
                      </a:lnTo>
                      <a:lnTo>
                        <a:pt x="111" y="231"/>
                      </a:lnTo>
                      <a:lnTo>
                        <a:pt x="115" y="245"/>
                      </a:lnTo>
                      <a:lnTo>
                        <a:pt x="119" y="259"/>
                      </a:lnTo>
                      <a:lnTo>
                        <a:pt x="123" y="268"/>
                      </a:lnTo>
                      <a:lnTo>
                        <a:pt x="127" y="278"/>
                      </a:lnTo>
                      <a:lnTo>
                        <a:pt x="131" y="297"/>
                      </a:lnTo>
                      <a:lnTo>
                        <a:pt x="132" y="312"/>
                      </a:lnTo>
                      <a:lnTo>
                        <a:pt x="135" y="331"/>
                      </a:lnTo>
                      <a:lnTo>
                        <a:pt x="138" y="349"/>
                      </a:lnTo>
                      <a:lnTo>
                        <a:pt x="125" y="349"/>
                      </a:lnTo>
                      <a:lnTo>
                        <a:pt x="122" y="349"/>
                      </a:lnTo>
                      <a:lnTo>
                        <a:pt x="114" y="328"/>
                      </a:lnTo>
                      <a:lnTo>
                        <a:pt x="108" y="307"/>
                      </a:lnTo>
                      <a:lnTo>
                        <a:pt x="103" y="290"/>
                      </a:lnTo>
                      <a:lnTo>
                        <a:pt x="100" y="273"/>
                      </a:lnTo>
                      <a:lnTo>
                        <a:pt x="98" y="255"/>
                      </a:lnTo>
                      <a:lnTo>
                        <a:pt x="95" y="236"/>
                      </a:lnTo>
                      <a:lnTo>
                        <a:pt x="90" y="209"/>
                      </a:lnTo>
                      <a:lnTo>
                        <a:pt x="87" y="200"/>
                      </a:lnTo>
                      <a:lnTo>
                        <a:pt x="84" y="184"/>
                      </a:lnTo>
                      <a:lnTo>
                        <a:pt x="81" y="177"/>
                      </a:lnTo>
                      <a:lnTo>
                        <a:pt x="78" y="179"/>
                      </a:lnTo>
                      <a:lnTo>
                        <a:pt x="75" y="181"/>
                      </a:lnTo>
                      <a:lnTo>
                        <a:pt x="74" y="191"/>
                      </a:lnTo>
                      <a:lnTo>
                        <a:pt x="74" y="186"/>
                      </a:lnTo>
                      <a:lnTo>
                        <a:pt x="74" y="192"/>
                      </a:lnTo>
                      <a:lnTo>
                        <a:pt x="73" y="197"/>
                      </a:lnTo>
                      <a:lnTo>
                        <a:pt x="72" y="198"/>
                      </a:lnTo>
                      <a:lnTo>
                        <a:pt x="74" y="197"/>
                      </a:lnTo>
                      <a:lnTo>
                        <a:pt x="73" y="194"/>
                      </a:lnTo>
                      <a:lnTo>
                        <a:pt x="74" y="189"/>
                      </a:lnTo>
                      <a:lnTo>
                        <a:pt x="74" y="186"/>
                      </a:lnTo>
                      <a:lnTo>
                        <a:pt x="74" y="187"/>
                      </a:lnTo>
                      <a:lnTo>
                        <a:pt x="74" y="192"/>
                      </a:lnTo>
                      <a:lnTo>
                        <a:pt x="75" y="197"/>
                      </a:lnTo>
                      <a:lnTo>
                        <a:pt x="73" y="198"/>
                      </a:lnTo>
                      <a:lnTo>
                        <a:pt x="70" y="206"/>
                      </a:lnTo>
                      <a:lnTo>
                        <a:pt x="65" y="218"/>
                      </a:lnTo>
                      <a:lnTo>
                        <a:pt x="61" y="227"/>
                      </a:lnTo>
                      <a:lnTo>
                        <a:pt x="58" y="236"/>
                      </a:lnTo>
                      <a:lnTo>
                        <a:pt x="54" y="248"/>
                      </a:lnTo>
                      <a:lnTo>
                        <a:pt x="51" y="257"/>
                      </a:lnTo>
                      <a:lnTo>
                        <a:pt x="47" y="268"/>
                      </a:lnTo>
                      <a:lnTo>
                        <a:pt x="43" y="280"/>
                      </a:lnTo>
                      <a:lnTo>
                        <a:pt x="40" y="293"/>
                      </a:lnTo>
                      <a:lnTo>
                        <a:pt x="36" y="307"/>
                      </a:lnTo>
                      <a:lnTo>
                        <a:pt x="32" y="322"/>
                      </a:lnTo>
                      <a:lnTo>
                        <a:pt x="29" y="339"/>
                      </a:lnTo>
                      <a:lnTo>
                        <a:pt x="24" y="357"/>
                      </a:lnTo>
                      <a:lnTo>
                        <a:pt x="26" y="335"/>
                      </a:lnTo>
                      <a:lnTo>
                        <a:pt x="27" y="321"/>
                      </a:lnTo>
                      <a:lnTo>
                        <a:pt x="28" y="304"/>
                      </a:lnTo>
                      <a:lnTo>
                        <a:pt x="29" y="295"/>
                      </a:lnTo>
                      <a:lnTo>
                        <a:pt x="31" y="287"/>
                      </a:lnTo>
                      <a:lnTo>
                        <a:pt x="33" y="273"/>
                      </a:lnTo>
                      <a:lnTo>
                        <a:pt x="36" y="260"/>
                      </a:lnTo>
                      <a:lnTo>
                        <a:pt x="38" y="249"/>
                      </a:lnTo>
                      <a:lnTo>
                        <a:pt x="43" y="236"/>
                      </a:lnTo>
                      <a:lnTo>
                        <a:pt x="47" y="224"/>
                      </a:lnTo>
                      <a:lnTo>
                        <a:pt x="52" y="211"/>
                      </a:lnTo>
                      <a:lnTo>
                        <a:pt x="56" y="197"/>
                      </a:lnTo>
                      <a:lnTo>
                        <a:pt x="59" y="189"/>
                      </a:lnTo>
                      <a:lnTo>
                        <a:pt x="63" y="181"/>
                      </a:lnTo>
                      <a:lnTo>
                        <a:pt x="68" y="172"/>
                      </a:lnTo>
                      <a:lnTo>
                        <a:pt x="73" y="164"/>
                      </a:lnTo>
                      <a:lnTo>
                        <a:pt x="77" y="154"/>
                      </a:lnTo>
                      <a:lnTo>
                        <a:pt x="82" y="143"/>
                      </a:lnTo>
                      <a:lnTo>
                        <a:pt x="80" y="139"/>
                      </a:lnTo>
                      <a:lnTo>
                        <a:pt x="76" y="133"/>
                      </a:lnTo>
                      <a:lnTo>
                        <a:pt x="73" y="129"/>
                      </a:lnTo>
                      <a:lnTo>
                        <a:pt x="70" y="132"/>
                      </a:lnTo>
                      <a:lnTo>
                        <a:pt x="65" y="139"/>
                      </a:lnTo>
                      <a:lnTo>
                        <a:pt x="60" y="147"/>
                      </a:lnTo>
                      <a:lnTo>
                        <a:pt x="55" y="154"/>
                      </a:lnTo>
                      <a:lnTo>
                        <a:pt x="51" y="164"/>
                      </a:lnTo>
                      <a:lnTo>
                        <a:pt x="45" y="177"/>
                      </a:lnTo>
                      <a:lnTo>
                        <a:pt x="40" y="189"/>
                      </a:lnTo>
                      <a:lnTo>
                        <a:pt x="36" y="199"/>
                      </a:lnTo>
                      <a:lnTo>
                        <a:pt x="31" y="207"/>
                      </a:lnTo>
                      <a:lnTo>
                        <a:pt x="27" y="218"/>
                      </a:lnTo>
                      <a:lnTo>
                        <a:pt x="22" y="230"/>
                      </a:lnTo>
                      <a:lnTo>
                        <a:pt x="18" y="243"/>
                      </a:lnTo>
                      <a:lnTo>
                        <a:pt x="14" y="255"/>
                      </a:lnTo>
                      <a:lnTo>
                        <a:pt x="9" y="268"/>
                      </a:lnTo>
                      <a:lnTo>
                        <a:pt x="5" y="282"/>
                      </a:lnTo>
                      <a:lnTo>
                        <a:pt x="0" y="298"/>
                      </a:lnTo>
                      <a:lnTo>
                        <a:pt x="2" y="278"/>
                      </a:lnTo>
                      <a:lnTo>
                        <a:pt x="4" y="262"/>
                      </a:lnTo>
                      <a:lnTo>
                        <a:pt x="5" y="248"/>
                      </a:lnTo>
                      <a:lnTo>
                        <a:pt x="6" y="244"/>
                      </a:lnTo>
                      <a:lnTo>
                        <a:pt x="9" y="238"/>
                      </a:lnTo>
                      <a:lnTo>
                        <a:pt x="13" y="229"/>
                      </a:lnTo>
                      <a:lnTo>
                        <a:pt x="17" y="219"/>
                      </a:lnTo>
                      <a:lnTo>
                        <a:pt x="22" y="209"/>
                      </a:lnTo>
                      <a:lnTo>
                        <a:pt x="27" y="199"/>
                      </a:lnTo>
                      <a:lnTo>
                        <a:pt x="33" y="187"/>
                      </a:lnTo>
                      <a:lnTo>
                        <a:pt x="37" y="179"/>
                      </a:lnTo>
                      <a:lnTo>
                        <a:pt x="43" y="170"/>
                      </a:lnTo>
                      <a:lnTo>
                        <a:pt x="49" y="159"/>
                      </a:lnTo>
                      <a:lnTo>
                        <a:pt x="55" y="149"/>
                      </a:lnTo>
                      <a:lnTo>
                        <a:pt x="60" y="142"/>
                      </a:lnTo>
                      <a:lnTo>
                        <a:pt x="70" y="130"/>
                      </a:lnTo>
                      <a:lnTo>
                        <a:pt x="75" y="125"/>
                      </a:lnTo>
                      <a:lnTo>
                        <a:pt x="78" y="123"/>
                      </a:lnTo>
                      <a:lnTo>
                        <a:pt x="73" y="117"/>
                      </a:lnTo>
                      <a:lnTo>
                        <a:pt x="67" y="108"/>
                      </a:lnTo>
                      <a:lnTo>
                        <a:pt x="62" y="99"/>
                      </a:lnTo>
                      <a:lnTo>
                        <a:pt x="57" y="92"/>
                      </a:lnTo>
                      <a:lnTo>
                        <a:pt x="52" y="85"/>
                      </a:lnTo>
                      <a:lnTo>
                        <a:pt x="47" y="78"/>
                      </a:lnTo>
                      <a:lnTo>
                        <a:pt x="43" y="71"/>
                      </a:lnTo>
                      <a:lnTo>
                        <a:pt x="37" y="59"/>
                      </a:lnTo>
                      <a:lnTo>
                        <a:pt x="32" y="48"/>
                      </a:lnTo>
                      <a:lnTo>
                        <a:pt x="26" y="38"/>
                      </a:lnTo>
                      <a:lnTo>
                        <a:pt x="19" y="26"/>
                      </a:lnTo>
                      <a:lnTo>
                        <a:pt x="14" y="19"/>
                      </a:lnTo>
                      <a:lnTo>
                        <a:pt x="11" y="12"/>
                      </a:lnTo>
                      <a:lnTo>
                        <a:pt x="7" y="4"/>
                      </a:lnTo>
                      <a:lnTo>
                        <a:pt x="14" y="5"/>
                      </a:lnTo>
                      <a:lnTo>
                        <a:pt x="27" y="5"/>
                      </a:lnTo>
                      <a:lnTo>
                        <a:pt x="31" y="10"/>
                      </a:lnTo>
                      <a:lnTo>
                        <a:pt x="37" y="22"/>
                      </a:lnTo>
                      <a:lnTo>
                        <a:pt x="43" y="31"/>
                      </a:lnTo>
                    </a:path>
                  </a:pathLst>
                </a:custGeom>
                <a:solidFill>
                  <a:srgbClr val="037C03">
                    <a:alpha val="50195"/>
                  </a:srgbClr>
                </a:solidFill>
                <a:ln w="9525">
                  <a:noFill/>
                </a:ln>
              </p:spPr>
              <p:txBody>
                <a:bodyPr/>
                <a:lstStyle/>
                <a:p>
                  <a:endParaRPr lang="zh-CN" altLang="en-US"/>
                </a:p>
              </p:txBody>
            </p:sp>
            <p:grpSp>
              <p:nvGrpSpPr>
                <p:cNvPr id="89197" name="Group 138"/>
                <p:cNvGrpSpPr/>
                <p:nvPr/>
              </p:nvGrpSpPr>
              <p:grpSpPr>
                <a:xfrm>
                  <a:off x="1985" y="1419"/>
                  <a:ext cx="465" cy="349"/>
                  <a:chOff x="1985" y="1419"/>
                  <a:chExt cx="465" cy="349"/>
                </a:xfrm>
              </p:grpSpPr>
              <p:sp>
                <p:nvSpPr>
                  <p:cNvPr id="89198" name="Freeform 139"/>
                  <p:cNvSpPr/>
                  <p:nvPr/>
                </p:nvSpPr>
                <p:spPr>
                  <a:xfrm>
                    <a:off x="2030" y="1419"/>
                    <a:ext cx="420" cy="326"/>
                  </a:xfrm>
                  <a:custGeom>
                    <a:avLst/>
                    <a:gdLst>
                      <a:gd name="txL" fmla="*/ 0 w 420"/>
                      <a:gd name="txT" fmla="*/ 0 h 326"/>
                      <a:gd name="txR" fmla="*/ 420 w 420"/>
                      <a:gd name="txB" fmla="*/ 326 h 326"/>
                    </a:gdLst>
                    <a:ahLst/>
                    <a:cxnLst>
                      <a:cxn ang="0">
                        <a:pos x="159" y="41"/>
                      </a:cxn>
                      <a:cxn ang="0">
                        <a:pos x="193" y="13"/>
                      </a:cxn>
                      <a:cxn ang="0">
                        <a:pos x="233" y="2"/>
                      </a:cxn>
                      <a:cxn ang="0">
                        <a:pos x="279" y="2"/>
                      </a:cxn>
                      <a:cxn ang="0">
                        <a:pos x="290" y="6"/>
                      </a:cxn>
                      <a:cxn ang="0">
                        <a:pos x="260" y="14"/>
                      </a:cxn>
                      <a:cxn ang="0">
                        <a:pos x="225" y="25"/>
                      </a:cxn>
                      <a:cxn ang="0">
                        <a:pos x="186" y="52"/>
                      </a:cxn>
                      <a:cxn ang="0">
                        <a:pos x="183" y="89"/>
                      </a:cxn>
                      <a:cxn ang="0">
                        <a:pos x="240" y="66"/>
                      </a:cxn>
                      <a:cxn ang="0">
                        <a:pos x="288" y="64"/>
                      </a:cxn>
                      <a:cxn ang="0">
                        <a:pos x="338" y="69"/>
                      </a:cxn>
                      <a:cxn ang="0">
                        <a:pos x="397" y="75"/>
                      </a:cxn>
                      <a:cxn ang="0">
                        <a:pos x="398" y="76"/>
                      </a:cxn>
                      <a:cxn ang="0">
                        <a:pos x="341" y="79"/>
                      </a:cxn>
                      <a:cxn ang="0">
                        <a:pos x="288" y="80"/>
                      </a:cxn>
                      <a:cxn ang="0">
                        <a:pos x="242" y="86"/>
                      </a:cxn>
                      <a:cxn ang="0">
                        <a:pos x="191" y="98"/>
                      </a:cxn>
                      <a:cxn ang="0">
                        <a:pos x="212" y="118"/>
                      </a:cxn>
                      <a:cxn ang="0">
                        <a:pos x="227" y="136"/>
                      </a:cxn>
                      <a:cxn ang="0">
                        <a:pos x="175" y="119"/>
                      </a:cxn>
                      <a:cxn ang="0">
                        <a:pos x="165" y="129"/>
                      </a:cxn>
                      <a:cxn ang="0">
                        <a:pos x="221" y="138"/>
                      </a:cxn>
                      <a:cxn ang="0">
                        <a:pos x="269" y="150"/>
                      </a:cxn>
                      <a:cxn ang="0">
                        <a:pos x="306" y="181"/>
                      </a:cxn>
                      <a:cxn ang="0">
                        <a:pos x="335" y="223"/>
                      </a:cxn>
                      <a:cxn ang="0">
                        <a:pos x="329" y="231"/>
                      </a:cxn>
                      <a:cxn ang="0">
                        <a:pos x="290" y="204"/>
                      </a:cxn>
                      <a:cxn ang="0">
                        <a:pos x="248" y="174"/>
                      </a:cxn>
                      <a:cxn ang="0">
                        <a:pos x="202" y="154"/>
                      </a:cxn>
                      <a:cxn ang="0">
                        <a:pos x="173" y="148"/>
                      </a:cxn>
                      <a:cxn ang="0">
                        <a:pos x="196" y="181"/>
                      </a:cxn>
                      <a:cxn ang="0">
                        <a:pos x="227" y="223"/>
                      </a:cxn>
                      <a:cxn ang="0">
                        <a:pos x="244" y="262"/>
                      </a:cxn>
                      <a:cxn ang="0">
                        <a:pos x="243" y="299"/>
                      </a:cxn>
                      <a:cxn ang="0">
                        <a:pos x="222" y="259"/>
                      </a:cxn>
                      <a:cxn ang="0">
                        <a:pos x="199" y="215"/>
                      </a:cxn>
                      <a:cxn ang="0">
                        <a:pos x="173" y="177"/>
                      </a:cxn>
                      <a:cxn ang="0">
                        <a:pos x="150" y="142"/>
                      </a:cxn>
                      <a:cxn ang="0">
                        <a:pos x="109" y="162"/>
                      </a:cxn>
                      <a:cxn ang="0">
                        <a:pos x="77" y="210"/>
                      </a:cxn>
                      <a:cxn ang="0">
                        <a:pos x="49" y="260"/>
                      </a:cxn>
                      <a:cxn ang="0">
                        <a:pos x="18" y="306"/>
                      </a:cxn>
                      <a:cxn ang="0">
                        <a:pos x="8" y="301"/>
                      </a:cxn>
                      <a:cxn ang="0">
                        <a:pos x="45" y="243"/>
                      </a:cxn>
                      <a:cxn ang="0">
                        <a:pos x="78" y="198"/>
                      </a:cxn>
                      <a:cxn ang="0">
                        <a:pos x="107" y="154"/>
                      </a:cxn>
                      <a:cxn ang="0">
                        <a:pos x="132" y="120"/>
                      </a:cxn>
                      <a:cxn ang="0">
                        <a:pos x="95" y="79"/>
                      </a:cxn>
                      <a:cxn ang="0">
                        <a:pos x="42" y="57"/>
                      </a:cxn>
                      <a:cxn ang="0">
                        <a:pos x="19" y="45"/>
                      </a:cxn>
                      <a:cxn ang="0">
                        <a:pos x="60" y="58"/>
                      </a:cxn>
                      <a:cxn ang="0">
                        <a:pos x="116" y="86"/>
                      </a:cxn>
                    </a:cxnLst>
                    <a:rect l="txL" t="txT" r="txR" b="txB"/>
                    <a:pathLst>
                      <a:path w="420" h="326">
                        <a:moveTo>
                          <a:pt x="132" y="83"/>
                        </a:moveTo>
                        <a:lnTo>
                          <a:pt x="135" y="74"/>
                        </a:lnTo>
                        <a:lnTo>
                          <a:pt x="140" y="65"/>
                        </a:lnTo>
                        <a:lnTo>
                          <a:pt x="146" y="57"/>
                        </a:lnTo>
                        <a:lnTo>
                          <a:pt x="152" y="48"/>
                        </a:lnTo>
                        <a:lnTo>
                          <a:pt x="159" y="41"/>
                        </a:lnTo>
                        <a:lnTo>
                          <a:pt x="164" y="34"/>
                        </a:lnTo>
                        <a:lnTo>
                          <a:pt x="170" y="29"/>
                        </a:lnTo>
                        <a:lnTo>
                          <a:pt x="176" y="25"/>
                        </a:lnTo>
                        <a:lnTo>
                          <a:pt x="181" y="20"/>
                        </a:lnTo>
                        <a:lnTo>
                          <a:pt x="187" y="17"/>
                        </a:lnTo>
                        <a:lnTo>
                          <a:pt x="193" y="13"/>
                        </a:lnTo>
                        <a:lnTo>
                          <a:pt x="199" y="10"/>
                        </a:lnTo>
                        <a:lnTo>
                          <a:pt x="204" y="8"/>
                        </a:lnTo>
                        <a:lnTo>
                          <a:pt x="212" y="6"/>
                        </a:lnTo>
                        <a:lnTo>
                          <a:pt x="220" y="5"/>
                        </a:lnTo>
                        <a:lnTo>
                          <a:pt x="226" y="3"/>
                        </a:lnTo>
                        <a:lnTo>
                          <a:pt x="233" y="2"/>
                        </a:lnTo>
                        <a:lnTo>
                          <a:pt x="241" y="2"/>
                        </a:lnTo>
                        <a:lnTo>
                          <a:pt x="248" y="1"/>
                        </a:lnTo>
                        <a:lnTo>
                          <a:pt x="258" y="1"/>
                        </a:lnTo>
                        <a:lnTo>
                          <a:pt x="265" y="1"/>
                        </a:lnTo>
                        <a:lnTo>
                          <a:pt x="272" y="2"/>
                        </a:lnTo>
                        <a:lnTo>
                          <a:pt x="279" y="2"/>
                        </a:lnTo>
                        <a:lnTo>
                          <a:pt x="285" y="1"/>
                        </a:lnTo>
                        <a:lnTo>
                          <a:pt x="293" y="1"/>
                        </a:lnTo>
                        <a:lnTo>
                          <a:pt x="300" y="0"/>
                        </a:lnTo>
                        <a:lnTo>
                          <a:pt x="296" y="2"/>
                        </a:lnTo>
                        <a:lnTo>
                          <a:pt x="293" y="3"/>
                        </a:lnTo>
                        <a:lnTo>
                          <a:pt x="290" y="6"/>
                        </a:lnTo>
                        <a:lnTo>
                          <a:pt x="287" y="10"/>
                        </a:lnTo>
                        <a:lnTo>
                          <a:pt x="281" y="10"/>
                        </a:lnTo>
                        <a:lnTo>
                          <a:pt x="275" y="10"/>
                        </a:lnTo>
                        <a:lnTo>
                          <a:pt x="270" y="11"/>
                        </a:lnTo>
                        <a:lnTo>
                          <a:pt x="265" y="12"/>
                        </a:lnTo>
                        <a:lnTo>
                          <a:pt x="260" y="14"/>
                        </a:lnTo>
                        <a:lnTo>
                          <a:pt x="254" y="15"/>
                        </a:lnTo>
                        <a:lnTo>
                          <a:pt x="248" y="17"/>
                        </a:lnTo>
                        <a:lnTo>
                          <a:pt x="242" y="19"/>
                        </a:lnTo>
                        <a:lnTo>
                          <a:pt x="236" y="20"/>
                        </a:lnTo>
                        <a:lnTo>
                          <a:pt x="231" y="22"/>
                        </a:lnTo>
                        <a:lnTo>
                          <a:pt x="225" y="25"/>
                        </a:lnTo>
                        <a:lnTo>
                          <a:pt x="218" y="28"/>
                        </a:lnTo>
                        <a:lnTo>
                          <a:pt x="212" y="31"/>
                        </a:lnTo>
                        <a:lnTo>
                          <a:pt x="205" y="35"/>
                        </a:lnTo>
                        <a:lnTo>
                          <a:pt x="199" y="39"/>
                        </a:lnTo>
                        <a:lnTo>
                          <a:pt x="192" y="45"/>
                        </a:lnTo>
                        <a:lnTo>
                          <a:pt x="186" y="52"/>
                        </a:lnTo>
                        <a:lnTo>
                          <a:pt x="180" y="61"/>
                        </a:lnTo>
                        <a:lnTo>
                          <a:pt x="173" y="73"/>
                        </a:lnTo>
                        <a:lnTo>
                          <a:pt x="167" y="86"/>
                        </a:lnTo>
                        <a:lnTo>
                          <a:pt x="159" y="101"/>
                        </a:lnTo>
                        <a:lnTo>
                          <a:pt x="172" y="95"/>
                        </a:lnTo>
                        <a:lnTo>
                          <a:pt x="183" y="89"/>
                        </a:lnTo>
                        <a:lnTo>
                          <a:pt x="197" y="82"/>
                        </a:lnTo>
                        <a:lnTo>
                          <a:pt x="212" y="75"/>
                        </a:lnTo>
                        <a:lnTo>
                          <a:pt x="218" y="73"/>
                        </a:lnTo>
                        <a:lnTo>
                          <a:pt x="225" y="70"/>
                        </a:lnTo>
                        <a:lnTo>
                          <a:pt x="232" y="69"/>
                        </a:lnTo>
                        <a:lnTo>
                          <a:pt x="240" y="66"/>
                        </a:lnTo>
                        <a:lnTo>
                          <a:pt x="249" y="65"/>
                        </a:lnTo>
                        <a:lnTo>
                          <a:pt x="256" y="64"/>
                        </a:lnTo>
                        <a:lnTo>
                          <a:pt x="263" y="64"/>
                        </a:lnTo>
                        <a:lnTo>
                          <a:pt x="272" y="63"/>
                        </a:lnTo>
                        <a:lnTo>
                          <a:pt x="281" y="64"/>
                        </a:lnTo>
                        <a:lnTo>
                          <a:pt x="288" y="64"/>
                        </a:lnTo>
                        <a:lnTo>
                          <a:pt x="297" y="65"/>
                        </a:lnTo>
                        <a:lnTo>
                          <a:pt x="305" y="65"/>
                        </a:lnTo>
                        <a:lnTo>
                          <a:pt x="313" y="66"/>
                        </a:lnTo>
                        <a:lnTo>
                          <a:pt x="321" y="67"/>
                        </a:lnTo>
                        <a:lnTo>
                          <a:pt x="329" y="68"/>
                        </a:lnTo>
                        <a:lnTo>
                          <a:pt x="338" y="69"/>
                        </a:lnTo>
                        <a:lnTo>
                          <a:pt x="346" y="69"/>
                        </a:lnTo>
                        <a:lnTo>
                          <a:pt x="354" y="70"/>
                        </a:lnTo>
                        <a:lnTo>
                          <a:pt x="364" y="71"/>
                        </a:lnTo>
                        <a:lnTo>
                          <a:pt x="374" y="72"/>
                        </a:lnTo>
                        <a:lnTo>
                          <a:pt x="383" y="74"/>
                        </a:lnTo>
                        <a:lnTo>
                          <a:pt x="397" y="75"/>
                        </a:lnTo>
                        <a:lnTo>
                          <a:pt x="402" y="75"/>
                        </a:lnTo>
                        <a:lnTo>
                          <a:pt x="406" y="75"/>
                        </a:lnTo>
                        <a:lnTo>
                          <a:pt x="411" y="77"/>
                        </a:lnTo>
                        <a:lnTo>
                          <a:pt x="419" y="80"/>
                        </a:lnTo>
                        <a:lnTo>
                          <a:pt x="404" y="77"/>
                        </a:lnTo>
                        <a:lnTo>
                          <a:pt x="398" y="76"/>
                        </a:lnTo>
                        <a:lnTo>
                          <a:pt x="392" y="76"/>
                        </a:lnTo>
                        <a:lnTo>
                          <a:pt x="379" y="77"/>
                        </a:lnTo>
                        <a:lnTo>
                          <a:pt x="370" y="78"/>
                        </a:lnTo>
                        <a:lnTo>
                          <a:pt x="360" y="78"/>
                        </a:lnTo>
                        <a:lnTo>
                          <a:pt x="350" y="78"/>
                        </a:lnTo>
                        <a:lnTo>
                          <a:pt x="341" y="79"/>
                        </a:lnTo>
                        <a:lnTo>
                          <a:pt x="332" y="79"/>
                        </a:lnTo>
                        <a:lnTo>
                          <a:pt x="325" y="78"/>
                        </a:lnTo>
                        <a:lnTo>
                          <a:pt x="315" y="78"/>
                        </a:lnTo>
                        <a:lnTo>
                          <a:pt x="305" y="78"/>
                        </a:lnTo>
                        <a:lnTo>
                          <a:pt x="296" y="79"/>
                        </a:lnTo>
                        <a:lnTo>
                          <a:pt x="288" y="80"/>
                        </a:lnTo>
                        <a:lnTo>
                          <a:pt x="279" y="80"/>
                        </a:lnTo>
                        <a:lnTo>
                          <a:pt x="272" y="80"/>
                        </a:lnTo>
                        <a:lnTo>
                          <a:pt x="264" y="81"/>
                        </a:lnTo>
                        <a:lnTo>
                          <a:pt x="256" y="83"/>
                        </a:lnTo>
                        <a:lnTo>
                          <a:pt x="249" y="84"/>
                        </a:lnTo>
                        <a:lnTo>
                          <a:pt x="242" y="86"/>
                        </a:lnTo>
                        <a:lnTo>
                          <a:pt x="235" y="87"/>
                        </a:lnTo>
                        <a:lnTo>
                          <a:pt x="227" y="89"/>
                        </a:lnTo>
                        <a:lnTo>
                          <a:pt x="219" y="92"/>
                        </a:lnTo>
                        <a:lnTo>
                          <a:pt x="212" y="93"/>
                        </a:lnTo>
                        <a:lnTo>
                          <a:pt x="199" y="97"/>
                        </a:lnTo>
                        <a:lnTo>
                          <a:pt x="191" y="98"/>
                        </a:lnTo>
                        <a:lnTo>
                          <a:pt x="180" y="104"/>
                        </a:lnTo>
                        <a:lnTo>
                          <a:pt x="164" y="109"/>
                        </a:lnTo>
                        <a:lnTo>
                          <a:pt x="180" y="111"/>
                        </a:lnTo>
                        <a:lnTo>
                          <a:pt x="199" y="112"/>
                        </a:lnTo>
                        <a:lnTo>
                          <a:pt x="203" y="113"/>
                        </a:lnTo>
                        <a:lnTo>
                          <a:pt x="212" y="118"/>
                        </a:lnTo>
                        <a:lnTo>
                          <a:pt x="217" y="120"/>
                        </a:lnTo>
                        <a:lnTo>
                          <a:pt x="223" y="123"/>
                        </a:lnTo>
                        <a:lnTo>
                          <a:pt x="224" y="125"/>
                        </a:lnTo>
                        <a:lnTo>
                          <a:pt x="227" y="130"/>
                        </a:lnTo>
                        <a:lnTo>
                          <a:pt x="233" y="140"/>
                        </a:lnTo>
                        <a:lnTo>
                          <a:pt x="227" y="136"/>
                        </a:lnTo>
                        <a:lnTo>
                          <a:pt x="219" y="131"/>
                        </a:lnTo>
                        <a:lnTo>
                          <a:pt x="212" y="129"/>
                        </a:lnTo>
                        <a:lnTo>
                          <a:pt x="199" y="125"/>
                        </a:lnTo>
                        <a:lnTo>
                          <a:pt x="190" y="123"/>
                        </a:lnTo>
                        <a:lnTo>
                          <a:pt x="180" y="120"/>
                        </a:lnTo>
                        <a:lnTo>
                          <a:pt x="175" y="119"/>
                        </a:lnTo>
                        <a:lnTo>
                          <a:pt x="165" y="120"/>
                        </a:lnTo>
                        <a:lnTo>
                          <a:pt x="158" y="122"/>
                        </a:lnTo>
                        <a:lnTo>
                          <a:pt x="148" y="123"/>
                        </a:lnTo>
                        <a:lnTo>
                          <a:pt x="153" y="125"/>
                        </a:lnTo>
                        <a:lnTo>
                          <a:pt x="158" y="127"/>
                        </a:lnTo>
                        <a:lnTo>
                          <a:pt x="165" y="129"/>
                        </a:lnTo>
                        <a:lnTo>
                          <a:pt x="173" y="129"/>
                        </a:lnTo>
                        <a:lnTo>
                          <a:pt x="186" y="129"/>
                        </a:lnTo>
                        <a:lnTo>
                          <a:pt x="194" y="131"/>
                        </a:lnTo>
                        <a:lnTo>
                          <a:pt x="204" y="133"/>
                        </a:lnTo>
                        <a:lnTo>
                          <a:pt x="212" y="136"/>
                        </a:lnTo>
                        <a:lnTo>
                          <a:pt x="221" y="138"/>
                        </a:lnTo>
                        <a:lnTo>
                          <a:pt x="231" y="141"/>
                        </a:lnTo>
                        <a:lnTo>
                          <a:pt x="240" y="143"/>
                        </a:lnTo>
                        <a:lnTo>
                          <a:pt x="248" y="145"/>
                        </a:lnTo>
                        <a:lnTo>
                          <a:pt x="254" y="146"/>
                        </a:lnTo>
                        <a:lnTo>
                          <a:pt x="261" y="148"/>
                        </a:lnTo>
                        <a:lnTo>
                          <a:pt x="269" y="150"/>
                        </a:lnTo>
                        <a:lnTo>
                          <a:pt x="277" y="154"/>
                        </a:lnTo>
                        <a:lnTo>
                          <a:pt x="285" y="158"/>
                        </a:lnTo>
                        <a:lnTo>
                          <a:pt x="289" y="160"/>
                        </a:lnTo>
                        <a:lnTo>
                          <a:pt x="295" y="167"/>
                        </a:lnTo>
                        <a:lnTo>
                          <a:pt x="302" y="174"/>
                        </a:lnTo>
                        <a:lnTo>
                          <a:pt x="306" y="181"/>
                        </a:lnTo>
                        <a:lnTo>
                          <a:pt x="311" y="188"/>
                        </a:lnTo>
                        <a:lnTo>
                          <a:pt x="316" y="195"/>
                        </a:lnTo>
                        <a:lnTo>
                          <a:pt x="320" y="202"/>
                        </a:lnTo>
                        <a:lnTo>
                          <a:pt x="325" y="208"/>
                        </a:lnTo>
                        <a:lnTo>
                          <a:pt x="329" y="215"/>
                        </a:lnTo>
                        <a:lnTo>
                          <a:pt x="335" y="223"/>
                        </a:lnTo>
                        <a:lnTo>
                          <a:pt x="339" y="232"/>
                        </a:lnTo>
                        <a:lnTo>
                          <a:pt x="345" y="238"/>
                        </a:lnTo>
                        <a:lnTo>
                          <a:pt x="351" y="246"/>
                        </a:lnTo>
                        <a:lnTo>
                          <a:pt x="343" y="240"/>
                        </a:lnTo>
                        <a:lnTo>
                          <a:pt x="337" y="236"/>
                        </a:lnTo>
                        <a:lnTo>
                          <a:pt x="329" y="231"/>
                        </a:lnTo>
                        <a:lnTo>
                          <a:pt x="321" y="225"/>
                        </a:lnTo>
                        <a:lnTo>
                          <a:pt x="315" y="220"/>
                        </a:lnTo>
                        <a:lnTo>
                          <a:pt x="309" y="215"/>
                        </a:lnTo>
                        <a:lnTo>
                          <a:pt x="303" y="212"/>
                        </a:lnTo>
                        <a:lnTo>
                          <a:pt x="297" y="208"/>
                        </a:lnTo>
                        <a:lnTo>
                          <a:pt x="290" y="204"/>
                        </a:lnTo>
                        <a:lnTo>
                          <a:pt x="284" y="200"/>
                        </a:lnTo>
                        <a:lnTo>
                          <a:pt x="278" y="196"/>
                        </a:lnTo>
                        <a:lnTo>
                          <a:pt x="271" y="191"/>
                        </a:lnTo>
                        <a:lnTo>
                          <a:pt x="263" y="186"/>
                        </a:lnTo>
                        <a:lnTo>
                          <a:pt x="255" y="179"/>
                        </a:lnTo>
                        <a:lnTo>
                          <a:pt x="248" y="174"/>
                        </a:lnTo>
                        <a:lnTo>
                          <a:pt x="241" y="170"/>
                        </a:lnTo>
                        <a:lnTo>
                          <a:pt x="234" y="166"/>
                        </a:lnTo>
                        <a:lnTo>
                          <a:pt x="226" y="162"/>
                        </a:lnTo>
                        <a:lnTo>
                          <a:pt x="219" y="159"/>
                        </a:lnTo>
                        <a:lnTo>
                          <a:pt x="212" y="157"/>
                        </a:lnTo>
                        <a:lnTo>
                          <a:pt x="202" y="154"/>
                        </a:lnTo>
                        <a:lnTo>
                          <a:pt x="192" y="151"/>
                        </a:lnTo>
                        <a:lnTo>
                          <a:pt x="185" y="150"/>
                        </a:lnTo>
                        <a:lnTo>
                          <a:pt x="178" y="147"/>
                        </a:lnTo>
                        <a:lnTo>
                          <a:pt x="167" y="142"/>
                        </a:lnTo>
                        <a:lnTo>
                          <a:pt x="156" y="137"/>
                        </a:lnTo>
                        <a:lnTo>
                          <a:pt x="173" y="148"/>
                        </a:lnTo>
                        <a:lnTo>
                          <a:pt x="174" y="150"/>
                        </a:lnTo>
                        <a:lnTo>
                          <a:pt x="178" y="155"/>
                        </a:lnTo>
                        <a:lnTo>
                          <a:pt x="182" y="160"/>
                        </a:lnTo>
                        <a:lnTo>
                          <a:pt x="187" y="167"/>
                        </a:lnTo>
                        <a:lnTo>
                          <a:pt x="192" y="173"/>
                        </a:lnTo>
                        <a:lnTo>
                          <a:pt x="196" y="181"/>
                        </a:lnTo>
                        <a:lnTo>
                          <a:pt x="202" y="188"/>
                        </a:lnTo>
                        <a:lnTo>
                          <a:pt x="207" y="194"/>
                        </a:lnTo>
                        <a:lnTo>
                          <a:pt x="212" y="200"/>
                        </a:lnTo>
                        <a:lnTo>
                          <a:pt x="216" y="207"/>
                        </a:lnTo>
                        <a:lnTo>
                          <a:pt x="223" y="216"/>
                        </a:lnTo>
                        <a:lnTo>
                          <a:pt x="227" y="223"/>
                        </a:lnTo>
                        <a:lnTo>
                          <a:pt x="231" y="229"/>
                        </a:lnTo>
                        <a:lnTo>
                          <a:pt x="235" y="236"/>
                        </a:lnTo>
                        <a:lnTo>
                          <a:pt x="238" y="243"/>
                        </a:lnTo>
                        <a:lnTo>
                          <a:pt x="241" y="250"/>
                        </a:lnTo>
                        <a:lnTo>
                          <a:pt x="243" y="255"/>
                        </a:lnTo>
                        <a:lnTo>
                          <a:pt x="244" y="262"/>
                        </a:lnTo>
                        <a:lnTo>
                          <a:pt x="245" y="272"/>
                        </a:lnTo>
                        <a:lnTo>
                          <a:pt x="246" y="281"/>
                        </a:lnTo>
                        <a:lnTo>
                          <a:pt x="247" y="290"/>
                        </a:lnTo>
                        <a:lnTo>
                          <a:pt x="249" y="299"/>
                        </a:lnTo>
                        <a:lnTo>
                          <a:pt x="250" y="308"/>
                        </a:lnTo>
                        <a:lnTo>
                          <a:pt x="243" y="299"/>
                        </a:lnTo>
                        <a:lnTo>
                          <a:pt x="238" y="292"/>
                        </a:lnTo>
                        <a:lnTo>
                          <a:pt x="233" y="286"/>
                        </a:lnTo>
                        <a:lnTo>
                          <a:pt x="231" y="281"/>
                        </a:lnTo>
                        <a:lnTo>
                          <a:pt x="227" y="274"/>
                        </a:lnTo>
                        <a:lnTo>
                          <a:pt x="225" y="267"/>
                        </a:lnTo>
                        <a:lnTo>
                          <a:pt x="222" y="259"/>
                        </a:lnTo>
                        <a:lnTo>
                          <a:pt x="218" y="251"/>
                        </a:lnTo>
                        <a:lnTo>
                          <a:pt x="214" y="242"/>
                        </a:lnTo>
                        <a:lnTo>
                          <a:pt x="211" y="235"/>
                        </a:lnTo>
                        <a:lnTo>
                          <a:pt x="207" y="227"/>
                        </a:lnTo>
                        <a:lnTo>
                          <a:pt x="202" y="220"/>
                        </a:lnTo>
                        <a:lnTo>
                          <a:pt x="199" y="215"/>
                        </a:lnTo>
                        <a:lnTo>
                          <a:pt x="193" y="208"/>
                        </a:lnTo>
                        <a:lnTo>
                          <a:pt x="187" y="201"/>
                        </a:lnTo>
                        <a:lnTo>
                          <a:pt x="182" y="196"/>
                        </a:lnTo>
                        <a:lnTo>
                          <a:pt x="177" y="190"/>
                        </a:lnTo>
                        <a:lnTo>
                          <a:pt x="176" y="184"/>
                        </a:lnTo>
                        <a:lnTo>
                          <a:pt x="173" y="177"/>
                        </a:lnTo>
                        <a:lnTo>
                          <a:pt x="169" y="170"/>
                        </a:lnTo>
                        <a:lnTo>
                          <a:pt x="166" y="163"/>
                        </a:lnTo>
                        <a:lnTo>
                          <a:pt x="164" y="161"/>
                        </a:lnTo>
                        <a:lnTo>
                          <a:pt x="158" y="154"/>
                        </a:lnTo>
                        <a:lnTo>
                          <a:pt x="154" y="148"/>
                        </a:lnTo>
                        <a:lnTo>
                          <a:pt x="150" y="142"/>
                        </a:lnTo>
                        <a:lnTo>
                          <a:pt x="145" y="136"/>
                        </a:lnTo>
                        <a:lnTo>
                          <a:pt x="138" y="140"/>
                        </a:lnTo>
                        <a:lnTo>
                          <a:pt x="131" y="144"/>
                        </a:lnTo>
                        <a:lnTo>
                          <a:pt x="123" y="151"/>
                        </a:lnTo>
                        <a:lnTo>
                          <a:pt x="115" y="156"/>
                        </a:lnTo>
                        <a:lnTo>
                          <a:pt x="109" y="162"/>
                        </a:lnTo>
                        <a:lnTo>
                          <a:pt x="105" y="168"/>
                        </a:lnTo>
                        <a:lnTo>
                          <a:pt x="99" y="176"/>
                        </a:lnTo>
                        <a:lnTo>
                          <a:pt x="93" y="186"/>
                        </a:lnTo>
                        <a:lnTo>
                          <a:pt x="87" y="193"/>
                        </a:lnTo>
                        <a:lnTo>
                          <a:pt x="81" y="202"/>
                        </a:lnTo>
                        <a:lnTo>
                          <a:pt x="77" y="210"/>
                        </a:lnTo>
                        <a:lnTo>
                          <a:pt x="72" y="218"/>
                        </a:lnTo>
                        <a:lnTo>
                          <a:pt x="67" y="226"/>
                        </a:lnTo>
                        <a:lnTo>
                          <a:pt x="64" y="233"/>
                        </a:lnTo>
                        <a:lnTo>
                          <a:pt x="59" y="242"/>
                        </a:lnTo>
                        <a:lnTo>
                          <a:pt x="55" y="250"/>
                        </a:lnTo>
                        <a:lnTo>
                          <a:pt x="49" y="260"/>
                        </a:lnTo>
                        <a:lnTo>
                          <a:pt x="43" y="269"/>
                        </a:lnTo>
                        <a:lnTo>
                          <a:pt x="37" y="280"/>
                        </a:lnTo>
                        <a:lnTo>
                          <a:pt x="31" y="289"/>
                        </a:lnTo>
                        <a:lnTo>
                          <a:pt x="27" y="294"/>
                        </a:lnTo>
                        <a:lnTo>
                          <a:pt x="22" y="300"/>
                        </a:lnTo>
                        <a:lnTo>
                          <a:pt x="18" y="306"/>
                        </a:lnTo>
                        <a:lnTo>
                          <a:pt x="12" y="312"/>
                        </a:lnTo>
                        <a:lnTo>
                          <a:pt x="7" y="317"/>
                        </a:lnTo>
                        <a:lnTo>
                          <a:pt x="0" y="325"/>
                        </a:lnTo>
                        <a:lnTo>
                          <a:pt x="2" y="316"/>
                        </a:lnTo>
                        <a:lnTo>
                          <a:pt x="4" y="309"/>
                        </a:lnTo>
                        <a:lnTo>
                          <a:pt x="8" y="301"/>
                        </a:lnTo>
                        <a:lnTo>
                          <a:pt x="12" y="294"/>
                        </a:lnTo>
                        <a:lnTo>
                          <a:pt x="19" y="284"/>
                        </a:lnTo>
                        <a:lnTo>
                          <a:pt x="26" y="274"/>
                        </a:lnTo>
                        <a:lnTo>
                          <a:pt x="33" y="262"/>
                        </a:lnTo>
                        <a:lnTo>
                          <a:pt x="39" y="253"/>
                        </a:lnTo>
                        <a:lnTo>
                          <a:pt x="45" y="243"/>
                        </a:lnTo>
                        <a:lnTo>
                          <a:pt x="51" y="235"/>
                        </a:lnTo>
                        <a:lnTo>
                          <a:pt x="56" y="227"/>
                        </a:lnTo>
                        <a:lnTo>
                          <a:pt x="61" y="220"/>
                        </a:lnTo>
                        <a:lnTo>
                          <a:pt x="66" y="214"/>
                        </a:lnTo>
                        <a:lnTo>
                          <a:pt x="72" y="206"/>
                        </a:lnTo>
                        <a:lnTo>
                          <a:pt x="78" y="198"/>
                        </a:lnTo>
                        <a:lnTo>
                          <a:pt x="84" y="190"/>
                        </a:lnTo>
                        <a:lnTo>
                          <a:pt x="90" y="181"/>
                        </a:lnTo>
                        <a:lnTo>
                          <a:pt x="95" y="174"/>
                        </a:lnTo>
                        <a:lnTo>
                          <a:pt x="101" y="166"/>
                        </a:lnTo>
                        <a:lnTo>
                          <a:pt x="104" y="160"/>
                        </a:lnTo>
                        <a:lnTo>
                          <a:pt x="107" y="154"/>
                        </a:lnTo>
                        <a:lnTo>
                          <a:pt x="109" y="149"/>
                        </a:lnTo>
                        <a:lnTo>
                          <a:pt x="112" y="143"/>
                        </a:lnTo>
                        <a:lnTo>
                          <a:pt x="116" y="138"/>
                        </a:lnTo>
                        <a:lnTo>
                          <a:pt x="122" y="131"/>
                        </a:lnTo>
                        <a:lnTo>
                          <a:pt x="128" y="125"/>
                        </a:lnTo>
                        <a:lnTo>
                          <a:pt x="132" y="120"/>
                        </a:lnTo>
                        <a:lnTo>
                          <a:pt x="137" y="114"/>
                        </a:lnTo>
                        <a:lnTo>
                          <a:pt x="135" y="109"/>
                        </a:lnTo>
                        <a:lnTo>
                          <a:pt x="133" y="101"/>
                        </a:lnTo>
                        <a:lnTo>
                          <a:pt x="121" y="97"/>
                        </a:lnTo>
                        <a:lnTo>
                          <a:pt x="108" y="88"/>
                        </a:lnTo>
                        <a:lnTo>
                          <a:pt x="95" y="79"/>
                        </a:lnTo>
                        <a:lnTo>
                          <a:pt x="87" y="74"/>
                        </a:lnTo>
                        <a:lnTo>
                          <a:pt x="81" y="71"/>
                        </a:lnTo>
                        <a:lnTo>
                          <a:pt x="71" y="66"/>
                        </a:lnTo>
                        <a:lnTo>
                          <a:pt x="61" y="63"/>
                        </a:lnTo>
                        <a:lnTo>
                          <a:pt x="50" y="60"/>
                        </a:lnTo>
                        <a:lnTo>
                          <a:pt x="42" y="57"/>
                        </a:lnTo>
                        <a:lnTo>
                          <a:pt x="32" y="53"/>
                        </a:lnTo>
                        <a:lnTo>
                          <a:pt x="23" y="51"/>
                        </a:lnTo>
                        <a:lnTo>
                          <a:pt x="14" y="49"/>
                        </a:lnTo>
                        <a:lnTo>
                          <a:pt x="7" y="47"/>
                        </a:lnTo>
                        <a:lnTo>
                          <a:pt x="14" y="46"/>
                        </a:lnTo>
                        <a:lnTo>
                          <a:pt x="19" y="45"/>
                        </a:lnTo>
                        <a:lnTo>
                          <a:pt x="23" y="44"/>
                        </a:lnTo>
                        <a:lnTo>
                          <a:pt x="28" y="44"/>
                        </a:lnTo>
                        <a:lnTo>
                          <a:pt x="33" y="44"/>
                        </a:lnTo>
                        <a:lnTo>
                          <a:pt x="43" y="49"/>
                        </a:lnTo>
                        <a:lnTo>
                          <a:pt x="51" y="53"/>
                        </a:lnTo>
                        <a:lnTo>
                          <a:pt x="60" y="58"/>
                        </a:lnTo>
                        <a:lnTo>
                          <a:pt x="69" y="63"/>
                        </a:lnTo>
                        <a:lnTo>
                          <a:pt x="79" y="68"/>
                        </a:lnTo>
                        <a:lnTo>
                          <a:pt x="89" y="74"/>
                        </a:lnTo>
                        <a:lnTo>
                          <a:pt x="96" y="77"/>
                        </a:lnTo>
                        <a:lnTo>
                          <a:pt x="109" y="84"/>
                        </a:lnTo>
                        <a:lnTo>
                          <a:pt x="116" y="86"/>
                        </a:lnTo>
                        <a:lnTo>
                          <a:pt x="122" y="85"/>
                        </a:lnTo>
                        <a:lnTo>
                          <a:pt x="127" y="84"/>
                        </a:lnTo>
                        <a:lnTo>
                          <a:pt x="132" y="83"/>
                        </a:lnTo>
                      </a:path>
                    </a:pathLst>
                  </a:custGeom>
                  <a:solidFill>
                    <a:srgbClr val="037C03">
                      <a:alpha val="50195"/>
                    </a:srgbClr>
                  </a:solidFill>
                  <a:ln w="9525">
                    <a:noFill/>
                  </a:ln>
                </p:spPr>
                <p:txBody>
                  <a:bodyPr/>
                  <a:lstStyle/>
                  <a:p>
                    <a:endParaRPr lang="zh-CN" altLang="en-US"/>
                  </a:p>
                </p:txBody>
              </p:sp>
              <p:sp>
                <p:nvSpPr>
                  <p:cNvPr id="89199" name="Freeform 140"/>
                  <p:cNvSpPr/>
                  <p:nvPr/>
                </p:nvSpPr>
                <p:spPr>
                  <a:xfrm>
                    <a:off x="2175" y="1587"/>
                    <a:ext cx="38" cy="181"/>
                  </a:xfrm>
                  <a:custGeom>
                    <a:avLst/>
                    <a:gdLst>
                      <a:gd name="txL" fmla="*/ 0 w 38"/>
                      <a:gd name="txT" fmla="*/ 0 h 181"/>
                      <a:gd name="txR" fmla="*/ 38 w 38"/>
                      <a:gd name="txB" fmla="*/ 181 h 181"/>
                    </a:gdLst>
                    <a:ahLst/>
                    <a:cxnLst>
                      <a:cxn ang="0">
                        <a:pos x="20" y="0"/>
                      </a:cxn>
                      <a:cxn ang="0">
                        <a:pos x="24" y="8"/>
                      </a:cxn>
                      <a:cxn ang="0">
                        <a:pos x="27" y="14"/>
                      </a:cxn>
                      <a:cxn ang="0">
                        <a:pos x="33" y="22"/>
                      </a:cxn>
                      <a:cxn ang="0">
                        <a:pos x="35" y="30"/>
                      </a:cxn>
                      <a:cxn ang="0">
                        <a:pos x="36" y="41"/>
                      </a:cxn>
                      <a:cxn ang="0">
                        <a:pos x="36" y="53"/>
                      </a:cxn>
                      <a:cxn ang="0">
                        <a:pos x="37" y="61"/>
                      </a:cxn>
                      <a:cxn ang="0">
                        <a:pos x="36" y="70"/>
                      </a:cxn>
                      <a:cxn ang="0">
                        <a:pos x="35" y="81"/>
                      </a:cxn>
                      <a:cxn ang="0">
                        <a:pos x="33" y="91"/>
                      </a:cxn>
                      <a:cxn ang="0">
                        <a:pos x="30" y="106"/>
                      </a:cxn>
                      <a:cxn ang="0">
                        <a:pos x="28" y="114"/>
                      </a:cxn>
                      <a:cxn ang="0">
                        <a:pos x="23" y="124"/>
                      </a:cxn>
                      <a:cxn ang="0">
                        <a:pos x="17" y="135"/>
                      </a:cxn>
                      <a:cxn ang="0">
                        <a:pos x="12" y="145"/>
                      </a:cxn>
                      <a:cxn ang="0">
                        <a:pos x="7" y="155"/>
                      </a:cxn>
                      <a:cxn ang="0">
                        <a:pos x="3" y="163"/>
                      </a:cxn>
                      <a:cxn ang="0">
                        <a:pos x="0" y="180"/>
                      </a:cxn>
                      <a:cxn ang="0">
                        <a:pos x="1" y="163"/>
                      </a:cxn>
                      <a:cxn ang="0">
                        <a:pos x="3" y="152"/>
                      </a:cxn>
                      <a:cxn ang="0">
                        <a:pos x="4" y="141"/>
                      </a:cxn>
                      <a:cxn ang="0">
                        <a:pos x="5" y="130"/>
                      </a:cxn>
                      <a:cxn ang="0">
                        <a:pos x="7" y="116"/>
                      </a:cxn>
                      <a:cxn ang="0">
                        <a:pos x="9" y="106"/>
                      </a:cxn>
                      <a:cxn ang="0">
                        <a:pos x="12" y="96"/>
                      </a:cxn>
                      <a:cxn ang="0">
                        <a:pos x="15" y="87"/>
                      </a:cxn>
                      <a:cxn ang="0">
                        <a:pos x="17" y="77"/>
                      </a:cxn>
                      <a:cxn ang="0">
                        <a:pos x="20" y="67"/>
                      </a:cxn>
                      <a:cxn ang="0">
                        <a:pos x="21" y="57"/>
                      </a:cxn>
                      <a:cxn ang="0">
                        <a:pos x="22" y="49"/>
                      </a:cxn>
                      <a:cxn ang="0">
                        <a:pos x="23" y="39"/>
                      </a:cxn>
                      <a:cxn ang="0">
                        <a:pos x="23" y="28"/>
                      </a:cxn>
                      <a:cxn ang="0">
                        <a:pos x="23" y="14"/>
                      </a:cxn>
                      <a:cxn ang="0">
                        <a:pos x="22" y="8"/>
                      </a:cxn>
                      <a:cxn ang="0">
                        <a:pos x="20" y="0"/>
                      </a:cxn>
                    </a:cxnLst>
                    <a:rect l="txL" t="txT" r="txR" b="txB"/>
                    <a:pathLst>
                      <a:path w="38" h="181">
                        <a:moveTo>
                          <a:pt x="20" y="0"/>
                        </a:moveTo>
                        <a:lnTo>
                          <a:pt x="24" y="8"/>
                        </a:lnTo>
                        <a:lnTo>
                          <a:pt x="27" y="14"/>
                        </a:lnTo>
                        <a:lnTo>
                          <a:pt x="33" y="22"/>
                        </a:lnTo>
                        <a:lnTo>
                          <a:pt x="35" y="30"/>
                        </a:lnTo>
                        <a:lnTo>
                          <a:pt x="36" y="41"/>
                        </a:lnTo>
                        <a:lnTo>
                          <a:pt x="36" y="53"/>
                        </a:lnTo>
                        <a:lnTo>
                          <a:pt x="37" y="61"/>
                        </a:lnTo>
                        <a:lnTo>
                          <a:pt x="36" y="70"/>
                        </a:lnTo>
                        <a:lnTo>
                          <a:pt x="35" y="81"/>
                        </a:lnTo>
                        <a:lnTo>
                          <a:pt x="33" y="91"/>
                        </a:lnTo>
                        <a:lnTo>
                          <a:pt x="30" y="106"/>
                        </a:lnTo>
                        <a:lnTo>
                          <a:pt x="28" y="114"/>
                        </a:lnTo>
                        <a:lnTo>
                          <a:pt x="23" y="124"/>
                        </a:lnTo>
                        <a:lnTo>
                          <a:pt x="17" y="135"/>
                        </a:lnTo>
                        <a:lnTo>
                          <a:pt x="12" y="145"/>
                        </a:lnTo>
                        <a:lnTo>
                          <a:pt x="7" y="155"/>
                        </a:lnTo>
                        <a:lnTo>
                          <a:pt x="3" y="163"/>
                        </a:lnTo>
                        <a:lnTo>
                          <a:pt x="0" y="180"/>
                        </a:lnTo>
                        <a:lnTo>
                          <a:pt x="1" y="163"/>
                        </a:lnTo>
                        <a:lnTo>
                          <a:pt x="3" y="152"/>
                        </a:lnTo>
                        <a:lnTo>
                          <a:pt x="4" y="141"/>
                        </a:lnTo>
                        <a:lnTo>
                          <a:pt x="5" y="130"/>
                        </a:lnTo>
                        <a:lnTo>
                          <a:pt x="7" y="116"/>
                        </a:lnTo>
                        <a:lnTo>
                          <a:pt x="9" y="106"/>
                        </a:lnTo>
                        <a:lnTo>
                          <a:pt x="12" y="96"/>
                        </a:lnTo>
                        <a:lnTo>
                          <a:pt x="15" y="87"/>
                        </a:lnTo>
                        <a:lnTo>
                          <a:pt x="17" y="77"/>
                        </a:lnTo>
                        <a:lnTo>
                          <a:pt x="20" y="67"/>
                        </a:lnTo>
                        <a:lnTo>
                          <a:pt x="21" y="57"/>
                        </a:lnTo>
                        <a:lnTo>
                          <a:pt x="22" y="49"/>
                        </a:lnTo>
                        <a:lnTo>
                          <a:pt x="23" y="39"/>
                        </a:lnTo>
                        <a:lnTo>
                          <a:pt x="23" y="28"/>
                        </a:lnTo>
                        <a:lnTo>
                          <a:pt x="23" y="14"/>
                        </a:lnTo>
                        <a:lnTo>
                          <a:pt x="22" y="8"/>
                        </a:lnTo>
                        <a:lnTo>
                          <a:pt x="20" y="0"/>
                        </a:lnTo>
                      </a:path>
                    </a:pathLst>
                  </a:custGeom>
                  <a:solidFill>
                    <a:srgbClr val="037C03">
                      <a:alpha val="50195"/>
                    </a:srgbClr>
                  </a:solidFill>
                  <a:ln w="9525">
                    <a:noFill/>
                  </a:ln>
                </p:spPr>
                <p:txBody>
                  <a:bodyPr/>
                  <a:lstStyle/>
                  <a:p>
                    <a:endParaRPr lang="zh-CN" altLang="en-US"/>
                  </a:p>
                </p:txBody>
              </p:sp>
              <p:sp>
                <p:nvSpPr>
                  <p:cNvPr id="89200" name="Freeform 141"/>
                  <p:cNvSpPr/>
                  <p:nvPr/>
                </p:nvSpPr>
                <p:spPr>
                  <a:xfrm>
                    <a:off x="1991" y="1486"/>
                    <a:ext cx="168" cy="48"/>
                  </a:xfrm>
                  <a:custGeom>
                    <a:avLst/>
                    <a:gdLst>
                      <a:gd name="txL" fmla="*/ 0 w 168"/>
                      <a:gd name="txT" fmla="*/ 0 h 48"/>
                      <a:gd name="txR" fmla="*/ 168 w 168"/>
                      <a:gd name="txB" fmla="*/ 48 h 48"/>
                    </a:gdLst>
                    <a:ahLst/>
                    <a:cxnLst>
                      <a:cxn ang="0">
                        <a:pos x="167" y="47"/>
                      </a:cxn>
                      <a:cxn ang="0">
                        <a:pos x="164" y="38"/>
                      </a:cxn>
                      <a:cxn ang="0">
                        <a:pos x="160" y="31"/>
                      </a:cxn>
                      <a:cxn ang="0">
                        <a:pos x="157" y="30"/>
                      </a:cxn>
                      <a:cxn ang="0">
                        <a:pos x="150" y="28"/>
                      </a:cxn>
                      <a:cxn ang="0">
                        <a:pos x="144" y="26"/>
                      </a:cxn>
                      <a:cxn ang="0">
                        <a:pos x="137" y="28"/>
                      </a:cxn>
                      <a:cxn ang="0">
                        <a:pos x="130" y="29"/>
                      </a:cxn>
                      <a:cxn ang="0">
                        <a:pos x="121" y="25"/>
                      </a:cxn>
                      <a:cxn ang="0">
                        <a:pos x="109" y="21"/>
                      </a:cxn>
                      <a:cxn ang="0">
                        <a:pos x="98" y="17"/>
                      </a:cxn>
                      <a:cxn ang="0">
                        <a:pos x="91" y="15"/>
                      </a:cxn>
                      <a:cxn ang="0">
                        <a:pos x="78" y="12"/>
                      </a:cxn>
                      <a:cxn ang="0">
                        <a:pos x="66" y="8"/>
                      </a:cxn>
                      <a:cxn ang="0">
                        <a:pos x="54" y="4"/>
                      </a:cxn>
                      <a:cxn ang="0">
                        <a:pos x="41" y="1"/>
                      </a:cxn>
                      <a:cxn ang="0">
                        <a:pos x="28" y="0"/>
                      </a:cxn>
                      <a:cxn ang="0">
                        <a:pos x="15" y="0"/>
                      </a:cxn>
                      <a:cxn ang="0">
                        <a:pos x="12" y="1"/>
                      </a:cxn>
                      <a:cxn ang="0">
                        <a:pos x="7" y="4"/>
                      </a:cxn>
                      <a:cxn ang="0">
                        <a:pos x="3" y="7"/>
                      </a:cxn>
                      <a:cxn ang="0">
                        <a:pos x="0" y="10"/>
                      </a:cxn>
                      <a:cxn ang="0">
                        <a:pos x="5" y="10"/>
                      </a:cxn>
                      <a:cxn ang="0">
                        <a:pos x="12" y="11"/>
                      </a:cxn>
                      <a:cxn ang="0">
                        <a:pos x="18" y="12"/>
                      </a:cxn>
                      <a:cxn ang="0">
                        <a:pos x="23" y="11"/>
                      </a:cxn>
                      <a:cxn ang="0">
                        <a:pos x="29" y="10"/>
                      </a:cxn>
                      <a:cxn ang="0">
                        <a:pos x="38" y="10"/>
                      </a:cxn>
                      <a:cxn ang="0">
                        <a:pos x="50" y="10"/>
                      </a:cxn>
                      <a:cxn ang="0">
                        <a:pos x="60" y="12"/>
                      </a:cxn>
                      <a:cxn ang="0">
                        <a:pos x="70" y="13"/>
                      </a:cxn>
                      <a:cxn ang="0">
                        <a:pos x="79" y="15"/>
                      </a:cxn>
                      <a:cxn ang="0">
                        <a:pos x="89" y="16"/>
                      </a:cxn>
                      <a:cxn ang="0">
                        <a:pos x="98" y="18"/>
                      </a:cxn>
                      <a:cxn ang="0">
                        <a:pos x="106" y="22"/>
                      </a:cxn>
                      <a:cxn ang="0">
                        <a:pos x="114" y="26"/>
                      </a:cxn>
                      <a:cxn ang="0">
                        <a:pos x="123" y="30"/>
                      </a:cxn>
                      <a:cxn ang="0">
                        <a:pos x="127" y="30"/>
                      </a:cxn>
                      <a:cxn ang="0">
                        <a:pos x="131" y="30"/>
                      </a:cxn>
                      <a:cxn ang="0">
                        <a:pos x="137" y="33"/>
                      </a:cxn>
                      <a:cxn ang="0">
                        <a:pos x="144" y="36"/>
                      </a:cxn>
                      <a:cxn ang="0">
                        <a:pos x="150" y="38"/>
                      </a:cxn>
                      <a:cxn ang="0">
                        <a:pos x="158" y="42"/>
                      </a:cxn>
                      <a:cxn ang="0">
                        <a:pos x="164" y="45"/>
                      </a:cxn>
                      <a:cxn ang="0">
                        <a:pos x="167" y="47"/>
                      </a:cxn>
                    </a:cxnLst>
                    <a:rect l="txL" t="txT" r="txR" b="txB"/>
                    <a:pathLst>
                      <a:path w="168" h="48">
                        <a:moveTo>
                          <a:pt x="167" y="47"/>
                        </a:moveTo>
                        <a:lnTo>
                          <a:pt x="164" y="38"/>
                        </a:lnTo>
                        <a:lnTo>
                          <a:pt x="160" y="31"/>
                        </a:lnTo>
                        <a:lnTo>
                          <a:pt x="157" y="30"/>
                        </a:lnTo>
                        <a:lnTo>
                          <a:pt x="150" y="28"/>
                        </a:lnTo>
                        <a:lnTo>
                          <a:pt x="144" y="26"/>
                        </a:lnTo>
                        <a:lnTo>
                          <a:pt x="137" y="28"/>
                        </a:lnTo>
                        <a:lnTo>
                          <a:pt x="130" y="29"/>
                        </a:lnTo>
                        <a:lnTo>
                          <a:pt x="121" y="25"/>
                        </a:lnTo>
                        <a:lnTo>
                          <a:pt x="109" y="21"/>
                        </a:lnTo>
                        <a:lnTo>
                          <a:pt x="98" y="17"/>
                        </a:lnTo>
                        <a:lnTo>
                          <a:pt x="91" y="15"/>
                        </a:lnTo>
                        <a:lnTo>
                          <a:pt x="78" y="12"/>
                        </a:lnTo>
                        <a:lnTo>
                          <a:pt x="66" y="8"/>
                        </a:lnTo>
                        <a:lnTo>
                          <a:pt x="54" y="4"/>
                        </a:lnTo>
                        <a:lnTo>
                          <a:pt x="41" y="1"/>
                        </a:lnTo>
                        <a:lnTo>
                          <a:pt x="28" y="0"/>
                        </a:lnTo>
                        <a:lnTo>
                          <a:pt x="15" y="0"/>
                        </a:lnTo>
                        <a:lnTo>
                          <a:pt x="12" y="1"/>
                        </a:lnTo>
                        <a:lnTo>
                          <a:pt x="7" y="4"/>
                        </a:lnTo>
                        <a:lnTo>
                          <a:pt x="3" y="7"/>
                        </a:lnTo>
                        <a:lnTo>
                          <a:pt x="0" y="10"/>
                        </a:lnTo>
                        <a:lnTo>
                          <a:pt x="5" y="10"/>
                        </a:lnTo>
                        <a:lnTo>
                          <a:pt x="12" y="11"/>
                        </a:lnTo>
                        <a:lnTo>
                          <a:pt x="18" y="12"/>
                        </a:lnTo>
                        <a:lnTo>
                          <a:pt x="23" y="11"/>
                        </a:lnTo>
                        <a:lnTo>
                          <a:pt x="29" y="10"/>
                        </a:lnTo>
                        <a:lnTo>
                          <a:pt x="38" y="10"/>
                        </a:lnTo>
                        <a:lnTo>
                          <a:pt x="50" y="10"/>
                        </a:lnTo>
                        <a:lnTo>
                          <a:pt x="60" y="12"/>
                        </a:lnTo>
                        <a:lnTo>
                          <a:pt x="70" y="13"/>
                        </a:lnTo>
                        <a:lnTo>
                          <a:pt x="79" y="15"/>
                        </a:lnTo>
                        <a:lnTo>
                          <a:pt x="89" y="16"/>
                        </a:lnTo>
                        <a:lnTo>
                          <a:pt x="98" y="18"/>
                        </a:lnTo>
                        <a:lnTo>
                          <a:pt x="106" y="22"/>
                        </a:lnTo>
                        <a:lnTo>
                          <a:pt x="114" y="26"/>
                        </a:lnTo>
                        <a:lnTo>
                          <a:pt x="123" y="30"/>
                        </a:lnTo>
                        <a:lnTo>
                          <a:pt x="127" y="30"/>
                        </a:lnTo>
                        <a:lnTo>
                          <a:pt x="131" y="30"/>
                        </a:lnTo>
                        <a:lnTo>
                          <a:pt x="137" y="33"/>
                        </a:lnTo>
                        <a:lnTo>
                          <a:pt x="144" y="36"/>
                        </a:lnTo>
                        <a:lnTo>
                          <a:pt x="150" y="38"/>
                        </a:lnTo>
                        <a:lnTo>
                          <a:pt x="158" y="42"/>
                        </a:lnTo>
                        <a:lnTo>
                          <a:pt x="164" y="45"/>
                        </a:lnTo>
                        <a:lnTo>
                          <a:pt x="167" y="47"/>
                        </a:lnTo>
                      </a:path>
                    </a:pathLst>
                  </a:custGeom>
                  <a:solidFill>
                    <a:srgbClr val="037C03">
                      <a:alpha val="50195"/>
                    </a:srgbClr>
                  </a:solidFill>
                  <a:ln w="9525">
                    <a:noFill/>
                  </a:ln>
                </p:spPr>
                <p:txBody>
                  <a:bodyPr/>
                  <a:lstStyle/>
                  <a:p>
                    <a:endParaRPr lang="zh-CN" altLang="en-US"/>
                  </a:p>
                </p:txBody>
              </p:sp>
              <p:sp>
                <p:nvSpPr>
                  <p:cNvPr id="89201" name="Freeform 142"/>
                  <p:cNvSpPr/>
                  <p:nvPr/>
                </p:nvSpPr>
                <p:spPr>
                  <a:xfrm>
                    <a:off x="1985" y="1514"/>
                    <a:ext cx="173" cy="20"/>
                  </a:xfrm>
                  <a:custGeom>
                    <a:avLst/>
                    <a:gdLst>
                      <a:gd name="txL" fmla="*/ 0 w 173"/>
                      <a:gd name="txT" fmla="*/ 0 h 20"/>
                      <a:gd name="txR" fmla="*/ 173 w 173"/>
                      <a:gd name="txB" fmla="*/ 20 h 20"/>
                    </a:gdLst>
                    <a:ahLst/>
                    <a:cxnLst>
                      <a:cxn ang="0">
                        <a:pos x="172" y="19"/>
                      </a:cxn>
                      <a:cxn ang="0">
                        <a:pos x="167" y="17"/>
                      </a:cxn>
                      <a:cxn ang="0">
                        <a:pos x="163" y="15"/>
                      </a:cxn>
                      <a:cxn ang="0">
                        <a:pos x="157" y="13"/>
                      </a:cxn>
                      <a:cxn ang="0">
                        <a:pos x="152" y="11"/>
                      </a:cxn>
                      <a:cxn ang="0">
                        <a:pos x="146" y="9"/>
                      </a:cxn>
                      <a:cxn ang="0">
                        <a:pos x="138" y="6"/>
                      </a:cxn>
                      <a:cxn ang="0">
                        <a:pos x="131" y="2"/>
                      </a:cxn>
                      <a:cxn ang="0">
                        <a:pos x="125" y="2"/>
                      </a:cxn>
                      <a:cxn ang="0">
                        <a:pos x="118" y="3"/>
                      </a:cxn>
                      <a:cxn ang="0">
                        <a:pos x="108" y="5"/>
                      </a:cxn>
                      <a:cxn ang="0">
                        <a:pos x="103" y="5"/>
                      </a:cxn>
                      <a:cxn ang="0">
                        <a:pos x="91" y="3"/>
                      </a:cxn>
                      <a:cxn ang="0">
                        <a:pos x="77" y="1"/>
                      </a:cxn>
                      <a:cxn ang="0">
                        <a:pos x="67" y="0"/>
                      </a:cxn>
                      <a:cxn ang="0">
                        <a:pos x="55" y="0"/>
                      </a:cxn>
                      <a:cxn ang="0">
                        <a:pos x="43" y="0"/>
                      </a:cxn>
                      <a:cxn ang="0">
                        <a:pos x="35" y="1"/>
                      </a:cxn>
                      <a:cxn ang="0">
                        <a:pos x="26" y="2"/>
                      </a:cxn>
                      <a:cxn ang="0">
                        <a:pos x="18" y="3"/>
                      </a:cxn>
                      <a:cxn ang="0">
                        <a:pos x="9" y="4"/>
                      </a:cxn>
                      <a:cxn ang="0">
                        <a:pos x="8" y="8"/>
                      </a:cxn>
                      <a:cxn ang="0">
                        <a:pos x="6" y="11"/>
                      </a:cxn>
                      <a:cxn ang="0">
                        <a:pos x="4" y="14"/>
                      </a:cxn>
                      <a:cxn ang="0">
                        <a:pos x="0" y="16"/>
                      </a:cxn>
                      <a:cxn ang="0">
                        <a:pos x="7" y="15"/>
                      </a:cxn>
                      <a:cxn ang="0">
                        <a:pos x="15" y="13"/>
                      </a:cxn>
                      <a:cxn ang="0">
                        <a:pos x="21" y="12"/>
                      </a:cxn>
                      <a:cxn ang="0">
                        <a:pos x="29" y="11"/>
                      </a:cxn>
                      <a:cxn ang="0">
                        <a:pos x="36" y="10"/>
                      </a:cxn>
                      <a:cxn ang="0">
                        <a:pos x="49" y="9"/>
                      </a:cxn>
                      <a:cxn ang="0">
                        <a:pos x="62" y="8"/>
                      </a:cxn>
                      <a:cxn ang="0">
                        <a:pos x="77" y="7"/>
                      </a:cxn>
                      <a:cxn ang="0">
                        <a:pos x="92" y="6"/>
                      </a:cxn>
                      <a:cxn ang="0">
                        <a:pos x="106" y="6"/>
                      </a:cxn>
                      <a:cxn ang="0">
                        <a:pos x="118" y="7"/>
                      </a:cxn>
                      <a:cxn ang="0">
                        <a:pos x="126" y="9"/>
                      </a:cxn>
                      <a:cxn ang="0">
                        <a:pos x="135" y="11"/>
                      </a:cxn>
                      <a:cxn ang="0">
                        <a:pos x="145" y="13"/>
                      </a:cxn>
                      <a:cxn ang="0">
                        <a:pos x="155" y="16"/>
                      </a:cxn>
                      <a:cxn ang="0">
                        <a:pos x="163" y="17"/>
                      </a:cxn>
                      <a:cxn ang="0">
                        <a:pos x="172" y="19"/>
                      </a:cxn>
                    </a:cxnLst>
                    <a:rect l="txL" t="txT" r="txR" b="txB"/>
                    <a:pathLst>
                      <a:path w="173" h="20">
                        <a:moveTo>
                          <a:pt x="172" y="19"/>
                        </a:moveTo>
                        <a:lnTo>
                          <a:pt x="167" y="17"/>
                        </a:lnTo>
                        <a:lnTo>
                          <a:pt x="163" y="15"/>
                        </a:lnTo>
                        <a:lnTo>
                          <a:pt x="157" y="13"/>
                        </a:lnTo>
                        <a:lnTo>
                          <a:pt x="152" y="11"/>
                        </a:lnTo>
                        <a:lnTo>
                          <a:pt x="146" y="9"/>
                        </a:lnTo>
                        <a:lnTo>
                          <a:pt x="138" y="6"/>
                        </a:lnTo>
                        <a:lnTo>
                          <a:pt x="131" y="2"/>
                        </a:lnTo>
                        <a:lnTo>
                          <a:pt x="125" y="2"/>
                        </a:lnTo>
                        <a:lnTo>
                          <a:pt x="118" y="3"/>
                        </a:lnTo>
                        <a:lnTo>
                          <a:pt x="108" y="5"/>
                        </a:lnTo>
                        <a:lnTo>
                          <a:pt x="103" y="5"/>
                        </a:lnTo>
                        <a:lnTo>
                          <a:pt x="91" y="3"/>
                        </a:lnTo>
                        <a:lnTo>
                          <a:pt x="77" y="1"/>
                        </a:lnTo>
                        <a:lnTo>
                          <a:pt x="67" y="0"/>
                        </a:lnTo>
                        <a:lnTo>
                          <a:pt x="55" y="0"/>
                        </a:lnTo>
                        <a:lnTo>
                          <a:pt x="43" y="0"/>
                        </a:lnTo>
                        <a:lnTo>
                          <a:pt x="35" y="1"/>
                        </a:lnTo>
                        <a:lnTo>
                          <a:pt x="26" y="2"/>
                        </a:lnTo>
                        <a:lnTo>
                          <a:pt x="18" y="3"/>
                        </a:lnTo>
                        <a:lnTo>
                          <a:pt x="9" y="4"/>
                        </a:lnTo>
                        <a:lnTo>
                          <a:pt x="8" y="8"/>
                        </a:lnTo>
                        <a:lnTo>
                          <a:pt x="6" y="11"/>
                        </a:lnTo>
                        <a:lnTo>
                          <a:pt x="4" y="14"/>
                        </a:lnTo>
                        <a:lnTo>
                          <a:pt x="0" y="16"/>
                        </a:lnTo>
                        <a:lnTo>
                          <a:pt x="7" y="15"/>
                        </a:lnTo>
                        <a:lnTo>
                          <a:pt x="15" y="13"/>
                        </a:lnTo>
                        <a:lnTo>
                          <a:pt x="21" y="12"/>
                        </a:lnTo>
                        <a:lnTo>
                          <a:pt x="29" y="11"/>
                        </a:lnTo>
                        <a:lnTo>
                          <a:pt x="36" y="10"/>
                        </a:lnTo>
                        <a:lnTo>
                          <a:pt x="49" y="9"/>
                        </a:lnTo>
                        <a:lnTo>
                          <a:pt x="62" y="8"/>
                        </a:lnTo>
                        <a:lnTo>
                          <a:pt x="77" y="7"/>
                        </a:lnTo>
                        <a:lnTo>
                          <a:pt x="92" y="6"/>
                        </a:lnTo>
                        <a:lnTo>
                          <a:pt x="106" y="6"/>
                        </a:lnTo>
                        <a:lnTo>
                          <a:pt x="118" y="7"/>
                        </a:lnTo>
                        <a:lnTo>
                          <a:pt x="126" y="9"/>
                        </a:lnTo>
                        <a:lnTo>
                          <a:pt x="135" y="11"/>
                        </a:lnTo>
                        <a:lnTo>
                          <a:pt x="145" y="13"/>
                        </a:lnTo>
                        <a:lnTo>
                          <a:pt x="155" y="16"/>
                        </a:lnTo>
                        <a:lnTo>
                          <a:pt x="163" y="17"/>
                        </a:lnTo>
                        <a:lnTo>
                          <a:pt x="172" y="19"/>
                        </a:lnTo>
                      </a:path>
                    </a:pathLst>
                  </a:custGeom>
                  <a:solidFill>
                    <a:srgbClr val="037C03">
                      <a:alpha val="50195"/>
                    </a:srgbClr>
                  </a:solidFill>
                  <a:ln w="9525">
                    <a:noFill/>
                  </a:ln>
                </p:spPr>
                <p:txBody>
                  <a:bodyPr/>
                  <a:lstStyle/>
                  <a:p>
                    <a:endParaRPr lang="zh-CN" altLang="en-US"/>
                  </a:p>
                </p:txBody>
              </p:sp>
            </p:grpSp>
          </p:grpSp>
        </p:grpSp>
      </p:grpSp>
      <p:grpSp>
        <p:nvGrpSpPr>
          <p:cNvPr id="89099" name="Group 143"/>
          <p:cNvGrpSpPr/>
          <p:nvPr/>
        </p:nvGrpSpPr>
        <p:grpSpPr>
          <a:xfrm>
            <a:off x="611188" y="4652963"/>
            <a:ext cx="1371600" cy="1600200"/>
            <a:chOff x="0" y="3182"/>
            <a:chExt cx="808" cy="998"/>
          </a:xfrm>
        </p:grpSpPr>
        <p:grpSp>
          <p:nvGrpSpPr>
            <p:cNvPr id="89169" name="Group 144"/>
            <p:cNvGrpSpPr/>
            <p:nvPr/>
          </p:nvGrpSpPr>
          <p:grpSpPr>
            <a:xfrm>
              <a:off x="0" y="3182"/>
              <a:ext cx="506" cy="927"/>
              <a:chOff x="1685" y="1023"/>
              <a:chExt cx="506" cy="927"/>
            </a:xfrm>
          </p:grpSpPr>
          <p:sp>
            <p:nvSpPr>
              <p:cNvPr id="89182" name="Freeform 145"/>
              <p:cNvSpPr/>
              <p:nvPr/>
            </p:nvSpPr>
            <p:spPr>
              <a:xfrm>
                <a:off x="1733" y="1329"/>
                <a:ext cx="76" cy="621"/>
              </a:xfrm>
              <a:custGeom>
                <a:avLst/>
                <a:gdLst>
                  <a:gd name="txL" fmla="*/ 0 w 76"/>
                  <a:gd name="txT" fmla="*/ 0 h 621"/>
                  <a:gd name="txR" fmla="*/ 76 w 76"/>
                  <a:gd name="txB" fmla="*/ 621 h 621"/>
                </a:gdLst>
                <a:ahLst/>
                <a:cxnLst>
                  <a:cxn ang="0">
                    <a:pos x="0" y="54"/>
                  </a:cxn>
                  <a:cxn ang="0">
                    <a:pos x="11" y="269"/>
                  </a:cxn>
                  <a:cxn ang="0">
                    <a:pos x="22" y="442"/>
                  </a:cxn>
                  <a:cxn ang="0">
                    <a:pos x="30" y="570"/>
                  </a:cxn>
                  <a:cxn ang="0">
                    <a:pos x="28" y="620"/>
                  </a:cxn>
                  <a:cxn ang="0">
                    <a:pos x="44" y="620"/>
                  </a:cxn>
                  <a:cxn ang="0">
                    <a:pos x="49" y="546"/>
                  </a:cxn>
                  <a:cxn ang="0">
                    <a:pos x="52" y="434"/>
                  </a:cxn>
                  <a:cxn ang="0">
                    <a:pos x="58" y="329"/>
                  </a:cxn>
                  <a:cxn ang="0">
                    <a:pos x="61" y="250"/>
                  </a:cxn>
                  <a:cxn ang="0">
                    <a:pos x="67" y="135"/>
                  </a:cxn>
                  <a:cxn ang="0">
                    <a:pos x="75" y="36"/>
                  </a:cxn>
                  <a:cxn ang="0">
                    <a:pos x="70" y="11"/>
                  </a:cxn>
                  <a:cxn ang="0">
                    <a:pos x="62" y="0"/>
                  </a:cxn>
                  <a:cxn ang="0">
                    <a:pos x="53" y="121"/>
                  </a:cxn>
                  <a:cxn ang="0">
                    <a:pos x="45" y="224"/>
                  </a:cxn>
                  <a:cxn ang="0">
                    <a:pos x="43" y="305"/>
                  </a:cxn>
                  <a:cxn ang="0">
                    <a:pos x="40" y="390"/>
                  </a:cxn>
                  <a:cxn ang="0">
                    <a:pos x="34" y="475"/>
                  </a:cxn>
                  <a:cxn ang="0">
                    <a:pos x="25" y="327"/>
                  </a:cxn>
                  <a:cxn ang="0">
                    <a:pos x="15" y="187"/>
                  </a:cxn>
                  <a:cxn ang="0">
                    <a:pos x="0" y="54"/>
                  </a:cxn>
                </a:cxnLst>
                <a:rect l="txL" t="txT" r="txR" b="txB"/>
                <a:pathLst>
                  <a:path w="76" h="621">
                    <a:moveTo>
                      <a:pt x="0" y="54"/>
                    </a:moveTo>
                    <a:lnTo>
                      <a:pt x="11" y="269"/>
                    </a:lnTo>
                    <a:lnTo>
                      <a:pt x="22" y="442"/>
                    </a:lnTo>
                    <a:lnTo>
                      <a:pt x="30" y="570"/>
                    </a:lnTo>
                    <a:lnTo>
                      <a:pt x="28" y="620"/>
                    </a:lnTo>
                    <a:lnTo>
                      <a:pt x="44" y="620"/>
                    </a:lnTo>
                    <a:lnTo>
                      <a:pt x="49" y="546"/>
                    </a:lnTo>
                    <a:lnTo>
                      <a:pt x="52" y="434"/>
                    </a:lnTo>
                    <a:lnTo>
                      <a:pt x="58" y="329"/>
                    </a:lnTo>
                    <a:lnTo>
                      <a:pt x="61" y="250"/>
                    </a:lnTo>
                    <a:lnTo>
                      <a:pt x="67" y="135"/>
                    </a:lnTo>
                    <a:lnTo>
                      <a:pt x="75" y="36"/>
                    </a:lnTo>
                    <a:lnTo>
                      <a:pt x="70" y="11"/>
                    </a:lnTo>
                    <a:lnTo>
                      <a:pt x="62" y="0"/>
                    </a:lnTo>
                    <a:lnTo>
                      <a:pt x="53" y="121"/>
                    </a:lnTo>
                    <a:lnTo>
                      <a:pt x="45" y="224"/>
                    </a:lnTo>
                    <a:lnTo>
                      <a:pt x="43" y="305"/>
                    </a:lnTo>
                    <a:lnTo>
                      <a:pt x="40" y="390"/>
                    </a:lnTo>
                    <a:lnTo>
                      <a:pt x="34" y="475"/>
                    </a:lnTo>
                    <a:lnTo>
                      <a:pt x="25" y="327"/>
                    </a:lnTo>
                    <a:lnTo>
                      <a:pt x="15" y="187"/>
                    </a:lnTo>
                    <a:lnTo>
                      <a:pt x="0" y="54"/>
                    </a:lnTo>
                  </a:path>
                </a:pathLst>
              </a:custGeom>
              <a:solidFill>
                <a:srgbClr val="3C0023">
                  <a:alpha val="50195"/>
                </a:srgbClr>
              </a:solidFill>
              <a:ln w="9525">
                <a:noFill/>
              </a:ln>
            </p:spPr>
            <p:txBody>
              <a:bodyPr/>
              <a:lstStyle/>
              <a:p>
                <a:endParaRPr lang="zh-CN" altLang="en-US"/>
              </a:p>
            </p:txBody>
          </p:sp>
          <p:sp>
            <p:nvSpPr>
              <p:cNvPr id="89183" name="Freeform 146"/>
              <p:cNvSpPr/>
              <p:nvPr/>
            </p:nvSpPr>
            <p:spPr>
              <a:xfrm>
                <a:off x="1790" y="1583"/>
                <a:ext cx="120" cy="349"/>
              </a:xfrm>
              <a:custGeom>
                <a:avLst/>
                <a:gdLst>
                  <a:gd name="txL" fmla="*/ 0 w 120"/>
                  <a:gd name="txT" fmla="*/ 0 h 349"/>
                  <a:gd name="txR" fmla="*/ 120 w 120"/>
                  <a:gd name="txB" fmla="*/ 349 h 349"/>
                </a:gdLst>
                <a:ahLst/>
                <a:cxnLst>
                  <a:cxn ang="0">
                    <a:pos x="0" y="161"/>
                  </a:cxn>
                  <a:cxn ang="0">
                    <a:pos x="10" y="232"/>
                  </a:cxn>
                  <a:cxn ang="0">
                    <a:pos x="20" y="289"/>
                  </a:cxn>
                  <a:cxn ang="0">
                    <a:pos x="26" y="331"/>
                  </a:cxn>
                  <a:cxn ang="0">
                    <a:pos x="25" y="348"/>
                  </a:cxn>
                  <a:cxn ang="0">
                    <a:pos x="39" y="348"/>
                  </a:cxn>
                  <a:cxn ang="0">
                    <a:pos x="43" y="323"/>
                  </a:cxn>
                  <a:cxn ang="0">
                    <a:pos x="45" y="286"/>
                  </a:cxn>
                  <a:cxn ang="0">
                    <a:pos x="51" y="252"/>
                  </a:cxn>
                  <a:cxn ang="0">
                    <a:pos x="54" y="226"/>
                  </a:cxn>
                  <a:cxn ang="0">
                    <a:pos x="59" y="188"/>
                  </a:cxn>
                  <a:cxn ang="0">
                    <a:pos x="66" y="156"/>
                  </a:cxn>
                  <a:cxn ang="0">
                    <a:pos x="71" y="127"/>
                  </a:cxn>
                  <a:cxn ang="0">
                    <a:pos x="77" y="96"/>
                  </a:cxn>
                  <a:cxn ang="0">
                    <a:pos x="86" y="66"/>
                  </a:cxn>
                  <a:cxn ang="0">
                    <a:pos x="96" y="40"/>
                  </a:cxn>
                  <a:cxn ang="0">
                    <a:pos x="113" y="15"/>
                  </a:cxn>
                  <a:cxn ang="0">
                    <a:pos x="119" y="5"/>
                  </a:cxn>
                  <a:cxn ang="0">
                    <a:pos x="112" y="0"/>
                  </a:cxn>
                  <a:cxn ang="0">
                    <a:pos x="101" y="10"/>
                  </a:cxn>
                  <a:cxn ang="0">
                    <a:pos x="86" y="33"/>
                  </a:cxn>
                  <a:cxn ang="0">
                    <a:pos x="75" y="57"/>
                  </a:cxn>
                  <a:cxn ang="0">
                    <a:pos x="66" y="81"/>
                  </a:cxn>
                  <a:cxn ang="0">
                    <a:pos x="60" y="113"/>
                  </a:cxn>
                  <a:cxn ang="0">
                    <a:pos x="55" y="144"/>
                  </a:cxn>
                  <a:cxn ang="0">
                    <a:pos x="47" y="184"/>
                  </a:cxn>
                  <a:cxn ang="0">
                    <a:pos x="40" y="217"/>
                  </a:cxn>
                  <a:cxn ang="0">
                    <a:pos x="37" y="244"/>
                  </a:cxn>
                  <a:cxn ang="0">
                    <a:pos x="36" y="272"/>
                  </a:cxn>
                  <a:cxn ang="0">
                    <a:pos x="30" y="300"/>
                  </a:cxn>
                  <a:cxn ang="0">
                    <a:pos x="22" y="251"/>
                  </a:cxn>
                  <a:cxn ang="0">
                    <a:pos x="13" y="205"/>
                  </a:cxn>
                  <a:cxn ang="0">
                    <a:pos x="0" y="161"/>
                  </a:cxn>
                </a:cxnLst>
                <a:rect l="txL" t="txT" r="txR" b="txB"/>
                <a:pathLst>
                  <a:path w="120" h="349">
                    <a:moveTo>
                      <a:pt x="0" y="161"/>
                    </a:moveTo>
                    <a:lnTo>
                      <a:pt x="10" y="232"/>
                    </a:lnTo>
                    <a:lnTo>
                      <a:pt x="20" y="289"/>
                    </a:lnTo>
                    <a:lnTo>
                      <a:pt x="26" y="331"/>
                    </a:lnTo>
                    <a:lnTo>
                      <a:pt x="25" y="348"/>
                    </a:lnTo>
                    <a:lnTo>
                      <a:pt x="39" y="348"/>
                    </a:lnTo>
                    <a:lnTo>
                      <a:pt x="43" y="323"/>
                    </a:lnTo>
                    <a:lnTo>
                      <a:pt x="45" y="286"/>
                    </a:lnTo>
                    <a:lnTo>
                      <a:pt x="51" y="252"/>
                    </a:lnTo>
                    <a:lnTo>
                      <a:pt x="54" y="226"/>
                    </a:lnTo>
                    <a:lnTo>
                      <a:pt x="59" y="188"/>
                    </a:lnTo>
                    <a:lnTo>
                      <a:pt x="66" y="156"/>
                    </a:lnTo>
                    <a:lnTo>
                      <a:pt x="71" y="127"/>
                    </a:lnTo>
                    <a:lnTo>
                      <a:pt x="77" y="96"/>
                    </a:lnTo>
                    <a:lnTo>
                      <a:pt x="86" y="66"/>
                    </a:lnTo>
                    <a:lnTo>
                      <a:pt x="96" y="40"/>
                    </a:lnTo>
                    <a:lnTo>
                      <a:pt x="113" y="15"/>
                    </a:lnTo>
                    <a:lnTo>
                      <a:pt x="119" y="5"/>
                    </a:lnTo>
                    <a:lnTo>
                      <a:pt x="112" y="0"/>
                    </a:lnTo>
                    <a:lnTo>
                      <a:pt x="101" y="10"/>
                    </a:lnTo>
                    <a:lnTo>
                      <a:pt x="86" y="33"/>
                    </a:lnTo>
                    <a:lnTo>
                      <a:pt x="75" y="57"/>
                    </a:lnTo>
                    <a:lnTo>
                      <a:pt x="66" y="81"/>
                    </a:lnTo>
                    <a:lnTo>
                      <a:pt x="60" y="113"/>
                    </a:lnTo>
                    <a:lnTo>
                      <a:pt x="55" y="144"/>
                    </a:lnTo>
                    <a:lnTo>
                      <a:pt x="47" y="184"/>
                    </a:lnTo>
                    <a:lnTo>
                      <a:pt x="40" y="217"/>
                    </a:lnTo>
                    <a:lnTo>
                      <a:pt x="37" y="244"/>
                    </a:lnTo>
                    <a:lnTo>
                      <a:pt x="36" y="272"/>
                    </a:lnTo>
                    <a:lnTo>
                      <a:pt x="30" y="300"/>
                    </a:lnTo>
                    <a:lnTo>
                      <a:pt x="22" y="251"/>
                    </a:lnTo>
                    <a:lnTo>
                      <a:pt x="13" y="205"/>
                    </a:lnTo>
                    <a:lnTo>
                      <a:pt x="0" y="161"/>
                    </a:lnTo>
                  </a:path>
                </a:pathLst>
              </a:custGeom>
              <a:solidFill>
                <a:srgbClr val="3C0023">
                  <a:alpha val="50195"/>
                </a:srgbClr>
              </a:solidFill>
              <a:ln w="9525">
                <a:noFill/>
              </a:ln>
            </p:spPr>
            <p:txBody>
              <a:bodyPr/>
              <a:lstStyle/>
              <a:p>
                <a:endParaRPr lang="zh-CN" altLang="en-US"/>
              </a:p>
            </p:txBody>
          </p:sp>
          <p:sp>
            <p:nvSpPr>
              <p:cNvPr id="89184" name="Freeform 147"/>
              <p:cNvSpPr/>
              <p:nvPr/>
            </p:nvSpPr>
            <p:spPr>
              <a:xfrm>
                <a:off x="1685" y="1239"/>
                <a:ext cx="266" cy="391"/>
              </a:xfrm>
              <a:custGeom>
                <a:avLst/>
                <a:gdLst>
                  <a:gd name="txL" fmla="*/ 0 w 266"/>
                  <a:gd name="txT" fmla="*/ 0 h 391"/>
                  <a:gd name="txR" fmla="*/ 266 w 266"/>
                  <a:gd name="txB" fmla="*/ 391 h 391"/>
                </a:gdLst>
                <a:ahLst/>
                <a:cxnLst>
                  <a:cxn ang="0">
                    <a:pos x="107" y="123"/>
                  </a:cxn>
                  <a:cxn ang="0">
                    <a:pos x="116" y="135"/>
                  </a:cxn>
                  <a:cxn ang="0">
                    <a:pos x="163" y="114"/>
                  </a:cxn>
                  <a:cxn ang="0">
                    <a:pos x="211" y="81"/>
                  </a:cxn>
                  <a:cxn ang="0">
                    <a:pos x="233" y="46"/>
                  </a:cxn>
                  <a:cxn ang="0">
                    <a:pos x="220" y="76"/>
                  </a:cxn>
                  <a:cxn ang="0">
                    <a:pos x="183" y="109"/>
                  </a:cxn>
                  <a:cxn ang="0">
                    <a:pos x="142" y="138"/>
                  </a:cxn>
                  <a:cxn ang="0">
                    <a:pos x="102" y="159"/>
                  </a:cxn>
                  <a:cxn ang="0">
                    <a:pos x="119" y="178"/>
                  </a:cxn>
                  <a:cxn ang="0">
                    <a:pos x="155" y="180"/>
                  </a:cxn>
                  <a:cxn ang="0">
                    <a:pos x="202" y="187"/>
                  </a:cxn>
                  <a:cxn ang="0">
                    <a:pos x="239" y="204"/>
                  </a:cxn>
                  <a:cxn ang="0">
                    <a:pos x="251" y="215"/>
                  </a:cxn>
                  <a:cxn ang="0">
                    <a:pos x="213" y="204"/>
                  </a:cxn>
                  <a:cxn ang="0">
                    <a:pos x="162" y="198"/>
                  </a:cxn>
                  <a:cxn ang="0">
                    <a:pos x="114" y="195"/>
                  </a:cxn>
                  <a:cxn ang="0">
                    <a:pos x="88" y="203"/>
                  </a:cxn>
                  <a:cxn ang="0">
                    <a:pos x="93" y="248"/>
                  </a:cxn>
                  <a:cxn ang="0">
                    <a:pos x="93" y="307"/>
                  </a:cxn>
                  <a:cxn ang="0">
                    <a:pos x="77" y="354"/>
                  </a:cxn>
                  <a:cxn ang="0">
                    <a:pos x="46" y="390"/>
                  </a:cxn>
                  <a:cxn ang="0">
                    <a:pos x="50" y="346"/>
                  </a:cxn>
                  <a:cxn ang="0">
                    <a:pos x="61" y="299"/>
                  </a:cxn>
                  <a:cxn ang="0">
                    <a:pos x="67" y="238"/>
                  </a:cxn>
                  <a:cxn ang="0">
                    <a:pos x="64" y="198"/>
                  </a:cxn>
                  <a:cxn ang="0">
                    <a:pos x="48" y="221"/>
                  </a:cxn>
                  <a:cxn ang="0">
                    <a:pos x="39" y="273"/>
                  </a:cxn>
                  <a:cxn ang="0">
                    <a:pos x="32" y="325"/>
                  </a:cxn>
                  <a:cxn ang="0">
                    <a:pos x="10" y="364"/>
                  </a:cxn>
                  <a:cxn ang="0">
                    <a:pos x="2" y="364"/>
                  </a:cxn>
                  <a:cxn ang="0">
                    <a:pos x="2" y="324"/>
                  </a:cxn>
                  <a:cxn ang="0">
                    <a:pos x="17" y="287"/>
                  </a:cxn>
                  <a:cxn ang="0">
                    <a:pos x="34" y="239"/>
                  </a:cxn>
                  <a:cxn ang="0">
                    <a:pos x="42" y="204"/>
                  </a:cxn>
                  <a:cxn ang="0">
                    <a:pos x="26" y="182"/>
                  </a:cxn>
                  <a:cxn ang="0">
                    <a:pos x="2" y="184"/>
                  </a:cxn>
                  <a:cxn ang="0">
                    <a:pos x="2" y="184"/>
                  </a:cxn>
                  <a:cxn ang="0">
                    <a:pos x="2" y="184"/>
                  </a:cxn>
                  <a:cxn ang="0">
                    <a:pos x="2" y="184"/>
                  </a:cxn>
                  <a:cxn ang="0">
                    <a:pos x="2" y="184"/>
                  </a:cxn>
                  <a:cxn ang="0">
                    <a:pos x="2" y="184"/>
                  </a:cxn>
                  <a:cxn ang="0">
                    <a:pos x="13" y="161"/>
                  </a:cxn>
                  <a:cxn ang="0">
                    <a:pos x="13" y="138"/>
                  </a:cxn>
                  <a:cxn ang="0">
                    <a:pos x="2" y="105"/>
                  </a:cxn>
                  <a:cxn ang="0">
                    <a:pos x="2" y="105"/>
                  </a:cxn>
                  <a:cxn ang="0">
                    <a:pos x="2" y="105"/>
                  </a:cxn>
                  <a:cxn ang="0">
                    <a:pos x="2" y="105"/>
                  </a:cxn>
                  <a:cxn ang="0">
                    <a:pos x="24" y="122"/>
                  </a:cxn>
                  <a:cxn ang="0">
                    <a:pos x="53" y="157"/>
                  </a:cxn>
                  <a:cxn ang="0">
                    <a:pos x="55" y="130"/>
                  </a:cxn>
                  <a:cxn ang="0">
                    <a:pos x="24" y="91"/>
                  </a:cxn>
                  <a:cxn ang="0">
                    <a:pos x="2" y="65"/>
                  </a:cxn>
                  <a:cxn ang="0">
                    <a:pos x="2" y="65"/>
                  </a:cxn>
                  <a:cxn ang="0">
                    <a:pos x="2" y="48"/>
                  </a:cxn>
                  <a:cxn ang="0">
                    <a:pos x="30" y="87"/>
                  </a:cxn>
                  <a:cxn ang="0">
                    <a:pos x="61" y="138"/>
                  </a:cxn>
                  <a:cxn ang="0">
                    <a:pos x="80" y="127"/>
                  </a:cxn>
                  <a:cxn ang="0">
                    <a:pos x="106" y="87"/>
                  </a:cxn>
                  <a:cxn ang="0">
                    <a:pos x="139" y="39"/>
                  </a:cxn>
                  <a:cxn ang="0">
                    <a:pos x="165" y="6"/>
                  </a:cxn>
                  <a:cxn ang="0">
                    <a:pos x="163" y="29"/>
                  </a:cxn>
                  <a:cxn ang="0">
                    <a:pos x="137" y="76"/>
                  </a:cxn>
                </a:cxnLst>
                <a:rect l="txL" t="txT" r="txR" b="txB"/>
                <a:pathLst>
                  <a:path w="266" h="391">
                    <a:moveTo>
                      <a:pt x="124" y="95"/>
                    </a:moveTo>
                    <a:lnTo>
                      <a:pt x="119" y="101"/>
                    </a:lnTo>
                    <a:lnTo>
                      <a:pt x="115" y="108"/>
                    </a:lnTo>
                    <a:lnTo>
                      <a:pt x="111" y="115"/>
                    </a:lnTo>
                    <a:lnTo>
                      <a:pt x="107" y="123"/>
                    </a:lnTo>
                    <a:lnTo>
                      <a:pt x="104" y="129"/>
                    </a:lnTo>
                    <a:lnTo>
                      <a:pt x="102" y="136"/>
                    </a:lnTo>
                    <a:lnTo>
                      <a:pt x="100" y="142"/>
                    </a:lnTo>
                    <a:lnTo>
                      <a:pt x="107" y="138"/>
                    </a:lnTo>
                    <a:lnTo>
                      <a:pt x="116" y="135"/>
                    </a:lnTo>
                    <a:lnTo>
                      <a:pt x="125" y="131"/>
                    </a:lnTo>
                    <a:lnTo>
                      <a:pt x="134" y="127"/>
                    </a:lnTo>
                    <a:lnTo>
                      <a:pt x="144" y="124"/>
                    </a:lnTo>
                    <a:lnTo>
                      <a:pt x="154" y="119"/>
                    </a:lnTo>
                    <a:lnTo>
                      <a:pt x="163" y="114"/>
                    </a:lnTo>
                    <a:lnTo>
                      <a:pt x="175" y="107"/>
                    </a:lnTo>
                    <a:lnTo>
                      <a:pt x="184" y="101"/>
                    </a:lnTo>
                    <a:lnTo>
                      <a:pt x="195" y="93"/>
                    </a:lnTo>
                    <a:lnTo>
                      <a:pt x="203" y="89"/>
                    </a:lnTo>
                    <a:lnTo>
                      <a:pt x="211" y="81"/>
                    </a:lnTo>
                    <a:lnTo>
                      <a:pt x="218" y="75"/>
                    </a:lnTo>
                    <a:lnTo>
                      <a:pt x="224" y="66"/>
                    </a:lnTo>
                    <a:lnTo>
                      <a:pt x="227" y="59"/>
                    </a:lnTo>
                    <a:lnTo>
                      <a:pt x="230" y="51"/>
                    </a:lnTo>
                    <a:lnTo>
                      <a:pt x="233" y="46"/>
                    </a:lnTo>
                    <a:lnTo>
                      <a:pt x="233" y="52"/>
                    </a:lnTo>
                    <a:lnTo>
                      <a:pt x="233" y="56"/>
                    </a:lnTo>
                    <a:lnTo>
                      <a:pt x="231" y="61"/>
                    </a:lnTo>
                    <a:lnTo>
                      <a:pt x="227" y="67"/>
                    </a:lnTo>
                    <a:lnTo>
                      <a:pt x="220" y="76"/>
                    </a:lnTo>
                    <a:lnTo>
                      <a:pt x="217" y="83"/>
                    </a:lnTo>
                    <a:lnTo>
                      <a:pt x="210" y="88"/>
                    </a:lnTo>
                    <a:lnTo>
                      <a:pt x="202" y="94"/>
                    </a:lnTo>
                    <a:lnTo>
                      <a:pt x="192" y="101"/>
                    </a:lnTo>
                    <a:lnTo>
                      <a:pt x="183" y="109"/>
                    </a:lnTo>
                    <a:lnTo>
                      <a:pt x="173" y="116"/>
                    </a:lnTo>
                    <a:lnTo>
                      <a:pt x="167" y="122"/>
                    </a:lnTo>
                    <a:lnTo>
                      <a:pt x="159" y="129"/>
                    </a:lnTo>
                    <a:lnTo>
                      <a:pt x="151" y="133"/>
                    </a:lnTo>
                    <a:lnTo>
                      <a:pt x="142" y="138"/>
                    </a:lnTo>
                    <a:lnTo>
                      <a:pt x="133" y="143"/>
                    </a:lnTo>
                    <a:lnTo>
                      <a:pt x="125" y="148"/>
                    </a:lnTo>
                    <a:lnTo>
                      <a:pt x="118" y="152"/>
                    </a:lnTo>
                    <a:lnTo>
                      <a:pt x="109" y="156"/>
                    </a:lnTo>
                    <a:lnTo>
                      <a:pt x="102" y="159"/>
                    </a:lnTo>
                    <a:lnTo>
                      <a:pt x="100" y="161"/>
                    </a:lnTo>
                    <a:lnTo>
                      <a:pt x="102" y="165"/>
                    </a:lnTo>
                    <a:lnTo>
                      <a:pt x="106" y="170"/>
                    </a:lnTo>
                    <a:lnTo>
                      <a:pt x="110" y="176"/>
                    </a:lnTo>
                    <a:lnTo>
                      <a:pt x="119" y="178"/>
                    </a:lnTo>
                    <a:lnTo>
                      <a:pt x="125" y="178"/>
                    </a:lnTo>
                    <a:lnTo>
                      <a:pt x="135" y="180"/>
                    </a:lnTo>
                    <a:lnTo>
                      <a:pt x="144" y="180"/>
                    </a:lnTo>
                    <a:lnTo>
                      <a:pt x="155" y="180"/>
                    </a:lnTo>
                    <a:lnTo>
                      <a:pt x="165" y="182"/>
                    </a:lnTo>
                    <a:lnTo>
                      <a:pt x="175" y="182"/>
                    </a:lnTo>
                    <a:lnTo>
                      <a:pt x="185" y="184"/>
                    </a:lnTo>
                    <a:lnTo>
                      <a:pt x="193" y="185"/>
                    </a:lnTo>
                    <a:lnTo>
                      <a:pt x="202" y="187"/>
                    </a:lnTo>
                    <a:lnTo>
                      <a:pt x="208" y="189"/>
                    </a:lnTo>
                    <a:lnTo>
                      <a:pt x="215" y="193"/>
                    </a:lnTo>
                    <a:lnTo>
                      <a:pt x="221" y="196"/>
                    </a:lnTo>
                    <a:lnTo>
                      <a:pt x="229" y="200"/>
                    </a:lnTo>
                    <a:lnTo>
                      <a:pt x="239" y="204"/>
                    </a:lnTo>
                    <a:lnTo>
                      <a:pt x="249" y="208"/>
                    </a:lnTo>
                    <a:lnTo>
                      <a:pt x="256" y="211"/>
                    </a:lnTo>
                    <a:lnTo>
                      <a:pt x="265" y="214"/>
                    </a:lnTo>
                    <a:lnTo>
                      <a:pt x="258" y="215"/>
                    </a:lnTo>
                    <a:lnTo>
                      <a:pt x="251" y="215"/>
                    </a:lnTo>
                    <a:lnTo>
                      <a:pt x="244" y="213"/>
                    </a:lnTo>
                    <a:lnTo>
                      <a:pt x="236" y="211"/>
                    </a:lnTo>
                    <a:lnTo>
                      <a:pt x="226" y="207"/>
                    </a:lnTo>
                    <a:lnTo>
                      <a:pt x="219" y="206"/>
                    </a:lnTo>
                    <a:lnTo>
                      <a:pt x="213" y="204"/>
                    </a:lnTo>
                    <a:lnTo>
                      <a:pt x="204" y="202"/>
                    </a:lnTo>
                    <a:lnTo>
                      <a:pt x="195" y="201"/>
                    </a:lnTo>
                    <a:lnTo>
                      <a:pt x="184" y="200"/>
                    </a:lnTo>
                    <a:lnTo>
                      <a:pt x="173" y="199"/>
                    </a:lnTo>
                    <a:lnTo>
                      <a:pt x="162" y="198"/>
                    </a:lnTo>
                    <a:lnTo>
                      <a:pt x="152" y="198"/>
                    </a:lnTo>
                    <a:lnTo>
                      <a:pt x="142" y="198"/>
                    </a:lnTo>
                    <a:lnTo>
                      <a:pt x="134" y="197"/>
                    </a:lnTo>
                    <a:lnTo>
                      <a:pt x="124" y="197"/>
                    </a:lnTo>
                    <a:lnTo>
                      <a:pt x="114" y="195"/>
                    </a:lnTo>
                    <a:lnTo>
                      <a:pt x="102" y="192"/>
                    </a:lnTo>
                    <a:lnTo>
                      <a:pt x="92" y="189"/>
                    </a:lnTo>
                    <a:lnTo>
                      <a:pt x="80" y="188"/>
                    </a:lnTo>
                    <a:lnTo>
                      <a:pt x="84" y="195"/>
                    </a:lnTo>
                    <a:lnTo>
                      <a:pt x="88" y="203"/>
                    </a:lnTo>
                    <a:lnTo>
                      <a:pt x="93" y="215"/>
                    </a:lnTo>
                    <a:lnTo>
                      <a:pt x="94" y="223"/>
                    </a:lnTo>
                    <a:lnTo>
                      <a:pt x="95" y="233"/>
                    </a:lnTo>
                    <a:lnTo>
                      <a:pt x="94" y="241"/>
                    </a:lnTo>
                    <a:lnTo>
                      <a:pt x="93" y="248"/>
                    </a:lnTo>
                    <a:lnTo>
                      <a:pt x="93" y="259"/>
                    </a:lnTo>
                    <a:lnTo>
                      <a:pt x="92" y="273"/>
                    </a:lnTo>
                    <a:lnTo>
                      <a:pt x="92" y="285"/>
                    </a:lnTo>
                    <a:lnTo>
                      <a:pt x="93" y="297"/>
                    </a:lnTo>
                    <a:lnTo>
                      <a:pt x="93" y="307"/>
                    </a:lnTo>
                    <a:lnTo>
                      <a:pt x="92" y="316"/>
                    </a:lnTo>
                    <a:lnTo>
                      <a:pt x="89" y="326"/>
                    </a:lnTo>
                    <a:lnTo>
                      <a:pt x="85" y="338"/>
                    </a:lnTo>
                    <a:lnTo>
                      <a:pt x="82" y="346"/>
                    </a:lnTo>
                    <a:lnTo>
                      <a:pt x="77" y="354"/>
                    </a:lnTo>
                    <a:lnTo>
                      <a:pt x="73" y="363"/>
                    </a:lnTo>
                    <a:lnTo>
                      <a:pt x="69" y="369"/>
                    </a:lnTo>
                    <a:lnTo>
                      <a:pt x="62" y="376"/>
                    </a:lnTo>
                    <a:lnTo>
                      <a:pt x="53" y="382"/>
                    </a:lnTo>
                    <a:lnTo>
                      <a:pt x="46" y="390"/>
                    </a:lnTo>
                    <a:lnTo>
                      <a:pt x="45" y="382"/>
                    </a:lnTo>
                    <a:lnTo>
                      <a:pt x="46" y="372"/>
                    </a:lnTo>
                    <a:lnTo>
                      <a:pt x="47" y="362"/>
                    </a:lnTo>
                    <a:lnTo>
                      <a:pt x="48" y="353"/>
                    </a:lnTo>
                    <a:lnTo>
                      <a:pt x="50" y="346"/>
                    </a:lnTo>
                    <a:lnTo>
                      <a:pt x="53" y="337"/>
                    </a:lnTo>
                    <a:lnTo>
                      <a:pt x="56" y="328"/>
                    </a:lnTo>
                    <a:lnTo>
                      <a:pt x="58" y="320"/>
                    </a:lnTo>
                    <a:lnTo>
                      <a:pt x="59" y="313"/>
                    </a:lnTo>
                    <a:lnTo>
                      <a:pt x="61" y="299"/>
                    </a:lnTo>
                    <a:lnTo>
                      <a:pt x="62" y="285"/>
                    </a:lnTo>
                    <a:lnTo>
                      <a:pt x="63" y="273"/>
                    </a:lnTo>
                    <a:lnTo>
                      <a:pt x="65" y="260"/>
                    </a:lnTo>
                    <a:lnTo>
                      <a:pt x="67" y="247"/>
                    </a:lnTo>
                    <a:lnTo>
                      <a:pt x="67" y="238"/>
                    </a:lnTo>
                    <a:lnTo>
                      <a:pt x="67" y="231"/>
                    </a:lnTo>
                    <a:lnTo>
                      <a:pt x="68" y="222"/>
                    </a:lnTo>
                    <a:lnTo>
                      <a:pt x="67" y="212"/>
                    </a:lnTo>
                    <a:lnTo>
                      <a:pt x="66" y="206"/>
                    </a:lnTo>
                    <a:lnTo>
                      <a:pt x="64" y="198"/>
                    </a:lnTo>
                    <a:lnTo>
                      <a:pt x="62" y="187"/>
                    </a:lnTo>
                    <a:lnTo>
                      <a:pt x="58" y="195"/>
                    </a:lnTo>
                    <a:lnTo>
                      <a:pt x="54" y="203"/>
                    </a:lnTo>
                    <a:lnTo>
                      <a:pt x="50" y="212"/>
                    </a:lnTo>
                    <a:lnTo>
                      <a:pt x="48" y="221"/>
                    </a:lnTo>
                    <a:lnTo>
                      <a:pt x="46" y="232"/>
                    </a:lnTo>
                    <a:lnTo>
                      <a:pt x="44" y="239"/>
                    </a:lnTo>
                    <a:lnTo>
                      <a:pt x="43" y="249"/>
                    </a:lnTo>
                    <a:lnTo>
                      <a:pt x="41" y="260"/>
                    </a:lnTo>
                    <a:lnTo>
                      <a:pt x="39" y="273"/>
                    </a:lnTo>
                    <a:lnTo>
                      <a:pt x="38" y="283"/>
                    </a:lnTo>
                    <a:lnTo>
                      <a:pt x="37" y="295"/>
                    </a:lnTo>
                    <a:lnTo>
                      <a:pt x="36" y="305"/>
                    </a:lnTo>
                    <a:lnTo>
                      <a:pt x="33" y="315"/>
                    </a:lnTo>
                    <a:lnTo>
                      <a:pt x="32" y="325"/>
                    </a:lnTo>
                    <a:lnTo>
                      <a:pt x="30" y="333"/>
                    </a:lnTo>
                    <a:lnTo>
                      <a:pt x="26" y="340"/>
                    </a:lnTo>
                    <a:lnTo>
                      <a:pt x="21" y="348"/>
                    </a:lnTo>
                    <a:lnTo>
                      <a:pt x="15" y="356"/>
                    </a:lnTo>
                    <a:lnTo>
                      <a:pt x="10" y="364"/>
                    </a:lnTo>
                    <a:lnTo>
                      <a:pt x="5" y="368"/>
                    </a:lnTo>
                    <a:lnTo>
                      <a:pt x="2" y="364"/>
                    </a:lnTo>
                    <a:lnTo>
                      <a:pt x="2" y="344"/>
                    </a:lnTo>
                    <a:lnTo>
                      <a:pt x="2" y="364"/>
                    </a:lnTo>
                    <a:lnTo>
                      <a:pt x="2" y="344"/>
                    </a:lnTo>
                    <a:lnTo>
                      <a:pt x="2" y="324"/>
                    </a:lnTo>
                    <a:lnTo>
                      <a:pt x="5" y="316"/>
                    </a:lnTo>
                    <a:lnTo>
                      <a:pt x="9" y="306"/>
                    </a:lnTo>
                    <a:lnTo>
                      <a:pt x="13" y="297"/>
                    </a:lnTo>
                    <a:lnTo>
                      <a:pt x="17" y="287"/>
                    </a:lnTo>
                    <a:lnTo>
                      <a:pt x="21" y="278"/>
                    </a:lnTo>
                    <a:lnTo>
                      <a:pt x="25" y="268"/>
                    </a:lnTo>
                    <a:lnTo>
                      <a:pt x="28" y="259"/>
                    </a:lnTo>
                    <a:lnTo>
                      <a:pt x="31" y="249"/>
                    </a:lnTo>
                    <a:lnTo>
                      <a:pt x="34" y="239"/>
                    </a:lnTo>
                    <a:lnTo>
                      <a:pt x="36" y="233"/>
                    </a:lnTo>
                    <a:lnTo>
                      <a:pt x="38" y="225"/>
                    </a:lnTo>
                    <a:lnTo>
                      <a:pt x="41" y="216"/>
                    </a:lnTo>
                    <a:lnTo>
                      <a:pt x="44" y="210"/>
                    </a:lnTo>
                    <a:lnTo>
                      <a:pt x="42" y="204"/>
                    </a:lnTo>
                    <a:lnTo>
                      <a:pt x="41" y="197"/>
                    </a:lnTo>
                    <a:lnTo>
                      <a:pt x="42" y="192"/>
                    </a:lnTo>
                    <a:lnTo>
                      <a:pt x="43" y="185"/>
                    </a:lnTo>
                    <a:lnTo>
                      <a:pt x="36" y="184"/>
                    </a:lnTo>
                    <a:lnTo>
                      <a:pt x="26" y="182"/>
                    </a:lnTo>
                    <a:lnTo>
                      <a:pt x="18" y="187"/>
                    </a:lnTo>
                    <a:lnTo>
                      <a:pt x="11" y="191"/>
                    </a:lnTo>
                    <a:lnTo>
                      <a:pt x="3" y="195"/>
                    </a:lnTo>
                    <a:lnTo>
                      <a:pt x="2" y="184"/>
                    </a:lnTo>
                    <a:lnTo>
                      <a:pt x="2" y="164"/>
                    </a:lnTo>
                    <a:lnTo>
                      <a:pt x="2" y="184"/>
                    </a:lnTo>
                    <a:lnTo>
                      <a:pt x="2" y="164"/>
                    </a:lnTo>
                    <a:lnTo>
                      <a:pt x="5" y="164"/>
                    </a:lnTo>
                    <a:lnTo>
                      <a:pt x="13" y="161"/>
                    </a:lnTo>
                    <a:lnTo>
                      <a:pt x="15" y="156"/>
                    </a:lnTo>
                    <a:lnTo>
                      <a:pt x="17" y="151"/>
                    </a:lnTo>
                    <a:lnTo>
                      <a:pt x="19" y="146"/>
                    </a:lnTo>
                    <a:lnTo>
                      <a:pt x="18" y="144"/>
                    </a:lnTo>
                    <a:lnTo>
                      <a:pt x="13" y="138"/>
                    </a:lnTo>
                    <a:lnTo>
                      <a:pt x="6" y="132"/>
                    </a:lnTo>
                    <a:lnTo>
                      <a:pt x="0" y="125"/>
                    </a:lnTo>
                    <a:lnTo>
                      <a:pt x="2" y="124"/>
                    </a:lnTo>
                    <a:lnTo>
                      <a:pt x="2" y="105"/>
                    </a:lnTo>
                    <a:lnTo>
                      <a:pt x="1" y="103"/>
                    </a:lnTo>
                    <a:lnTo>
                      <a:pt x="11" y="110"/>
                    </a:lnTo>
                    <a:lnTo>
                      <a:pt x="19" y="117"/>
                    </a:lnTo>
                    <a:lnTo>
                      <a:pt x="24" y="122"/>
                    </a:lnTo>
                    <a:lnTo>
                      <a:pt x="28" y="128"/>
                    </a:lnTo>
                    <a:lnTo>
                      <a:pt x="35" y="137"/>
                    </a:lnTo>
                    <a:lnTo>
                      <a:pt x="40" y="143"/>
                    </a:lnTo>
                    <a:lnTo>
                      <a:pt x="46" y="150"/>
                    </a:lnTo>
                    <a:lnTo>
                      <a:pt x="53" y="157"/>
                    </a:lnTo>
                    <a:lnTo>
                      <a:pt x="55" y="155"/>
                    </a:lnTo>
                    <a:lnTo>
                      <a:pt x="59" y="148"/>
                    </a:lnTo>
                    <a:lnTo>
                      <a:pt x="62" y="143"/>
                    </a:lnTo>
                    <a:lnTo>
                      <a:pt x="60" y="138"/>
                    </a:lnTo>
                    <a:lnTo>
                      <a:pt x="55" y="130"/>
                    </a:lnTo>
                    <a:lnTo>
                      <a:pt x="51" y="123"/>
                    </a:lnTo>
                    <a:lnTo>
                      <a:pt x="46" y="115"/>
                    </a:lnTo>
                    <a:lnTo>
                      <a:pt x="40" y="109"/>
                    </a:lnTo>
                    <a:lnTo>
                      <a:pt x="31" y="100"/>
                    </a:lnTo>
                    <a:lnTo>
                      <a:pt x="24" y="91"/>
                    </a:lnTo>
                    <a:lnTo>
                      <a:pt x="17" y="84"/>
                    </a:lnTo>
                    <a:lnTo>
                      <a:pt x="12" y="78"/>
                    </a:lnTo>
                    <a:lnTo>
                      <a:pt x="6" y="70"/>
                    </a:lnTo>
                    <a:lnTo>
                      <a:pt x="2" y="65"/>
                    </a:lnTo>
                    <a:lnTo>
                      <a:pt x="2" y="44"/>
                    </a:lnTo>
                    <a:lnTo>
                      <a:pt x="2" y="65"/>
                    </a:lnTo>
                    <a:lnTo>
                      <a:pt x="2" y="44"/>
                    </a:lnTo>
                    <a:lnTo>
                      <a:pt x="2" y="53"/>
                    </a:lnTo>
                    <a:lnTo>
                      <a:pt x="2" y="48"/>
                    </a:lnTo>
                    <a:lnTo>
                      <a:pt x="4" y="55"/>
                    </a:lnTo>
                    <a:lnTo>
                      <a:pt x="11" y="63"/>
                    </a:lnTo>
                    <a:lnTo>
                      <a:pt x="17" y="70"/>
                    </a:lnTo>
                    <a:lnTo>
                      <a:pt x="25" y="80"/>
                    </a:lnTo>
                    <a:lnTo>
                      <a:pt x="30" y="87"/>
                    </a:lnTo>
                    <a:lnTo>
                      <a:pt x="37" y="95"/>
                    </a:lnTo>
                    <a:lnTo>
                      <a:pt x="43" y="106"/>
                    </a:lnTo>
                    <a:lnTo>
                      <a:pt x="48" y="115"/>
                    </a:lnTo>
                    <a:lnTo>
                      <a:pt x="54" y="124"/>
                    </a:lnTo>
                    <a:lnTo>
                      <a:pt x="61" y="138"/>
                    </a:lnTo>
                    <a:lnTo>
                      <a:pt x="64" y="146"/>
                    </a:lnTo>
                    <a:lnTo>
                      <a:pt x="66" y="151"/>
                    </a:lnTo>
                    <a:lnTo>
                      <a:pt x="70" y="143"/>
                    </a:lnTo>
                    <a:lnTo>
                      <a:pt x="75" y="135"/>
                    </a:lnTo>
                    <a:lnTo>
                      <a:pt x="80" y="127"/>
                    </a:lnTo>
                    <a:lnTo>
                      <a:pt x="85" y="118"/>
                    </a:lnTo>
                    <a:lnTo>
                      <a:pt x="90" y="110"/>
                    </a:lnTo>
                    <a:lnTo>
                      <a:pt x="94" y="103"/>
                    </a:lnTo>
                    <a:lnTo>
                      <a:pt x="100" y="96"/>
                    </a:lnTo>
                    <a:lnTo>
                      <a:pt x="106" y="87"/>
                    </a:lnTo>
                    <a:lnTo>
                      <a:pt x="113" y="78"/>
                    </a:lnTo>
                    <a:lnTo>
                      <a:pt x="120" y="68"/>
                    </a:lnTo>
                    <a:lnTo>
                      <a:pt x="127" y="58"/>
                    </a:lnTo>
                    <a:lnTo>
                      <a:pt x="132" y="50"/>
                    </a:lnTo>
                    <a:lnTo>
                      <a:pt x="139" y="39"/>
                    </a:lnTo>
                    <a:lnTo>
                      <a:pt x="144" y="33"/>
                    </a:lnTo>
                    <a:lnTo>
                      <a:pt x="150" y="26"/>
                    </a:lnTo>
                    <a:lnTo>
                      <a:pt x="156" y="21"/>
                    </a:lnTo>
                    <a:lnTo>
                      <a:pt x="161" y="15"/>
                    </a:lnTo>
                    <a:lnTo>
                      <a:pt x="165" y="6"/>
                    </a:lnTo>
                    <a:lnTo>
                      <a:pt x="170" y="0"/>
                    </a:lnTo>
                    <a:lnTo>
                      <a:pt x="169" y="5"/>
                    </a:lnTo>
                    <a:lnTo>
                      <a:pt x="168" y="13"/>
                    </a:lnTo>
                    <a:lnTo>
                      <a:pt x="166" y="21"/>
                    </a:lnTo>
                    <a:lnTo>
                      <a:pt x="163" y="29"/>
                    </a:lnTo>
                    <a:lnTo>
                      <a:pt x="159" y="37"/>
                    </a:lnTo>
                    <a:lnTo>
                      <a:pt x="153" y="47"/>
                    </a:lnTo>
                    <a:lnTo>
                      <a:pt x="148" y="56"/>
                    </a:lnTo>
                    <a:lnTo>
                      <a:pt x="143" y="67"/>
                    </a:lnTo>
                    <a:lnTo>
                      <a:pt x="137" y="76"/>
                    </a:lnTo>
                    <a:lnTo>
                      <a:pt x="130" y="87"/>
                    </a:lnTo>
                    <a:lnTo>
                      <a:pt x="124" y="95"/>
                    </a:lnTo>
                  </a:path>
                </a:pathLst>
              </a:custGeom>
              <a:solidFill>
                <a:srgbClr val="037C03">
                  <a:alpha val="50195"/>
                </a:srgbClr>
              </a:solidFill>
              <a:ln w="9525">
                <a:noFill/>
              </a:ln>
            </p:spPr>
            <p:txBody>
              <a:bodyPr/>
              <a:lstStyle/>
              <a:p>
                <a:endParaRPr lang="zh-CN" altLang="en-US"/>
              </a:p>
            </p:txBody>
          </p:sp>
          <p:grpSp>
            <p:nvGrpSpPr>
              <p:cNvPr id="89185" name="Group 148"/>
              <p:cNvGrpSpPr/>
              <p:nvPr/>
            </p:nvGrpSpPr>
            <p:grpSpPr>
              <a:xfrm>
                <a:off x="1707" y="1466"/>
                <a:ext cx="484" cy="368"/>
                <a:chOff x="1707" y="1466"/>
                <a:chExt cx="484" cy="368"/>
              </a:xfrm>
            </p:grpSpPr>
            <p:sp>
              <p:nvSpPr>
                <p:cNvPr id="89187" name="Freeform 149"/>
                <p:cNvSpPr/>
                <p:nvPr/>
              </p:nvSpPr>
              <p:spPr>
                <a:xfrm>
                  <a:off x="1751" y="1466"/>
                  <a:ext cx="440" cy="342"/>
                </a:xfrm>
                <a:custGeom>
                  <a:avLst/>
                  <a:gdLst>
                    <a:gd name="txL" fmla="*/ 0 w 440"/>
                    <a:gd name="txT" fmla="*/ 0 h 342"/>
                    <a:gd name="txR" fmla="*/ 440 w 440"/>
                    <a:gd name="txB" fmla="*/ 342 h 342"/>
                  </a:gdLst>
                  <a:ahLst/>
                  <a:cxnLst>
                    <a:cxn ang="0">
                      <a:pos x="167" y="42"/>
                    </a:cxn>
                    <a:cxn ang="0">
                      <a:pos x="202" y="14"/>
                    </a:cxn>
                    <a:cxn ang="0">
                      <a:pos x="245" y="3"/>
                    </a:cxn>
                    <a:cxn ang="0">
                      <a:pos x="292" y="2"/>
                    </a:cxn>
                    <a:cxn ang="0">
                      <a:pos x="304" y="7"/>
                    </a:cxn>
                    <a:cxn ang="0">
                      <a:pos x="272" y="15"/>
                    </a:cxn>
                    <a:cxn ang="0">
                      <a:pos x="236" y="26"/>
                    </a:cxn>
                    <a:cxn ang="0">
                      <a:pos x="195" y="55"/>
                    </a:cxn>
                    <a:cxn ang="0">
                      <a:pos x="191" y="94"/>
                    </a:cxn>
                    <a:cxn ang="0">
                      <a:pos x="252" y="70"/>
                    </a:cxn>
                    <a:cxn ang="0">
                      <a:pos x="301" y="67"/>
                    </a:cxn>
                    <a:cxn ang="0">
                      <a:pos x="354" y="72"/>
                    </a:cxn>
                    <a:cxn ang="0">
                      <a:pos x="416" y="79"/>
                    </a:cxn>
                    <a:cxn ang="0">
                      <a:pos x="417" y="80"/>
                    </a:cxn>
                    <a:cxn ang="0">
                      <a:pos x="357" y="83"/>
                    </a:cxn>
                    <a:cxn ang="0">
                      <a:pos x="302" y="84"/>
                    </a:cxn>
                    <a:cxn ang="0">
                      <a:pos x="254" y="90"/>
                    </a:cxn>
                    <a:cxn ang="0">
                      <a:pos x="200" y="103"/>
                    </a:cxn>
                    <a:cxn ang="0">
                      <a:pos x="222" y="123"/>
                    </a:cxn>
                    <a:cxn ang="0">
                      <a:pos x="238" y="142"/>
                    </a:cxn>
                    <a:cxn ang="0">
                      <a:pos x="184" y="125"/>
                    </a:cxn>
                    <a:cxn ang="0">
                      <a:pos x="173" y="136"/>
                    </a:cxn>
                    <a:cxn ang="0">
                      <a:pos x="232" y="145"/>
                    </a:cxn>
                    <a:cxn ang="0">
                      <a:pos x="282" y="157"/>
                    </a:cxn>
                    <a:cxn ang="0">
                      <a:pos x="321" y="190"/>
                    </a:cxn>
                    <a:cxn ang="0">
                      <a:pos x="351" y="234"/>
                    </a:cxn>
                    <a:cxn ang="0">
                      <a:pos x="344" y="242"/>
                    </a:cxn>
                    <a:cxn ang="0">
                      <a:pos x="304" y="214"/>
                    </a:cxn>
                    <a:cxn ang="0">
                      <a:pos x="259" y="183"/>
                    </a:cxn>
                    <a:cxn ang="0">
                      <a:pos x="211" y="162"/>
                    </a:cxn>
                    <a:cxn ang="0">
                      <a:pos x="180" y="155"/>
                    </a:cxn>
                    <a:cxn ang="0">
                      <a:pos x="206" y="189"/>
                    </a:cxn>
                    <a:cxn ang="0">
                      <a:pos x="238" y="234"/>
                    </a:cxn>
                    <a:cxn ang="0">
                      <a:pos x="256" y="275"/>
                    </a:cxn>
                    <a:cxn ang="0">
                      <a:pos x="255" y="313"/>
                    </a:cxn>
                    <a:cxn ang="0">
                      <a:pos x="232" y="271"/>
                    </a:cxn>
                    <a:cxn ang="0">
                      <a:pos x="208" y="226"/>
                    </a:cxn>
                    <a:cxn ang="0">
                      <a:pos x="181" y="185"/>
                    </a:cxn>
                    <a:cxn ang="0">
                      <a:pos x="157" y="149"/>
                    </a:cxn>
                    <a:cxn ang="0">
                      <a:pos x="115" y="170"/>
                    </a:cxn>
                    <a:cxn ang="0">
                      <a:pos x="80" y="221"/>
                    </a:cxn>
                    <a:cxn ang="0">
                      <a:pos x="51" y="273"/>
                    </a:cxn>
                    <a:cxn ang="0">
                      <a:pos x="18" y="321"/>
                    </a:cxn>
                    <a:cxn ang="0">
                      <a:pos x="8" y="315"/>
                    </a:cxn>
                    <a:cxn ang="0">
                      <a:pos x="47" y="255"/>
                    </a:cxn>
                    <a:cxn ang="0">
                      <a:pos x="82" y="208"/>
                    </a:cxn>
                    <a:cxn ang="0">
                      <a:pos x="112" y="162"/>
                    </a:cxn>
                    <a:cxn ang="0">
                      <a:pos x="139" y="126"/>
                    </a:cxn>
                    <a:cxn ang="0">
                      <a:pos x="99" y="83"/>
                    </a:cxn>
                    <a:cxn ang="0">
                      <a:pos x="43" y="60"/>
                    </a:cxn>
                    <a:cxn ang="0">
                      <a:pos x="20" y="47"/>
                    </a:cxn>
                    <a:cxn ang="0">
                      <a:pos x="63" y="61"/>
                    </a:cxn>
                    <a:cxn ang="0">
                      <a:pos x="122" y="90"/>
                    </a:cxn>
                  </a:cxnLst>
                  <a:rect l="txL" t="txT" r="txR" b="txB"/>
                  <a:pathLst>
                    <a:path w="440" h="342">
                      <a:moveTo>
                        <a:pt x="138" y="87"/>
                      </a:moveTo>
                      <a:lnTo>
                        <a:pt x="141" y="78"/>
                      </a:lnTo>
                      <a:lnTo>
                        <a:pt x="146" y="69"/>
                      </a:lnTo>
                      <a:lnTo>
                        <a:pt x="153" y="59"/>
                      </a:lnTo>
                      <a:lnTo>
                        <a:pt x="160" y="51"/>
                      </a:lnTo>
                      <a:lnTo>
                        <a:pt x="167" y="42"/>
                      </a:lnTo>
                      <a:lnTo>
                        <a:pt x="172" y="36"/>
                      </a:lnTo>
                      <a:lnTo>
                        <a:pt x="178" y="31"/>
                      </a:lnTo>
                      <a:lnTo>
                        <a:pt x="184" y="26"/>
                      </a:lnTo>
                      <a:lnTo>
                        <a:pt x="190" y="21"/>
                      </a:lnTo>
                      <a:lnTo>
                        <a:pt x="196" y="17"/>
                      </a:lnTo>
                      <a:lnTo>
                        <a:pt x="202" y="14"/>
                      </a:lnTo>
                      <a:lnTo>
                        <a:pt x="208" y="11"/>
                      </a:lnTo>
                      <a:lnTo>
                        <a:pt x="215" y="8"/>
                      </a:lnTo>
                      <a:lnTo>
                        <a:pt x="222" y="7"/>
                      </a:lnTo>
                      <a:lnTo>
                        <a:pt x="230" y="5"/>
                      </a:lnTo>
                      <a:lnTo>
                        <a:pt x="237" y="3"/>
                      </a:lnTo>
                      <a:lnTo>
                        <a:pt x="245" y="3"/>
                      </a:lnTo>
                      <a:lnTo>
                        <a:pt x="252" y="2"/>
                      </a:lnTo>
                      <a:lnTo>
                        <a:pt x="260" y="2"/>
                      </a:lnTo>
                      <a:lnTo>
                        <a:pt x="270" y="1"/>
                      </a:lnTo>
                      <a:lnTo>
                        <a:pt x="278" y="2"/>
                      </a:lnTo>
                      <a:lnTo>
                        <a:pt x="285" y="2"/>
                      </a:lnTo>
                      <a:lnTo>
                        <a:pt x="292" y="2"/>
                      </a:lnTo>
                      <a:lnTo>
                        <a:pt x="299" y="2"/>
                      </a:lnTo>
                      <a:lnTo>
                        <a:pt x="307" y="1"/>
                      </a:lnTo>
                      <a:lnTo>
                        <a:pt x="314" y="0"/>
                      </a:lnTo>
                      <a:lnTo>
                        <a:pt x="310" y="2"/>
                      </a:lnTo>
                      <a:lnTo>
                        <a:pt x="307" y="4"/>
                      </a:lnTo>
                      <a:lnTo>
                        <a:pt x="304" y="7"/>
                      </a:lnTo>
                      <a:lnTo>
                        <a:pt x="301" y="10"/>
                      </a:lnTo>
                      <a:lnTo>
                        <a:pt x="295" y="10"/>
                      </a:lnTo>
                      <a:lnTo>
                        <a:pt x="288" y="11"/>
                      </a:lnTo>
                      <a:lnTo>
                        <a:pt x="284" y="12"/>
                      </a:lnTo>
                      <a:lnTo>
                        <a:pt x="278" y="13"/>
                      </a:lnTo>
                      <a:lnTo>
                        <a:pt x="272" y="15"/>
                      </a:lnTo>
                      <a:lnTo>
                        <a:pt x="266" y="16"/>
                      </a:lnTo>
                      <a:lnTo>
                        <a:pt x="260" y="17"/>
                      </a:lnTo>
                      <a:lnTo>
                        <a:pt x="254" y="19"/>
                      </a:lnTo>
                      <a:lnTo>
                        <a:pt x="248" y="21"/>
                      </a:lnTo>
                      <a:lnTo>
                        <a:pt x="241" y="23"/>
                      </a:lnTo>
                      <a:lnTo>
                        <a:pt x="236" y="26"/>
                      </a:lnTo>
                      <a:lnTo>
                        <a:pt x="229" y="29"/>
                      </a:lnTo>
                      <a:lnTo>
                        <a:pt x="222" y="32"/>
                      </a:lnTo>
                      <a:lnTo>
                        <a:pt x="215" y="36"/>
                      </a:lnTo>
                      <a:lnTo>
                        <a:pt x="208" y="41"/>
                      </a:lnTo>
                      <a:lnTo>
                        <a:pt x="201" y="47"/>
                      </a:lnTo>
                      <a:lnTo>
                        <a:pt x="195" y="55"/>
                      </a:lnTo>
                      <a:lnTo>
                        <a:pt x="189" y="64"/>
                      </a:lnTo>
                      <a:lnTo>
                        <a:pt x="181" y="77"/>
                      </a:lnTo>
                      <a:lnTo>
                        <a:pt x="175" y="90"/>
                      </a:lnTo>
                      <a:lnTo>
                        <a:pt x="167" y="106"/>
                      </a:lnTo>
                      <a:lnTo>
                        <a:pt x="180" y="99"/>
                      </a:lnTo>
                      <a:lnTo>
                        <a:pt x="191" y="94"/>
                      </a:lnTo>
                      <a:lnTo>
                        <a:pt x="206" y="86"/>
                      </a:lnTo>
                      <a:lnTo>
                        <a:pt x="222" y="78"/>
                      </a:lnTo>
                      <a:lnTo>
                        <a:pt x="229" y="77"/>
                      </a:lnTo>
                      <a:lnTo>
                        <a:pt x="236" y="74"/>
                      </a:lnTo>
                      <a:lnTo>
                        <a:pt x="243" y="72"/>
                      </a:lnTo>
                      <a:lnTo>
                        <a:pt x="252" y="70"/>
                      </a:lnTo>
                      <a:lnTo>
                        <a:pt x="261" y="68"/>
                      </a:lnTo>
                      <a:lnTo>
                        <a:pt x="269" y="68"/>
                      </a:lnTo>
                      <a:lnTo>
                        <a:pt x="275" y="67"/>
                      </a:lnTo>
                      <a:lnTo>
                        <a:pt x="285" y="66"/>
                      </a:lnTo>
                      <a:lnTo>
                        <a:pt x="294" y="66"/>
                      </a:lnTo>
                      <a:lnTo>
                        <a:pt x="301" y="67"/>
                      </a:lnTo>
                      <a:lnTo>
                        <a:pt x="311" y="68"/>
                      </a:lnTo>
                      <a:lnTo>
                        <a:pt x="319" y="69"/>
                      </a:lnTo>
                      <a:lnTo>
                        <a:pt x="328" y="69"/>
                      </a:lnTo>
                      <a:lnTo>
                        <a:pt x="336" y="70"/>
                      </a:lnTo>
                      <a:lnTo>
                        <a:pt x="345" y="71"/>
                      </a:lnTo>
                      <a:lnTo>
                        <a:pt x="354" y="72"/>
                      </a:lnTo>
                      <a:lnTo>
                        <a:pt x="363" y="73"/>
                      </a:lnTo>
                      <a:lnTo>
                        <a:pt x="371" y="74"/>
                      </a:lnTo>
                      <a:lnTo>
                        <a:pt x="381" y="75"/>
                      </a:lnTo>
                      <a:lnTo>
                        <a:pt x="392" y="76"/>
                      </a:lnTo>
                      <a:lnTo>
                        <a:pt x="401" y="77"/>
                      </a:lnTo>
                      <a:lnTo>
                        <a:pt x="416" y="79"/>
                      </a:lnTo>
                      <a:lnTo>
                        <a:pt x="421" y="79"/>
                      </a:lnTo>
                      <a:lnTo>
                        <a:pt x="425" y="79"/>
                      </a:lnTo>
                      <a:lnTo>
                        <a:pt x="430" y="81"/>
                      </a:lnTo>
                      <a:lnTo>
                        <a:pt x="439" y="84"/>
                      </a:lnTo>
                      <a:lnTo>
                        <a:pt x="424" y="81"/>
                      </a:lnTo>
                      <a:lnTo>
                        <a:pt x="417" y="80"/>
                      </a:lnTo>
                      <a:lnTo>
                        <a:pt x="411" y="80"/>
                      </a:lnTo>
                      <a:lnTo>
                        <a:pt x="397" y="81"/>
                      </a:lnTo>
                      <a:lnTo>
                        <a:pt x="388" y="82"/>
                      </a:lnTo>
                      <a:lnTo>
                        <a:pt x="377" y="82"/>
                      </a:lnTo>
                      <a:lnTo>
                        <a:pt x="367" y="82"/>
                      </a:lnTo>
                      <a:lnTo>
                        <a:pt x="357" y="83"/>
                      </a:lnTo>
                      <a:lnTo>
                        <a:pt x="348" y="83"/>
                      </a:lnTo>
                      <a:lnTo>
                        <a:pt x="340" y="82"/>
                      </a:lnTo>
                      <a:lnTo>
                        <a:pt x="330" y="82"/>
                      </a:lnTo>
                      <a:lnTo>
                        <a:pt x="319" y="82"/>
                      </a:lnTo>
                      <a:lnTo>
                        <a:pt x="310" y="83"/>
                      </a:lnTo>
                      <a:lnTo>
                        <a:pt x="302" y="84"/>
                      </a:lnTo>
                      <a:lnTo>
                        <a:pt x="292" y="84"/>
                      </a:lnTo>
                      <a:lnTo>
                        <a:pt x="285" y="84"/>
                      </a:lnTo>
                      <a:lnTo>
                        <a:pt x="276" y="85"/>
                      </a:lnTo>
                      <a:lnTo>
                        <a:pt x="269" y="87"/>
                      </a:lnTo>
                      <a:lnTo>
                        <a:pt x="261" y="88"/>
                      </a:lnTo>
                      <a:lnTo>
                        <a:pt x="254" y="90"/>
                      </a:lnTo>
                      <a:lnTo>
                        <a:pt x="246" y="92"/>
                      </a:lnTo>
                      <a:lnTo>
                        <a:pt x="238" y="94"/>
                      </a:lnTo>
                      <a:lnTo>
                        <a:pt x="229" y="96"/>
                      </a:lnTo>
                      <a:lnTo>
                        <a:pt x="222" y="98"/>
                      </a:lnTo>
                      <a:lnTo>
                        <a:pt x="208" y="102"/>
                      </a:lnTo>
                      <a:lnTo>
                        <a:pt x="200" y="103"/>
                      </a:lnTo>
                      <a:lnTo>
                        <a:pt x="189" y="108"/>
                      </a:lnTo>
                      <a:lnTo>
                        <a:pt x="172" y="115"/>
                      </a:lnTo>
                      <a:lnTo>
                        <a:pt x="189" y="117"/>
                      </a:lnTo>
                      <a:lnTo>
                        <a:pt x="209" y="118"/>
                      </a:lnTo>
                      <a:lnTo>
                        <a:pt x="213" y="118"/>
                      </a:lnTo>
                      <a:lnTo>
                        <a:pt x="222" y="123"/>
                      </a:lnTo>
                      <a:lnTo>
                        <a:pt x="228" y="126"/>
                      </a:lnTo>
                      <a:lnTo>
                        <a:pt x="234" y="129"/>
                      </a:lnTo>
                      <a:lnTo>
                        <a:pt x="235" y="131"/>
                      </a:lnTo>
                      <a:lnTo>
                        <a:pt x="238" y="137"/>
                      </a:lnTo>
                      <a:lnTo>
                        <a:pt x="245" y="146"/>
                      </a:lnTo>
                      <a:lnTo>
                        <a:pt x="238" y="142"/>
                      </a:lnTo>
                      <a:lnTo>
                        <a:pt x="229" y="137"/>
                      </a:lnTo>
                      <a:lnTo>
                        <a:pt x="222" y="135"/>
                      </a:lnTo>
                      <a:lnTo>
                        <a:pt x="209" y="132"/>
                      </a:lnTo>
                      <a:lnTo>
                        <a:pt x="199" y="129"/>
                      </a:lnTo>
                      <a:lnTo>
                        <a:pt x="189" y="126"/>
                      </a:lnTo>
                      <a:lnTo>
                        <a:pt x="184" y="125"/>
                      </a:lnTo>
                      <a:lnTo>
                        <a:pt x="172" y="126"/>
                      </a:lnTo>
                      <a:lnTo>
                        <a:pt x="165" y="127"/>
                      </a:lnTo>
                      <a:lnTo>
                        <a:pt x="155" y="129"/>
                      </a:lnTo>
                      <a:lnTo>
                        <a:pt x="160" y="131"/>
                      </a:lnTo>
                      <a:lnTo>
                        <a:pt x="166" y="132"/>
                      </a:lnTo>
                      <a:lnTo>
                        <a:pt x="173" y="136"/>
                      </a:lnTo>
                      <a:lnTo>
                        <a:pt x="181" y="135"/>
                      </a:lnTo>
                      <a:lnTo>
                        <a:pt x="195" y="136"/>
                      </a:lnTo>
                      <a:lnTo>
                        <a:pt x="203" y="137"/>
                      </a:lnTo>
                      <a:lnTo>
                        <a:pt x="215" y="140"/>
                      </a:lnTo>
                      <a:lnTo>
                        <a:pt x="222" y="143"/>
                      </a:lnTo>
                      <a:lnTo>
                        <a:pt x="232" y="145"/>
                      </a:lnTo>
                      <a:lnTo>
                        <a:pt x="242" y="148"/>
                      </a:lnTo>
                      <a:lnTo>
                        <a:pt x="251" y="151"/>
                      </a:lnTo>
                      <a:lnTo>
                        <a:pt x="259" y="152"/>
                      </a:lnTo>
                      <a:lnTo>
                        <a:pt x="266" y="153"/>
                      </a:lnTo>
                      <a:lnTo>
                        <a:pt x="273" y="155"/>
                      </a:lnTo>
                      <a:lnTo>
                        <a:pt x="282" y="157"/>
                      </a:lnTo>
                      <a:lnTo>
                        <a:pt x="291" y="161"/>
                      </a:lnTo>
                      <a:lnTo>
                        <a:pt x="299" y="165"/>
                      </a:lnTo>
                      <a:lnTo>
                        <a:pt x="303" y="169"/>
                      </a:lnTo>
                      <a:lnTo>
                        <a:pt x="309" y="175"/>
                      </a:lnTo>
                      <a:lnTo>
                        <a:pt x="316" y="183"/>
                      </a:lnTo>
                      <a:lnTo>
                        <a:pt x="321" y="190"/>
                      </a:lnTo>
                      <a:lnTo>
                        <a:pt x="326" y="197"/>
                      </a:lnTo>
                      <a:lnTo>
                        <a:pt x="331" y="204"/>
                      </a:lnTo>
                      <a:lnTo>
                        <a:pt x="335" y="212"/>
                      </a:lnTo>
                      <a:lnTo>
                        <a:pt x="340" y="218"/>
                      </a:lnTo>
                      <a:lnTo>
                        <a:pt x="345" y="226"/>
                      </a:lnTo>
                      <a:lnTo>
                        <a:pt x="351" y="234"/>
                      </a:lnTo>
                      <a:lnTo>
                        <a:pt x="356" y="243"/>
                      </a:lnTo>
                      <a:lnTo>
                        <a:pt x="361" y="250"/>
                      </a:lnTo>
                      <a:lnTo>
                        <a:pt x="368" y="258"/>
                      </a:lnTo>
                      <a:lnTo>
                        <a:pt x="359" y="251"/>
                      </a:lnTo>
                      <a:lnTo>
                        <a:pt x="353" y="247"/>
                      </a:lnTo>
                      <a:lnTo>
                        <a:pt x="344" y="242"/>
                      </a:lnTo>
                      <a:lnTo>
                        <a:pt x="336" y="236"/>
                      </a:lnTo>
                      <a:lnTo>
                        <a:pt x="330" y="231"/>
                      </a:lnTo>
                      <a:lnTo>
                        <a:pt x="323" y="226"/>
                      </a:lnTo>
                      <a:lnTo>
                        <a:pt x="317" y="222"/>
                      </a:lnTo>
                      <a:lnTo>
                        <a:pt x="311" y="218"/>
                      </a:lnTo>
                      <a:lnTo>
                        <a:pt x="304" y="214"/>
                      </a:lnTo>
                      <a:lnTo>
                        <a:pt x="297" y="210"/>
                      </a:lnTo>
                      <a:lnTo>
                        <a:pt x="291" y="205"/>
                      </a:lnTo>
                      <a:lnTo>
                        <a:pt x="284" y="200"/>
                      </a:lnTo>
                      <a:lnTo>
                        <a:pt x="275" y="195"/>
                      </a:lnTo>
                      <a:lnTo>
                        <a:pt x="267" y="189"/>
                      </a:lnTo>
                      <a:lnTo>
                        <a:pt x="259" y="183"/>
                      </a:lnTo>
                      <a:lnTo>
                        <a:pt x="252" y="179"/>
                      </a:lnTo>
                      <a:lnTo>
                        <a:pt x="245" y="174"/>
                      </a:lnTo>
                      <a:lnTo>
                        <a:pt x="237" y="170"/>
                      </a:lnTo>
                      <a:lnTo>
                        <a:pt x="229" y="167"/>
                      </a:lnTo>
                      <a:lnTo>
                        <a:pt x="222" y="165"/>
                      </a:lnTo>
                      <a:lnTo>
                        <a:pt x="211" y="162"/>
                      </a:lnTo>
                      <a:lnTo>
                        <a:pt x="201" y="159"/>
                      </a:lnTo>
                      <a:lnTo>
                        <a:pt x="194" y="157"/>
                      </a:lnTo>
                      <a:lnTo>
                        <a:pt x="186" y="155"/>
                      </a:lnTo>
                      <a:lnTo>
                        <a:pt x="175" y="149"/>
                      </a:lnTo>
                      <a:lnTo>
                        <a:pt x="163" y="144"/>
                      </a:lnTo>
                      <a:lnTo>
                        <a:pt x="180" y="155"/>
                      </a:lnTo>
                      <a:lnTo>
                        <a:pt x="182" y="157"/>
                      </a:lnTo>
                      <a:lnTo>
                        <a:pt x="186" y="162"/>
                      </a:lnTo>
                      <a:lnTo>
                        <a:pt x="190" y="168"/>
                      </a:lnTo>
                      <a:lnTo>
                        <a:pt x="195" y="175"/>
                      </a:lnTo>
                      <a:lnTo>
                        <a:pt x="201" y="182"/>
                      </a:lnTo>
                      <a:lnTo>
                        <a:pt x="206" y="189"/>
                      </a:lnTo>
                      <a:lnTo>
                        <a:pt x="212" y="197"/>
                      </a:lnTo>
                      <a:lnTo>
                        <a:pt x="217" y="204"/>
                      </a:lnTo>
                      <a:lnTo>
                        <a:pt x="222" y="210"/>
                      </a:lnTo>
                      <a:lnTo>
                        <a:pt x="227" y="217"/>
                      </a:lnTo>
                      <a:lnTo>
                        <a:pt x="233" y="227"/>
                      </a:lnTo>
                      <a:lnTo>
                        <a:pt x="238" y="234"/>
                      </a:lnTo>
                      <a:lnTo>
                        <a:pt x="242" y="241"/>
                      </a:lnTo>
                      <a:lnTo>
                        <a:pt x="246" y="248"/>
                      </a:lnTo>
                      <a:lnTo>
                        <a:pt x="250" y="255"/>
                      </a:lnTo>
                      <a:lnTo>
                        <a:pt x="252" y="262"/>
                      </a:lnTo>
                      <a:lnTo>
                        <a:pt x="254" y="267"/>
                      </a:lnTo>
                      <a:lnTo>
                        <a:pt x="256" y="275"/>
                      </a:lnTo>
                      <a:lnTo>
                        <a:pt x="257" y="285"/>
                      </a:lnTo>
                      <a:lnTo>
                        <a:pt x="258" y="294"/>
                      </a:lnTo>
                      <a:lnTo>
                        <a:pt x="259" y="304"/>
                      </a:lnTo>
                      <a:lnTo>
                        <a:pt x="261" y="313"/>
                      </a:lnTo>
                      <a:lnTo>
                        <a:pt x="262" y="323"/>
                      </a:lnTo>
                      <a:lnTo>
                        <a:pt x="255" y="313"/>
                      </a:lnTo>
                      <a:lnTo>
                        <a:pt x="249" y="307"/>
                      </a:lnTo>
                      <a:lnTo>
                        <a:pt x="245" y="300"/>
                      </a:lnTo>
                      <a:lnTo>
                        <a:pt x="241" y="295"/>
                      </a:lnTo>
                      <a:lnTo>
                        <a:pt x="238" y="288"/>
                      </a:lnTo>
                      <a:lnTo>
                        <a:pt x="236" y="280"/>
                      </a:lnTo>
                      <a:lnTo>
                        <a:pt x="232" y="271"/>
                      </a:lnTo>
                      <a:lnTo>
                        <a:pt x="228" y="263"/>
                      </a:lnTo>
                      <a:lnTo>
                        <a:pt x="224" y="254"/>
                      </a:lnTo>
                      <a:lnTo>
                        <a:pt x="221" y="246"/>
                      </a:lnTo>
                      <a:lnTo>
                        <a:pt x="217" y="238"/>
                      </a:lnTo>
                      <a:lnTo>
                        <a:pt x="212" y="232"/>
                      </a:lnTo>
                      <a:lnTo>
                        <a:pt x="208" y="226"/>
                      </a:lnTo>
                      <a:lnTo>
                        <a:pt x="202" y="218"/>
                      </a:lnTo>
                      <a:lnTo>
                        <a:pt x="196" y="211"/>
                      </a:lnTo>
                      <a:lnTo>
                        <a:pt x="191" y="205"/>
                      </a:lnTo>
                      <a:lnTo>
                        <a:pt x="186" y="199"/>
                      </a:lnTo>
                      <a:lnTo>
                        <a:pt x="185" y="194"/>
                      </a:lnTo>
                      <a:lnTo>
                        <a:pt x="181" y="185"/>
                      </a:lnTo>
                      <a:lnTo>
                        <a:pt x="177" y="179"/>
                      </a:lnTo>
                      <a:lnTo>
                        <a:pt x="174" y="171"/>
                      </a:lnTo>
                      <a:lnTo>
                        <a:pt x="172" y="169"/>
                      </a:lnTo>
                      <a:lnTo>
                        <a:pt x="165" y="162"/>
                      </a:lnTo>
                      <a:lnTo>
                        <a:pt x="161" y="155"/>
                      </a:lnTo>
                      <a:lnTo>
                        <a:pt x="157" y="149"/>
                      </a:lnTo>
                      <a:lnTo>
                        <a:pt x="153" y="143"/>
                      </a:lnTo>
                      <a:lnTo>
                        <a:pt x="145" y="146"/>
                      </a:lnTo>
                      <a:lnTo>
                        <a:pt x="137" y="151"/>
                      </a:lnTo>
                      <a:lnTo>
                        <a:pt x="129" y="158"/>
                      </a:lnTo>
                      <a:lnTo>
                        <a:pt x="121" y="164"/>
                      </a:lnTo>
                      <a:lnTo>
                        <a:pt x="115" y="170"/>
                      </a:lnTo>
                      <a:lnTo>
                        <a:pt x="110" y="176"/>
                      </a:lnTo>
                      <a:lnTo>
                        <a:pt x="104" y="185"/>
                      </a:lnTo>
                      <a:lnTo>
                        <a:pt x="97" y="195"/>
                      </a:lnTo>
                      <a:lnTo>
                        <a:pt x="92" y="203"/>
                      </a:lnTo>
                      <a:lnTo>
                        <a:pt x="85" y="212"/>
                      </a:lnTo>
                      <a:lnTo>
                        <a:pt x="80" y="221"/>
                      </a:lnTo>
                      <a:lnTo>
                        <a:pt x="76" y="229"/>
                      </a:lnTo>
                      <a:lnTo>
                        <a:pt x="71" y="237"/>
                      </a:lnTo>
                      <a:lnTo>
                        <a:pt x="67" y="245"/>
                      </a:lnTo>
                      <a:lnTo>
                        <a:pt x="62" y="254"/>
                      </a:lnTo>
                      <a:lnTo>
                        <a:pt x="58" y="263"/>
                      </a:lnTo>
                      <a:lnTo>
                        <a:pt x="51" y="273"/>
                      </a:lnTo>
                      <a:lnTo>
                        <a:pt x="45" y="283"/>
                      </a:lnTo>
                      <a:lnTo>
                        <a:pt x="38" y="294"/>
                      </a:lnTo>
                      <a:lnTo>
                        <a:pt x="33" y="303"/>
                      </a:lnTo>
                      <a:lnTo>
                        <a:pt x="28" y="309"/>
                      </a:lnTo>
                      <a:lnTo>
                        <a:pt x="24" y="315"/>
                      </a:lnTo>
                      <a:lnTo>
                        <a:pt x="18" y="321"/>
                      </a:lnTo>
                      <a:lnTo>
                        <a:pt x="13" y="327"/>
                      </a:lnTo>
                      <a:lnTo>
                        <a:pt x="7" y="333"/>
                      </a:lnTo>
                      <a:lnTo>
                        <a:pt x="0" y="341"/>
                      </a:lnTo>
                      <a:lnTo>
                        <a:pt x="2" y="331"/>
                      </a:lnTo>
                      <a:lnTo>
                        <a:pt x="5" y="324"/>
                      </a:lnTo>
                      <a:lnTo>
                        <a:pt x="8" y="315"/>
                      </a:lnTo>
                      <a:lnTo>
                        <a:pt x="13" y="309"/>
                      </a:lnTo>
                      <a:lnTo>
                        <a:pt x="20" y="298"/>
                      </a:lnTo>
                      <a:lnTo>
                        <a:pt x="27" y="287"/>
                      </a:lnTo>
                      <a:lnTo>
                        <a:pt x="35" y="275"/>
                      </a:lnTo>
                      <a:lnTo>
                        <a:pt x="41" y="265"/>
                      </a:lnTo>
                      <a:lnTo>
                        <a:pt x="47" y="255"/>
                      </a:lnTo>
                      <a:lnTo>
                        <a:pt x="54" y="246"/>
                      </a:lnTo>
                      <a:lnTo>
                        <a:pt x="59" y="238"/>
                      </a:lnTo>
                      <a:lnTo>
                        <a:pt x="64" y="231"/>
                      </a:lnTo>
                      <a:lnTo>
                        <a:pt x="69" y="224"/>
                      </a:lnTo>
                      <a:lnTo>
                        <a:pt x="76" y="216"/>
                      </a:lnTo>
                      <a:lnTo>
                        <a:pt x="82" y="208"/>
                      </a:lnTo>
                      <a:lnTo>
                        <a:pt x="88" y="199"/>
                      </a:lnTo>
                      <a:lnTo>
                        <a:pt x="95" y="190"/>
                      </a:lnTo>
                      <a:lnTo>
                        <a:pt x="100" y="183"/>
                      </a:lnTo>
                      <a:lnTo>
                        <a:pt x="105" y="175"/>
                      </a:lnTo>
                      <a:lnTo>
                        <a:pt x="110" y="167"/>
                      </a:lnTo>
                      <a:lnTo>
                        <a:pt x="112" y="162"/>
                      </a:lnTo>
                      <a:lnTo>
                        <a:pt x="114" y="156"/>
                      </a:lnTo>
                      <a:lnTo>
                        <a:pt x="118" y="151"/>
                      </a:lnTo>
                      <a:lnTo>
                        <a:pt x="122" y="145"/>
                      </a:lnTo>
                      <a:lnTo>
                        <a:pt x="129" y="138"/>
                      </a:lnTo>
                      <a:lnTo>
                        <a:pt x="134" y="131"/>
                      </a:lnTo>
                      <a:lnTo>
                        <a:pt x="139" y="126"/>
                      </a:lnTo>
                      <a:lnTo>
                        <a:pt x="143" y="119"/>
                      </a:lnTo>
                      <a:lnTo>
                        <a:pt x="141" y="114"/>
                      </a:lnTo>
                      <a:lnTo>
                        <a:pt x="139" y="106"/>
                      </a:lnTo>
                      <a:lnTo>
                        <a:pt x="127" y="102"/>
                      </a:lnTo>
                      <a:lnTo>
                        <a:pt x="113" y="92"/>
                      </a:lnTo>
                      <a:lnTo>
                        <a:pt x="99" y="83"/>
                      </a:lnTo>
                      <a:lnTo>
                        <a:pt x="92" y="78"/>
                      </a:lnTo>
                      <a:lnTo>
                        <a:pt x="86" y="74"/>
                      </a:lnTo>
                      <a:lnTo>
                        <a:pt x="75" y="70"/>
                      </a:lnTo>
                      <a:lnTo>
                        <a:pt x="64" y="66"/>
                      </a:lnTo>
                      <a:lnTo>
                        <a:pt x="52" y="63"/>
                      </a:lnTo>
                      <a:lnTo>
                        <a:pt x="43" y="60"/>
                      </a:lnTo>
                      <a:lnTo>
                        <a:pt x="33" y="56"/>
                      </a:lnTo>
                      <a:lnTo>
                        <a:pt x="24" y="53"/>
                      </a:lnTo>
                      <a:lnTo>
                        <a:pt x="15" y="51"/>
                      </a:lnTo>
                      <a:lnTo>
                        <a:pt x="8" y="49"/>
                      </a:lnTo>
                      <a:lnTo>
                        <a:pt x="15" y="49"/>
                      </a:lnTo>
                      <a:lnTo>
                        <a:pt x="20" y="47"/>
                      </a:lnTo>
                      <a:lnTo>
                        <a:pt x="25" y="47"/>
                      </a:lnTo>
                      <a:lnTo>
                        <a:pt x="29" y="46"/>
                      </a:lnTo>
                      <a:lnTo>
                        <a:pt x="34" y="47"/>
                      </a:lnTo>
                      <a:lnTo>
                        <a:pt x="45" y="51"/>
                      </a:lnTo>
                      <a:lnTo>
                        <a:pt x="53" y="56"/>
                      </a:lnTo>
                      <a:lnTo>
                        <a:pt x="63" y="61"/>
                      </a:lnTo>
                      <a:lnTo>
                        <a:pt x="72" y="66"/>
                      </a:lnTo>
                      <a:lnTo>
                        <a:pt x="84" y="71"/>
                      </a:lnTo>
                      <a:lnTo>
                        <a:pt x="93" y="77"/>
                      </a:lnTo>
                      <a:lnTo>
                        <a:pt x="101" y="81"/>
                      </a:lnTo>
                      <a:lnTo>
                        <a:pt x="115" y="88"/>
                      </a:lnTo>
                      <a:lnTo>
                        <a:pt x="122" y="90"/>
                      </a:lnTo>
                      <a:lnTo>
                        <a:pt x="128" y="89"/>
                      </a:lnTo>
                      <a:lnTo>
                        <a:pt x="133" y="88"/>
                      </a:lnTo>
                      <a:lnTo>
                        <a:pt x="138" y="87"/>
                      </a:lnTo>
                    </a:path>
                  </a:pathLst>
                </a:custGeom>
                <a:solidFill>
                  <a:srgbClr val="037C03">
                    <a:alpha val="50195"/>
                  </a:srgbClr>
                </a:solidFill>
                <a:ln w="9525">
                  <a:noFill/>
                </a:ln>
              </p:spPr>
              <p:txBody>
                <a:bodyPr/>
                <a:lstStyle/>
                <a:p>
                  <a:endParaRPr lang="zh-CN" altLang="en-US"/>
                </a:p>
              </p:txBody>
            </p:sp>
            <p:sp>
              <p:nvSpPr>
                <p:cNvPr id="89188" name="Freeform 150"/>
                <p:cNvSpPr/>
                <p:nvPr/>
              </p:nvSpPr>
              <p:spPr>
                <a:xfrm>
                  <a:off x="1900" y="1641"/>
                  <a:ext cx="39" cy="193"/>
                </a:xfrm>
                <a:custGeom>
                  <a:avLst/>
                  <a:gdLst>
                    <a:gd name="txL" fmla="*/ 0 w 39"/>
                    <a:gd name="txT" fmla="*/ 0 h 193"/>
                    <a:gd name="txR" fmla="*/ 39 w 39"/>
                    <a:gd name="txB" fmla="*/ 193 h 193"/>
                  </a:gdLst>
                  <a:ahLst/>
                  <a:cxnLst>
                    <a:cxn ang="0">
                      <a:pos x="20" y="0"/>
                    </a:cxn>
                    <a:cxn ang="0">
                      <a:pos x="25" y="9"/>
                    </a:cxn>
                    <a:cxn ang="0">
                      <a:pos x="28" y="15"/>
                    </a:cxn>
                    <a:cxn ang="0">
                      <a:pos x="34" y="24"/>
                    </a:cxn>
                    <a:cxn ang="0">
                      <a:pos x="36" y="33"/>
                    </a:cxn>
                    <a:cxn ang="0">
                      <a:pos x="37" y="43"/>
                    </a:cxn>
                    <a:cxn ang="0">
                      <a:pos x="37" y="56"/>
                    </a:cxn>
                    <a:cxn ang="0">
                      <a:pos x="38" y="64"/>
                    </a:cxn>
                    <a:cxn ang="0">
                      <a:pos x="37" y="75"/>
                    </a:cxn>
                    <a:cxn ang="0">
                      <a:pos x="36" y="86"/>
                    </a:cxn>
                    <a:cxn ang="0">
                      <a:pos x="34" y="97"/>
                    </a:cxn>
                    <a:cxn ang="0">
                      <a:pos x="31" y="113"/>
                    </a:cxn>
                    <a:cxn ang="0">
                      <a:pos x="29" y="122"/>
                    </a:cxn>
                    <a:cxn ang="0">
                      <a:pos x="24" y="132"/>
                    </a:cxn>
                    <a:cxn ang="0">
                      <a:pos x="18" y="144"/>
                    </a:cxn>
                    <a:cxn ang="0">
                      <a:pos x="12" y="155"/>
                    </a:cxn>
                    <a:cxn ang="0">
                      <a:pos x="7" y="165"/>
                    </a:cxn>
                    <a:cxn ang="0">
                      <a:pos x="3" y="174"/>
                    </a:cxn>
                    <a:cxn ang="0">
                      <a:pos x="0" y="192"/>
                    </a:cxn>
                    <a:cxn ang="0">
                      <a:pos x="1" y="174"/>
                    </a:cxn>
                    <a:cxn ang="0">
                      <a:pos x="3" y="162"/>
                    </a:cxn>
                    <a:cxn ang="0">
                      <a:pos x="4" y="151"/>
                    </a:cxn>
                    <a:cxn ang="0">
                      <a:pos x="5" y="139"/>
                    </a:cxn>
                    <a:cxn ang="0">
                      <a:pos x="7" y="124"/>
                    </a:cxn>
                    <a:cxn ang="0">
                      <a:pos x="10" y="113"/>
                    </a:cxn>
                    <a:cxn ang="0">
                      <a:pos x="12" y="102"/>
                    </a:cxn>
                    <a:cxn ang="0">
                      <a:pos x="15" y="93"/>
                    </a:cxn>
                    <a:cxn ang="0">
                      <a:pos x="18" y="82"/>
                    </a:cxn>
                    <a:cxn ang="0">
                      <a:pos x="20" y="72"/>
                    </a:cxn>
                    <a:cxn ang="0">
                      <a:pos x="22" y="61"/>
                    </a:cxn>
                    <a:cxn ang="0">
                      <a:pos x="23" y="52"/>
                    </a:cxn>
                    <a:cxn ang="0">
                      <a:pos x="24" y="41"/>
                    </a:cxn>
                    <a:cxn ang="0">
                      <a:pos x="24" y="30"/>
                    </a:cxn>
                    <a:cxn ang="0">
                      <a:pos x="24" y="15"/>
                    </a:cxn>
                    <a:cxn ang="0">
                      <a:pos x="22" y="8"/>
                    </a:cxn>
                    <a:cxn ang="0">
                      <a:pos x="20" y="0"/>
                    </a:cxn>
                  </a:cxnLst>
                  <a:rect l="txL" t="txT" r="txR" b="txB"/>
                  <a:pathLst>
                    <a:path w="39" h="193">
                      <a:moveTo>
                        <a:pt x="20" y="0"/>
                      </a:moveTo>
                      <a:lnTo>
                        <a:pt x="25" y="9"/>
                      </a:lnTo>
                      <a:lnTo>
                        <a:pt x="28" y="15"/>
                      </a:lnTo>
                      <a:lnTo>
                        <a:pt x="34" y="24"/>
                      </a:lnTo>
                      <a:lnTo>
                        <a:pt x="36" y="33"/>
                      </a:lnTo>
                      <a:lnTo>
                        <a:pt x="37" y="43"/>
                      </a:lnTo>
                      <a:lnTo>
                        <a:pt x="37" y="56"/>
                      </a:lnTo>
                      <a:lnTo>
                        <a:pt x="38" y="64"/>
                      </a:lnTo>
                      <a:lnTo>
                        <a:pt x="37" y="75"/>
                      </a:lnTo>
                      <a:lnTo>
                        <a:pt x="36" y="86"/>
                      </a:lnTo>
                      <a:lnTo>
                        <a:pt x="34" y="97"/>
                      </a:lnTo>
                      <a:lnTo>
                        <a:pt x="31" y="113"/>
                      </a:lnTo>
                      <a:lnTo>
                        <a:pt x="29" y="122"/>
                      </a:lnTo>
                      <a:lnTo>
                        <a:pt x="24" y="132"/>
                      </a:lnTo>
                      <a:lnTo>
                        <a:pt x="18" y="144"/>
                      </a:lnTo>
                      <a:lnTo>
                        <a:pt x="12" y="155"/>
                      </a:lnTo>
                      <a:lnTo>
                        <a:pt x="7" y="165"/>
                      </a:lnTo>
                      <a:lnTo>
                        <a:pt x="3" y="174"/>
                      </a:lnTo>
                      <a:lnTo>
                        <a:pt x="0" y="192"/>
                      </a:lnTo>
                      <a:lnTo>
                        <a:pt x="1" y="174"/>
                      </a:lnTo>
                      <a:lnTo>
                        <a:pt x="3" y="162"/>
                      </a:lnTo>
                      <a:lnTo>
                        <a:pt x="4" y="151"/>
                      </a:lnTo>
                      <a:lnTo>
                        <a:pt x="5" y="139"/>
                      </a:lnTo>
                      <a:lnTo>
                        <a:pt x="7" y="124"/>
                      </a:lnTo>
                      <a:lnTo>
                        <a:pt x="10" y="113"/>
                      </a:lnTo>
                      <a:lnTo>
                        <a:pt x="12" y="102"/>
                      </a:lnTo>
                      <a:lnTo>
                        <a:pt x="15" y="93"/>
                      </a:lnTo>
                      <a:lnTo>
                        <a:pt x="18" y="82"/>
                      </a:lnTo>
                      <a:lnTo>
                        <a:pt x="20" y="72"/>
                      </a:lnTo>
                      <a:lnTo>
                        <a:pt x="22" y="61"/>
                      </a:lnTo>
                      <a:lnTo>
                        <a:pt x="23" y="52"/>
                      </a:lnTo>
                      <a:lnTo>
                        <a:pt x="24" y="41"/>
                      </a:lnTo>
                      <a:lnTo>
                        <a:pt x="24" y="30"/>
                      </a:lnTo>
                      <a:lnTo>
                        <a:pt x="24" y="15"/>
                      </a:lnTo>
                      <a:lnTo>
                        <a:pt x="22" y="8"/>
                      </a:lnTo>
                      <a:lnTo>
                        <a:pt x="20" y="0"/>
                      </a:lnTo>
                    </a:path>
                  </a:pathLst>
                </a:custGeom>
                <a:solidFill>
                  <a:srgbClr val="037C03">
                    <a:alpha val="50195"/>
                  </a:srgbClr>
                </a:solidFill>
                <a:ln w="9525">
                  <a:noFill/>
                </a:ln>
              </p:spPr>
              <p:txBody>
                <a:bodyPr/>
                <a:lstStyle/>
                <a:p>
                  <a:endParaRPr lang="zh-CN" altLang="en-US"/>
                </a:p>
              </p:txBody>
            </p:sp>
            <p:sp>
              <p:nvSpPr>
                <p:cNvPr id="89189" name="Freeform 151"/>
                <p:cNvSpPr/>
                <p:nvPr/>
              </p:nvSpPr>
              <p:spPr>
                <a:xfrm>
                  <a:off x="1716" y="1535"/>
                  <a:ext cx="171" cy="50"/>
                </a:xfrm>
                <a:custGeom>
                  <a:avLst/>
                  <a:gdLst>
                    <a:gd name="txL" fmla="*/ 0 w 171"/>
                    <a:gd name="txT" fmla="*/ 0 h 50"/>
                    <a:gd name="txR" fmla="*/ 171 w 171"/>
                    <a:gd name="txB" fmla="*/ 50 h 50"/>
                  </a:gdLst>
                  <a:ahLst/>
                  <a:cxnLst>
                    <a:cxn ang="0">
                      <a:pos x="170" y="49"/>
                    </a:cxn>
                    <a:cxn ang="0">
                      <a:pos x="167" y="40"/>
                    </a:cxn>
                    <a:cxn ang="0">
                      <a:pos x="163" y="33"/>
                    </a:cxn>
                    <a:cxn ang="0">
                      <a:pos x="160" y="31"/>
                    </a:cxn>
                    <a:cxn ang="0">
                      <a:pos x="153" y="29"/>
                    </a:cxn>
                    <a:cxn ang="0">
                      <a:pos x="147" y="27"/>
                    </a:cxn>
                    <a:cxn ang="0">
                      <a:pos x="140" y="29"/>
                    </a:cxn>
                    <a:cxn ang="0">
                      <a:pos x="132" y="30"/>
                    </a:cxn>
                    <a:cxn ang="0">
                      <a:pos x="123" y="27"/>
                    </a:cxn>
                    <a:cxn ang="0">
                      <a:pos x="111" y="22"/>
                    </a:cxn>
                    <a:cxn ang="0">
                      <a:pos x="100" y="18"/>
                    </a:cxn>
                    <a:cxn ang="0">
                      <a:pos x="92" y="16"/>
                    </a:cxn>
                    <a:cxn ang="0">
                      <a:pos x="80" y="12"/>
                    </a:cxn>
                    <a:cxn ang="0">
                      <a:pos x="67" y="8"/>
                    </a:cxn>
                    <a:cxn ang="0">
                      <a:pos x="55" y="5"/>
                    </a:cxn>
                    <a:cxn ang="0">
                      <a:pos x="42" y="1"/>
                    </a:cxn>
                    <a:cxn ang="0">
                      <a:pos x="28" y="1"/>
                    </a:cxn>
                    <a:cxn ang="0">
                      <a:pos x="15" y="0"/>
                    </a:cxn>
                    <a:cxn ang="0">
                      <a:pos x="12" y="1"/>
                    </a:cxn>
                    <a:cxn ang="0">
                      <a:pos x="7" y="4"/>
                    </a:cxn>
                    <a:cxn ang="0">
                      <a:pos x="3" y="7"/>
                    </a:cxn>
                    <a:cxn ang="0">
                      <a:pos x="0" y="11"/>
                    </a:cxn>
                    <a:cxn ang="0">
                      <a:pos x="5" y="11"/>
                    </a:cxn>
                    <a:cxn ang="0">
                      <a:pos x="12" y="12"/>
                    </a:cxn>
                    <a:cxn ang="0">
                      <a:pos x="19" y="12"/>
                    </a:cxn>
                    <a:cxn ang="0">
                      <a:pos x="23" y="11"/>
                    </a:cxn>
                    <a:cxn ang="0">
                      <a:pos x="30" y="11"/>
                    </a:cxn>
                    <a:cxn ang="0">
                      <a:pos x="39" y="11"/>
                    </a:cxn>
                    <a:cxn ang="0">
                      <a:pos x="51" y="11"/>
                    </a:cxn>
                    <a:cxn ang="0">
                      <a:pos x="61" y="12"/>
                    </a:cxn>
                    <a:cxn ang="0">
                      <a:pos x="71" y="14"/>
                    </a:cxn>
                    <a:cxn ang="0">
                      <a:pos x="81" y="15"/>
                    </a:cxn>
                    <a:cxn ang="0">
                      <a:pos x="91" y="16"/>
                    </a:cxn>
                    <a:cxn ang="0">
                      <a:pos x="99" y="19"/>
                    </a:cxn>
                    <a:cxn ang="0">
                      <a:pos x="108" y="23"/>
                    </a:cxn>
                    <a:cxn ang="0">
                      <a:pos x="116" y="27"/>
                    </a:cxn>
                    <a:cxn ang="0">
                      <a:pos x="125" y="31"/>
                    </a:cxn>
                    <a:cxn ang="0">
                      <a:pos x="129" y="32"/>
                    </a:cxn>
                    <a:cxn ang="0">
                      <a:pos x="134" y="31"/>
                    </a:cxn>
                    <a:cxn ang="0">
                      <a:pos x="140" y="34"/>
                    </a:cxn>
                    <a:cxn ang="0">
                      <a:pos x="146" y="37"/>
                    </a:cxn>
                    <a:cxn ang="0">
                      <a:pos x="152" y="40"/>
                    </a:cxn>
                    <a:cxn ang="0">
                      <a:pos x="161" y="44"/>
                    </a:cxn>
                    <a:cxn ang="0">
                      <a:pos x="167" y="46"/>
                    </a:cxn>
                    <a:cxn ang="0">
                      <a:pos x="170" y="49"/>
                    </a:cxn>
                  </a:cxnLst>
                  <a:rect l="txL" t="txT" r="txR" b="txB"/>
                  <a:pathLst>
                    <a:path w="171" h="50">
                      <a:moveTo>
                        <a:pt x="170" y="49"/>
                      </a:moveTo>
                      <a:lnTo>
                        <a:pt x="167" y="40"/>
                      </a:lnTo>
                      <a:lnTo>
                        <a:pt x="163" y="33"/>
                      </a:lnTo>
                      <a:lnTo>
                        <a:pt x="160" y="31"/>
                      </a:lnTo>
                      <a:lnTo>
                        <a:pt x="153" y="29"/>
                      </a:lnTo>
                      <a:lnTo>
                        <a:pt x="147" y="27"/>
                      </a:lnTo>
                      <a:lnTo>
                        <a:pt x="140" y="29"/>
                      </a:lnTo>
                      <a:lnTo>
                        <a:pt x="132" y="30"/>
                      </a:lnTo>
                      <a:lnTo>
                        <a:pt x="123" y="27"/>
                      </a:lnTo>
                      <a:lnTo>
                        <a:pt x="111" y="22"/>
                      </a:lnTo>
                      <a:lnTo>
                        <a:pt x="100" y="18"/>
                      </a:lnTo>
                      <a:lnTo>
                        <a:pt x="92" y="16"/>
                      </a:lnTo>
                      <a:lnTo>
                        <a:pt x="80" y="12"/>
                      </a:lnTo>
                      <a:lnTo>
                        <a:pt x="67" y="8"/>
                      </a:lnTo>
                      <a:lnTo>
                        <a:pt x="55" y="5"/>
                      </a:lnTo>
                      <a:lnTo>
                        <a:pt x="42" y="1"/>
                      </a:lnTo>
                      <a:lnTo>
                        <a:pt x="28" y="1"/>
                      </a:lnTo>
                      <a:lnTo>
                        <a:pt x="15" y="0"/>
                      </a:lnTo>
                      <a:lnTo>
                        <a:pt x="12" y="1"/>
                      </a:lnTo>
                      <a:lnTo>
                        <a:pt x="7" y="4"/>
                      </a:lnTo>
                      <a:lnTo>
                        <a:pt x="3" y="7"/>
                      </a:lnTo>
                      <a:lnTo>
                        <a:pt x="0" y="11"/>
                      </a:lnTo>
                      <a:lnTo>
                        <a:pt x="5" y="11"/>
                      </a:lnTo>
                      <a:lnTo>
                        <a:pt x="12" y="12"/>
                      </a:lnTo>
                      <a:lnTo>
                        <a:pt x="19" y="12"/>
                      </a:lnTo>
                      <a:lnTo>
                        <a:pt x="23" y="11"/>
                      </a:lnTo>
                      <a:lnTo>
                        <a:pt x="30" y="11"/>
                      </a:lnTo>
                      <a:lnTo>
                        <a:pt x="39" y="11"/>
                      </a:lnTo>
                      <a:lnTo>
                        <a:pt x="51" y="11"/>
                      </a:lnTo>
                      <a:lnTo>
                        <a:pt x="61" y="12"/>
                      </a:lnTo>
                      <a:lnTo>
                        <a:pt x="71" y="14"/>
                      </a:lnTo>
                      <a:lnTo>
                        <a:pt x="81" y="15"/>
                      </a:lnTo>
                      <a:lnTo>
                        <a:pt x="91" y="16"/>
                      </a:lnTo>
                      <a:lnTo>
                        <a:pt x="99" y="19"/>
                      </a:lnTo>
                      <a:lnTo>
                        <a:pt x="108" y="23"/>
                      </a:lnTo>
                      <a:lnTo>
                        <a:pt x="116" y="27"/>
                      </a:lnTo>
                      <a:lnTo>
                        <a:pt x="125" y="31"/>
                      </a:lnTo>
                      <a:lnTo>
                        <a:pt x="129" y="32"/>
                      </a:lnTo>
                      <a:lnTo>
                        <a:pt x="134" y="31"/>
                      </a:lnTo>
                      <a:lnTo>
                        <a:pt x="140" y="34"/>
                      </a:lnTo>
                      <a:lnTo>
                        <a:pt x="146" y="37"/>
                      </a:lnTo>
                      <a:lnTo>
                        <a:pt x="152" y="40"/>
                      </a:lnTo>
                      <a:lnTo>
                        <a:pt x="161" y="44"/>
                      </a:lnTo>
                      <a:lnTo>
                        <a:pt x="167" y="46"/>
                      </a:lnTo>
                      <a:lnTo>
                        <a:pt x="170" y="49"/>
                      </a:lnTo>
                    </a:path>
                  </a:pathLst>
                </a:custGeom>
                <a:solidFill>
                  <a:srgbClr val="037C03">
                    <a:alpha val="50195"/>
                  </a:srgbClr>
                </a:solidFill>
                <a:ln w="9525">
                  <a:noFill/>
                </a:ln>
              </p:spPr>
              <p:txBody>
                <a:bodyPr/>
                <a:lstStyle/>
                <a:p>
                  <a:endParaRPr lang="zh-CN" altLang="en-US"/>
                </a:p>
              </p:txBody>
            </p:sp>
            <p:sp>
              <p:nvSpPr>
                <p:cNvPr id="89190" name="Freeform 152"/>
                <p:cNvSpPr/>
                <p:nvPr/>
              </p:nvSpPr>
              <p:spPr>
                <a:xfrm>
                  <a:off x="1707" y="1563"/>
                  <a:ext cx="177" cy="21"/>
                </a:xfrm>
                <a:custGeom>
                  <a:avLst/>
                  <a:gdLst>
                    <a:gd name="txL" fmla="*/ 0 w 177"/>
                    <a:gd name="txT" fmla="*/ 0 h 21"/>
                    <a:gd name="txR" fmla="*/ 177 w 177"/>
                    <a:gd name="txB" fmla="*/ 21 h 21"/>
                  </a:gdLst>
                  <a:ahLst/>
                  <a:cxnLst>
                    <a:cxn ang="0">
                      <a:pos x="176" y="20"/>
                    </a:cxn>
                    <a:cxn ang="0">
                      <a:pos x="171" y="18"/>
                    </a:cxn>
                    <a:cxn ang="0">
                      <a:pos x="166" y="16"/>
                    </a:cxn>
                    <a:cxn ang="0">
                      <a:pos x="161" y="13"/>
                    </a:cxn>
                    <a:cxn ang="0">
                      <a:pos x="155" y="12"/>
                    </a:cxn>
                    <a:cxn ang="0">
                      <a:pos x="149" y="10"/>
                    </a:cxn>
                    <a:cxn ang="0">
                      <a:pos x="141" y="6"/>
                    </a:cxn>
                    <a:cxn ang="0">
                      <a:pos x="134" y="3"/>
                    </a:cxn>
                    <a:cxn ang="0">
                      <a:pos x="128" y="2"/>
                    </a:cxn>
                    <a:cxn ang="0">
                      <a:pos x="120" y="3"/>
                    </a:cxn>
                    <a:cxn ang="0">
                      <a:pos x="110" y="5"/>
                    </a:cxn>
                    <a:cxn ang="0">
                      <a:pos x="106" y="5"/>
                    </a:cxn>
                    <a:cxn ang="0">
                      <a:pos x="93" y="3"/>
                    </a:cxn>
                    <a:cxn ang="0">
                      <a:pos x="78" y="1"/>
                    </a:cxn>
                    <a:cxn ang="0">
                      <a:pos x="69" y="0"/>
                    </a:cxn>
                    <a:cxn ang="0">
                      <a:pos x="57" y="0"/>
                    </a:cxn>
                    <a:cxn ang="0">
                      <a:pos x="44" y="0"/>
                    </a:cxn>
                    <a:cxn ang="0">
                      <a:pos x="36" y="1"/>
                    </a:cxn>
                    <a:cxn ang="0">
                      <a:pos x="27" y="2"/>
                    </a:cxn>
                    <a:cxn ang="0">
                      <a:pos x="18" y="3"/>
                    </a:cxn>
                    <a:cxn ang="0">
                      <a:pos x="9" y="4"/>
                    </a:cxn>
                    <a:cxn ang="0">
                      <a:pos x="8" y="8"/>
                    </a:cxn>
                    <a:cxn ang="0">
                      <a:pos x="7" y="11"/>
                    </a:cxn>
                    <a:cxn ang="0">
                      <a:pos x="4" y="15"/>
                    </a:cxn>
                    <a:cxn ang="0">
                      <a:pos x="0" y="17"/>
                    </a:cxn>
                    <a:cxn ang="0">
                      <a:pos x="7" y="16"/>
                    </a:cxn>
                    <a:cxn ang="0">
                      <a:pos x="15" y="14"/>
                    </a:cxn>
                    <a:cxn ang="0">
                      <a:pos x="22" y="12"/>
                    </a:cxn>
                    <a:cxn ang="0">
                      <a:pos x="29" y="11"/>
                    </a:cxn>
                    <a:cxn ang="0">
                      <a:pos x="37" y="10"/>
                    </a:cxn>
                    <a:cxn ang="0">
                      <a:pos x="50" y="10"/>
                    </a:cxn>
                    <a:cxn ang="0">
                      <a:pos x="63" y="8"/>
                    </a:cxn>
                    <a:cxn ang="0">
                      <a:pos x="79" y="8"/>
                    </a:cxn>
                    <a:cxn ang="0">
                      <a:pos x="94" y="7"/>
                    </a:cxn>
                    <a:cxn ang="0">
                      <a:pos x="108" y="6"/>
                    </a:cxn>
                    <a:cxn ang="0">
                      <a:pos x="120" y="7"/>
                    </a:cxn>
                    <a:cxn ang="0">
                      <a:pos x="129" y="10"/>
                    </a:cxn>
                    <a:cxn ang="0">
                      <a:pos x="138" y="12"/>
                    </a:cxn>
                    <a:cxn ang="0">
                      <a:pos x="148" y="14"/>
                    </a:cxn>
                    <a:cxn ang="0">
                      <a:pos x="159" y="17"/>
                    </a:cxn>
                    <a:cxn ang="0">
                      <a:pos x="167" y="18"/>
                    </a:cxn>
                    <a:cxn ang="0">
                      <a:pos x="176" y="20"/>
                    </a:cxn>
                  </a:cxnLst>
                  <a:rect l="txL" t="txT" r="txR" b="txB"/>
                  <a:pathLst>
                    <a:path w="177" h="21">
                      <a:moveTo>
                        <a:pt x="176" y="20"/>
                      </a:moveTo>
                      <a:lnTo>
                        <a:pt x="171" y="18"/>
                      </a:lnTo>
                      <a:lnTo>
                        <a:pt x="166" y="16"/>
                      </a:lnTo>
                      <a:lnTo>
                        <a:pt x="161" y="13"/>
                      </a:lnTo>
                      <a:lnTo>
                        <a:pt x="155" y="12"/>
                      </a:lnTo>
                      <a:lnTo>
                        <a:pt x="149" y="10"/>
                      </a:lnTo>
                      <a:lnTo>
                        <a:pt x="141" y="6"/>
                      </a:lnTo>
                      <a:lnTo>
                        <a:pt x="134" y="3"/>
                      </a:lnTo>
                      <a:lnTo>
                        <a:pt x="128" y="2"/>
                      </a:lnTo>
                      <a:lnTo>
                        <a:pt x="120" y="3"/>
                      </a:lnTo>
                      <a:lnTo>
                        <a:pt x="110" y="5"/>
                      </a:lnTo>
                      <a:lnTo>
                        <a:pt x="106" y="5"/>
                      </a:lnTo>
                      <a:lnTo>
                        <a:pt x="93" y="3"/>
                      </a:lnTo>
                      <a:lnTo>
                        <a:pt x="78" y="1"/>
                      </a:lnTo>
                      <a:lnTo>
                        <a:pt x="69" y="0"/>
                      </a:lnTo>
                      <a:lnTo>
                        <a:pt x="57" y="0"/>
                      </a:lnTo>
                      <a:lnTo>
                        <a:pt x="44" y="0"/>
                      </a:lnTo>
                      <a:lnTo>
                        <a:pt x="36" y="1"/>
                      </a:lnTo>
                      <a:lnTo>
                        <a:pt x="27" y="2"/>
                      </a:lnTo>
                      <a:lnTo>
                        <a:pt x="18" y="3"/>
                      </a:lnTo>
                      <a:lnTo>
                        <a:pt x="9" y="4"/>
                      </a:lnTo>
                      <a:lnTo>
                        <a:pt x="8" y="8"/>
                      </a:lnTo>
                      <a:lnTo>
                        <a:pt x="7" y="11"/>
                      </a:lnTo>
                      <a:lnTo>
                        <a:pt x="4" y="15"/>
                      </a:lnTo>
                      <a:lnTo>
                        <a:pt x="0" y="17"/>
                      </a:lnTo>
                      <a:lnTo>
                        <a:pt x="7" y="16"/>
                      </a:lnTo>
                      <a:lnTo>
                        <a:pt x="15" y="14"/>
                      </a:lnTo>
                      <a:lnTo>
                        <a:pt x="22" y="12"/>
                      </a:lnTo>
                      <a:lnTo>
                        <a:pt x="29" y="11"/>
                      </a:lnTo>
                      <a:lnTo>
                        <a:pt x="37" y="10"/>
                      </a:lnTo>
                      <a:lnTo>
                        <a:pt x="50" y="10"/>
                      </a:lnTo>
                      <a:lnTo>
                        <a:pt x="63" y="8"/>
                      </a:lnTo>
                      <a:lnTo>
                        <a:pt x="79" y="8"/>
                      </a:lnTo>
                      <a:lnTo>
                        <a:pt x="94" y="7"/>
                      </a:lnTo>
                      <a:lnTo>
                        <a:pt x="108" y="6"/>
                      </a:lnTo>
                      <a:lnTo>
                        <a:pt x="120" y="7"/>
                      </a:lnTo>
                      <a:lnTo>
                        <a:pt x="129" y="10"/>
                      </a:lnTo>
                      <a:lnTo>
                        <a:pt x="138" y="12"/>
                      </a:lnTo>
                      <a:lnTo>
                        <a:pt x="148" y="14"/>
                      </a:lnTo>
                      <a:lnTo>
                        <a:pt x="159" y="17"/>
                      </a:lnTo>
                      <a:lnTo>
                        <a:pt x="167" y="18"/>
                      </a:lnTo>
                      <a:lnTo>
                        <a:pt x="176" y="20"/>
                      </a:lnTo>
                    </a:path>
                  </a:pathLst>
                </a:custGeom>
                <a:solidFill>
                  <a:srgbClr val="037C03">
                    <a:alpha val="50195"/>
                  </a:srgbClr>
                </a:solidFill>
                <a:ln w="9525">
                  <a:noFill/>
                </a:ln>
              </p:spPr>
              <p:txBody>
                <a:bodyPr/>
                <a:lstStyle/>
                <a:p>
                  <a:endParaRPr lang="zh-CN" altLang="en-US"/>
                </a:p>
              </p:txBody>
            </p:sp>
          </p:grpSp>
          <p:sp>
            <p:nvSpPr>
              <p:cNvPr id="89186" name="Freeform 153"/>
              <p:cNvSpPr/>
              <p:nvPr/>
            </p:nvSpPr>
            <p:spPr>
              <a:xfrm>
                <a:off x="1691" y="1023"/>
                <a:ext cx="261" cy="374"/>
              </a:xfrm>
              <a:custGeom>
                <a:avLst/>
                <a:gdLst>
                  <a:gd name="txL" fmla="*/ 0 w 261"/>
                  <a:gd name="txT" fmla="*/ 0 h 374"/>
                  <a:gd name="txR" fmla="*/ 261 w 261"/>
                  <a:gd name="txB" fmla="*/ 374 h 374"/>
                </a:gdLst>
                <a:ahLst/>
                <a:cxnLst>
                  <a:cxn ang="0">
                    <a:pos x="82" y="162"/>
                  </a:cxn>
                  <a:cxn ang="0">
                    <a:pos x="90" y="154"/>
                  </a:cxn>
                  <a:cxn ang="0">
                    <a:pos x="76" y="104"/>
                  </a:cxn>
                  <a:cxn ang="0">
                    <a:pos x="54" y="56"/>
                  </a:cxn>
                  <a:cxn ang="0">
                    <a:pos x="31" y="33"/>
                  </a:cxn>
                  <a:cxn ang="0">
                    <a:pos x="51" y="45"/>
                  </a:cxn>
                  <a:cxn ang="0">
                    <a:pos x="72" y="84"/>
                  </a:cxn>
                  <a:cxn ang="0">
                    <a:pos x="92" y="126"/>
                  </a:cxn>
                  <a:cxn ang="0">
                    <a:pos x="106" y="168"/>
                  </a:cxn>
                  <a:cxn ang="0">
                    <a:pos x="118" y="150"/>
                  </a:cxn>
                  <a:cxn ang="0">
                    <a:pos x="121" y="114"/>
                  </a:cxn>
                  <a:cxn ang="0">
                    <a:pos x="125" y="65"/>
                  </a:cxn>
                  <a:cxn ang="0">
                    <a:pos x="136" y="26"/>
                  </a:cxn>
                  <a:cxn ang="0">
                    <a:pos x="143" y="12"/>
                  </a:cxn>
                  <a:cxn ang="0">
                    <a:pos x="136" y="53"/>
                  </a:cxn>
                  <a:cxn ang="0">
                    <a:pos x="132" y="106"/>
                  </a:cxn>
                  <a:cxn ang="0">
                    <a:pos x="130" y="155"/>
                  </a:cxn>
                  <a:cxn ang="0">
                    <a:pos x="136" y="183"/>
                  </a:cxn>
                  <a:cxn ang="0">
                    <a:pos x="166" y="177"/>
                  </a:cxn>
                  <a:cxn ang="0">
                    <a:pos x="205" y="178"/>
                  </a:cxn>
                  <a:cxn ang="0">
                    <a:pos x="236" y="193"/>
                  </a:cxn>
                  <a:cxn ang="0">
                    <a:pos x="260" y="227"/>
                  </a:cxn>
                  <a:cxn ang="0">
                    <a:pos x="231" y="222"/>
                  </a:cxn>
                  <a:cxn ang="0">
                    <a:pos x="200" y="211"/>
                  </a:cxn>
                  <a:cxn ang="0">
                    <a:pos x="159" y="204"/>
                  </a:cxn>
                  <a:cxn ang="0">
                    <a:pos x="132" y="208"/>
                  </a:cxn>
                  <a:cxn ang="0">
                    <a:pos x="147" y="224"/>
                  </a:cxn>
                  <a:cxn ang="0">
                    <a:pos x="182" y="233"/>
                  </a:cxn>
                  <a:cxn ang="0">
                    <a:pos x="217" y="240"/>
                  </a:cxn>
                  <a:cxn ang="0">
                    <a:pos x="243" y="264"/>
                  </a:cxn>
                  <a:cxn ang="0">
                    <a:pos x="256" y="297"/>
                  </a:cxn>
                  <a:cxn ang="0">
                    <a:pos x="224" y="277"/>
                  </a:cxn>
                  <a:cxn ang="0">
                    <a:pos x="191" y="256"/>
                  </a:cxn>
                  <a:cxn ang="0">
                    <a:pos x="160" y="238"/>
                  </a:cxn>
                  <a:cxn ang="0">
                    <a:pos x="136" y="230"/>
                  </a:cxn>
                  <a:cxn ang="0">
                    <a:pos x="121" y="246"/>
                  </a:cxn>
                  <a:cxn ang="0">
                    <a:pos x="135" y="290"/>
                  </a:cxn>
                  <a:cxn ang="0">
                    <a:pos x="145" y="342"/>
                  </a:cxn>
                  <a:cxn ang="0">
                    <a:pos x="127" y="346"/>
                  </a:cxn>
                  <a:cxn ang="0">
                    <a:pos x="116" y="290"/>
                  </a:cxn>
                  <a:cxn ang="0">
                    <a:pos x="101" y="256"/>
                  </a:cxn>
                  <a:cxn ang="0">
                    <a:pos x="83" y="274"/>
                  </a:cxn>
                  <a:cxn ang="0">
                    <a:pos x="64" y="309"/>
                  </a:cxn>
                  <a:cxn ang="0">
                    <a:pos x="44" y="360"/>
                  </a:cxn>
                  <a:cxn ang="0">
                    <a:pos x="51" y="314"/>
                  </a:cxn>
                  <a:cxn ang="0">
                    <a:pos x="69" y="272"/>
                  </a:cxn>
                  <a:cxn ang="0">
                    <a:pos x="91" y="238"/>
                  </a:cxn>
                  <a:cxn ang="0">
                    <a:pos x="99" y="212"/>
                  </a:cxn>
                  <a:cxn ang="0">
                    <a:pos x="77" y="226"/>
                  </a:cxn>
                  <a:cxn ang="0">
                    <a:pos x="52" y="261"/>
                  </a:cxn>
                  <a:cxn ang="0">
                    <a:pos x="28" y="301"/>
                  </a:cxn>
                  <a:cxn ang="0">
                    <a:pos x="24" y="288"/>
                  </a:cxn>
                  <a:cxn ang="0">
                    <a:pos x="42" y="262"/>
                  </a:cxn>
                  <a:cxn ang="0">
                    <a:pos x="71" y="229"/>
                  </a:cxn>
                  <a:cxn ang="0">
                    <a:pos x="101" y="206"/>
                  </a:cxn>
                  <a:cxn ang="0">
                    <a:pos x="73" y="180"/>
                  </a:cxn>
                  <a:cxn ang="0">
                    <a:pos x="46" y="148"/>
                  </a:cxn>
                  <a:cxn ang="0">
                    <a:pos x="17" y="118"/>
                  </a:cxn>
                  <a:cxn ang="0">
                    <a:pos x="3" y="98"/>
                  </a:cxn>
                  <a:cxn ang="0">
                    <a:pos x="32" y="115"/>
                  </a:cxn>
                  <a:cxn ang="0">
                    <a:pos x="64" y="145"/>
                  </a:cxn>
                </a:cxnLst>
                <a:rect l="txL" t="txT" r="txR" b="txB"/>
                <a:pathLst>
                  <a:path w="261" h="374">
                    <a:moveTo>
                      <a:pt x="64" y="145"/>
                    </a:moveTo>
                    <a:lnTo>
                      <a:pt x="68" y="150"/>
                    </a:lnTo>
                    <a:lnTo>
                      <a:pt x="72" y="154"/>
                    </a:lnTo>
                    <a:lnTo>
                      <a:pt x="77" y="157"/>
                    </a:lnTo>
                    <a:lnTo>
                      <a:pt x="82" y="162"/>
                    </a:lnTo>
                    <a:lnTo>
                      <a:pt x="86" y="165"/>
                    </a:lnTo>
                    <a:lnTo>
                      <a:pt x="91" y="168"/>
                    </a:lnTo>
                    <a:lnTo>
                      <a:pt x="94" y="170"/>
                    </a:lnTo>
                    <a:lnTo>
                      <a:pt x="92" y="162"/>
                    </a:lnTo>
                    <a:lnTo>
                      <a:pt x="90" y="154"/>
                    </a:lnTo>
                    <a:lnTo>
                      <a:pt x="87" y="143"/>
                    </a:lnTo>
                    <a:lnTo>
                      <a:pt x="85" y="134"/>
                    </a:lnTo>
                    <a:lnTo>
                      <a:pt x="82" y="124"/>
                    </a:lnTo>
                    <a:lnTo>
                      <a:pt x="80" y="114"/>
                    </a:lnTo>
                    <a:lnTo>
                      <a:pt x="76" y="104"/>
                    </a:lnTo>
                    <a:lnTo>
                      <a:pt x="72" y="93"/>
                    </a:lnTo>
                    <a:lnTo>
                      <a:pt x="68" y="84"/>
                    </a:lnTo>
                    <a:lnTo>
                      <a:pt x="63" y="71"/>
                    </a:lnTo>
                    <a:lnTo>
                      <a:pt x="59" y="63"/>
                    </a:lnTo>
                    <a:lnTo>
                      <a:pt x="54" y="56"/>
                    </a:lnTo>
                    <a:lnTo>
                      <a:pt x="50" y="48"/>
                    </a:lnTo>
                    <a:lnTo>
                      <a:pt x="44" y="42"/>
                    </a:lnTo>
                    <a:lnTo>
                      <a:pt x="39" y="38"/>
                    </a:lnTo>
                    <a:lnTo>
                      <a:pt x="34" y="35"/>
                    </a:lnTo>
                    <a:lnTo>
                      <a:pt x="31" y="33"/>
                    </a:lnTo>
                    <a:lnTo>
                      <a:pt x="35" y="32"/>
                    </a:lnTo>
                    <a:lnTo>
                      <a:pt x="37" y="33"/>
                    </a:lnTo>
                    <a:lnTo>
                      <a:pt x="41" y="34"/>
                    </a:lnTo>
                    <a:lnTo>
                      <a:pt x="45" y="39"/>
                    </a:lnTo>
                    <a:lnTo>
                      <a:pt x="51" y="45"/>
                    </a:lnTo>
                    <a:lnTo>
                      <a:pt x="55" y="50"/>
                    </a:lnTo>
                    <a:lnTo>
                      <a:pt x="58" y="56"/>
                    </a:lnTo>
                    <a:lnTo>
                      <a:pt x="63" y="64"/>
                    </a:lnTo>
                    <a:lnTo>
                      <a:pt x="68" y="75"/>
                    </a:lnTo>
                    <a:lnTo>
                      <a:pt x="72" y="84"/>
                    </a:lnTo>
                    <a:lnTo>
                      <a:pt x="77" y="94"/>
                    </a:lnTo>
                    <a:lnTo>
                      <a:pt x="81" y="101"/>
                    </a:lnTo>
                    <a:lnTo>
                      <a:pt x="86" y="109"/>
                    </a:lnTo>
                    <a:lnTo>
                      <a:pt x="89" y="117"/>
                    </a:lnTo>
                    <a:lnTo>
                      <a:pt x="92" y="126"/>
                    </a:lnTo>
                    <a:lnTo>
                      <a:pt x="95" y="135"/>
                    </a:lnTo>
                    <a:lnTo>
                      <a:pt x="99" y="143"/>
                    </a:lnTo>
                    <a:lnTo>
                      <a:pt x="101" y="151"/>
                    </a:lnTo>
                    <a:lnTo>
                      <a:pt x="104" y="161"/>
                    </a:lnTo>
                    <a:lnTo>
                      <a:pt x="106" y="168"/>
                    </a:lnTo>
                    <a:lnTo>
                      <a:pt x="107" y="171"/>
                    </a:lnTo>
                    <a:lnTo>
                      <a:pt x="110" y="168"/>
                    </a:lnTo>
                    <a:lnTo>
                      <a:pt x="113" y="164"/>
                    </a:lnTo>
                    <a:lnTo>
                      <a:pt x="117" y="159"/>
                    </a:lnTo>
                    <a:lnTo>
                      <a:pt x="118" y="150"/>
                    </a:lnTo>
                    <a:lnTo>
                      <a:pt x="119" y="143"/>
                    </a:lnTo>
                    <a:lnTo>
                      <a:pt x="120" y="133"/>
                    </a:lnTo>
                    <a:lnTo>
                      <a:pt x="121" y="124"/>
                    </a:lnTo>
                    <a:lnTo>
                      <a:pt x="120" y="124"/>
                    </a:lnTo>
                    <a:lnTo>
                      <a:pt x="121" y="114"/>
                    </a:lnTo>
                    <a:lnTo>
                      <a:pt x="121" y="103"/>
                    </a:lnTo>
                    <a:lnTo>
                      <a:pt x="122" y="92"/>
                    </a:lnTo>
                    <a:lnTo>
                      <a:pt x="122" y="82"/>
                    </a:lnTo>
                    <a:lnTo>
                      <a:pt x="123" y="75"/>
                    </a:lnTo>
                    <a:lnTo>
                      <a:pt x="125" y="65"/>
                    </a:lnTo>
                    <a:lnTo>
                      <a:pt x="127" y="58"/>
                    </a:lnTo>
                    <a:lnTo>
                      <a:pt x="128" y="50"/>
                    </a:lnTo>
                    <a:lnTo>
                      <a:pt x="131" y="44"/>
                    </a:lnTo>
                    <a:lnTo>
                      <a:pt x="133" y="36"/>
                    </a:lnTo>
                    <a:lnTo>
                      <a:pt x="136" y="26"/>
                    </a:lnTo>
                    <a:lnTo>
                      <a:pt x="139" y="16"/>
                    </a:lnTo>
                    <a:lnTo>
                      <a:pt x="140" y="7"/>
                    </a:lnTo>
                    <a:lnTo>
                      <a:pt x="143" y="0"/>
                    </a:lnTo>
                    <a:lnTo>
                      <a:pt x="144" y="6"/>
                    </a:lnTo>
                    <a:lnTo>
                      <a:pt x="143" y="12"/>
                    </a:lnTo>
                    <a:lnTo>
                      <a:pt x="142" y="21"/>
                    </a:lnTo>
                    <a:lnTo>
                      <a:pt x="140" y="28"/>
                    </a:lnTo>
                    <a:lnTo>
                      <a:pt x="138" y="40"/>
                    </a:lnTo>
                    <a:lnTo>
                      <a:pt x="137" y="47"/>
                    </a:lnTo>
                    <a:lnTo>
                      <a:pt x="136" y="53"/>
                    </a:lnTo>
                    <a:lnTo>
                      <a:pt x="135" y="62"/>
                    </a:lnTo>
                    <a:lnTo>
                      <a:pt x="134" y="72"/>
                    </a:lnTo>
                    <a:lnTo>
                      <a:pt x="134" y="83"/>
                    </a:lnTo>
                    <a:lnTo>
                      <a:pt x="133" y="94"/>
                    </a:lnTo>
                    <a:lnTo>
                      <a:pt x="132" y="106"/>
                    </a:lnTo>
                    <a:lnTo>
                      <a:pt x="132" y="116"/>
                    </a:lnTo>
                    <a:lnTo>
                      <a:pt x="132" y="126"/>
                    </a:lnTo>
                    <a:lnTo>
                      <a:pt x="131" y="134"/>
                    </a:lnTo>
                    <a:lnTo>
                      <a:pt x="131" y="145"/>
                    </a:lnTo>
                    <a:lnTo>
                      <a:pt x="130" y="155"/>
                    </a:lnTo>
                    <a:lnTo>
                      <a:pt x="128" y="168"/>
                    </a:lnTo>
                    <a:lnTo>
                      <a:pt x="127" y="178"/>
                    </a:lnTo>
                    <a:lnTo>
                      <a:pt x="125" y="190"/>
                    </a:lnTo>
                    <a:lnTo>
                      <a:pt x="130" y="187"/>
                    </a:lnTo>
                    <a:lnTo>
                      <a:pt x="136" y="183"/>
                    </a:lnTo>
                    <a:lnTo>
                      <a:pt x="143" y="178"/>
                    </a:lnTo>
                    <a:lnTo>
                      <a:pt x="149" y="176"/>
                    </a:lnTo>
                    <a:lnTo>
                      <a:pt x="156" y="176"/>
                    </a:lnTo>
                    <a:lnTo>
                      <a:pt x="160" y="176"/>
                    </a:lnTo>
                    <a:lnTo>
                      <a:pt x="166" y="177"/>
                    </a:lnTo>
                    <a:lnTo>
                      <a:pt x="173" y="178"/>
                    </a:lnTo>
                    <a:lnTo>
                      <a:pt x="182" y="179"/>
                    </a:lnTo>
                    <a:lnTo>
                      <a:pt x="190" y="178"/>
                    </a:lnTo>
                    <a:lnTo>
                      <a:pt x="198" y="178"/>
                    </a:lnTo>
                    <a:lnTo>
                      <a:pt x="205" y="178"/>
                    </a:lnTo>
                    <a:lnTo>
                      <a:pt x="211" y="179"/>
                    </a:lnTo>
                    <a:lnTo>
                      <a:pt x="217" y="182"/>
                    </a:lnTo>
                    <a:lnTo>
                      <a:pt x="225" y="185"/>
                    </a:lnTo>
                    <a:lnTo>
                      <a:pt x="231" y="189"/>
                    </a:lnTo>
                    <a:lnTo>
                      <a:pt x="236" y="193"/>
                    </a:lnTo>
                    <a:lnTo>
                      <a:pt x="242" y="199"/>
                    </a:lnTo>
                    <a:lnTo>
                      <a:pt x="245" y="202"/>
                    </a:lnTo>
                    <a:lnTo>
                      <a:pt x="251" y="210"/>
                    </a:lnTo>
                    <a:lnTo>
                      <a:pt x="255" y="218"/>
                    </a:lnTo>
                    <a:lnTo>
                      <a:pt x="260" y="227"/>
                    </a:lnTo>
                    <a:lnTo>
                      <a:pt x="254" y="227"/>
                    </a:lnTo>
                    <a:lnTo>
                      <a:pt x="248" y="226"/>
                    </a:lnTo>
                    <a:lnTo>
                      <a:pt x="241" y="224"/>
                    </a:lnTo>
                    <a:lnTo>
                      <a:pt x="235" y="224"/>
                    </a:lnTo>
                    <a:lnTo>
                      <a:pt x="231" y="222"/>
                    </a:lnTo>
                    <a:lnTo>
                      <a:pt x="224" y="218"/>
                    </a:lnTo>
                    <a:lnTo>
                      <a:pt x="218" y="216"/>
                    </a:lnTo>
                    <a:lnTo>
                      <a:pt x="213" y="213"/>
                    </a:lnTo>
                    <a:lnTo>
                      <a:pt x="209" y="212"/>
                    </a:lnTo>
                    <a:lnTo>
                      <a:pt x="200" y="211"/>
                    </a:lnTo>
                    <a:lnTo>
                      <a:pt x="190" y="210"/>
                    </a:lnTo>
                    <a:lnTo>
                      <a:pt x="182" y="208"/>
                    </a:lnTo>
                    <a:lnTo>
                      <a:pt x="173" y="206"/>
                    </a:lnTo>
                    <a:lnTo>
                      <a:pt x="165" y="205"/>
                    </a:lnTo>
                    <a:lnTo>
                      <a:pt x="159" y="204"/>
                    </a:lnTo>
                    <a:lnTo>
                      <a:pt x="154" y="204"/>
                    </a:lnTo>
                    <a:lnTo>
                      <a:pt x="148" y="203"/>
                    </a:lnTo>
                    <a:lnTo>
                      <a:pt x="142" y="204"/>
                    </a:lnTo>
                    <a:lnTo>
                      <a:pt x="137" y="205"/>
                    </a:lnTo>
                    <a:lnTo>
                      <a:pt x="132" y="208"/>
                    </a:lnTo>
                    <a:lnTo>
                      <a:pt x="125" y="210"/>
                    </a:lnTo>
                    <a:lnTo>
                      <a:pt x="130" y="213"/>
                    </a:lnTo>
                    <a:lnTo>
                      <a:pt x="136" y="217"/>
                    </a:lnTo>
                    <a:lnTo>
                      <a:pt x="141" y="222"/>
                    </a:lnTo>
                    <a:lnTo>
                      <a:pt x="147" y="224"/>
                    </a:lnTo>
                    <a:lnTo>
                      <a:pt x="154" y="227"/>
                    </a:lnTo>
                    <a:lnTo>
                      <a:pt x="160" y="229"/>
                    </a:lnTo>
                    <a:lnTo>
                      <a:pt x="166" y="229"/>
                    </a:lnTo>
                    <a:lnTo>
                      <a:pt x="173" y="231"/>
                    </a:lnTo>
                    <a:lnTo>
                      <a:pt x="182" y="233"/>
                    </a:lnTo>
                    <a:lnTo>
                      <a:pt x="189" y="235"/>
                    </a:lnTo>
                    <a:lnTo>
                      <a:pt x="197" y="235"/>
                    </a:lnTo>
                    <a:lnTo>
                      <a:pt x="203" y="237"/>
                    </a:lnTo>
                    <a:lnTo>
                      <a:pt x="210" y="239"/>
                    </a:lnTo>
                    <a:lnTo>
                      <a:pt x="217" y="240"/>
                    </a:lnTo>
                    <a:lnTo>
                      <a:pt x="222" y="243"/>
                    </a:lnTo>
                    <a:lnTo>
                      <a:pt x="227" y="247"/>
                    </a:lnTo>
                    <a:lnTo>
                      <a:pt x="232" y="252"/>
                    </a:lnTo>
                    <a:lnTo>
                      <a:pt x="238" y="257"/>
                    </a:lnTo>
                    <a:lnTo>
                      <a:pt x="243" y="264"/>
                    </a:lnTo>
                    <a:lnTo>
                      <a:pt x="245" y="268"/>
                    </a:lnTo>
                    <a:lnTo>
                      <a:pt x="248" y="275"/>
                    </a:lnTo>
                    <a:lnTo>
                      <a:pt x="250" y="283"/>
                    </a:lnTo>
                    <a:lnTo>
                      <a:pt x="253" y="291"/>
                    </a:lnTo>
                    <a:lnTo>
                      <a:pt x="256" y="297"/>
                    </a:lnTo>
                    <a:lnTo>
                      <a:pt x="250" y="293"/>
                    </a:lnTo>
                    <a:lnTo>
                      <a:pt x="243" y="289"/>
                    </a:lnTo>
                    <a:lnTo>
                      <a:pt x="238" y="286"/>
                    </a:lnTo>
                    <a:lnTo>
                      <a:pt x="231" y="281"/>
                    </a:lnTo>
                    <a:lnTo>
                      <a:pt x="224" y="277"/>
                    </a:lnTo>
                    <a:lnTo>
                      <a:pt x="218" y="273"/>
                    </a:lnTo>
                    <a:lnTo>
                      <a:pt x="211" y="269"/>
                    </a:lnTo>
                    <a:lnTo>
                      <a:pt x="204" y="264"/>
                    </a:lnTo>
                    <a:lnTo>
                      <a:pt x="198" y="260"/>
                    </a:lnTo>
                    <a:lnTo>
                      <a:pt x="191" y="256"/>
                    </a:lnTo>
                    <a:lnTo>
                      <a:pt x="186" y="252"/>
                    </a:lnTo>
                    <a:lnTo>
                      <a:pt x="179" y="248"/>
                    </a:lnTo>
                    <a:lnTo>
                      <a:pt x="173" y="245"/>
                    </a:lnTo>
                    <a:lnTo>
                      <a:pt x="166" y="241"/>
                    </a:lnTo>
                    <a:lnTo>
                      <a:pt x="160" y="238"/>
                    </a:lnTo>
                    <a:lnTo>
                      <a:pt x="155" y="237"/>
                    </a:lnTo>
                    <a:lnTo>
                      <a:pt x="150" y="234"/>
                    </a:lnTo>
                    <a:lnTo>
                      <a:pt x="144" y="231"/>
                    </a:lnTo>
                    <a:lnTo>
                      <a:pt x="140" y="229"/>
                    </a:lnTo>
                    <a:lnTo>
                      <a:pt x="136" y="230"/>
                    </a:lnTo>
                    <a:lnTo>
                      <a:pt x="131" y="231"/>
                    </a:lnTo>
                    <a:lnTo>
                      <a:pt x="128" y="231"/>
                    </a:lnTo>
                    <a:lnTo>
                      <a:pt x="123" y="229"/>
                    </a:lnTo>
                    <a:lnTo>
                      <a:pt x="123" y="237"/>
                    </a:lnTo>
                    <a:lnTo>
                      <a:pt x="121" y="246"/>
                    </a:lnTo>
                    <a:lnTo>
                      <a:pt x="124" y="254"/>
                    </a:lnTo>
                    <a:lnTo>
                      <a:pt x="127" y="263"/>
                    </a:lnTo>
                    <a:lnTo>
                      <a:pt x="130" y="271"/>
                    </a:lnTo>
                    <a:lnTo>
                      <a:pt x="132" y="280"/>
                    </a:lnTo>
                    <a:lnTo>
                      <a:pt x="135" y="290"/>
                    </a:lnTo>
                    <a:lnTo>
                      <a:pt x="138" y="302"/>
                    </a:lnTo>
                    <a:lnTo>
                      <a:pt x="139" y="311"/>
                    </a:lnTo>
                    <a:lnTo>
                      <a:pt x="142" y="321"/>
                    </a:lnTo>
                    <a:lnTo>
                      <a:pt x="143" y="330"/>
                    </a:lnTo>
                    <a:lnTo>
                      <a:pt x="145" y="342"/>
                    </a:lnTo>
                    <a:lnTo>
                      <a:pt x="148" y="355"/>
                    </a:lnTo>
                    <a:lnTo>
                      <a:pt x="150" y="373"/>
                    </a:lnTo>
                    <a:lnTo>
                      <a:pt x="130" y="373"/>
                    </a:lnTo>
                    <a:lnTo>
                      <a:pt x="128" y="357"/>
                    </a:lnTo>
                    <a:lnTo>
                      <a:pt x="127" y="346"/>
                    </a:lnTo>
                    <a:lnTo>
                      <a:pt x="124" y="332"/>
                    </a:lnTo>
                    <a:lnTo>
                      <a:pt x="122" y="319"/>
                    </a:lnTo>
                    <a:lnTo>
                      <a:pt x="120" y="308"/>
                    </a:lnTo>
                    <a:lnTo>
                      <a:pt x="118" y="298"/>
                    </a:lnTo>
                    <a:lnTo>
                      <a:pt x="116" y="290"/>
                    </a:lnTo>
                    <a:lnTo>
                      <a:pt x="113" y="279"/>
                    </a:lnTo>
                    <a:lnTo>
                      <a:pt x="109" y="269"/>
                    </a:lnTo>
                    <a:lnTo>
                      <a:pt x="107" y="260"/>
                    </a:lnTo>
                    <a:lnTo>
                      <a:pt x="104" y="258"/>
                    </a:lnTo>
                    <a:lnTo>
                      <a:pt x="101" y="256"/>
                    </a:lnTo>
                    <a:lnTo>
                      <a:pt x="98" y="254"/>
                    </a:lnTo>
                    <a:lnTo>
                      <a:pt x="96" y="255"/>
                    </a:lnTo>
                    <a:lnTo>
                      <a:pt x="93" y="260"/>
                    </a:lnTo>
                    <a:lnTo>
                      <a:pt x="87" y="268"/>
                    </a:lnTo>
                    <a:lnTo>
                      <a:pt x="83" y="274"/>
                    </a:lnTo>
                    <a:lnTo>
                      <a:pt x="79" y="280"/>
                    </a:lnTo>
                    <a:lnTo>
                      <a:pt x="76" y="288"/>
                    </a:lnTo>
                    <a:lnTo>
                      <a:pt x="72" y="293"/>
                    </a:lnTo>
                    <a:lnTo>
                      <a:pt x="68" y="301"/>
                    </a:lnTo>
                    <a:lnTo>
                      <a:pt x="64" y="309"/>
                    </a:lnTo>
                    <a:lnTo>
                      <a:pt x="61" y="318"/>
                    </a:lnTo>
                    <a:lnTo>
                      <a:pt x="57" y="327"/>
                    </a:lnTo>
                    <a:lnTo>
                      <a:pt x="53" y="337"/>
                    </a:lnTo>
                    <a:lnTo>
                      <a:pt x="49" y="348"/>
                    </a:lnTo>
                    <a:lnTo>
                      <a:pt x="44" y="360"/>
                    </a:lnTo>
                    <a:lnTo>
                      <a:pt x="46" y="346"/>
                    </a:lnTo>
                    <a:lnTo>
                      <a:pt x="47" y="336"/>
                    </a:lnTo>
                    <a:lnTo>
                      <a:pt x="48" y="325"/>
                    </a:lnTo>
                    <a:lnTo>
                      <a:pt x="50" y="319"/>
                    </a:lnTo>
                    <a:lnTo>
                      <a:pt x="51" y="314"/>
                    </a:lnTo>
                    <a:lnTo>
                      <a:pt x="54" y="305"/>
                    </a:lnTo>
                    <a:lnTo>
                      <a:pt x="57" y="295"/>
                    </a:lnTo>
                    <a:lnTo>
                      <a:pt x="59" y="288"/>
                    </a:lnTo>
                    <a:lnTo>
                      <a:pt x="64" y="280"/>
                    </a:lnTo>
                    <a:lnTo>
                      <a:pt x="69" y="272"/>
                    </a:lnTo>
                    <a:lnTo>
                      <a:pt x="73" y="263"/>
                    </a:lnTo>
                    <a:lnTo>
                      <a:pt x="78" y="254"/>
                    </a:lnTo>
                    <a:lnTo>
                      <a:pt x="81" y="249"/>
                    </a:lnTo>
                    <a:lnTo>
                      <a:pt x="86" y="244"/>
                    </a:lnTo>
                    <a:lnTo>
                      <a:pt x="91" y="238"/>
                    </a:lnTo>
                    <a:lnTo>
                      <a:pt x="95" y="232"/>
                    </a:lnTo>
                    <a:lnTo>
                      <a:pt x="100" y="226"/>
                    </a:lnTo>
                    <a:lnTo>
                      <a:pt x="105" y="218"/>
                    </a:lnTo>
                    <a:lnTo>
                      <a:pt x="103" y="216"/>
                    </a:lnTo>
                    <a:lnTo>
                      <a:pt x="99" y="212"/>
                    </a:lnTo>
                    <a:lnTo>
                      <a:pt x="96" y="210"/>
                    </a:lnTo>
                    <a:lnTo>
                      <a:pt x="93" y="211"/>
                    </a:lnTo>
                    <a:lnTo>
                      <a:pt x="87" y="216"/>
                    </a:lnTo>
                    <a:lnTo>
                      <a:pt x="82" y="221"/>
                    </a:lnTo>
                    <a:lnTo>
                      <a:pt x="77" y="226"/>
                    </a:lnTo>
                    <a:lnTo>
                      <a:pt x="72" y="232"/>
                    </a:lnTo>
                    <a:lnTo>
                      <a:pt x="67" y="241"/>
                    </a:lnTo>
                    <a:lnTo>
                      <a:pt x="61" y="249"/>
                    </a:lnTo>
                    <a:lnTo>
                      <a:pt x="56" y="255"/>
                    </a:lnTo>
                    <a:lnTo>
                      <a:pt x="52" y="261"/>
                    </a:lnTo>
                    <a:lnTo>
                      <a:pt x="47" y="268"/>
                    </a:lnTo>
                    <a:lnTo>
                      <a:pt x="42" y="276"/>
                    </a:lnTo>
                    <a:lnTo>
                      <a:pt x="38" y="284"/>
                    </a:lnTo>
                    <a:lnTo>
                      <a:pt x="33" y="293"/>
                    </a:lnTo>
                    <a:lnTo>
                      <a:pt x="28" y="301"/>
                    </a:lnTo>
                    <a:lnTo>
                      <a:pt x="24" y="310"/>
                    </a:lnTo>
                    <a:lnTo>
                      <a:pt x="18" y="321"/>
                    </a:lnTo>
                    <a:lnTo>
                      <a:pt x="21" y="307"/>
                    </a:lnTo>
                    <a:lnTo>
                      <a:pt x="22" y="297"/>
                    </a:lnTo>
                    <a:lnTo>
                      <a:pt x="24" y="288"/>
                    </a:lnTo>
                    <a:lnTo>
                      <a:pt x="25" y="286"/>
                    </a:lnTo>
                    <a:lnTo>
                      <a:pt x="28" y="281"/>
                    </a:lnTo>
                    <a:lnTo>
                      <a:pt x="32" y="275"/>
                    </a:lnTo>
                    <a:lnTo>
                      <a:pt x="37" y="269"/>
                    </a:lnTo>
                    <a:lnTo>
                      <a:pt x="42" y="262"/>
                    </a:lnTo>
                    <a:lnTo>
                      <a:pt x="47" y="256"/>
                    </a:lnTo>
                    <a:lnTo>
                      <a:pt x="54" y="248"/>
                    </a:lnTo>
                    <a:lnTo>
                      <a:pt x="58" y="243"/>
                    </a:lnTo>
                    <a:lnTo>
                      <a:pt x="64" y="236"/>
                    </a:lnTo>
                    <a:lnTo>
                      <a:pt x="71" y="229"/>
                    </a:lnTo>
                    <a:lnTo>
                      <a:pt x="77" y="224"/>
                    </a:lnTo>
                    <a:lnTo>
                      <a:pt x="83" y="218"/>
                    </a:lnTo>
                    <a:lnTo>
                      <a:pt x="93" y="210"/>
                    </a:lnTo>
                    <a:lnTo>
                      <a:pt x="98" y="208"/>
                    </a:lnTo>
                    <a:lnTo>
                      <a:pt x="101" y="206"/>
                    </a:lnTo>
                    <a:lnTo>
                      <a:pt x="95" y="202"/>
                    </a:lnTo>
                    <a:lnTo>
                      <a:pt x="90" y="196"/>
                    </a:lnTo>
                    <a:lnTo>
                      <a:pt x="84" y="190"/>
                    </a:lnTo>
                    <a:lnTo>
                      <a:pt x="79" y="185"/>
                    </a:lnTo>
                    <a:lnTo>
                      <a:pt x="73" y="180"/>
                    </a:lnTo>
                    <a:lnTo>
                      <a:pt x="69" y="176"/>
                    </a:lnTo>
                    <a:lnTo>
                      <a:pt x="65" y="170"/>
                    </a:lnTo>
                    <a:lnTo>
                      <a:pt x="58" y="163"/>
                    </a:lnTo>
                    <a:lnTo>
                      <a:pt x="52" y="156"/>
                    </a:lnTo>
                    <a:lnTo>
                      <a:pt x="46" y="148"/>
                    </a:lnTo>
                    <a:lnTo>
                      <a:pt x="39" y="141"/>
                    </a:lnTo>
                    <a:lnTo>
                      <a:pt x="33" y="136"/>
                    </a:lnTo>
                    <a:lnTo>
                      <a:pt x="26" y="129"/>
                    </a:lnTo>
                    <a:lnTo>
                      <a:pt x="22" y="125"/>
                    </a:lnTo>
                    <a:lnTo>
                      <a:pt x="17" y="118"/>
                    </a:lnTo>
                    <a:lnTo>
                      <a:pt x="14" y="112"/>
                    </a:lnTo>
                    <a:lnTo>
                      <a:pt x="10" y="108"/>
                    </a:lnTo>
                    <a:lnTo>
                      <a:pt x="4" y="102"/>
                    </a:lnTo>
                    <a:lnTo>
                      <a:pt x="0" y="98"/>
                    </a:lnTo>
                    <a:lnTo>
                      <a:pt x="3" y="98"/>
                    </a:lnTo>
                    <a:lnTo>
                      <a:pt x="9" y="100"/>
                    </a:lnTo>
                    <a:lnTo>
                      <a:pt x="14" y="101"/>
                    </a:lnTo>
                    <a:lnTo>
                      <a:pt x="20" y="104"/>
                    </a:lnTo>
                    <a:lnTo>
                      <a:pt x="25" y="109"/>
                    </a:lnTo>
                    <a:lnTo>
                      <a:pt x="32" y="115"/>
                    </a:lnTo>
                    <a:lnTo>
                      <a:pt x="38" y="120"/>
                    </a:lnTo>
                    <a:lnTo>
                      <a:pt x="45" y="125"/>
                    </a:lnTo>
                    <a:lnTo>
                      <a:pt x="51" y="132"/>
                    </a:lnTo>
                    <a:lnTo>
                      <a:pt x="58" y="139"/>
                    </a:lnTo>
                    <a:lnTo>
                      <a:pt x="64" y="145"/>
                    </a:lnTo>
                  </a:path>
                </a:pathLst>
              </a:custGeom>
              <a:solidFill>
                <a:srgbClr val="037C03">
                  <a:alpha val="50195"/>
                </a:srgbClr>
              </a:solidFill>
              <a:ln w="9525">
                <a:noFill/>
              </a:ln>
            </p:spPr>
            <p:txBody>
              <a:bodyPr/>
              <a:lstStyle/>
              <a:p>
                <a:endParaRPr lang="zh-CN" altLang="en-US"/>
              </a:p>
            </p:txBody>
          </p:sp>
        </p:grpSp>
        <p:grpSp>
          <p:nvGrpSpPr>
            <p:cNvPr id="89170" name="Group 154"/>
            <p:cNvGrpSpPr/>
            <p:nvPr/>
          </p:nvGrpSpPr>
          <p:grpSpPr>
            <a:xfrm>
              <a:off x="300" y="3360"/>
              <a:ext cx="508" cy="820"/>
              <a:chOff x="1985" y="1201"/>
              <a:chExt cx="508" cy="820"/>
            </a:xfrm>
          </p:grpSpPr>
          <p:grpSp>
            <p:nvGrpSpPr>
              <p:cNvPr id="89171" name="Group 155"/>
              <p:cNvGrpSpPr/>
              <p:nvPr/>
            </p:nvGrpSpPr>
            <p:grpSpPr>
              <a:xfrm>
                <a:off x="2247" y="1201"/>
                <a:ext cx="246" cy="810"/>
                <a:chOff x="2247" y="1201"/>
                <a:chExt cx="246" cy="810"/>
              </a:xfrm>
            </p:grpSpPr>
            <p:sp>
              <p:nvSpPr>
                <p:cNvPr id="89180" name="Freeform 156"/>
                <p:cNvSpPr/>
                <p:nvPr/>
              </p:nvSpPr>
              <p:spPr>
                <a:xfrm>
                  <a:off x="2392" y="1373"/>
                  <a:ext cx="92" cy="638"/>
                </a:xfrm>
                <a:custGeom>
                  <a:avLst/>
                  <a:gdLst>
                    <a:gd name="txL" fmla="*/ 0 w 92"/>
                    <a:gd name="txT" fmla="*/ 0 h 638"/>
                    <a:gd name="txR" fmla="*/ 92 w 92"/>
                    <a:gd name="txB" fmla="*/ 638 h 638"/>
                  </a:gdLst>
                  <a:ahLst/>
                  <a:cxnLst>
                    <a:cxn ang="0">
                      <a:pos x="91" y="296"/>
                    </a:cxn>
                    <a:cxn ang="0">
                      <a:pos x="83" y="425"/>
                    </a:cxn>
                    <a:cxn ang="0">
                      <a:pos x="75" y="529"/>
                    </a:cxn>
                    <a:cxn ang="0">
                      <a:pos x="70" y="606"/>
                    </a:cxn>
                    <a:cxn ang="0">
                      <a:pos x="71" y="637"/>
                    </a:cxn>
                    <a:cxn ang="0">
                      <a:pos x="60" y="637"/>
                    </a:cxn>
                    <a:cxn ang="0">
                      <a:pos x="57" y="592"/>
                    </a:cxn>
                    <a:cxn ang="0">
                      <a:pos x="55" y="524"/>
                    </a:cxn>
                    <a:cxn ang="0">
                      <a:pos x="51" y="461"/>
                    </a:cxn>
                    <a:cxn ang="0">
                      <a:pos x="49" y="414"/>
                    </a:cxn>
                    <a:cxn ang="0">
                      <a:pos x="45" y="345"/>
                    </a:cxn>
                    <a:cxn ang="0">
                      <a:pos x="40" y="285"/>
                    </a:cxn>
                    <a:cxn ang="0">
                      <a:pos x="35" y="233"/>
                    </a:cxn>
                    <a:cxn ang="0">
                      <a:pos x="31" y="177"/>
                    </a:cxn>
                    <a:cxn ang="0">
                      <a:pos x="24" y="121"/>
                    </a:cxn>
                    <a:cxn ang="0">
                      <a:pos x="17" y="74"/>
                    </a:cxn>
                    <a:cxn ang="0">
                      <a:pos x="4" y="28"/>
                    </a:cxn>
                    <a:cxn ang="0">
                      <a:pos x="0" y="10"/>
                    </a:cxn>
                    <a:cxn ang="0">
                      <a:pos x="5" y="0"/>
                    </a:cxn>
                    <a:cxn ang="0">
                      <a:pos x="13" y="18"/>
                    </a:cxn>
                    <a:cxn ang="0">
                      <a:pos x="24" y="61"/>
                    </a:cxn>
                    <a:cxn ang="0">
                      <a:pos x="33" y="104"/>
                    </a:cxn>
                    <a:cxn ang="0">
                      <a:pos x="40" y="150"/>
                    </a:cxn>
                    <a:cxn ang="0">
                      <a:pos x="44" y="208"/>
                    </a:cxn>
                    <a:cxn ang="0">
                      <a:pos x="48" y="263"/>
                    </a:cxn>
                    <a:cxn ang="0">
                      <a:pos x="55" y="337"/>
                    </a:cxn>
                    <a:cxn ang="0">
                      <a:pos x="59" y="398"/>
                    </a:cxn>
                    <a:cxn ang="0">
                      <a:pos x="61" y="447"/>
                    </a:cxn>
                    <a:cxn ang="0">
                      <a:pos x="63" y="498"/>
                    </a:cxn>
                    <a:cxn ang="0">
                      <a:pos x="68" y="550"/>
                    </a:cxn>
                    <a:cxn ang="0">
                      <a:pos x="73" y="460"/>
                    </a:cxn>
                    <a:cxn ang="0">
                      <a:pos x="80" y="376"/>
                    </a:cxn>
                    <a:cxn ang="0">
                      <a:pos x="91" y="296"/>
                    </a:cxn>
                  </a:cxnLst>
                  <a:rect l="txL" t="txT" r="txR" b="txB"/>
                  <a:pathLst>
                    <a:path w="92" h="638">
                      <a:moveTo>
                        <a:pt x="91" y="296"/>
                      </a:moveTo>
                      <a:lnTo>
                        <a:pt x="83" y="425"/>
                      </a:lnTo>
                      <a:lnTo>
                        <a:pt x="75" y="529"/>
                      </a:lnTo>
                      <a:lnTo>
                        <a:pt x="70" y="606"/>
                      </a:lnTo>
                      <a:lnTo>
                        <a:pt x="71" y="637"/>
                      </a:lnTo>
                      <a:lnTo>
                        <a:pt x="60" y="637"/>
                      </a:lnTo>
                      <a:lnTo>
                        <a:pt x="57" y="592"/>
                      </a:lnTo>
                      <a:lnTo>
                        <a:pt x="55" y="524"/>
                      </a:lnTo>
                      <a:lnTo>
                        <a:pt x="51" y="461"/>
                      </a:lnTo>
                      <a:lnTo>
                        <a:pt x="49" y="414"/>
                      </a:lnTo>
                      <a:lnTo>
                        <a:pt x="45" y="345"/>
                      </a:lnTo>
                      <a:lnTo>
                        <a:pt x="40" y="285"/>
                      </a:lnTo>
                      <a:lnTo>
                        <a:pt x="35" y="233"/>
                      </a:lnTo>
                      <a:lnTo>
                        <a:pt x="31" y="177"/>
                      </a:lnTo>
                      <a:lnTo>
                        <a:pt x="24" y="121"/>
                      </a:lnTo>
                      <a:lnTo>
                        <a:pt x="17" y="74"/>
                      </a:lnTo>
                      <a:lnTo>
                        <a:pt x="4" y="28"/>
                      </a:lnTo>
                      <a:lnTo>
                        <a:pt x="0" y="10"/>
                      </a:lnTo>
                      <a:lnTo>
                        <a:pt x="5" y="0"/>
                      </a:lnTo>
                      <a:lnTo>
                        <a:pt x="13" y="18"/>
                      </a:lnTo>
                      <a:lnTo>
                        <a:pt x="24" y="61"/>
                      </a:lnTo>
                      <a:lnTo>
                        <a:pt x="33" y="104"/>
                      </a:lnTo>
                      <a:lnTo>
                        <a:pt x="40" y="150"/>
                      </a:lnTo>
                      <a:lnTo>
                        <a:pt x="44" y="208"/>
                      </a:lnTo>
                      <a:lnTo>
                        <a:pt x="48" y="263"/>
                      </a:lnTo>
                      <a:lnTo>
                        <a:pt x="55" y="337"/>
                      </a:lnTo>
                      <a:lnTo>
                        <a:pt x="59" y="398"/>
                      </a:lnTo>
                      <a:lnTo>
                        <a:pt x="61" y="447"/>
                      </a:lnTo>
                      <a:lnTo>
                        <a:pt x="63" y="498"/>
                      </a:lnTo>
                      <a:lnTo>
                        <a:pt x="68" y="550"/>
                      </a:lnTo>
                      <a:lnTo>
                        <a:pt x="73" y="460"/>
                      </a:lnTo>
                      <a:lnTo>
                        <a:pt x="80" y="376"/>
                      </a:lnTo>
                      <a:lnTo>
                        <a:pt x="91" y="296"/>
                      </a:lnTo>
                    </a:path>
                  </a:pathLst>
                </a:custGeom>
                <a:solidFill>
                  <a:srgbClr val="3C0023">
                    <a:alpha val="50195"/>
                  </a:srgbClr>
                </a:solidFill>
                <a:ln w="9525">
                  <a:noFill/>
                </a:ln>
              </p:spPr>
              <p:txBody>
                <a:bodyPr/>
                <a:lstStyle/>
                <a:p>
                  <a:endParaRPr lang="zh-CN" altLang="en-US"/>
                </a:p>
              </p:txBody>
            </p:sp>
            <p:sp>
              <p:nvSpPr>
                <p:cNvPr id="89181" name="Freeform 157"/>
                <p:cNvSpPr/>
                <p:nvPr/>
              </p:nvSpPr>
              <p:spPr>
                <a:xfrm>
                  <a:off x="2247" y="1201"/>
                  <a:ext cx="246" cy="466"/>
                </a:xfrm>
                <a:custGeom>
                  <a:avLst/>
                  <a:gdLst>
                    <a:gd name="txL" fmla="*/ 0 w 246"/>
                    <a:gd name="txT" fmla="*/ 0 h 466"/>
                    <a:gd name="txR" fmla="*/ 246 w 246"/>
                    <a:gd name="txB" fmla="*/ 466 h 466"/>
                  </a:gdLst>
                  <a:ahLst/>
                  <a:cxnLst>
                    <a:cxn ang="0">
                      <a:pos x="136" y="67"/>
                    </a:cxn>
                    <a:cxn ang="0">
                      <a:pos x="105" y="12"/>
                    </a:cxn>
                    <a:cxn ang="0">
                      <a:pos x="55" y="1"/>
                    </a:cxn>
                    <a:cxn ang="0">
                      <a:pos x="58" y="12"/>
                    </a:cxn>
                    <a:cxn ang="0">
                      <a:pos x="96" y="39"/>
                    </a:cxn>
                    <a:cxn ang="0">
                      <a:pos x="130" y="134"/>
                    </a:cxn>
                    <a:cxn ang="0">
                      <a:pos x="73" y="85"/>
                    </a:cxn>
                    <a:cxn ang="0">
                      <a:pos x="32" y="75"/>
                    </a:cxn>
                    <a:cxn ang="0">
                      <a:pos x="7" y="103"/>
                    </a:cxn>
                    <a:cxn ang="0">
                      <a:pos x="38" y="103"/>
                    </a:cxn>
                    <a:cxn ang="0">
                      <a:pos x="108" y="129"/>
                    </a:cxn>
                    <a:cxn ang="0">
                      <a:pos x="104" y="146"/>
                    </a:cxn>
                    <a:cxn ang="0">
                      <a:pos x="92" y="171"/>
                    </a:cxn>
                    <a:cxn ang="0">
                      <a:pos x="126" y="170"/>
                    </a:cxn>
                    <a:cxn ang="0">
                      <a:pos x="69" y="193"/>
                    </a:cxn>
                    <a:cxn ang="0">
                      <a:pos x="37" y="233"/>
                    </a:cxn>
                    <a:cxn ang="0">
                      <a:pos x="6" y="325"/>
                    </a:cxn>
                    <a:cxn ang="0">
                      <a:pos x="72" y="231"/>
                    </a:cxn>
                    <a:cxn ang="0">
                      <a:pos x="118" y="194"/>
                    </a:cxn>
                    <a:cxn ang="0">
                      <a:pos x="94" y="269"/>
                    </a:cxn>
                    <a:cxn ang="0">
                      <a:pos x="76" y="338"/>
                    </a:cxn>
                    <a:cxn ang="0">
                      <a:pos x="71" y="408"/>
                    </a:cxn>
                    <a:cxn ang="0">
                      <a:pos x="98" y="303"/>
                    </a:cxn>
                    <a:cxn ang="0">
                      <a:pos x="124" y="236"/>
                    </a:cxn>
                    <a:cxn ang="0">
                      <a:pos x="125" y="214"/>
                    </a:cxn>
                    <a:cxn ang="0">
                      <a:pos x="118" y="323"/>
                    </a:cxn>
                    <a:cxn ang="0">
                      <a:pos x="138" y="439"/>
                    </a:cxn>
                    <a:cxn ang="0">
                      <a:pos x="128" y="313"/>
                    </a:cxn>
                    <a:cxn ang="0">
                      <a:pos x="127" y="223"/>
                    </a:cxn>
                    <a:cxn ang="0">
                      <a:pos x="147" y="189"/>
                    </a:cxn>
                    <a:cxn ang="0">
                      <a:pos x="188" y="298"/>
                    </a:cxn>
                    <a:cxn ang="0">
                      <a:pos x="223" y="411"/>
                    </a:cxn>
                    <a:cxn ang="0">
                      <a:pos x="193" y="292"/>
                    </a:cxn>
                    <a:cxn ang="0">
                      <a:pos x="160" y="190"/>
                    </a:cxn>
                    <a:cxn ang="0">
                      <a:pos x="164" y="121"/>
                    </a:cxn>
                    <a:cxn ang="0">
                      <a:pos x="194" y="130"/>
                    </a:cxn>
                    <a:cxn ang="0">
                      <a:pos x="240" y="125"/>
                    </a:cxn>
                    <a:cxn ang="0">
                      <a:pos x="216" y="122"/>
                    </a:cxn>
                    <a:cxn ang="0">
                      <a:pos x="163" y="144"/>
                    </a:cxn>
                    <a:cxn ang="0">
                      <a:pos x="194" y="109"/>
                    </a:cxn>
                    <a:cxn ang="0">
                      <a:pos x="244" y="101"/>
                    </a:cxn>
                    <a:cxn ang="0">
                      <a:pos x="229" y="88"/>
                    </a:cxn>
                    <a:cxn ang="0">
                      <a:pos x="163" y="138"/>
                    </a:cxn>
                    <a:cxn ang="0">
                      <a:pos x="172" y="99"/>
                    </a:cxn>
                    <a:cxn ang="0">
                      <a:pos x="226" y="61"/>
                    </a:cxn>
                    <a:cxn ang="0">
                      <a:pos x="188" y="82"/>
                    </a:cxn>
                    <a:cxn ang="0">
                      <a:pos x="147" y="109"/>
                    </a:cxn>
                  </a:cxnLst>
                  <a:rect l="txL" t="txT" r="txR" b="txB"/>
                  <a:pathLst>
                    <a:path w="246" h="466">
                      <a:moveTo>
                        <a:pt x="147" y="109"/>
                      </a:moveTo>
                      <a:lnTo>
                        <a:pt x="143" y="88"/>
                      </a:lnTo>
                      <a:lnTo>
                        <a:pt x="136" y="67"/>
                      </a:lnTo>
                      <a:lnTo>
                        <a:pt x="127" y="44"/>
                      </a:lnTo>
                      <a:lnTo>
                        <a:pt x="117" y="27"/>
                      </a:lnTo>
                      <a:lnTo>
                        <a:pt x="105" y="12"/>
                      </a:lnTo>
                      <a:lnTo>
                        <a:pt x="89" y="5"/>
                      </a:lnTo>
                      <a:lnTo>
                        <a:pt x="69" y="0"/>
                      </a:lnTo>
                      <a:lnTo>
                        <a:pt x="55" y="1"/>
                      </a:lnTo>
                      <a:lnTo>
                        <a:pt x="39" y="0"/>
                      </a:lnTo>
                      <a:lnTo>
                        <a:pt x="49" y="11"/>
                      </a:lnTo>
                      <a:lnTo>
                        <a:pt x="58" y="12"/>
                      </a:lnTo>
                      <a:lnTo>
                        <a:pt x="69" y="19"/>
                      </a:lnTo>
                      <a:lnTo>
                        <a:pt x="80" y="25"/>
                      </a:lnTo>
                      <a:lnTo>
                        <a:pt x="96" y="39"/>
                      </a:lnTo>
                      <a:lnTo>
                        <a:pt x="109" y="58"/>
                      </a:lnTo>
                      <a:lnTo>
                        <a:pt x="118" y="82"/>
                      </a:lnTo>
                      <a:lnTo>
                        <a:pt x="130" y="134"/>
                      </a:lnTo>
                      <a:lnTo>
                        <a:pt x="96" y="99"/>
                      </a:lnTo>
                      <a:lnTo>
                        <a:pt x="85" y="91"/>
                      </a:lnTo>
                      <a:lnTo>
                        <a:pt x="73" y="85"/>
                      </a:lnTo>
                      <a:lnTo>
                        <a:pt x="61" y="83"/>
                      </a:lnTo>
                      <a:lnTo>
                        <a:pt x="54" y="80"/>
                      </a:lnTo>
                      <a:lnTo>
                        <a:pt x="32" y="75"/>
                      </a:lnTo>
                      <a:lnTo>
                        <a:pt x="0" y="72"/>
                      </a:lnTo>
                      <a:lnTo>
                        <a:pt x="0" y="103"/>
                      </a:lnTo>
                      <a:lnTo>
                        <a:pt x="7" y="103"/>
                      </a:lnTo>
                      <a:lnTo>
                        <a:pt x="17" y="104"/>
                      </a:lnTo>
                      <a:lnTo>
                        <a:pt x="29" y="103"/>
                      </a:lnTo>
                      <a:lnTo>
                        <a:pt x="38" y="103"/>
                      </a:lnTo>
                      <a:lnTo>
                        <a:pt x="62" y="107"/>
                      </a:lnTo>
                      <a:lnTo>
                        <a:pt x="72" y="111"/>
                      </a:lnTo>
                      <a:lnTo>
                        <a:pt x="108" y="129"/>
                      </a:lnTo>
                      <a:lnTo>
                        <a:pt x="127" y="144"/>
                      </a:lnTo>
                      <a:lnTo>
                        <a:pt x="113" y="146"/>
                      </a:lnTo>
                      <a:lnTo>
                        <a:pt x="104" y="146"/>
                      </a:lnTo>
                      <a:lnTo>
                        <a:pt x="89" y="161"/>
                      </a:lnTo>
                      <a:lnTo>
                        <a:pt x="82" y="183"/>
                      </a:lnTo>
                      <a:lnTo>
                        <a:pt x="92" y="171"/>
                      </a:lnTo>
                      <a:lnTo>
                        <a:pt x="120" y="155"/>
                      </a:lnTo>
                      <a:lnTo>
                        <a:pt x="137" y="162"/>
                      </a:lnTo>
                      <a:lnTo>
                        <a:pt x="126" y="170"/>
                      </a:lnTo>
                      <a:lnTo>
                        <a:pt x="113" y="171"/>
                      </a:lnTo>
                      <a:lnTo>
                        <a:pt x="79" y="189"/>
                      </a:lnTo>
                      <a:lnTo>
                        <a:pt x="69" y="193"/>
                      </a:lnTo>
                      <a:lnTo>
                        <a:pt x="57" y="199"/>
                      </a:lnTo>
                      <a:lnTo>
                        <a:pt x="48" y="209"/>
                      </a:lnTo>
                      <a:lnTo>
                        <a:pt x="37" y="233"/>
                      </a:lnTo>
                      <a:lnTo>
                        <a:pt x="31" y="251"/>
                      </a:lnTo>
                      <a:lnTo>
                        <a:pt x="13" y="310"/>
                      </a:lnTo>
                      <a:lnTo>
                        <a:pt x="6" y="325"/>
                      </a:lnTo>
                      <a:lnTo>
                        <a:pt x="36" y="281"/>
                      </a:lnTo>
                      <a:lnTo>
                        <a:pt x="50" y="265"/>
                      </a:lnTo>
                      <a:lnTo>
                        <a:pt x="72" y="231"/>
                      </a:lnTo>
                      <a:lnTo>
                        <a:pt x="83" y="218"/>
                      </a:lnTo>
                      <a:lnTo>
                        <a:pt x="92" y="209"/>
                      </a:lnTo>
                      <a:lnTo>
                        <a:pt x="118" y="194"/>
                      </a:lnTo>
                      <a:lnTo>
                        <a:pt x="132" y="181"/>
                      </a:lnTo>
                      <a:lnTo>
                        <a:pt x="121" y="195"/>
                      </a:lnTo>
                      <a:lnTo>
                        <a:pt x="94" y="269"/>
                      </a:lnTo>
                      <a:lnTo>
                        <a:pt x="84" y="302"/>
                      </a:lnTo>
                      <a:lnTo>
                        <a:pt x="79" y="320"/>
                      </a:lnTo>
                      <a:lnTo>
                        <a:pt x="76" y="338"/>
                      </a:lnTo>
                      <a:lnTo>
                        <a:pt x="75" y="359"/>
                      </a:lnTo>
                      <a:lnTo>
                        <a:pt x="74" y="375"/>
                      </a:lnTo>
                      <a:lnTo>
                        <a:pt x="71" y="408"/>
                      </a:lnTo>
                      <a:lnTo>
                        <a:pt x="84" y="375"/>
                      </a:lnTo>
                      <a:lnTo>
                        <a:pt x="92" y="330"/>
                      </a:lnTo>
                      <a:lnTo>
                        <a:pt x="98" y="303"/>
                      </a:lnTo>
                      <a:lnTo>
                        <a:pt x="104" y="286"/>
                      </a:lnTo>
                      <a:lnTo>
                        <a:pt x="118" y="252"/>
                      </a:lnTo>
                      <a:lnTo>
                        <a:pt x="124" y="236"/>
                      </a:lnTo>
                      <a:lnTo>
                        <a:pt x="128" y="216"/>
                      </a:lnTo>
                      <a:lnTo>
                        <a:pt x="137" y="188"/>
                      </a:lnTo>
                      <a:lnTo>
                        <a:pt x="125" y="214"/>
                      </a:lnTo>
                      <a:lnTo>
                        <a:pt x="119" y="243"/>
                      </a:lnTo>
                      <a:lnTo>
                        <a:pt x="117" y="302"/>
                      </a:lnTo>
                      <a:lnTo>
                        <a:pt x="118" y="323"/>
                      </a:lnTo>
                      <a:lnTo>
                        <a:pt x="120" y="362"/>
                      </a:lnTo>
                      <a:lnTo>
                        <a:pt x="123" y="377"/>
                      </a:lnTo>
                      <a:lnTo>
                        <a:pt x="138" y="439"/>
                      </a:lnTo>
                      <a:lnTo>
                        <a:pt x="141" y="465"/>
                      </a:lnTo>
                      <a:lnTo>
                        <a:pt x="137" y="379"/>
                      </a:lnTo>
                      <a:lnTo>
                        <a:pt x="128" y="313"/>
                      </a:lnTo>
                      <a:lnTo>
                        <a:pt x="126" y="291"/>
                      </a:lnTo>
                      <a:lnTo>
                        <a:pt x="125" y="238"/>
                      </a:lnTo>
                      <a:lnTo>
                        <a:pt x="127" y="223"/>
                      </a:lnTo>
                      <a:lnTo>
                        <a:pt x="133" y="196"/>
                      </a:lnTo>
                      <a:lnTo>
                        <a:pt x="138" y="179"/>
                      </a:lnTo>
                      <a:lnTo>
                        <a:pt x="147" y="189"/>
                      </a:lnTo>
                      <a:lnTo>
                        <a:pt x="161" y="212"/>
                      </a:lnTo>
                      <a:lnTo>
                        <a:pt x="177" y="259"/>
                      </a:lnTo>
                      <a:lnTo>
                        <a:pt x="188" y="298"/>
                      </a:lnTo>
                      <a:lnTo>
                        <a:pt x="197" y="333"/>
                      </a:lnTo>
                      <a:lnTo>
                        <a:pt x="213" y="384"/>
                      </a:lnTo>
                      <a:lnTo>
                        <a:pt x="223" y="411"/>
                      </a:lnTo>
                      <a:lnTo>
                        <a:pt x="232" y="429"/>
                      </a:lnTo>
                      <a:lnTo>
                        <a:pt x="228" y="403"/>
                      </a:lnTo>
                      <a:lnTo>
                        <a:pt x="193" y="292"/>
                      </a:lnTo>
                      <a:lnTo>
                        <a:pt x="171" y="232"/>
                      </a:lnTo>
                      <a:lnTo>
                        <a:pt x="165" y="210"/>
                      </a:lnTo>
                      <a:lnTo>
                        <a:pt x="160" y="190"/>
                      </a:lnTo>
                      <a:lnTo>
                        <a:pt x="144" y="150"/>
                      </a:lnTo>
                      <a:lnTo>
                        <a:pt x="147" y="132"/>
                      </a:lnTo>
                      <a:lnTo>
                        <a:pt x="164" y="121"/>
                      </a:lnTo>
                      <a:lnTo>
                        <a:pt x="172" y="125"/>
                      </a:lnTo>
                      <a:lnTo>
                        <a:pt x="183" y="126"/>
                      </a:lnTo>
                      <a:lnTo>
                        <a:pt x="194" y="130"/>
                      </a:lnTo>
                      <a:lnTo>
                        <a:pt x="239" y="136"/>
                      </a:lnTo>
                      <a:lnTo>
                        <a:pt x="236" y="136"/>
                      </a:lnTo>
                      <a:lnTo>
                        <a:pt x="240" y="125"/>
                      </a:lnTo>
                      <a:lnTo>
                        <a:pt x="242" y="125"/>
                      </a:lnTo>
                      <a:lnTo>
                        <a:pt x="230" y="122"/>
                      </a:lnTo>
                      <a:lnTo>
                        <a:pt x="216" y="122"/>
                      </a:lnTo>
                      <a:lnTo>
                        <a:pt x="199" y="127"/>
                      </a:lnTo>
                      <a:lnTo>
                        <a:pt x="180" y="135"/>
                      </a:lnTo>
                      <a:lnTo>
                        <a:pt x="163" y="144"/>
                      </a:lnTo>
                      <a:lnTo>
                        <a:pt x="150" y="149"/>
                      </a:lnTo>
                      <a:lnTo>
                        <a:pt x="168" y="129"/>
                      </a:lnTo>
                      <a:lnTo>
                        <a:pt x="194" y="109"/>
                      </a:lnTo>
                      <a:lnTo>
                        <a:pt x="220" y="100"/>
                      </a:lnTo>
                      <a:lnTo>
                        <a:pt x="232" y="100"/>
                      </a:lnTo>
                      <a:lnTo>
                        <a:pt x="244" y="101"/>
                      </a:lnTo>
                      <a:lnTo>
                        <a:pt x="239" y="101"/>
                      </a:lnTo>
                      <a:lnTo>
                        <a:pt x="245" y="85"/>
                      </a:lnTo>
                      <a:lnTo>
                        <a:pt x="229" y="88"/>
                      </a:lnTo>
                      <a:lnTo>
                        <a:pt x="212" y="97"/>
                      </a:lnTo>
                      <a:lnTo>
                        <a:pt x="193" y="111"/>
                      </a:lnTo>
                      <a:lnTo>
                        <a:pt x="163" y="138"/>
                      </a:lnTo>
                      <a:lnTo>
                        <a:pt x="150" y="149"/>
                      </a:lnTo>
                      <a:lnTo>
                        <a:pt x="157" y="114"/>
                      </a:lnTo>
                      <a:lnTo>
                        <a:pt x="172" y="99"/>
                      </a:lnTo>
                      <a:lnTo>
                        <a:pt x="190" y="85"/>
                      </a:lnTo>
                      <a:lnTo>
                        <a:pt x="214" y="67"/>
                      </a:lnTo>
                      <a:lnTo>
                        <a:pt x="226" y="61"/>
                      </a:lnTo>
                      <a:lnTo>
                        <a:pt x="212" y="57"/>
                      </a:lnTo>
                      <a:lnTo>
                        <a:pt x="200" y="67"/>
                      </a:lnTo>
                      <a:lnTo>
                        <a:pt x="188" y="82"/>
                      </a:lnTo>
                      <a:lnTo>
                        <a:pt x="178" y="93"/>
                      </a:lnTo>
                      <a:lnTo>
                        <a:pt x="163" y="115"/>
                      </a:lnTo>
                      <a:lnTo>
                        <a:pt x="147" y="109"/>
                      </a:lnTo>
                    </a:path>
                  </a:pathLst>
                </a:custGeom>
                <a:solidFill>
                  <a:srgbClr val="037C03">
                    <a:alpha val="50195"/>
                  </a:srgbClr>
                </a:solidFill>
                <a:ln w="9525">
                  <a:noFill/>
                </a:ln>
              </p:spPr>
              <p:txBody>
                <a:bodyPr/>
                <a:lstStyle/>
                <a:p>
                  <a:endParaRPr lang="zh-CN" altLang="en-US"/>
                </a:p>
              </p:txBody>
            </p:sp>
          </p:grpSp>
          <p:grpSp>
            <p:nvGrpSpPr>
              <p:cNvPr id="89172" name="Group 158"/>
              <p:cNvGrpSpPr/>
              <p:nvPr/>
            </p:nvGrpSpPr>
            <p:grpSpPr>
              <a:xfrm>
                <a:off x="1985" y="1419"/>
                <a:ext cx="465" cy="602"/>
                <a:chOff x="1985" y="1419"/>
                <a:chExt cx="465" cy="602"/>
              </a:xfrm>
            </p:grpSpPr>
            <p:sp>
              <p:nvSpPr>
                <p:cNvPr id="89173" name="Freeform 159"/>
                <p:cNvSpPr/>
                <p:nvPr/>
              </p:nvSpPr>
              <p:spPr>
                <a:xfrm>
                  <a:off x="2164" y="1525"/>
                  <a:ext cx="130" cy="496"/>
                </a:xfrm>
                <a:custGeom>
                  <a:avLst/>
                  <a:gdLst>
                    <a:gd name="txL" fmla="*/ 0 w 130"/>
                    <a:gd name="txT" fmla="*/ 0 h 496"/>
                    <a:gd name="txR" fmla="*/ 130 w 130"/>
                    <a:gd name="txB" fmla="*/ 496 h 496"/>
                  </a:gdLst>
                  <a:ahLst/>
                  <a:cxnLst>
                    <a:cxn ang="0">
                      <a:pos x="129" y="230"/>
                    </a:cxn>
                    <a:cxn ang="0">
                      <a:pos x="118" y="330"/>
                    </a:cxn>
                    <a:cxn ang="0">
                      <a:pos x="107" y="411"/>
                    </a:cxn>
                    <a:cxn ang="0">
                      <a:pos x="100" y="471"/>
                    </a:cxn>
                    <a:cxn ang="0">
                      <a:pos x="101" y="495"/>
                    </a:cxn>
                    <a:cxn ang="0">
                      <a:pos x="86" y="495"/>
                    </a:cxn>
                    <a:cxn ang="0">
                      <a:pos x="81" y="460"/>
                    </a:cxn>
                    <a:cxn ang="0">
                      <a:pos x="79" y="408"/>
                    </a:cxn>
                    <a:cxn ang="0">
                      <a:pos x="73" y="358"/>
                    </a:cxn>
                    <a:cxn ang="0">
                      <a:pos x="70" y="321"/>
                    </a:cxn>
                    <a:cxn ang="0">
                      <a:pos x="64" y="268"/>
                    </a:cxn>
                    <a:cxn ang="0">
                      <a:pos x="56" y="222"/>
                    </a:cxn>
                    <a:cxn ang="0">
                      <a:pos x="51" y="181"/>
                    </a:cxn>
                    <a:cxn ang="0">
                      <a:pos x="45" y="137"/>
                    </a:cxn>
                    <a:cxn ang="0">
                      <a:pos x="35" y="94"/>
                    </a:cxn>
                    <a:cxn ang="0">
                      <a:pos x="24" y="57"/>
                    </a:cxn>
                    <a:cxn ang="0">
                      <a:pos x="6" y="21"/>
                    </a:cxn>
                    <a:cxn ang="0">
                      <a:pos x="0" y="8"/>
                    </a:cxn>
                    <a:cxn ang="0">
                      <a:pos x="7" y="0"/>
                    </a:cxn>
                    <a:cxn ang="0">
                      <a:pos x="19" y="14"/>
                    </a:cxn>
                    <a:cxn ang="0">
                      <a:pos x="35" y="47"/>
                    </a:cxn>
                    <a:cxn ang="0">
                      <a:pos x="47" y="81"/>
                    </a:cxn>
                    <a:cxn ang="0">
                      <a:pos x="56" y="116"/>
                    </a:cxn>
                    <a:cxn ang="0">
                      <a:pos x="63" y="161"/>
                    </a:cxn>
                    <a:cxn ang="0">
                      <a:pos x="69" y="204"/>
                    </a:cxn>
                    <a:cxn ang="0">
                      <a:pos x="77" y="262"/>
                    </a:cxn>
                    <a:cxn ang="0">
                      <a:pos x="84" y="309"/>
                    </a:cxn>
                    <a:cxn ang="0">
                      <a:pos x="87" y="347"/>
                    </a:cxn>
                    <a:cxn ang="0">
                      <a:pos x="90" y="386"/>
                    </a:cxn>
                    <a:cxn ang="0">
                      <a:pos x="96" y="427"/>
                    </a:cxn>
                    <a:cxn ang="0">
                      <a:pos x="104" y="357"/>
                    </a:cxn>
                    <a:cxn ang="0">
                      <a:pos x="114" y="292"/>
                    </a:cxn>
                    <a:cxn ang="0">
                      <a:pos x="129" y="230"/>
                    </a:cxn>
                  </a:cxnLst>
                  <a:rect l="txL" t="txT" r="txR" b="txB"/>
                  <a:pathLst>
                    <a:path w="130" h="496">
                      <a:moveTo>
                        <a:pt x="129" y="230"/>
                      </a:moveTo>
                      <a:lnTo>
                        <a:pt x="118" y="330"/>
                      </a:lnTo>
                      <a:lnTo>
                        <a:pt x="107" y="411"/>
                      </a:lnTo>
                      <a:lnTo>
                        <a:pt x="100" y="471"/>
                      </a:lnTo>
                      <a:lnTo>
                        <a:pt x="101" y="495"/>
                      </a:lnTo>
                      <a:lnTo>
                        <a:pt x="86" y="495"/>
                      </a:lnTo>
                      <a:lnTo>
                        <a:pt x="81" y="460"/>
                      </a:lnTo>
                      <a:lnTo>
                        <a:pt x="79" y="408"/>
                      </a:lnTo>
                      <a:lnTo>
                        <a:pt x="73" y="358"/>
                      </a:lnTo>
                      <a:lnTo>
                        <a:pt x="70" y="321"/>
                      </a:lnTo>
                      <a:lnTo>
                        <a:pt x="64" y="268"/>
                      </a:lnTo>
                      <a:lnTo>
                        <a:pt x="56" y="222"/>
                      </a:lnTo>
                      <a:lnTo>
                        <a:pt x="51" y="181"/>
                      </a:lnTo>
                      <a:lnTo>
                        <a:pt x="45" y="137"/>
                      </a:lnTo>
                      <a:lnTo>
                        <a:pt x="35" y="94"/>
                      </a:lnTo>
                      <a:lnTo>
                        <a:pt x="24" y="57"/>
                      </a:lnTo>
                      <a:lnTo>
                        <a:pt x="6" y="21"/>
                      </a:lnTo>
                      <a:lnTo>
                        <a:pt x="0" y="8"/>
                      </a:lnTo>
                      <a:lnTo>
                        <a:pt x="7" y="0"/>
                      </a:lnTo>
                      <a:lnTo>
                        <a:pt x="19" y="14"/>
                      </a:lnTo>
                      <a:lnTo>
                        <a:pt x="35" y="47"/>
                      </a:lnTo>
                      <a:lnTo>
                        <a:pt x="47" y="81"/>
                      </a:lnTo>
                      <a:lnTo>
                        <a:pt x="56" y="116"/>
                      </a:lnTo>
                      <a:lnTo>
                        <a:pt x="63" y="161"/>
                      </a:lnTo>
                      <a:lnTo>
                        <a:pt x="69" y="204"/>
                      </a:lnTo>
                      <a:lnTo>
                        <a:pt x="77" y="262"/>
                      </a:lnTo>
                      <a:lnTo>
                        <a:pt x="84" y="309"/>
                      </a:lnTo>
                      <a:lnTo>
                        <a:pt x="87" y="347"/>
                      </a:lnTo>
                      <a:lnTo>
                        <a:pt x="90" y="386"/>
                      </a:lnTo>
                      <a:lnTo>
                        <a:pt x="96" y="427"/>
                      </a:lnTo>
                      <a:lnTo>
                        <a:pt x="104" y="357"/>
                      </a:lnTo>
                      <a:lnTo>
                        <a:pt x="114" y="292"/>
                      </a:lnTo>
                      <a:lnTo>
                        <a:pt x="129" y="230"/>
                      </a:lnTo>
                    </a:path>
                  </a:pathLst>
                </a:custGeom>
                <a:solidFill>
                  <a:srgbClr val="3C0023">
                    <a:alpha val="50195"/>
                  </a:srgbClr>
                </a:solidFill>
                <a:ln w="9525">
                  <a:noFill/>
                </a:ln>
              </p:spPr>
              <p:txBody>
                <a:bodyPr/>
                <a:lstStyle/>
                <a:p>
                  <a:endParaRPr lang="zh-CN" altLang="en-US"/>
                </a:p>
              </p:txBody>
            </p:sp>
            <p:sp>
              <p:nvSpPr>
                <p:cNvPr id="89174" name="Freeform 160"/>
                <p:cNvSpPr/>
                <p:nvPr/>
              </p:nvSpPr>
              <p:spPr>
                <a:xfrm>
                  <a:off x="2204" y="1606"/>
                  <a:ext cx="229" cy="358"/>
                </a:xfrm>
                <a:custGeom>
                  <a:avLst/>
                  <a:gdLst>
                    <a:gd name="txL" fmla="*/ 0 w 229"/>
                    <a:gd name="txT" fmla="*/ 0 h 358"/>
                    <a:gd name="txR" fmla="*/ 229 w 229"/>
                    <a:gd name="txB" fmla="*/ 358 h 358"/>
                  </a:gdLst>
                  <a:ahLst/>
                  <a:cxnLst>
                    <a:cxn ang="0">
                      <a:pos x="60" y="58"/>
                    </a:cxn>
                    <a:cxn ang="0">
                      <a:pos x="67" y="44"/>
                    </a:cxn>
                    <a:cxn ang="0">
                      <a:pos x="64" y="5"/>
                    </a:cxn>
                    <a:cxn ang="0">
                      <a:pos x="64" y="5"/>
                    </a:cxn>
                    <a:cxn ang="0">
                      <a:pos x="64" y="5"/>
                    </a:cxn>
                    <a:cxn ang="0">
                      <a:pos x="64" y="5"/>
                    </a:cxn>
                    <a:cxn ang="0">
                      <a:pos x="64" y="5"/>
                    </a:cxn>
                    <a:cxn ang="0">
                      <a:pos x="70" y="2"/>
                    </a:cxn>
                    <a:cxn ang="0">
                      <a:pos x="82" y="66"/>
                    </a:cxn>
                    <a:cxn ang="0">
                      <a:pos x="94" y="39"/>
                    </a:cxn>
                    <a:cxn ang="0">
                      <a:pos x="101" y="5"/>
                    </a:cxn>
                    <a:cxn ang="0">
                      <a:pos x="104" y="5"/>
                    </a:cxn>
                    <a:cxn ang="0">
                      <a:pos x="103" y="5"/>
                    </a:cxn>
                    <a:cxn ang="0">
                      <a:pos x="104" y="5"/>
                    </a:cxn>
                    <a:cxn ang="0">
                      <a:pos x="102" y="5"/>
                    </a:cxn>
                    <a:cxn ang="0">
                      <a:pos x="103" y="5"/>
                    </a:cxn>
                    <a:cxn ang="0">
                      <a:pos x="105" y="47"/>
                    </a:cxn>
                    <a:cxn ang="0">
                      <a:pos x="111" y="88"/>
                    </a:cxn>
                    <a:cxn ang="0">
                      <a:pos x="139" y="79"/>
                    </a:cxn>
                    <a:cxn ang="0">
                      <a:pos x="176" y="81"/>
                    </a:cxn>
                    <a:cxn ang="0">
                      <a:pos x="205" y="104"/>
                    </a:cxn>
                    <a:cxn ang="0">
                      <a:pos x="228" y="155"/>
                    </a:cxn>
                    <a:cxn ang="0">
                      <a:pos x="200" y="147"/>
                    </a:cxn>
                    <a:cxn ang="0">
                      <a:pos x="171" y="131"/>
                    </a:cxn>
                    <a:cxn ang="0">
                      <a:pos x="132" y="121"/>
                    </a:cxn>
                    <a:cxn ang="0">
                      <a:pos x="107" y="125"/>
                    </a:cxn>
                    <a:cxn ang="0">
                      <a:pos x="122" y="150"/>
                    </a:cxn>
                    <a:cxn ang="0">
                      <a:pos x="154" y="165"/>
                    </a:cxn>
                    <a:cxn ang="0">
                      <a:pos x="187" y="175"/>
                    </a:cxn>
                    <a:cxn ang="0">
                      <a:pos x="212" y="212"/>
                    </a:cxn>
                    <a:cxn ang="0">
                      <a:pos x="224" y="262"/>
                    </a:cxn>
                    <a:cxn ang="0">
                      <a:pos x="194" y="231"/>
                    </a:cxn>
                    <a:cxn ang="0">
                      <a:pos x="163" y="199"/>
                    </a:cxn>
                    <a:cxn ang="0">
                      <a:pos x="133" y="172"/>
                    </a:cxn>
                    <a:cxn ang="0">
                      <a:pos x="111" y="159"/>
                    </a:cxn>
                    <a:cxn ang="0">
                      <a:pos x="97" y="185"/>
                    </a:cxn>
                    <a:cxn ang="0">
                      <a:pos x="115" y="245"/>
                    </a:cxn>
                    <a:cxn ang="0">
                      <a:pos x="132" y="312"/>
                    </a:cxn>
                    <a:cxn ang="0">
                      <a:pos x="114" y="328"/>
                    </a:cxn>
                    <a:cxn ang="0">
                      <a:pos x="95" y="236"/>
                    </a:cxn>
                    <a:cxn ang="0">
                      <a:pos x="78" y="179"/>
                    </a:cxn>
                    <a:cxn ang="0">
                      <a:pos x="73" y="197"/>
                    </a:cxn>
                    <a:cxn ang="0">
                      <a:pos x="74" y="186"/>
                    </a:cxn>
                    <a:cxn ang="0">
                      <a:pos x="70" y="206"/>
                    </a:cxn>
                    <a:cxn ang="0">
                      <a:pos x="51" y="257"/>
                    </a:cxn>
                    <a:cxn ang="0">
                      <a:pos x="32" y="322"/>
                    </a:cxn>
                    <a:cxn ang="0">
                      <a:pos x="28" y="304"/>
                    </a:cxn>
                    <a:cxn ang="0">
                      <a:pos x="38" y="249"/>
                    </a:cxn>
                    <a:cxn ang="0">
                      <a:pos x="59" y="189"/>
                    </a:cxn>
                    <a:cxn ang="0">
                      <a:pos x="82" y="143"/>
                    </a:cxn>
                    <a:cxn ang="0">
                      <a:pos x="65" y="139"/>
                    </a:cxn>
                    <a:cxn ang="0">
                      <a:pos x="40" y="189"/>
                    </a:cxn>
                    <a:cxn ang="0">
                      <a:pos x="18" y="243"/>
                    </a:cxn>
                    <a:cxn ang="0">
                      <a:pos x="2" y="278"/>
                    </a:cxn>
                    <a:cxn ang="0">
                      <a:pos x="13" y="229"/>
                    </a:cxn>
                    <a:cxn ang="0">
                      <a:pos x="37" y="179"/>
                    </a:cxn>
                    <a:cxn ang="0">
                      <a:pos x="70" y="130"/>
                    </a:cxn>
                    <a:cxn ang="0">
                      <a:pos x="62" y="99"/>
                    </a:cxn>
                    <a:cxn ang="0">
                      <a:pos x="37" y="59"/>
                    </a:cxn>
                    <a:cxn ang="0">
                      <a:pos x="11" y="12"/>
                    </a:cxn>
                    <a:cxn ang="0">
                      <a:pos x="14" y="5"/>
                    </a:cxn>
                    <a:cxn ang="0">
                      <a:pos x="27" y="5"/>
                    </a:cxn>
                    <a:cxn ang="0">
                      <a:pos x="31" y="10"/>
                    </a:cxn>
                  </a:cxnLst>
                  <a:rect l="txL" t="txT" r="txR" b="txB"/>
                  <a:pathLst>
                    <a:path w="229" h="358">
                      <a:moveTo>
                        <a:pt x="43" y="31"/>
                      </a:moveTo>
                      <a:lnTo>
                        <a:pt x="47" y="39"/>
                      </a:lnTo>
                      <a:lnTo>
                        <a:pt x="51" y="44"/>
                      </a:lnTo>
                      <a:lnTo>
                        <a:pt x="55" y="51"/>
                      </a:lnTo>
                      <a:lnTo>
                        <a:pt x="60" y="58"/>
                      </a:lnTo>
                      <a:lnTo>
                        <a:pt x="64" y="63"/>
                      </a:lnTo>
                      <a:lnTo>
                        <a:pt x="68" y="66"/>
                      </a:lnTo>
                      <a:lnTo>
                        <a:pt x="72" y="69"/>
                      </a:lnTo>
                      <a:lnTo>
                        <a:pt x="70" y="58"/>
                      </a:lnTo>
                      <a:lnTo>
                        <a:pt x="67" y="44"/>
                      </a:lnTo>
                      <a:lnTo>
                        <a:pt x="65" y="30"/>
                      </a:lnTo>
                      <a:lnTo>
                        <a:pt x="63" y="15"/>
                      </a:lnTo>
                      <a:lnTo>
                        <a:pt x="64" y="5"/>
                      </a:lnTo>
                      <a:lnTo>
                        <a:pt x="69" y="5"/>
                      </a:lnTo>
                      <a:lnTo>
                        <a:pt x="70" y="5"/>
                      </a:lnTo>
                      <a:lnTo>
                        <a:pt x="70" y="2"/>
                      </a:lnTo>
                      <a:lnTo>
                        <a:pt x="73" y="16"/>
                      </a:lnTo>
                      <a:lnTo>
                        <a:pt x="76" y="30"/>
                      </a:lnTo>
                      <a:lnTo>
                        <a:pt x="78" y="41"/>
                      </a:lnTo>
                      <a:lnTo>
                        <a:pt x="81" y="56"/>
                      </a:lnTo>
                      <a:lnTo>
                        <a:pt x="82" y="66"/>
                      </a:lnTo>
                      <a:lnTo>
                        <a:pt x="84" y="71"/>
                      </a:lnTo>
                      <a:lnTo>
                        <a:pt x="87" y="66"/>
                      </a:lnTo>
                      <a:lnTo>
                        <a:pt x="89" y="59"/>
                      </a:lnTo>
                      <a:lnTo>
                        <a:pt x="93" y="52"/>
                      </a:lnTo>
                      <a:lnTo>
                        <a:pt x="94" y="39"/>
                      </a:lnTo>
                      <a:lnTo>
                        <a:pt x="95" y="30"/>
                      </a:lnTo>
                      <a:lnTo>
                        <a:pt x="96" y="14"/>
                      </a:lnTo>
                      <a:lnTo>
                        <a:pt x="96" y="0"/>
                      </a:lnTo>
                      <a:lnTo>
                        <a:pt x="101" y="5"/>
                      </a:lnTo>
                      <a:lnTo>
                        <a:pt x="102" y="5"/>
                      </a:lnTo>
                      <a:lnTo>
                        <a:pt x="103" y="5"/>
                      </a:lnTo>
                      <a:lnTo>
                        <a:pt x="104" y="5"/>
                      </a:lnTo>
                      <a:lnTo>
                        <a:pt x="105" y="5"/>
                      </a:lnTo>
                      <a:lnTo>
                        <a:pt x="104" y="5"/>
                      </a:lnTo>
                      <a:lnTo>
                        <a:pt x="102" y="5"/>
                      </a:lnTo>
                      <a:lnTo>
                        <a:pt x="103" y="5"/>
                      </a:lnTo>
                      <a:lnTo>
                        <a:pt x="105" y="5"/>
                      </a:lnTo>
                      <a:lnTo>
                        <a:pt x="103" y="5"/>
                      </a:lnTo>
                      <a:lnTo>
                        <a:pt x="101" y="5"/>
                      </a:lnTo>
                      <a:lnTo>
                        <a:pt x="102" y="5"/>
                      </a:lnTo>
                      <a:lnTo>
                        <a:pt x="101" y="5"/>
                      </a:lnTo>
                      <a:lnTo>
                        <a:pt x="104" y="5"/>
                      </a:lnTo>
                      <a:lnTo>
                        <a:pt x="103" y="5"/>
                      </a:lnTo>
                      <a:lnTo>
                        <a:pt x="100" y="5"/>
                      </a:lnTo>
                      <a:lnTo>
                        <a:pt x="101" y="5"/>
                      </a:lnTo>
                      <a:lnTo>
                        <a:pt x="103" y="5"/>
                      </a:lnTo>
                      <a:lnTo>
                        <a:pt x="102" y="5"/>
                      </a:lnTo>
                      <a:lnTo>
                        <a:pt x="104" y="5"/>
                      </a:lnTo>
                      <a:lnTo>
                        <a:pt x="102" y="5"/>
                      </a:lnTo>
                      <a:lnTo>
                        <a:pt x="107" y="5"/>
                      </a:lnTo>
                      <a:lnTo>
                        <a:pt x="103" y="5"/>
                      </a:lnTo>
                      <a:lnTo>
                        <a:pt x="104" y="5"/>
                      </a:lnTo>
                      <a:lnTo>
                        <a:pt x="107" y="2"/>
                      </a:lnTo>
                      <a:lnTo>
                        <a:pt x="107" y="15"/>
                      </a:lnTo>
                      <a:lnTo>
                        <a:pt x="106" y="31"/>
                      </a:lnTo>
                      <a:lnTo>
                        <a:pt x="105" y="47"/>
                      </a:lnTo>
                      <a:lnTo>
                        <a:pt x="103" y="66"/>
                      </a:lnTo>
                      <a:lnTo>
                        <a:pt x="102" y="83"/>
                      </a:lnTo>
                      <a:lnTo>
                        <a:pt x="101" y="100"/>
                      </a:lnTo>
                      <a:lnTo>
                        <a:pt x="105" y="95"/>
                      </a:lnTo>
                      <a:lnTo>
                        <a:pt x="111" y="88"/>
                      </a:lnTo>
                      <a:lnTo>
                        <a:pt x="118" y="80"/>
                      </a:lnTo>
                      <a:lnTo>
                        <a:pt x="123" y="78"/>
                      </a:lnTo>
                      <a:lnTo>
                        <a:pt x="129" y="76"/>
                      </a:lnTo>
                      <a:lnTo>
                        <a:pt x="134" y="79"/>
                      </a:lnTo>
                      <a:lnTo>
                        <a:pt x="139" y="79"/>
                      </a:lnTo>
                      <a:lnTo>
                        <a:pt x="146" y="81"/>
                      </a:lnTo>
                      <a:lnTo>
                        <a:pt x="154" y="83"/>
                      </a:lnTo>
                      <a:lnTo>
                        <a:pt x="162" y="83"/>
                      </a:lnTo>
                      <a:lnTo>
                        <a:pt x="169" y="81"/>
                      </a:lnTo>
                      <a:lnTo>
                        <a:pt x="176" y="81"/>
                      </a:lnTo>
                      <a:lnTo>
                        <a:pt x="182" y="83"/>
                      </a:lnTo>
                      <a:lnTo>
                        <a:pt x="188" y="88"/>
                      </a:lnTo>
                      <a:lnTo>
                        <a:pt x="195" y="93"/>
                      </a:lnTo>
                      <a:lnTo>
                        <a:pt x="200" y="98"/>
                      </a:lnTo>
                      <a:lnTo>
                        <a:pt x="205" y="104"/>
                      </a:lnTo>
                      <a:lnTo>
                        <a:pt x="211" y="112"/>
                      </a:lnTo>
                      <a:lnTo>
                        <a:pt x="214" y="117"/>
                      </a:lnTo>
                      <a:lnTo>
                        <a:pt x="220" y="129"/>
                      </a:lnTo>
                      <a:lnTo>
                        <a:pt x="223" y="142"/>
                      </a:lnTo>
                      <a:lnTo>
                        <a:pt x="228" y="155"/>
                      </a:lnTo>
                      <a:lnTo>
                        <a:pt x="223" y="156"/>
                      </a:lnTo>
                      <a:lnTo>
                        <a:pt x="217" y="154"/>
                      </a:lnTo>
                      <a:lnTo>
                        <a:pt x="210" y="152"/>
                      </a:lnTo>
                      <a:lnTo>
                        <a:pt x="205" y="150"/>
                      </a:lnTo>
                      <a:lnTo>
                        <a:pt x="200" y="147"/>
                      </a:lnTo>
                      <a:lnTo>
                        <a:pt x="195" y="143"/>
                      </a:lnTo>
                      <a:lnTo>
                        <a:pt x="189" y="138"/>
                      </a:lnTo>
                      <a:lnTo>
                        <a:pt x="184" y="135"/>
                      </a:lnTo>
                      <a:lnTo>
                        <a:pt x="179" y="133"/>
                      </a:lnTo>
                      <a:lnTo>
                        <a:pt x="171" y="131"/>
                      </a:lnTo>
                      <a:lnTo>
                        <a:pt x="162" y="129"/>
                      </a:lnTo>
                      <a:lnTo>
                        <a:pt x="154" y="126"/>
                      </a:lnTo>
                      <a:lnTo>
                        <a:pt x="146" y="124"/>
                      </a:lnTo>
                      <a:lnTo>
                        <a:pt x="138" y="122"/>
                      </a:lnTo>
                      <a:lnTo>
                        <a:pt x="132" y="121"/>
                      </a:lnTo>
                      <a:lnTo>
                        <a:pt x="128" y="120"/>
                      </a:lnTo>
                      <a:lnTo>
                        <a:pt x="122" y="120"/>
                      </a:lnTo>
                      <a:lnTo>
                        <a:pt x="116" y="121"/>
                      </a:lnTo>
                      <a:lnTo>
                        <a:pt x="112" y="122"/>
                      </a:lnTo>
                      <a:lnTo>
                        <a:pt x="107" y="125"/>
                      </a:lnTo>
                      <a:lnTo>
                        <a:pt x="100" y="129"/>
                      </a:lnTo>
                      <a:lnTo>
                        <a:pt x="105" y="135"/>
                      </a:lnTo>
                      <a:lnTo>
                        <a:pt x="111" y="140"/>
                      </a:lnTo>
                      <a:lnTo>
                        <a:pt x="116" y="147"/>
                      </a:lnTo>
                      <a:lnTo>
                        <a:pt x="122" y="150"/>
                      </a:lnTo>
                      <a:lnTo>
                        <a:pt x="129" y="155"/>
                      </a:lnTo>
                      <a:lnTo>
                        <a:pt x="133" y="158"/>
                      </a:lnTo>
                      <a:lnTo>
                        <a:pt x="139" y="159"/>
                      </a:lnTo>
                      <a:lnTo>
                        <a:pt x="147" y="162"/>
                      </a:lnTo>
                      <a:lnTo>
                        <a:pt x="154" y="165"/>
                      </a:lnTo>
                      <a:lnTo>
                        <a:pt x="161" y="167"/>
                      </a:lnTo>
                      <a:lnTo>
                        <a:pt x="168" y="169"/>
                      </a:lnTo>
                      <a:lnTo>
                        <a:pt x="174" y="170"/>
                      </a:lnTo>
                      <a:lnTo>
                        <a:pt x="181" y="174"/>
                      </a:lnTo>
                      <a:lnTo>
                        <a:pt x="187" y="175"/>
                      </a:lnTo>
                      <a:lnTo>
                        <a:pt x="191" y="179"/>
                      </a:lnTo>
                      <a:lnTo>
                        <a:pt x="197" y="186"/>
                      </a:lnTo>
                      <a:lnTo>
                        <a:pt x="202" y="193"/>
                      </a:lnTo>
                      <a:lnTo>
                        <a:pt x="206" y="202"/>
                      </a:lnTo>
                      <a:lnTo>
                        <a:pt x="212" y="212"/>
                      </a:lnTo>
                      <a:lnTo>
                        <a:pt x="214" y="218"/>
                      </a:lnTo>
                      <a:lnTo>
                        <a:pt x="217" y="229"/>
                      </a:lnTo>
                      <a:lnTo>
                        <a:pt x="219" y="240"/>
                      </a:lnTo>
                      <a:lnTo>
                        <a:pt x="221" y="253"/>
                      </a:lnTo>
                      <a:lnTo>
                        <a:pt x="224" y="262"/>
                      </a:lnTo>
                      <a:lnTo>
                        <a:pt x="219" y="257"/>
                      </a:lnTo>
                      <a:lnTo>
                        <a:pt x="212" y="250"/>
                      </a:lnTo>
                      <a:lnTo>
                        <a:pt x="206" y="245"/>
                      </a:lnTo>
                      <a:lnTo>
                        <a:pt x="200" y="238"/>
                      </a:lnTo>
                      <a:lnTo>
                        <a:pt x="194" y="231"/>
                      </a:lnTo>
                      <a:lnTo>
                        <a:pt x="188" y="226"/>
                      </a:lnTo>
                      <a:lnTo>
                        <a:pt x="182" y="219"/>
                      </a:lnTo>
                      <a:lnTo>
                        <a:pt x="176" y="213"/>
                      </a:lnTo>
                      <a:lnTo>
                        <a:pt x="169" y="206"/>
                      </a:lnTo>
                      <a:lnTo>
                        <a:pt x="163" y="199"/>
                      </a:lnTo>
                      <a:lnTo>
                        <a:pt x="158" y="194"/>
                      </a:lnTo>
                      <a:lnTo>
                        <a:pt x="151" y="187"/>
                      </a:lnTo>
                      <a:lnTo>
                        <a:pt x="145" y="182"/>
                      </a:lnTo>
                      <a:lnTo>
                        <a:pt x="139" y="177"/>
                      </a:lnTo>
                      <a:lnTo>
                        <a:pt x="133" y="172"/>
                      </a:lnTo>
                      <a:lnTo>
                        <a:pt x="129" y="170"/>
                      </a:lnTo>
                      <a:lnTo>
                        <a:pt x="125" y="166"/>
                      </a:lnTo>
                      <a:lnTo>
                        <a:pt x="119" y="162"/>
                      </a:lnTo>
                      <a:lnTo>
                        <a:pt x="115" y="158"/>
                      </a:lnTo>
                      <a:lnTo>
                        <a:pt x="111" y="159"/>
                      </a:lnTo>
                      <a:lnTo>
                        <a:pt x="107" y="162"/>
                      </a:lnTo>
                      <a:lnTo>
                        <a:pt x="103" y="161"/>
                      </a:lnTo>
                      <a:lnTo>
                        <a:pt x="99" y="158"/>
                      </a:lnTo>
                      <a:lnTo>
                        <a:pt x="98" y="170"/>
                      </a:lnTo>
                      <a:lnTo>
                        <a:pt x="97" y="185"/>
                      </a:lnTo>
                      <a:lnTo>
                        <a:pt x="100" y="197"/>
                      </a:lnTo>
                      <a:lnTo>
                        <a:pt x="102" y="211"/>
                      </a:lnTo>
                      <a:lnTo>
                        <a:pt x="107" y="220"/>
                      </a:lnTo>
                      <a:lnTo>
                        <a:pt x="111" y="231"/>
                      </a:lnTo>
                      <a:lnTo>
                        <a:pt x="115" y="245"/>
                      </a:lnTo>
                      <a:lnTo>
                        <a:pt x="119" y="259"/>
                      </a:lnTo>
                      <a:lnTo>
                        <a:pt x="123" y="268"/>
                      </a:lnTo>
                      <a:lnTo>
                        <a:pt x="127" y="278"/>
                      </a:lnTo>
                      <a:lnTo>
                        <a:pt x="131" y="297"/>
                      </a:lnTo>
                      <a:lnTo>
                        <a:pt x="132" y="312"/>
                      </a:lnTo>
                      <a:lnTo>
                        <a:pt x="135" y="331"/>
                      </a:lnTo>
                      <a:lnTo>
                        <a:pt x="138" y="349"/>
                      </a:lnTo>
                      <a:lnTo>
                        <a:pt x="125" y="349"/>
                      </a:lnTo>
                      <a:lnTo>
                        <a:pt x="122" y="349"/>
                      </a:lnTo>
                      <a:lnTo>
                        <a:pt x="114" y="328"/>
                      </a:lnTo>
                      <a:lnTo>
                        <a:pt x="108" y="307"/>
                      </a:lnTo>
                      <a:lnTo>
                        <a:pt x="103" y="290"/>
                      </a:lnTo>
                      <a:lnTo>
                        <a:pt x="100" y="273"/>
                      </a:lnTo>
                      <a:lnTo>
                        <a:pt x="98" y="255"/>
                      </a:lnTo>
                      <a:lnTo>
                        <a:pt x="95" y="236"/>
                      </a:lnTo>
                      <a:lnTo>
                        <a:pt x="90" y="209"/>
                      </a:lnTo>
                      <a:lnTo>
                        <a:pt x="87" y="200"/>
                      </a:lnTo>
                      <a:lnTo>
                        <a:pt x="84" y="184"/>
                      </a:lnTo>
                      <a:lnTo>
                        <a:pt x="81" y="177"/>
                      </a:lnTo>
                      <a:lnTo>
                        <a:pt x="78" y="179"/>
                      </a:lnTo>
                      <a:lnTo>
                        <a:pt x="75" y="181"/>
                      </a:lnTo>
                      <a:lnTo>
                        <a:pt x="74" y="191"/>
                      </a:lnTo>
                      <a:lnTo>
                        <a:pt x="74" y="186"/>
                      </a:lnTo>
                      <a:lnTo>
                        <a:pt x="74" y="192"/>
                      </a:lnTo>
                      <a:lnTo>
                        <a:pt x="73" y="197"/>
                      </a:lnTo>
                      <a:lnTo>
                        <a:pt x="72" y="198"/>
                      </a:lnTo>
                      <a:lnTo>
                        <a:pt x="74" y="197"/>
                      </a:lnTo>
                      <a:lnTo>
                        <a:pt x="73" y="194"/>
                      </a:lnTo>
                      <a:lnTo>
                        <a:pt x="74" y="189"/>
                      </a:lnTo>
                      <a:lnTo>
                        <a:pt x="74" y="186"/>
                      </a:lnTo>
                      <a:lnTo>
                        <a:pt x="74" y="187"/>
                      </a:lnTo>
                      <a:lnTo>
                        <a:pt x="74" y="192"/>
                      </a:lnTo>
                      <a:lnTo>
                        <a:pt x="75" y="197"/>
                      </a:lnTo>
                      <a:lnTo>
                        <a:pt x="73" y="198"/>
                      </a:lnTo>
                      <a:lnTo>
                        <a:pt x="70" y="206"/>
                      </a:lnTo>
                      <a:lnTo>
                        <a:pt x="65" y="218"/>
                      </a:lnTo>
                      <a:lnTo>
                        <a:pt x="61" y="227"/>
                      </a:lnTo>
                      <a:lnTo>
                        <a:pt x="58" y="236"/>
                      </a:lnTo>
                      <a:lnTo>
                        <a:pt x="54" y="248"/>
                      </a:lnTo>
                      <a:lnTo>
                        <a:pt x="51" y="257"/>
                      </a:lnTo>
                      <a:lnTo>
                        <a:pt x="47" y="268"/>
                      </a:lnTo>
                      <a:lnTo>
                        <a:pt x="43" y="280"/>
                      </a:lnTo>
                      <a:lnTo>
                        <a:pt x="40" y="293"/>
                      </a:lnTo>
                      <a:lnTo>
                        <a:pt x="36" y="307"/>
                      </a:lnTo>
                      <a:lnTo>
                        <a:pt x="32" y="322"/>
                      </a:lnTo>
                      <a:lnTo>
                        <a:pt x="29" y="339"/>
                      </a:lnTo>
                      <a:lnTo>
                        <a:pt x="24" y="357"/>
                      </a:lnTo>
                      <a:lnTo>
                        <a:pt x="26" y="335"/>
                      </a:lnTo>
                      <a:lnTo>
                        <a:pt x="27" y="321"/>
                      </a:lnTo>
                      <a:lnTo>
                        <a:pt x="28" y="304"/>
                      </a:lnTo>
                      <a:lnTo>
                        <a:pt x="29" y="295"/>
                      </a:lnTo>
                      <a:lnTo>
                        <a:pt x="31" y="287"/>
                      </a:lnTo>
                      <a:lnTo>
                        <a:pt x="33" y="273"/>
                      </a:lnTo>
                      <a:lnTo>
                        <a:pt x="36" y="260"/>
                      </a:lnTo>
                      <a:lnTo>
                        <a:pt x="38" y="249"/>
                      </a:lnTo>
                      <a:lnTo>
                        <a:pt x="43" y="236"/>
                      </a:lnTo>
                      <a:lnTo>
                        <a:pt x="47" y="224"/>
                      </a:lnTo>
                      <a:lnTo>
                        <a:pt x="52" y="211"/>
                      </a:lnTo>
                      <a:lnTo>
                        <a:pt x="56" y="197"/>
                      </a:lnTo>
                      <a:lnTo>
                        <a:pt x="59" y="189"/>
                      </a:lnTo>
                      <a:lnTo>
                        <a:pt x="63" y="181"/>
                      </a:lnTo>
                      <a:lnTo>
                        <a:pt x="68" y="172"/>
                      </a:lnTo>
                      <a:lnTo>
                        <a:pt x="73" y="164"/>
                      </a:lnTo>
                      <a:lnTo>
                        <a:pt x="77" y="154"/>
                      </a:lnTo>
                      <a:lnTo>
                        <a:pt x="82" y="143"/>
                      </a:lnTo>
                      <a:lnTo>
                        <a:pt x="80" y="139"/>
                      </a:lnTo>
                      <a:lnTo>
                        <a:pt x="76" y="133"/>
                      </a:lnTo>
                      <a:lnTo>
                        <a:pt x="73" y="129"/>
                      </a:lnTo>
                      <a:lnTo>
                        <a:pt x="70" y="132"/>
                      </a:lnTo>
                      <a:lnTo>
                        <a:pt x="65" y="139"/>
                      </a:lnTo>
                      <a:lnTo>
                        <a:pt x="60" y="147"/>
                      </a:lnTo>
                      <a:lnTo>
                        <a:pt x="55" y="154"/>
                      </a:lnTo>
                      <a:lnTo>
                        <a:pt x="51" y="164"/>
                      </a:lnTo>
                      <a:lnTo>
                        <a:pt x="45" y="177"/>
                      </a:lnTo>
                      <a:lnTo>
                        <a:pt x="40" y="189"/>
                      </a:lnTo>
                      <a:lnTo>
                        <a:pt x="36" y="199"/>
                      </a:lnTo>
                      <a:lnTo>
                        <a:pt x="31" y="207"/>
                      </a:lnTo>
                      <a:lnTo>
                        <a:pt x="27" y="218"/>
                      </a:lnTo>
                      <a:lnTo>
                        <a:pt x="22" y="230"/>
                      </a:lnTo>
                      <a:lnTo>
                        <a:pt x="18" y="243"/>
                      </a:lnTo>
                      <a:lnTo>
                        <a:pt x="14" y="255"/>
                      </a:lnTo>
                      <a:lnTo>
                        <a:pt x="9" y="268"/>
                      </a:lnTo>
                      <a:lnTo>
                        <a:pt x="5" y="282"/>
                      </a:lnTo>
                      <a:lnTo>
                        <a:pt x="0" y="298"/>
                      </a:lnTo>
                      <a:lnTo>
                        <a:pt x="2" y="278"/>
                      </a:lnTo>
                      <a:lnTo>
                        <a:pt x="4" y="262"/>
                      </a:lnTo>
                      <a:lnTo>
                        <a:pt x="5" y="248"/>
                      </a:lnTo>
                      <a:lnTo>
                        <a:pt x="6" y="244"/>
                      </a:lnTo>
                      <a:lnTo>
                        <a:pt x="9" y="238"/>
                      </a:lnTo>
                      <a:lnTo>
                        <a:pt x="13" y="229"/>
                      </a:lnTo>
                      <a:lnTo>
                        <a:pt x="17" y="219"/>
                      </a:lnTo>
                      <a:lnTo>
                        <a:pt x="22" y="209"/>
                      </a:lnTo>
                      <a:lnTo>
                        <a:pt x="27" y="199"/>
                      </a:lnTo>
                      <a:lnTo>
                        <a:pt x="33" y="187"/>
                      </a:lnTo>
                      <a:lnTo>
                        <a:pt x="37" y="179"/>
                      </a:lnTo>
                      <a:lnTo>
                        <a:pt x="43" y="170"/>
                      </a:lnTo>
                      <a:lnTo>
                        <a:pt x="49" y="159"/>
                      </a:lnTo>
                      <a:lnTo>
                        <a:pt x="55" y="149"/>
                      </a:lnTo>
                      <a:lnTo>
                        <a:pt x="60" y="142"/>
                      </a:lnTo>
                      <a:lnTo>
                        <a:pt x="70" y="130"/>
                      </a:lnTo>
                      <a:lnTo>
                        <a:pt x="75" y="125"/>
                      </a:lnTo>
                      <a:lnTo>
                        <a:pt x="78" y="123"/>
                      </a:lnTo>
                      <a:lnTo>
                        <a:pt x="73" y="117"/>
                      </a:lnTo>
                      <a:lnTo>
                        <a:pt x="67" y="108"/>
                      </a:lnTo>
                      <a:lnTo>
                        <a:pt x="62" y="99"/>
                      </a:lnTo>
                      <a:lnTo>
                        <a:pt x="57" y="92"/>
                      </a:lnTo>
                      <a:lnTo>
                        <a:pt x="52" y="85"/>
                      </a:lnTo>
                      <a:lnTo>
                        <a:pt x="47" y="78"/>
                      </a:lnTo>
                      <a:lnTo>
                        <a:pt x="43" y="71"/>
                      </a:lnTo>
                      <a:lnTo>
                        <a:pt x="37" y="59"/>
                      </a:lnTo>
                      <a:lnTo>
                        <a:pt x="32" y="48"/>
                      </a:lnTo>
                      <a:lnTo>
                        <a:pt x="26" y="38"/>
                      </a:lnTo>
                      <a:lnTo>
                        <a:pt x="19" y="26"/>
                      </a:lnTo>
                      <a:lnTo>
                        <a:pt x="14" y="19"/>
                      </a:lnTo>
                      <a:lnTo>
                        <a:pt x="11" y="12"/>
                      </a:lnTo>
                      <a:lnTo>
                        <a:pt x="7" y="4"/>
                      </a:lnTo>
                      <a:lnTo>
                        <a:pt x="14" y="5"/>
                      </a:lnTo>
                      <a:lnTo>
                        <a:pt x="27" y="5"/>
                      </a:lnTo>
                      <a:lnTo>
                        <a:pt x="31" y="10"/>
                      </a:lnTo>
                      <a:lnTo>
                        <a:pt x="37" y="22"/>
                      </a:lnTo>
                      <a:lnTo>
                        <a:pt x="43" y="31"/>
                      </a:lnTo>
                    </a:path>
                  </a:pathLst>
                </a:custGeom>
                <a:solidFill>
                  <a:srgbClr val="037C03">
                    <a:alpha val="50195"/>
                  </a:srgbClr>
                </a:solidFill>
                <a:ln w="9525">
                  <a:noFill/>
                </a:ln>
              </p:spPr>
              <p:txBody>
                <a:bodyPr/>
                <a:lstStyle/>
                <a:p>
                  <a:endParaRPr lang="zh-CN" altLang="en-US"/>
                </a:p>
              </p:txBody>
            </p:sp>
            <p:grpSp>
              <p:nvGrpSpPr>
                <p:cNvPr id="89175" name="Group 161"/>
                <p:cNvGrpSpPr/>
                <p:nvPr/>
              </p:nvGrpSpPr>
              <p:grpSpPr>
                <a:xfrm>
                  <a:off x="1985" y="1419"/>
                  <a:ext cx="465" cy="349"/>
                  <a:chOff x="1985" y="1419"/>
                  <a:chExt cx="465" cy="349"/>
                </a:xfrm>
              </p:grpSpPr>
              <p:sp>
                <p:nvSpPr>
                  <p:cNvPr id="89176" name="Freeform 162"/>
                  <p:cNvSpPr/>
                  <p:nvPr/>
                </p:nvSpPr>
                <p:spPr>
                  <a:xfrm>
                    <a:off x="2030" y="1419"/>
                    <a:ext cx="420" cy="326"/>
                  </a:xfrm>
                  <a:custGeom>
                    <a:avLst/>
                    <a:gdLst>
                      <a:gd name="txL" fmla="*/ 0 w 420"/>
                      <a:gd name="txT" fmla="*/ 0 h 326"/>
                      <a:gd name="txR" fmla="*/ 420 w 420"/>
                      <a:gd name="txB" fmla="*/ 326 h 326"/>
                    </a:gdLst>
                    <a:ahLst/>
                    <a:cxnLst>
                      <a:cxn ang="0">
                        <a:pos x="159" y="41"/>
                      </a:cxn>
                      <a:cxn ang="0">
                        <a:pos x="193" y="13"/>
                      </a:cxn>
                      <a:cxn ang="0">
                        <a:pos x="233" y="2"/>
                      </a:cxn>
                      <a:cxn ang="0">
                        <a:pos x="279" y="2"/>
                      </a:cxn>
                      <a:cxn ang="0">
                        <a:pos x="290" y="6"/>
                      </a:cxn>
                      <a:cxn ang="0">
                        <a:pos x="260" y="14"/>
                      </a:cxn>
                      <a:cxn ang="0">
                        <a:pos x="225" y="25"/>
                      </a:cxn>
                      <a:cxn ang="0">
                        <a:pos x="186" y="52"/>
                      </a:cxn>
                      <a:cxn ang="0">
                        <a:pos x="183" y="89"/>
                      </a:cxn>
                      <a:cxn ang="0">
                        <a:pos x="240" y="66"/>
                      </a:cxn>
                      <a:cxn ang="0">
                        <a:pos x="288" y="64"/>
                      </a:cxn>
                      <a:cxn ang="0">
                        <a:pos x="338" y="69"/>
                      </a:cxn>
                      <a:cxn ang="0">
                        <a:pos x="397" y="75"/>
                      </a:cxn>
                      <a:cxn ang="0">
                        <a:pos x="398" y="76"/>
                      </a:cxn>
                      <a:cxn ang="0">
                        <a:pos x="341" y="79"/>
                      </a:cxn>
                      <a:cxn ang="0">
                        <a:pos x="288" y="80"/>
                      </a:cxn>
                      <a:cxn ang="0">
                        <a:pos x="242" y="86"/>
                      </a:cxn>
                      <a:cxn ang="0">
                        <a:pos x="191" y="98"/>
                      </a:cxn>
                      <a:cxn ang="0">
                        <a:pos x="212" y="118"/>
                      </a:cxn>
                      <a:cxn ang="0">
                        <a:pos x="227" y="136"/>
                      </a:cxn>
                      <a:cxn ang="0">
                        <a:pos x="175" y="119"/>
                      </a:cxn>
                      <a:cxn ang="0">
                        <a:pos x="165" y="129"/>
                      </a:cxn>
                      <a:cxn ang="0">
                        <a:pos x="221" y="138"/>
                      </a:cxn>
                      <a:cxn ang="0">
                        <a:pos x="269" y="150"/>
                      </a:cxn>
                      <a:cxn ang="0">
                        <a:pos x="306" y="181"/>
                      </a:cxn>
                      <a:cxn ang="0">
                        <a:pos x="335" y="223"/>
                      </a:cxn>
                      <a:cxn ang="0">
                        <a:pos x="329" y="231"/>
                      </a:cxn>
                      <a:cxn ang="0">
                        <a:pos x="290" y="204"/>
                      </a:cxn>
                      <a:cxn ang="0">
                        <a:pos x="248" y="174"/>
                      </a:cxn>
                      <a:cxn ang="0">
                        <a:pos x="202" y="154"/>
                      </a:cxn>
                      <a:cxn ang="0">
                        <a:pos x="173" y="148"/>
                      </a:cxn>
                      <a:cxn ang="0">
                        <a:pos x="196" y="181"/>
                      </a:cxn>
                      <a:cxn ang="0">
                        <a:pos x="227" y="223"/>
                      </a:cxn>
                      <a:cxn ang="0">
                        <a:pos x="244" y="262"/>
                      </a:cxn>
                      <a:cxn ang="0">
                        <a:pos x="243" y="299"/>
                      </a:cxn>
                      <a:cxn ang="0">
                        <a:pos x="222" y="259"/>
                      </a:cxn>
                      <a:cxn ang="0">
                        <a:pos x="199" y="215"/>
                      </a:cxn>
                      <a:cxn ang="0">
                        <a:pos x="173" y="177"/>
                      </a:cxn>
                      <a:cxn ang="0">
                        <a:pos x="150" y="142"/>
                      </a:cxn>
                      <a:cxn ang="0">
                        <a:pos x="109" y="162"/>
                      </a:cxn>
                      <a:cxn ang="0">
                        <a:pos x="77" y="210"/>
                      </a:cxn>
                      <a:cxn ang="0">
                        <a:pos x="49" y="260"/>
                      </a:cxn>
                      <a:cxn ang="0">
                        <a:pos x="18" y="306"/>
                      </a:cxn>
                      <a:cxn ang="0">
                        <a:pos x="8" y="301"/>
                      </a:cxn>
                      <a:cxn ang="0">
                        <a:pos x="45" y="243"/>
                      </a:cxn>
                      <a:cxn ang="0">
                        <a:pos x="78" y="198"/>
                      </a:cxn>
                      <a:cxn ang="0">
                        <a:pos x="107" y="154"/>
                      </a:cxn>
                      <a:cxn ang="0">
                        <a:pos x="132" y="120"/>
                      </a:cxn>
                      <a:cxn ang="0">
                        <a:pos x="95" y="79"/>
                      </a:cxn>
                      <a:cxn ang="0">
                        <a:pos x="42" y="57"/>
                      </a:cxn>
                      <a:cxn ang="0">
                        <a:pos x="19" y="45"/>
                      </a:cxn>
                      <a:cxn ang="0">
                        <a:pos x="60" y="58"/>
                      </a:cxn>
                      <a:cxn ang="0">
                        <a:pos x="116" y="86"/>
                      </a:cxn>
                    </a:cxnLst>
                    <a:rect l="txL" t="txT" r="txR" b="txB"/>
                    <a:pathLst>
                      <a:path w="420" h="326">
                        <a:moveTo>
                          <a:pt x="132" y="83"/>
                        </a:moveTo>
                        <a:lnTo>
                          <a:pt x="135" y="74"/>
                        </a:lnTo>
                        <a:lnTo>
                          <a:pt x="140" y="65"/>
                        </a:lnTo>
                        <a:lnTo>
                          <a:pt x="146" y="57"/>
                        </a:lnTo>
                        <a:lnTo>
                          <a:pt x="152" y="48"/>
                        </a:lnTo>
                        <a:lnTo>
                          <a:pt x="159" y="41"/>
                        </a:lnTo>
                        <a:lnTo>
                          <a:pt x="164" y="34"/>
                        </a:lnTo>
                        <a:lnTo>
                          <a:pt x="170" y="29"/>
                        </a:lnTo>
                        <a:lnTo>
                          <a:pt x="176" y="25"/>
                        </a:lnTo>
                        <a:lnTo>
                          <a:pt x="181" y="20"/>
                        </a:lnTo>
                        <a:lnTo>
                          <a:pt x="187" y="17"/>
                        </a:lnTo>
                        <a:lnTo>
                          <a:pt x="193" y="13"/>
                        </a:lnTo>
                        <a:lnTo>
                          <a:pt x="199" y="10"/>
                        </a:lnTo>
                        <a:lnTo>
                          <a:pt x="204" y="8"/>
                        </a:lnTo>
                        <a:lnTo>
                          <a:pt x="212" y="6"/>
                        </a:lnTo>
                        <a:lnTo>
                          <a:pt x="220" y="5"/>
                        </a:lnTo>
                        <a:lnTo>
                          <a:pt x="226" y="3"/>
                        </a:lnTo>
                        <a:lnTo>
                          <a:pt x="233" y="2"/>
                        </a:lnTo>
                        <a:lnTo>
                          <a:pt x="241" y="2"/>
                        </a:lnTo>
                        <a:lnTo>
                          <a:pt x="248" y="1"/>
                        </a:lnTo>
                        <a:lnTo>
                          <a:pt x="258" y="1"/>
                        </a:lnTo>
                        <a:lnTo>
                          <a:pt x="265" y="1"/>
                        </a:lnTo>
                        <a:lnTo>
                          <a:pt x="272" y="2"/>
                        </a:lnTo>
                        <a:lnTo>
                          <a:pt x="279" y="2"/>
                        </a:lnTo>
                        <a:lnTo>
                          <a:pt x="285" y="1"/>
                        </a:lnTo>
                        <a:lnTo>
                          <a:pt x="293" y="1"/>
                        </a:lnTo>
                        <a:lnTo>
                          <a:pt x="300" y="0"/>
                        </a:lnTo>
                        <a:lnTo>
                          <a:pt x="296" y="2"/>
                        </a:lnTo>
                        <a:lnTo>
                          <a:pt x="293" y="3"/>
                        </a:lnTo>
                        <a:lnTo>
                          <a:pt x="290" y="6"/>
                        </a:lnTo>
                        <a:lnTo>
                          <a:pt x="287" y="10"/>
                        </a:lnTo>
                        <a:lnTo>
                          <a:pt x="281" y="10"/>
                        </a:lnTo>
                        <a:lnTo>
                          <a:pt x="275" y="10"/>
                        </a:lnTo>
                        <a:lnTo>
                          <a:pt x="270" y="11"/>
                        </a:lnTo>
                        <a:lnTo>
                          <a:pt x="265" y="12"/>
                        </a:lnTo>
                        <a:lnTo>
                          <a:pt x="260" y="14"/>
                        </a:lnTo>
                        <a:lnTo>
                          <a:pt x="254" y="15"/>
                        </a:lnTo>
                        <a:lnTo>
                          <a:pt x="248" y="17"/>
                        </a:lnTo>
                        <a:lnTo>
                          <a:pt x="242" y="19"/>
                        </a:lnTo>
                        <a:lnTo>
                          <a:pt x="236" y="20"/>
                        </a:lnTo>
                        <a:lnTo>
                          <a:pt x="231" y="22"/>
                        </a:lnTo>
                        <a:lnTo>
                          <a:pt x="225" y="25"/>
                        </a:lnTo>
                        <a:lnTo>
                          <a:pt x="218" y="28"/>
                        </a:lnTo>
                        <a:lnTo>
                          <a:pt x="212" y="31"/>
                        </a:lnTo>
                        <a:lnTo>
                          <a:pt x="205" y="35"/>
                        </a:lnTo>
                        <a:lnTo>
                          <a:pt x="199" y="39"/>
                        </a:lnTo>
                        <a:lnTo>
                          <a:pt x="192" y="45"/>
                        </a:lnTo>
                        <a:lnTo>
                          <a:pt x="186" y="52"/>
                        </a:lnTo>
                        <a:lnTo>
                          <a:pt x="180" y="61"/>
                        </a:lnTo>
                        <a:lnTo>
                          <a:pt x="173" y="73"/>
                        </a:lnTo>
                        <a:lnTo>
                          <a:pt x="167" y="86"/>
                        </a:lnTo>
                        <a:lnTo>
                          <a:pt x="159" y="101"/>
                        </a:lnTo>
                        <a:lnTo>
                          <a:pt x="172" y="95"/>
                        </a:lnTo>
                        <a:lnTo>
                          <a:pt x="183" y="89"/>
                        </a:lnTo>
                        <a:lnTo>
                          <a:pt x="197" y="82"/>
                        </a:lnTo>
                        <a:lnTo>
                          <a:pt x="212" y="75"/>
                        </a:lnTo>
                        <a:lnTo>
                          <a:pt x="218" y="73"/>
                        </a:lnTo>
                        <a:lnTo>
                          <a:pt x="225" y="70"/>
                        </a:lnTo>
                        <a:lnTo>
                          <a:pt x="232" y="69"/>
                        </a:lnTo>
                        <a:lnTo>
                          <a:pt x="240" y="66"/>
                        </a:lnTo>
                        <a:lnTo>
                          <a:pt x="249" y="65"/>
                        </a:lnTo>
                        <a:lnTo>
                          <a:pt x="256" y="64"/>
                        </a:lnTo>
                        <a:lnTo>
                          <a:pt x="263" y="64"/>
                        </a:lnTo>
                        <a:lnTo>
                          <a:pt x="272" y="63"/>
                        </a:lnTo>
                        <a:lnTo>
                          <a:pt x="281" y="64"/>
                        </a:lnTo>
                        <a:lnTo>
                          <a:pt x="288" y="64"/>
                        </a:lnTo>
                        <a:lnTo>
                          <a:pt x="297" y="65"/>
                        </a:lnTo>
                        <a:lnTo>
                          <a:pt x="305" y="65"/>
                        </a:lnTo>
                        <a:lnTo>
                          <a:pt x="313" y="66"/>
                        </a:lnTo>
                        <a:lnTo>
                          <a:pt x="321" y="67"/>
                        </a:lnTo>
                        <a:lnTo>
                          <a:pt x="329" y="68"/>
                        </a:lnTo>
                        <a:lnTo>
                          <a:pt x="338" y="69"/>
                        </a:lnTo>
                        <a:lnTo>
                          <a:pt x="346" y="69"/>
                        </a:lnTo>
                        <a:lnTo>
                          <a:pt x="354" y="70"/>
                        </a:lnTo>
                        <a:lnTo>
                          <a:pt x="364" y="71"/>
                        </a:lnTo>
                        <a:lnTo>
                          <a:pt x="374" y="72"/>
                        </a:lnTo>
                        <a:lnTo>
                          <a:pt x="383" y="74"/>
                        </a:lnTo>
                        <a:lnTo>
                          <a:pt x="397" y="75"/>
                        </a:lnTo>
                        <a:lnTo>
                          <a:pt x="402" y="75"/>
                        </a:lnTo>
                        <a:lnTo>
                          <a:pt x="406" y="75"/>
                        </a:lnTo>
                        <a:lnTo>
                          <a:pt x="411" y="77"/>
                        </a:lnTo>
                        <a:lnTo>
                          <a:pt x="419" y="80"/>
                        </a:lnTo>
                        <a:lnTo>
                          <a:pt x="404" y="77"/>
                        </a:lnTo>
                        <a:lnTo>
                          <a:pt x="398" y="76"/>
                        </a:lnTo>
                        <a:lnTo>
                          <a:pt x="392" y="76"/>
                        </a:lnTo>
                        <a:lnTo>
                          <a:pt x="379" y="77"/>
                        </a:lnTo>
                        <a:lnTo>
                          <a:pt x="370" y="78"/>
                        </a:lnTo>
                        <a:lnTo>
                          <a:pt x="360" y="78"/>
                        </a:lnTo>
                        <a:lnTo>
                          <a:pt x="350" y="78"/>
                        </a:lnTo>
                        <a:lnTo>
                          <a:pt x="341" y="79"/>
                        </a:lnTo>
                        <a:lnTo>
                          <a:pt x="332" y="79"/>
                        </a:lnTo>
                        <a:lnTo>
                          <a:pt x="325" y="78"/>
                        </a:lnTo>
                        <a:lnTo>
                          <a:pt x="315" y="78"/>
                        </a:lnTo>
                        <a:lnTo>
                          <a:pt x="305" y="78"/>
                        </a:lnTo>
                        <a:lnTo>
                          <a:pt x="296" y="79"/>
                        </a:lnTo>
                        <a:lnTo>
                          <a:pt x="288" y="80"/>
                        </a:lnTo>
                        <a:lnTo>
                          <a:pt x="279" y="80"/>
                        </a:lnTo>
                        <a:lnTo>
                          <a:pt x="272" y="80"/>
                        </a:lnTo>
                        <a:lnTo>
                          <a:pt x="264" y="81"/>
                        </a:lnTo>
                        <a:lnTo>
                          <a:pt x="256" y="83"/>
                        </a:lnTo>
                        <a:lnTo>
                          <a:pt x="249" y="84"/>
                        </a:lnTo>
                        <a:lnTo>
                          <a:pt x="242" y="86"/>
                        </a:lnTo>
                        <a:lnTo>
                          <a:pt x="235" y="87"/>
                        </a:lnTo>
                        <a:lnTo>
                          <a:pt x="227" y="89"/>
                        </a:lnTo>
                        <a:lnTo>
                          <a:pt x="219" y="92"/>
                        </a:lnTo>
                        <a:lnTo>
                          <a:pt x="212" y="93"/>
                        </a:lnTo>
                        <a:lnTo>
                          <a:pt x="199" y="97"/>
                        </a:lnTo>
                        <a:lnTo>
                          <a:pt x="191" y="98"/>
                        </a:lnTo>
                        <a:lnTo>
                          <a:pt x="180" y="104"/>
                        </a:lnTo>
                        <a:lnTo>
                          <a:pt x="164" y="109"/>
                        </a:lnTo>
                        <a:lnTo>
                          <a:pt x="180" y="111"/>
                        </a:lnTo>
                        <a:lnTo>
                          <a:pt x="199" y="112"/>
                        </a:lnTo>
                        <a:lnTo>
                          <a:pt x="203" y="113"/>
                        </a:lnTo>
                        <a:lnTo>
                          <a:pt x="212" y="118"/>
                        </a:lnTo>
                        <a:lnTo>
                          <a:pt x="217" y="120"/>
                        </a:lnTo>
                        <a:lnTo>
                          <a:pt x="223" y="123"/>
                        </a:lnTo>
                        <a:lnTo>
                          <a:pt x="224" y="125"/>
                        </a:lnTo>
                        <a:lnTo>
                          <a:pt x="227" y="130"/>
                        </a:lnTo>
                        <a:lnTo>
                          <a:pt x="233" y="140"/>
                        </a:lnTo>
                        <a:lnTo>
                          <a:pt x="227" y="136"/>
                        </a:lnTo>
                        <a:lnTo>
                          <a:pt x="219" y="131"/>
                        </a:lnTo>
                        <a:lnTo>
                          <a:pt x="212" y="129"/>
                        </a:lnTo>
                        <a:lnTo>
                          <a:pt x="199" y="125"/>
                        </a:lnTo>
                        <a:lnTo>
                          <a:pt x="190" y="123"/>
                        </a:lnTo>
                        <a:lnTo>
                          <a:pt x="180" y="120"/>
                        </a:lnTo>
                        <a:lnTo>
                          <a:pt x="175" y="119"/>
                        </a:lnTo>
                        <a:lnTo>
                          <a:pt x="165" y="120"/>
                        </a:lnTo>
                        <a:lnTo>
                          <a:pt x="158" y="122"/>
                        </a:lnTo>
                        <a:lnTo>
                          <a:pt x="148" y="123"/>
                        </a:lnTo>
                        <a:lnTo>
                          <a:pt x="153" y="125"/>
                        </a:lnTo>
                        <a:lnTo>
                          <a:pt x="158" y="127"/>
                        </a:lnTo>
                        <a:lnTo>
                          <a:pt x="165" y="129"/>
                        </a:lnTo>
                        <a:lnTo>
                          <a:pt x="173" y="129"/>
                        </a:lnTo>
                        <a:lnTo>
                          <a:pt x="186" y="129"/>
                        </a:lnTo>
                        <a:lnTo>
                          <a:pt x="194" y="131"/>
                        </a:lnTo>
                        <a:lnTo>
                          <a:pt x="204" y="133"/>
                        </a:lnTo>
                        <a:lnTo>
                          <a:pt x="212" y="136"/>
                        </a:lnTo>
                        <a:lnTo>
                          <a:pt x="221" y="138"/>
                        </a:lnTo>
                        <a:lnTo>
                          <a:pt x="231" y="141"/>
                        </a:lnTo>
                        <a:lnTo>
                          <a:pt x="240" y="143"/>
                        </a:lnTo>
                        <a:lnTo>
                          <a:pt x="248" y="145"/>
                        </a:lnTo>
                        <a:lnTo>
                          <a:pt x="254" y="146"/>
                        </a:lnTo>
                        <a:lnTo>
                          <a:pt x="261" y="148"/>
                        </a:lnTo>
                        <a:lnTo>
                          <a:pt x="269" y="150"/>
                        </a:lnTo>
                        <a:lnTo>
                          <a:pt x="277" y="154"/>
                        </a:lnTo>
                        <a:lnTo>
                          <a:pt x="285" y="158"/>
                        </a:lnTo>
                        <a:lnTo>
                          <a:pt x="289" y="160"/>
                        </a:lnTo>
                        <a:lnTo>
                          <a:pt x="295" y="167"/>
                        </a:lnTo>
                        <a:lnTo>
                          <a:pt x="302" y="174"/>
                        </a:lnTo>
                        <a:lnTo>
                          <a:pt x="306" y="181"/>
                        </a:lnTo>
                        <a:lnTo>
                          <a:pt x="311" y="188"/>
                        </a:lnTo>
                        <a:lnTo>
                          <a:pt x="316" y="195"/>
                        </a:lnTo>
                        <a:lnTo>
                          <a:pt x="320" y="202"/>
                        </a:lnTo>
                        <a:lnTo>
                          <a:pt x="325" y="208"/>
                        </a:lnTo>
                        <a:lnTo>
                          <a:pt x="329" y="215"/>
                        </a:lnTo>
                        <a:lnTo>
                          <a:pt x="335" y="223"/>
                        </a:lnTo>
                        <a:lnTo>
                          <a:pt x="339" y="232"/>
                        </a:lnTo>
                        <a:lnTo>
                          <a:pt x="345" y="238"/>
                        </a:lnTo>
                        <a:lnTo>
                          <a:pt x="351" y="246"/>
                        </a:lnTo>
                        <a:lnTo>
                          <a:pt x="343" y="240"/>
                        </a:lnTo>
                        <a:lnTo>
                          <a:pt x="337" y="236"/>
                        </a:lnTo>
                        <a:lnTo>
                          <a:pt x="329" y="231"/>
                        </a:lnTo>
                        <a:lnTo>
                          <a:pt x="321" y="225"/>
                        </a:lnTo>
                        <a:lnTo>
                          <a:pt x="315" y="220"/>
                        </a:lnTo>
                        <a:lnTo>
                          <a:pt x="309" y="215"/>
                        </a:lnTo>
                        <a:lnTo>
                          <a:pt x="303" y="212"/>
                        </a:lnTo>
                        <a:lnTo>
                          <a:pt x="297" y="208"/>
                        </a:lnTo>
                        <a:lnTo>
                          <a:pt x="290" y="204"/>
                        </a:lnTo>
                        <a:lnTo>
                          <a:pt x="284" y="200"/>
                        </a:lnTo>
                        <a:lnTo>
                          <a:pt x="278" y="196"/>
                        </a:lnTo>
                        <a:lnTo>
                          <a:pt x="271" y="191"/>
                        </a:lnTo>
                        <a:lnTo>
                          <a:pt x="263" y="186"/>
                        </a:lnTo>
                        <a:lnTo>
                          <a:pt x="255" y="179"/>
                        </a:lnTo>
                        <a:lnTo>
                          <a:pt x="248" y="174"/>
                        </a:lnTo>
                        <a:lnTo>
                          <a:pt x="241" y="170"/>
                        </a:lnTo>
                        <a:lnTo>
                          <a:pt x="234" y="166"/>
                        </a:lnTo>
                        <a:lnTo>
                          <a:pt x="226" y="162"/>
                        </a:lnTo>
                        <a:lnTo>
                          <a:pt x="219" y="159"/>
                        </a:lnTo>
                        <a:lnTo>
                          <a:pt x="212" y="157"/>
                        </a:lnTo>
                        <a:lnTo>
                          <a:pt x="202" y="154"/>
                        </a:lnTo>
                        <a:lnTo>
                          <a:pt x="192" y="151"/>
                        </a:lnTo>
                        <a:lnTo>
                          <a:pt x="185" y="150"/>
                        </a:lnTo>
                        <a:lnTo>
                          <a:pt x="178" y="147"/>
                        </a:lnTo>
                        <a:lnTo>
                          <a:pt x="167" y="142"/>
                        </a:lnTo>
                        <a:lnTo>
                          <a:pt x="156" y="137"/>
                        </a:lnTo>
                        <a:lnTo>
                          <a:pt x="173" y="148"/>
                        </a:lnTo>
                        <a:lnTo>
                          <a:pt x="174" y="150"/>
                        </a:lnTo>
                        <a:lnTo>
                          <a:pt x="178" y="155"/>
                        </a:lnTo>
                        <a:lnTo>
                          <a:pt x="182" y="160"/>
                        </a:lnTo>
                        <a:lnTo>
                          <a:pt x="187" y="167"/>
                        </a:lnTo>
                        <a:lnTo>
                          <a:pt x="192" y="173"/>
                        </a:lnTo>
                        <a:lnTo>
                          <a:pt x="196" y="181"/>
                        </a:lnTo>
                        <a:lnTo>
                          <a:pt x="202" y="188"/>
                        </a:lnTo>
                        <a:lnTo>
                          <a:pt x="207" y="194"/>
                        </a:lnTo>
                        <a:lnTo>
                          <a:pt x="212" y="200"/>
                        </a:lnTo>
                        <a:lnTo>
                          <a:pt x="216" y="207"/>
                        </a:lnTo>
                        <a:lnTo>
                          <a:pt x="223" y="216"/>
                        </a:lnTo>
                        <a:lnTo>
                          <a:pt x="227" y="223"/>
                        </a:lnTo>
                        <a:lnTo>
                          <a:pt x="231" y="229"/>
                        </a:lnTo>
                        <a:lnTo>
                          <a:pt x="235" y="236"/>
                        </a:lnTo>
                        <a:lnTo>
                          <a:pt x="238" y="243"/>
                        </a:lnTo>
                        <a:lnTo>
                          <a:pt x="241" y="250"/>
                        </a:lnTo>
                        <a:lnTo>
                          <a:pt x="243" y="255"/>
                        </a:lnTo>
                        <a:lnTo>
                          <a:pt x="244" y="262"/>
                        </a:lnTo>
                        <a:lnTo>
                          <a:pt x="245" y="272"/>
                        </a:lnTo>
                        <a:lnTo>
                          <a:pt x="246" y="281"/>
                        </a:lnTo>
                        <a:lnTo>
                          <a:pt x="247" y="290"/>
                        </a:lnTo>
                        <a:lnTo>
                          <a:pt x="249" y="299"/>
                        </a:lnTo>
                        <a:lnTo>
                          <a:pt x="250" y="308"/>
                        </a:lnTo>
                        <a:lnTo>
                          <a:pt x="243" y="299"/>
                        </a:lnTo>
                        <a:lnTo>
                          <a:pt x="238" y="292"/>
                        </a:lnTo>
                        <a:lnTo>
                          <a:pt x="233" y="286"/>
                        </a:lnTo>
                        <a:lnTo>
                          <a:pt x="231" y="281"/>
                        </a:lnTo>
                        <a:lnTo>
                          <a:pt x="227" y="274"/>
                        </a:lnTo>
                        <a:lnTo>
                          <a:pt x="225" y="267"/>
                        </a:lnTo>
                        <a:lnTo>
                          <a:pt x="222" y="259"/>
                        </a:lnTo>
                        <a:lnTo>
                          <a:pt x="218" y="251"/>
                        </a:lnTo>
                        <a:lnTo>
                          <a:pt x="214" y="242"/>
                        </a:lnTo>
                        <a:lnTo>
                          <a:pt x="211" y="235"/>
                        </a:lnTo>
                        <a:lnTo>
                          <a:pt x="207" y="227"/>
                        </a:lnTo>
                        <a:lnTo>
                          <a:pt x="202" y="220"/>
                        </a:lnTo>
                        <a:lnTo>
                          <a:pt x="199" y="215"/>
                        </a:lnTo>
                        <a:lnTo>
                          <a:pt x="193" y="208"/>
                        </a:lnTo>
                        <a:lnTo>
                          <a:pt x="187" y="201"/>
                        </a:lnTo>
                        <a:lnTo>
                          <a:pt x="182" y="196"/>
                        </a:lnTo>
                        <a:lnTo>
                          <a:pt x="177" y="190"/>
                        </a:lnTo>
                        <a:lnTo>
                          <a:pt x="176" y="184"/>
                        </a:lnTo>
                        <a:lnTo>
                          <a:pt x="173" y="177"/>
                        </a:lnTo>
                        <a:lnTo>
                          <a:pt x="169" y="170"/>
                        </a:lnTo>
                        <a:lnTo>
                          <a:pt x="166" y="163"/>
                        </a:lnTo>
                        <a:lnTo>
                          <a:pt x="164" y="161"/>
                        </a:lnTo>
                        <a:lnTo>
                          <a:pt x="158" y="154"/>
                        </a:lnTo>
                        <a:lnTo>
                          <a:pt x="154" y="148"/>
                        </a:lnTo>
                        <a:lnTo>
                          <a:pt x="150" y="142"/>
                        </a:lnTo>
                        <a:lnTo>
                          <a:pt x="145" y="136"/>
                        </a:lnTo>
                        <a:lnTo>
                          <a:pt x="138" y="140"/>
                        </a:lnTo>
                        <a:lnTo>
                          <a:pt x="131" y="144"/>
                        </a:lnTo>
                        <a:lnTo>
                          <a:pt x="123" y="151"/>
                        </a:lnTo>
                        <a:lnTo>
                          <a:pt x="115" y="156"/>
                        </a:lnTo>
                        <a:lnTo>
                          <a:pt x="109" y="162"/>
                        </a:lnTo>
                        <a:lnTo>
                          <a:pt x="105" y="168"/>
                        </a:lnTo>
                        <a:lnTo>
                          <a:pt x="99" y="176"/>
                        </a:lnTo>
                        <a:lnTo>
                          <a:pt x="93" y="186"/>
                        </a:lnTo>
                        <a:lnTo>
                          <a:pt x="87" y="193"/>
                        </a:lnTo>
                        <a:lnTo>
                          <a:pt x="81" y="202"/>
                        </a:lnTo>
                        <a:lnTo>
                          <a:pt x="77" y="210"/>
                        </a:lnTo>
                        <a:lnTo>
                          <a:pt x="72" y="218"/>
                        </a:lnTo>
                        <a:lnTo>
                          <a:pt x="67" y="226"/>
                        </a:lnTo>
                        <a:lnTo>
                          <a:pt x="64" y="233"/>
                        </a:lnTo>
                        <a:lnTo>
                          <a:pt x="59" y="242"/>
                        </a:lnTo>
                        <a:lnTo>
                          <a:pt x="55" y="250"/>
                        </a:lnTo>
                        <a:lnTo>
                          <a:pt x="49" y="260"/>
                        </a:lnTo>
                        <a:lnTo>
                          <a:pt x="43" y="269"/>
                        </a:lnTo>
                        <a:lnTo>
                          <a:pt x="37" y="280"/>
                        </a:lnTo>
                        <a:lnTo>
                          <a:pt x="31" y="289"/>
                        </a:lnTo>
                        <a:lnTo>
                          <a:pt x="27" y="294"/>
                        </a:lnTo>
                        <a:lnTo>
                          <a:pt x="22" y="300"/>
                        </a:lnTo>
                        <a:lnTo>
                          <a:pt x="18" y="306"/>
                        </a:lnTo>
                        <a:lnTo>
                          <a:pt x="12" y="312"/>
                        </a:lnTo>
                        <a:lnTo>
                          <a:pt x="7" y="317"/>
                        </a:lnTo>
                        <a:lnTo>
                          <a:pt x="0" y="325"/>
                        </a:lnTo>
                        <a:lnTo>
                          <a:pt x="2" y="316"/>
                        </a:lnTo>
                        <a:lnTo>
                          <a:pt x="4" y="309"/>
                        </a:lnTo>
                        <a:lnTo>
                          <a:pt x="8" y="301"/>
                        </a:lnTo>
                        <a:lnTo>
                          <a:pt x="12" y="294"/>
                        </a:lnTo>
                        <a:lnTo>
                          <a:pt x="19" y="284"/>
                        </a:lnTo>
                        <a:lnTo>
                          <a:pt x="26" y="274"/>
                        </a:lnTo>
                        <a:lnTo>
                          <a:pt x="33" y="262"/>
                        </a:lnTo>
                        <a:lnTo>
                          <a:pt x="39" y="253"/>
                        </a:lnTo>
                        <a:lnTo>
                          <a:pt x="45" y="243"/>
                        </a:lnTo>
                        <a:lnTo>
                          <a:pt x="51" y="235"/>
                        </a:lnTo>
                        <a:lnTo>
                          <a:pt x="56" y="227"/>
                        </a:lnTo>
                        <a:lnTo>
                          <a:pt x="61" y="220"/>
                        </a:lnTo>
                        <a:lnTo>
                          <a:pt x="66" y="214"/>
                        </a:lnTo>
                        <a:lnTo>
                          <a:pt x="72" y="206"/>
                        </a:lnTo>
                        <a:lnTo>
                          <a:pt x="78" y="198"/>
                        </a:lnTo>
                        <a:lnTo>
                          <a:pt x="84" y="190"/>
                        </a:lnTo>
                        <a:lnTo>
                          <a:pt x="90" y="181"/>
                        </a:lnTo>
                        <a:lnTo>
                          <a:pt x="95" y="174"/>
                        </a:lnTo>
                        <a:lnTo>
                          <a:pt x="101" y="166"/>
                        </a:lnTo>
                        <a:lnTo>
                          <a:pt x="104" y="160"/>
                        </a:lnTo>
                        <a:lnTo>
                          <a:pt x="107" y="154"/>
                        </a:lnTo>
                        <a:lnTo>
                          <a:pt x="109" y="149"/>
                        </a:lnTo>
                        <a:lnTo>
                          <a:pt x="112" y="143"/>
                        </a:lnTo>
                        <a:lnTo>
                          <a:pt x="116" y="138"/>
                        </a:lnTo>
                        <a:lnTo>
                          <a:pt x="122" y="131"/>
                        </a:lnTo>
                        <a:lnTo>
                          <a:pt x="128" y="125"/>
                        </a:lnTo>
                        <a:lnTo>
                          <a:pt x="132" y="120"/>
                        </a:lnTo>
                        <a:lnTo>
                          <a:pt x="137" y="114"/>
                        </a:lnTo>
                        <a:lnTo>
                          <a:pt x="135" y="109"/>
                        </a:lnTo>
                        <a:lnTo>
                          <a:pt x="133" y="101"/>
                        </a:lnTo>
                        <a:lnTo>
                          <a:pt x="121" y="97"/>
                        </a:lnTo>
                        <a:lnTo>
                          <a:pt x="108" y="88"/>
                        </a:lnTo>
                        <a:lnTo>
                          <a:pt x="95" y="79"/>
                        </a:lnTo>
                        <a:lnTo>
                          <a:pt x="87" y="74"/>
                        </a:lnTo>
                        <a:lnTo>
                          <a:pt x="81" y="71"/>
                        </a:lnTo>
                        <a:lnTo>
                          <a:pt x="71" y="66"/>
                        </a:lnTo>
                        <a:lnTo>
                          <a:pt x="61" y="63"/>
                        </a:lnTo>
                        <a:lnTo>
                          <a:pt x="50" y="60"/>
                        </a:lnTo>
                        <a:lnTo>
                          <a:pt x="42" y="57"/>
                        </a:lnTo>
                        <a:lnTo>
                          <a:pt x="32" y="53"/>
                        </a:lnTo>
                        <a:lnTo>
                          <a:pt x="23" y="51"/>
                        </a:lnTo>
                        <a:lnTo>
                          <a:pt x="14" y="49"/>
                        </a:lnTo>
                        <a:lnTo>
                          <a:pt x="7" y="47"/>
                        </a:lnTo>
                        <a:lnTo>
                          <a:pt x="14" y="46"/>
                        </a:lnTo>
                        <a:lnTo>
                          <a:pt x="19" y="45"/>
                        </a:lnTo>
                        <a:lnTo>
                          <a:pt x="23" y="44"/>
                        </a:lnTo>
                        <a:lnTo>
                          <a:pt x="28" y="44"/>
                        </a:lnTo>
                        <a:lnTo>
                          <a:pt x="33" y="44"/>
                        </a:lnTo>
                        <a:lnTo>
                          <a:pt x="43" y="49"/>
                        </a:lnTo>
                        <a:lnTo>
                          <a:pt x="51" y="53"/>
                        </a:lnTo>
                        <a:lnTo>
                          <a:pt x="60" y="58"/>
                        </a:lnTo>
                        <a:lnTo>
                          <a:pt x="69" y="63"/>
                        </a:lnTo>
                        <a:lnTo>
                          <a:pt x="79" y="68"/>
                        </a:lnTo>
                        <a:lnTo>
                          <a:pt x="89" y="74"/>
                        </a:lnTo>
                        <a:lnTo>
                          <a:pt x="96" y="77"/>
                        </a:lnTo>
                        <a:lnTo>
                          <a:pt x="109" y="84"/>
                        </a:lnTo>
                        <a:lnTo>
                          <a:pt x="116" y="86"/>
                        </a:lnTo>
                        <a:lnTo>
                          <a:pt x="122" y="85"/>
                        </a:lnTo>
                        <a:lnTo>
                          <a:pt x="127" y="84"/>
                        </a:lnTo>
                        <a:lnTo>
                          <a:pt x="132" y="83"/>
                        </a:lnTo>
                      </a:path>
                    </a:pathLst>
                  </a:custGeom>
                  <a:solidFill>
                    <a:srgbClr val="037C03">
                      <a:alpha val="50195"/>
                    </a:srgbClr>
                  </a:solidFill>
                  <a:ln w="9525">
                    <a:noFill/>
                  </a:ln>
                </p:spPr>
                <p:txBody>
                  <a:bodyPr/>
                  <a:lstStyle/>
                  <a:p>
                    <a:endParaRPr lang="zh-CN" altLang="en-US"/>
                  </a:p>
                </p:txBody>
              </p:sp>
              <p:sp>
                <p:nvSpPr>
                  <p:cNvPr id="89177" name="Freeform 163"/>
                  <p:cNvSpPr/>
                  <p:nvPr/>
                </p:nvSpPr>
                <p:spPr>
                  <a:xfrm>
                    <a:off x="2175" y="1587"/>
                    <a:ext cx="38" cy="181"/>
                  </a:xfrm>
                  <a:custGeom>
                    <a:avLst/>
                    <a:gdLst>
                      <a:gd name="txL" fmla="*/ 0 w 38"/>
                      <a:gd name="txT" fmla="*/ 0 h 181"/>
                      <a:gd name="txR" fmla="*/ 38 w 38"/>
                      <a:gd name="txB" fmla="*/ 181 h 181"/>
                    </a:gdLst>
                    <a:ahLst/>
                    <a:cxnLst>
                      <a:cxn ang="0">
                        <a:pos x="20" y="0"/>
                      </a:cxn>
                      <a:cxn ang="0">
                        <a:pos x="24" y="8"/>
                      </a:cxn>
                      <a:cxn ang="0">
                        <a:pos x="27" y="14"/>
                      </a:cxn>
                      <a:cxn ang="0">
                        <a:pos x="33" y="22"/>
                      </a:cxn>
                      <a:cxn ang="0">
                        <a:pos x="35" y="30"/>
                      </a:cxn>
                      <a:cxn ang="0">
                        <a:pos x="36" y="41"/>
                      </a:cxn>
                      <a:cxn ang="0">
                        <a:pos x="36" y="53"/>
                      </a:cxn>
                      <a:cxn ang="0">
                        <a:pos x="37" y="61"/>
                      </a:cxn>
                      <a:cxn ang="0">
                        <a:pos x="36" y="70"/>
                      </a:cxn>
                      <a:cxn ang="0">
                        <a:pos x="35" y="81"/>
                      </a:cxn>
                      <a:cxn ang="0">
                        <a:pos x="33" y="91"/>
                      </a:cxn>
                      <a:cxn ang="0">
                        <a:pos x="30" y="106"/>
                      </a:cxn>
                      <a:cxn ang="0">
                        <a:pos x="28" y="114"/>
                      </a:cxn>
                      <a:cxn ang="0">
                        <a:pos x="23" y="124"/>
                      </a:cxn>
                      <a:cxn ang="0">
                        <a:pos x="17" y="135"/>
                      </a:cxn>
                      <a:cxn ang="0">
                        <a:pos x="12" y="145"/>
                      </a:cxn>
                      <a:cxn ang="0">
                        <a:pos x="7" y="155"/>
                      </a:cxn>
                      <a:cxn ang="0">
                        <a:pos x="3" y="163"/>
                      </a:cxn>
                      <a:cxn ang="0">
                        <a:pos x="0" y="180"/>
                      </a:cxn>
                      <a:cxn ang="0">
                        <a:pos x="1" y="163"/>
                      </a:cxn>
                      <a:cxn ang="0">
                        <a:pos x="3" y="152"/>
                      </a:cxn>
                      <a:cxn ang="0">
                        <a:pos x="4" y="141"/>
                      </a:cxn>
                      <a:cxn ang="0">
                        <a:pos x="5" y="130"/>
                      </a:cxn>
                      <a:cxn ang="0">
                        <a:pos x="7" y="116"/>
                      </a:cxn>
                      <a:cxn ang="0">
                        <a:pos x="9" y="106"/>
                      </a:cxn>
                      <a:cxn ang="0">
                        <a:pos x="12" y="96"/>
                      </a:cxn>
                      <a:cxn ang="0">
                        <a:pos x="15" y="87"/>
                      </a:cxn>
                      <a:cxn ang="0">
                        <a:pos x="17" y="77"/>
                      </a:cxn>
                      <a:cxn ang="0">
                        <a:pos x="20" y="67"/>
                      </a:cxn>
                      <a:cxn ang="0">
                        <a:pos x="21" y="57"/>
                      </a:cxn>
                      <a:cxn ang="0">
                        <a:pos x="22" y="49"/>
                      </a:cxn>
                      <a:cxn ang="0">
                        <a:pos x="23" y="39"/>
                      </a:cxn>
                      <a:cxn ang="0">
                        <a:pos x="23" y="28"/>
                      </a:cxn>
                      <a:cxn ang="0">
                        <a:pos x="23" y="14"/>
                      </a:cxn>
                      <a:cxn ang="0">
                        <a:pos x="22" y="8"/>
                      </a:cxn>
                      <a:cxn ang="0">
                        <a:pos x="20" y="0"/>
                      </a:cxn>
                    </a:cxnLst>
                    <a:rect l="txL" t="txT" r="txR" b="txB"/>
                    <a:pathLst>
                      <a:path w="38" h="181">
                        <a:moveTo>
                          <a:pt x="20" y="0"/>
                        </a:moveTo>
                        <a:lnTo>
                          <a:pt x="24" y="8"/>
                        </a:lnTo>
                        <a:lnTo>
                          <a:pt x="27" y="14"/>
                        </a:lnTo>
                        <a:lnTo>
                          <a:pt x="33" y="22"/>
                        </a:lnTo>
                        <a:lnTo>
                          <a:pt x="35" y="30"/>
                        </a:lnTo>
                        <a:lnTo>
                          <a:pt x="36" y="41"/>
                        </a:lnTo>
                        <a:lnTo>
                          <a:pt x="36" y="53"/>
                        </a:lnTo>
                        <a:lnTo>
                          <a:pt x="37" y="61"/>
                        </a:lnTo>
                        <a:lnTo>
                          <a:pt x="36" y="70"/>
                        </a:lnTo>
                        <a:lnTo>
                          <a:pt x="35" y="81"/>
                        </a:lnTo>
                        <a:lnTo>
                          <a:pt x="33" y="91"/>
                        </a:lnTo>
                        <a:lnTo>
                          <a:pt x="30" y="106"/>
                        </a:lnTo>
                        <a:lnTo>
                          <a:pt x="28" y="114"/>
                        </a:lnTo>
                        <a:lnTo>
                          <a:pt x="23" y="124"/>
                        </a:lnTo>
                        <a:lnTo>
                          <a:pt x="17" y="135"/>
                        </a:lnTo>
                        <a:lnTo>
                          <a:pt x="12" y="145"/>
                        </a:lnTo>
                        <a:lnTo>
                          <a:pt x="7" y="155"/>
                        </a:lnTo>
                        <a:lnTo>
                          <a:pt x="3" y="163"/>
                        </a:lnTo>
                        <a:lnTo>
                          <a:pt x="0" y="180"/>
                        </a:lnTo>
                        <a:lnTo>
                          <a:pt x="1" y="163"/>
                        </a:lnTo>
                        <a:lnTo>
                          <a:pt x="3" y="152"/>
                        </a:lnTo>
                        <a:lnTo>
                          <a:pt x="4" y="141"/>
                        </a:lnTo>
                        <a:lnTo>
                          <a:pt x="5" y="130"/>
                        </a:lnTo>
                        <a:lnTo>
                          <a:pt x="7" y="116"/>
                        </a:lnTo>
                        <a:lnTo>
                          <a:pt x="9" y="106"/>
                        </a:lnTo>
                        <a:lnTo>
                          <a:pt x="12" y="96"/>
                        </a:lnTo>
                        <a:lnTo>
                          <a:pt x="15" y="87"/>
                        </a:lnTo>
                        <a:lnTo>
                          <a:pt x="17" y="77"/>
                        </a:lnTo>
                        <a:lnTo>
                          <a:pt x="20" y="67"/>
                        </a:lnTo>
                        <a:lnTo>
                          <a:pt x="21" y="57"/>
                        </a:lnTo>
                        <a:lnTo>
                          <a:pt x="22" y="49"/>
                        </a:lnTo>
                        <a:lnTo>
                          <a:pt x="23" y="39"/>
                        </a:lnTo>
                        <a:lnTo>
                          <a:pt x="23" y="28"/>
                        </a:lnTo>
                        <a:lnTo>
                          <a:pt x="23" y="14"/>
                        </a:lnTo>
                        <a:lnTo>
                          <a:pt x="22" y="8"/>
                        </a:lnTo>
                        <a:lnTo>
                          <a:pt x="20" y="0"/>
                        </a:lnTo>
                      </a:path>
                    </a:pathLst>
                  </a:custGeom>
                  <a:solidFill>
                    <a:srgbClr val="037C03">
                      <a:alpha val="50195"/>
                    </a:srgbClr>
                  </a:solidFill>
                  <a:ln w="9525">
                    <a:noFill/>
                  </a:ln>
                </p:spPr>
                <p:txBody>
                  <a:bodyPr/>
                  <a:lstStyle/>
                  <a:p>
                    <a:endParaRPr lang="zh-CN" altLang="en-US"/>
                  </a:p>
                </p:txBody>
              </p:sp>
              <p:sp>
                <p:nvSpPr>
                  <p:cNvPr id="89178" name="Freeform 164"/>
                  <p:cNvSpPr/>
                  <p:nvPr/>
                </p:nvSpPr>
                <p:spPr>
                  <a:xfrm>
                    <a:off x="1991" y="1486"/>
                    <a:ext cx="168" cy="48"/>
                  </a:xfrm>
                  <a:custGeom>
                    <a:avLst/>
                    <a:gdLst>
                      <a:gd name="txL" fmla="*/ 0 w 168"/>
                      <a:gd name="txT" fmla="*/ 0 h 48"/>
                      <a:gd name="txR" fmla="*/ 168 w 168"/>
                      <a:gd name="txB" fmla="*/ 48 h 48"/>
                    </a:gdLst>
                    <a:ahLst/>
                    <a:cxnLst>
                      <a:cxn ang="0">
                        <a:pos x="167" y="47"/>
                      </a:cxn>
                      <a:cxn ang="0">
                        <a:pos x="164" y="38"/>
                      </a:cxn>
                      <a:cxn ang="0">
                        <a:pos x="160" y="31"/>
                      </a:cxn>
                      <a:cxn ang="0">
                        <a:pos x="157" y="30"/>
                      </a:cxn>
                      <a:cxn ang="0">
                        <a:pos x="150" y="28"/>
                      </a:cxn>
                      <a:cxn ang="0">
                        <a:pos x="144" y="26"/>
                      </a:cxn>
                      <a:cxn ang="0">
                        <a:pos x="137" y="28"/>
                      </a:cxn>
                      <a:cxn ang="0">
                        <a:pos x="130" y="29"/>
                      </a:cxn>
                      <a:cxn ang="0">
                        <a:pos x="121" y="25"/>
                      </a:cxn>
                      <a:cxn ang="0">
                        <a:pos x="109" y="21"/>
                      </a:cxn>
                      <a:cxn ang="0">
                        <a:pos x="98" y="17"/>
                      </a:cxn>
                      <a:cxn ang="0">
                        <a:pos x="91" y="15"/>
                      </a:cxn>
                      <a:cxn ang="0">
                        <a:pos x="78" y="12"/>
                      </a:cxn>
                      <a:cxn ang="0">
                        <a:pos x="66" y="8"/>
                      </a:cxn>
                      <a:cxn ang="0">
                        <a:pos x="54" y="4"/>
                      </a:cxn>
                      <a:cxn ang="0">
                        <a:pos x="41" y="1"/>
                      </a:cxn>
                      <a:cxn ang="0">
                        <a:pos x="28" y="0"/>
                      </a:cxn>
                      <a:cxn ang="0">
                        <a:pos x="15" y="0"/>
                      </a:cxn>
                      <a:cxn ang="0">
                        <a:pos x="12" y="1"/>
                      </a:cxn>
                      <a:cxn ang="0">
                        <a:pos x="7" y="4"/>
                      </a:cxn>
                      <a:cxn ang="0">
                        <a:pos x="3" y="7"/>
                      </a:cxn>
                      <a:cxn ang="0">
                        <a:pos x="0" y="10"/>
                      </a:cxn>
                      <a:cxn ang="0">
                        <a:pos x="5" y="10"/>
                      </a:cxn>
                      <a:cxn ang="0">
                        <a:pos x="12" y="11"/>
                      </a:cxn>
                      <a:cxn ang="0">
                        <a:pos x="18" y="12"/>
                      </a:cxn>
                      <a:cxn ang="0">
                        <a:pos x="23" y="11"/>
                      </a:cxn>
                      <a:cxn ang="0">
                        <a:pos x="29" y="10"/>
                      </a:cxn>
                      <a:cxn ang="0">
                        <a:pos x="38" y="10"/>
                      </a:cxn>
                      <a:cxn ang="0">
                        <a:pos x="50" y="10"/>
                      </a:cxn>
                      <a:cxn ang="0">
                        <a:pos x="60" y="12"/>
                      </a:cxn>
                      <a:cxn ang="0">
                        <a:pos x="70" y="13"/>
                      </a:cxn>
                      <a:cxn ang="0">
                        <a:pos x="79" y="15"/>
                      </a:cxn>
                      <a:cxn ang="0">
                        <a:pos x="89" y="16"/>
                      </a:cxn>
                      <a:cxn ang="0">
                        <a:pos x="98" y="18"/>
                      </a:cxn>
                      <a:cxn ang="0">
                        <a:pos x="106" y="22"/>
                      </a:cxn>
                      <a:cxn ang="0">
                        <a:pos x="114" y="26"/>
                      </a:cxn>
                      <a:cxn ang="0">
                        <a:pos x="123" y="30"/>
                      </a:cxn>
                      <a:cxn ang="0">
                        <a:pos x="127" y="30"/>
                      </a:cxn>
                      <a:cxn ang="0">
                        <a:pos x="131" y="30"/>
                      </a:cxn>
                      <a:cxn ang="0">
                        <a:pos x="137" y="33"/>
                      </a:cxn>
                      <a:cxn ang="0">
                        <a:pos x="144" y="36"/>
                      </a:cxn>
                      <a:cxn ang="0">
                        <a:pos x="150" y="38"/>
                      </a:cxn>
                      <a:cxn ang="0">
                        <a:pos x="158" y="42"/>
                      </a:cxn>
                      <a:cxn ang="0">
                        <a:pos x="164" y="45"/>
                      </a:cxn>
                      <a:cxn ang="0">
                        <a:pos x="167" y="47"/>
                      </a:cxn>
                    </a:cxnLst>
                    <a:rect l="txL" t="txT" r="txR" b="txB"/>
                    <a:pathLst>
                      <a:path w="168" h="48">
                        <a:moveTo>
                          <a:pt x="167" y="47"/>
                        </a:moveTo>
                        <a:lnTo>
                          <a:pt x="164" y="38"/>
                        </a:lnTo>
                        <a:lnTo>
                          <a:pt x="160" y="31"/>
                        </a:lnTo>
                        <a:lnTo>
                          <a:pt x="157" y="30"/>
                        </a:lnTo>
                        <a:lnTo>
                          <a:pt x="150" y="28"/>
                        </a:lnTo>
                        <a:lnTo>
                          <a:pt x="144" y="26"/>
                        </a:lnTo>
                        <a:lnTo>
                          <a:pt x="137" y="28"/>
                        </a:lnTo>
                        <a:lnTo>
                          <a:pt x="130" y="29"/>
                        </a:lnTo>
                        <a:lnTo>
                          <a:pt x="121" y="25"/>
                        </a:lnTo>
                        <a:lnTo>
                          <a:pt x="109" y="21"/>
                        </a:lnTo>
                        <a:lnTo>
                          <a:pt x="98" y="17"/>
                        </a:lnTo>
                        <a:lnTo>
                          <a:pt x="91" y="15"/>
                        </a:lnTo>
                        <a:lnTo>
                          <a:pt x="78" y="12"/>
                        </a:lnTo>
                        <a:lnTo>
                          <a:pt x="66" y="8"/>
                        </a:lnTo>
                        <a:lnTo>
                          <a:pt x="54" y="4"/>
                        </a:lnTo>
                        <a:lnTo>
                          <a:pt x="41" y="1"/>
                        </a:lnTo>
                        <a:lnTo>
                          <a:pt x="28" y="0"/>
                        </a:lnTo>
                        <a:lnTo>
                          <a:pt x="15" y="0"/>
                        </a:lnTo>
                        <a:lnTo>
                          <a:pt x="12" y="1"/>
                        </a:lnTo>
                        <a:lnTo>
                          <a:pt x="7" y="4"/>
                        </a:lnTo>
                        <a:lnTo>
                          <a:pt x="3" y="7"/>
                        </a:lnTo>
                        <a:lnTo>
                          <a:pt x="0" y="10"/>
                        </a:lnTo>
                        <a:lnTo>
                          <a:pt x="5" y="10"/>
                        </a:lnTo>
                        <a:lnTo>
                          <a:pt x="12" y="11"/>
                        </a:lnTo>
                        <a:lnTo>
                          <a:pt x="18" y="12"/>
                        </a:lnTo>
                        <a:lnTo>
                          <a:pt x="23" y="11"/>
                        </a:lnTo>
                        <a:lnTo>
                          <a:pt x="29" y="10"/>
                        </a:lnTo>
                        <a:lnTo>
                          <a:pt x="38" y="10"/>
                        </a:lnTo>
                        <a:lnTo>
                          <a:pt x="50" y="10"/>
                        </a:lnTo>
                        <a:lnTo>
                          <a:pt x="60" y="12"/>
                        </a:lnTo>
                        <a:lnTo>
                          <a:pt x="70" y="13"/>
                        </a:lnTo>
                        <a:lnTo>
                          <a:pt x="79" y="15"/>
                        </a:lnTo>
                        <a:lnTo>
                          <a:pt x="89" y="16"/>
                        </a:lnTo>
                        <a:lnTo>
                          <a:pt x="98" y="18"/>
                        </a:lnTo>
                        <a:lnTo>
                          <a:pt x="106" y="22"/>
                        </a:lnTo>
                        <a:lnTo>
                          <a:pt x="114" y="26"/>
                        </a:lnTo>
                        <a:lnTo>
                          <a:pt x="123" y="30"/>
                        </a:lnTo>
                        <a:lnTo>
                          <a:pt x="127" y="30"/>
                        </a:lnTo>
                        <a:lnTo>
                          <a:pt x="131" y="30"/>
                        </a:lnTo>
                        <a:lnTo>
                          <a:pt x="137" y="33"/>
                        </a:lnTo>
                        <a:lnTo>
                          <a:pt x="144" y="36"/>
                        </a:lnTo>
                        <a:lnTo>
                          <a:pt x="150" y="38"/>
                        </a:lnTo>
                        <a:lnTo>
                          <a:pt x="158" y="42"/>
                        </a:lnTo>
                        <a:lnTo>
                          <a:pt x="164" y="45"/>
                        </a:lnTo>
                        <a:lnTo>
                          <a:pt x="167" y="47"/>
                        </a:lnTo>
                      </a:path>
                    </a:pathLst>
                  </a:custGeom>
                  <a:solidFill>
                    <a:srgbClr val="037C03">
                      <a:alpha val="50195"/>
                    </a:srgbClr>
                  </a:solidFill>
                  <a:ln w="9525">
                    <a:noFill/>
                  </a:ln>
                </p:spPr>
                <p:txBody>
                  <a:bodyPr/>
                  <a:lstStyle/>
                  <a:p>
                    <a:endParaRPr lang="zh-CN" altLang="en-US"/>
                  </a:p>
                </p:txBody>
              </p:sp>
              <p:sp>
                <p:nvSpPr>
                  <p:cNvPr id="89179" name="Freeform 165"/>
                  <p:cNvSpPr/>
                  <p:nvPr/>
                </p:nvSpPr>
                <p:spPr>
                  <a:xfrm>
                    <a:off x="1985" y="1514"/>
                    <a:ext cx="173" cy="20"/>
                  </a:xfrm>
                  <a:custGeom>
                    <a:avLst/>
                    <a:gdLst>
                      <a:gd name="txL" fmla="*/ 0 w 173"/>
                      <a:gd name="txT" fmla="*/ 0 h 20"/>
                      <a:gd name="txR" fmla="*/ 173 w 173"/>
                      <a:gd name="txB" fmla="*/ 20 h 20"/>
                    </a:gdLst>
                    <a:ahLst/>
                    <a:cxnLst>
                      <a:cxn ang="0">
                        <a:pos x="172" y="19"/>
                      </a:cxn>
                      <a:cxn ang="0">
                        <a:pos x="167" y="17"/>
                      </a:cxn>
                      <a:cxn ang="0">
                        <a:pos x="163" y="15"/>
                      </a:cxn>
                      <a:cxn ang="0">
                        <a:pos x="157" y="13"/>
                      </a:cxn>
                      <a:cxn ang="0">
                        <a:pos x="152" y="11"/>
                      </a:cxn>
                      <a:cxn ang="0">
                        <a:pos x="146" y="9"/>
                      </a:cxn>
                      <a:cxn ang="0">
                        <a:pos x="138" y="6"/>
                      </a:cxn>
                      <a:cxn ang="0">
                        <a:pos x="131" y="2"/>
                      </a:cxn>
                      <a:cxn ang="0">
                        <a:pos x="125" y="2"/>
                      </a:cxn>
                      <a:cxn ang="0">
                        <a:pos x="118" y="3"/>
                      </a:cxn>
                      <a:cxn ang="0">
                        <a:pos x="108" y="5"/>
                      </a:cxn>
                      <a:cxn ang="0">
                        <a:pos x="103" y="5"/>
                      </a:cxn>
                      <a:cxn ang="0">
                        <a:pos x="91" y="3"/>
                      </a:cxn>
                      <a:cxn ang="0">
                        <a:pos x="77" y="1"/>
                      </a:cxn>
                      <a:cxn ang="0">
                        <a:pos x="67" y="0"/>
                      </a:cxn>
                      <a:cxn ang="0">
                        <a:pos x="55" y="0"/>
                      </a:cxn>
                      <a:cxn ang="0">
                        <a:pos x="43" y="0"/>
                      </a:cxn>
                      <a:cxn ang="0">
                        <a:pos x="35" y="1"/>
                      </a:cxn>
                      <a:cxn ang="0">
                        <a:pos x="26" y="2"/>
                      </a:cxn>
                      <a:cxn ang="0">
                        <a:pos x="18" y="3"/>
                      </a:cxn>
                      <a:cxn ang="0">
                        <a:pos x="9" y="4"/>
                      </a:cxn>
                      <a:cxn ang="0">
                        <a:pos x="8" y="8"/>
                      </a:cxn>
                      <a:cxn ang="0">
                        <a:pos x="6" y="11"/>
                      </a:cxn>
                      <a:cxn ang="0">
                        <a:pos x="4" y="14"/>
                      </a:cxn>
                      <a:cxn ang="0">
                        <a:pos x="0" y="16"/>
                      </a:cxn>
                      <a:cxn ang="0">
                        <a:pos x="7" y="15"/>
                      </a:cxn>
                      <a:cxn ang="0">
                        <a:pos x="15" y="13"/>
                      </a:cxn>
                      <a:cxn ang="0">
                        <a:pos x="21" y="12"/>
                      </a:cxn>
                      <a:cxn ang="0">
                        <a:pos x="29" y="11"/>
                      </a:cxn>
                      <a:cxn ang="0">
                        <a:pos x="36" y="10"/>
                      </a:cxn>
                      <a:cxn ang="0">
                        <a:pos x="49" y="9"/>
                      </a:cxn>
                      <a:cxn ang="0">
                        <a:pos x="62" y="8"/>
                      </a:cxn>
                      <a:cxn ang="0">
                        <a:pos x="77" y="7"/>
                      </a:cxn>
                      <a:cxn ang="0">
                        <a:pos x="92" y="6"/>
                      </a:cxn>
                      <a:cxn ang="0">
                        <a:pos x="106" y="6"/>
                      </a:cxn>
                      <a:cxn ang="0">
                        <a:pos x="118" y="7"/>
                      </a:cxn>
                      <a:cxn ang="0">
                        <a:pos x="126" y="9"/>
                      </a:cxn>
                      <a:cxn ang="0">
                        <a:pos x="135" y="11"/>
                      </a:cxn>
                      <a:cxn ang="0">
                        <a:pos x="145" y="13"/>
                      </a:cxn>
                      <a:cxn ang="0">
                        <a:pos x="155" y="16"/>
                      </a:cxn>
                      <a:cxn ang="0">
                        <a:pos x="163" y="17"/>
                      </a:cxn>
                      <a:cxn ang="0">
                        <a:pos x="172" y="19"/>
                      </a:cxn>
                    </a:cxnLst>
                    <a:rect l="txL" t="txT" r="txR" b="txB"/>
                    <a:pathLst>
                      <a:path w="173" h="20">
                        <a:moveTo>
                          <a:pt x="172" y="19"/>
                        </a:moveTo>
                        <a:lnTo>
                          <a:pt x="167" y="17"/>
                        </a:lnTo>
                        <a:lnTo>
                          <a:pt x="163" y="15"/>
                        </a:lnTo>
                        <a:lnTo>
                          <a:pt x="157" y="13"/>
                        </a:lnTo>
                        <a:lnTo>
                          <a:pt x="152" y="11"/>
                        </a:lnTo>
                        <a:lnTo>
                          <a:pt x="146" y="9"/>
                        </a:lnTo>
                        <a:lnTo>
                          <a:pt x="138" y="6"/>
                        </a:lnTo>
                        <a:lnTo>
                          <a:pt x="131" y="2"/>
                        </a:lnTo>
                        <a:lnTo>
                          <a:pt x="125" y="2"/>
                        </a:lnTo>
                        <a:lnTo>
                          <a:pt x="118" y="3"/>
                        </a:lnTo>
                        <a:lnTo>
                          <a:pt x="108" y="5"/>
                        </a:lnTo>
                        <a:lnTo>
                          <a:pt x="103" y="5"/>
                        </a:lnTo>
                        <a:lnTo>
                          <a:pt x="91" y="3"/>
                        </a:lnTo>
                        <a:lnTo>
                          <a:pt x="77" y="1"/>
                        </a:lnTo>
                        <a:lnTo>
                          <a:pt x="67" y="0"/>
                        </a:lnTo>
                        <a:lnTo>
                          <a:pt x="55" y="0"/>
                        </a:lnTo>
                        <a:lnTo>
                          <a:pt x="43" y="0"/>
                        </a:lnTo>
                        <a:lnTo>
                          <a:pt x="35" y="1"/>
                        </a:lnTo>
                        <a:lnTo>
                          <a:pt x="26" y="2"/>
                        </a:lnTo>
                        <a:lnTo>
                          <a:pt x="18" y="3"/>
                        </a:lnTo>
                        <a:lnTo>
                          <a:pt x="9" y="4"/>
                        </a:lnTo>
                        <a:lnTo>
                          <a:pt x="8" y="8"/>
                        </a:lnTo>
                        <a:lnTo>
                          <a:pt x="6" y="11"/>
                        </a:lnTo>
                        <a:lnTo>
                          <a:pt x="4" y="14"/>
                        </a:lnTo>
                        <a:lnTo>
                          <a:pt x="0" y="16"/>
                        </a:lnTo>
                        <a:lnTo>
                          <a:pt x="7" y="15"/>
                        </a:lnTo>
                        <a:lnTo>
                          <a:pt x="15" y="13"/>
                        </a:lnTo>
                        <a:lnTo>
                          <a:pt x="21" y="12"/>
                        </a:lnTo>
                        <a:lnTo>
                          <a:pt x="29" y="11"/>
                        </a:lnTo>
                        <a:lnTo>
                          <a:pt x="36" y="10"/>
                        </a:lnTo>
                        <a:lnTo>
                          <a:pt x="49" y="9"/>
                        </a:lnTo>
                        <a:lnTo>
                          <a:pt x="62" y="8"/>
                        </a:lnTo>
                        <a:lnTo>
                          <a:pt x="77" y="7"/>
                        </a:lnTo>
                        <a:lnTo>
                          <a:pt x="92" y="6"/>
                        </a:lnTo>
                        <a:lnTo>
                          <a:pt x="106" y="6"/>
                        </a:lnTo>
                        <a:lnTo>
                          <a:pt x="118" y="7"/>
                        </a:lnTo>
                        <a:lnTo>
                          <a:pt x="126" y="9"/>
                        </a:lnTo>
                        <a:lnTo>
                          <a:pt x="135" y="11"/>
                        </a:lnTo>
                        <a:lnTo>
                          <a:pt x="145" y="13"/>
                        </a:lnTo>
                        <a:lnTo>
                          <a:pt x="155" y="16"/>
                        </a:lnTo>
                        <a:lnTo>
                          <a:pt x="163" y="17"/>
                        </a:lnTo>
                        <a:lnTo>
                          <a:pt x="172" y="19"/>
                        </a:lnTo>
                      </a:path>
                    </a:pathLst>
                  </a:custGeom>
                  <a:solidFill>
                    <a:srgbClr val="037C03">
                      <a:alpha val="50195"/>
                    </a:srgbClr>
                  </a:solidFill>
                  <a:ln w="9525">
                    <a:noFill/>
                  </a:ln>
                </p:spPr>
                <p:txBody>
                  <a:bodyPr/>
                  <a:lstStyle/>
                  <a:p>
                    <a:endParaRPr lang="zh-CN" altLang="en-US"/>
                  </a:p>
                </p:txBody>
              </p:sp>
            </p:grpSp>
          </p:grpSp>
        </p:grpSp>
      </p:grpSp>
      <p:grpSp>
        <p:nvGrpSpPr>
          <p:cNvPr id="89100" name="Group 166"/>
          <p:cNvGrpSpPr/>
          <p:nvPr/>
        </p:nvGrpSpPr>
        <p:grpSpPr>
          <a:xfrm>
            <a:off x="3059113" y="3860800"/>
            <a:ext cx="1371600" cy="1600200"/>
            <a:chOff x="0" y="3182"/>
            <a:chExt cx="808" cy="998"/>
          </a:xfrm>
        </p:grpSpPr>
        <p:grpSp>
          <p:nvGrpSpPr>
            <p:cNvPr id="89147" name="Group 167"/>
            <p:cNvGrpSpPr/>
            <p:nvPr/>
          </p:nvGrpSpPr>
          <p:grpSpPr>
            <a:xfrm>
              <a:off x="0" y="3182"/>
              <a:ext cx="506" cy="927"/>
              <a:chOff x="1685" y="1023"/>
              <a:chExt cx="506" cy="927"/>
            </a:xfrm>
          </p:grpSpPr>
          <p:sp>
            <p:nvSpPr>
              <p:cNvPr id="89160" name="Freeform 168"/>
              <p:cNvSpPr/>
              <p:nvPr/>
            </p:nvSpPr>
            <p:spPr>
              <a:xfrm>
                <a:off x="1733" y="1329"/>
                <a:ext cx="76" cy="621"/>
              </a:xfrm>
              <a:custGeom>
                <a:avLst/>
                <a:gdLst>
                  <a:gd name="txL" fmla="*/ 0 w 76"/>
                  <a:gd name="txT" fmla="*/ 0 h 621"/>
                  <a:gd name="txR" fmla="*/ 76 w 76"/>
                  <a:gd name="txB" fmla="*/ 621 h 621"/>
                </a:gdLst>
                <a:ahLst/>
                <a:cxnLst>
                  <a:cxn ang="0">
                    <a:pos x="0" y="54"/>
                  </a:cxn>
                  <a:cxn ang="0">
                    <a:pos x="11" y="269"/>
                  </a:cxn>
                  <a:cxn ang="0">
                    <a:pos x="22" y="442"/>
                  </a:cxn>
                  <a:cxn ang="0">
                    <a:pos x="30" y="570"/>
                  </a:cxn>
                  <a:cxn ang="0">
                    <a:pos x="28" y="620"/>
                  </a:cxn>
                  <a:cxn ang="0">
                    <a:pos x="44" y="620"/>
                  </a:cxn>
                  <a:cxn ang="0">
                    <a:pos x="49" y="546"/>
                  </a:cxn>
                  <a:cxn ang="0">
                    <a:pos x="52" y="434"/>
                  </a:cxn>
                  <a:cxn ang="0">
                    <a:pos x="58" y="329"/>
                  </a:cxn>
                  <a:cxn ang="0">
                    <a:pos x="61" y="250"/>
                  </a:cxn>
                  <a:cxn ang="0">
                    <a:pos x="67" y="135"/>
                  </a:cxn>
                  <a:cxn ang="0">
                    <a:pos x="75" y="36"/>
                  </a:cxn>
                  <a:cxn ang="0">
                    <a:pos x="70" y="11"/>
                  </a:cxn>
                  <a:cxn ang="0">
                    <a:pos x="62" y="0"/>
                  </a:cxn>
                  <a:cxn ang="0">
                    <a:pos x="53" y="121"/>
                  </a:cxn>
                  <a:cxn ang="0">
                    <a:pos x="45" y="224"/>
                  </a:cxn>
                  <a:cxn ang="0">
                    <a:pos x="43" y="305"/>
                  </a:cxn>
                  <a:cxn ang="0">
                    <a:pos x="40" y="390"/>
                  </a:cxn>
                  <a:cxn ang="0">
                    <a:pos x="34" y="475"/>
                  </a:cxn>
                  <a:cxn ang="0">
                    <a:pos x="25" y="327"/>
                  </a:cxn>
                  <a:cxn ang="0">
                    <a:pos x="15" y="187"/>
                  </a:cxn>
                  <a:cxn ang="0">
                    <a:pos x="0" y="54"/>
                  </a:cxn>
                </a:cxnLst>
                <a:rect l="txL" t="txT" r="txR" b="txB"/>
                <a:pathLst>
                  <a:path w="76" h="621">
                    <a:moveTo>
                      <a:pt x="0" y="54"/>
                    </a:moveTo>
                    <a:lnTo>
                      <a:pt x="11" y="269"/>
                    </a:lnTo>
                    <a:lnTo>
                      <a:pt x="22" y="442"/>
                    </a:lnTo>
                    <a:lnTo>
                      <a:pt x="30" y="570"/>
                    </a:lnTo>
                    <a:lnTo>
                      <a:pt x="28" y="620"/>
                    </a:lnTo>
                    <a:lnTo>
                      <a:pt x="44" y="620"/>
                    </a:lnTo>
                    <a:lnTo>
                      <a:pt x="49" y="546"/>
                    </a:lnTo>
                    <a:lnTo>
                      <a:pt x="52" y="434"/>
                    </a:lnTo>
                    <a:lnTo>
                      <a:pt x="58" y="329"/>
                    </a:lnTo>
                    <a:lnTo>
                      <a:pt x="61" y="250"/>
                    </a:lnTo>
                    <a:lnTo>
                      <a:pt x="67" y="135"/>
                    </a:lnTo>
                    <a:lnTo>
                      <a:pt x="75" y="36"/>
                    </a:lnTo>
                    <a:lnTo>
                      <a:pt x="70" y="11"/>
                    </a:lnTo>
                    <a:lnTo>
                      <a:pt x="62" y="0"/>
                    </a:lnTo>
                    <a:lnTo>
                      <a:pt x="53" y="121"/>
                    </a:lnTo>
                    <a:lnTo>
                      <a:pt x="45" y="224"/>
                    </a:lnTo>
                    <a:lnTo>
                      <a:pt x="43" y="305"/>
                    </a:lnTo>
                    <a:lnTo>
                      <a:pt x="40" y="390"/>
                    </a:lnTo>
                    <a:lnTo>
                      <a:pt x="34" y="475"/>
                    </a:lnTo>
                    <a:lnTo>
                      <a:pt x="25" y="327"/>
                    </a:lnTo>
                    <a:lnTo>
                      <a:pt x="15" y="187"/>
                    </a:lnTo>
                    <a:lnTo>
                      <a:pt x="0" y="54"/>
                    </a:lnTo>
                  </a:path>
                </a:pathLst>
              </a:custGeom>
              <a:solidFill>
                <a:srgbClr val="3C0023">
                  <a:alpha val="50195"/>
                </a:srgbClr>
              </a:solidFill>
              <a:ln w="9525">
                <a:noFill/>
              </a:ln>
            </p:spPr>
            <p:txBody>
              <a:bodyPr/>
              <a:lstStyle/>
              <a:p>
                <a:endParaRPr lang="zh-CN" altLang="en-US"/>
              </a:p>
            </p:txBody>
          </p:sp>
          <p:sp>
            <p:nvSpPr>
              <p:cNvPr id="89161" name="Freeform 169"/>
              <p:cNvSpPr/>
              <p:nvPr/>
            </p:nvSpPr>
            <p:spPr>
              <a:xfrm>
                <a:off x="1790" y="1583"/>
                <a:ext cx="120" cy="349"/>
              </a:xfrm>
              <a:custGeom>
                <a:avLst/>
                <a:gdLst>
                  <a:gd name="txL" fmla="*/ 0 w 120"/>
                  <a:gd name="txT" fmla="*/ 0 h 349"/>
                  <a:gd name="txR" fmla="*/ 120 w 120"/>
                  <a:gd name="txB" fmla="*/ 349 h 349"/>
                </a:gdLst>
                <a:ahLst/>
                <a:cxnLst>
                  <a:cxn ang="0">
                    <a:pos x="0" y="161"/>
                  </a:cxn>
                  <a:cxn ang="0">
                    <a:pos x="10" y="232"/>
                  </a:cxn>
                  <a:cxn ang="0">
                    <a:pos x="20" y="289"/>
                  </a:cxn>
                  <a:cxn ang="0">
                    <a:pos x="26" y="331"/>
                  </a:cxn>
                  <a:cxn ang="0">
                    <a:pos x="25" y="348"/>
                  </a:cxn>
                  <a:cxn ang="0">
                    <a:pos x="39" y="348"/>
                  </a:cxn>
                  <a:cxn ang="0">
                    <a:pos x="43" y="323"/>
                  </a:cxn>
                  <a:cxn ang="0">
                    <a:pos x="45" y="286"/>
                  </a:cxn>
                  <a:cxn ang="0">
                    <a:pos x="51" y="252"/>
                  </a:cxn>
                  <a:cxn ang="0">
                    <a:pos x="54" y="226"/>
                  </a:cxn>
                  <a:cxn ang="0">
                    <a:pos x="59" y="188"/>
                  </a:cxn>
                  <a:cxn ang="0">
                    <a:pos x="66" y="156"/>
                  </a:cxn>
                  <a:cxn ang="0">
                    <a:pos x="71" y="127"/>
                  </a:cxn>
                  <a:cxn ang="0">
                    <a:pos x="77" y="96"/>
                  </a:cxn>
                  <a:cxn ang="0">
                    <a:pos x="86" y="66"/>
                  </a:cxn>
                  <a:cxn ang="0">
                    <a:pos x="96" y="40"/>
                  </a:cxn>
                  <a:cxn ang="0">
                    <a:pos x="113" y="15"/>
                  </a:cxn>
                  <a:cxn ang="0">
                    <a:pos x="119" y="5"/>
                  </a:cxn>
                  <a:cxn ang="0">
                    <a:pos x="112" y="0"/>
                  </a:cxn>
                  <a:cxn ang="0">
                    <a:pos x="101" y="10"/>
                  </a:cxn>
                  <a:cxn ang="0">
                    <a:pos x="86" y="33"/>
                  </a:cxn>
                  <a:cxn ang="0">
                    <a:pos x="75" y="57"/>
                  </a:cxn>
                  <a:cxn ang="0">
                    <a:pos x="66" y="81"/>
                  </a:cxn>
                  <a:cxn ang="0">
                    <a:pos x="60" y="113"/>
                  </a:cxn>
                  <a:cxn ang="0">
                    <a:pos x="55" y="144"/>
                  </a:cxn>
                  <a:cxn ang="0">
                    <a:pos x="47" y="184"/>
                  </a:cxn>
                  <a:cxn ang="0">
                    <a:pos x="40" y="217"/>
                  </a:cxn>
                  <a:cxn ang="0">
                    <a:pos x="37" y="244"/>
                  </a:cxn>
                  <a:cxn ang="0">
                    <a:pos x="36" y="272"/>
                  </a:cxn>
                  <a:cxn ang="0">
                    <a:pos x="30" y="300"/>
                  </a:cxn>
                  <a:cxn ang="0">
                    <a:pos x="22" y="251"/>
                  </a:cxn>
                  <a:cxn ang="0">
                    <a:pos x="13" y="205"/>
                  </a:cxn>
                  <a:cxn ang="0">
                    <a:pos x="0" y="161"/>
                  </a:cxn>
                </a:cxnLst>
                <a:rect l="txL" t="txT" r="txR" b="txB"/>
                <a:pathLst>
                  <a:path w="120" h="349">
                    <a:moveTo>
                      <a:pt x="0" y="161"/>
                    </a:moveTo>
                    <a:lnTo>
                      <a:pt x="10" y="232"/>
                    </a:lnTo>
                    <a:lnTo>
                      <a:pt x="20" y="289"/>
                    </a:lnTo>
                    <a:lnTo>
                      <a:pt x="26" y="331"/>
                    </a:lnTo>
                    <a:lnTo>
                      <a:pt x="25" y="348"/>
                    </a:lnTo>
                    <a:lnTo>
                      <a:pt x="39" y="348"/>
                    </a:lnTo>
                    <a:lnTo>
                      <a:pt x="43" y="323"/>
                    </a:lnTo>
                    <a:lnTo>
                      <a:pt x="45" y="286"/>
                    </a:lnTo>
                    <a:lnTo>
                      <a:pt x="51" y="252"/>
                    </a:lnTo>
                    <a:lnTo>
                      <a:pt x="54" y="226"/>
                    </a:lnTo>
                    <a:lnTo>
                      <a:pt x="59" y="188"/>
                    </a:lnTo>
                    <a:lnTo>
                      <a:pt x="66" y="156"/>
                    </a:lnTo>
                    <a:lnTo>
                      <a:pt x="71" y="127"/>
                    </a:lnTo>
                    <a:lnTo>
                      <a:pt x="77" y="96"/>
                    </a:lnTo>
                    <a:lnTo>
                      <a:pt x="86" y="66"/>
                    </a:lnTo>
                    <a:lnTo>
                      <a:pt x="96" y="40"/>
                    </a:lnTo>
                    <a:lnTo>
                      <a:pt x="113" y="15"/>
                    </a:lnTo>
                    <a:lnTo>
                      <a:pt x="119" y="5"/>
                    </a:lnTo>
                    <a:lnTo>
                      <a:pt x="112" y="0"/>
                    </a:lnTo>
                    <a:lnTo>
                      <a:pt x="101" y="10"/>
                    </a:lnTo>
                    <a:lnTo>
                      <a:pt x="86" y="33"/>
                    </a:lnTo>
                    <a:lnTo>
                      <a:pt x="75" y="57"/>
                    </a:lnTo>
                    <a:lnTo>
                      <a:pt x="66" y="81"/>
                    </a:lnTo>
                    <a:lnTo>
                      <a:pt x="60" y="113"/>
                    </a:lnTo>
                    <a:lnTo>
                      <a:pt x="55" y="144"/>
                    </a:lnTo>
                    <a:lnTo>
                      <a:pt x="47" y="184"/>
                    </a:lnTo>
                    <a:lnTo>
                      <a:pt x="40" y="217"/>
                    </a:lnTo>
                    <a:lnTo>
                      <a:pt x="37" y="244"/>
                    </a:lnTo>
                    <a:lnTo>
                      <a:pt x="36" y="272"/>
                    </a:lnTo>
                    <a:lnTo>
                      <a:pt x="30" y="300"/>
                    </a:lnTo>
                    <a:lnTo>
                      <a:pt x="22" y="251"/>
                    </a:lnTo>
                    <a:lnTo>
                      <a:pt x="13" y="205"/>
                    </a:lnTo>
                    <a:lnTo>
                      <a:pt x="0" y="161"/>
                    </a:lnTo>
                  </a:path>
                </a:pathLst>
              </a:custGeom>
              <a:solidFill>
                <a:srgbClr val="3C0023">
                  <a:alpha val="50195"/>
                </a:srgbClr>
              </a:solidFill>
              <a:ln w="9525">
                <a:noFill/>
              </a:ln>
            </p:spPr>
            <p:txBody>
              <a:bodyPr/>
              <a:lstStyle/>
              <a:p>
                <a:endParaRPr lang="zh-CN" altLang="en-US"/>
              </a:p>
            </p:txBody>
          </p:sp>
          <p:sp>
            <p:nvSpPr>
              <p:cNvPr id="89162" name="Freeform 170"/>
              <p:cNvSpPr/>
              <p:nvPr/>
            </p:nvSpPr>
            <p:spPr>
              <a:xfrm>
                <a:off x="1685" y="1239"/>
                <a:ext cx="266" cy="391"/>
              </a:xfrm>
              <a:custGeom>
                <a:avLst/>
                <a:gdLst>
                  <a:gd name="txL" fmla="*/ 0 w 266"/>
                  <a:gd name="txT" fmla="*/ 0 h 391"/>
                  <a:gd name="txR" fmla="*/ 266 w 266"/>
                  <a:gd name="txB" fmla="*/ 391 h 391"/>
                </a:gdLst>
                <a:ahLst/>
                <a:cxnLst>
                  <a:cxn ang="0">
                    <a:pos x="107" y="123"/>
                  </a:cxn>
                  <a:cxn ang="0">
                    <a:pos x="116" y="135"/>
                  </a:cxn>
                  <a:cxn ang="0">
                    <a:pos x="163" y="114"/>
                  </a:cxn>
                  <a:cxn ang="0">
                    <a:pos x="211" y="81"/>
                  </a:cxn>
                  <a:cxn ang="0">
                    <a:pos x="233" y="46"/>
                  </a:cxn>
                  <a:cxn ang="0">
                    <a:pos x="220" y="76"/>
                  </a:cxn>
                  <a:cxn ang="0">
                    <a:pos x="183" y="109"/>
                  </a:cxn>
                  <a:cxn ang="0">
                    <a:pos x="142" y="138"/>
                  </a:cxn>
                  <a:cxn ang="0">
                    <a:pos x="102" y="159"/>
                  </a:cxn>
                  <a:cxn ang="0">
                    <a:pos x="119" y="178"/>
                  </a:cxn>
                  <a:cxn ang="0">
                    <a:pos x="155" y="180"/>
                  </a:cxn>
                  <a:cxn ang="0">
                    <a:pos x="202" y="187"/>
                  </a:cxn>
                  <a:cxn ang="0">
                    <a:pos x="239" y="204"/>
                  </a:cxn>
                  <a:cxn ang="0">
                    <a:pos x="251" y="215"/>
                  </a:cxn>
                  <a:cxn ang="0">
                    <a:pos x="213" y="204"/>
                  </a:cxn>
                  <a:cxn ang="0">
                    <a:pos x="162" y="198"/>
                  </a:cxn>
                  <a:cxn ang="0">
                    <a:pos x="114" y="195"/>
                  </a:cxn>
                  <a:cxn ang="0">
                    <a:pos x="88" y="203"/>
                  </a:cxn>
                  <a:cxn ang="0">
                    <a:pos x="93" y="248"/>
                  </a:cxn>
                  <a:cxn ang="0">
                    <a:pos x="93" y="307"/>
                  </a:cxn>
                  <a:cxn ang="0">
                    <a:pos x="77" y="354"/>
                  </a:cxn>
                  <a:cxn ang="0">
                    <a:pos x="46" y="390"/>
                  </a:cxn>
                  <a:cxn ang="0">
                    <a:pos x="50" y="346"/>
                  </a:cxn>
                  <a:cxn ang="0">
                    <a:pos x="61" y="299"/>
                  </a:cxn>
                  <a:cxn ang="0">
                    <a:pos x="67" y="238"/>
                  </a:cxn>
                  <a:cxn ang="0">
                    <a:pos x="64" y="198"/>
                  </a:cxn>
                  <a:cxn ang="0">
                    <a:pos x="48" y="221"/>
                  </a:cxn>
                  <a:cxn ang="0">
                    <a:pos x="39" y="273"/>
                  </a:cxn>
                  <a:cxn ang="0">
                    <a:pos x="32" y="325"/>
                  </a:cxn>
                  <a:cxn ang="0">
                    <a:pos x="10" y="364"/>
                  </a:cxn>
                  <a:cxn ang="0">
                    <a:pos x="2" y="364"/>
                  </a:cxn>
                  <a:cxn ang="0">
                    <a:pos x="2" y="324"/>
                  </a:cxn>
                  <a:cxn ang="0">
                    <a:pos x="17" y="287"/>
                  </a:cxn>
                  <a:cxn ang="0">
                    <a:pos x="34" y="239"/>
                  </a:cxn>
                  <a:cxn ang="0">
                    <a:pos x="42" y="204"/>
                  </a:cxn>
                  <a:cxn ang="0">
                    <a:pos x="26" y="182"/>
                  </a:cxn>
                  <a:cxn ang="0">
                    <a:pos x="2" y="184"/>
                  </a:cxn>
                  <a:cxn ang="0">
                    <a:pos x="2" y="184"/>
                  </a:cxn>
                  <a:cxn ang="0">
                    <a:pos x="2" y="184"/>
                  </a:cxn>
                  <a:cxn ang="0">
                    <a:pos x="2" y="184"/>
                  </a:cxn>
                  <a:cxn ang="0">
                    <a:pos x="2" y="184"/>
                  </a:cxn>
                  <a:cxn ang="0">
                    <a:pos x="2" y="184"/>
                  </a:cxn>
                  <a:cxn ang="0">
                    <a:pos x="13" y="161"/>
                  </a:cxn>
                  <a:cxn ang="0">
                    <a:pos x="13" y="138"/>
                  </a:cxn>
                  <a:cxn ang="0">
                    <a:pos x="2" y="105"/>
                  </a:cxn>
                  <a:cxn ang="0">
                    <a:pos x="2" y="105"/>
                  </a:cxn>
                  <a:cxn ang="0">
                    <a:pos x="2" y="105"/>
                  </a:cxn>
                  <a:cxn ang="0">
                    <a:pos x="2" y="105"/>
                  </a:cxn>
                  <a:cxn ang="0">
                    <a:pos x="24" y="122"/>
                  </a:cxn>
                  <a:cxn ang="0">
                    <a:pos x="53" y="157"/>
                  </a:cxn>
                  <a:cxn ang="0">
                    <a:pos x="55" y="130"/>
                  </a:cxn>
                  <a:cxn ang="0">
                    <a:pos x="24" y="91"/>
                  </a:cxn>
                  <a:cxn ang="0">
                    <a:pos x="2" y="65"/>
                  </a:cxn>
                  <a:cxn ang="0">
                    <a:pos x="2" y="65"/>
                  </a:cxn>
                  <a:cxn ang="0">
                    <a:pos x="2" y="48"/>
                  </a:cxn>
                  <a:cxn ang="0">
                    <a:pos x="30" y="87"/>
                  </a:cxn>
                  <a:cxn ang="0">
                    <a:pos x="61" y="138"/>
                  </a:cxn>
                  <a:cxn ang="0">
                    <a:pos x="80" y="127"/>
                  </a:cxn>
                  <a:cxn ang="0">
                    <a:pos x="106" y="87"/>
                  </a:cxn>
                  <a:cxn ang="0">
                    <a:pos x="139" y="39"/>
                  </a:cxn>
                  <a:cxn ang="0">
                    <a:pos x="165" y="6"/>
                  </a:cxn>
                  <a:cxn ang="0">
                    <a:pos x="163" y="29"/>
                  </a:cxn>
                  <a:cxn ang="0">
                    <a:pos x="137" y="76"/>
                  </a:cxn>
                </a:cxnLst>
                <a:rect l="txL" t="txT" r="txR" b="txB"/>
                <a:pathLst>
                  <a:path w="266" h="391">
                    <a:moveTo>
                      <a:pt x="124" y="95"/>
                    </a:moveTo>
                    <a:lnTo>
                      <a:pt x="119" y="101"/>
                    </a:lnTo>
                    <a:lnTo>
                      <a:pt x="115" y="108"/>
                    </a:lnTo>
                    <a:lnTo>
                      <a:pt x="111" y="115"/>
                    </a:lnTo>
                    <a:lnTo>
                      <a:pt x="107" y="123"/>
                    </a:lnTo>
                    <a:lnTo>
                      <a:pt x="104" y="129"/>
                    </a:lnTo>
                    <a:lnTo>
                      <a:pt x="102" y="136"/>
                    </a:lnTo>
                    <a:lnTo>
                      <a:pt x="100" y="142"/>
                    </a:lnTo>
                    <a:lnTo>
                      <a:pt x="107" y="138"/>
                    </a:lnTo>
                    <a:lnTo>
                      <a:pt x="116" y="135"/>
                    </a:lnTo>
                    <a:lnTo>
                      <a:pt x="125" y="131"/>
                    </a:lnTo>
                    <a:lnTo>
                      <a:pt x="134" y="127"/>
                    </a:lnTo>
                    <a:lnTo>
                      <a:pt x="144" y="124"/>
                    </a:lnTo>
                    <a:lnTo>
                      <a:pt x="154" y="119"/>
                    </a:lnTo>
                    <a:lnTo>
                      <a:pt x="163" y="114"/>
                    </a:lnTo>
                    <a:lnTo>
                      <a:pt x="175" y="107"/>
                    </a:lnTo>
                    <a:lnTo>
                      <a:pt x="184" y="101"/>
                    </a:lnTo>
                    <a:lnTo>
                      <a:pt x="195" y="93"/>
                    </a:lnTo>
                    <a:lnTo>
                      <a:pt x="203" y="89"/>
                    </a:lnTo>
                    <a:lnTo>
                      <a:pt x="211" y="81"/>
                    </a:lnTo>
                    <a:lnTo>
                      <a:pt x="218" y="75"/>
                    </a:lnTo>
                    <a:lnTo>
                      <a:pt x="224" y="66"/>
                    </a:lnTo>
                    <a:lnTo>
                      <a:pt x="227" y="59"/>
                    </a:lnTo>
                    <a:lnTo>
                      <a:pt x="230" y="51"/>
                    </a:lnTo>
                    <a:lnTo>
                      <a:pt x="233" y="46"/>
                    </a:lnTo>
                    <a:lnTo>
                      <a:pt x="233" y="52"/>
                    </a:lnTo>
                    <a:lnTo>
                      <a:pt x="233" y="56"/>
                    </a:lnTo>
                    <a:lnTo>
                      <a:pt x="231" y="61"/>
                    </a:lnTo>
                    <a:lnTo>
                      <a:pt x="227" y="67"/>
                    </a:lnTo>
                    <a:lnTo>
                      <a:pt x="220" y="76"/>
                    </a:lnTo>
                    <a:lnTo>
                      <a:pt x="217" y="83"/>
                    </a:lnTo>
                    <a:lnTo>
                      <a:pt x="210" y="88"/>
                    </a:lnTo>
                    <a:lnTo>
                      <a:pt x="202" y="94"/>
                    </a:lnTo>
                    <a:lnTo>
                      <a:pt x="192" y="101"/>
                    </a:lnTo>
                    <a:lnTo>
                      <a:pt x="183" y="109"/>
                    </a:lnTo>
                    <a:lnTo>
                      <a:pt x="173" y="116"/>
                    </a:lnTo>
                    <a:lnTo>
                      <a:pt x="167" y="122"/>
                    </a:lnTo>
                    <a:lnTo>
                      <a:pt x="159" y="129"/>
                    </a:lnTo>
                    <a:lnTo>
                      <a:pt x="151" y="133"/>
                    </a:lnTo>
                    <a:lnTo>
                      <a:pt x="142" y="138"/>
                    </a:lnTo>
                    <a:lnTo>
                      <a:pt x="133" y="143"/>
                    </a:lnTo>
                    <a:lnTo>
                      <a:pt x="125" y="148"/>
                    </a:lnTo>
                    <a:lnTo>
                      <a:pt x="118" y="152"/>
                    </a:lnTo>
                    <a:lnTo>
                      <a:pt x="109" y="156"/>
                    </a:lnTo>
                    <a:lnTo>
                      <a:pt x="102" y="159"/>
                    </a:lnTo>
                    <a:lnTo>
                      <a:pt x="100" y="161"/>
                    </a:lnTo>
                    <a:lnTo>
                      <a:pt x="102" y="165"/>
                    </a:lnTo>
                    <a:lnTo>
                      <a:pt x="106" y="170"/>
                    </a:lnTo>
                    <a:lnTo>
                      <a:pt x="110" y="176"/>
                    </a:lnTo>
                    <a:lnTo>
                      <a:pt x="119" y="178"/>
                    </a:lnTo>
                    <a:lnTo>
                      <a:pt x="125" y="178"/>
                    </a:lnTo>
                    <a:lnTo>
                      <a:pt x="135" y="180"/>
                    </a:lnTo>
                    <a:lnTo>
                      <a:pt x="144" y="180"/>
                    </a:lnTo>
                    <a:lnTo>
                      <a:pt x="155" y="180"/>
                    </a:lnTo>
                    <a:lnTo>
                      <a:pt x="165" y="182"/>
                    </a:lnTo>
                    <a:lnTo>
                      <a:pt x="175" y="182"/>
                    </a:lnTo>
                    <a:lnTo>
                      <a:pt x="185" y="184"/>
                    </a:lnTo>
                    <a:lnTo>
                      <a:pt x="193" y="185"/>
                    </a:lnTo>
                    <a:lnTo>
                      <a:pt x="202" y="187"/>
                    </a:lnTo>
                    <a:lnTo>
                      <a:pt x="208" y="189"/>
                    </a:lnTo>
                    <a:lnTo>
                      <a:pt x="215" y="193"/>
                    </a:lnTo>
                    <a:lnTo>
                      <a:pt x="221" y="196"/>
                    </a:lnTo>
                    <a:lnTo>
                      <a:pt x="229" y="200"/>
                    </a:lnTo>
                    <a:lnTo>
                      <a:pt x="239" y="204"/>
                    </a:lnTo>
                    <a:lnTo>
                      <a:pt x="249" y="208"/>
                    </a:lnTo>
                    <a:lnTo>
                      <a:pt x="256" y="211"/>
                    </a:lnTo>
                    <a:lnTo>
                      <a:pt x="265" y="214"/>
                    </a:lnTo>
                    <a:lnTo>
                      <a:pt x="258" y="215"/>
                    </a:lnTo>
                    <a:lnTo>
                      <a:pt x="251" y="215"/>
                    </a:lnTo>
                    <a:lnTo>
                      <a:pt x="244" y="213"/>
                    </a:lnTo>
                    <a:lnTo>
                      <a:pt x="236" y="211"/>
                    </a:lnTo>
                    <a:lnTo>
                      <a:pt x="226" y="207"/>
                    </a:lnTo>
                    <a:lnTo>
                      <a:pt x="219" y="206"/>
                    </a:lnTo>
                    <a:lnTo>
                      <a:pt x="213" y="204"/>
                    </a:lnTo>
                    <a:lnTo>
                      <a:pt x="204" y="202"/>
                    </a:lnTo>
                    <a:lnTo>
                      <a:pt x="195" y="201"/>
                    </a:lnTo>
                    <a:lnTo>
                      <a:pt x="184" y="200"/>
                    </a:lnTo>
                    <a:lnTo>
                      <a:pt x="173" y="199"/>
                    </a:lnTo>
                    <a:lnTo>
                      <a:pt x="162" y="198"/>
                    </a:lnTo>
                    <a:lnTo>
                      <a:pt x="152" y="198"/>
                    </a:lnTo>
                    <a:lnTo>
                      <a:pt x="142" y="198"/>
                    </a:lnTo>
                    <a:lnTo>
                      <a:pt x="134" y="197"/>
                    </a:lnTo>
                    <a:lnTo>
                      <a:pt x="124" y="197"/>
                    </a:lnTo>
                    <a:lnTo>
                      <a:pt x="114" y="195"/>
                    </a:lnTo>
                    <a:lnTo>
                      <a:pt x="102" y="192"/>
                    </a:lnTo>
                    <a:lnTo>
                      <a:pt x="92" y="189"/>
                    </a:lnTo>
                    <a:lnTo>
                      <a:pt x="80" y="188"/>
                    </a:lnTo>
                    <a:lnTo>
                      <a:pt x="84" y="195"/>
                    </a:lnTo>
                    <a:lnTo>
                      <a:pt x="88" y="203"/>
                    </a:lnTo>
                    <a:lnTo>
                      <a:pt x="93" y="215"/>
                    </a:lnTo>
                    <a:lnTo>
                      <a:pt x="94" y="223"/>
                    </a:lnTo>
                    <a:lnTo>
                      <a:pt x="95" y="233"/>
                    </a:lnTo>
                    <a:lnTo>
                      <a:pt x="94" y="241"/>
                    </a:lnTo>
                    <a:lnTo>
                      <a:pt x="93" y="248"/>
                    </a:lnTo>
                    <a:lnTo>
                      <a:pt x="93" y="259"/>
                    </a:lnTo>
                    <a:lnTo>
                      <a:pt x="92" y="273"/>
                    </a:lnTo>
                    <a:lnTo>
                      <a:pt x="92" y="285"/>
                    </a:lnTo>
                    <a:lnTo>
                      <a:pt x="93" y="297"/>
                    </a:lnTo>
                    <a:lnTo>
                      <a:pt x="93" y="307"/>
                    </a:lnTo>
                    <a:lnTo>
                      <a:pt x="92" y="316"/>
                    </a:lnTo>
                    <a:lnTo>
                      <a:pt x="89" y="326"/>
                    </a:lnTo>
                    <a:lnTo>
                      <a:pt x="85" y="338"/>
                    </a:lnTo>
                    <a:lnTo>
                      <a:pt x="82" y="346"/>
                    </a:lnTo>
                    <a:lnTo>
                      <a:pt x="77" y="354"/>
                    </a:lnTo>
                    <a:lnTo>
                      <a:pt x="73" y="363"/>
                    </a:lnTo>
                    <a:lnTo>
                      <a:pt x="69" y="369"/>
                    </a:lnTo>
                    <a:lnTo>
                      <a:pt x="62" y="376"/>
                    </a:lnTo>
                    <a:lnTo>
                      <a:pt x="53" y="382"/>
                    </a:lnTo>
                    <a:lnTo>
                      <a:pt x="46" y="390"/>
                    </a:lnTo>
                    <a:lnTo>
                      <a:pt x="45" y="382"/>
                    </a:lnTo>
                    <a:lnTo>
                      <a:pt x="46" y="372"/>
                    </a:lnTo>
                    <a:lnTo>
                      <a:pt x="47" y="362"/>
                    </a:lnTo>
                    <a:lnTo>
                      <a:pt x="48" y="353"/>
                    </a:lnTo>
                    <a:lnTo>
                      <a:pt x="50" y="346"/>
                    </a:lnTo>
                    <a:lnTo>
                      <a:pt x="53" y="337"/>
                    </a:lnTo>
                    <a:lnTo>
                      <a:pt x="56" y="328"/>
                    </a:lnTo>
                    <a:lnTo>
                      <a:pt x="58" y="320"/>
                    </a:lnTo>
                    <a:lnTo>
                      <a:pt x="59" y="313"/>
                    </a:lnTo>
                    <a:lnTo>
                      <a:pt x="61" y="299"/>
                    </a:lnTo>
                    <a:lnTo>
                      <a:pt x="62" y="285"/>
                    </a:lnTo>
                    <a:lnTo>
                      <a:pt x="63" y="273"/>
                    </a:lnTo>
                    <a:lnTo>
                      <a:pt x="65" y="260"/>
                    </a:lnTo>
                    <a:lnTo>
                      <a:pt x="67" y="247"/>
                    </a:lnTo>
                    <a:lnTo>
                      <a:pt x="67" y="238"/>
                    </a:lnTo>
                    <a:lnTo>
                      <a:pt x="67" y="231"/>
                    </a:lnTo>
                    <a:lnTo>
                      <a:pt x="68" y="222"/>
                    </a:lnTo>
                    <a:lnTo>
                      <a:pt x="67" y="212"/>
                    </a:lnTo>
                    <a:lnTo>
                      <a:pt x="66" y="206"/>
                    </a:lnTo>
                    <a:lnTo>
                      <a:pt x="64" y="198"/>
                    </a:lnTo>
                    <a:lnTo>
                      <a:pt x="62" y="187"/>
                    </a:lnTo>
                    <a:lnTo>
                      <a:pt x="58" y="195"/>
                    </a:lnTo>
                    <a:lnTo>
                      <a:pt x="54" y="203"/>
                    </a:lnTo>
                    <a:lnTo>
                      <a:pt x="50" y="212"/>
                    </a:lnTo>
                    <a:lnTo>
                      <a:pt x="48" y="221"/>
                    </a:lnTo>
                    <a:lnTo>
                      <a:pt x="46" y="232"/>
                    </a:lnTo>
                    <a:lnTo>
                      <a:pt x="44" y="239"/>
                    </a:lnTo>
                    <a:lnTo>
                      <a:pt x="43" y="249"/>
                    </a:lnTo>
                    <a:lnTo>
                      <a:pt x="41" y="260"/>
                    </a:lnTo>
                    <a:lnTo>
                      <a:pt x="39" y="273"/>
                    </a:lnTo>
                    <a:lnTo>
                      <a:pt x="38" y="283"/>
                    </a:lnTo>
                    <a:lnTo>
                      <a:pt x="37" y="295"/>
                    </a:lnTo>
                    <a:lnTo>
                      <a:pt x="36" y="305"/>
                    </a:lnTo>
                    <a:lnTo>
                      <a:pt x="33" y="315"/>
                    </a:lnTo>
                    <a:lnTo>
                      <a:pt x="32" y="325"/>
                    </a:lnTo>
                    <a:lnTo>
                      <a:pt x="30" y="333"/>
                    </a:lnTo>
                    <a:lnTo>
                      <a:pt x="26" y="340"/>
                    </a:lnTo>
                    <a:lnTo>
                      <a:pt x="21" y="348"/>
                    </a:lnTo>
                    <a:lnTo>
                      <a:pt x="15" y="356"/>
                    </a:lnTo>
                    <a:lnTo>
                      <a:pt x="10" y="364"/>
                    </a:lnTo>
                    <a:lnTo>
                      <a:pt x="5" y="368"/>
                    </a:lnTo>
                    <a:lnTo>
                      <a:pt x="2" y="364"/>
                    </a:lnTo>
                    <a:lnTo>
                      <a:pt x="2" y="344"/>
                    </a:lnTo>
                    <a:lnTo>
                      <a:pt x="2" y="364"/>
                    </a:lnTo>
                    <a:lnTo>
                      <a:pt x="2" y="344"/>
                    </a:lnTo>
                    <a:lnTo>
                      <a:pt x="2" y="324"/>
                    </a:lnTo>
                    <a:lnTo>
                      <a:pt x="5" y="316"/>
                    </a:lnTo>
                    <a:lnTo>
                      <a:pt x="9" y="306"/>
                    </a:lnTo>
                    <a:lnTo>
                      <a:pt x="13" y="297"/>
                    </a:lnTo>
                    <a:lnTo>
                      <a:pt x="17" y="287"/>
                    </a:lnTo>
                    <a:lnTo>
                      <a:pt x="21" y="278"/>
                    </a:lnTo>
                    <a:lnTo>
                      <a:pt x="25" y="268"/>
                    </a:lnTo>
                    <a:lnTo>
                      <a:pt x="28" y="259"/>
                    </a:lnTo>
                    <a:lnTo>
                      <a:pt x="31" y="249"/>
                    </a:lnTo>
                    <a:lnTo>
                      <a:pt x="34" y="239"/>
                    </a:lnTo>
                    <a:lnTo>
                      <a:pt x="36" y="233"/>
                    </a:lnTo>
                    <a:lnTo>
                      <a:pt x="38" y="225"/>
                    </a:lnTo>
                    <a:lnTo>
                      <a:pt x="41" y="216"/>
                    </a:lnTo>
                    <a:lnTo>
                      <a:pt x="44" y="210"/>
                    </a:lnTo>
                    <a:lnTo>
                      <a:pt x="42" y="204"/>
                    </a:lnTo>
                    <a:lnTo>
                      <a:pt x="41" y="197"/>
                    </a:lnTo>
                    <a:lnTo>
                      <a:pt x="42" y="192"/>
                    </a:lnTo>
                    <a:lnTo>
                      <a:pt x="43" y="185"/>
                    </a:lnTo>
                    <a:lnTo>
                      <a:pt x="36" y="184"/>
                    </a:lnTo>
                    <a:lnTo>
                      <a:pt x="26" y="182"/>
                    </a:lnTo>
                    <a:lnTo>
                      <a:pt x="18" y="187"/>
                    </a:lnTo>
                    <a:lnTo>
                      <a:pt x="11" y="191"/>
                    </a:lnTo>
                    <a:lnTo>
                      <a:pt x="3" y="195"/>
                    </a:lnTo>
                    <a:lnTo>
                      <a:pt x="2" y="184"/>
                    </a:lnTo>
                    <a:lnTo>
                      <a:pt x="2" y="164"/>
                    </a:lnTo>
                    <a:lnTo>
                      <a:pt x="2" y="184"/>
                    </a:lnTo>
                    <a:lnTo>
                      <a:pt x="2" y="164"/>
                    </a:lnTo>
                    <a:lnTo>
                      <a:pt x="5" y="164"/>
                    </a:lnTo>
                    <a:lnTo>
                      <a:pt x="13" y="161"/>
                    </a:lnTo>
                    <a:lnTo>
                      <a:pt x="15" y="156"/>
                    </a:lnTo>
                    <a:lnTo>
                      <a:pt x="17" y="151"/>
                    </a:lnTo>
                    <a:lnTo>
                      <a:pt x="19" y="146"/>
                    </a:lnTo>
                    <a:lnTo>
                      <a:pt x="18" y="144"/>
                    </a:lnTo>
                    <a:lnTo>
                      <a:pt x="13" y="138"/>
                    </a:lnTo>
                    <a:lnTo>
                      <a:pt x="6" y="132"/>
                    </a:lnTo>
                    <a:lnTo>
                      <a:pt x="0" y="125"/>
                    </a:lnTo>
                    <a:lnTo>
                      <a:pt x="2" y="124"/>
                    </a:lnTo>
                    <a:lnTo>
                      <a:pt x="2" y="105"/>
                    </a:lnTo>
                    <a:lnTo>
                      <a:pt x="1" y="103"/>
                    </a:lnTo>
                    <a:lnTo>
                      <a:pt x="11" y="110"/>
                    </a:lnTo>
                    <a:lnTo>
                      <a:pt x="19" y="117"/>
                    </a:lnTo>
                    <a:lnTo>
                      <a:pt x="24" y="122"/>
                    </a:lnTo>
                    <a:lnTo>
                      <a:pt x="28" y="128"/>
                    </a:lnTo>
                    <a:lnTo>
                      <a:pt x="35" y="137"/>
                    </a:lnTo>
                    <a:lnTo>
                      <a:pt x="40" y="143"/>
                    </a:lnTo>
                    <a:lnTo>
                      <a:pt x="46" y="150"/>
                    </a:lnTo>
                    <a:lnTo>
                      <a:pt x="53" y="157"/>
                    </a:lnTo>
                    <a:lnTo>
                      <a:pt x="55" y="155"/>
                    </a:lnTo>
                    <a:lnTo>
                      <a:pt x="59" y="148"/>
                    </a:lnTo>
                    <a:lnTo>
                      <a:pt x="62" y="143"/>
                    </a:lnTo>
                    <a:lnTo>
                      <a:pt x="60" y="138"/>
                    </a:lnTo>
                    <a:lnTo>
                      <a:pt x="55" y="130"/>
                    </a:lnTo>
                    <a:lnTo>
                      <a:pt x="51" y="123"/>
                    </a:lnTo>
                    <a:lnTo>
                      <a:pt x="46" y="115"/>
                    </a:lnTo>
                    <a:lnTo>
                      <a:pt x="40" y="109"/>
                    </a:lnTo>
                    <a:lnTo>
                      <a:pt x="31" y="100"/>
                    </a:lnTo>
                    <a:lnTo>
                      <a:pt x="24" y="91"/>
                    </a:lnTo>
                    <a:lnTo>
                      <a:pt x="17" y="84"/>
                    </a:lnTo>
                    <a:lnTo>
                      <a:pt x="12" y="78"/>
                    </a:lnTo>
                    <a:lnTo>
                      <a:pt x="6" y="70"/>
                    </a:lnTo>
                    <a:lnTo>
                      <a:pt x="2" y="65"/>
                    </a:lnTo>
                    <a:lnTo>
                      <a:pt x="2" y="44"/>
                    </a:lnTo>
                    <a:lnTo>
                      <a:pt x="2" y="65"/>
                    </a:lnTo>
                    <a:lnTo>
                      <a:pt x="2" y="44"/>
                    </a:lnTo>
                    <a:lnTo>
                      <a:pt x="2" y="53"/>
                    </a:lnTo>
                    <a:lnTo>
                      <a:pt x="2" y="48"/>
                    </a:lnTo>
                    <a:lnTo>
                      <a:pt x="4" y="55"/>
                    </a:lnTo>
                    <a:lnTo>
                      <a:pt x="11" y="63"/>
                    </a:lnTo>
                    <a:lnTo>
                      <a:pt x="17" y="70"/>
                    </a:lnTo>
                    <a:lnTo>
                      <a:pt x="25" y="80"/>
                    </a:lnTo>
                    <a:lnTo>
                      <a:pt x="30" y="87"/>
                    </a:lnTo>
                    <a:lnTo>
                      <a:pt x="37" y="95"/>
                    </a:lnTo>
                    <a:lnTo>
                      <a:pt x="43" y="106"/>
                    </a:lnTo>
                    <a:lnTo>
                      <a:pt x="48" y="115"/>
                    </a:lnTo>
                    <a:lnTo>
                      <a:pt x="54" y="124"/>
                    </a:lnTo>
                    <a:lnTo>
                      <a:pt x="61" y="138"/>
                    </a:lnTo>
                    <a:lnTo>
                      <a:pt x="64" y="146"/>
                    </a:lnTo>
                    <a:lnTo>
                      <a:pt x="66" y="151"/>
                    </a:lnTo>
                    <a:lnTo>
                      <a:pt x="70" y="143"/>
                    </a:lnTo>
                    <a:lnTo>
                      <a:pt x="75" y="135"/>
                    </a:lnTo>
                    <a:lnTo>
                      <a:pt x="80" y="127"/>
                    </a:lnTo>
                    <a:lnTo>
                      <a:pt x="85" y="118"/>
                    </a:lnTo>
                    <a:lnTo>
                      <a:pt x="90" y="110"/>
                    </a:lnTo>
                    <a:lnTo>
                      <a:pt x="94" y="103"/>
                    </a:lnTo>
                    <a:lnTo>
                      <a:pt x="100" y="96"/>
                    </a:lnTo>
                    <a:lnTo>
                      <a:pt x="106" y="87"/>
                    </a:lnTo>
                    <a:lnTo>
                      <a:pt x="113" y="78"/>
                    </a:lnTo>
                    <a:lnTo>
                      <a:pt x="120" y="68"/>
                    </a:lnTo>
                    <a:lnTo>
                      <a:pt x="127" y="58"/>
                    </a:lnTo>
                    <a:lnTo>
                      <a:pt x="132" y="50"/>
                    </a:lnTo>
                    <a:lnTo>
                      <a:pt x="139" y="39"/>
                    </a:lnTo>
                    <a:lnTo>
                      <a:pt x="144" y="33"/>
                    </a:lnTo>
                    <a:lnTo>
                      <a:pt x="150" y="26"/>
                    </a:lnTo>
                    <a:lnTo>
                      <a:pt x="156" y="21"/>
                    </a:lnTo>
                    <a:lnTo>
                      <a:pt x="161" y="15"/>
                    </a:lnTo>
                    <a:lnTo>
                      <a:pt x="165" y="6"/>
                    </a:lnTo>
                    <a:lnTo>
                      <a:pt x="170" y="0"/>
                    </a:lnTo>
                    <a:lnTo>
                      <a:pt x="169" y="5"/>
                    </a:lnTo>
                    <a:lnTo>
                      <a:pt x="168" y="13"/>
                    </a:lnTo>
                    <a:lnTo>
                      <a:pt x="166" y="21"/>
                    </a:lnTo>
                    <a:lnTo>
                      <a:pt x="163" y="29"/>
                    </a:lnTo>
                    <a:lnTo>
                      <a:pt x="159" y="37"/>
                    </a:lnTo>
                    <a:lnTo>
                      <a:pt x="153" y="47"/>
                    </a:lnTo>
                    <a:lnTo>
                      <a:pt x="148" y="56"/>
                    </a:lnTo>
                    <a:lnTo>
                      <a:pt x="143" y="67"/>
                    </a:lnTo>
                    <a:lnTo>
                      <a:pt x="137" y="76"/>
                    </a:lnTo>
                    <a:lnTo>
                      <a:pt x="130" y="87"/>
                    </a:lnTo>
                    <a:lnTo>
                      <a:pt x="124" y="95"/>
                    </a:lnTo>
                  </a:path>
                </a:pathLst>
              </a:custGeom>
              <a:solidFill>
                <a:srgbClr val="037C03">
                  <a:alpha val="50195"/>
                </a:srgbClr>
              </a:solidFill>
              <a:ln w="9525">
                <a:noFill/>
              </a:ln>
            </p:spPr>
            <p:txBody>
              <a:bodyPr/>
              <a:lstStyle/>
              <a:p>
                <a:endParaRPr lang="zh-CN" altLang="en-US"/>
              </a:p>
            </p:txBody>
          </p:sp>
          <p:grpSp>
            <p:nvGrpSpPr>
              <p:cNvPr id="89163" name="Group 171"/>
              <p:cNvGrpSpPr/>
              <p:nvPr/>
            </p:nvGrpSpPr>
            <p:grpSpPr>
              <a:xfrm>
                <a:off x="1707" y="1466"/>
                <a:ext cx="484" cy="368"/>
                <a:chOff x="1707" y="1466"/>
                <a:chExt cx="484" cy="368"/>
              </a:xfrm>
            </p:grpSpPr>
            <p:sp>
              <p:nvSpPr>
                <p:cNvPr id="89165" name="Freeform 172"/>
                <p:cNvSpPr/>
                <p:nvPr/>
              </p:nvSpPr>
              <p:spPr>
                <a:xfrm>
                  <a:off x="1751" y="1466"/>
                  <a:ext cx="440" cy="342"/>
                </a:xfrm>
                <a:custGeom>
                  <a:avLst/>
                  <a:gdLst>
                    <a:gd name="txL" fmla="*/ 0 w 440"/>
                    <a:gd name="txT" fmla="*/ 0 h 342"/>
                    <a:gd name="txR" fmla="*/ 440 w 440"/>
                    <a:gd name="txB" fmla="*/ 342 h 342"/>
                  </a:gdLst>
                  <a:ahLst/>
                  <a:cxnLst>
                    <a:cxn ang="0">
                      <a:pos x="167" y="42"/>
                    </a:cxn>
                    <a:cxn ang="0">
                      <a:pos x="202" y="14"/>
                    </a:cxn>
                    <a:cxn ang="0">
                      <a:pos x="245" y="3"/>
                    </a:cxn>
                    <a:cxn ang="0">
                      <a:pos x="292" y="2"/>
                    </a:cxn>
                    <a:cxn ang="0">
                      <a:pos x="304" y="7"/>
                    </a:cxn>
                    <a:cxn ang="0">
                      <a:pos x="272" y="15"/>
                    </a:cxn>
                    <a:cxn ang="0">
                      <a:pos x="236" y="26"/>
                    </a:cxn>
                    <a:cxn ang="0">
                      <a:pos x="195" y="55"/>
                    </a:cxn>
                    <a:cxn ang="0">
                      <a:pos x="191" y="94"/>
                    </a:cxn>
                    <a:cxn ang="0">
                      <a:pos x="252" y="70"/>
                    </a:cxn>
                    <a:cxn ang="0">
                      <a:pos x="301" y="67"/>
                    </a:cxn>
                    <a:cxn ang="0">
                      <a:pos x="354" y="72"/>
                    </a:cxn>
                    <a:cxn ang="0">
                      <a:pos x="416" y="79"/>
                    </a:cxn>
                    <a:cxn ang="0">
                      <a:pos x="417" y="80"/>
                    </a:cxn>
                    <a:cxn ang="0">
                      <a:pos x="357" y="83"/>
                    </a:cxn>
                    <a:cxn ang="0">
                      <a:pos x="302" y="84"/>
                    </a:cxn>
                    <a:cxn ang="0">
                      <a:pos x="254" y="90"/>
                    </a:cxn>
                    <a:cxn ang="0">
                      <a:pos x="200" y="103"/>
                    </a:cxn>
                    <a:cxn ang="0">
                      <a:pos x="222" y="123"/>
                    </a:cxn>
                    <a:cxn ang="0">
                      <a:pos x="238" y="142"/>
                    </a:cxn>
                    <a:cxn ang="0">
                      <a:pos x="184" y="125"/>
                    </a:cxn>
                    <a:cxn ang="0">
                      <a:pos x="173" y="136"/>
                    </a:cxn>
                    <a:cxn ang="0">
                      <a:pos x="232" y="145"/>
                    </a:cxn>
                    <a:cxn ang="0">
                      <a:pos x="282" y="157"/>
                    </a:cxn>
                    <a:cxn ang="0">
                      <a:pos x="321" y="190"/>
                    </a:cxn>
                    <a:cxn ang="0">
                      <a:pos x="351" y="234"/>
                    </a:cxn>
                    <a:cxn ang="0">
                      <a:pos x="344" y="242"/>
                    </a:cxn>
                    <a:cxn ang="0">
                      <a:pos x="304" y="214"/>
                    </a:cxn>
                    <a:cxn ang="0">
                      <a:pos x="259" y="183"/>
                    </a:cxn>
                    <a:cxn ang="0">
                      <a:pos x="211" y="162"/>
                    </a:cxn>
                    <a:cxn ang="0">
                      <a:pos x="180" y="155"/>
                    </a:cxn>
                    <a:cxn ang="0">
                      <a:pos x="206" y="189"/>
                    </a:cxn>
                    <a:cxn ang="0">
                      <a:pos x="238" y="234"/>
                    </a:cxn>
                    <a:cxn ang="0">
                      <a:pos x="256" y="275"/>
                    </a:cxn>
                    <a:cxn ang="0">
                      <a:pos x="255" y="313"/>
                    </a:cxn>
                    <a:cxn ang="0">
                      <a:pos x="232" y="271"/>
                    </a:cxn>
                    <a:cxn ang="0">
                      <a:pos x="208" y="226"/>
                    </a:cxn>
                    <a:cxn ang="0">
                      <a:pos x="181" y="185"/>
                    </a:cxn>
                    <a:cxn ang="0">
                      <a:pos x="157" y="149"/>
                    </a:cxn>
                    <a:cxn ang="0">
                      <a:pos x="115" y="170"/>
                    </a:cxn>
                    <a:cxn ang="0">
                      <a:pos x="80" y="221"/>
                    </a:cxn>
                    <a:cxn ang="0">
                      <a:pos x="51" y="273"/>
                    </a:cxn>
                    <a:cxn ang="0">
                      <a:pos x="18" y="321"/>
                    </a:cxn>
                    <a:cxn ang="0">
                      <a:pos x="8" y="315"/>
                    </a:cxn>
                    <a:cxn ang="0">
                      <a:pos x="47" y="255"/>
                    </a:cxn>
                    <a:cxn ang="0">
                      <a:pos x="82" y="208"/>
                    </a:cxn>
                    <a:cxn ang="0">
                      <a:pos x="112" y="162"/>
                    </a:cxn>
                    <a:cxn ang="0">
                      <a:pos x="139" y="126"/>
                    </a:cxn>
                    <a:cxn ang="0">
                      <a:pos x="99" y="83"/>
                    </a:cxn>
                    <a:cxn ang="0">
                      <a:pos x="43" y="60"/>
                    </a:cxn>
                    <a:cxn ang="0">
                      <a:pos x="20" y="47"/>
                    </a:cxn>
                    <a:cxn ang="0">
                      <a:pos x="63" y="61"/>
                    </a:cxn>
                    <a:cxn ang="0">
                      <a:pos x="122" y="90"/>
                    </a:cxn>
                  </a:cxnLst>
                  <a:rect l="txL" t="txT" r="txR" b="txB"/>
                  <a:pathLst>
                    <a:path w="440" h="342">
                      <a:moveTo>
                        <a:pt x="138" y="87"/>
                      </a:moveTo>
                      <a:lnTo>
                        <a:pt x="141" y="78"/>
                      </a:lnTo>
                      <a:lnTo>
                        <a:pt x="146" y="69"/>
                      </a:lnTo>
                      <a:lnTo>
                        <a:pt x="153" y="59"/>
                      </a:lnTo>
                      <a:lnTo>
                        <a:pt x="160" y="51"/>
                      </a:lnTo>
                      <a:lnTo>
                        <a:pt x="167" y="42"/>
                      </a:lnTo>
                      <a:lnTo>
                        <a:pt x="172" y="36"/>
                      </a:lnTo>
                      <a:lnTo>
                        <a:pt x="178" y="31"/>
                      </a:lnTo>
                      <a:lnTo>
                        <a:pt x="184" y="26"/>
                      </a:lnTo>
                      <a:lnTo>
                        <a:pt x="190" y="21"/>
                      </a:lnTo>
                      <a:lnTo>
                        <a:pt x="196" y="17"/>
                      </a:lnTo>
                      <a:lnTo>
                        <a:pt x="202" y="14"/>
                      </a:lnTo>
                      <a:lnTo>
                        <a:pt x="208" y="11"/>
                      </a:lnTo>
                      <a:lnTo>
                        <a:pt x="215" y="8"/>
                      </a:lnTo>
                      <a:lnTo>
                        <a:pt x="222" y="7"/>
                      </a:lnTo>
                      <a:lnTo>
                        <a:pt x="230" y="5"/>
                      </a:lnTo>
                      <a:lnTo>
                        <a:pt x="237" y="3"/>
                      </a:lnTo>
                      <a:lnTo>
                        <a:pt x="245" y="3"/>
                      </a:lnTo>
                      <a:lnTo>
                        <a:pt x="252" y="2"/>
                      </a:lnTo>
                      <a:lnTo>
                        <a:pt x="260" y="2"/>
                      </a:lnTo>
                      <a:lnTo>
                        <a:pt x="270" y="1"/>
                      </a:lnTo>
                      <a:lnTo>
                        <a:pt x="278" y="2"/>
                      </a:lnTo>
                      <a:lnTo>
                        <a:pt x="285" y="2"/>
                      </a:lnTo>
                      <a:lnTo>
                        <a:pt x="292" y="2"/>
                      </a:lnTo>
                      <a:lnTo>
                        <a:pt x="299" y="2"/>
                      </a:lnTo>
                      <a:lnTo>
                        <a:pt x="307" y="1"/>
                      </a:lnTo>
                      <a:lnTo>
                        <a:pt x="314" y="0"/>
                      </a:lnTo>
                      <a:lnTo>
                        <a:pt x="310" y="2"/>
                      </a:lnTo>
                      <a:lnTo>
                        <a:pt x="307" y="4"/>
                      </a:lnTo>
                      <a:lnTo>
                        <a:pt x="304" y="7"/>
                      </a:lnTo>
                      <a:lnTo>
                        <a:pt x="301" y="10"/>
                      </a:lnTo>
                      <a:lnTo>
                        <a:pt x="295" y="10"/>
                      </a:lnTo>
                      <a:lnTo>
                        <a:pt x="288" y="11"/>
                      </a:lnTo>
                      <a:lnTo>
                        <a:pt x="284" y="12"/>
                      </a:lnTo>
                      <a:lnTo>
                        <a:pt x="278" y="13"/>
                      </a:lnTo>
                      <a:lnTo>
                        <a:pt x="272" y="15"/>
                      </a:lnTo>
                      <a:lnTo>
                        <a:pt x="266" y="16"/>
                      </a:lnTo>
                      <a:lnTo>
                        <a:pt x="260" y="17"/>
                      </a:lnTo>
                      <a:lnTo>
                        <a:pt x="254" y="19"/>
                      </a:lnTo>
                      <a:lnTo>
                        <a:pt x="248" y="21"/>
                      </a:lnTo>
                      <a:lnTo>
                        <a:pt x="241" y="23"/>
                      </a:lnTo>
                      <a:lnTo>
                        <a:pt x="236" y="26"/>
                      </a:lnTo>
                      <a:lnTo>
                        <a:pt x="229" y="29"/>
                      </a:lnTo>
                      <a:lnTo>
                        <a:pt x="222" y="32"/>
                      </a:lnTo>
                      <a:lnTo>
                        <a:pt x="215" y="36"/>
                      </a:lnTo>
                      <a:lnTo>
                        <a:pt x="208" y="41"/>
                      </a:lnTo>
                      <a:lnTo>
                        <a:pt x="201" y="47"/>
                      </a:lnTo>
                      <a:lnTo>
                        <a:pt x="195" y="55"/>
                      </a:lnTo>
                      <a:lnTo>
                        <a:pt x="189" y="64"/>
                      </a:lnTo>
                      <a:lnTo>
                        <a:pt x="181" y="77"/>
                      </a:lnTo>
                      <a:lnTo>
                        <a:pt x="175" y="90"/>
                      </a:lnTo>
                      <a:lnTo>
                        <a:pt x="167" y="106"/>
                      </a:lnTo>
                      <a:lnTo>
                        <a:pt x="180" y="99"/>
                      </a:lnTo>
                      <a:lnTo>
                        <a:pt x="191" y="94"/>
                      </a:lnTo>
                      <a:lnTo>
                        <a:pt x="206" y="86"/>
                      </a:lnTo>
                      <a:lnTo>
                        <a:pt x="222" y="78"/>
                      </a:lnTo>
                      <a:lnTo>
                        <a:pt x="229" y="77"/>
                      </a:lnTo>
                      <a:lnTo>
                        <a:pt x="236" y="74"/>
                      </a:lnTo>
                      <a:lnTo>
                        <a:pt x="243" y="72"/>
                      </a:lnTo>
                      <a:lnTo>
                        <a:pt x="252" y="70"/>
                      </a:lnTo>
                      <a:lnTo>
                        <a:pt x="261" y="68"/>
                      </a:lnTo>
                      <a:lnTo>
                        <a:pt x="269" y="68"/>
                      </a:lnTo>
                      <a:lnTo>
                        <a:pt x="275" y="67"/>
                      </a:lnTo>
                      <a:lnTo>
                        <a:pt x="285" y="66"/>
                      </a:lnTo>
                      <a:lnTo>
                        <a:pt x="294" y="66"/>
                      </a:lnTo>
                      <a:lnTo>
                        <a:pt x="301" y="67"/>
                      </a:lnTo>
                      <a:lnTo>
                        <a:pt x="311" y="68"/>
                      </a:lnTo>
                      <a:lnTo>
                        <a:pt x="319" y="69"/>
                      </a:lnTo>
                      <a:lnTo>
                        <a:pt x="328" y="69"/>
                      </a:lnTo>
                      <a:lnTo>
                        <a:pt x="336" y="70"/>
                      </a:lnTo>
                      <a:lnTo>
                        <a:pt x="345" y="71"/>
                      </a:lnTo>
                      <a:lnTo>
                        <a:pt x="354" y="72"/>
                      </a:lnTo>
                      <a:lnTo>
                        <a:pt x="363" y="73"/>
                      </a:lnTo>
                      <a:lnTo>
                        <a:pt x="371" y="74"/>
                      </a:lnTo>
                      <a:lnTo>
                        <a:pt x="381" y="75"/>
                      </a:lnTo>
                      <a:lnTo>
                        <a:pt x="392" y="76"/>
                      </a:lnTo>
                      <a:lnTo>
                        <a:pt x="401" y="77"/>
                      </a:lnTo>
                      <a:lnTo>
                        <a:pt x="416" y="79"/>
                      </a:lnTo>
                      <a:lnTo>
                        <a:pt x="421" y="79"/>
                      </a:lnTo>
                      <a:lnTo>
                        <a:pt x="425" y="79"/>
                      </a:lnTo>
                      <a:lnTo>
                        <a:pt x="430" y="81"/>
                      </a:lnTo>
                      <a:lnTo>
                        <a:pt x="439" y="84"/>
                      </a:lnTo>
                      <a:lnTo>
                        <a:pt x="424" y="81"/>
                      </a:lnTo>
                      <a:lnTo>
                        <a:pt x="417" y="80"/>
                      </a:lnTo>
                      <a:lnTo>
                        <a:pt x="411" y="80"/>
                      </a:lnTo>
                      <a:lnTo>
                        <a:pt x="397" y="81"/>
                      </a:lnTo>
                      <a:lnTo>
                        <a:pt x="388" y="82"/>
                      </a:lnTo>
                      <a:lnTo>
                        <a:pt x="377" y="82"/>
                      </a:lnTo>
                      <a:lnTo>
                        <a:pt x="367" y="82"/>
                      </a:lnTo>
                      <a:lnTo>
                        <a:pt x="357" y="83"/>
                      </a:lnTo>
                      <a:lnTo>
                        <a:pt x="348" y="83"/>
                      </a:lnTo>
                      <a:lnTo>
                        <a:pt x="340" y="82"/>
                      </a:lnTo>
                      <a:lnTo>
                        <a:pt x="330" y="82"/>
                      </a:lnTo>
                      <a:lnTo>
                        <a:pt x="319" y="82"/>
                      </a:lnTo>
                      <a:lnTo>
                        <a:pt x="310" y="83"/>
                      </a:lnTo>
                      <a:lnTo>
                        <a:pt x="302" y="84"/>
                      </a:lnTo>
                      <a:lnTo>
                        <a:pt x="292" y="84"/>
                      </a:lnTo>
                      <a:lnTo>
                        <a:pt x="285" y="84"/>
                      </a:lnTo>
                      <a:lnTo>
                        <a:pt x="276" y="85"/>
                      </a:lnTo>
                      <a:lnTo>
                        <a:pt x="269" y="87"/>
                      </a:lnTo>
                      <a:lnTo>
                        <a:pt x="261" y="88"/>
                      </a:lnTo>
                      <a:lnTo>
                        <a:pt x="254" y="90"/>
                      </a:lnTo>
                      <a:lnTo>
                        <a:pt x="246" y="92"/>
                      </a:lnTo>
                      <a:lnTo>
                        <a:pt x="238" y="94"/>
                      </a:lnTo>
                      <a:lnTo>
                        <a:pt x="229" y="96"/>
                      </a:lnTo>
                      <a:lnTo>
                        <a:pt x="222" y="98"/>
                      </a:lnTo>
                      <a:lnTo>
                        <a:pt x="208" y="102"/>
                      </a:lnTo>
                      <a:lnTo>
                        <a:pt x="200" y="103"/>
                      </a:lnTo>
                      <a:lnTo>
                        <a:pt x="189" y="108"/>
                      </a:lnTo>
                      <a:lnTo>
                        <a:pt x="172" y="115"/>
                      </a:lnTo>
                      <a:lnTo>
                        <a:pt x="189" y="117"/>
                      </a:lnTo>
                      <a:lnTo>
                        <a:pt x="209" y="118"/>
                      </a:lnTo>
                      <a:lnTo>
                        <a:pt x="213" y="118"/>
                      </a:lnTo>
                      <a:lnTo>
                        <a:pt x="222" y="123"/>
                      </a:lnTo>
                      <a:lnTo>
                        <a:pt x="228" y="126"/>
                      </a:lnTo>
                      <a:lnTo>
                        <a:pt x="234" y="129"/>
                      </a:lnTo>
                      <a:lnTo>
                        <a:pt x="235" y="131"/>
                      </a:lnTo>
                      <a:lnTo>
                        <a:pt x="238" y="137"/>
                      </a:lnTo>
                      <a:lnTo>
                        <a:pt x="245" y="146"/>
                      </a:lnTo>
                      <a:lnTo>
                        <a:pt x="238" y="142"/>
                      </a:lnTo>
                      <a:lnTo>
                        <a:pt x="229" y="137"/>
                      </a:lnTo>
                      <a:lnTo>
                        <a:pt x="222" y="135"/>
                      </a:lnTo>
                      <a:lnTo>
                        <a:pt x="209" y="132"/>
                      </a:lnTo>
                      <a:lnTo>
                        <a:pt x="199" y="129"/>
                      </a:lnTo>
                      <a:lnTo>
                        <a:pt x="189" y="126"/>
                      </a:lnTo>
                      <a:lnTo>
                        <a:pt x="184" y="125"/>
                      </a:lnTo>
                      <a:lnTo>
                        <a:pt x="172" y="126"/>
                      </a:lnTo>
                      <a:lnTo>
                        <a:pt x="165" y="127"/>
                      </a:lnTo>
                      <a:lnTo>
                        <a:pt x="155" y="129"/>
                      </a:lnTo>
                      <a:lnTo>
                        <a:pt x="160" y="131"/>
                      </a:lnTo>
                      <a:lnTo>
                        <a:pt x="166" y="132"/>
                      </a:lnTo>
                      <a:lnTo>
                        <a:pt x="173" y="136"/>
                      </a:lnTo>
                      <a:lnTo>
                        <a:pt x="181" y="135"/>
                      </a:lnTo>
                      <a:lnTo>
                        <a:pt x="195" y="136"/>
                      </a:lnTo>
                      <a:lnTo>
                        <a:pt x="203" y="137"/>
                      </a:lnTo>
                      <a:lnTo>
                        <a:pt x="215" y="140"/>
                      </a:lnTo>
                      <a:lnTo>
                        <a:pt x="222" y="143"/>
                      </a:lnTo>
                      <a:lnTo>
                        <a:pt x="232" y="145"/>
                      </a:lnTo>
                      <a:lnTo>
                        <a:pt x="242" y="148"/>
                      </a:lnTo>
                      <a:lnTo>
                        <a:pt x="251" y="151"/>
                      </a:lnTo>
                      <a:lnTo>
                        <a:pt x="259" y="152"/>
                      </a:lnTo>
                      <a:lnTo>
                        <a:pt x="266" y="153"/>
                      </a:lnTo>
                      <a:lnTo>
                        <a:pt x="273" y="155"/>
                      </a:lnTo>
                      <a:lnTo>
                        <a:pt x="282" y="157"/>
                      </a:lnTo>
                      <a:lnTo>
                        <a:pt x="291" y="161"/>
                      </a:lnTo>
                      <a:lnTo>
                        <a:pt x="299" y="165"/>
                      </a:lnTo>
                      <a:lnTo>
                        <a:pt x="303" y="169"/>
                      </a:lnTo>
                      <a:lnTo>
                        <a:pt x="309" y="175"/>
                      </a:lnTo>
                      <a:lnTo>
                        <a:pt x="316" y="183"/>
                      </a:lnTo>
                      <a:lnTo>
                        <a:pt x="321" y="190"/>
                      </a:lnTo>
                      <a:lnTo>
                        <a:pt x="326" y="197"/>
                      </a:lnTo>
                      <a:lnTo>
                        <a:pt x="331" y="204"/>
                      </a:lnTo>
                      <a:lnTo>
                        <a:pt x="335" y="212"/>
                      </a:lnTo>
                      <a:lnTo>
                        <a:pt x="340" y="218"/>
                      </a:lnTo>
                      <a:lnTo>
                        <a:pt x="345" y="226"/>
                      </a:lnTo>
                      <a:lnTo>
                        <a:pt x="351" y="234"/>
                      </a:lnTo>
                      <a:lnTo>
                        <a:pt x="356" y="243"/>
                      </a:lnTo>
                      <a:lnTo>
                        <a:pt x="361" y="250"/>
                      </a:lnTo>
                      <a:lnTo>
                        <a:pt x="368" y="258"/>
                      </a:lnTo>
                      <a:lnTo>
                        <a:pt x="359" y="251"/>
                      </a:lnTo>
                      <a:lnTo>
                        <a:pt x="353" y="247"/>
                      </a:lnTo>
                      <a:lnTo>
                        <a:pt x="344" y="242"/>
                      </a:lnTo>
                      <a:lnTo>
                        <a:pt x="336" y="236"/>
                      </a:lnTo>
                      <a:lnTo>
                        <a:pt x="330" y="231"/>
                      </a:lnTo>
                      <a:lnTo>
                        <a:pt x="323" y="226"/>
                      </a:lnTo>
                      <a:lnTo>
                        <a:pt x="317" y="222"/>
                      </a:lnTo>
                      <a:lnTo>
                        <a:pt x="311" y="218"/>
                      </a:lnTo>
                      <a:lnTo>
                        <a:pt x="304" y="214"/>
                      </a:lnTo>
                      <a:lnTo>
                        <a:pt x="297" y="210"/>
                      </a:lnTo>
                      <a:lnTo>
                        <a:pt x="291" y="205"/>
                      </a:lnTo>
                      <a:lnTo>
                        <a:pt x="284" y="200"/>
                      </a:lnTo>
                      <a:lnTo>
                        <a:pt x="275" y="195"/>
                      </a:lnTo>
                      <a:lnTo>
                        <a:pt x="267" y="189"/>
                      </a:lnTo>
                      <a:lnTo>
                        <a:pt x="259" y="183"/>
                      </a:lnTo>
                      <a:lnTo>
                        <a:pt x="252" y="179"/>
                      </a:lnTo>
                      <a:lnTo>
                        <a:pt x="245" y="174"/>
                      </a:lnTo>
                      <a:lnTo>
                        <a:pt x="237" y="170"/>
                      </a:lnTo>
                      <a:lnTo>
                        <a:pt x="229" y="167"/>
                      </a:lnTo>
                      <a:lnTo>
                        <a:pt x="222" y="165"/>
                      </a:lnTo>
                      <a:lnTo>
                        <a:pt x="211" y="162"/>
                      </a:lnTo>
                      <a:lnTo>
                        <a:pt x="201" y="159"/>
                      </a:lnTo>
                      <a:lnTo>
                        <a:pt x="194" y="157"/>
                      </a:lnTo>
                      <a:lnTo>
                        <a:pt x="186" y="155"/>
                      </a:lnTo>
                      <a:lnTo>
                        <a:pt x="175" y="149"/>
                      </a:lnTo>
                      <a:lnTo>
                        <a:pt x="163" y="144"/>
                      </a:lnTo>
                      <a:lnTo>
                        <a:pt x="180" y="155"/>
                      </a:lnTo>
                      <a:lnTo>
                        <a:pt x="182" y="157"/>
                      </a:lnTo>
                      <a:lnTo>
                        <a:pt x="186" y="162"/>
                      </a:lnTo>
                      <a:lnTo>
                        <a:pt x="190" y="168"/>
                      </a:lnTo>
                      <a:lnTo>
                        <a:pt x="195" y="175"/>
                      </a:lnTo>
                      <a:lnTo>
                        <a:pt x="201" y="182"/>
                      </a:lnTo>
                      <a:lnTo>
                        <a:pt x="206" y="189"/>
                      </a:lnTo>
                      <a:lnTo>
                        <a:pt x="212" y="197"/>
                      </a:lnTo>
                      <a:lnTo>
                        <a:pt x="217" y="204"/>
                      </a:lnTo>
                      <a:lnTo>
                        <a:pt x="222" y="210"/>
                      </a:lnTo>
                      <a:lnTo>
                        <a:pt x="227" y="217"/>
                      </a:lnTo>
                      <a:lnTo>
                        <a:pt x="233" y="227"/>
                      </a:lnTo>
                      <a:lnTo>
                        <a:pt x="238" y="234"/>
                      </a:lnTo>
                      <a:lnTo>
                        <a:pt x="242" y="241"/>
                      </a:lnTo>
                      <a:lnTo>
                        <a:pt x="246" y="248"/>
                      </a:lnTo>
                      <a:lnTo>
                        <a:pt x="250" y="255"/>
                      </a:lnTo>
                      <a:lnTo>
                        <a:pt x="252" y="262"/>
                      </a:lnTo>
                      <a:lnTo>
                        <a:pt x="254" y="267"/>
                      </a:lnTo>
                      <a:lnTo>
                        <a:pt x="256" y="275"/>
                      </a:lnTo>
                      <a:lnTo>
                        <a:pt x="257" y="285"/>
                      </a:lnTo>
                      <a:lnTo>
                        <a:pt x="258" y="294"/>
                      </a:lnTo>
                      <a:lnTo>
                        <a:pt x="259" y="304"/>
                      </a:lnTo>
                      <a:lnTo>
                        <a:pt x="261" y="313"/>
                      </a:lnTo>
                      <a:lnTo>
                        <a:pt x="262" y="323"/>
                      </a:lnTo>
                      <a:lnTo>
                        <a:pt x="255" y="313"/>
                      </a:lnTo>
                      <a:lnTo>
                        <a:pt x="249" y="307"/>
                      </a:lnTo>
                      <a:lnTo>
                        <a:pt x="245" y="300"/>
                      </a:lnTo>
                      <a:lnTo>
                        <a:pt x="241" y="295"/>
                      </a:lnTo>
                      <a:lnTo>
                        <a:pt x="238" y="288"/>
                      </a:lnTo>
                      <a:lnTo>
                        <a:pt x="236" y="280"/>
                      </a:lnTo>
                      <a:lnTo>
                        <a:pt x="232" y="271"/>
                      </a:lnTo>
                      <a:lnTo>
                        <a:pt x="228" y="263"/>
                      </a:lnTo>
                      <a:lnTo>
                        <a:pt x="224" y="254"/>
                      </a:lnTo>
                      <a:lnTo>
                        <a:pt x="221" y="246"/>
                      </a:lnTo>
                      <a:lnTo>
                        <a:pt x="217" y="238"/>
                      </a:lnTo>
                      <a:lnTo>
                        <a:pt x="212" y="232"/>
                      </a:lnTo>
                      <a:lnTo>
                        <a:pt x="208" y="226"/>
                      </a:lnTo>
                      <a:lnTo>
                        <a:pt x="202" y="218"/>
                      </a:lnTo>
                      <a:lnTo>
                        <a:pt x="196" y="211"/>
                      </a:lnTo>
                      <a:lnTo>
                        <a:pt x="191" y="205"/>
                      </a:lnTo>
                      <a:lnTo>
                        <a:pt x="186" y="199"/>
                      </a:lnTo>
                      <a:lnTo>
                        <a:pt x="185" y="194"/>
                      </a:lnTo>
                      <a:lnTo>
                        <a:pt x="181" y="185"/>
                      </a:lnTo>
                      <a:lnTo>
                        <a:pt x="177" y="179"/>
                      </a:lnTo>
                      <a:lnTo>
                        <a:pt x="174" y="171"/>
                      </a:lnTo>
                      <a:lnTo>
                        <a:pt x="172" y="169"/>
                      </a:lnTo>
                      <a:lnTo>
                        <a:pt x="165" y="162"/>
                      </a:lnTo>
                      <a:lnTo>
                        <a:pt x="161" y="155"/>
                      </a:lnTo>
                      <a:lnTo>
                        <a:pt x="157" y="149"/>
                      </a:lnTo>
                      <a:lnTo>
                        <a:pt x="153" y="143"/>
                      </a:lnTo>
                      <a:lnTo>
                        <a:pt x="145" y="146"/>
                      </a:lnTo>
                      <a:lnTo>
                        <a:pt x="137" y="151"/>
                      </a:lnTo>
                      <a:lnTo>
                        <a:pt x="129" y="158"/>
                      </a:lnTo>
                      <a:lnTo>
                        <a:pt x="121" y="164"/>
                      </a:lnTo>
                      <a:lnTo>
                        <a:pt x="115" y="170"/>
                      </a:lnTo>
                      <a:lnTo>
                        <a:pt x="110" y="176"/>
                      </a:lnTo>
                      <a:lnTo>
                        <a:pt x="104" y="185"/>
                      </a:lnTo>
                      <a:lnTo>
                        <a:pt x="97" y="195"/>
                      </a:lnTo>
                      <a:lnTo>
                        <a:pt x="92" y="203"/>
                      </a:lnTo>
                      <a:lnTo>
                        <a:pt x="85" y="212"/>
                      </a:lnTo>
                      <a:lnTo>
                        <a:pt x="80" y="221"/>
                      </a:lnTo>
                      <a:lnTo>
                        <a:pt x="76" y="229"/>
                      </a:lnTo>
                      <a:lnTo>
                        <a:pt x="71" y="237"/>
                      </a:lnTo>
                      <a:lnTo>
                        <a:pt x="67" y="245"/>
                      </a:lnTo>
                      <a:lnTo>
                        <a:pt x="62" y="254"/>
                      </a:lnTo>
                      <a:lnTo>
                        <a:pt x="58" y="263"/>
                      </a:lnTo>
                      <a:lnTo>
                        <a:pt x="51" y="273"/>
                      </a:lnTo>
                      <a:lnTo>
                        <a:pt x="45" y="283"/>
                      </a:lnTo>
                      <a:lnTo>
                        <a:pt x="38" y="294"/>
                      </a:lnTo>
                      <a:lnTo>
                        <a:pt x="33" y="303"/>
                      </a:lnTo>
                      <a:lnTo>
                        <a:pt x="28" y="309"/>
                      </a:lnTo>
                      <a:lnTo>
                        <a:pt x="24" y="315"/>
                      </a:lnTo>
                      <a:lnTo>
                        <a:pt x="18" y="321"/>
                      </a:lnTo>
                      <a:lnTo>
                        <a:pt x="13" y="327"/>
                      </a:lnTo>
                      <a:lnTo>
                        <a:pt x="7" y="333"/>
                      </a:lnTo>
                      <a:lnTo>
                        <a:pt x="0" y="341"/>
                      </a:lnTo>
                      <a:lnTo>
                        <a:pt x="2" y="331"/>
                      </a:lnTo>
                      <a:lnTo>
                        <a:pt x="5" y="324"/>
                      </a:lnTo>
                      <a:lnTo>
                        <a:pt x="8" y="315"/>
                      </a:lnTo>
                      <a:lnTo>
                        <a:pt x="13" y="309"/>
                      </a:lnTo>
                      <a:lnTo>
                        <a:pt x="20" y="298"/>
                      </a:lnTo>
                      <a:lnTo>
                        <a:pt x="27" y="287"/>
                      </a:lnTo>
                      <a:lnTo>
                        <a:pt x="35" y="275"/>
                      </a:lnTo>
                      <a:lnTo>
                        <a:pt x="41" y="265"/>
                      </a:lnTo>
                      <a:lnTo>
                        <a:pt x="47" y="255"/>
                      </a:lnTo>
                      <a:lnTo>
                        <a:pt x="54" y="246"/>
                      </a:lnTo>
                      <a:lnTo>
                        <a:pt x="59" y="238"/>
                      </a:lnTo>
                      <a:lnTo>
                        <a:pt x="64" y="231"/>
                      </a:lnTo>
                      <a:lnTo>
                        <a:pt x="69" y="224"/>
                      </a:lnTo>
                      <a:lnTo>
                        <a:pt x="76" y="216"/>
                      </a:lnTo>
                      <a:lnTo>
                        <a:pt x="82" y="208"/>
                      </a:lnTo>
                      <a:lnTo>
                        <a:pt x="88" y="199"/>
                      </a:lnTo>
                      <a:lnTo>
                        <a:pt x="95" y="190"/>
                      </a:lnTo>
                      <a:lnTo>
                        <a:pt x="100" y="183"/>
                      </a:lnTo>
                      <a:lnTo>
                        <a:pt x="105" y="175"/>
                      </a:lnTo>
                      <a:lnTo>
                        <a:pt x="110" y="167"/>
                      </a:lnTo>
                      <a:lnTo>
                        <a:pt x="112" y="162"/>
                      </a:lnTo>
                      <a:lnTo>
                        <a:pt x="114" y="156"/>
                      </a:lnTo>
                      <a:lnTo>
                        <a:pt x="118" y="151"/>
                      </a:lnTo>
                      <a:lnTo>
                        <a:pt x="122" y="145"/>
                      </a:lnTo>
                      <a:lnTo>
                        <a:pt x="129" y="138"/>
                      </a:lnTo>
                      <a:lnTo>
                        <a:pt x="134" y="131"/>
                      </a:lnTo>
                      <a:lnTo>
                        <a:pt x="139" y="126"/>
                      </a:lnTo>
                      <a:lnTo>
                        <a:pt x="143" y="119"/>
                      </a:lnTo>
                      <a:lnTo>
                        <a:pt x="141" y="114"/>
                      </a:lnTo>
                      <a:lnTo>
                        <a:pt x="139" y="106"/>
                      </a:lnTo>
                      <a:lnTo>
                        <a:pt x="127" y="102"/>
                      </a:lnTo>
                      <a:lnTo>
                        <a:pt x="113" y="92"/>
                      </a:lnTo>
                      <a:lnTo>
                        <a:pt x="99" y="83"/>
                      </a:lnTo>
                      <a:lnTo>
                        <a:pt x="92" y="78"/>
                      </a:lnTo>
                      <a:lnTo>
                        <a:pt x="86" y="74"/>
                      </a:lnTo>
                      <a:lnTo>
                        <a:pt x="75" y="70"/>
                      </a:lnTo>
                      <a:lnTo>
                        <a:pt x="64" y="66"/>
                      </a:lnTo>
                      <a:lnTo>
                        <a:pt x="52" y="63"/>
                      </a:lnTo>
                      <a:lnTo>
                        <a:pt x="43" y="60"/>
                      </a:lnTo>
                      <a:lnTo>
                        <a:pt x="33" y="56"/>
                      </a:lnTo>
                      <a:lnTo>
                        <a:pt x="24" y="53"/>
                      </a:lnTo>
                      <a:lnTo>
                        <a:pt x="15" y="51"/>
                      </a:lnTo>
                      <a:lnTo>
                        <a:pt x="8" y="49"/>
                      </a:lnTo>
                      <a:lnTo>
                        <a:pt x="15" y="49"/>
                      </a:lnTo>
                      <a:lnTo>
                        <a:pt x="20" y="47"/>
                      </a:lnTo>
                      <a:lnTo>
                        <a:pt x="25" y="47"/>
                      </a:lnTo>
                      <a:lnTo>
                        <a:pt x="29" y="46"/>
                      </a:lnTo>
                      <a:lnTo>
                        <a:pt x="34" y="47"/>
                      </a:lnTo>
                      <a:lnTo>
                        <a:pt x="45" y="51"/>
                      </a:lnTo>
                      <a:lnTo>
                        <a:pt x="53" y="56"/>
                      </a:lnTo>
                      <a:lnTo>
                        <a:pt x="63" y="61"/>
                      </a:lnTo>
                      <a:lnTo>
                        <a:pt x="72" y="66"/>
                      </a:lnTo>
                      <a:lnTo>
                        <a:pt x="84" y="71"/>
                      </a:lnTo>
                      <a:lnTo>
                        <a:pt x="93" y="77"/>
                      </a:lnTo>
                      <a:lnTo>
                        <a:pt x="101" y="81"/>
                      </a:lnTo>
                      <a:lnTo>
                        <a:pt x="115" y="88"/>
                      </a:lnTo>
                      <a:lnTo>
                        <a:pt x="122" y="90"/>
                      </a:lnTo>
                      <a:lnTo>
                        <a:pt x="128" y="89"/>
                      </a:lnTo>
                      <a:lnTo>
                        <a:pt x="133" y="88"/>
                      </a:lnTo>
                      <a:lnTo>
                        <a:pt x="138" y="87"/>
                      </a:lnTo>
                    </a:path>
                  </a:pathLst>
                </a:custGeom>
                <a:solidFill>
                  <a:srgbClr val="037C03">
                    <a:alpha val="50195"/>
                  </a:srgbClr>
                </a:solidFill>
                <a:ln w="9525">
                  <a:noFill/>
                </a:ln>
              </p:spPr>
              <p:txBody>
                <a:bodyPr/>
                <a:lstStyle/>
                <a:p>
                  <a:endParaRPr lang="zh-CN" altLang="en-US"/>
                </a:p>
              </p:txBody>
            </p:sp>
            <p:sp>
              <p:nvSpPr>
                <p:cNvPr id="89166" name="Freeform 173"/>
                <p:cNvSpPr/>
                <p:nvPr/>
              </p:nvSpPr>
              <p:spPr>
                <a:xfrm>
                  <a:off x="1900" y="1641"/>
                  <a:ext cx="39" cy="193"/>
                </a:xfrm>
                <a:custGeom>
                  <a:avLst/>
                  <a:gdLst>
                    <a:gd name="txL" fmla="*/ 0 w 39"/>
                    <a:gd name="txT" fmla="*/ 0 h 193"/>
                    <a:gd name="txR" fmla="*/ 39 w 39"/>
                    <a:gd name="txB" fmla="*/ 193 h 193"/>
                  </a:gdLst>
                  <a:ahLst/>
                  <a:cxnLst>
                    <a:cxn ang="0">
                      <a:pos x="20" y="0"/>
                    </a:cxn>
                    <a:cxn ang="0">
                      <a:pos x="25" y="9"/>
                    </a:cxn>
                    <a:cxn ang="0">
                      <a:pos x="28" y="15"/>
                    </a:cxn>
                    <a:cxn ang="0">
                      <a:pos x="34" y="24"/>
                    </a:cxn>
                    <a:cxn ang="0">
                      <a:pos x="36" y="33"/>
                    </a:cxn>
                    <a:cxn ang="0">
                      <a:pos x="37" y="43"/>
                    </a:cxn>
                    <a:cxn ang="0">
                      <a:pos x="37" y="56"/>
                    </a:cxn>
                    <a:cxn ang="0">
                      <a:pos x="38" y="64"/>
                    </a:cxn>
                    <a:cxn ang="0">
                      <a:pos x="37" y="75"/>
                    </a:cxn>
                    <a:cxn ang="0">
                      <a:pos x="36" y="86"/>
                    </a:cxn>
                    <a:cxn ang="0">
                      <a:pos x="34" y="97"/>
                    </a:cxn>
                    <a:cxn ang="0">
                      <a:pos x="31" y="113"/>
                    </a:cxn>
                    <a:cxn ang="0">
                      <a:pos x="29" y="122"/>
                    </a:cxn>
                    <a:cxn ang="0">
                      <a:pos x="24" y="132"/>
                    </a:cxn>
                    <a:cxn ang="0">
                      <a:pos x="18" y="144"/>
                    </a:cxn>
                    <a:cxn ang="0">
                      <a:pos x="12" y="155"/>
                    </a:cxn>
                    <a:cxn ang="0">
                      <a:pos x="7" y="165"/>
                    </a:cxn>
                    <a:cxn ang="0">
                      <a:pos x="3" y="174"/>
                    </a:cxn>
                    <a:cxn ang="0">
                      <a:pos x="0" y="192"/>
                    </a:cxn>
                    <a:cxn ang="0">
                      <a:pos x="1" y="174"/>
                    </a:cxn>
                    <a:cxn ang="0">
                      <a:pos x="3" y="162"/>
                    </a:cxn>
                    <a:cxn ang="0">
                      <a:pos x="4" y="151"/>
                    </a:cxn>
                    <a:cxn ang="0">
                      <a:pos x="5" y="139"/>
                    </a:cxn>
                    <a:cxn ang="0">
                      <a:pos x="7" y="124"/>
                    </a:cxn>
                    <a:cxn ang="0">
                      <a:pos x="10" y="113"/>
                    </a:cxn>
                    <a:cxn ang="0">
                      <a:pos x="12" y="102"/>
                    </a:cxn>
                    <a:cxn ang="0">
                      <a:pos x="15" y="93"/>
                    </a:cxn>
                    <a:cxn ang="0">
                      <a:pos x="18" y="82"/>
                    </a:cxn>
                    <a:cxn ang="0">
                      <a:pos x="20" y="72"/>
                    </a:cxn>
                    <a:cxn ang="0">
                      <a:pos x="22" y="61"/>
                    </a:cxn>
                    <a:cxn ang="0">
                      <a:pos x="23" y="52"/>
                    </a:cxn>
                    <a:cxn ang="0">
                      <a:pos x="24" y="41"/>
                    </a:cxn>
                    <a:cxn ang="0">
                      <a:pos x="24" y="30"/>
                    </a:cxn>
                    <a:cxn ang="0">
                      <a:pos x="24" y="15"/>
                    </a:cxn>
                    <a:cxn ang="0">
                      <a:pos x="22" y="8"/>
                    </a:cxn>
                    <a:cxn ang="0">
                      <a:pos x="20" y="0"/>
                    </a:cxn>
                  </a:cxnLst>
                  <a:rect l="txL" t="txT" r="txR" b="txB"/>
                  <a:pathLst>
                    <a:path w="39" h="193">
                      <a:moveTo>
                        <a:pt x="20" y="0"/>
                      </a:moveTo>
                      <a:lnTo>
                        <a:pt x="25" y="9"/>
                      </a:lnTo>
                      <a:lnTo>
                        <a:pt x="28" y="15"/>
                      </a:lnTo>
                      <a:lnTo>
                        <a:pt x="34" y="24"/>
                      </a:lnTo>
                      <a:lnTo>
                        <a:pt x="36" y="33"/>
                      </a:lnTo>
                      <a:lnTo>
                        <a:pt x="37" y="43"/>
                      </a:lnTo>
                      <a:lnTo>
                        <a:pt x="37" y="56"/>
                      </a:lnTo>
                      <a:lnTo>
                        <a:pt x="38" y="64"/>
                      </a:lnTo>
                      <a:lnTo>
                        <a:pt x="37" y="75"/>
                      </a:lnTo>
                      <a:lnTo>
                        <a:pt x="36" y="86"/>
                      </a:lnTo>
                      <a:lnTo>
                        <a:pt x="34" y="97"/>
                      </a:lnTo>
                      <a:lnTo>
                        <a:pt x="31" y="113"/>
                      </a:lnTo>
                      <a:lnTo>
                        <a:pt x="29" y="122"/>
                      </a:lnTo>
                      <a:lnTo>
                        <a:pt x="24" y="132"/>
                      </a:lnTo>
                      <a:lnTo>
                        <a:pt x="18" y="144"/>
                      </a:lnTo>
                      <a:lnTo>
                        <a:pt x="12" y="155"/>
                      </a:lnTo>
                      <a:lnTo>
                        <a:pt x="7" y="165"/>
                      </a:lnTo>
                      <a:lnTo>
                        <a:pt x="3" y="174"/>
                      </a:lnTo>
                      <a:lnTo>
                        <a:pt x="0" y="192"/>
                      </a:lnTo>
                      <a:lnTo>
                        <a:pt x="1" y="174"/>
                      </a:lnTo>
                      <a:lnTo>
                        <a:pt x="3" y="162"/>
                      </a:lnTo>
                      <a:lnTo>
                        <a:pt x="4" y="151"/>
                      </a:lnTo>
                      <a:lnTo>
                        <a:pt x="5" y="139"/>
                      </a:lnTo>
                      <a:lnTo>
                        <a:pt x="7" y="124"/>
                      </a:lnTo>
                      <a:lnTo>
                        <a:pt x="10" y="113"/>
                      </a:lnTo>
                      <a:lnTo>
                        <a:pt x="12" y="102"/>
                      </a:lnTo>
                      <a:lnTo>
                        <a:pt x="15" y="93"/>
                      </a:lnTo>
                      <a:lnTo>
                        <a:pt x="18" y="82"/>
                      </a:lnTo>
                      <a:lnTo>
                        <a:pt x="20" y="72"/>
                      </a:lnTo>
                      <a:lnTo>
                        <a:pt x="22" y="61"/>
                      </a:lnTo>
                      <a:lnTo>
                        <a:pt x="23" y="52"/>
                      </a:lnTo>
                      <a:lnTo>
                        <a:pt x="24" y="41"/>
                      </a:lnTo>
                      <a:lnTo>
                        <a:pt x="24" y="30"/>
                      </a:lnTo>
                      <a:lnTo>
                        <a:pt x="24" y="15"/>
                      </a:lnTo>
                      <a:lnTo>
                        <a:pt x="22" y="8"/>
                      </a:lnTo>
                      <a:lnTo>
                        <a:pt x="20" y="0"/>
                      </a:lnTo>
                    </a:path>
                  </a:pathLst>
                </a:custGeom>
                <a:solidFill>
                  <a:srgbClr val="037C03">
                    <a:alpha val="50195"/>
                  </a:srgbClr>
                </a:solidFill>
                <a:ln w="9525">
                  <a:noFill/>
                </a:ln>
              </p:spPr>
              <p:txBody>
                <a:bodyPr/>
                <a:lstStyle/>
                <a:p>
                  <a:endParaRPr lang="zh-CN" altLang="en-US"/>
                </a:p>
              </p:txBody>
            </p:sp>
            <p:sp>
              <p:nvSpPr>
                <p:cNvPr id="89167" name="Freeform 174"/>
                <p:cNvSpPr/>
                <p:nvPr/>
              </p:nvSpPr>
              <p:spPr>
                <a:xfrm>
                  <a:off x="1716" y="1535"/>
                  <a:ext cx="171" cy="50"/>
                </a:xfrm>
                <a:custGeom>
                  <a:avLst/>
                  <a:gdLst>
                    <a:gd name="txL" fmla="*/ 0 w 171"/>
                    <a:gd name="txT" fmla="*/ 0 h 50"/>
                    <a:gd name="txR" fmla="*/ 171 w 171"/>
                    <a:gd name="txB" fmla="*/ 50 h 50"/>
                  </a:gdLst>
                  <a:ahLst/>
                  <a:cxnLst>
                    <a:cxn ang="0">
                      <a:pos x="170" y="49"/>
                    </a:cxn>
                    <a:cxn ang="0">
                      <a:pos x="167" y="40"/>
                    </a:cxn>
                    <a:cxn ang="0">
                      <a:pos x="163" y="33"/>
                    </a:cxn>
                    <a:cxn ang="0">
                      <a:pos x="160" y="31"/>
                    </a:cxn>
                    <a:cxn ang="0">
                      <a:pos x="153" y="29"/>
                    </a:cxn>
                    <a:cxn ang="0">
                      <a:pos x="147" y="27"/>
                    </a:cxn>
                    <a:cxn ang="0">
                      <a:pos x="140" y="29"/>
                    </a:cxn>
                    <a:cxn ang="0">
                      <a:pos x="132" y="30"/>
                    </a:cxn>
                    <a:cxn ang="0">
                      <a:pos x="123" y="27"/>
                    </a:cxn>
                    <a:cxn ang="0">
                      <a:pos x="111" y="22"/>
                    </a:cxn>
                    <a:cxn ang="0">
                      <a:pos x="100" y="18"/>
                    </a:cxn>
                    <a:cxn ang="0">
                      <a:pos x="92" y="16"/>
                    </a:cxn>
                    <a:cxn ang="0">
                      <a:pos x="80" y="12"/>
                    </a:cxn>
                    <a:cxn ang="0">
                      <a:pos x="67" y="8"/>
                    </a:cxn>
                    <a:cxn ang="0">
                      <a:pos x="55" y="5"/>
                    </a:cxn>
                    <a:cxn ang="0">
                      <a:pos x="42" y="1"/>
                    </a:cxn>
                    <a:cxn ang="0">
                      <a:pos x="28" y="1"/>
                    </a:cxn>
                    <a:cxn ang="0">
                      <a:pos x="15" y="0"/>
                    </a:cxn>
                    <a:cxn ang="0">
                      <a:pos x="12" y="1"/>
                    </a:cxn>
                    <a:cxn ang="0">
                      <a:pos x="7" y="4"/>
                    </a:cxn>
                    <a:cxn ang="0">
                      <a:pos x="3" y="7"/>
                    </a:cxn>
                    <a:cxn ang="0">
                      <a:pos x="0" y="11"/>
                    </a:cxn>
                    <a:cxn ang="0">
                      <a:pos x="5" y="11"/>
                    </a:cxn>
                    <a:cxn ang="0">
                      <a:pos x="12" y="12"/>
                    </a:cxn>
                    <a:cxn ang="0">
                      <a:pos x="19" y="12"/>
                    </a:cxn>
                    <a:cxn ang="0">
                      <a:pos x="23" y="11"/>
                    </a:cxn>
                    <a:cxn ang="0">
                      <a:pos x="30" y="11"/>
                    </a:cxn>
                    <a:cxn ang="0">
                      <a:pos x="39" y="11"/>
                    </a:cxn>
                    <a:cxn ang="0">
                      <a:pos x="51" y="11"/>
                    </a:cxn>
                    <a:cxn ang="0">
                      <a:pos x="61" y="12"/>
                    </a:cxn>
                    <a:cxn ang="0">
                      <a:pos x="71" y="14"/>
                    </a:cxn>
                    <a:cxn ang="0">
                      <a:pos x="81" y="15"/>
                    </a:cxn>
                    <a:cxn ang="0">
                      <a:pos x="91" y="16"/>
                    </a:cxn>
                    <a:cxn ang="0">
                      <a:pos x="99" y="19"/>
                    </a:cxn>
                    <a:cxn ang="0">
                      <a:pos x="108" y="23"/>
                    </a:cxn>
                    <a:cxn ang="0">
                      <a:pos x="116" y="27"/>
                    </a:cxn>
                    <a:cxn ang="0">
                      <a:pos x="125" y="31"/>
                    </a:cxn>
                    <a:cxn ang="0">
                      <a:pos x="129" y="32"/>
                    </a:cxn>
                    <a:cxn ang="0">
                      <a:pos x="134" y="31"/>
                    </a:cxn>
                    <a:cxn ang="0">
                      <a:pos x="140" y="34"/>
                    </a:cxn>
                    <a:cxn ang="0">
                      <a:pos x="146" y="37"/>
                    </a:cxn>
                    <a:cxn ang="0">
                      <a:pos x="152" y="40"/>
                    </a:cxn>
                    <a:cxn ang="0">
                      <a:pos x="161" y="44"/>
                    </a:cxn>
                    <a:cxn ang="0">
                      <a:pos x="167" y="46"/>
                    </a:cxn>
                    <a:cxn ang="0">
                      <a:pos x="170" y="49"/>
                    </a:cxn>
                  </a:cxnLst>
                  <a:rect l="txL" t="txT" r="txR" b="txB"/>
                  <a:pathLst>
                    <a:path w="171" h="50">
                      <a:moveTo>
                        <a:pt x="170" y="49"/>
                      </a:moveTo>
                      <a:lnTo>
                        <a:pt x="167" y="40"/>
                      </a:lnTo>
                      <a:lnTo>
                        <a:pt x="163" y="33"/>
                      </a:lnTo>
                      <a:lnTo>
                        <a:pt x="160" y="31"/>
                      </a:lnTo>
                      <a:lnTo>
                        <a:pt x="153" y="29"/>
                      </a:lnTo>
                      <a:lnTo>
                        <a:pt x="147" y="27"/>
                      </a:lnTo>
                      <a:lnTo>
                        <a:pt x="140" y="29"/>
                      </a:lnTo>
                      <a:lnTo>
                        <a:pt x="132" y="30"/>
                      </a:lnTo>
                      <a:lnTo>
                        <a:pt x="123" y="27"/>
                      </a:lnTo>
                      <a:lnTo>
                        <a:pt x="111" y="22"/>
                      </a:lnTo>
                      <a:lnTo>
                        <a:pt x="100" y="18"/>
                      </a:lnTo>
                      <a:lnTo>
                        <a:pt x="92" y="16"/>
                      </a:lnTo>
                      <a:lnTo>
                        <a:pt x="80" y="12"/>
                      </a:lnTo>
                      <a:lnTo>
                        <a:pt x="67" y="8"/>
                      </a:lnTo>
                      <a:lnTo>
                        <a:pt x="55" y="5"/>
                      </a:lnTo>
                      <a:lnTo>
                        <a:pt x="42" y="1"/>
                      </a:lnTo>
                      <a:lnTo>
                        <a:pt x="28" y="1"/>
                      </a:lnTo>
                      <a:lnTo>
                        <a:pt x="15" y="0"/>
                      </a:lnTo>
                      <a:lnTo>
                        <a:pt x="12" y="1"/>
                      </a:lnTo>
                      <a:lnTo>
                        <a:pt x="7" y="4"/>
                      </a:lnTo>
                      <a:lnTo>
                        <a:pt x="3" y="7"/>
                      </a:lnTo>
                      <a:lnTo>
                        <a:pt x="0" y="11"/>
                      </a:lnTo>
                      <a:lnTo>
                        <a:pt x="5" y="11"/>
                      </a:lnTo>
                      <a:lnTo>
                        <a:pt x="12" y="12"/>
                      </a:lnTo>
                      <a:lnTo>
                        <a:pt x="19" y="12"/>
                      </a:lnTo>
                      <a:lnTo>
                        <a:pt x="23" y="11"/>
                      </a:lnTo>
                      <a:lnTo>
                        <a:pt x="30" y="11"/>
                      </a:lnTo>
                      <a:lnTo>
                        <a:pt x="39" y="11"/>
                      </a:lnTo>
                      <a:lnTo>
                        <a:pt x="51" y="11"/>
                      </a:lnTo>
                      <a:lnTo>
                        <a:pt x="61" y="12"/>
                      </a:lnTo>
                      <a:lnTo>
                        <a:pt x="71" y="14"/>
                      </a:lnTo>
                      <a:lnTo>
                        <a:pt x="81" y="15"/>
                      </a:lnTo>
                      <a:lnTo>
                        <a:pt x="91" y="16"/>
                      </a:lnTo>
                      <a:lnTo>
                        <a:pt x="99" y="19"/>
                      </a:lnTo>
                      <a:lnTo>
                        <a:pt x="108" y="23"/>
                      </a:lnTo>
                      <a:lnTo>
                        <a:pt x="116" y="27"/>
                      </a:lnTo>
                      <a:lnTo>
                        <a:pt x="125" y="31"/>
                      </a:lnTo>
                      <a:lnTo>
                        <a:pt x="129" y="32"/>
                      </a:lnTo>
                      <a:lnTo>
                        <a:pt x="134" y="31"/>
                      </a:lnTo>
                      <a:lnTo>
                        <a:pt x="140" y="34"/>
                      </a:lnTo>
                      <a:lnTo>
                        <a:pt x="146" y="37"/>
                      </a:lnTo>
                      <a:lnTo>
                        <a:pt x="152" y="40"/>
                      </a:lnTo>
                      <a:lnTo>
                        <a:pt x="161" y="44"/>
                      </a:lnTo>
                      <a:lnTo>
                        <a:pt x="167" y="46"/>
                      </a:lnTo>
                      <a:lnTo>
                        <a:pt x="170" y="49"/>
                      </a:lnTo>
                    </a:path>
                  </a:pathLst>
                </a:custGeom>
                <a:solidFill>
                  <a:srgbClr val="037C03">
                    <a:alpha val="50195"/>
                  </a:srgbClr>
                </a:solidFill>
                <a:ln w="9525">
                  <a:noFill/>
                </a:ln>
              </p:spPr>
              <p:txBody>
                <a:bodyPr/>
                <a:lstStyle/>
                <a:p>
                  <a:endParaRPr lang="zh-CN" altLang="en-US"/>
                </a:p>
              </p:txBody>
            </p:sp>
            <p:sp>
              <p:nvSpPr>
                <p:cNvPr id="89168" name="Freeform 175"/>
                <p:cNvSpPr/>
                <p:nvPr/>
              </p:nvSpPr>
              <p:spPr>
                <a:xfrm>
                  <a:off x="1707" y="1563"/>
                  <a:ext cx="177" cy="21"/>
                </a:xfrm>
                <a:custGeom>
                  <a:avLst/>
                  <a:gdLst>
                    <a:gd name="txL" fmla="*/ 0 w 177"/>
                    <a:gd name="txT" fmla="*/ 0 h 21"/>
                    <a:gd name="txR" fmla="*/ 177 w 177"/>
                    <a:gd name="txB" fmla="*/ 21 h 21"/>
                  </a:gdLst>
                  <a:ahLst/>
                  <a:cxnLst>
                    <a:cxn ang="0">
                      <a:pos x="176" y="20"/>
                    </a:cxn>
                    <a:cxn ang="0">
                      <a:pos x="171" y="18"/>
                    </a:cxn>
                    <a:cxn ang="0">
                      <a:pos x="166" y="16"/>
                    </a:cxn>
                    <a:cxn ang="0">
                      <a:pos x="161" y="13"/>
                    </a:cxn>
                    <a:cxn ang="0">
                      <a:pos x="155" y="12"/>
                    </a:cxn>
                    <a:cxn ang="0">
                      <a:pos x="149" y="10"/>
                    </a:cxn>
                    <a:cxn ang="0">
                      <a:pos x="141" y="6"/>
                    </a:cxn>
                    <a:cxn ang="0">
                      <a:pos x="134" y="3"/>
                    </a:cxn>
                    <a:cxn ang="0">
                      <a:pos x="128" y="2"/>
                    </a:cxn>
                    <a:cxn ang="0">
                      <a:pos x="120" y="3"/>
                    </a:cxn>
                    <a:cxn ang="0">
                      <a:pos x="110" y="5"/>
                    </a:cxn>
                    <a:cxn ang="0">
                      <a:pos x="106" y="5"/>
                    </a:cxn>
                    <a:cxn ang="0">
                      <a:pos x="93" y="3"/>
                    </a:cxn>
                    <a:cxn ang="0">
                      <a:pos x="78" y="1"/>
                    </a:cxn>
                    <a:cxn ang="0">
                      <a:pos x="69" y="0"/>
                    </a:cxn>
                    <a:cxn ang="0">
                      <a:pos x="57" y="0"/>
                    </a:cxn>
                    <a:cxn ang="0">
                      <a:pos x="44" y="0"/>
                    </a:cxn>
                    <a:cxn ang="0">
                      <a:pos x="36" y="1"/>
                    </a:cxn>
                    <a:cxn ang="0">
                      <a:pos x="27" y="2"/>
                    </a:cxn>
                    <a:cxn ang="0">
                      <a:pos x="18" y="3"/>
                    </a:cxn>
                    <a:cxn ang="0">
                      <a:pos x="9" y="4"/>
                    </a:cxn>
                    <a:cxn ang="0">
                      <a:pos x="8" y="8"/>
                    </a:cxn>
                    <a:cxn ang="0">
                      <a:pos x="7" y="11"/>
                    </a:cxn>
                    <a:cxn ang="0">
                      <a:pos x="4" y="15"/>
                    </a:cxn>
                    <a:cxn ang="0">
                      <a:pos x="0" y="17"/>
                    </a:cxn>
                    <a:cxn ang="0">
                      <a:pos x="7" y="16"/>
                    </a:cxn>
                    <a:cxn ang="0">
                      <a:pos x="15" y="14"/>
                    </a:cxn>
                    <a:cxn ang="0">
                      <a:pos x="22" y="12"/>
                    </a:cxn>
                    <a:cxn ang="0">
                      <a:pos x="29" y="11"/>
                    </a:cxn>
                    <a:cxn ang="0">
                      <a:pos x="37" y="10"/>
                    </a:cxn>
                    <a:cxn ang="0">
                      <a:pos x="50" y="10"/>
                    </a:cxn>
                    <a:cxn ang="0">
                      <a:pos x="63" y="8"/>
                    </a:cxn>
                    <a:cxn ang="0">
                      <a:pos x="79" y="8"/>
                    </a:cxn>
                    <a:cxn ang="0">
                      <a:pos x="94" y="7"/>
                    </a:cxn>
                    <a:cxn ang="0">
                      <a:pos x="108" y="6"/>
                    </a:cxn>
                    <a:cxn ang="0">
                      <a:pos x="120" y="7"/>
                    </a:cxn>
                    <a:cxn ang="0">
                      <a:pos x="129" y="10"/>
                    </a:cxn>
                    <a:cxn ang="0">
                      <a:pos x="138" y="12"/>
                    </a:cxn>
                    <a:cxn ang="0">
                      <a:pos x="148" y="14"/>
                    </a:cxn>
                    <a:cxn ang="0">
                      <a:pos x="159" y="17"/>
                    </a:cxn>
                    <a:cxn ang="0">
                      <a:pos x="167" y="18"/>
                    </a:cxn>
                    <a:cxn ang="0">
                      <a:pos x="176" y="20"/>
                    </a:cxn>
                  </a:cxnLst>
                  <a:rect l="txL" t="txT" r="txR" b="txB"/>
                  <a:pathLst>
                    <a:path w="177" h="21">
                      <a:moveTo>
                        <a:pt x="176" y="20"/>
                      </a:moveTo>
                      <a:lnTo>
                        <a:pt x="171" y="18"/>
                      </a:lnTo>
                      <a:lnTo>
                        <a:pt x="166" y="16"/>
                      </a:lnTo>
                      <a:lnTo>
                        <a:pt x="161" y="13"/>
                      </a:lnTo>
                      <a:lnTo>
                        <a:pt x="155" y="12"/>
                      </a:lnTo>
                      <a:lnTo>
                        <a:pt x="149" y="10"/>
                      </a:lnTo>
                      <a:lnTo>
                        <a:pt x="141" y="6"/>
                      </a:lnTo>
                      <a:lnTo>
                        <a:pt x="134" y="3"/>
                      </a:lnTo>
                      <a:lnTo>
                        <a:pt x="128" y="2"/>
                      </a:lnTo>
                      <a:lnTo>
                        <a:pt x="120" y="3"/>
                      </a:lnTo>
                      <a:lnTo>
                        <a:pt x="110" y="5"/>
                      </a:lnTo>
                      <a:lnTo>
                        <a:pt x="106" y="5"/>
                      </a:lnTo>
                      <a:lnTo>
                        <a:pt x="93" y="3"/>
                      </a:lnTo>
                      <a:lnTo>
                        <a:pt x="78" y="1"/>
                      </a:lnTo>
                      <a:lnTo>
                        <a:pt x="69" y="0"/>
                      </a:lnTo>
                      <a:lnTo>
                        <a:pt x="57" y="0"/>
                      </a:lnTo>
                      <a:lnTo>
                        <a:pt x="44" y="0"/>
                      </a:lnTo>
                      <a:lnTo>
                        <a:pt x="36" y="1"/>
                      </a:lnTo>
                      <a:lnTo>
                        <a:pt x="27" y="2"/>
                      </a:lnTo>
                      <a:lnTo>
                        <a:pt x="18" y="3"/>
                      </a:lnTo>
                      <a:lnTo>
                        <a:pt x="9" y="4"/>
                      </a:lnTo>
                      <a:lnTo>
                        <a:pt x="8" y="8"/>
                      </a:lnTo>
                      <a:lnTo>
                        <a:pt x="7" y="11"/>
                      </a:lnTo>
                      <a:lnTo>
                        <a:pt x="4" y="15"/>
                      </a:lnTo>
                      <a:lnTo>
                        <a:pt x="0" y="17"/>
                      </a:lnTo>
                      <a:lnTo>
                        <a:pt x="7" y="16"/>
                      </a:lnTo>
                      <a:lnTo>
                        <a:pt x="15" y="14"/>
                      </a:lnTo>
                      <a:lnTo>
                        <a:pt x="22" y="12"/>
                      </a:lnTo>
                      <a:lnTo>
                        <a:pt x="29" y="11"/>
                      </a:lnTo>
                      <a:lnTo>
                        <a:pt x="37" y="10"/>
                      </a:lnTo>
                      <a:lnTo>
                        <a:pt x="50" y="10"/>
                      </a:lnTo>
                      <a:lnTo>
                        <a:pt x="63" y="8"/>
                      </a:lnTo>
                      <a:lnTo>
                        <a:pt x="79" y="8"/>
                      </a:lnTo>
                      <a:lnTo>
                        <a:pt x="94" y="7"/>
                      </a:lnTo>
                      <a:lnTo>
                        <a:pt x="108" y="6"/>
                      </a:lnTo>
                      <a:lnTo>
                        <a:pt x="120" y="7"/>
                      </a:lnTo>
                      <a:lnTo>
                        <a:pt x="129" y="10"/>
                      </a:lnTo>
                      <a:lnTo>
                        <a:pt x="138" y="12"/>
                      </a:lnTo>
                      <a:lnTo>
                        <a:pt x="148" y="14"/>
                      </a:lnTo>
                      <a:lnTo>
                        <a:pt x="159" y="17"/>
                      </a:lnTo>
                      <a:lnTo>
                        <a:pt x="167" y="18"/>
                      </a:lnTo>
                      <a:lnTo>
                        <a:pt x="176" y="20"/>
                      </a:lnTo>
                    </a:path>
                  </a:pathLst>
                </a:custGeom>
                <a:solidFill>
                  <a:srgbClr val="037C03">
                    <a:alpha val="50195"/>
                  </a:srgbClr>
                </a:solidFill>
                <a:ln w="9525">
                  <a:noFill/>
                </a:ln>
              </p:spPr>
              <p:txBody>
                <a:bodyPr/>
                <a:lstStyle/>
                <a:p>
                  <a:endParaRPr lang="zh-CN" altLang="en-US"/>
                </a:p>
              </p:txBody>
            </p:sp>
          </p:grpSp>
          <p:sp>
            <p:nvSpPr>
              <p:cNvPr id="89164" name="Freeform 176"/>
              <p:cNvSpPr/>
              <p:nvPr/>
            </p:nvSpPr>
            <p:spPr>
              <a:xfrm>
                <a:off x="1691" y="1023"/>
                <a:ext cx="261" cy="374"/>
              </a:xfrm>
              <a:custGeom>
                <a:avLst/>
                <a:gdLst>
                  <a:gd name="txL" fmla="*/ 0 w 261"/>
                  <a:gd name="txT" fmla="*/ 0 h 374"/>
                  <a:gd name="txR" fmla="*/ 261 w 261"/>
                  <a:gd name="txB" fmla="*/ 374 h 374"/>
                </a:gdLst>
                <a:ahLst/>
                <a:cxnLst>
                  <a:cxn ang="0">
                    <a:pos x="82" y="162"/>
                  </a:cxn>
                  <a:cxn ang="0">
                    <a:pos x="90" y="154"/>
                  </a:cxn>
                  <a:cxn ang="0">
                    <a:pos x="76" y="104"/>
                  </a:cxn>
                  <a:cxn ang="0">
                    <a:pos x="54" y="56"/>
                  </a:cxn>
                  <a:cxn ang="0">
                    <a:pos x="31" y="33"/>
                  </a:cxn>
                  <a:cxn ang="0">
                    <a:pos x="51" y="45"/>
                  </a:cxn>
                  <a:cxn ang="0">
                    <a:pos x="72" y="84"/>
                  </a:cxn>
                  <a:cxn ang="0">
                    <a:pos x="92" y="126"/>
                  </a:cxn>
                  <a:cxn ang="0">
                    <a:pos x="106" y="168"/>
                  </a:cxn>
                  <a:cxn ang="0">
                    <a:pos x="118" y="150"/>
                  </a:cxn>
                  <a:cxn ang="0">
                    <a:pos x="121" y="114"/>
                  </a:cxn>
                  <a:cxn ang="0">
                    <a:pos x="125" y="65"/>
                  </a:cxn>
                  <a:cxn ang="0">
                    <a:pos x="136" y="26"/>
                  </a:cxn>
                  <a:cxn ang="0">
                    <a:pos x="143" y="12"/>
                  </a:cxn>
                  <a:cxn ang="0">
                    <a:pos x="136" y="53"/>
                  </a:cxn>
                  <a:cxn ang="0">
                    <a:pos x="132" y="106"/>
                  </a:cxn>
                  <a:cxn ang="0">
                    <a:pos x="130" y="155"/>
                  </a:cxn>
                  <a:cxn ang="0">
                    <a:pos x="136" y="183"/>
                  </a:cxn>
                  <a:cxn ang="0">
                    <a:pos x="166" y="177"/>
                  </a:cxn>
                  <a:cxn ang="0">
                    <a:pos x="205" y="178"/>
                  </a:cxn>
                  <a:cxn ang="0">
                    <a:pos x="236" y="193"/>
                  </a:cxn>
                  <a:cxn ang="0">
                    <a:pos x="260" y="227"/>
                  </a:cxn>
                  <a:cxn ang="0">
                    <a:pos x="231" y="222"/>
                  </a:cxn>
                  <a:cxn ang="0">
                    <a:pos x="200" y="211"/>
                  </a:cxn>
                  <a:cxn ang="0">
                    <a:pos x="159" y="204"/>
                  </a:cxn>
                  <a:cxn ang="0">
                    <a:pos x="132" y="208"/>
                  </a:cxn>
                  <a:cxn ang="0">
                    <a:pos x="147" y="224"/>
                  </a:cxn>
                  <a:cxn ang="0">
                    <a:pos x="182" y="233"/>
                  </a:cxn>
                  <a:cxn ang="0">
                    <a:pos x="217" y="240"/>
                  </a:cxn>
                  <a:cxn ang="0">
                    <a:pos x="243" y="264"/>
                  </a:cxn>
                  <a:cxn ang="0">
                    <a:pos x="256" y="297"/>
                  </a:cxn>
                  <a:cxn ang="0">
                    <a:pos x="224" y="277"/>
                  </a:cxn>
                  <a:cxn ang="0">
                    <a:pos x="191" y="256"/>
                  </a:cxn>
                  <a:cxn ang="0">
                    <a:pos x="160" y="238"/>
                  </a:cxn>
                  <a:cxn ang="0">
                    <a:pos x="136" y="230"/>
                  </a:cxn>
                  <a:cxn ang="0">
                    <a:pos x="121" y="246"/>
                  </a:cxn>
                  <a:cxn ang="0">
                    <a:pos x="135" y="290"/>
                  </a:cxn>
                  <a:cxn ang="0">
                    <a:pos x="145" y="342"/>
                  </a:cxn>
                  <a:cxn ang="0">
                    <a:pos x="127" y="346"/>
                  </a:cxn>
                  <a:cxn ang="0">
                    <a:pos x="116" y="290"/>
                  </a:cxn>
                  <a:cxn ang="0">
                    <a:pos x="101" y="256"/>
                  </a:cxn>
                  <a:cxn ang="0">
                    <a:pos x="83" y="274"/>
                  </a:cxn>
                  <a:cxn ang="0">
                    <a:pos x="64" y="309"/>
                  </a:cxn>
                  <a:cxn ang="0">
                    <a:pos x="44" y="360"/>
                  </a:cxn>
                  <a:cxn ang="0">
                    <a:pos x="51" y="314"/>
                  </a:cxn>
                  <a:cxn ang="0">
                    <a:pos x="69" y="272"/>
                  </a:cxn>
                  <a:cxn ang="0">
                    <a:pos x="91" y="238"/>
                  </a:cxn>
                  <a:cxn ang="0">
                    <a:pos x="99" y="212"/>
                  </a:cxn>
                  <a:cxn ang="0">
                    <a:pos x="77" y="226"/>
                  </a:cxn>
                  <a:cxn ang="0">
                    <a:pos x="52" y="261"/>
                  </a:cxn>
                  <a:cxn ang="0">
                    <a:pos x="28" y="301"/>
                  </a:cxn>
                  <a:cxn ang="0">
                    <a:pos x="24" y="288"/>
                  </a:cxn>
                  <a:cxn ang="0">
                    <a:pos x="42" y="262"/>
                  </a:cxn>
                  <a:cxn ang="0">
                    <a:pos x="71" y="229"/>
                  </a:cxn>
                  <a:cxn ang="0">
                    <a:pos x="101" y="206"/>
                  </a:cxn>
                  <a:cxn ang="0">
                    <a:pos x="73" y="180"/>
                  </a:cxn>
                  <a:cxn ang="0">
                    <a:pos x="46" y="148"/>
                  </a:cxn>
                  <a:cxn ang="0">
                    <a:pos x="17" y="118"/>
                  </a:cxn>
                  <a:cxn ang="0">
                    <a:pos x="3" y="98"/>
                  </a:cxn>
                  <a:cxn ang="0">
                    <a:pos x="32" y="115"/>
                  </a:cxn>
                  <a:cxn ang="0">
                    <a:pos x="64" y="145"/>
                  </a:cxn>
                </a:cxnLst>
                <a:rect l="txL" t="txT" r="txR" b="txB"/>
                <a:pathLst>
                  <a:path w="261" h="374">
                    <a:moveTo>
                      <a:pt x="64" y="145"/>
                    </a:moveTo>
                    <a:lnTo>
                      <a:pt x="68" y="150"/>
                    </a:lnTo>
                    <a:lnTo>
                      <a:pt x="72" y="154"/>
                    </a:lnTo>
                    <a:lnTo>
                      <a:pt x="77" y="157"/>
                    </a:lnTo>
                    <a:lnTo>
                      <a:pt x="82" y="162"/>
                    </a:lnTo>
                    <a:lnTo>
                      <a:pt x="86" y="165"/>
                    </a:lnTo>
                    <a:lnTo>
                      <a:pt x="91" y="168"/>
                    </a:lnTo>
                    <a:lnTo>
                      <a:pt x="94" y="170"/>
                    </a:lnTo>
                    <a:lnTo>
                      <a:pt x="92" y="162"/>
                    </a:lnTo>
                    <a:lnTo>
                      <a:pt x="90" y="154"/>
                    </a:lnTo>
                    <a:lnTo>
                      <a:pt x="87" y="143"/>
                    </a:lnTo>
                    <a:lnTo>
                      <a:pt x="85" y="134"/>
                    </a:lnTo>
                    <a:lnTo>
                      <a:pt x="82" y="124"/>
                    </a:lnTo>
                    <a:lnTo>
                      <a:pt x="80" y="114"/>
                    </a:lnTo>
                    <a:lnTo>
                      <a:pt x="76" y="104"/>
                    </a:lnTo>
                    <a:lnTo>
                      <a:pt x="72" y="93"/>
                    </a:lnTo>
                    <a:lnTo>
                      <a:pt x="68" y="84"/>
                    </a:lnTo>
                    <a:lnTo>
                      <a:pt x="63" y="71"/>
                    </a:lnTo>
                    <a:lnTo>
                      <a:pt x="59" y="63"/>
                    </a:lnTo>
                    <a:lnTo>
                      <a:pt x="54" y="56"/>
                    </a:lnTo>
                    <a:lnTo>
                      <a:pt x="50" y="48"/>
                    </a:lnTo>
                    <a:lnTo>
                      <a:pt x="44" y="42"/>
                    </a:lnTo>
                    <a:lnTo>
                      <a:pt x="39" y="38"/>
                    </a:lnTo>
                    <a:lnTo>
                      <a:pt x="34" y="35"/>
                    </a:lnTo>
                    <a:lnTo>
                      <a:pt x="31" y="33"/>
                    </a:lnTo>
                    <a:lnTo>
                      <a:pt x="35" y="32"/>
                    </a:lnTo>
                    <a:lnTo>
                      <a:pt x="37" y="33"/>
                    </a:lnTo>
                    <a:lnTo>
                      <a:pt x="41" y="34"/>
                    </a:lnTo>
                    <a:lnTo>
                      <a:pt x="45" y="39"/>
                    </a:lnTo>
                    <a:lnTo>
                      <a:pt x="51" y="45"/>
                    </a:lnTo>
                    <a:lnTo>
                      <a:pt x="55" y="50"/>
                    </a:lnTo>
                    <a:lnTo>
                      <a:pt x="58" y="56"/>
                    </a:lnTo>
                    <a:lnTo>
                      <a:pt x="63" y="64"/>
                    </a:lnTo>
                    <a:lnTo>
                      <a:pt x="68" y="75"/>
                    </a:lnTo>
                    <a:lnTo>
                      <a:pt x="72" y="84"/>
                    </a:lnTo>
                    <a:lnTo>
                      <a:pt x="77" y="94"/>
                    </a:lnTo>
                    <a:lnTo>
                      <a:pt x="81" y="101"/>
                    </a:lnTo>
                    <a:lnTo>
                      <a:pt x="86" y="109"/>
                    </a:lnTo>
                    <a:lnTo>
                      <a:pt x="89" y="117"/>
                    </a:lnTo>
                    <a:lnTo>
                      <a:pt x="92" y="126"/>
                    </a:lnTo>
                    <a:lnTo>
                      <a:pt x="95" y="135"/>
                    </a:lnTo>
                    <a:lnTo>
                      <a:pt x="99" y="143"/>
                    </a:lnTo>
                    <a:lnTo>
                      <a:pt x="101" y="151"/>
                    </a:lnTo>
                    <a:lnTo>
                      <a:pt x="104" y="161"/>
                    </a:lnTo>
                    <a:lnTo>
                      <a:pt x="106" y="168"/>
                    </a:lnTo>
                    <a:lnTo>
                      <a:pt x="107" y="171"/>
                    </a:lnTo>
                    <a:lnTo>
                      <a:pt x="110" y="168"/>
                    </a:lnTo>
                    <a:lnTo>
                      <a:pt x="113" y="164"/>
                    </a:lnTo>
                    <a:lnTo>
                      <a:pt x="117" y="159"/>
                    </a:lnTo>
                    <a:lnTo>
                      <a:pt x="118" y="150"/>
                    </a:lnTo>
                    <a:lnTo>
                      <a:pt x="119" y="143"/>
                    </a:lnTo>
                    <a:lnTo>
                      <a:pt x="120" y="133"/>
                    </a:lnTo>
                    <a:lnTo>
                      <a:pt x="121" y="124"/>
                    </a:lnTo>
                    <a:lnTo>
                      <a:pt x="120" y="124"/>
                    </a:lnTo>
                    <a:lnTo>
                      <a:pt x="121" y="114"/>
                    </a:lnTo>
                    <a:lnTo>
                      <a:pt x="121" y="103"/>
                    </a:lnTo>
                    <a:lnTo>
                      <a:pt x="122" y="92"/>
                    </a:lnTo>
                    <a:lnTo>
                      <a:pt x="122" y="82"/>
                    </a:lnTo>
                    <a:lnTo>
                      <a:pt x="123" y="75"/>
                    </a:lnTo>
                    <a:lnTo>
                      <a:pt x="125" y="65"/>
                    </a:lnTo>
                    <a:lnTo>
                      <a:pt x="127" y="58"/>
                    </a:lnTo>
                    <a:lnTo>
                      <a:pt x="128" y="50"/>
                    </a:lnTo>
                    <a:lnTo>
                      <a:pt x="131" y="44"/>
                    </a:lnTo>
                    <a:lnTo>
                      <a:pt x="133" y="36"/>
                    </a:lnTo>
                    <a:lnTo>
                      <a:pt x="136" y="26"/>
                    </a:lnTo>
                    <a:lnTo>
                      <a:pt x="139" y="16"/>
                    </a:lnTo>
                    <a:lnTo>
                      <a:pt x="140" y="7"/>
                    </a:lnTo>
                    <a:lnTo>
                      <a:pt x="143" y="0"/>
                    </a:lnTo>
                    <a:lnTo>
                      <a:pt x="144" y="6"/>
                    </a:lnTo>
                    <a:lnTo>
                      <a:pt x="143" y="12"/>
                    </a:lnTo>
                    <a:lnTo>
                      <a:pt x="142" y="21"/>
                    </a:lnTo>
                    <a:lnTo>
                      <a:pt x="140" y="28"/>
                    </a:lnTo>
                    <a:lnTo>
                      <a:pt x="138" y="40"/>
                    </a:lnTo>
                    <a:lnTo>
                      <a:pt x="137" y="47"/>
                    </a:lnTo>
                    <a:lnTo>
                      <a:pt x="136" y="53"/>
                    </a:lnTo>
                    <a:lnTo>
                      <a:pt x="135" y="62"/>
                    </a:lnTo>
                    <a:lnTo>
                      <a:pt x="134" y="72"/>
                    </a:lnTo>
                    <a:lnTo>
                      <a:pt x="134" y="83"/>
                    </a:lnTo>
                    <a:lnTo>
                      <a:pt x="133" y="94"/>
                    </a:lnTo>
                    <a:lnTo>
                      <a:pt x="132" y="106"/>
                    </a:lnTo>
                    <a:lnTo>
                      <a:pt x="132" y="116"/>
                    </a:lnTo>
                    <a:lnTo>
                      <a:pt x="132" y="126"/>
                    </a:lnTo>
                    <a:lnTo>
                      <a:pt x="131" y="134"/>
                    </a:lnTo>
                    <a:lnTo>
                      <a:pt x="131" y="145"/>
                    </a:lnTo>
                    <a:lnTo>
                      <a:pt x="130" y="155"/>
                    </a:lnTo>
                    <a:lnTo>
                      <a:pt x="128" y="168"/>
                    </a:lnTo>
                    <a:lnTo>
                      <a:pt x="127" y="178"/>
                    </a:lnTo>
                    <a:lnTo>
                      <a:pt x="125" y="190"/>
                    </a:lnTo>
                    <a:lnTo>
                      <a:pt x="130" y="187"/>
                    </a:lnTo>
                    <a:lnTo>
                      <a:pt x="136" y="183"/>
                    </a:lnTo>
                    <a:lnTo>
                      <a:pt x="143" y="178"/>
                    </a:lnTo>
                    <a:lnTo>
                      <a:pt x="149" y="176"/>
                    </a:lnTo>
                    <a:lnTo>
                      <a:pt x="156" y="176"/>
                    </a:lnTo>
                    <a:lnTo>
                      <a:pt x="160" y="176"/>
                    </a:lnTo>
                    <a:lnTo>
                      <a:pt x="166" y="177"/>
                    </a:lnTo>
                    <a:lnTo>
                      <a:pt x="173" y="178"/>
                    </a:lnTo>
                    <a:lnTo>
                      <a:pt x="182" y="179"/>
                    </a:lnTo>
                    <a:lnTo>
                      <a:pt x="190" y="178"/>
                    </a:lnTo>
                    <a:lnTo>
                      <a:pt x="198" y="178"/>
                    </a:lnTo>
                    <a:lnTo>
                      <a:pt x="205" y="178"/>
                    </a:lnTo>
                    <a:lnTo>
                      <a:pt x="211" y="179"/>
                    </a:lnTo>
                    <a:lnTo>
                      <a:pt x="217" y="182"/>
                    </a:lnTo>
                    <a:lnTo>
                      <a:pt x="225" y="185"/>
                    </a:lnTo>
                    <a:lnTo>
                      <a:pt x="231" y="189"/>
                    </a:lnTo>
                    <a:lnTo>
                      <a:pt x="236" y="193"/>
                    </a:lnTo>
                    <a:lnTo>
                      <a:pt x="242" y="199"/>
                    </a:lnTo>
                    <a:lnTo>
                      <a:pt x="245" y="202"/>
                    </a:lnTo>
                    <a:lnTo>
                      <a:pt x="251" y="210"/>
                    </a:lnTo>
                    <a:lnTo>
                      <a:pt x="255" y="218"/>
                    </a:lnTo>
                    <a:lnTo>
                      <a:pt x="260" y="227"/>
                    </a:lnTo>
                    <a:lnTo>
                      <a:pt x="254" y="227"/>
                    </a:lnTo>
                    <a:lnTo>
                      <a:pt x="248" y="226"/>
                    </a:lnTo>
                    <a:lnTo>
                      <a:pt x="241" y="224"/>
                    </a:lnTo>
                    <a:lnTo>
                      <a:pt x="235" y="224"/>
                    </a:lnTo>
                    <a:lnTo>
                      <a:pt x="231" y="222"/>
                    </a:lnTo>
                    <a:lnTo>
                      <a:pt x="224" y="218"/>
                    </a:lnTo>
                    <a:lnTo>
                      <a:pt x="218" y="216"/>
                    </a:lnTo>
                    <a:lnTo>
                      <a:pt x="213" y="213"/>
                    </a:lnTo>
                    <a:lnTo>
                      <a:pt x="209" y="212"/>
                    </a:lnTo>
                    <a:lnTo>
                      <a:pt x="200" y="211"/>
                    </a:lnTo>
                    <a:lnTo>
                      <a:pt x="190" y="210"/>
                    </a:lnTo>
                    <a:lnTo>
                      <a:pt x="182" y="208"/>
                    </a:lnTo>
                    <a:lnTo>
                      <a:pt x="173" y="206"/>
                    </a:lnTo>
                    <a:lnTo>
                      <a:pt x="165" y="205"/>
                    </a:lnTo>
                    <a:lnTo>
                      <a:pt x="159" y="204"/>
                    </a:lnTo>
                    <a:lnTo>
                      <a:pt x="154" y="204"/>
                    </a:lnTo>
                    <a:lnTo>
                      <a:pt x="148" y="203"/>
                    </a:lnTo>
                    <a:lnTo>
                      <a:pt x="142" y="204"/>
                    </a:lnTo>
                    <a:lnTo>
                      <a:pt x="137" y="205"/>
                    </a:lnTo>
                    <a:lnTo>
                      <a:pt x="132" y="208"/>
                    </a:lnTo>
                    <a:lnTo>
                      <a:pt x="125" y="210"/>
                    </a:lnTo>
                    <a:lnTo>
                      <a:pt x="130" y="213"/>
                    </a:lnTo>
                    <a:lnTo>
                      <a:pt x="136" y="217"/>
                    </a:lnTo>
                    <a:lnTo>
                      <a:pt x="141" y="222"/>
                    </a:lnTo>
                    <a:lnTo>
                      <a:pt x="147" y="224"/>
                    </a:lnTo>
                    <a:lnTo>
                      <a:pt x="154" y="227"/>
                    </a:lnTo>
                    <a:lnTo>
                      <a:pt x="160" y="229"/>
                    </a:lnTo>
                    <a:lnTo>
                      <a:pt x="166" y="229"/>
                    </a:lnTo>
                    <a:lnTo>
                      <a:pt x="173" y="231"/>
                    </a:lnTo>
                    <a:lnTo>
                      <a:pt x="182" y="233"/>
                    </a:lnTo>
                    <a:lnTo>
                      <a:pt x="189" y="235"/>
                    </a:lnTo>
                    <a:lnTo>
                      <a:pt x="197" y="235"/>
                    </a:lnTo>
                    <a:lnTo>
                      <a:pt x="203" y="237"/>
                    </a:lnTo>
                    <a:lnTo>
                      <a:pt x="210" y="239"/>
                    </a:lnTo>
                    <a:lnTo>
                      <a:pt x="217" y="240"/>
                    </a:lnTo>
                    <a:lnTo>
                      <a:pt x="222" y="243"/>
                    </a:lnTo>
                    <a:lnTo>
                      <a:pt x="227" y="247"/>
                    </a:lnTo>
                    <a:lnTo>
                      <a:pt x="232" y="252"/>
                    </a:lnTo>
                    <a:lnTo>
                      <a:pt x="238" y="257"/>
                    </a:lnTo>
                    <a:lnTo>
                      <a:pt x="243" y="264"/>
                    </a:lnTo>
                    <a:lnTo>
                      <a:pt x="245" y="268"/>
                    </a:lnTo>
                    <a:lnTo>
                      <a:pt x="248" y="275"/>
                    </a:lnTo>
                    <a:lnTo>
                      <a:pt x="250" y="283"/>
                    </a:lnTo>
                    <a:lnTo>
                      <a:pt x="253" y="291"/>
                    </a:lnTo>
                    <a:lnTo>
                      <a:pt x="256" y="297"/>
                    </a:lnTo>
                    <a:lnTo>
                      <a:pt x="250" y="293"/>
                    </a:lnTo>
                    <a:lnTo>
                      <a:pt x="243" y="289"/>
                    </a:lnTo>
                    <a:lnTo>
                      <a:pt x="238" y="286"/>
                    </a:lnTo>
                    <a:lnTo>
                      <a:pt x="231" y="281"/>
                    </a:lnTo>
                    <a:lnTo>
                      <a:pt x="224" y="277"/>
                    </a:lnTo>
                    <a:lnTo>
                      <a:pt x="218" y="273"/>
                    </a:lnTo>
                    <a:lnTo>
                      <a:pt x="211" y="269"/>
                    </a:lnTo>
                    <a:lnTo>
                      <a:pt x="204" y="264"/>
                    </a:lnTo>
                    <a:lnTo>
                      <a:pt x="198" y="260"/>
                    </a:lnTo>
                    <a:lnTo>
                      <a:pt x="191" y="256"/>
                    </a:lnTo>
                    <a:lnTo>
                      <a:pt x="186" y="252"/>
                    </a:lnTo>
                    <a:lnTo>
                      <a:pt x="179" y="248"/>
                    </a:lnTo>
                    <a:lnTo>
                      <a:pt x="173" y="245"/>
                    </a:lnTo>
                    <a:lnTo>
                      <a:pt x="166" y="241"/>
                    </a:lnTo>
                    <a:lnTo>
                      <a:pt x="160" y="238"/>
                    </a:lnTo>
                    <a:lnTo>
                      <a:pt x="155" y="237"/>
                    </a:lnTo>
                    <a:lnTo>
                      <a:pt x="150" y="234"/>
                    </a:lnTo>
                    <a:lnTo>
                      <a:pt x="144" y="231"/>
                    </a:lnTo>
                    <a:lnTo>
                      <a:pt x="140" y="229"/>
                    </a:lnTo>
                    <a:lnTo>
                      <a:pt x="136" y="230"/>
                    </a:lnTo>
                    <a:lnTo>
                      <a:pt x="131" y="231"/>
                    </a:lnTo>
                    <a:lnTo>
                      <a:pt x="128" y="231"/>
                    </a:lnTo>
                    <a:lnTo>
                      <a:pt x="123" y="229"/>
                    </a:lnTo>
                    <a:lnTo>
                      <a:pt x="123" y="237"/>
                    </a:lnTo>
                    <a:lnTo>
                      <a:pt x="121" y="246"/>
                    </a:lnTo>
                    <a:lnTo>
                      <a:pt x="124" y="254"/>
                    </a:lnTo>
                    <a:lnTo>
                      <a:pt x="127" y="263"/>
                    </a:lnTo>
                    <a:lnTo>
                      <a:pt x="130" y="271"/>
                    </a:lnTo>
                    <a:lnTo>
                      <a:pt x="132" y="280"/>
                    </a:lnTo>
                    <a:lnTo>
                      <a:pt x="135" y="290"/>
                    </a:lnTo>
                    <a:lnTo>
                      <a:pt x="138" y="302"/>
                    </a:lnTo>
                    <a:lnTo>
                      <a:pt x="139" y="311"/>
                    </a:lnTo>
                    <a:lnTo>
                      <a:pt x="142" y="321"/>
                    </a:lnTo>
                    <a:lnTo>
                      <a:pt x="143" y="330"/>
                    </a:lnTo>
                    <a:lnTo>
                      <a:pt x="145" y="342"/>
                    </a:lnTo>
                    <a:lnTo>
                      <a:pt x="148" y="355"/>
                    </a:lnTo>
                    <a:lnTo>
                      <a:pt x="150" y="373"/>
                    </a:lnTo>
                    <a:lnTo>
                      <a:pt x="130" y="373"/>
                    </a:lnTo>
                    <a:lnTo>
                      <a:pt x="128" y="357"/>
                    </a:lnTo>
                    <a:lnTo>
                      <a:pt x="127" y="346"/>
                    </a:lnTo>
                    <a:lnTo>
                      <a:pt x="124" y="332"/>
                    </a:lnTo>
                    <a:lnTo>
                      <a:pt x="122" y="319"/>
                    </a:lnTo>
                    <a:lnTo>
                      <a:pt x="120" y="308"/>
                    </a:lnTo>
                    <a:lnTo>
                      <a:pt x="118" y="298"/>
                    </a:lnTo>
                    <a:lnTo>
                      <a:pt x="116" y="290"/>
                    </a:lnTo>
                    <a:lnTo>
                      <a:pt x="113" y="279"/>
                    </a:lnTo>
                    <a:lnTo>
                      <a:pt x="109" y="269"/>
                    </a:lnTo>
                    <a:lnTo>
                      <a:pt x="107" y="260"/>
                    </a:lnTo>
                    <a:lnTo>
                      <a:pt x="104" y="258"/>
                    </a:lnTo>
                    <a:lnTo>
                      <a:pt x="101" y="256"/>
                    </a:lnTo>
                    <a:lnTo>
                      <a:pt x="98" y="254"/>
                    </a:lnTo>
                    <a:lnTo>
                      <a:pt x="96" y="255"/>
                    </a:lnTo>
                    <a:lnTo>
                      <a:pt x="93" y="260"/>
                    </a:lnTo>
                    <a:lnTo>
                      <a:pt x="87" y="268"/>
                    </a:lnTo>
                    <a:lnTo>
                      <a:pt x="83" y="274"/>
                    </a:lnTo>
                    <a:lnTo>
                      <a:pt x="79" y="280"/>
                    </a:lnTo>
                    <a:lnTo>
                      <a:pt x="76" y="288"/>
                    </a:lnTo>
                    <a:lnTo>
                      <a:pt x="72" y="293"/>
                    </a:lnTo>
                    <a:lnTo>
                      <a:pt x="68" y="301"/>
                    </a:lnTo>
                    <a:lnTo>
                      <a:pt x="64" y="309"/>
                    </a:lnTo>
                    <a:lnTo>
                      <a:pt x="61" y="318"/>
                    </a:lnTo>
                    <a:lnTo>
                      <a:pt x="57" y="327"/>
                    </a:lnTo>
                    <a:lnTo>
                      <a:pt x="53" y="337"/>
                    </a:lnTo>
                    <a:lnTo>
                      <a:pt x="49" y="348"/>
                    </a:lnTo>
                    <a:lnTo>
                      <a:pt x="44" y="360"/>
                    </a:lnTo>
                    <a:lnTo>
                      <a:pt x="46" y="346"/>
                    </a:lnTo>
                    <a:lnTo>
                      <a:pt x="47" y="336"/>
                    </a:lnTo>
                    <a:lnTo>
                      <a:pt x="48" y="325"/>
                    </a:lnTo>
                    <a:lnTo>
                      <a:pt x="50" y="319"/>
                    </a:lnTo>
                    <a:lnTo>
                      <a:pt x="51" y="314"/>
                    </a:lnTo>
                    <a:lnTo>
                      <a:pt x="54" y="305"/>
                    </a:lnTo>
                    <a:lnTo>
                      <a:pt x="57" y="295"/>
                    </a:lnTo>
                    <a:lnTo>
                      <a:pt x="59" y="288"/>
                    </a:lnTo>
                    <a:lnTo>
                      <a:pt x="64" y="280"/>
                    </a:lnTo>
                    <a:lnTo>
                      <a:pt x="69" y="272"/>
                    </a:lnTo>
                    <a:lnTo>
                      <a:pt x="73" y="263"/>
                    </a:lnTo>
                    <a:lnTo>
                      <a:pt x="78" y="254"/>
                    </a:lnTo>
                    <a:lnTo>
                      <a:pt x="81" y="249"/>
                    </a:lnTo>
                    <a:lnTo>
                      <a:pt x="86" y="244"/>
                    </a:lnTo>
                    <a:lnTo>
                      <a:pt x="91" y="238"/>
                    </a:lnTo>
                    <a:lnTo>
                      <a:pt x="95" y="232"/>
                    </a:lnTo>
                    <a:lnTo>
                      <a:pt x="100" y="226"/>
                    </a:lnTo>
                    <a:lnTo>
                      <a:pt x="105" y="218"/>
                    </a:lnTo>
                    <a:lnTo>
                      <a:pt x="103" y="216"/>
                    </a:lnTo>
                    <a:lnTo>
                      <a:pt x="99" y="212"/>
                    </a:lnTo>
                    <a:lnTo>
                      <a:pt x="96" y="210"/>
                    </a:lnTo>
                    <a:lnTo>
                      <a:pt x="93" y="211"/>
                    </a:lnTo>
                    <a:lnTo>
                      <a:pt x="87" y="216"/>
                    </a:lnTo>
                    <a:lnTo>
                      <a:pt x="82" y="221"/>
                    </a:lnTo>
                    <a:lnTo>
                      <a:pt x="77" y="226"/>
                    </a:lnTo>
                    <a:lnTo>
                      <a:pt x="72" y="232"/>
                    </a:lnTo>
                    <a:lnTo>
                      <a:pt x="67" y="241"/>
                    </a:lnTo>
                    <a:lnTo>
                      <a:pt x="61" y="249"/>
                    </a:lnTo>
                    <a:lnTo>
                      <a:pt x="56" y="255"/>
                    </a:lnTo>
                    <a:lnTo>
                      <a:pt x="52" y="261"/>
                    </a:lnTo>
                    <a:lnTo>
                      <a:pt x="47" y="268"/>
                    </a:lnTo>
                    <a:lnTo>
                      <a:pt x="42" y="276"/>
                    </a:lnTo>
                    <a:lnTo>
                      <a:pt x="38" y="284"/>
                    </a:lnTo>
                    <a:lnTo>
                      <a:pt x="33" y="293"/>
                    </a:lnTo>
                    <a:lnTo>
                      <a:pt x="28" y="301"/>
                    </a:lnTo>
                    <a:lnTo>
                      <a:pt x="24" y="310"/>
                    </a:lnTo>
                    <a:lnTo>
                      <a:pt x="18" y="321"/>
                    </a:lnTo>
                    <a:lnTo>
                      <a:pt x="21" y="307"/>
                    </a:lnTo>
                    <a:lnTo>
                      <a:pt x="22" y="297"/>
                    </a:lnTo>
                    <a:lnTo>
                      <a:pt x="24" y="288"/>
                    </a:lnTo>
                    <a:lnTo>
                      <a:pt x="25" y="286"/>
                    </a:lnTo>
                    <a:lnTo>
                      <a:pt x="28" y="281"/>
                    </a:lnTo>
                    <a:lnTo>
                      <a:pt x="32" y="275"/>
                    </a:lnTo>
                    <a:lnTo>
                      <a:pt x="37" y="269"/>
                    </a:lnTo>
                    <a:lnTo>
                      <a:pt x="42" y="262"/>
                    </a:lnTo>
                    <a:lnTo>
                      <a:pt x="47" y="256"/>
                    </a:lnTo>
                    <a:lnTo>
                      <a:pt x="54" y="248"/>
                    </a:lnTo>
                    <a:lnTo>
                      <a:pt x="58" y="243"/>
                    </a:lnTo>
                    <a:lnTo>
                      <a:pt x="64" y="236"/>
                    </a:lnTo>
                    <a:lnTo>
                      <a:pt x="71" y="229"/>
                    </a:lnTo>
                    <a:lnTo>
                      <a:pt x="77" y="224"/>
                    </a:lnTo>
                    <a:lnTo>
                      <a:pt x="83" y="218"/>
                    </a:lnTo>
                    <a:lnTo>
                      <a:pt x="93" y="210"/>
                    </a:lnTo>
                    <a:lnTo>
                      <a:pt x="98" y="208"/>
                    </a:lnTo>
                    <a:lnTo>
                      <a:pt x="101" y="206"/>
                    </a:lnTo>
                    <a:lnTo>
                      <a:pt x="95" y="202"/>
                    </a:lnTo>
                    <a:lnTo>
                      <a:pt x="90" y="196"/>
                    </a:lnTo>
                    <a:lnTo>
                      <a:pt x="84" y="190"/>
                    </a:lnTo>
                    <a:lnTo>
                      <a:pt x="79" y="185"/>
                    </a:lnTo>
                    <a:lnTo>
                      <a:pt x="73" y="180"/>
                    </a:lnTo>
                    <a:lnTo>
                      <a:pt x="69" y="176"/>
                    </a:lnTo>
                    <a:lnTo>
                      <a:pt x="65" y="170"/>
                    </a:lnTo>
                    <a:lnTo>
                      <a:pt x="58" y="163"/>
                    </a:lnTo>
                    <a:lnTo>
                      <a:pt x="52" y="156"/>
                    </a:lnTo>
                    <a:lnTo>
                      <a:pt x="46" y="148"/>
                    </a:lnTo>
                    <a:lnTo>
                      <a:pt x="39" y="141"/>
                    </a:lnTo>
                    <a:lnTo>
                      <a:pt x="33" y="136"/>
                    </a:lnTo>
                    <a:lnTo>
                      <a:pt x="26" y="129"/>
                    </a:lnTo>
                    <a:lnTo>
                      <a:pt x="22" y="125"/>
                    </a:lnTo>
                    <a:lnTo>
                      <a:pt x="17" y="118"/>
                    </a:lnTo>
                    <a:lnTo>
                      <a:pt x="14" y="112"/>
                    </a:lnTo>
                    <a:lnTo>
                      <a:pt x="10" y="108"/>
                    </a:lnTo>
                    <a:lnTo>
                      <a:pt x="4" y="102"/>
                    </a:lnTo>
                    <a:lnTo>
                      <a:pt x="0" y="98"/>
                    </a:lnTo>
                    <a:lnTo>
                      <a:pt x="3" y="98"/>
                    </a:lnTo>
                    <a:lnTo>
                      <a:pt x="9" y="100"/>
                    </a:lnTo>
                    <a:lnTo>
                      <a:pt x="14" y="101"/>
                    </a:lnTo>
                    <a:lnTo>
                      <a:pt x="20" y="104"/>
                    </a:lnTo>
                    <a:lnTo>
                      <a:pt x="25" y="109"/>
                    </a:lnTo>
                    <a:lnTo>
                      <a:pt x="32" y="115"/>
                    </a:lnTo>
                    <a:lnTo>
                      <a:pt x="38" y="120"/>
                    </a:lnTo>
                    <a:lnTo>
                      <a:pt x="45" y="125"/>
                    </a:lnTo>
                    <a:lnTo>
                      <a:pt x="51" y="132"/>
                    </a:lnTo>
                    <a:lnTo>
                      <a:pt x="58" y="139"/>
                    </a:lnTo>
                    <a:lnTo>
                      <a:pt x="64" y="145"/>
                    </a:lnTo>
                  </a:path>
                </a:pathLst>
              </a:custGeom>
              <a:solidFill>
                <a:srgbClr val="037C03">
                  <a:alpha val="50195"/>
                </a:srgbClr>
              </a:solidFill>
              <a:ln w="9525">
                <a:noFill/>
              </a:ln>
            </p:spPr>
            <p:txBody>
              <a:bodyPr/>
              <a:lstStyle/>
              <a:p>
                <a:endParaRPr lang="zh-CN" altLang="en-US"/>
              </a:p>
            </p:txBody>
          </p:sp>
        </p:grpSp>
        <p:grpSp>
          <p:nvGrpSpPr>
            <p:cNvPr id="89148" name="Group 177"/>
            <p:cNvGrpSpPr/>
            <p:nvPr/>
          </p:nvGrpSpPr>
          <p:grpSpPr>
            <a:xfrm>
              <a:off x="300" y="3360"/>
              <a:ext cx="508" cy="820"/>
              <a:chOff x="1985" y="1201"/>
              <a:chExt cx="508" cy="820"/>
            </a:xfrm>
          </p:grpSpPr>
          <p:grpSp>
            <p:nvGrpSpPr>
              <p:cNvPr id="89149" name="Group 178"/>
              <p:cNvGrpSpPr/>
              <p:nvPr/>
            </p:nvGrpSpPr>
            <p:grpSpPr>
              <a:xfrm>
                <a:off x="2247" y="1201"/>
                <a:ext cx="246" cy="810"/>
                <a:chOff x="2247" y="1201"/>
                <a:chExt cx="246" cy="810"/>
              </a:xfrm>
            </p:grpSpPr>
            <p:sp>
              <p:nvSpPr>
                <p:cNvPr id="89158" name="Freeform 179"/>
                <p:cNvSpPr/>
                <p:nvPr/>
              </p:nvSpPr>
              <p:spPr>
                <a:xfrm>
                  <a:off x="2392" y="1373"/>
                  <a:ext cx="92" cy="638"/>
                </a:xfrm>
                <a:custGeom>
                  <a:avLst/>
                  <a:gdLst>
                    <a:gd name="txL" fmla="*/ 0 w 92"/>
                    <a:gd name="txT" fmla="*/ 0 h 638"/>
                    <a:gd name="txR" fmla="*/ 92 w 92"/>
                    <a:gd name="txB" fmla="*/ 638 h 638"/>
                  </a:gdLst>
                  <a:ahLst/>
                  <a:cxnLst>
                    <a:cxn ang="0">
                      <a:pos x="91" y="296"/>
                    </a:cxn>
                    <a:cxn ang="0">
                      <a:pos x="83" y="425"/>
                    </a:cxn>
                    <a:cxn ang="0">
                      <a:pos x="75" y="529"/>
                    </a:cxn>
                    <a:cxn ang="0">
                      <a:pos x="70" y="606"/>
                    </a:cxn>
                    <a:cxn ang="0">
                      <a:pos x="71" y="637"/>
                    </a:cxn>
                    <a:cxn ang="0">
                      <a:pos x="60" y="637"/>
                    </a:cxn>
                    <a:cxn ang="0">
                      <a:pos x="57" y="592"/>
                    </a:cxn>
                    <a:cxn ang="0">
                      <a:pos x="55" y="524"/>
                    </a:cxn>
                    <a:cxn ang="0">
                      <a:pos x="51" y="461"/>
                    </a:cxn>
                    <a:cxn ang="0">
                      <a:pos x="49" y="414"/>
                    </a:cxn>
                    <a:cxn ang="0">
                      <a:pos x="45" y="345"/>
                    </a:cxn>
                    <a:cxn ang="0">
                      <a:pos x="40" y="285"/>
                    </a:cxn>
                    <a:cxn ang="0">
                      <a:pos x="35" y="233"/>
                    </a:cxn>
                    <a:cxn ang="0">
                      <a:pos x="31" y="177"/>
                    </a:cxn>
                    <a:cxn ang="0">
                      <a:pos x="24" y="121"/>
                    </a:cxn>
                    <a:cxn ang="0">
                      <a:pos x="17" y="74"/>
                    </a:cxn>
                    <a:cxn ang="0">
                      <a:pos x="4" y="28"/>
                    </a:cxn>
                    <a:cxn ang="0">
                      <a:pos x="0" y="10"/>
                    </a:cxn>
                    <a:cxn ang="0">
                      <a:pos x="5" y="0"/>
                    </a:cxn>
                    <a:cxn ang="0">
                      <a:pos x="13" y="18"/>
                    </a:cxn>
                    <a:cxn ang="0">
                      <a:pos x="24" y="61"/>
                    </a:cxn>
                    <a:cxn ang="0">
                      <a:pos x="33" y="104"/>
                    </a:cxn>
                    <a:cxn ang="0">
                      <a:pos x="40" y="150"/>
                    </a:cxn>
                    <a:cxn ang="0">
                      <a:pos x="44" y="208"/>
                    </a:cxn>
                    <a:cxn ang="0">
                      <a:pos x="48" y="263"/>
                    </a:cxn>
                    <a:cxn ang="0">
                      <a:pos x="55" y="337"/>
                    </a:cxn>
                    <a:cxn ang="0">
                      <a:pos x="59" y="398"/>
                    </a:cxn>
                    <a:cxn ang="0">
                      <a:pos x="61" y="447"/>
                    </a:cxn>
                    <a:cxn ang="0">
                      <a:pos x="63" y="498"/>
                    </a:cxn>
                    <a:cxn ang="0">
                      <a:pos x="68" y="550"/>
                    </a:cxn>
                    <a:cxn ang="0">
                      <a:pos x="73" y="460"/>
                    </a:cxn>
                    <a:cxn ang="0">
                      <a:pos x="80" y="376"/>
                    </a:cxn>
                    <a:cxn ang="0">
                      <a:pos x="91" y="296"/>
                    </a:cxn>
                  </a:cxnLst>
                  <a:rect l="txL" t="txT" r="txR" b="txB"/>
                  <a:pathLst>
                    <a:path w="92" h="638">
                      <a:moveTo>
                        <a:pt x="91" y="296"/>
                      </a:moveTo>
                      <a:lnTo>
                        <a:pt x="83" y="425"/>
                      </a:lnTo>
                      <a:lnTo>
                        <a:pt x="75" y="529"/>
                      </a:lnTo>
                      <a:lnTo>
                        <a:pt x="70" y="606"/>
                      </a:lnTo>
                      <a:lnTo>
                        <a:pt x="71" y="637"/>
                      </a:lnTo>
                      <a:lnTo>
                        <a:pt x="60" y="637"/>
                      </a:lnTo>
                      <a:lnTo>
                        <a:pt x="57" y="592"/>
                      </a:lnTo>
                      <a:lnTo>
                        <a:pt x="55" y="524"/>
                      </a:lnTo>
                      <a:lnTo>
                        <a:pt x="51" y="461"/>
                      </a:lnTo>
                      <a:lnTo>
                        <a:pt x="49" y="414"/>
                      </a:lnTo>
                      <a:lnTo>
                        <a:pt x="45" y="345"/>
                      </a:lnTo>
                      <a:lnTo>
                        <a:pt x="40" y="285"/>
                      </a:lnTo>
                      <a:lnTo>
                        <a:pt x="35" y="233"/>
                      </a:lnTo>
                      <a:lnTo>
                        <a:pt x="31" y="177"/>
                      </a:lnTo>
                      <a:lnTo>
                        <a:pt x="24" y="121"/>
                      </a:lnTo>
                      <a:lnTo>
                        <a:pt x="17" y="74"/>
                      </a:lnTo>
                      <a:lnTo>
                        <a:pt x="4" y="28"/>
                      </a:lnTo>
                      <a:lnTo>
                        <a:pt x="0" y="10"/>
                      </a:lnTo>
                      <a:lnTo>
                        <a:pt x="5" y="0"/>
                      </a:lnTo>
                      <a:lnTo>
                        <a:pt x="13" y="18"/>
                      </a:lnTo>
                      <a:lnTo>
                        <a:pt x="24" y="61"/>
                      </a:lnTo>
                      <a:lnTo>
                        <a:pt x="33" y="104"/>
                      </a:lnTo>
                      <a:lnTo>
                        <a:pt x="40" y="150"/>
                      </a:lnTo>
                      <a:lnTo>
                        <a:pt x="44" y="208"/>
                      </a:lnTo>
                      <a:lnTo>
                        <a:pt x="48" y="263"/>
                      </a:lnTo>
                      <a:lnTo>
                        <a:pt x="55" y="337"/>
                      </a:lnTo>
                      <a:lnTo>
                        <a:pt x="59" y="398"/>
                      </a:lnTo>
                      <a:lnTo>
                        <a:pt x="61" y="447"/>
                      </a:lnTo>
                      <a:lnTo>
                        <a:pt x="63" y="498"/>
                      </a:lnTo>
                      <a:lnTo>
                        <a:pt x="68" y="550"/>
                      </a:lnTo>
                      <a:lnTo>
                        <a:pt x="73" y="460"/>
                      </a:lnTo>
                      <a:lnTo>
                        <a:pt x="80" y="376"/>
                      </a:lnTo>
                      <a:lnTo>
                        <a:pt x="91" y="296"/>
                      </a:lnTo>
                    </a:path>
                  </a:pathLst>
                </a:custGeom>
                <a:solidFill>
                  <a:srgbClr val="3C0023">
                    <a:alpha val="50195"/>
                  </a:srgbClr>
                </a:solidFill>
                <a:ln w="9525">
                  <a:noFill/>
                </a:ln>
              </p:spPr>
              <p:txBody>
                <a:bodyPr/>
                <a:lstStyle/>
                <a:p>
                  <a:endParaRPr lang="zh-CN" altLang="en-US"/>
                </a:p>
              </p:txBody>
            </p:sp>
            <p:sp>
              <p:nvSpPr>
                <p:cNvPr id="89159" name="Freeform 180"/>
                <p:cNvSpPr/>
                <p:nvPr/>
              </p:nvSpPr>
              <p:spPr>
                <a:xfrm>
                  <a:off x="2247" y="1201"/>
                  <a:ext cx="246" cy="466"/>
                </a:xfrm>
                <a:custGeom>
                  <a:avLst/>
                  <a:gdLst>
                    <a:gd name="txL" fmla="*/ 0 w 246"/>
                    <a:gd name="txT" fmla="*/ 0 h 466"/>
                    <a:gd name="txR" fmla="*/ 246 w 246"/>
                    <a:gd name="txB" fmla="*/ 466 h 466"/>
                  </a:gdLst>
                  <a:ahLst/>
                  <a:cxnLst>
                    <a:cxn ang="0">
                      <a:pos x="136" y="67"/>
                    </a:cxn>
                    <a:cxn ang="0">
                      <a:pos x="105" y="12"/>
                    </a:cxn>
                    <a:cxn ang="0">
                      <a:pos x="55" y="1"/>
                    </a:cxn>
                    <a:cxn ang="0">
                      <a:pos x="58" y="12"/>
                    </a:cxn>
                    <a:cxn ang="0">
                      <a:pos x="96" y="39"/>
                    </a:cxn>
                    <a:cxn ang="0">
                      <a:pos x="130" y="134"/>
                    </a:cxn>
                    <a:cxn ang="0">
                      <a:pos x="73" y="85"/>
                    </a:cxn>
                    <a:cxn ang="0">
                      <a:pos x="32" y="75"/>
                    </a:cxn>
                    <a:cxn ang="0">
                      <a:pos x="7" y="103"/>
                    </a:cxn>
                    <a:cxn ang="0">
                      <a:pos x="38" y="103"/>
                    </a:cxn>
                    <a:cxn ang="0">
                      <a:pos x="108" y="129"/>
                    </a:cxn>
                    <a:cxn ang="0">
                      <a:pos x="104" y="146"/>
                    </a:cxn>
                    <a:cxn ang="0">
                      <a:pos x="92" y="171"/>
                    </a:cxn>
                    <a:cxn ang="0">
                      <a:pos x="126" y="170"/>
                    </a:cxn>
                    <a:cxn ang="0">
                      <a:pos x="69" y="193"/>
                    </a:cxn>
                    <a:cxn ang="0">
                      <a:pos x="37" y="233"/>
                    </a:cxn>
                    <a:cxn ang="0">
                      <a:pos x="6" y="325"/>
                    </a:cxn>
                    <a:cxn ang="0">
                      <a:pos x="72" y="231"/>
                    </a:cxn>
                    <a:cxn ang="0">
                      <a:pos x="118" y="194"/>
                    </a:cxn>
                    <a:cxn ang="0">
                      <a:pos x="94" y="269"/>
                    </a:cxn>
                    <a:cxn ang="0">
                      <a:pos x="76" y="338"/>
                    </a:cxn>
                    <a:cxn ang="0">
                      <a:pos x="71" y="408"/>
                    </a:cxn>
                    <a:cxn ang="0">
                      <a:pos x="98" y="303"/>
                    </a:cxn>
                    <a:cxn ang="0">
                      <a:pos x="124" y="236"/>
                    </a:cxn>
                    <a:cxn ang="0">
                      <a:pos x="125" y="214"/>
                    </a:cxn>
                    <a:cxn ang="0">
                      <a:pos x="118" y="323"/>
                    </a:cxn>
                    <a:cxn ang="0">
                      <a:pos x="138" y="439"/>
                    </a:cxn>
                    <a:cxn ang="0">
                      <a:pos x="128" y="313"/>
                    </a:cxn>
                    <a:cxn ang="0">
                      <a:pos x="127" y="223"/>
                    </a:cxn>
                    <a:cxn ang="0">
                      <a:pos x="147" y="189"/>
                    </a:cxn>
                    <a:cxn ang="0">
                      <a:pos x="188" y="298"/>
                    </a:cxn>
                    <a:cxn ang="0">
                      <a:pos x="223" y="411"/>
                    </a:cxn>
                    <a:cxn ang="0">
                      <a:pos x="193" y="292"/>
                    </a:cxn>
                    <a:cxn ang="0">
                      <a:pos x="160" y="190"/>
                    </a:cxn>
                    <a:cxn ang="0">
                      <a:pos x="164" y="121"/>
                    </a:cxn>
                    <a:cxn ang="0">
                      <a:pos x="194" y="130"/>
                    </a:cxn>
                    <a:cxn ang="0">
                      <a:pos x="240" y="125"/>
                    </a:cxn>
                    <a:cxn ang="0">
                      <a:pos x="216" y="122"/>
                    </a:cxn>
                    <a:cxn ang="0">
                      <a:pos x="163" y="144"/>
                    </a:cxn>
                    <a:cxn ang="0">
                      <a:pos x="194" y="109"/>
                    </a:cxn>
                    <a:cxn ang="0">
                      <a:pos x="244" y="101"/>
                    </a:cxn>
                    <a:cxn ang="0">
                      <a:pos x="229" y="88"/>
                    </a:cxn>
                    <a:cxn ang="0">
                      <a:pos x="163" y="138"/>
                    </a:cxn>
                    <a:cxn ang="0">
                      <a:pos x="172" y="99"/>
                    </a:cxn>
                    <a:cxn ang="0">
                      <a:pos x="226" y="61"/>
                    </a:cxn>
                    <a:cxn ang="0">
                      <a:pos x="188" y="82"/>
                    </a:cxn>
                    <a:cxn ang="0">
                      <a:pos x="147" y="109"/>
                    </a:cxn>
                  </a:cxnLst>
                  <a:rect l="txL" t="txT" r="txR" b="txB"/>
                  <a:pathLst>
                    <a:path w="246" h="466">
                      <a:moveTo>
                        <a:pt x="147" y="109"/>
                      </a:moveTo>
                      <a:lnTo>
                        <a:pt x="143" y="88"/>
                      </a:lnTo>
                      <a:lnTo>
                        <a:pt x="136" y="67"/>
                      </a:lnTo>
                      <a:lnTo>
                        <a:pt x="127" y="44"/>
                      </a:lnTo>
                      <a:lnTo>
                        <a:pt x="117" y="27"/>
                      </a:lnTo>
                      <a:lnTo>
                        <a:pt x="105" y="12"/>
                      </a:lnTo>
                      <a:lnTo>
                        <a:pt x="89" y="5"/>
                      </a:lnTo>
                      <a:lnTo>
                        <a:pt x="69" y="0"/>
                      </a:lnTo>
                      <a:lnTo>
                        <a:pt x="55" y="1"/>
                      </a:lnTo>
                      <a:lnTo>
                        <a:pt x="39" y="0"/>
                      </a:lnTo>
                      <a:lnTo>
                        <a:pt x="49" y="11"/>
                      </a:lnTo>
                      <a:lnTo>
                        <a:pt x="58" y="12"/>
                      </a:lnTo>
                      <a:lnTo>
                        <a:pt x="69" y="19"/>
                      </a:lnTo>
                      <a:lnTo>
                        <a:pt x="80" y="25"/>
                      </a:lnTo>
                      <a:lnTo>
                        <a:pt x="96" y="39"/>
                      </a:lnTo>
                      <a:lnTo>
                        <a:pt x="109" y="58"/>
                      </a:lnTo>
                      <a:lnTo>
                        <a:pt x="118" y="82"/>
                      </a:lnTo>
                      <a:lnTo>
                        <a:pt x="130" y="134"/>
                      </a:lnTo>
                      <a:lnTo>
                        <a:pt x="96" y="99"/>
                      </a:lnTo>
                      <a:lnTo>
                        <a:pt x="85" y="91"/>
                      </a:lnTo>
                      <a:lnTo>
                        <a:pt x="73" y="85"/>
                      </a:lnTo>
                      <a:lnTo>
                        <a:pt x="61" y="83"/>
                      </a:lnTo>
                      <a:lnTo>
                        <a:pt x="54" y="80"/>
                      </a:lnTo>
                      <a:lnTo>
                        <a:pt x="32" y="75"/>
                      </a:lnTo>
                      <a:lnTo>
                        <a:pt x="0" y="72"/>
                      </a:lnTo>
                      <a:lnTo>
                        <a:pt x="0" y="103"/>
                      </a:lnTo>
                      <a:lnTo>
                        <a:pt x="7" y="103"/>
                      </a:lnTo>
                      <a:lnTo>
                        <a:pt x="17" y="104"/>
                      </a:lnTo>
                      <a:lnTo>
                        <a:pt x="29" y="103"/>
                      </a:lnTo>
                      <a:lnTo>
                        <a:pt x="38" y="103"/>
                      </a:lnTo>
                      <a:lnTo>
                        <a:pt x="62" y="107"/>
                      </a:lnTo>
                      <a:lnTo>
                        <a:pt x="72" y="111"/>
                      </a:lnTo>
                      <a:lnTo>
                        <a:pt x="108" y="129"/>
                      </a:lnTo>
                      <a:lnTo>
                        <a:pt x="127" y="144"/>
                      </a:lnTo>
                      <a:lnTo>
                        <a:pt x="113" y="146"/>
                      </a:lnTo>
                      <a:lnTo>
                        <a:pt x="104" y="146"/>
                      </a:lnTo>
                      <a:lnTo>
                        <a:pt x="89" y="161"/>
                      </a:lnTo>
                      <a:lnTo>
                        <a:pt x="82" y="183"/>
                      </a:lnTo>
                      <a:lnTo>
                        <a:pt x="92" y="171"/>
                      </a:lnTo>
                      <a:lnTo>
                        <a:pt x="120" y="155"/>
                      </a:lnTo>
                      <a:lnTo>
                        <a:pt x="137" y="162"/>
                      </a:lnTo>
                      <a:lnTo>
                        <a:pt x="126" y="170"/>
                      </a:lnTo>
                      <a:lnTo>
                        <a:pt x="113" y="171"/>
                      </a:lnTo>
                      <a:lnTo>
                        <a:pt x="79" y="189"/>
                      </a:lnTo>
                      <a:lnTo>
                        <a:pt x="69" y="193"/>
                      </a:lnTo>
                      <a:lnTo>
                        <a:pt x="57" y="199"/>
                      </a:lnTo>
                      <a:lnTo>
                        <a:pt x="48" y="209"/>
                      </a:lnTo>
                      <a:lnTo>
                        <a:pt x="37" y="233"/>
                      </a:lnTo>
                      <a:lnTo>
                        <a:pt x="31" y="251"/>
                      </a:lnTo>
                      <a:lnTo>
                        <a:pt x="13" y="310"/>
                      </a:lnTo>
                      <a:lnTo>
                        <a:pt x="6" y="325"/>
                      </a:lnTo>
                      <a:lnTo>
                        <a:pt x="36" y="281"/>
                      </a:lnTo>
                      <a:lnTo>
                        <a:pt x="50" y="265"/>
                      </a:lnTo>
                      <a:lnTo>
                        <a:pt x="72" y="231"/>
                      </a:lnTo>
                      <a:lnTo>
                        <a:pt x="83" y="218"/>
                      </a:lnTo>
                      <a:lnTo>
                        <a:pt x="92" y="209"/>
                      </a:lnTo>
                      <a:lnTo>
                        <a:pt x="118" y="194"/>
                      </a:lnTo>
                      <a:lnTo>
                        <a:pt x="132" y="181"/>
                      </a:lnTo>
                      <a:lnTo>
                        <a:pt x="121" y="195"/>
                      </a:lnTo>
                      <a:lnTo>
                        <a:pt x="94" y="269"/>
                      </a:lnTo>
                      <a:lnTo>
                        <a:pt x="84" y="302"/>
                      </a:lnTo>
                      <a:lnTo>
                        <a:pt x="79" y="320"/>
                      </a:lnTo>
                      <a:lnTo>
                        <a:pt x="76" y="338"/>
                      </a:lnTo>
                      <a:lnTo>
                        <a:pt x="75" y="359"/>
                      </a:lnTo>
                      <a:lnTo>
                        <a:pt x="74" y="375"/>
                      </a:lnTo>
                      <a:lnTo>
                        <a:pt x="71" y="408"/>
                      </a:lnTo>
                      <a:lnTo>
                        <a:pt x="84" y="375"/>
                      </a:lnTo>
                      <a:lnTo>
                        <a:pt x="92" y="330"/>
                      </a:lnTo>
                      <a:lnTo>
                        <a:pt x="98" y="303"/>
                      </a:lnTo>
                      <a:lnTo>
                        <a:pt x="104" y="286"/>
                      </a:lnTo>
                      <a:lnTo>
                        <a:pt x="118" y="252"/>
                      </a:lnTo>
                      <a:lnTo>
                        <a:pt x="124" y="236"/>
                      </a:lnTo>
                      <a:lnTo>
                        <a:pt x="128" y="216"/>
                      </a:lnTo>
                      <a:lnTo>
                        <a:pt x="137" y="188"/>
                      </a:lnTo>
                      <a:lnTo>
                        <a:pt x="125" y="214"/>
                      </a:lnTo>
                      <a:lnTo>
                        <a:pt x="119" y="243"/>
                      </a:lnTo>
                      <a:lnTo>
                        <a:pt x="117" y="302"/>
                      </a:lnTo>
                      <a:lnTo>
                        <a:pt x="118" y="323"/>
                      </a:lnTo>
                      <a:lnTo>
                        <a:pt x="120" y="362"/>
                      </a:lnTo>
                      <a:lnTo>
                        <a:pt x="123" y="377"/>
                      </a:lnTo>
                      <a:lnTo>
                        <a:pt x="138" y="439"/>
                      </a:lnTo>
                      <a:lnTo>
                        <a:pt x="141" y="465"/>
                      </a:lnTo>
                      <a:lnTo>
                        <a:pt x="137" y="379"/>
                      </a:lnTo>
                      <a:lnTo>
                        <a:pt x="128" y="313"/>
                      </a:lnTo>
                      <a:lnTo>
                        <a:pt x="126" y="291"/>
                      </a:lnTo>
                      <a:lnTo>
                        <a:pt x="125" y="238"/>
                      </a:lnTo>
                      <a:lnTo>
                        <a:pt x="127" y="223"/>
                      </a:lnTo>
                      <a:lnTo>
                        <a:pt x="133" y="196"/>
                      </a:lnTo>
                      <a:lnTo>
                        <a:pt x="138" y="179"/>
                      </a:lnTo>
                      <a:lnTo>
                        <a:pt x="147" y="189"/>
                      </a:lnTo>
                      <a:lnTo>
                        <a:pt x="161" y="212"/>
                      </a:lnTo>
                      <a:lnTo>
                        <a:pt x="177" y="259"/>
                      </a:lnTo>
                      <a:lnTo>
                        <a:pt x="188" y="298"/>
                      </a:lnTo>
                      <a:lnTo>
                        <a:pt x="197" y="333"/>
                      </a:lnTo>
                      <a:lnTo>
                        <a:pt x="213" y="384"/>
                      </a:lnTo>
                      <a:lnTo>
                        <a:pt x="223" y="411"/>
                      </a:lnTo>
                      <a:lnTo>
                        <a:pt x="232" y="429"/>
                      </a:lnTo>
                      <a:lnTo>
                        <a:pt x="228" y="403"/>
                      </a:lnTo>
                      <a:lnTo>
                        <a:pt x="193" y="292"/>
                      </a:lnTo>
                      <a:lnTo>
                        <a:pt x="171" y="232"/>
                      </a:lnTo>
                      <a:lnTo>
                        <a:pt x="165" y="210"/>
                      </a:lnTo>
                      <a:lnTo>
                        <a:pt x="160" y="190"/>
                      </a:lnTo>
                      <a:lnTo>
                        <a:pt x="144" y="150"/>
                      </a:lnTo>
                      <a:lnTo>
                        <a:pt x="147" y="132"/>
                      </a:lnTo>
                      <a:lnTo>
                        <a:pt x="164" y="121"/>
                      </a:lnTo>
                      <a:lnTo>
                        <a:pt x="172" y="125"/>
                      </a:lnTo>
                      <a:lnTo>
                        <a:pt x="183" y="126"/>
                      </a:lnTo>
                      <a:lnTo>
                        <a:pt x="194" y="130"/>
                      </a:lnTo>
                      <a:lnTo>
                        <a:pt x="239" y="136"/>
                      </a:lnTo>
                      <a:lnTo>
                        <a:pt x="236" y="136"/>
                      </a:lnTo>
                      <a:lnTo>
                        <a:pt x="240" y="125"/>
                      </a:lnTo>
                      <a:lnTo>
                        <a:pt x="242" y="125"/>
                      </a:lnTo>
                      <a:lnTo>
                        <a:pt x="230" y="122"/>
                      </a:lnTo>
                      <a:lnTo>
                        <a:pt x="216" y="122"/>
                      </a:lnTo>
                      <a:lnTo>
                        <a:pt x="199" y="127"/>
                      </a:lnTo>
                      <a:lnTo>
                        <a:pt x="180" y="135"/>
                      </a:lnTo>
                      <a:lnTo>
                        <a:pt x="163" y="144"/>
                      </a:lnTo>
                      <a:lnTo>
                        <a:pt x="150" y="149"/>
                      </a:lnTo>
                      <a:lnTo>
                        <a:pt x="168" y="129"/>
                      </a:lnTo>
                      <a:lnTo>
                        <a:pt x="194" y="109"/>
                      </a:lnTo>
                      <a:lnTo>
                        <a:pt x="220" y="100"/>
                      </a:lnTo>
                      <a:lnTo>
                        <a:pt x="232" y="100"/>
                      </a:lnTo>
                      <a:lnTo>
                        <a:pt x="244" y="101"/>
                      </a:lnTo>
                      <a:lnTo>
                        <a:pt x="239" y="101"/>
                      </a:lnTo>
                      <a:lnTo>
                        <a:pt x="245" y="85"/>
                      </a:lnTo>
                      <a:lnTo>
                        <a:pt x="229" y="88"/>
                      </a:lnTo>
                      <a:lnTo>
                        <a:pt x="212" y="97"/>
                      </a:lnTo>
                      <a:lnTo>
                        <a:pt x="193" y="111"/>
                      </a:lnTo>
                      <a:lnTo>
                        <a:pt x="163" y="138"/>
                      </a:lnTo>
                      <a:lnTo>
                        <a:pt x="150" y="149"/>
                      </a:lnTo>
                      <a:lnTo>
                        <a:pt x="157" y="114"/>
                      </a:lnTo>
                      <a:lnTo>
                        <a:pt x="172" y="99"/>
                      </a:lnTo>
                      <a:lnTo>
                        <a:pt x="190" y="85"/>
                      </a:lnTo>
                      <a:lnTo>
                        <a:pt x="214" y="67"/>
                      </a:lnTo>
                      <a:lnTo>
                        <a:pt x="226" y="61"/>
                      </a:lnTo>
                      <a:lnTo>
                        <a:pt x="212" y="57"/>
                      </a:lnTo>
                      <a:lnTo>
                        <a:pt x="200" y="67"/>
                      </a:lnTo>
                      <a:lnTo>
                        <a:pt x="188" y="82"/>
                      </a:lnTo>
                      <a:lnTo>
                        <a:pt x="178" y="93"/>
                      </a:lnTo>
                      <a:lnTo>
                        <a:pt x="163" y="115"/>
                      </a:lnTo>
                      <a:lnTo>
                        <a:pt x="147" y="109"/>
                      </a:lnTo>
                    </a:path>
                  </a:pathLst>
                </a:custGeom>
                <a:solidFill>
                  <a:srgbClr val="037C03">
                    <a:alpha val="50195"/>
                  </a:srgbClr>
                </a:solidFill>
                <a:ln w="9525">
                  <a:noFill/>
                </a:ln>
              </p:spPr>
              <p:txBody>
                <a:bodyPr/>
                <a:lstStyle/>
                <a:p>
                  <a:endParaRPr lang="zh-CN" altLang="en-US"/>
                </a:p>
              </p:txBody>
            </p:sp>
          </p:grpSp>
          <p:grpSp>
            <p:nvGrpSpPr>
              <p:cNvPr id="89150" name="Group 181"/>
              <p:cNvGrpSpPr/>
              <p:nvPr/>
            </p:nvGrpSpPr>
            <p:grpSpPr>
              <a:xfrm>
                <a:off x="1985" y="1419"/>
                <a:ext cx="465" cy="602"/>
                <a:chOff x="1985" y="1419"/>
                <a:chExt cx="465" cy="602"/>
              </a:xfrm>
            </p:grpSpPr>
            <p:sp>
              <p:nvSpPr>
                <p:cNvPr id="89151" name="Freeform 182"/>
                <p:cNvSpPr/>
                <p:nvPr/>
              </p:nvSpPr>
              <p:spPr>
                <a:xfrm>
                  <a:off x="2164" y="1525"/>
                  <a:ext cx="130" cy="496"/>
                </a:xfrm>
                <a:custGeom>
                  <a:avLst/>
                  <a:gdLst>
                    <a:gd name="txL" fmla="*/ 0 w 130"/>
                    <a:gd name="txT" fmla="*/ 0 h 496"/>
                    <a:gd name="txR" fmla="*/ 130 w 130"/>
                    <a:gd name="txB" fmla="*/ 496 h 496"/>
                  </a:gdLst>
                  <a:ahLst/>
                  <a:cxnLst>
                    <a:cxn ang="0">
                      <a:pos x="129" y="230"/>
                    </a:cxn>
                    <a:cxn ang="0">
                      <a:pos x="118" y="330"/>
                    </a:cxn>
                    <a:cxn ang="0">
                      <a:pos x="107" y="411"/>
                    </a:cxn>
                    <a:cxn ang="0">
                      <a:pos x="100" y="471"/>
                    </a:cxn>
                    <a:cxn ang="0">
                      <a:pos x="101" y="495"/>
                    </a:cxn>
                    <a:cxn ang="0">
                      <a:pos x="86" y="495"/>
                    </a:cxn>
                    <a:cxn ang="0">
                      <a:pos x="81" y="460"/>
                    </a:cxn>
                    <a:cxn ang="0">
                      <a:pos x="79" y="408"/>
                    </a:cxn>
                    <a:cxn ang="0">
                      <a:pos x="73" y="358"/>
                    </a:cxn>
                    <a:cxn ang="0">
                      <a:pos x="70" y="321"/>
                    </a:cxn>
                    <a:cxn ang="0">
                      <a:pos x="64" y="268"/>
                    </a:cxn>
                    <a:cxn ang="0">
                      <a:pos x="56" y="222"/>
                    </a:cxn>
                    <a:cxn ang="0">
                      <a:pos x="51" y="181"/>
                    </a:cxn>
                    <a:cxn ang="0">
                      <a:pos x="45" y="137"/>
                    </a:cxn>
                    <a:cxn ang="0">
                      <a:pos x="35" y="94"/>
                    </a:cxn>
                    <a:cxn ang="0">
                      <a:pos x="24" y="57"/>
                    </a:cxn>
                    <a:cxn ang="0">
                      <a:pos x="6" y="21"/>
                    </a:cxn>
                    <a:cxn ang="0">
                      <a:pos x="0" y="8"/>
                    </a:cxn>
                    <a:cxn ang="0">
                      <a:pos x="7" y="0"/>
                    </a:cxn>
                    <a:cxn ang="0">
                      <a:pos x="19" y="14"/>
                    </a:cxn>
                    <a:cxn ang="0">
                      <a:pos x="35" y="47"/>
                    </a:cxn>
                    <a:cxn ang="0">
                      <a:pos x="47" y="81"/>
                    </a:cxn>
                    <a:cxn ang="0">
                      <a:pos x="56" y="116"/>
                    </a:cxn>
                    <a:cxn ang="0">
                      <a:pos x="63" y="161"/>
                    </a:cxn>
                    <a:cxn ang="0">
                      <a:pos x="69" y="204"/>
                    </a:cxn>
                    <a:cxn ang="0">
                      <a:pos x="77" y="262"/>
                    </a:cxn>
                    <a:cxn ang="0">
                      <a:pos x="84" y="309"/>
                    </a:cxn>
                    <a:cxn ang="0">
                      <a:pos x="87" y="347"/>
                    </a:cxn>
                    <a:cxn ang="0">
                      <a:pos x="90" y="386"/>
                    </a:cxn>
                    <a:cxn ang="0">
                      <a:pos x="96" y="427"/>
                    </a:cxn>
                    <a:cxn ang="0">
                      <a:pos x="104" y="357"/>
                    </a:cxn>
                    <a:cxn ang="0">
                      <a:pos x="114" y="292"/>
                    </a:cxn>
                    <a:cxn ang="0">
                      <a:pos x="129" y="230"/>
                    </a:cxn>
                  </a:cxnLst>
                  <a:rect l="txL" t="txT" r="txR" b="txB"/>
                  <a:pathLst>
                    <a:path w="130" h="496">
                      <a:moveTo>
                        <a:pt x="129" y="230"/>
                      </a:moveTo>
                      <a:lnTo>
                        <a:pt x="118" y="330"/>
                      </a:lnTo>
                      <a:lnTo>
                        <a:pt x="107" y="411"/>
                      </a:lnTo>
                      <a:lnTo>
                        <a:pt x="100" y="471"/>
                      </a:lnTo>
                      <a:lnTo>
                        <a:pt x="101" y="495"/>
                      </a:lnTo>
                      <a:lnTo>
                        <a:pt x="86" y="495"/>
                      </a:lnTo>
                      <a:lnTo>
                        <a:pt x="81" y="460"/>
                      </a:lnTo>
                      <a:lnTo>
                        <a:pt x="79" y="408"/>
                      </a:lnTo>
                      <a:lnTo>
                        <a:pt x="73" y="358"/>
                      </a:lnTo>
                      <a:lnTo>
                        <a:pt x="70" y="321"/>
                      </a:lnTo>
                      <a:lnTo>
                        <a:pt x="64" y="268"/>
                      </a:lnTo>
                      <a:lnTo>
                        <a:pt x="56" y="222"/>
                      </a:lnTo>
                      <a:lnTo>
                        <a:pt x="51" y="181"/>
                      </a:lnTo>
                      <a:lnTo>
                        <a:pt x="45" y="137"/>
                      </a:lnTo>
                      <a:lnTo>
                        <a:pt x="35" y="94"/>
                      </a:lnTo>
                      <a:lnTo>
                        <a:pt x="24" y="57"/>
                      </a:lnTo>
                      <a:lnTo>
                        <a:pt x="6" y="21"/>
                      </a:lnTo>
                      <a:lnTo>
                        <a:pt x="0" y="8"/>
                      </a:lnTo>
                      <a:lnTo>
                        <a:pt x="7" y="0"/>
                      </a:lnTo>
                      <a:lnTo>
                        <a:pt x="19" y="14"/>
                      </a:lnTo>
                      <a:lnTo>
                        <a:pt x="35" y="47"/>
                      </a:lnTo>
                      <a:lnTo>
                        <a:pt x="47" y="81"/>
                      </a:lnTo>
                      <a:lnTo>
                        <a:pt x="56" y="116"/>
                      </a:lnTo>
                      <a:lnTo>
                        <a:pt x="63" y="161"/>
                      </a:lnTo>
                      <a:lnTo>
                        <a:pt x="69" y="204"/>
                      </a:lnTo>
                      <a:lnTo>
                        <a:pt x="77" y="262"/>
                      </a:lnTo>
                      <a:lnTo>
                        <a:pt x="84" y="309"/>
                      </a:lnTo>
                      <a:lnTo>
                        <a:pt x="87" y="347"/>
                      </a:lnTo>
                      <a:lnTo>
                        <a:pt x="90" y="386"/>
                      </a:lnTo>
                      <a:lnTo>
                        <a:pt x="96" y="427"/>
                      </a:lnTo>
                      <a:lnTo>
                        <a:pt x="104" y="357"/>
                      </a:lnTo>
                      <a:lnTo>
                        <a:pt x="114" y="292"/>
                      </a:lnTo>
                      <a:lnTo>
                        <a:pt x="129" y="230"/>
                      </a:lnTo>
                    </a:path>
                  </a:pathLst>
                </a:custGeom>
                <a:solidFill>
                  <a:srgbClr val="3C0023">
                    <a:alpha val="50195"/>
                  </a:srgbClr>
                </a:solidFill>
                <a:ln w="9525">
                  <a:noFill/>
                </a:ln>
              </p:spPr>
              <p:txBody>
                <a:bodyPr/>
                <a:lstStyle/>
                <a:p>
                  <a:endParaRPr lang="zh-CN" altLang="en-US"/>
                </a:p>
              </p:txBody>
            </p:sp>
            <p:sp>
              <p:nvSpPr>
                <p:cNvPr id="89152" name="Freeform 183"/>
                <p:cNvSpPr/>
                <p:nvPr/>
              </p:nvSpPr>
              <p:spPr>
                <a:xfrm>
                  <a:off x="2204" y="1606"/>
                  <a:ext cx="229" cy="358"/>
                </a:xfrm>
                <a:custGeom>
                  <a:avLst/>
                  <a:gdLst>
                    <a:gd name="txL" fmla="*/ 0 w 229"/>
                    <a:gd name="txT" fmla="*/ 0 h 358"/>
                    <a:gd name="txR" fmla="*/ 229 w 229"/>
                    <a:gd name="txB" fmla="*/ 358 h 358"/>
                  </a:gdLst>
                  <a:ahLst/>
                  <a:cxnLst>
                    <a:cxn ang="0">
                      <a:pos x="60" y="58"/>
                    </a:cxn>
                    <a:cxn ang="0">
                      <a:pos x="67" y="44"/>
                    </a:cxn>
                    <a:cxn ang="0">
                      <a:pos x="64" y="5"/>
                    </a:cxn>
                    <a:cxn ang="0">
                      <a:pos x="64" y="5"/>
                    </a:cxn>
                    <a:cxn ang="0">
                      <a:pos x="64" y="5"/>
                    </a:cxn>
                    <a:cxn ang="0">
                      <a:pos x="64" y="5"/>
                    </a:cxn>
                    <a:cxn ang="0">
                      <a:pos x="64" y="5"/>
                    </a:cxn>
                    <a:cxn ang="0">
                      <a:pos x="70" y="2"/>
                    </a:cxn>
                    <a:cxn ang="0">
                      <a:pos x="82" y="66"/>
                    </a:cxn>
                    <a:cxn ang="0">
                      <a:pos x="94" y="39"/>
                    </a:cxn>
                    <a:cxn ang="0">
                      <a:pos x="101" y="5"/>
                    </a:cxn>
                    <a:cxn ang="0">
                      <a:pos x="104" y="5"/>
                    </a:cxn>
                    <a:cxn ang="0">
                      <a:pos x="103" y="5"/>
                    </a:cxn>
                    <a:cxn ang="0">
                      <a:pos x="104" y="5"/>
                    </a:cxn>
                    <a:cxn ang="0">
                      <a:pos x="102" y="5"/>
                    </a:cxn>
                    <a:cxn ang="0">
                      <a:pos x="103" y="5"/>
                    </a:cxn>
                    <a:cxn ang="0">
                      <a:pos x="105" y="47"/>
                    </a:cxn>
                    <a:cxn ang="0">
                      <a:pos x="111" y="88"/>
                    </a:cxn>
                    <a:cxn ang="0">
                      <a:pos x="139" y="79"/>
                    </a:cxn>
                    <a:cxn ang="0">
                      <a:pos x="176" y="81"/>
                    </a:cxn>
                    <a:cxn ang="0">
                      <a:pos x="205" y="104"/>
                    </a:cxn>
                    <a:cxn ang="0">
                      <a:pos x="228" y="155"/>
                    </a:cxn>
                    <a:cxn ang="0">
                      <a:pos x="200" y="147"/>
                    </a:cxn>
                    <a:cxn ang="0">
                      <a:pos x="171" y="131"/>
                    </a:cxn>
                    <a:cxn ang="0">
                      <a:pos x="132" y="121"/>
                    </a:cxn>
                    <a:cxn ang="0">
                      <a:pos x="107" y="125"/>
                    </a:cxn>
                    <a:cxn ang="0">
                      <a:pos x="122" y="150"/>
                    </a:cxn>
                    <a:cxn ang="0">
                      <a:pos x="154" y="165"/>
                    </a:cxn>
                    <a:cxn ang="0">
                      <a:pos x="187" y="175"/>
                    </a:cxn>
                    <a:cxn ang="0">
                      <a:pos x="212" y="212"/>
                    </a:cxn>
                    <a:cxn ang="0">
                      <a:pos x="224" y="262"/>
                    </a:cxn>
                    <a:cxn ang="0">
                      <a:pos x="194" y="231"/>
                    </a:cxn>
                    <a:cxn ang="0">
                      <a:pos x="163" y="199"/>
                    </a:cxn>
                    <a:cxn ang="0">
                      <a:pos x="133" y="172"/>
                    </a:cxn>
                    <a:cxn ang="0">
                      <a:pos x="111" y="159"/>
                    </a:cxn>
                    <a:cxn ang="0">
                      <a:pos x="97" y="185"/>
                    </a:cxn>
                    <a:cxn ang="0">
                      <a:pos x="115" y="245"/>
                    </a:cxn>
                    <a:cxn ang="0">
                      <a:pos x="132" y="312"/>
                    </a:cxn>
                    <a:cxn ang="0">
                      <a:pos x="114" y="328"/>
                    </a:cxn>
                    <a:cxn ang="0">
                      <a:pos x="95" y="236"/>
                    </a:cxn>
                    <a:cxn ang="0">
                      <a:pos x="78" y="179"/>
                    </a:cxn>
                    <a:cxn ang="0">
                      <a:pos x="73" y="197"/>
                    </a:cxn>
                    <a:cxn ang="0">
                      <a:pos x="74" y="186"/>
                    </a:cxn>
                    <a:cxn ang="0">
                      <a:pos x="70" y="206"/>
                    </a:cxn>
                    <a:cxn ang="0">
                      <a:pos x="51" y="257"/>
                    </a:cxn>
                    <a:cxn ang="0">
                      <a:pos x="32" y="322"/>
                    </a:cxn>
                    <a:cxn ang="0">
                      <a:pos x="28" y="304"/>
                    </a:cxn>
                    <a:cxn ang="0">
                      <a:pos x="38" y="249"/>
                    </a:cxn>
                    <a:cxn ang="0">
                      <a:pos x="59" y="189"/>
                    </a:cxn>
                    <a:cxn ang="0">
                      <a:pos x="82" y="143"/>
                    </a:cxn>
                    <a:cxn ang="0">
                      <a:pos x="65" y="139"/>
                    </a:cxn>
                    <a:cxn ang="0">
                      <a:pos x="40" y="189"/>
                    </a:cxn>
                    <a:cxn ang="0">
                      <a:pos x="18" y="243"/>
                    </a:cxn>
                    <a:cxn ang="0">
                      <a:pos x="2" y="278"/>
                    </a:cxn>
                    <a:cxn ang="0">
                      <a:pos x="13" y="229"/>
                    </a:cxn>
                    <a:cxn ang="0">
                      <a:pos x="37" y="179"/>
                    </a:cxn>
                    <a:cxn ang="0">
                      <a:pos x="70" y="130"/>
                    </a:cxn>
                    <a:cxn ang="0">
                      <a:pos x="62" y="99"/>
                    </a:cxn>
                    <a:cxn ang="0">
                      <a:pos x="37" y="59"/>
                    </a:cxn>
                    <a:cxn ang="0">
                      <a:pos x="11" y="12"/>
                    </a:cxn>
                    <a:cxn ang="0">
                      <a:pos x="14" y="5"/>
                    </a:cxn>
                    <a:cxn ang="0">
                      <a:pos x="27" y="5"/>
                    </a:cxn>
                    <a:cxn ang="0">
                      <a:pos x="31" y="10"/>
                    </a:cxn>
                  </a:cxnLst>
                  <a:rect l="txL" t="txT" r="txR" b="txB"/>
                  <a:pathLst>
                    <a:path w="229" h="358">
                      <a:moveTo>
                        <a:pt x="43" y="31"/>
                      </a:moveTo>
                      <a:lnTo>
                        <a:pt x="47" y="39"/>
                      </a:lnTo>
                      <a:lnTo>
                        <a:pt x="51" y="44"/>
                      </a:lnTo>
                      <a:lnTo>
                        <a:pt x="55" y="51"/>
                      </a:lnTo>
                      <a:lnTo>
                        <a:pt x="60" y="58"/>
                      </a:lnTo>
                      <a:lnTo>
                        <a:pt x="64" y="63"/>
                      </a:lnTo>
                      <a:lnTo>
                        <a:pt x="68" y="66"/>
                      </a:lnTo>
                      <a:lnTo>
                        <a:pt x="72" y="69"/>
                      </a:lnTo>
                      <a:lnTo>
                        <a:pt x="70" y="58"/>
                      </a:lnTo>
                      <a:lnTo>
                        <a:pt x="67" y="44"/>
                      </a:lnTo>
                      <a:lnTo>
                        <a:pt x="65" y="30"/>
                      </a:lnTo>
                      <a:lnTo>
                        <a:pt x="63" y="15"/>
                      </a:lnTo>
                      <a:lnTo>
                        <a:pt x="64" y="5"/>
                      </a:lnTo>
                      <a:lnTo>
                        <a:pt x="69" y="5"/>
                      </a:lnTo>
                      <a:lnTo>
                        <a:pt x="70" y="5"/>
                      </a:lnTo>
                      <a:lnTo>
                        <a:pt x="70" y="2"/>
                      </a:lnTo>
                      <a:lnTo>
                        <a:pt x="73" y="16"/>
                      </a:lnTo>
                      <a:lnTo>
                        <a:pt x="76" y="30"/>
                      </a:lnTo>
                      <a:lnTo>
                        <a:pt x="78" y="41"/>
                      </a:lnTo>
                      <a:lnTo>
                        <a:pt x="81" y="56"/>
                      </a:lnTo>
                      <a:lnTo>
                        <a:pt x="82" y="66"/>
                      </a:lnTo>
                      <a:lnTo>
                        <a:pt x="84" y="71"/>
                      </a:lnTo>
                      <a:lnTo>
                        <a:pt x="87" y="66"/>
                      </a:lnTo>
                      <a:lnTo>
                        <a:pt x="89" y="59"/>
                      </a:lnTo>
                      <a:lnTo>
                        <a:pt x="93" y="52"/>
                      </a:lnTo>
                      <a:lnTo>
                        <a:pt x="94" y="39"/>
                      </a:lnTo>
                      <a:lnTo>
                        <a:pt x="95" y="30"/>
                      </a:lnTo>
                      <a:lnTo>
                        <a:pt x="96" y="14"/>
                      </a:lnTo>
                      <a:lnTo>
                        <a:pt x="96" y="0"/>
                      </a:lnTo>
                      <a:lnTo>
                        <a:pt x="101" y="5"/>
                      </a:lnTo>
                      <a:lnTo>
                        <a:pt x="102" y="5"/>
                      </a:lnTo>
                      <a:lnTo>
                        <a:pt x="103" y="5"/>
                      </a:lnTo>
                      <a:lnTo>
                        <a:pt x="104" y="5"/>
                      </a:lnTo>
                      <a:lnTo>
                        <a:pt x="105" y="5"/>
                      </a:lnTo>
                      <a:lnTo>
                        <a:pt x="104" y="5"/>
                      </a:lnTo>
                      <a:lnTo>
                        <a:pt x="102" y="5"/>
                      </a:lnTo>
                      <a:lnTo>
                        <a:pt x="103" y="5"/>
                      </a:lnTo>
                      <a:lnTo>
                        <a:pt x="105" y="5"/>
                      </a:lnTo>
                      <a:lnTo>
                        <a:pt x="103" y="5"/>
                      </a:lnTo>
                      <a:lnTo>
                        <a:pt x="101" y="5"/>
                      </a:lnTo>
                      <a:lnTo>
                        <a:pt x="102" y="5"/>
                      </a:lnTo>
                      <a:lnTo>
                        <a:pt x="101" y="5"/>
                      </a:lnTo>
                      <a:lnTo>
                        <a:pt x="104" y="5"/>
                      </a:lnTo>
                      <a:lnTo>
                        <a:pt x="103" y="5"/>
                      </a:lnTo>
                      <a:lnTo>
                        <a:pt x="100" y="5"/>
                      </a:lnTo>
                      <a:lnTo>
                        <a:pt x="101" y="5"/>
                      </a:lnTo>
                      <a:lnTo>
                        <a:pt x="103" y="5"/>
                      </a:lnTo>
                      <a:lnTo>
                        <a:pt x="102" y="5"/>
                      </a:lnTo>
                      <a:lnTo>
                        <a:pt x="104" y="5"/>
                      </a:lnTo>
                      <a:lnTo>
                        <a:pt x="102" y="5"/>
                      </a:lnTo>
                      <a:lnTo>
                        <a:pt x="107" y="5"/>
                      </a:lnTo>
                      <a:lnTo>
                        <a:pt x="103" y="5"/>
                      </a:lnTo>
                      <a:lnTo>
                        <a:pt x="104" y="5"/>
                      </a:lnTo>
                      <a:lnTo>
                        <a:pt x="107" y="2"/>
                      </a:lnTo>
                      <a:lnTo>
                        <a:pt x="107" y="15"/>
                      </a:lnTo>
                      <a:lnTo>
                        <a:pt x="106" y="31"/>
                      </a:lnTo>
                      <a:lnTo>
                        <a:pt x="105" y="47"/>
                      </a:lnTo>
                      <a:lnTo>
                        <a:pt x="103" y="66"/>
                      </a:lnTo>
                      <a:lnTo>
                        <a:pt x="102" y="83"/>
                      </a:lnTo>
                      <a:lnTo>
                        <a:pt x="101" y="100"/>
                      </a:lnTo>
                      <a:lnTo>
                        <a:pt x="105" y="95"/>
                      </a:lnTo>
                      <a:lnTo>
                        <a:pt x="111" y="88"/>
                      </a:lnTo>
                      <a:lnTo>
                        <a:pt x="118" y="80"/>
                      </a:lnTo>
                      <a:lnTo>
                        <a:pt x="123" y="78"/>
                      </a:lnTo>
                      <a:lnTo>
                        <a:pt x="129" y="76"/>
                      </a:lnTo>
                      <a:lnTo>
                        <a:pt x="134" y="79"/>
                      </a:lnTo>
                      <a:lnTo>
                        <a:pt x="139" y="79"/>
                      </a:lnTo>
                      <a:lnTo>
                        <a:pt x="146" y="81"/>
                      </a:lnTo>
                      <a:lnTo>
                        <a:pt x="154" y="83"/>
                      </a:lnTo>
                      <a:lnTo>
                        <a:pt x="162" y="83"/>
                      </a:lnTo>
                      <a:lnTo>
                        <a:pt x="169" y="81"/>
                      </a:lnTo>
                      <a:lnTo>
                        <a:pt x="176" y="81"/>
                      </a:lnTo>
                      <a:lnTo>
                        <a:pt x="182" y="83"/>
                      </a:lnTo>
                      <a:lnTo>
                        <a:pt x="188" y="88"/>
                      </a:lnTo>
                      <a:lnTo>
                        <a:pt x="195" y="93"/>
                      </a:lnTo>
                      <a:lnTo>
                        <a:pt x="200" y="98"/>
                      </a:lnTo>
                      <a:lnTo>
                        <a:pt x="205" y="104"/>
                      </a:lnTo>
                      <a:lnTo>
                        <a:pt x="211" y="112"/>
                      </a:lnTo>
                      <a:lnTo>
                        <a:pt x="214" y="117"/>
                      </a:lnTo>
                      <a:lnTo>
                        <a:pt x="220" y="129"/>
                      </a:lnTo>
                      <a:lnTo>
                        <a:pt x="223" y="142"/>
                      </a:lnTo>
                      <a:lnTo>
                        <a:pt x="228" y="155"/>
                      </a:lnTo>
                      <a:lnTo>
                        <a:pt x="223" y="156"/>
                      </a:lnTo>
                      <a:lnTo>
                        <a:pt x="217" y="154"/>
                      </a:lnTo>
                      <a:lnTo>
                        <a:pt x="210" y="152"/>
                      </a:lnTo>
                      <a:lnTo>
                        <a:pt x="205" y="150"/>
                      </a:lnTo>
                      <a:lnTo>
                        <a:pt x="200" y="147"/>
                      </a:lnTo>
                      <a:lnTo>
                        <a:pt x="195" y="143"/>
                      </a:lnTo>
                      <a:lnTo>
                        <a:pt x="189" y="138"/>
                      </a:lnTo>
                      <a:lnTo>
                        <a:pt x="184" y="135"/>
                      </a:lnTo>
                      <a:lnTo>
                        <a:pt x="179" y="133"/>
                      </a:lnTo>
                      <a:lnTo>
                        <a:pt x="171" y="131"/>
                      </a:lnTo>
                      <a:lnTo>
                        <a:pt x="162" y="129"/>
                      </a:lnTo>
                      <a:lnTo>
                        <a:pt x="154" y="126"/>
                      </a:lnTo>
                      <a:lnTo>
                        <a:pt x="146" y="124"/>
                      </a:lnTo>
                      <a:lnTo>
                        <a:pt x="138" y="122"/>
                      </a:lnTo>
                      <a:lnTo>
                        <a:pt x="132" y="121"/>
                      </a:lnTo>
                      <a:lnTo>
                        <a:pt x="128" y="120"/>
                      </a:lnTo>
                      <a:lnTo>
                        <a:pt x="122" y="120"/>
                      </a:lnTo>
                      <a:lnTo>
                        <a:pt x="116" y="121"/>
                      </a:lnTo>
                      <a:lnTo>
                        <a:pt x="112" y="122"/>
                      </a:lnTo>
                      <a:lnTo>
                        <a:pt x="107" y="125"/>
                      </a:lnTo>
                      <a:lnTo>
                        <a:pt x="100" y="129"/>
                      </a:lnTo>
                      <a:lnTo>
                        <a:pt x="105" y="135"/>
                      </a:lnTo>
                      <a:lnTo>
                        <a:pt x="111" y="140"/>
                      </a:lnTo>
                      <a:lnTo>
                        <a:pt x="116" y="147"/>
                      </a:lnTo>
                      <a:lnTo>
                        <a:pt x="122" y="150"/>
                      </a:lnTo>
                      <a:lnTo>
                        <a:pt x="129" y="155"/>
                      </a:lnTo>
                      <a:lnTo>
                        <a:pt x="133" y="158"/>
                      </a:lnTo>
                      <a:lnTo>
                        <a:pt x="139" y="159"/>
                      </a:lnTo>
                      <a:lnTo>
                        <a:pt x="147" y="162"/>
                      </a:lnTo>
                      <a:lnTo>
                        <a:pt x="154" y="165"/>
                      </a:lnTo>
                      <a:lnTo>
                        <a:pt x="161" y="167"/>
                      </a:lnTo>
                      <a:lnTo>
                        <a:pt x="168" y="169"/>
                      </a:lnTo>
                      <a:lnTo>
                        <a:pt x="174" y="170"/>
                      </a:lnTo>
                      <a:lnTo>
                        <a:pt x="181" y="174"/>
                      </a:lnTo>
                      <a:lnTo>
                        <a:pt x="187" y="175"/>
                      </a:lnTo>
                      <a:lnTo>
                        <a:pt x="191" y="179"/>
                      </a:lnTo>
                      <a:lnTo>
                        <a:pt x="197" y="186"/>
                      </a:lnTo>
                      <a:lnTo>
                        <a:pt x="202" y="193"/>
                      </a:lnTo>
                      <a:lnTo>
                        <a:pt x="206" y="202"/>
                      </a:lnTo>
                      <a:lnTo>
                        <a:pt x="212" y="212"/>
                      </a:lnTo>
                      <a:lnTo>
                        <a:pt x="214" y="218"/>
                      </a:lnTo>
                      <a:lnTo>
                        <a:pt x="217" y="229"/>
                      </a:lnTo>
                      <a:lnTo>
                        <a:pt x="219" y="240"/>
                      </a:lnTo>
                      <a:lnTo>
                        <a:pt x="221" y="253"/>
                      </a:lnTo>
                      <a:lnTo>
                        <a:pt x="224" y="262"/>
                      </a:lnTo>
                      <a:lnTo>
                        <a:pt x="219" y="257"/>
                      </a:lnTo>
                      <a:lnTo>
                        <a:pt x="212" y="250"/>
                      </a:lnTo>
                      <a:lnTo>
                        <a:pt x="206" y="245"/>
                      </a:lnTo>
                      <a:lnTo>
                        <a:pt x="200" y="238"/>
                      </a:lnTo>
                      <a:lnTo>
                        <a:pt x="194" y="231"/>
                      </a:lnTo>
                      <a:lnTo>
                        <a:pt x="188" y="226"/>
                      </a:lnTo>
                      <a:lnTo>
                        <a:pt x="182" y="219"/>
                      </a:lnTo>
                      <a:lnTo>
                        <a:pt x="176" y="213"/>
                      </a:lnTo>
                      <a:lnTo>
                        <a:pt x="169" y="206"/>
                      </a:lnTo>
                      <a:lnTo>
                        <a:pt x="163" y="199"/>
                      </a:lnTo>
                      <a:lnTo>
                        <a:pt x="158" y="194"/>
                      </a:lnTo>
                      <a:lnTo>
                        <a:pt x="151" y="187"/>
                      </a:lnTo>
                      <a:lnTo>
                        <a:pt x="145" y="182"/>
                      </a:lnTo>
                      <a:lnTo>
                        <a:pt x="139" y="177"/>
                      </a:lnTo>
                      <a:lnTo>
                        <a:pt x="133" y="172"/>
                      </a:lnTo>
                      <a:lnTo>
                        <a:pt x="129" y="170"/>
                      </a:lnTo>
                      <a:lnTo>
                        <a:pt x="125" y="166"/>
                      </a:lnTo>
                      <a:lnTo>
                        <a:pt x="119" y="162"/>
                      </a:lnTo>
                      <a:lnTo>
                        <a:pt x="115" y="158"/>
                      </a:lnTo>
                      <a:lnTo>
                        <a:pt x="111" y="159"/>
                      </a:lnTo>
                      <a:lnTo>
                        <a:pt x="107" y="162"/>
                      </a:lnTo>
                      <a:lnTo>
                        <a:pt x="103" y="161"/>
                      </a:lnTo>
                      <a:lnTo>
                        <a:pt x="99" y="158"/>
                      </a:lnTo>
                      <a:lnTo>
                        <a:pt x="98" y="170"/>
                      </a:lnTo>
                      <a:lnTo>
                        <a:pt x="97" y="185"/>
                      </a:lnTo>
                      <a:lnTo>
                        <a:pt x="100" y="197"/>
                      </a:lnTo>
                      <a:lnTo>
                        <a:pt x="102" y="211"/>
                      </a:lnTo>
                      <a:lnTo>
                        <a:pt x="107" y="220"/>
                      </a:lnTo>
                      <a:lnTo>
                        <a:pt x="111" y="231"/>
                      </a:lnTo>
                      <a:lnTo>
                        <a:pt x="115" y="245"/>
                      </a:lnTo>
                      <a:lnTo>
                        <a:pt x="119" y="259"/>
                      </a:lnTo>
                      <a:lnTo>
                        <a:pt x="123" y="268"/>
                      </a:lnTo>
                      <a:lnTo>
                        <a:pt x="127" y="278"/>
                      </a:lnTo>
                      <a:lnTo>
                        <a:pt x="131" y="297"/>
                      </a:lnTo>
                      <a:lnTo>
                        <a:pt x="132" y="312"/>
                      </a:lnTo>
                      <a:lnTo>
                        <a:pt x="135" y="331"/>
                      </a:lnTo>
                      <a:lnTo>
                        <a:pt x="138" y="349"/>
                      </a:lnTo>
                      <a:lnTo>
                        <a:pt x="125" y="349"/>
                      </a:lnTo>
                      <a:lnTo>
                        <a:pt x="122" y="349"/>
                      </a:lnTo>
                      <a:lnTo>
                        <a:pt x="114" y="328"/>
                      </a:lnTo>
                      <a:lnTo>
                        <a:pt x="108" y="307"/>
                      </a:lnTo>
                      <a:lnTo>
                        <a:pt x="103" y="290"/>
                      </a:lnTo>
                      <a:lnTo>
                        <a:pt x="100" y="273"/>
                      </a:lnTo>
                      <a:lnTo>
                        <a:pt x="98" y="255"/>
                      </a:lnTo>
                      <a:lnTo>
                        <a:pt x="95" y="236"/>
                      </a:lnTo>
                      <a:lnTo>
                        <a:pt x="90" y="209"/>
                      </a:lnTo>
                      <a:lnTo>
                        <a:pt x="87" y="200"/>
                      </a:lnTo>
                      <a:lnTo>
                        <a:pt x="84" y="184"/>
                      </a:lnTo>
                      <a:lnTo>
                        <a:pt x="81" y="177"/>
                      </a:lnTo>
                      <a:lnTo>
                        <a:pt x="78" y="179"/>
                      </a:lnTo>
                      <a:lnTo>
                        <a:pt x="75" y="181"/>
                      </a:lnTo>
                      <a:lnTo>
                        <a:pt x="74" y="191"/>
                      </a:lnTo>
                      <a:lnTo>
                        <a:pt x="74" y="186"/>
                      </a:lnTo>
                      <a:lnTo>
                        <a:pt x="74" y="192"/>
                      </a:lnTo>
                      <a:lnTo>
                        <a:pt x="73" y="197"/>
                      </a:lnTo>
                      <a:lnTo>
                        <a:pt x="72" y="198"/>
                      </a:lnTo>
                      <a:lnTo>
                        <a:pt x="74" y="197"/>
                      </a:lnTo>
                      <a:lnTo>
                        <a:pt x="73" y="194"/>
                      </a:lnTo>
                      <a:lnTo>
                        <a:pt x="74" y="189"/>
                      </a:lnTo>
                      <a:lnTo>
                        <a:pt x="74" y="186"/>
                      </a:lnTo>
                      <a:lnTo>
                        <a:pt x="74" y="187"/>
                      </a:lnTo>
                      <a:lnTo>
                        <a:pt x="74" y="192"/>
                      </a:lnTo>
                      <a:lnTo>
                        <a:pt x="75" y="197"/>
                      </a:lnTo>
                      <a:lnTo>
                        <a:pt x="73" y="198"/>
                      </a:lnTo>
                      <a:lnTo>
                        <a:pt x="70" y="206"/>
                      </a:lnTo>
                      <a:lnTo>
                        <a:pt x="65" y="218"/>
                      </a:lnTo>
                      <a:lnTo>
                        <a:pt x="61" y="227"/>
                      </a:lnTo>
                      <a:lnTo>
                        <a:pt x="58" y="236"/>
                      </a:lnTo>
                      <a:lnTo>
                        <a:pt x="54" y="248"/>
                      </a:lnTo>
                      <a:lnTo>
                        <a:pt x="51" y="257"/>
                      </a:lnTo>
                      <a:lnTo>
                        <a:pt x="47" y="268"/>
                      </a:lnTo>
                      <a:lnTo>
                        <a:pt x="43" y="280"/>
                      </a:lnTo>
                      <a:lnTo>
                        <a:pt x="40" y="293"/>
                      </a:lnTo>
                      <a:lnTo>
                        <a:pt x="36" y="307"/>
                      </a:lnTo>
                      <a:lnTo>
                        <a:pt x="32" y="322"/>
                      </a:lnTo>
                      <a:lnTo>
                        <a:pt x="29" y="339"/>
                      </a:lnTo>
                      <a:lnTo>
                        <a:pt x="24" y="357"/>
                      </a:lnTo>
                      <a:lnTo>
                        <a:pt x="26" y="335"/>
                      </a:lnTo>
                      <a:lnTo>
                        <a:pt x="27" y="321"/>
                      </a:lnTo>
                      <a:lnTo>
                        <a:pt x="28" y="304"/>
                      </a:lnTo>
                      <a:lnTo>
                        <a:pt x="29" y="295"/>
                      </a:lnTo>
                      <a:lnTo>
                        <a:pt x="31" y="287"/>
                      </a:lnTo>
                      <a:lnTo>
                        <a:pt x="33" y="273"/>
                      </a:lnTo>
                      <a:lnTo>
                        <a:pt x="36" y="260"/>
                      </a:lnTo>
                      <a:lnTo>
                        <a:pt x="38" y="249"/>
                      </a:lnTo>
                      <a:lnTo>
                        <a:pt x="43" y="236"/>
                      </a:lnTo>
                      <a:lnTo>
                        <a:pt x="47" y="224"/>
                      </a:lnTo>
                      <a:lnTo>
                        <a:pt x="52" y="211"/>
                      </a:lnTo>
                      <a:lnTo>
                        <a:pt x="56" y="197"/>
                      </a:lnTo>
                      <a:lnTo>
                        <a:pt x="59" y="189"/>
                      </a:lnTo>
                      <a:lnTo>
                        <a:pt x="63" y="181"/>
                      </a:lnTo>
                      <a:lnTo>
                        <a:pt x="68" y="172"/>
                      </a:lnTo>
                      <a:lnTo>
                        <a:pt x="73" y="164"/>
                      </a:lnTo>
                      <a:lnTo>
                        <a:pt x="77" y="154"/>
                      </a:lnTo>
                      <a:lnTo>
                        <a:pt x="82" y="143"/>
                      </a:lnTo>
                      <a:lnTo>
                        <a:pt x="80" y="139"/>
                      </a:lnTo>
                      <a:lnTo>
                        <a:pt x="76" y="133"/>
                      </a:lnTo>
                      <a:lnTo>
                        <a:pt x="73" y="129"/>
                      </a:lnTo>
                      <a:lnTo>
                        <a:pt x="70" y="132"/>
                      </a:lnTo>
                      <a:lnTo>
                        <a:pt x="65" y="139"/>
                      </a:lnTo>
                      <a:lnTo>
                        <a:pt x="60" y="147"/>
                      </a:lnTo>
                      <a:lnTo>
                        <a:pt x="55" y="154"/>
                      </a:lnTo>
                      <a:lnTo>
                        <a:pt x="51" y="164"/>
                      </a:lnTo>
                      <a:lnTo>
                        <a:pt x="45" y="177"/>
                      </a:lnTo>
                      <a:lnTo>
                        <a:pt x="40" y="189"/>
                      </a:lnTo>
                      <a:lnTo>
                        <a:pt x="36" y="199"/>
                      </a:lnTo>
                      <a:lnTo>
                        <a:pt x="31" y="207"/>
                      </a:lnTo>
                      <a:lnTo>
                        <a:pt x="27" y="218"/>
                      </a:lnTo>
                      <a:lnTo>
                        <a:pt x="22" y="230"/>
                      </a:lnTo>
                      <a:lnTo>
                        <a:pt x="18" y="243"/>
                      </a:lnTo>
                      <a:lnTo>
                        <a:pt x="14" y="255"/>
                      </a:lnTo>
                      <a:lnTo>
                        <a:pt x="9" y="268"/>
                      </a:lnTo>
                      <a:lnTo>
                        <a:pt x="5" y="282"/>
                      </a:lnTo>
                      <a:lnTo>
                        <a:pt x="0" y="298"/>
                      </a:lnTo>
                      <a:lnTo>
                        <a:pt x="2" y="278"/>
                      </a:lnTo>
                      <a:lnTo>
                        <a:pt x="4" y="262"/>
                      </a:lnTo>
                      <a:lnTo>
                        <a:pt x="5" y="248"/>
                      </a:lnTo>
                      <a:lnTo>
                        <a:pt x="6" y="244"/>
                      </a:lnTo>
                      <a:lnTo>
                        <a:pt x="9" y="238"/>
                      </a:lnTo>
                      <a:lnTo>
                        <a:pt x="13" y="229"/>
                      </a:lnTo>
                      <a:lnTo>
                        <a:pt x="17" y="219"/>
                      </a:lnTo>
                      <a:lnTo>
                        <a:pt x="22" y="209"/>
                      </a:lnTo>
                      <a:lnTo>
                        <a:pt x="27" y="199"/>
                      </a:lnTo>
                      <a:lnTo>
                        <a:pt x="33" y="187"/>
                      </a:lnTo>
                      <a:lnTo>
                        <a:pt x="37" y="179"/>
                      </a:lnTo>
                      <a:lnTo>
                        <a:pt x="43" y="170"/>
                      </a:lnTo>
                      <a:lnTo>
                        <a:pt x="49" y="159"/>
                      </a:lnTo>
                      <a:lnTo>
                        <a:pt x="55" y="149"/>
                      </a:lnTo>
                      <a:lnTo>
                        <a:pt x="60" y="142"/>
                      </a:lnTo>
                      <a:lnTo>
                        <a:pt x="70" y="130"/>
                      </a:lnTo>
                      <a:lnTo>
                        <a:pt x="75" y="125"/>
                      </a:lnTo>
                      <a:lnTo>
                        <a:pt x="78" y="123"/>
                      </a:lnTo>
                      <a:lnTo>
                        <a:pt x="73" y="117"/>
                      </a:lnTo>
                      <a:lnTo>
                        <a:pt x="67" y="108"/>
                      </a:lnTo>
                      <a:lnTo>
                        <a:pt x="62" y="99"/>
                      </a:lnTo>
                      <a:lnTo>
                        <a:pt x="57" y="92"/>
                      </a:lnTo>
                      <a:lnTo>
                        <a:pt x="52" y="85"/>
                      </a:lnTo>
                      <a:lnTo>
                        <a:pt x="47" y="78"/>
                      </a:lnTo>
                      <a:lnTo>
                        <a:pt x="43" y="71"/>
                      </a:lnTo>
                      <a:lnTo>
                        <a:pt x="37" y="59"/>
                      </a:lnTo>
                      <a:lnTo>
                        <a:pt x="32" y="48"/>
                      </a:lnTo>
                      <a:lnTo>
                        <a:pt x="26" y="38"/>
                      </a:lnTo>
                      <a:lnTo>
                        <a:pt x="19" y="26"/>
                      </a:lnTo>
                      <a:lnTo>
                        <a:pt x="14" y="19"/>
                      </a:lnTo>
                      <a:lnTo>
                        <a:pt x="11" y="12"/>
                      </a:lnTo>
                      <a:lnTo>
                        <a:pt x="7" y="4"/>
                      </a:lnTo>
                      <a:lnTo>
                        <a:pt x="14" y="5"/>
                      </a:lnTo>
                      <a:lnTo>
                        <a:pt x="27" y="5"/>
                      </a:lnTo>
                      <a:lnTo>
                        <a:pt x="31" y="10"/>
                      </a:lnTo>
                      <a:lnTo>
                        <a:pt x="37" y="22"/>
                      </a:lnTo>
                      <a:lnTo>
                        <a:pt x="43" y="31"/>
                      </a:lnTo>
                    </a:path>
                  </a:pathLst>
                </a:custGeom>
                <a:solidFill>
                  <a:srgbClr val="037C03">
                    <a:alpha val="50195"/>
                  </a:srgbClr>
                </a:solidFill>
                <a:ln w="9525">
                  <a:noFill/>
                </a:ln>
              </p:spPr>
              <p:txBody>
                <a:bodyPr/>
                <a:lstStyle/>
                <a:p>
                  <a:endParaRPr lang="zh-CN" altLang="en-US"/>
                </a:p>
              </p:txBody>
            </p:sp>
            <p:grpSp>
              <p:nvGrpSpPr>
                <p:cNvPr id="89153" name="Group 184"/>
                <p:cNvGrpSpPr/>
                <p:nvPr/>
              </p:nvGrpSpPr>
              <p:grpSpPr>
                <a:xfrm>
                  <a:off x="1985" y="1419"/>
                  <a:ext cx="465" cy="349"/>
                  <a:chOff x="1985" y="1419"/>
                  <a:chExt cx="465" cy="349"/>
                </a:xfrm>
              </p:grpSpPr>
              <p:sp>
                <p:nvSpPr>
                  <p:cNvPr id="89154" name="Freeform 185"/>
                  <p:cNvSpPr/>
                  <p:nvPr/>
                </p:nvSpPr>
                <p:spPr>
                  <a:xfrm>
                    <a:off x="2030" y="1419"/>
                    <a:ext cx="420" cy="326"/>
                  </a:xfrm>
                  <a:custGeom>
                    <a:avLst/>
                    <a:gdLst>
                      <a:gd name="txL" fmla="*/ 0 w 420"/>
                      <a:gd name="txT" fmla="*/ 0 h 326"/>
                      <a:gd name="txR" fmla="*/ 420 w 420"/>
                      <a:gd name="txB" fmla="*/ 326 h 326"/>
                    </a:gdLst>
                    <a:ahLst/>
                    <a:cxnLst>
                      <a:cxn ang="0">
                        <a:pos x="159" y="41"/>
                      </a:cxn>
                      <a:cxn ang="0">
                        <a:pos x="193" y="13"/>
                      </a:cxn>
                      <a:cxn ang="0">
                        <a:pos x="233" y="2"/>
                      </a:cxn>
                      <a:cxn ang="0">
                        <a:pos x="279" y="2"/>
                      </a:cxn>
                      <a:cxn ang="0">
                        <a:pos x="290" y="6"/>
                      </a:cxn>
                      <a:cxn ang="0">
                        <a:pos x="260" y="14"/>
                      </a:cxn>
                      <a:cxn ang="0">
                        <a:pos x="225" y="25"/>
                      </a:cxn>
                      <a:cxn ang="0">
                        <a:pos x="186" y="52"/>
                      </a:cxn>
                      <a:cxn ang="0">
                        <a:pos x="183" y="89"/>
                      </a:cxn>
                      <a:cxn ang="0">
                        <a:pos x="240" y="66"/>
                      </a:cxn>
                      <a:cxn ang="0">
                        <a:pos x="288" y="64"/>
                      </a:cxn>
                      <a:cxn ang="0">
                        <a:pos x="338" y="69"/>
                      </a:cxn>
                      <a:cxn ang="0">
                        <a:pos x="397" y="75"/>
                      </a:cxn>
                      <a:cxn ang="0">
                        <a:pos x="398" y="76"/>
                      </a:cxn>
                      <a:cxn ang="0">
                        <a:pos x="341" y="79"/>
                      </a:cxn>
                      <a:cxn ang="0">
                        <a:pos x="288" y="80"/>
                      </a:cxn>
                      <a:cxn ang="0">
                        <a:pos x="242" y="86"/>
                      </a:cxn>
                      <a:cxn ang="0">
                        <a:pos x="191" y="98"/>
                      </a:cxn>
                      <a:cxn ang="0">
                        <a:pos x="212" y="118"/>
                      </a:cxn>
                      <a:cxn ang="0">
                        <a:pos x="227" y="136"/>
                      </a:cxn>
                      <a:cxn ang="0">
                        <a:pos x="175" y="119"/>
                      </a:cxn>
                      <a:cxn ang="0">
                        <a:pos x="165" y="129"/>
                      </a:cxn>
                      <a:cxn ang="0">
                        <a:pos x="221" y="138"/>
                      </a:cxn>
                      <a:cxn ang="0">
                        <a:pos x="269" y="150"/>
                      </a:cxn>
                      <a:cxn ang="0">
                        <a:pos x="306" y="181"/>
                      </a:cxn>
                      <a:cxn ang="0">
                        <a:pos x="335" y="223"/>
                      </a:cxn>
                      <a:cxn ang="0">
                        <a:pos x="329" y="231"/>
                      </a:cxn>
                      <a:cxn ang="0">
                        <a:pos x="290" y="204"/>
                      </a:cxn>
                      <a:cxn ang="0">
                        <a:pos x="248" y="174"/>
                      </a:cxn>
                      <a:cxn ang="0">
                        <a:pos x="202" y="154"/>
                      </a:cxn>
                      <a:cxn ang="0">
                        <a:pos x="173" y="148"/>
                      </a:cxn>
                      <a:cxn ang="0">
                        <a:pos x="196" y="181"/>
                      </a:cxn>
                      <a:cxn ang="0">
                        <a:pos x="227" y="223"/>
                      </a:cxn>
                      <a:cxn ang="0">
                        <a:pos x="244" y="262"/>
                      </a:cxn>
                      <a:cxn ang="0">
                        <a:pos x="243" y="299"/>
                      </a:cxn>
                      <a:cxn ang="0">
                        <a:pos x="222" y="259"/>
                      </a:cxn>
                      <a:cxn ang="0">
                        <a:pos x="199" y="215"/>
                      </a:cxn>
                      <a:cxn ang="0">
                        <a:pos x="173" y="177"/>
                      </a:cxn>
                      <a:cxn ang="0">
                        <a:pos x="150" y="142"/>
                      </a:cxn>
                      <a:cxn ang="0">
                        <a:pos x="109" y="162"/>
                      </a:cxn>
                      <a:cxn ang="0">
                        <a:pos x="77" y="210"/>
                      </a:cxn>
                      <a:cxn ang="0">
                        <a:pos x="49" y="260"/>
                      </a:cxn>
                      <a:cxn ang="0">
                        <a:pos x="18" y="306"/>
                      </a:cxn>
                      <a:cxn ang="0">
                        <a:pos x="8" y="301"/>
                      </a:cxn>
                      <a:cxn ang="0">
                        <a:pos x="45" y="243"/>
                      </a:cxn>
                      <a:cxn ang="0">
                        <a:pos x="78" y="198"/>
                      </a:cxn>
                      <a:cxn ang="0">
                        <a:pos x="107" y="154"/>
                      </a:cxn>
                      <a:cxn ang="0">
                        <a:pos x="132" y="120"/>
                      </a:cxn>
                      <a:cxn ang="0">
                        <a:pos x="95" y="79"/>
                      </a:cxn>
                      <a:cxn ang="0">
                        <a:pos x="42" y="57"/>
                      </a:cxn>
                      <a:cxn ang="0">
                        <a:pos x="19" y="45"/>
                      </a:cxn>
                      <a:cxn ang="0">
                        <a:pos x="60" y="58"/>
                      </a:cxn>
                      <a:cxn ang="0">
                        <a:pos x="116" y="86"/>
                      </a:cxn>
                    </a:cxnLst>
                    <a:rect l="txL" t="txT" r="txR" b="txB"/>
                    <a:pathLst>
                      <a:path w="420" h="326">
                        <a:moveTo>
                          <a:pt x="132" y="83"/>
                        </a:moveTo>
                        <a:lnTo>
                          <a:pt x="135" y="74"/>
                        </a:lnTo>
                        <a:lnTo>
                          <a:pt x="140" y="65"/>
                        </a:lnTo>
                        <a:lnTo>
                          <a:pt x="146" y="57"/>
                        </a:lnTo>
                        <a:lnTo>
                          <a:pt x="152" y="48"/>
                        </a:lnTo>
                        <a:lnTo>
                          <a:pt x="159" y="41"/>
                        </a:lnTo>
                        <a:lnTo>
                          <a:pt x="164" y="34"/>
                        </a:lnTo>
                        <a:lnTo>
                          <a:pt x="170" y="29"/>
                        </a:lnTo>
                        <a:lnTo>
                          <a:pt x="176" y="25"/>
                        </a:lnTo>
                        <a:lnTo>
                          <a:pt x="181" y="20"/>
                        </a:lnTo>
                        <a:lnTo>
                          <a:pt x="187" y="17"/>
                        </a:lnTo>
                        <a:lnTo>
                          <a:pt x="193" y="13"/>
                        </a:lnTo>
                        <a:lnTo>
                          <a:pt x="199" y="10"/>
                        </a:lnTo>
                        <a:lnTo>
                          <a:pt x="204" y="8"/>
                        </a:lnTo>
                        <a:lnTo>
                          <a:pt x="212" y="6"/>
                        </a:lnTo>
                        <a:lnTo>
                          <a:pt x="220" y="5"/>
                        </a:lnTo>
                        <a:lnTo>
                          <a:pt x="226" y="3"/>
                        </a:lnTo>
                        <a:lnTo>
                          <a:pt x="233" y="2"/>
                        </a:lnTo>
                        <a:lnTo>
                          <a:pt x="241" y="2"/>
                        </a:lnTo>
                        <a:lnTo>
                          <a:pt x="248" y="1"/>
                        </a:lnTo>
                        <a:lnTo>
                          <a:pt x="258" y="1"/>
                        </a:lnTo>
                        <a:lnTo>
                          <a:pt x="265" y="1"/>
                        </a:lnTo>
                        <a:lnTo>
                          <a:pt x="272" y="2"/>
                        </a:lnTo>
                        <a:lnTo>
                          <a:pt x="279" y="2"/>
                        </a:lnTo>
                        <a:lnTo>
                          <a:pt x="285" y="1"/>
                        </a:lnTo>
                        <a:lnTo>
                          <a:pt x="293" y="1"/>
                        </a:lnTo>
                        <a:lnTo>
                          <a:pt x="300" y="0"/>
                        </a:lnTo>
                        <a:lnTo>
                          <a:pt x="296" y="2"/>
                        </a:lnTo>
                        <a:lnTo>
                          <a:pt x="293" y="3"/>
                        </a:lnTo>
                        <a:lnTo>
                          <a:pt x="290" y="6"/>
                        </a:lnTo>
                        <a:lnTo>
                          <a:pt x="287" y="10"/>
                        </a:lnTo>
                        <a:lnTo>
                          <a:pt x="281" y="10"/>
                        </a:lnTo>
                        <a:lnTo>
                          <a:pt x="275" y="10"/>
                        </a:lnTo>
                        <a:lnTo>
                          <a:pt x="270" y="11"/>
                        </a:lnTo>
                        <a:lnTo>
                          <a:pt x="265" y="12"/>
                        </a:lnTo>
                        <a:lnTo>
                          <a:pt x="260" y="14"/>
                        </a:lnTo>
                        <a:lnTo>
                          <a:pt x="254" y="15"/>
                        </a:lnTo>
                        <a:lnTo>
                          <a:pt x="248" y="17"/>
                        </a:lnTo>
                        <a:lnTo>
                          <a:pt x="242" y="19"/>
                        </a:lnTo>
                        <a:lnTo>
                          <a:pt x="236" y="20"/>
                        </a:lnTo>
                        <a:lnTo>
                          <a:pt x="231" y="22"/>
                        </a:lnTo>
                        <a:lnTo>
                          <a:pt x="225" y="25"/>
                        </a:lnTo>
                        <a:lnTo>
                          <a:pt x="218" y="28"/>
                        </a:lnTo>
                        <a:lnTo>
                          <a:pt x="212" y="31"/>
                        </a:lnTo>
                        <a:lnTo>
                          <a:pt x="205" y="35"/>
                        </a:lnTo>
                        <a:lnTo>
                          <a:pt x="199" y="39"/>
                        </a:lnTo>
                        <a:lnTo>
                          <a:pt x="192" y="45"/>
                        </a:lnTo>
                        <a:lnTo>
                          <a:pt x="186" y="52"/>
                        </a:lnTo>
                        <a:lnTo>
                          <a:pt x="180" y="61"/>
                        </a:lnTo>
                        <a:lnTo>
                          <a:pt x="173" y="73"/>
                        </a:lnTo>
                        <a:lnTo>
                          <a:pt x="167" y="86"/>
                        </a:lnTo>
                        <a:lnTo>
                          <a:pt x="159" y="101"/>
                        </a:lnTo>
                        <a:lnTo>
                          <a:pt x="172" y="95"/>
                        </a:lnTo>
                        <a:lnTo>
                          <a:pt x="183" y="89"/>
                        </a:lnTo>
                        <a:lnTo>
                          <a:pt x="197" y="82"/>
                        </a:lnTo>
                        <a:lnTo>
                          <a:pt x="212" y="75"/>
                        </a:lnTo>
                        <a:lnTo>
                          <a:pt x="218" y="73"/>
                        </a:lnTo>
                        <a:lnTo>
                          <a:pt x="225" y="70"/>
                        </a:lnTo>
                        <a:lnTo>
                          <a:pt x="232" y="69"/>
                        </a:lnTo>
                        <a:lnTo>
                          <a:pt x="240" y="66"/>
                        </a:lnTo>
                        <a:lnTo>
                          <a:pt x="249" y="65"/>
                        </a:lnTo>
                        <a:lnTo>
                          <a:pt x="256" y="64"/>
                        </a:lnTo>
                        <a:lnTo>
                          <a:pt x="263" y="64"/>
                        </a:lnTo>
                        <a:lnTo>
                          <a:pt x="272" y="63"/>
                        </a:lnTo>
                        <a:lnTo>
                          <a:pt x="281" y="64"/>
                        </a:lnTo>
                        <a:lnTo>
                          <a:pt x="288" y="64"/>
                        </a:lnTo>
                        <a:lnTo>
                          <a:pt x="297" y="65"/>
                        </a:lnTo>
                        <a:lnTo>
                          <a:pt x="305" y="65"/>
                        </a:lnTo>
                        <a:lnTo>
                          <a:pt x="313" y="66"/>
                        </a:lnTo>
                        <a:lnTo>
                          <a:pt x="321" y="67"/>
                        </a:lnTo>
                        <a:lnTo>
                          <a:pt x="329" y="68"/>
                        </a:lnTo>
                        <a:lnTo>
                          <a:pt x="338" y="69"/>
                        </a:lnTo>
                        <a:lnTo>
                          <a:pt x="346" y="69"/>
                        </a:lnTo>
                        <a:lnTo>
                          <a:pt x="354" y="70"/>
                        </a:lnTo>
                        <a:lnTo>
                          <a:pt x="364" y="71"/>
                        </a:lnTo>
                        <a:lnTo>
                          <a:pt x="374" y="72"/>
                        </a:lnTo>
                        <a:lnTo>
                          <a:pt x="383" y="74"/>
                        </a:lnTo>
                        <a:lnTo>
                          <a:pt x="397" y="75"/>
                        </a:lnTo>
                        <a:lnTo>
                          <a:pt x="402" y="75"/>
                        </a:lnTo>
                        <a:lnTo>
                          <a:pt x="406" y="75"/>
                        </a:lnTo>
                        <a:lnTo>
                          <a:pt x="411" y="77"/>
                        </a:lnTo>
                        <a:lnTo>
                          <a:pt x="419" y="80"/>
                        </a:lnTo>
                        <a:lnTo>
                          <a:pt x="404" y="77"/>
                        </a:lnTo>
                        <a:lnTo>
                          <a:pt x="398" y="76"/>
                        </a:lnTo>
                        <a:lnTo>
                          <a:pt x="392" y="76"/>
                        </a:lnTo>
                        <a:lnTo>
                          <a:pt x="379" y="77"/>
                        </a:lnTo>
                        <a:lnTo>
                          <a:pt x="370" y="78"/>
                        </a:lnTo>
                        <a:lnTo>
                          <a:pt x="360" y="78"/>
                        </a:lnTo>
                        <a:lnTo>
                          <a:pt x="350" y="78"/>
                        </a:lnTo>
                        <a:lnTo>
                          <a:pt x="341" y="79"/>
                        </a:lnTo>
                        <a:lnTo>
                          <a:pt x="332" y="79"/>
                        </a:lnTo>
                        <a:lnTo>
                          <a:pt x="325" y="78"/>
                        </a:lnTo>
                        <a:lnTo>
                          <a:pt x="315" y="78"/>
                        </a:lnTo>
                        <a:lnTo>
                          <a:pt x="305" y="78"/>
                        </a:lnTo>
                        <a:lnTo>
                          <a:pt x="296" y="79"/>
                        </a:lnTo>
                        <a:lnTo>
                          <a:pt x="288" y="80"/>
                        </a:lnTo>
                        <a:lnTo>
                          <a:pt x="279" y="80"/>
                        </a:lnTo>
                        <a:lnTo>
                          <a:pt x="272" y="80"/>
                        </a:lnTo>
                        <a:lnTo>
                          <a:pt x="264" y="81"/>
                        </a:lnTo>
                        <a:lnTo>
                          <a:pt x="256" y="83"/>
                        </a:lnTo>
                        <a:lnTo>
                          <a:pt x="249" y="84"/>
                        </a:lnTo>
                        <a:lnTo>
                          <a:pt x="242" y="86"/>
                        </a:lnTo>
                        <a:lnTo>
                          <a:pt x="235" y="87"/>
                        </a:lnTo>
                        <a:lnTo>
                          <a:pt x="227" y="89"/>
                        </a:lnTo>
                        <a:lnTo>
                          <a:pt x="219" y="92"/>
                        </a:lnTo>
                        <a:lnTo>
                          <a:pt x="212" y="93"/>
                        </a:lnTo>
                        <a:lnTo>
                          <a:pt x="199" y="97"/>
                        </a:lnTo>
                        <a:lnTo>
                          <a:pt x="191" y="98"/>
                        </a:lnTo>
                        <a:lnTo>
                          <a:pt x="180" y="104"/>
                        </a:lnTo>
                        <a:lnTo>
                          <a:pt x="164" y="109"/>
                        </a:lnTo>
                        <a:lnTo>
                          <a:pt x="180" y="111"/>
                        </a:lnTo>
                        <a:lnTo>
                          <a:pt x="199" y="112"/>
                        </a:lnTo>
                        <a:lnTo>
                          <a:pt x="203" y="113"/>
                        </a:lnTo>
                        <a:lnTo>
                          <a:pt x="212" y="118"/>
                        </a:lnTo>
                        <a:lnTo>
                          <a:pt x="217" y="120"/>
                        </a:lnTo>
                        <a:lnTo>
                          <a:pt x="223" y="123"/>
                        </a:lnTo>
                        <a:lnTo>
                          <a:pt x="224" y="125"/>
                        </a:lnTo>
                        <a:lnTo>
                          <a:pt x="227" y="130"/>
                        </a:lnTo>
                        <a:lnTo>
                          <a:pt x="233" y="140"/>
                        </a:lnTo>
                        <a:lnTo>
                          <a:pt x="227" y="136"/>
                        </a:lnTo>
                        <a:lnTo>
                          <a:pt x="219" y="131"/>
                        </a:lnTo>
                        <a:lnTo>
                          <a:pt x="212" y="129"/>
                        </a:lnTo>
                        <a:lnTo>
                          <a:pt x="199" y="125"/>
                        </a:lnTo>
                        <a:lnTo>
                          <a:pt x="190" y="123"/>
                        </a:lnTo>
                        <a:lnTo>
                          <a:pt x="180" y="120"/>
                        </a:lnTo>
                        <a:lnTo>
                          <a:pt x="175" y="119"/>
                        </a:lnTo>
                        <a:lnTo>
                          <a:pt x="165" y="120"/>
                        </a:lnTo>
                        <a:lnTo>
                          <a:pt x="158" y="122"/>
                        </a:lnTo>
                        <a:lnTo>
                          <a:pt x="148" y="123"/>
                        </a:lnTo>
                        <a:lnTo>
                          <a:pt x="153" y="125"/>
                        </a:lnTo>
                        <a:lnTo>
                          <a:pt x="158" y="127"/>
                        </a:lnTo>
                        <a:lnTo>
                          <a:pt x="165" y="129"/>
                        </a:lnTo>
                        <a:lnTo>
                          <a:pt x="173" y="129"/>
                        </a:lnTo>
                        <a:lnTo>
                          <a:pt x="186" y="129"/>
                        </a:lnTo>
                        <a:lnTo>
                          <a:pt x="194" y="131"/>
                        </a:lnTo>
                        <a:lnTo>
                          <a:pt x="204" y="133"/>
                        </a:lnTo>
                        <a:lnTo>
                          <a:pt x="212" y="136"/>
                        </a:lnTo>
                        <a:lnTo>
                          <a:pt x="221" y="138"/>
                        </a:lnTo>
                        <a:lnTo>
                          <a:pt x="231" y="141"/>
                        </a:lnTo>
                        <a:lnTo>
                          <a:pt x="240" y="143"/>
                        </a:lnTo>
                        <a:lnTo>
                          <a:pt x="248" y="145"/>
                        </a:lnTo>
                        <a:lnTo>
                          <a:pt x="254" y="146"/>
                        </a:lnTo>
                        <a:lnTo>
                          <a:pt x="261" y="148"/>
                        </a:lnTo>
                        <a:lnTo>
                          <a:pt x="269" y="150"/>
                        </a:lnTo>
                        <a:lnTo>
                          <a:pt x="277" y="154"/>
                        </a:lnTo>
                        <a:lnTo>
                          <a:pt x="285" y="158"/>
                        </a:lnTo>
                        <a:lnTo>
                          <a:pt x="289" y="160"/>
                        </a:lnTo>
                        <a:lnTo>
                          <a:pt x="295" y="167"/>
                        </a:lnTo>
                        <a:lnTo>
                          <a:pt x="302" y="174"/>
                        </a:lnTo>
                        <a:lnTo>
                          <a:pt x="306" y="181"/>
                        </a:lnTo>
                        <a:lnTo>
                          <a:pt x="311" y="188"/>
                        </a:lnTo>
                        <a:lnTo>
                          <a:pt x="316" y="195"/>
                        </a:lnTo>
                        <a:lnTo>
                          <a:pt x="320" y="202"/>
                        </a:lnTo>
                        <a:lnTo>
                          <a:pt x="325" y="208"/>
                        </a:lnTo>
                        <a:lnTo>
                          <a:pt x="329" y="215"/>
                        </a:lnTo>
                        <a:lnTo>
                          <a:pt x="335" y="223"/>
                        </a:lnTo>
                        <a:lnTo>
                          <a:pt x="339" y="232"/>
                        </a:lnTo>
                        <a:lnTo>
                          <a:pt x="345" y="238"/>
                        </a:lnTo>
                        <a:lnTo>
                          <a:pt x="351" y="246"/>
                        </a:lnTo>
                        <a:lnTo>
                          <a:pt x="343" y="240"/>
                        </a:lnTo>
                        <a:lnTo>
                          <a:pt x="337" y="236"/>
                        </a:lnTo>
                        <a:lnTo>
                          <a:pt x="329" y="231"/>
                        </a:lnTo>
                        <a:lnTo>
                          <a:pt x="321" y="225"/>
                        </a:lnTo>
                        <a:lnTo>
                          <a:pt x="315" y="220"/>
                        </a:lnTo>
                        <a:lnTo>
                          <a:pt x="309" y="215"/>
                        </a:lnTo>
                        <a:lnTo>
                          <a:pt x="303" y="212"/>
                        </a:lnTo>
                        <a:lnTo>
                          <a:pt x="297" y="208"/>
                        </a:lnTo>
                        <a:lnTo>
                          <a:pt x="290" y="204"/>
                        </a:lnTo>
                        <a:lnTo>
                          <a:pt x="284" y="200"/>
                        </a:lnTo>
                        <a:lnTo>
                          <a:pt x="278" y="196"/>
                        </a:lnTo>
                        <a:lnTo>
                          <a:pt x="271" y="191"/>
                        </a:lnTo>
                        <a:lnTo>
                          <a:pt x="263" y="186"/>
                        </a:lnTo>
                        <a:lnTo>
                          <a:pt x="255" y="179"/>
                        </a:lnTo>
                        <a:lnTo>
                          <a:pt x="248" y="174"/>
                        </a:lnTo>
                        <a:lnTo>
                          <a:pt x="241" y="170"/>
                        </a:lnTo>
                        <a:lnTo>
                          <a:pt x="234" y="166"/>
                        </a:lnTo>
                        <a:lnTo>
                          <a:pt x="226" y="162"/>
                        </a:lnTo>
                        <a:lnTo>
                          <a:pt x="219" y="159"/>
                        </a:lnTo>
                        <a:lnTo>
                          <a:pt x="212" y="157"/>
                        </a:lnTo>
                        <a:lnTo>
                          <a:pt x="202" y="154"/>
                        </a:lnTo>
                        <a:lnTo>
                          <a:pt x="192" y="151"/>
                        </a:lnTo>
                        <a:lnTo>
                          <a:pt x="185" y="150"/>
                        </a:lnTo>
                        <a:lnTo>
                          <a:pt x="178" y="147"/>
                        </a:lnTo>
                        <a:lnTo>
                          <a:pt x="167" y="142"/>
                        </a:lnTo>
                        <a:lnTo>
                          <a:pt x="156" y="137"/>
                        </a:lnTo>
                        <a:lnTo>
                          <a:pt x="173" y="148"/>
                        </a:lnTo>
                        <a:lnTo>
                          <a:pt x="174" y="150"/>
                        </a:lnTo>
                        <a:lnTo>
                          <a:pt x="178" y="155"/>
                        </a:lnTo>
                        <a:lnTo>
                          <a:pt x="182" y="160"/>
                        </a:lnTo>
                        <a:lnTo>
                          <a:pt x="187" y="167"/>
                        </a:lnTo>
                        <a:lnTo>
                          <a:pt x="192" y="173"/>
                        </a:lnTo>
                        <a:lnTo>
                          <a:pt x="196" y="181"/>
                        </a:lnTo>
                        <a:lnTo>
                          <a:pt x="202" y="188"/>
                        </a:lnTo>
                        <a:lnTo>
                          <a:pt x="207" y="194"/>
                        </a:lnTo>
                        <a:lnTo>
                          <a:pt x="212" y="200"/>
                        </a:lnTo>
                        <a:lnTo>
                          <a:pt x="216" y="207"/>
                        </a:lnTo>
                        <a:lnTo>
                          <a:pt x="223" y="216"/>
                        </a:lnTo>
                        <a:lnTo>
                          <a:pt x="227" y="223"/>
                        </a:lnTo>
                        <a:lnTo>
                          <a:pt x="231" y="229"/>
                        </a:lnTo>
                        <a:lnTo>
                          <a:pt x="235" y="236"/>
                        </a:lnTo>
                        <a:lnTo>
                          <a:pt x="238" y="243"/>
                        </a:lnTo>
                        <a:lnTo>
                          <a:pt x="241" y="250"/>
                        </a:lnTo>
                        <a:lnTo>
                          <a:pt x="243" y="255"/>
                        </a:lnTo>
                        <a:lnTo>
                          <a:pt x="244" y="262"/>
                        </a:lnTo>
                        <a:lnTo>
                          <a:pt x="245" y="272"/>
                        </a:lnTo>
                        <a:lnTo>
                          <a:pt x="246" y="281"/>
                        </a:lnTo>
                        <a:lnTo>
                          <a:pt x="247" y="290"/>
                        </a:lnTo>
                        <a:lnTo>
                          <a:pt x="249" y="299"/>
                        </a:lnTo>
                        <a:lnTo>
                          <a:pt x="250" y="308"/>
                        </a:lnTo>
                        <a:lnTo>
                          <a:pt x="243" y="299"/>
                        </a:lnTo>
                        <a:lnTo>
                          <a:pt x="238" y="292"/>
                        </a:lnTo>
                        <a:lnTo>
                          <a:pt x="233" y="286"/>
                        </a:lnTo>
                        <a:lnTo>
                          <a:pt x="231" y="281"/>
                        </a:lnTo>
                        <a:lnTo>
                          <a:pt x="227" y="274"/>
                        </a:lnTo>
                        <a:lnTo>
                          <a:pt x="225" y="267"/>
                        </a:lnTo>
                        <a:lnTo>
                          <a:pt x="222" y="259"/>
                        </a:lnTo>
                        <a:lnTo>
                          <a:pt x="218" y="251"/>
                        </a:lnTo>
                        <a:lnTo>
                          <a:pt x="214" y="242"/>
                        </a:lnTo>
                        <a:lnTo>
                          <a:pt x="211" y="235"/>
                        </a:lnTo>
                        <a:lnTo>
                          <a:pt x="207" y="227"/>
                        </a:lnTo>
                        <a:lnTo>
                          <a:pt x="202" y="220"/>
                        </a:lnTo>
                        <a:lnTo>
                          <a:pt x="199" y="215"/>
                        </a:lnTo>
                        <a:lnTo>
                          <a:pt x="193" y="208"/>
                        </a:lnTo>
                        <a:lnTo>
                          <a:pt x="187" y="201"/>
                        </a:lnTo>
                        <a:lnTo>
                          <a:pt x="182" y="196"/>
                        </a:lnTo>
                        <a:lnTo>
                          <a:pt x="177" y="190"/>
                        </a:lnTo>
                        <a:lnTo>
                          <a:pt x="176" y="184"/>
                        </a:lnTo>
                        <a:lnTo>
                          <a:pt x="173" y="177"/>
                        </a:lnTo>
                        <a:lnTo>
                          <a:pt x="169" y="170"/>
                        </a:lnTo>
                        <a:lnTo>
                          <a:pt x="166" y="163"/>
                        </a:lnTo>
                        <a:lnTo>
                          <a:pt x="164" y="161"/>
                        </a:lnTo>
                        <a:lnTo>
                          <a:pt x="158" y="154"/>
                        </a:lnTo>
                        <a:lnTo>
                          <a:pt x="154" y="148"/>
                        </a:lnTo>
                        <a:lnTo>
                          <a:pt x="150" y="142"/>
                        </a:lnTo>
                        <a:lnTo>
                          <a:pt x="145" y="136"/>
                        </a:lnTo>
                        <a:lnTo>
                          <a:pt x="138" y="140"/>
                        </a:lnTo>
                        <a:lnTo>
                          <a:pt x="131" y="144"/>
                        </a:lnTo>
                        <a:lnTo>
                          <a:pt x="123" y="151"/>
                        </a:lnTo>
                        <a:lnTo>
                          <a:pt x="115" y="156"/>
                        </a:lnTo>
                        <a:lnTo>
                          <a:pt x="109" y="162"/>
                        </a:lnTo>
                        <a:lnTo>
                          <a:pt x="105" y="168"/>
                        </a:lnTo>
                        <a:lnTo>
                          <a:pt x="99" y="176"/>
                        </a:lnTo>
                        <a:lnTo>
                          <a:pt x="93" y="186"/>
                        </a:lnTo>
                        <a:lnTo>
                          <a:pt x="87" y="193"/>
                        </a:lnTo>
                        <a:lnTo>
                          <a:pt x="81" y="202"/>
                        </a:lnTo>
                        <a:lnTo>
                          <a:pt x="77" y="210"/>
                        </a:lnTo>
                        <a:lnTo>
                          <a:pt x="72" y="218"/>
                        </a:lnTo>
                        <a:lnTo>
                          <a:pt x="67" y="226"/>
                        </a:lnTo>
                        <a:lnTo>
                          <a:pt x="64" y="233"/>
                        </a:lnTo>
                        <a:lnTo>
                          <a:pt x="59" y="242"/>
                        </a:lnTo>
                        <a:lnTo>
                          <a:pt x="55" y="250"/>
                        </a:lnTo>
                        <a:lnTo>
                          <a:pt x="49" y="260"/>
                        </a:lnTo>
                        <a:lnTo>
                          <a:pt x="43" y="269"/>
                        </a:lnTo>
                        <a:lnTo>
                          <a:pt x="37" y="280"/>
                        </a:lnTo>
                        <a:lnTo>
                          <a:pt x="31" y="289"/>
                        </a:lnTo>
                        <a:lnTo>
                          <a:pt x="27" y="294"/>
                        </a:lnTo>
                        <a:lnTo>
                          <a:pt x="22" y="300"/>
                        </a:lnTo>
                        <a:lnTo>
                          <a:pt x="18" y="306"/>
                        </a:lnTo>
                        <a:lnTo>
                          <a:pt x="12" y="312"/>
                        </a:lnTo>
                        <a:lnTo>
                          <a:pt x="7" y="317"/>
                        </a:lnTo>
                        <a:lnTo>
                          <a:pt x="0" y="325"/>
                        </a:lnTo>
                        <a:lnTo>
                          <a:pt x="2" y="316"/>
                        </a:lnTo>
                        <a:lnTo>
                          <a:pt x="4" y="309"/>
                        </a:lnTo>
                        <a:lnTo>
                          <a:pt x="8" y="301"/>
                        </a:lnTo>
                        <a:lnTo>
                          <a:pt x="12" y="294"/>
                        </a:lnTo>
                        <a:lnTo>
                          <a:pt x="19" y="284"/>
                        </a:lnTo>
                        <a:lnTo>
                          <a:pt x="26" y="274"/>
                        </a:lnTo>
                        <a:lnTo>
                          <a:pt x="33" y="262"/>
                        </a:lnTo>
                        <a:lnTo>
                          <a:pt x="39" y="253"/>
                        </a:lnTo>
                        <a:lnTo>
                          <a:pt x="45" y="243"/>
                        </a:lnTo>
                        <a:lnTo>
                          <a:pt x="51" y="235"/>
                        </a:lnTo>
                        <a:lnTo>
                          <a:pt x="56" y="227"/>
                        </a:lnTo>
                        <a:lnTo>
                          <a:pt x="61" y="220"/>
                        </a:lnTo>
                        <a:lnTo>
                          <a:pt x="66" y="214"/>
                        </a:lnTo>
                        <a:lnTo>
                          <a:pt x="72" y="206"/>
                        </a:lnTo>
                        <a:lnTo>
                          <a:pt x="78" y="198"/>
                        </a:lnTo>
                        <a:lnTo>
                          <a:pt x="84" y="190"/>
                        </a:lnTo>
                        <a:lnTo>
                          <a:pt x="90" y="181"/>
                        </a:lnTo>
                        <a:lnTo>
                          <a:pt x="95" y="174"/>
                        </a:lnTo>
                        <a:lnTo>
                          <a:pt x="101" y="166"/>
                        </a:lnTo>
                        <a:lnTo>
                          <a:pt x="104" y="160"/>
                        </a:lnTo>
                        <a:lnTo>
                          <a:pt x="107" y="154"/>
                        </a:lnTo>
                        <a:lnTo>
                          <a:pt x="109" y="149"/>
                        </a:lnTo>
                        <a:lnTo>
                          <a:pt x="112" y="143"/>
                        </a:lnTo>
                        <a:lnTo>
                          <a:pt x="116" y="138"/>
                        </a:lnTo>
                        <a:lnTo>
                          <a:pt x="122" y="131"/>
                        </a:lnTo>
                        <a:lnTo>
                          <a:pt x="128" y="125"/>
                        </a:lnTo>
                        <a:lnTo>
                          <a:pt x="132" y="120"/>
                        </a:lnTo>
                        <a:lnTo>
                          <a:pt x="137" y="114"/>
                        </a:lnTo>
                        <a:lnTo>
                          <a:pt x="135" y="109"/>
                        </a:lnTo>
                        <a:lnTo>
                          <a:pt x="133" y="101"/>
                        </a:lnTo>
                        <a:lnTo>
                          <a:pt x="121" y="97"/>
                        </a:lnTo>
                        <a:lnTo>
                          <a:pt x="108" y="88"/>
                        </a:lnTo>
                        <a:lnTo>
                          <a:pt x="95" y="79"/>
                        </a:lnTo>
                        <a:lnTo>
                          <a:pt x="87" y="74"/>
                        </a:lnTo>
                        <a:lnTo>
                          <a:pt x="81" y="71"/>
                        </a:lnTo>
                        <a:lnTo>
                          <a:pt x="71" y="66"/>
                        </a:lnTo>
                        <a:lnTo>
                          <a:pt x="61" y="63"/>
                        </a:lnTo>
                        <a:lnTo>
                          <a:pt x="50" y="60"/>
                        </a:lnTo>
                        <a:lnTo>
                          <a:pt x="42" y="57"/>
                        </a:lnTo>
                        <a:lnTo>
                          <a:pt x="32" y="53"/>
                        </a:lnTo>
                        <a:lnTo>
                          <a:pt x="23" y="51"/>
                        </a:lnTo>
                        <a:lnTo>
                          <a:pt x="14" y="49"/>
                        </a:lnTo>
                        <a:lnTo>
                          <a:pt x="7" y="47"/>
                        </a:lnTo>
                        <a:lnTo>
                          <a:pt x="14" y="46"/>
                        </a:lnTo>
                        <a:lnTo>
                          <a:pt x="19" y="45"/>
                        </a:lnTo>
                        <a:lnTo>
                          <a:pt x="23" y="44"/>
                        </a:lnTo>
                        <a:lnTo>
                          <a:pt x="28" y="44"/>
                        </a:lnTo>
                        <a:lnTo>
                          <a:pt x="33" y="44"/>
                        </a:lnTo>
                        <a:lnTo>
                          <a:pt x="43" y="49"/>
                        </a:lnTo>
                        <a:lnTo>
                          <a:pt x="51" y="53"/>
                        </a:lnTo>
                        <a:lnTo>
                          <a:pt x="60" y="58"/>
                        </a:lnTo>
                        <a:lnTo>
                          <a:pt x="69" y="63"/>
                        </a:lnTo>
                        <a:lnTo>
                          <a:pt x="79" y="68"/>
                        </a:lnTo>
                        <a:lnTo>
                          <a:pt x="89" y="74"/>
                        </a:lnTo>
                        <a:lnTo>
                          <a:pt x="96" y="77"/>
                        </a:lnTo>
                        <a:lnTo>
                          <a:pt x="109" y="84"/>
                        </a:lnTo>
                        <a:lnTo>
                          <a:pt x="116" y="86"/>
                        </a:lnTo>
                        <a:lnTo>
                          <a:pt x="122" y="85"/>
                        </a:lnTo>
                        <a:lnTo>
                          <a:pt x="127" y="84"/>
                        </a:lnTo>
                        <a:lnTo>
                          <a:pt x="132" y="83"/>
                        </a:lnTo>
                      </a:path>
                    </a:pathLst>
                  </a:custGeom>
                  <a:solidFill>
                    <a:srgbClr val="037C03">
                      <a:alpha val="50195"/>
                    </a:srgbClr>
                  </a:solidFill>
                  <a:ln w="9525">
                    <a:noFill/>
                  </a:ln>
                </p:spPr>
                <p:txBody>
                  <a:bodyPr/>
                  <a:lstStyle/>
                  <a:p>
                    <a:endParaRPr lang="zh-CN" altLang="en-US"/>
                  </a:p>
                </p:txBody>
              </p:sp>
              <p:sp>
                <p:nvSpPr>
                  <p:cNvPr id="89155" name="Freeform 186"/>
                  <p:cNvSpPr/>
                  <p:nvPr/>
                </p:nvSpPr>
                <p:spPr>
                  <a:xfrm>
                    <a:off x="2175" y="1587"/>
                    <a:ext cx="38" cy="181"/>
                  </a:xfrm>
                  <a:custGeom>
                    <a:avLst/>
                    <a:gdLst>
                      <a:gd name="txL" fmla="*/ 0 w 38"/>
                      <a:gd name="txT" fmla="*/ 0 h 181"/>
                      <a:gd name="txR" fmla="*/ 38 w 38"/>
                      <a:gd name="txB" fmla="*/ 181 h 181"/>
                    </a:gdLst>
                    <a:ahLst/>
                    <a:cxnLst>
                      <a:cxn ang="0">
                        <a:pos x="20" y="0"/>
                      </a:cxn>
                      <a:cxn ang="0">
                        <a:pos x="24" y="8"/>
                      </a:cxn>
                      <a:cxn ang="0">
                        <a:pos x="27" y="14"/>
                      </a:cxn>
                      <a:cxn ang="0">
                        <a:pos x="33" y="22"/>
                      </a:cxn>
                      <a:cxn ang="0">
                        <a:pos x="35" y="30"/>
                      </a:cxn>
                      <a:cxn ang="0">
                        <a:pos x="36" y="41"/>
                      </a:cxn>
                      <a:cxn ang="0">
                        <a:pos x="36" y="53"/>
                      </a:cxn>
                      <a:cxn ang="0">
                        <a:pos x="37" y="61"/>
                      </a:cxn>
                      <a:cxn ang="0">
                        <a:pos x="36" y="70"/>
                      </a:cxn>
                      <a:cxn ang="0">
                        <a:pos x="35" y="81"/>
                      </a:cxn>
                      <a:cxn ang="0">
                        <a:pos x="33" y="91"/>
                      </a:cxn>
                      <a:cxn ang="0">
                        <a:pos x="30" y="106"/>
                      </a:cxn>
                      <a:cxn ang="0">
                        <a:pos x="28" y="114"/>
                      </a:cxn>
                      <a:cxn ang="0">
                        <a:pos x="23" y="124"/>
                      </a:cxn>
                      <a:cxn ang="0">
                        <a:pos x="17" y="135"/>
                      </a:cxn>
                      <a:cxn ang="0">
                        <a:pos x="12" y="145"/>
                      </a:cxn>
                      <a:cxn ang="0">
                        <a:pos x="7" y="155"/>
                      </a:cxn>
                      <a:cxn ang="0">
                        <a:pos x="3" y="163"/>
                      </a:cxn>
                      <a:cxn ang="0">
                        <a:pos x="0" y="180"/>
                      </a:cxn>
                      <a:cxn ang="0">
                        <a:pos x="1" y="163"/>
                      </a:cxn>
                      <a:cxn ang="0">
                        <a:pos x="3" y="152"/>
                      </a:cxn>
                      <a:cxn ang="0">
                        <a:pos x="4" y="141"/>
                      </a:cxn>
                      <a:cxn ang="0">
                        <a:pos x="5" y="130"/>
                      </a:cxn>
                      <a:cxn ang="0">
                        <a:pos x="7" y="116"/>
                      </a:cxn>
                      <a:cxn ang="0">
                        <a:pos x="9" y="106"/>
                      </a:cxn>
                      <a:cxn ang="0">
                        <a:pos x="12" y="96"/>
                      </a:cxn>
                      <a:cxn ang="0">
                        <a:pos x="15" y="87"/>
                      </a:cxn>
                      <a:cxn ang="0">
                        <a:pos x="17" y="77"/>
                      </a:cxn>
                      <a:cxn ang="0">
                        <a:pos x="20" y="67"/>
                      </a:cxn>
                      <a:cxn ang="0">
                        <a:pos x="21" y="57"/>
                      </a:cxn>
                      <a:cxn ang="0">
                        <a:pos x="22" y="49"/>
                      </a:cxn>
                      <a:cxn ang="0">
                        <a:pos x="23" y="39"/>
                      </a:cxn>
                      <a:cxn ang="0">
                        <a:pos x="23" y="28"/>
                      </a:cxn>
                      <a:cxn ang="0">
                        <a:pos x="23" y="14"/>
                      </a:cxn>
                      <a:cxn ang="0">
                        <a:pos x="22" y="8"/>
                      </a:cxn>
                      <a:cxn ang="0">
                        <a:pos x="20" y="0"/>
                      </a:cxn>
                    </a:cxnLst>
                    <a:rect l="txL" t="txT" r="txR" b="txB"/>
                    <a:pathLst>
                      <a:path w="38" h="181">
                        <a:moveTo>
                          <a:pt x="20" y="0"/>
                        </a:moveTo>
                        <a:lnTo>
                          <a:pt x="24" y="8"/>
                        </a:lnTo>
                        <a:lnTo>
                          <a:pt x="27" y="14"/>
                        </a:lnTo>
                        <a:lnTo>
                          <a:pt x="33" y="22"/>
                        </a:lnTo>
                        <a:lnTo>
                          <a:pt x="35" y="30"/>
                        </a:lnTo>
                        <a:lnTo>
                          <a:pt x="36" y="41"/>
                        </a:lnTo>
                        <a:lnTo>
                          <a:pt x="36" y="53"/>
                        </a:lnTo>
                        <a:lnTo>
                          <a:pt x="37" y="61"/>
                        </a:lnTo>
                        <a:lnTo>
                          <a:pt x="36" y="70"/>
                        </a:lnTo>
                        <a:lnTo>
                          <a:pt x="35" y="81"/>
                        </a:lnTo>
                        <a:lnTo>
                          <a:pt x="33" y="91"/>
                        </a:lnTo>
                        <a:lnTo>
                          <a:pt x="30" y="106"/>
                        </a:lnTo>
                        <a:lnTo>
                          <a:pt x="28" y="114"/>
                        </a:lnTo>
                        <a:lnTo>
                          <a:pt x="23" y="124"/>
                        </a:lnTo>
                        <a:lnTo>
                          <a:pt x="17" y="135"/>
                        </a:lnTo>
                        <a:lnTo>
                          <a:pt x="12" y="145"/>
                        </a:lnTo>
                        <a:lnTo>
                          <a:pt x="7" y="155"/>
                        </a:lnTo>
                        <a:lnTo>
                          <a:pt x="3" y="163"/>
                        </a:lnTo>
                        <a:lnTo>
                          <a:pt x="0" y="180"/>
                        </a:lnTo>
                        <a:lnTo>
                          <a:pt x="1" y="163"/>
                        </a:lnTo>
                        <a:lnTo>
                          <a:pt x="3" y="152"/>
                        </a:lnTo>
                        <a:lnTo>
                          <a:pt x="4" y="141"/>
                        </a:lnTo>
                        <a:lnTo>
                          <a:pt x="5" y="130"/>
                        </a:lnTo>
                        <a:lnTo>
                          <a:pt x="7" y="116"/>
                        </a:lnTo>
                        <a:lnTo>
                          <a:pt x="9" y="106"/>
                        </a:lnTo>
                        <a:lnTo>
                          <a:pt x="12" y="96"/>
                        </a:lnTo>
                        <a:lnTo>
                          <a:pt x="15" y="87"/>
                        </a:lnTo>
                        <a:lnTo>
                          <a:pt x="17" y="77"/>
                        </a:lnTo>
                        <a:lnTo>
                          <a:pt x="20" y="67"/>
                        </a:lnTo>
                        <a:lnTo>
                          <a:pt x="21" y="57"/>
                        </a:lnTo>
                        <a:lnTo>
                          <a:pt x="22" y="49"/>
                        </a:lnTo>
                        <a:lnTo>
                          <a:pt x="23" y="39"/>
                        </a:lnTo>
                        <a:lnTo>
                          <a:pt x="23" y="28"/>
                        </a:lnTo>
                        <a:lnTo>
                          <a:pt x="23" y="14"/>
                        </a:lnTo>
                        <a:lnTo>
                          <a:pt x="22" y="8"/>
                        </a:lnTo>
                        <a:lnTo>
                          <a:pt x="20" y="0"/>
                        </a:lnTo>
                      </a:path>
                    </a:pathLst>
                  </a:custGeom>
                  <a:solidFill>
                    <a:srgbClr val="037C03">
                      <a:alpha val="50195"/>
                    </a:srgbClr>
                  </a:solidFill>
                  <a:ln w="9525">
                    <a:noFill/>
                  </a:ln>
                </p:spPr>
                <p:txBody>
                  <a:bodyPr/>
                  <a:lstStyle/>
                  <a:p>
                    <a:endParaRPr lang="zh-CN" altLang="en-US"/>
                  </a:p>
                </p:txBody>
              </p:sp>
              <p:sp>
                <p:nvSpPr>
                  <p:cNvPr id="89156" name="Freeform 187"/>
                  <p:cNvSpPr/>
                  <p:nvPr/>
                </p:nvSpPr>
                <p:spPr>
                  <a:xfrm>
                    <a:off x="1991" y="1486"/>
                    <a:ext cx="168" cy="48"/>
                  </a:xfrm>
                  <a:custGeom>
                    <a:avLst/>
                    <a:gdLst>
                      <a:gd name="txL" fmla="*/ 0 w 168"/>
                      <a:gd name="txT" fmla="*/ 0 h 48"/>
                      <a:gd name="txR" fmla="*/ 168 w 168"/>
                      <a:gd name="txB" fmla="*/ 48 h 48"/>
                    </a:gdLst>
                    <a:ahLst/>
                    <a:cxnLst>
                      <a:cxn ang="0">
                        <a:pos x="167" y="47"/>
                      </a:cxn>
                      <a:cxn ang="0">
                        <a:pos x="164" y="38"/>
                      </a:cxn>
                      <a:cxn ang="0">
                        <a:pos x="160" y="31"/>
                      </a:cxn>
                      <a:cxn ang="0">
                        <a:pos x="157" y="30"/>
                      </a:cxn>
                      <a:cxn ang="0">
                        <a:pos x="150" y="28"/>
                      </a:cxn>
                      <a:cxn ang="0">
                        <a:pos x="144" y="26"/>
                      </a:cxn>
                      <a:cxn ang="0">
                        <a:pos x="137" y="28"/>
                      </a:cxn>
                      <a:cxn ang="0">
                        <a:pos x="130" y="29"/>
                      </a:cxn>
                      <a:cxn ang="0">
                        <a:pos x="121" y="25"/>
                      </a:cxn>
                      <a:cxn ang="0">
                        <a:pos x="109" y="21"/>
                      </a:cxn>
                      <a:cxn ang="0">
                        <a:pos x="98" y="17"/>
                      </a:cxn>
                      <a:cxn ang="0">
                        <a:pos x="91" y="15"/>
                      </a:cxn>
                      <a:cxn ang="0">
                        <a:pos x="78" y="12"/>
                      </a:cxn>
                      <a:cxn ang="0">
                        <a:pos x="66" y="8"/>
                      </a:cxn>
                      <a:cxn ang="0">
                        <a:pos x="54" y="4"/>
                      </a:cxn>
                      <a:cxn ang="0">
                        <a:pos x="41" y="1"/>
                      </a:cxn>
                      <a:cxn ang="0">
                        <a:pos x="28" y="0"/>
                      </a:cxn>
                      <a:cxn ang="0">
                        <a:pos x="15" y="0"/>
                      </a:cxn>
                      <a:cxn ang="0">
                        <a:pos x="12" y="1"/>
                      </a:cxn>
                      <a:cxn ang="0">
                        <a:pos x="7" y="4"/>
                      </a:cxn>
                      <a:cxn ang="0">
                        <a:pos x="3" y="7"/>
                      </a:cxn>
                      <a:cxn ang="0">
                        <a:pos x="0" y="10"/>
                      </a:cxn>
                      <a:cxn ang="0">
                        <a:pos x="5" y="10"/>
                      </a:cxn>
                      <a:cxn ang="0">
                        <a:pos x="12" y="11"/>
                      </a:cxn>
                      <a:cxn ang="0">
                        <a:pos x="18" y="12"/>
                      </a:cxn>
                      <a:cxn ang="0">
                        <a:pos x="23" y="11"/>
                      </a:cxn>
                      <a:cxn ang="0">
                        <a:pos x="29" y="10"/>
                      </a:cxn>
                      <a:cxn ang="0">
                        <a:pos x="38" y="10"/>
                      </a:cxn>
                      <a:cxn ang="0">
                        <a:pos x="50" y="10"/>
                      </a:cxn>
                      <a:cxn ang="0">
                        <a:pos x="60" y="12"/>
                      </a:cxn>
                      <a:cxn ang="0">
                        <a:pos x="70" y="13"/>
                      </a:cxn>
                      <a:cxn ang="0">
                        <a:pos x="79" y="15"/>
                      </a:cxn>
                      <a:cxn ang="0">
                        <a:pos x="89" y="16"/>
                      </a:cxn>
                      <a:cxn ang="0">
                        <a:pos x="98" y="18"/>
                      </a:cxn>
                      <a:cxn ang="0">
                        <a:pos x="106" y="22"/>
                      </a:cxn>
                      <a:cxn ang="0">
                        <a:pos x="114" y="26"/>
                      </a:cxn>
                      <a:cxn ang="0">
                        <a:pos x="123" y="30"/>
                      </a:cxn>
                      <a:cxn ang="0">
                        <a:pos x="127" y="30"/>
                      </a:cxn>
                      <a:cxn ang="0">
                        <a:pos x="131" y="30"/>
                      </a:cxn>
                      <a:cxn ang="0">
                        <a:pos x="137" y="33"/>
                      </a:cxn>
                      <a:cxn ang="0">
                        <a:pos x="144" y="36"/>
                      </a:cxn>
                      <a:cxn ang="0">
                        <a:pos x="150" y="38"/>
                      </a:cxn>
                      <a:cxn ang="0">
                        <a:pos x="158" y="42"/>
                      </a:cxn>
                      <a:cxn ang="0">
                        <a:pos x="164" y="45"/>
                      </a:cxn>
                      <a:cxn ang="0">
                        <a:pos x="167" y="47"/>
                      </a:cxn>
                    </a:cxnLst>
                    <a:rect l="txL" t="txT" r="txR" b="txB"/>
                    <a:pathLst>
                      <a:path w="168" h="48">
                        <a:moveTo>
                          <a:pt x="167" y="47"/>
                        </a:moveTo>
                        <a:lnTo>
                          <a:pt x="164" y="38"/>
                        </a:lnTo>
                        <a:lnTo>
                          <a:pt x="160" y="31"/>
                        </a:lnTo>
                        <a:lnTo>
                          <a:pt x="157" y="30"/>
                        </a:lnTo>
                        <a:lnTo>
                          <a:pt x="150" y="28"/>
                        </a:lnTo>
                        <a:lnTo>
                          <a:pt x="144" y="26"/>
                        </a:lnTo>
                        <a:lnTo>
                          <a:pt x="137" y="28"/>
                        </a:lnTo>
                        <a:lnTo>
                          <a:pt x="130" y="29"/>
                        </a:lnTo>
                        <a:lnTo>
                          <a:pt x="121" y="25"/>
                        </a:lnTo>
                        <a:lnTo>
                          <a:pt x="109" y="21"/>
                        </a:lnTo>
                        <a:lnTo>
                          <a:pt x="98" y="17"/>
                        </a:lnTo>
                        <a:lnTo>
                          <a:pt x="91" y="15"/>
                        </a:lnTo>
                        <a:lnTo>
                          <a:pt x="78" y="12"/>
                        </a:lnTo>
                        <a:lnTo>
                          <a:pt x="66" y="8"/>
                        </a:lnTo>
                        <a:lnTo>
                          <a:pt x="54" y="4"/>
                        </a:lnTo>
                        <a:lnTo>
                          <a:pt x="41" y="1"/>
                        </a:lnTo>
                        <a:lnTo>
                          <a:pt x="28" y="0"/>
                        </a:lnTo>
                        <a:lnTo>
                          <a:pt x="15" y="0"/>
                        </a:lnTo>
                        <a:lnTo>
                          <a:pt x="12" y="1"/>
                        </a:lnTo>
                        <a:lnTo>
                          <a:pt x="7" y="4"/>
                        </a:lnTo>
                        <a:lnTo>
                          <a:pt x="3" y="7"/>
                        </a:lnTo>
                        <a:lnTo>
                          <a:pt x="0" y="10"/>
                        </a:lnTo>
                        <a:lnTo>
                          <a:pt x="5" y="10"/>
                        </a:lnTo>
                        <a:lnTo>
                          <a:pt x="12" y="11"/>
                        </a:lnTo>
                        <a:lnTo>
                          <a:pt x="18" y="12"/>
                        </a:lnTo>
                        <a:lnTo>
                          <a:pt x="23" y="11"/>
                        </a:lnTo>
                        <a:lnTo>
                          <a:pt x="29" y="10"/>
                        </a:lnTo>
                        <a:lnTo>
                          <a:pt x="38" y="10"/>
                        </a:lnTo>
                        <a:lnTo>
                          <a:pt x="50" y="10"/>
                        </a:lnTo>
                        <a:lnTo>
                          <a:pt x="60" y="12"/>
                        </a:lnTo>
                        <a:lnTo>
                          <a:pt x="70" y="13"/>
                        </a:lnTo>
                        <a:lnTo>
                          <a:pt x="79" y="15"/>
                        </a:lnTo>
                        <a:lnTo>
                          <a:pt x="89" y="16"/>
                        </a:lnTo>
                        <a:lnTo>
                          <a:pt x="98" y="18"/>
                        </a:lnTo>
                        <a:lnTo>
                          <a:pt x="106" y="22"/>
                        </a:lnTo>
                        <a:lnTo>
                          <a:pt x="114" y="26"/>
                        </a:lnTo>
                        <a:lnTo>
                          <a:pt x="123" y="30"/>
                        </a:lnTo>
                        <a:lnTo>
                          <a:pt x="127" y="30"/>
                        </a:lnTo>
                        <a:lnTo>
                          <a:pt x="131" y="30"/>
                        </a:lnTo>
                        <a:lnTo>
                          <a:pt x="137" y="33"/>
                        </a:lnTo>
                        <a:lnTo>
                          <a:pt x="144" y="36"/>
                        </a:lnTo>
                        <a:lnTo>
                          <a:pt x="150" y="38"/>
                        </a:lnTo>
                        <a:lnTo>
                          <a:pt x="158" y="42"/>
                        </a:lnTo>
                        <a:lnTo>
                          <a:pt x="164" y="45"/>
                        </a:lnTo>
                        <a:lnTo>
                          <a:pt x="167" y="47"/>
                        </a:lnTo>
                      </a:path>
                    </a:pathLst>
                  </a:custGeom>
                  <a:solidFill>
                    <a:srgbClr val="037C03">
                      <a:alpha val="50195"/>
                    </a:srgbClr>
                  </a:solidFill>
                  <a:ln w="9525">
                    <a:noFill/>
                  </a:ln>
                </p:spPr>
                <p:txBody>
                  <a:bodyPr/>
                  <a:lstStyle/>
                  <a:p>
                    <a:endParaRPr lang="zh-CN" altLang="en-US"/>
                  </a:p>
                </p:txBody>
              </p:sp>
              <p:sp>
                <p:nvSpPr>
                  <p:cNvPr id="89157" name="Freeform 188"/>
                  <p:cNvSpPr/>
                  <p:nvPr/>
                </p:nvSpPr>
                <p:spPr>
                  <a:xfrm>
                    <a:off x="1985" y="1514"/>
                    <a:ext cx="173" cy="20"/>
                  </a:xfrm>
                  <a:custGeom>
                    <a:avLst/>
                    <a:gdLst>
                      <a:gd name="txL" fmla="*/ 0 w 173"/>
                      <a:gd name="txT" fmla="*/ 0 h 20"/>
                      <a:gd name="txR" fmla="*/ 173 w 173"/>
                      <a:gd name="txB" fmla="*/ 20 h 20"/>
                    </a:gdLst>
                    <a:ahLst/>
                    <a:cxnLst>
                      <a:cxn ang="0">
                        <a:pos x="172" y="19"/>
                      </a:cxn>
                      <a:cxn ang="0">
                        <a:pos x="167" y="17"/>
                      </a:cxn>
                      <a:cxn ang="0">
                        <a:pos x="163" y="15"/>
                      </a:cxn>
                      <a:cxn ang="0">
                        <a:pos x="157" y="13"/>
                      </a:cxn>
                      <a:cxn ang="0">
                        <a:pos x="152" y="11"/>
                      </a:cxn>
                      <a:cxn ang="0">
                        <a:pos x="146" y="9"/>
                      </a:cxn>
                      <a:cxn ang="0">
                        <a:pos x="138" y="6"/>
                      </a:cxn>
                      <a:cxn ang="0">
                        <a:pos x="131" y="2"/>
                      </a:cxn>
                      <a:cxn ang="0">
                        <a:pos x="125" y="2"/>
                      </a:cxn>
                      <a:cxn ang="0">
                        <a:pos x="118" y="3"/>
                      </a:cxn>
                      <a:cxn ang="0">
                        <a:pos x="108" y="5"/>
                      </a:cxn>
                      <a:cxn ang="0">
                        <a:pos x="103" y="5"/>
                      </a:cxn>
                      <a:cxn ang="0">
                        <a:pos x="91" y="3"/>
                      </a:cxn>
                      <a:cxn ang="0">
                        <a:pos x="77" y="1"/>
                      </a:cxn>
                      <a:cxn ang="0">
                        <a:pos x="67" y="0"/>
                      </a:cxn>
                      <a:cxn ang="0">
                        <a:pos x="55" y="0"/>
                      </a:cxn>
                      <a:cxn ang="0">
                        <a:pos x="43" y="0"/>
                      </a:cxn>
                      <a:cxn ang="0">
                        <a:pos x="35" y="1"/>
                      </a:cxn>
                      <a:cxn ang="0">
                        <a:pos x="26" y="2"/>
                      </a:cxn>
                      <a:cxn ang="0">
                        <a:pos x="18" y="3"/>
                      </a:cxn>
                      <a:cxn ang="0">
                        <a:pos x="9" y="4"/>
                      </a:cxn>
                      <a:cxn ang="0">
                        <a:pos x="8" y="8"/>
                      </a:cxn>
                      <a:cxn ang="0">
                        <a:pos x="6" y="11"/>
                      </a:cxn>
                      <a:cxn ang="0">
                        <a:pos x="4" y="14"/>
                      </a:cxn>
                      <a:cxn ang="0">
                        <a:pos x="0" y="16"/>
                      </a:cxn>
                      <a:cxn ang="0">
                        <a:pos x="7" y="15"/>
                      </a:cxn>
                      <a:cxn ang="0">
                        <a:pos x="15" y="13"/>
                      </a:cxn>
                      <a:cxn ang="0">
                        <a:pos x="21" y="12"/>
                      </a:cxn>
                      <a:cxn ang="0">
                        <a:pos x="29" y="11"/>
                      </a:cxn>
                      <a:cxn ang="0">
                        <a:pos x="36" y="10"/>
                      </a:cxn>
                      <a:cxn ang="0">
                        <a:pos x="49" y="9"/>
                      </a:cxn>
                      <a:cxn ang="0">
                        <a:pos x="62" y="8"/>
                      </a:cxn>
                      <a:cxn ang="0">
                        <a:pos x="77" y="7"/>
                      </a:cxn>
                      <a:cxn ang="0">
                        <a:pos x="92" y="6"/>
                      </a:cxn>
                      <a:cxn ang="0">
                        <a:pos x="106" y="6"/>
                      </a:cxn>
                      <a:cxn ang="0">
                        <a:pos x="118" y="7"/>
                      </a:cxn>
                      <a:cxn ang="0">
                        <a:pos x="126" y="9"/>
                      </a:cxn>
                      <a:cxn ang="0">
                        <a:pos x="135" y="11"/>
                      </a:cxn>
                      <a:cxn ang="0">
                        <a:pos x="145" y="13"/>
                      </a:cxn>
                      <a:cxn ang="0">
                        <a:pos x="155" y="16"/>
                      </a:cxn>
                      <a:cxn ang="0">
                        <a:pos x="163" y="17"/>
                      </a:cxn>
                      <a:cxn ang="0">
                        <a:pos x="172" y="19"/>
                      </a:cxn>
                    </a:cxnLst>
                    <a:rect l="txL" t="txT" r="txR" b="txB"/>
                    <a:pathLst>
                      <a:path w="173" h="20">
                        <a:moveTo>
                          <a:pt x="172" y="19"/>
                        </a:moveTo>
                        <a:lnTo>
                          <a:pt x="167" y="17"/>
                        </a:lnTo>
                        <a:lnTo>
                          <a:pt x="163" y="15"/>
                        </a:lnTo>
                        <a:lnTo>
                          <a:pt x="157" y="13"/>
                        </a:lnTo>
                        <a:lnTo>
                          <a:pt x="152" y="11"/>
                        </a:lnTo>
                        <a:lnTo>
                          <a:pt x="146" y="9"/>
                        </a:lnTo>
                        <a:lnTo>
                          <a:pt x="138" y="6"/>
                        </a:lnTo>
                        <a:lnTo>
                          <a:pt x="131" y="2"/>
                        </a:lnTo>
                        <a:lnTo>
                          <a:pt x="125" y="2"/>
                        </a:lnTo>
                        <a:lnTo>
                          <a:pt x="118" y="3"/>
                        </a:lnTo>
                        <a:lnTo>
                          <a:pt x="108" y="5"/>
                        </a:lnTo>
                        <a:lnTo>
                          <a:pt x="103" y="5"/>
                        </a:lnTo>
                        <a:lnTo>
                          <a:pt x="91" y="3"/>
                        </a:lnTo>
                        <a:lnTo>
                          <a:pt x="77" y="1"/>
                        </a:lnTo>
                        <a:lnTo>
                          <a:pt x="67" y="0"/>
                        </a:lnTo>
                        <a:lnTo>
                          <a:pt x="55" y="0"/>
                        </a:lnTo>
                        <a:lnTo>
                          <a:pt x="43" y="0"/>
                        </a:lnTo>
                        <a:lnTo>
                          <a:pt x="35" y="1"/>
                        </a:lnTo>
                        <a:lnTo>
                          <a:pt x="26" y="2"/>
                        </a:lnTo>
                        <a:lnTo>
                          <a:pt x="18" y="3"/>
                        </a:lnTo>
                        <a:lnTo>
                          <a:pt x="9" y="4"/>
                        </a:lnTo>
                        <a:lnTo>
                          <a:pt x="8" y="8"/>
                        </a:lnTo>
                        <a:lnTo>
                          <a:pt x="6" y="11"/>
                        </a:lnTo>
                        <a:lnTo>
                          <a:pt x="4" y="14"/>
                        </a:lnTo>
                        <a:lnTo>
                          <a:pt x="0" y="16"/>
                        </a:lnTo>
                        <a:lnTo>
                          <a:pt x="7" y="15"/>
                        </a:lnTo>
                        <a:lnTo>
                          <a:pt x="15" y="13"/>
                        </a:lnTo>
                        <a:lnTo>
                          <a:pt x="21" y="12"/>
                        </a:lnTo>
                        <a:lnTo>
                          <a:pt x="29" y="11"/>
                        </a:lnTo>
                        <a:lnTo>
                          <a:pt x="36" y="10"/>
                        </a:lnTo>
                        <a:lnTo>
                          <a:pt x="49" y="9"/>
                        </a:lnTo>
                        <a:lnTo>
                          <a:pt x="62" y="8"/>
                        </a:lnTo>
                        <a:lnTo>
                          <a:pt x="77" y="7"/>
                        </a:lnTo>
                        <a:lnTo>
                          <a:pt x="92" y="6"/>
                        </a:lnTo>
                        <a:lnTo>
                          <a:pt x="106" y="6"/>
                        </a:lnTo>
                        <a:lnTo>
                          <a:pt x="118" y="7"/>
                        </a:lnTo>
                        <a:lnTo>
                          <a:pt x="126" y="9"/>
                        </a:lnTo>
                        <a:lnTo>
                          <a:pt x="135" y="11"/>
                        </a:lnTo>
                        <a:lnTo>
                          <a:pt x="145" y="13"/>
                        </a:lnTo>
                        <a:lnTo>
                          <a:pt x="155" y="16"/>
                        </a:lnTo>
                        <a:lnTo>
                          <a:pt x="163" y="17"/>
                        </a:lnTo>
                        <a:lnTo>
                          <a:pt x="172" y="19"/>
                        </a:lnTo>
                      </a:path>
                    </a:pathLst>
                  </a:custGeom>
                  <a:solidFill>
                    <a:srgbClr val="037C03">
                      <a:alpha val="50195"/>
                    </a:srgbClr>
                  </a:solidFill>
                  <a:ln w="9525">
                    <a:noFill/>
                  </a:ln>
                </p:spPr>
                <p:txBody>
                  <a:bodyPr/>
                  <a:lstStyle/>
                  <a:p>
                    <a:endParaRPr lang="zh-CN" altLang="en-US"/>
                  </a:p>
                </p:txBody>
              </p:sp>
            </p:grpSp>
          </p:grpSp>
        </p:grpSp>
      </p:grpSp>
      <p:grpSp>
        <p:nvGrpSpPr>
          <p:cNvPr id="89101" name="Group 189"/>
          <p:cNvGrpSpPr/>
          <p:nvPr/>
        </p:nvGrpSpPr>
        <p:grpSpPr>
          <a:xfrm>
            <a:off x="7835900" y="5292725"/>
            <a:ext cx="1371600" cy="1600200"/>
            <a:chOff x="0" y="3182"/>
            <a:chExt cx="808" cy="998"/>
          </a:xfrm>
        </p:grpSpPr>
        <p:grpSp>
          <p:nvGrpSpPr>
            <p:cNvPr id="89125" name="Group 190"/>
            <p:cNvGrpSpPr/>
            <p:nvPr/>
          </p:nvGrpSpPr>
          <p:grpSpPr>
            <a:xfrm>
              <a:off x="0" y="3182"/>
              <a:ext cx="506" cy="927"/>
              <a:chOff x="1685" y="1023"/>
              <a:chExt cx="506" cy="927"/>
            </a:xfrm>
          </p:grpSpPr>
          <p:sp>
            <p:nvSpPr>
              <p:cNvPr id="89138" name="Freeform 191"/>
              <p:cNvSpPr/>
              <p:nvPr/>
            </p:nvSpPr>
            <p:spPr>
              <a:xfrm>
                <a:off x="1733" y="1329"/>
                <a:ext cx="76" cy="621"/>
              </a:xfrm>
              <a:custGeom>
                <a:avLst/>
                <a:gdLst>
                  <a:gd name="txL" fmla="*/ 0 w 76"/>
                  <a:gd name="txT" fmla="*/ 0 h 621"/>
                  <a:gd name="txR" fmla="*/ 76 w 76"/>
                  <a:gd name="txB" fmla="*/ 621 h 621"/>
                </a:gdLst>
                <a:ahLst/>
                <a:cxnLst>
                  <a:cxn ang="0">
                    <a:pos x="0" y="54"/>
                  </a:cxn>
                  <a:cxn ang="0">
                    <a:pos x="11" y="269"/>
                  </a:cxn>
                  <a:cxn ang="0">
                    <a:pos x="22" y="442"/>
                  </a:cxn>
                  <a:cxn ang="0">
                    <a:pos x="30" y="570"/>
                  </a:cxn>
                  <a:cxn ang="0">
                    <a:pos x="28" y="620"/>
                  </a:cxn>
                  <a:cxn ang="0">
                    <a:pos x="44" y="620"/>
                  </a:cxn>
                  <a:cxn ang="0">
                    <a:pos x="49" y="546"/>
                  </a:cxn>
                  <a:cxn ang="0">
                    <a:pos x="52" y="434"/>
                  </a:cxn>
                  <a:cxn ang="0">
                    <a:pos x="58" y="329"/>
                  </a:cxn>
                  <a:cxn ang="0">
                    <a:pos x="61" y="250"/>
                  </a:cxn>
                  <a:cxn ang="0">
                    <a:pos x="67" y="135"/>
                  </a:cxn>
                  <a:cxn ang="0">
                    <a:pos x="75" y="36"/>
                  </a:cxn>
                  <a:cxn ang="0">
                    <a:pos x="70" y="11"/>
                  </a:cxn>
                  <a:cxn ang="0">
                    <a:pos x="62" y="0"/>
                  </a:cxn>
                  <a:cxn ang="0">
                    <a:pos x="53" y="121"/>
                  </a:cxn>
                  <a:cxn ang="0">
                    <a:pos x="45" y="224"/>
                  </a:cxn>
                  <a:cxn ang="0">
                    <a:pos x="43" y="305"/>
                  </a:cxn>
                  <a:cxn ang="0">
                    <a:pos x="40" y="390"/>
                  </a:cxn>
                  <a:cxn ang="0">
                    <a:pos x="34" y="475"/>
                  </a:cxn>
                  <a:cxn ang="0">
                    <a:pos x="25" y="327"/>
                  </a:cxn>
                  <a:cxn ang="0">
                    <a:pos x="15" y="187"/>
                  </a:cxn>
                  <a:cxn ang="0">
                    <a:pos x="0" y="54"/>
                  </a:cxn>
                </a:cxnLst>
                <a:rect l="txL" t="txT" r="txR" b="txB"/>
                <a:pathLst>
                  <a:path w="76" h="621">
                    <a:moveTo>
                      <a:pt x="0" y="54"/>
                    </a:moveTo>
                    <a:lnTo>
                      <a:pt x="11" y="269"/>
                    </a:lnTo>
                    <a:lnTo>
                      <a:pt x="22" y="442"/>
                    </a:lnTo>
                    <a:lnTo>
                      <a:pt x="30" y="570"/>
                    </a:lnTo>
                    <a:lnTo>
                      <a:pt x="28" y="620"/>
                    </a:lnTo>
                    <a:lnTo>
                      <a:pt x="44" y="620"/>
                    </a:lnTo>
                    <a:lnTo>
                      <a:pt x="49" y="546"/>
                    </a:lnTo>
                    <a:lnTo>
                      <a:pt x="52" y="434"/>
                    </a:lnTo>
                    <a:lnTo>
                      <a:pt x="58" y="329"/>
                    </a:lnTo>
                    <a:lnTo>
                      <a:pt x="61" y="250"/>
                    </a:lnTo>
                    <a:lnTo>
                      <a:pt x="67" y="135"/>
                    </a:lnTo>
                    <a:lnTo>
                      <a:pt x="75" y="36"/>
                    </a:lnTo>
                    <a:lnTo>
                      <a:pt x="70" y="11"/>
                    </a:lnTo>
                    <a:lnTo>
                      <a:pt x="62" y="0"/>
                    </a:lnTo>
                    <a:lnTo>
                      <a:pt x="53" y="121"/>
                    </a:lnTo>
                    <a:lnTo>
                      <a:pt x="45" y="224"/>
                    </a:lnTo>
                    <a:lnTo>
                      <a:pt x="43" y="305"/>
                    </a:lnTo>
                    <a:lnTo>
                      <a:pt x="40" y="390"/>
                    </a:lnTo>
                    <a:lnTo>
                      <a:pt x="34" y="475"/>
                    </a:lnTo>
                    <a:lnTo>
                      <a:pt x="25" y="327"/>
                    </a:lnTo>
                    <a:lnTo>
                      <a:pt x="15" y="187"/>
                    </a:lnTo>
                    <a:lnTo>
                      <a:pt x="0" y="54"/>
                    </a:lnTo>
                  </a:path>
                </a:pathLst>
              </a:custGeom>
              <a:solidFill>
                <a:srgbClr val="3C0023">
                  <a:alpha val="50195"/>
                </a:srgbClr>
              </a:solidFill>
              <a:ln w="9525">
                <a:noFill/>
              </a:ln>
            </p:spPr>
            <p:txBody>
              <a:bodyPr/>
              <a:lstStyle/>
              <a:p>
                <a:endParaRPr lang="zh-CN" altLang="en-US"/>
              </a:p>
            </p:txBody>
          </p:sp>
          <p:sp>
            <p:nvSpPr>
              <p:cNvPr id="89139" name="Freeform 192"/>
              <p:cNvSpPr/>
              <p:nvPr/>
            </p:nvSpPr>
            <p:spPr>
              <a:xfrm>
                <a:off x="1790" y="1583"/>
                <a:ext cx="120" cy="349"/>
              </a:xfrm>
              <a:custGeom>
                <a:avLst/>
                <a:gdLst>
                  <a:gd name="txL" fmla="*/ 0 w 120"/>
                  <a:gd name="txT" fmla="*/ 0 h 349"/>
                  <a:gd name="txR" fmla="*/ 120 w 120"/>
                  <a:gd name="txB" fmla="*/ 349 h 349"/>
                </a:gdLst>
                <a:ahLst/>
                <a:cxnLst>
                  <a:cxn ang="0">
                    <a:pos x="0" y="161"/>
                  </a:cxn>
                  <a:cxn ang="0">
                    <a:pos x="10" y="232"/>
                  </a:cxn>
                  <a:cxn ang="0">
                    <a:pos x="20" y="289"/>
                  </a:cxn>
                  <a:cxn ang="0">
                    <a:pos x="26" y="331"/>
                  </a:cxn>
                  <a:cxn ang="0">
                    <a:pos x="25" y="348"/>
                  </a:cxn>
                  <a:cxn ang="0">
                    <a:pos x="39" y="348"/>
                  </a:cxn>
                  <a:cxn ang="0">
                    <a:pos x="43" y="323"/>
                  </a:cxn>
                  <a:cxn ang="0">
                    <a:pos x="45" y="286"/>
                  </a:cxn>
                  <a:cxn ang="0">
                    <a:pos x="51" y="252"/>
                  </a:cxn>
                  <a:cxn ang="0">
                    <a:pos x="54" y="226"/>
                  </a:cxn>
                  <a:cxn ang="0">
                    <a:pos x="59" y="188"/>
                  </a:cxn>
                  <a:cxn ang="0">
                    <a:pos x="66" y="156"/>
                  </a:cxn>
                  <a:cxn ang="0">
                    <a:pos x="71" y="127"/>
                  </a:cxn>
                  <a:cxn ang="0">
                    <a:pos x="77" y="96"/>
                  </a:cxn>
                  <a:cxn ang="0">
                    <a:pos x="86" y="66"/>
                  </a:cxn>
                  <a:cxn ang="0">
                    <a:pos x="96" y="40"/>
                  </a:cxn>
                  <a:cxn ang="0">
                    <a:pos x="113" y="15"/>
                  </a:cxn>
                  <a:cxn ang="0">
                    <a:pos x="119" y="5"/>
                  </a:cxn>
                  <a:cxn ang="0">
                    <a:pos x="112" y="0"/>
                  </a:cxn>
                  <a:cxn ang="0">
                    <a:pos x="101" y="10"/>
                  </a:cxn>
                  <a:cxn ang="0">
                    <a:pos x="86" y="33"/>
                  </a:cxn>
                  <a:cxn ang="0">
                    <a:pos x="75" y="57"/>
                  </a:cxn>
                  <a:cxn ang="0">
                    <a:pos x="66" y="81"/>
                  </a:cxn>
                  <a:cxn ang="0">
                    <a:pos x="60" y="113"/>
                  </a:cxn>
                  <a:cxn ang="0">
                    <a:pos x="55" y="144"/>
                  </a:cxn>
                  <a:cxn ang="0">
                    <a:pos x="47" y="184"/>
                  </a:cxn>
                  <a:cxn ang="0">
                    <a:pos x="40" y="217"/>
                  </a:cxn>
                  <a:cxn ang="0">
                    <a:pos x="37" y="244"/>
                  </a:cxn>
                  <a:cxn ang="0">
                    <a:pos x="36" y="272"/>
                  </a:cxn>
                  <a:cxn ang="0">
                    <a:pos x="30" y="300"/>
                  </a:cxn>
                  <a:cxn ang="0">
                    <a:pos x="22" y="251"/>
                  </a:cxn>
                  <a:cxn ang="0">
                    <a:pos x="13" y="205"/>
                  </a:cxn>
                  <a:cxn ang="0">
                    <a:pos x="0" y="161"/>
                  </a:cxn>
                </a:cxnLst>
                <a:rect l="txL" t="txT" r="txR" b="txB"/>
                <a:pathLst>
                  <a:path w="120" h="349">
                    <a:moveTo>
                      <a:pt x="0" y="161"/>
                    </a:moveTo>
                    <a:lnTo>
                      <a:pt x="10" y="232"/>
                    </a:lnTo>
                    <a:lnTo>
                      <a:pt x="20" y="289"/>
                    </a:lnTo>
                    <a:lnTo>
                      <a:pt x="26" y="331"/>
                    </a:lnTo>
                    <a:lnTo>
                      <a:pt x="25" y="348"/>
                    </a:lnTo>
                    <a:lnTo>
                      <a:pt x="39" y="348"/>
                    </a:lnTo>
                    <a:lnTo>
                      <a:pt x="43" y="323"/>
                    </a:lnTo>
                    <a:lnTo>
                      <a:pt x="45" y="286"/>
                    </a:lnTo>
                    <a:lnTo>
                      <a:pt x="51" y="252"/>
                    </a:lnTo>
                    <a:lnTo>
                      <a:pt x="54" y="226"/>
                    </a:lnTo>
                    <a:lnTo>
                      <a:pt x="59" y="188"/>
                    </a:lnTo>
                    <a:lnTo>
                      <a:pt x="66" y="156"/>
                    </a:lnTo>
                    <a:lnTo>
                      <a:pt x="71" y="127"/>
                    </a:lnTo>
                    <a:lnTo>
                      <a:pt x="77" y="96"/>
                    </a:lnTo>
                    <a:lnTo>
                      <a:pt x="86" y="66"/>
                    </a:lnTo>
                    <a:lnTo>
                      <a:pt x="96" y="40"/>
                    </a:lnTo>
                    <a:lnTo>
                      <a:pt x="113" y="15"/>
                    </a:lnTo>
                    <a:lnTo>
                      <a:pt x="119" y="5"/>
                    </a:lnTo>
                    <a:lnTo>
                      <a:pt x="112" y="0"/>
                    </a:lnTo>
                    <a:lnTo>
                      <a:pt x="101" y="10"/>
                    </a:lnTo>
                    <a:lnTo>
                      <a:pt x="86" y="33"/>
                    </a:lnTo>
                    <a:lnTo>
                      <a:pt x="75" y="57"/>
                    </a:lnTo>
                    <a:lnTo>
                      <a:pt x="66" y="81"/>
                    </a:lnTo>
                    <a:lnTo>
                      <a:pt x="60" y="113"/>
                    </a:lnTo>
                    <a:lnTo>
                      <a:pt x="55" y="144"/>
                    </a:lnTo>
                    <a:lnTo>
                      <a:pt x="47" y="184"/>
                    </a:lnTo>
                    <a:lnTo>
                      <a:pt x="40" y="217"/>
                    </a:lnTo>
                    <a:lnTo>
                      <a:pt x="37" y="244"/>
                    </a:lnTo>
                    <a:lnTo>
                      <a:pt x="36" y="272"/>
                    </a:lnTo>
                    <a:lnTo>
                      <a:pt x="30" y="300"/>
                    </a:lnTo>
                    <a:lnTo>
                      <a:pt x="22" y="251"/>
                    </a:lnTo>
                    <a:lnTo>
                      <a:pt x="13" y="205"/>
                    </a:lnTo>
                    <a:lnTo>
                      <a:pt x="0" y="161"/>
                    </a:lnTo>
                  </a:path>
                </a:pathLst>
              </a:custGeom>
              <a:solidFill>
                <a:srgbClr val="3C0023">
                  <a:alpha val="50195"/>
                </a:srgbClr>
              </a:solidFill>
              <a:ln w="9525">
                <a:noFill/>
              </a:ln>
            </p:spPr>
            <p:txBody>
              <a:bodyPr/>
              <a:lstStyle/>
              <a:p>
                <a:endParaRPr lang="zh-CN" altLang="en-US"/>
              </a:p>
            </p:txBody>
          </p:sp>
          <p:sp>
            <p:nvSpPr>
              <p:cNvPr id="89140" name="Freeform 193"/>
              <p:cNvSpPr/>
              <p:nvPr/>
            </p:nvSpPr>
            <p:spPr>
              <a:xfrm>
                <a:off x="1685" y="1239"/>
                <a:ext cx="266" cy="391"/>
              </a:xfrm>
              <a:custGeom>
                <a:avLst/>
                <a:gdLst>
                  <a:gd name="txL" fmla="*/ 0 w 266"/>
                  <a:gd name="txT" fmla="*/ 0 h 391"/>
                  <a:gd name="txR" fmla="*/ 266 w 266"/>
                  <a:gd name="txB" fmla="*/ 391 h 391"/>
                </a:gdLst>
                <a:ahLst/>
                <a:cxnLst>
                  <a:cxn ang="0">
                    <a:pos x="107" y="123"/>
                  </a:cxn>
                  <a:cxn ang="0">
                    <a:pos x="116" y="135"/>
                  </a:cxn>
                  <a:cxn ang="0">
                    <a:pos x="163" y="114"/>
                  </a:cxn>
                  <a:cxn ang="0">
                    <a:pos x="211" y="81"/>
                  </a:cxn>
                  <a:cxn ang="0">
                    <a:pos x="233" y="46"/>
                  </a:cxn>
                  <a:cxn ang="0">
                    <a:pos x="220" y="76"/>
                  </a:cxn>
                  <a:cxn ang="0">
                    <a:pos x="183" y="109"/>
                  </a:cxn>
                  <a:cxn ang="0">
                    <a:pos x="142" y="138"/>
                  </a:cxn>
                  <a:cxn ang="0">
                    <a:pos x="102" y="159"/>
                  </a:cxn>
                  <a:cxn ang="0">
                    <a:pos x="119" y="178"/>
                  </a:cxn>
                  <a:cxn ang="0">
                    <a:pos x="155" y="180"/>
                  </a:cxn>
                  <a:cxn ang="0">
                    <a:pos x="202" y="187"/>
                  </a:cxn>
                  <a:cxn ang="0">
                    <a:pos x="239" y="204"/>
                  </a:cxn>
                  <a:cxn ang="0">
                    <a:pos x="251" y="215"/>
                  </a:cxn>
                  <a:cxn ang="0">
                    <a:pos x="213" y="204"/>
                  </a:cxn>
                  <a:cxn ang="0">
                    <a:pos x="162" y="198"/>
                  </a:cxn>
                  <a:cxn ang="0">
                    <a:pos x="114" y="195"/>
                  </a:cxn>
                  <a:cxn ang="0">
                    <a:pos x="88" y="203"/>
                  </a:cxn>
                  <a:cxn ang="0">
                    <a:pos x="93" y="248"/>
                  </a:cxn>
                  <a:cxn ang="0">
                    <a:pos x="93" y="307"/>
                  </a:cxn>
                  <a:cxn ang="0">
                    <a:pos x="77" y="354"/>
                  </a:cxn>
                  <a:cxn ang="0">
                    <a:pos x="46" y="390"/>
                  </a:cxn>
                  <a:cxn ang="0">
                    <a:pos x="50" y="346"/>
                  </a:cxn>
                  <a:cxn ang="0">
                    <a:pos x="61" y="299"/>
                  </a:cxn>
                  <a:cxn ang="0">
                    <a:pos x="67" y="238"/>
                  </a:cxn>
                  <a:cxn ang="0">
                    <a:pos x="64" y="198"/>
                  </a:cxn>
                  <a:cxn ang="0">
                    <a:pos x="48" y="221"/>
                  </a:cxn>
                  <a:cxn ang="0">
                    <a:pos x="39" y="273"/>
                  </a:cxn>
                  <a:cxn ang="0">
                    <a:pos x="32" y="325"/>
                  </a:cxn>
                  <a:cxn ang="0">
                    <a:pos x="10" y="364"/>
                  </a:cxn>
                  <a:cxn ang="0">
                    <a:pos x="2" y="364"/>
                  </a:cxn>
                  <a:cxn ang="0">
                    <a:pos x="2" y="324"/>
                  </a:cxn>
                  <a:cxn ang="0">
                    <a:pos x="17" y="287"/>
                  </a:cxn>
                  <a:cxn ang="0">
                    <a:pos x="34" y="239"/>
                  </a:cxn>
                  <a:cxn ang="0">
                    <a:pos x="42" y="204"/>
                  </a:cxn>
                  <a:cxn ang="0">
                    <a:pos x="26" y="182"/>
                  </a:cxn>
                  <a:cxn ang="0">
                    <a:pos x="2" y="184"/>
                  </a:cxn>
                  <a:cxn ang="0">
                    <a:pos x="2" y="184"/>
                  </a:cxn>
                  <a:cxn ang="0">
                    <a:pos x="2" y="184"/>
                  </a:cxn>
                  <a:cxn ang="0">
                    <a:pos x="2" y="184"/>
                  </a:cxn>
                  <a:cxn ang="0">
                    <a:pos x="2" y="184"/>
                  </a:cxn>
                  <a:cxn ang="0">
                    <a:pos x="2" y="184"/>
                  </a:cxn>
                  <a:cxn ang="0">
                    <a:pos x="13" y="161"/>
                  </a:cxn>
                  <a:cxn ang="0">
                    <a:pos x="13" y="138"/>
                  </a:cxn>
                  <a:cxn ang="0">
                    <a:pos x="2" y="105"/>
                  </a:cxn>
                  <a:cxn ang="0">
                    <a:pos x="2" y="105"/>
                  </a:cxn>
                  <a:cxn ang="0">
                    <a:pos x="2" y="105"/>
                  </a:cxn>
                  <a:cxn ang="0">
                    <a:pos x="2" y="105"/>
                  </a:cxn>
                  <a:cxn ang="0">
                    <a:pos x="24" y="122"/>
                  </a:cxn>
                  <a:cxn ang="0">
                    <a:pos x="53" y="157"/>
                  </a:cxn>
                  <a:cxn ang="0">
                    <a:pos x="55" y="130"/>
                  </a:cxn>
                  <a:cxn ang="0">
                    <a:pos x="24" y="91"/>
                  </a:cxn>
                  <a:cxn ang="0">
                    <a:pos x="2" y="65"/>
                  </a:cxn>
                  <a:cxn ang="0">
                    <a:pos x="2" y="65"/>
                  </a:cxn>
                  <a:cxn ang="0">
                    <a:pos x="2" y="48"/>
                  </a:cxn>
                  <a:cxn ang="0">
                    <a:pos x="30" y="87"/>
                  </a:cxn>
                  <a:cxn ang="0">
                    <a:pos x="61" y="138"/>
                  </a:cxn>
                  <a:cxn ang="0">
                    <a:pos x="80" y="127"/>
                  </a:cxn>
                  <a:cxn ang="0">
                    <a:pos x="106" y="87"/>
                  </a:cxn>
                  <a:cxn ang="0">
                    <a:pos x="139" y="39"/>
                  </a:cxn>
                  <a:cxn ang="0">
                    <a:pos x="165" y="6"/>
                  </a:cxn>
                  <a:cxn ang="0">
                    <a:pos x="163" y="29"/>
                  </a:cxn>
                  <a:cxn ang="0">
                    <a:pos x="137" y="76"/>
                  </a:cxn>
                </a:cxnLst>
                <a:rect l="txL" t="txT" r="txR" b="txB"/>
                <a:pathLst>
                  <a:path w="266" h="391">
                    <a:moveTo>
                      <a:pt x="124" y="95"/>
                    </a:moveTo>
                    <a:lnTo>
                      <a:pt x="119" y="101"/>
                    </a:lnTo>
                    <a:lnTo>
                      <a:pt x="115" y="108"/>
                    </a:lnTo>
                    <a:lnTo>
                      <a:pt x="111" y="115"/>
                    </a:lnTo>
                    <a:lnTo>
                      <a:pt x="107" y="123"/>
                    </a:lnTo>
                    <a:lnTo>
                      <a:pt x="104" y="129"/>
                    </a:lnTo>
                    <a:lnTo>
                      <a:pt x="102" y="136"/>
                    </a:lnTo>
                    <a:lnTo>
                      <a:pt x="100" y="142"/>
                    </a:lnTo>
                    <a:lnTo>
                      <a:pt x="107" y="138"/>
                    </a:lnTo>
                    <a:lnTo>
                      <a:pt x="116" y="135"/>
                    </a:lnTo>
                    <a:lnTo>
                      <a:pt x="125" y="131"/>
                    </a:lnTo>
                    <a:lnTo>
                      <a:pt x="134" y="127"/>
                    </a:lnTo>
                    <a:lnTo>
                      <a:pt x="144" y="124"/>
                    </a:lnTo>
                    <a:lnTo>
                      <a:pt x="154" y="119"/>
                    </a:lnTo>
                    <a:lnTo>
                      <a:pt x="163" y="114"/>
                    </a:lnTo>
                    <a:lnTo>
                      <a:pt x="175" y="107"/>
                    </a:lnTo>
                    <a:lnTo>
                      <a:pt x="184" y="101"/>
                    </a:lnTo>
                    <a:lnTo>
                      <a:pt x="195" y="93"/>
                    </a:lnTo>
                    <a:lnTo>
                      <a:pt x="203" y="89"/>
                    </a:lnTo>
                    <a:lnTo>
                      <a:pt x="211" y="81"/>
                    </a:lnTo>
                    <a:lnTo>
                      <a:pt x="218" y="75"/>
                    </a:lnTo>
                    <a:lnTo>
                      <a:pt x="224" y="66"/>
                    </a:lnTo>
                    <a:lnTo>
                      <a:pt x="227" y="59"/>
                    </a:lnTo>
                    <a:lnTo>
                      <a:pt x="230" y="51"/>
                    </a:lnTo>
                    <a:lnTo>
                      <a:pt x="233" y="46"/>
                    </a:lnTo>
                    <a:lnTo>
                      <a:pt x="233" y="52"/>
                    </a:lnTo>
                    <a:lnTo>
                      <a:pt x="233" y="56"/>
                    </a:lnTo>
                    <a:lnTo>
                      <a:pt x="231" y="61"/>
                    </a:lnTo>
                    <a:lnTo>
                      <a:pt x="227" y="67"/>
                    </a:lnTo>
                    <a:lnTo>
                      <a:pt x="220" y="76"/>
                    </a:lnTo>
                    <a:lnTo>
                      <a:pt x="217" y="83"/>
                    </a:lnTo>
                    <a:lnTo>
                      <a:pt x="210" y="88"/>
                    </a:lnTo>
                    <a:lnTo>
                      <a:pt x="202" y="94"/>
                    </a:lnTo>
                    <a:lnTo>
                      <a:pt x="192" y="101"/>
                    </a:lnTo>
                    <a:lnTo>
                      <a:pt x="183" y="109"/>
                    </a:lnTo>
                    <a:lnTo>
                      <a:pt x="173" y="116"/>
                    </a:lnTo>
                    <a:lnTo>
                      <a:pt x="167" y="122"/>
                    </a:lnTo>
                    <a:lnTo>
                      <a:pt x="159" y="129"/>
                    </a:lnTo>
                    <a:lnTo>
                      <a:pt x="151" y="133"/>
                    </a:lnTo>
                    <a:lnTo>
                      <a:pt x="142" y="138"/>
                    </a:lnTo>
                    <a:lnTo>
                      <a:pt x="133" y="143"/>
                    </a:lnTo>
                    <a:lnTo>
                      <a:pt x="125" y="148"/>
                    </a:lnTo>
                    <a:lnTo>
                      <a:pt x="118" y="152"/>
                    </a:lnTo>
                    <a:lnTo>
                      <a:pt x="109" y="156"/>
                    </a:lnTo>
                    <a:lnTo>
                      <a:pt x="102" y="159"/>
                    </a:lnTo>
                    <a:lnTo>
                      <a:pt x="100" y="161"/>
                    </a:lnTo>
                    <a:lnTo>
                      <a:pt x="102" y="165"/>
                    </a:lnTo>
                    <a:lnTo>
                      <a:pt x="106" y="170"/>
                    </a:lnTo>
                    <a:lnTo>
                      <a:pt x="110" y="176"/>
                    </a:lnTo>
                    <a:lnTo>
                      <a:pt x="119" y="178"/>
                    </a:lnTo>
                    <a:lnTo>
                      <a:pt x="125" y="178"/>
                    </a:lnTo>
                    <a:lnTo>
                      <a:pt x="135" y="180"/>
                    </a:lnTo>
                    <a:lnTo>
                      <a:pt x="144" y="180"/>
                    </a:lnTo>
                    <a:lnTo>
                      <a:pt x="155" y="180"/>
                    </a:lnTo>
                    <a:lnTo>
                      <a:pt x="165" y="182"/>
                    </a:lnTo>
                    <a:lnTo>
                      <a:pt x="175" y="182"/>
                    </a:lnTo>
                    <a:lnTo>
                      <a:pt x="185" y="184"/>
                    </a:lnTo>
                    <a:lnTo>
                      <a:pt x="193" y="185"/>
                    </a:lnTo>
                    <a:lnTo>
                      <a:pt x="202" y="187"/>
                    </a:lnTo>
                    <a:lnTo>
                      <a:pt x="208" y="189"/>
                    </a:lnTo>
                    <a:lnTo>
                      <a:pt x="215" y="193"/>
                    </a:lnTo>
                    <a:lnTo>
                      <a:pt x="221" y="196"/>
                    </a:lnTo>
                    <a:lnTo>
                      <a:pt x="229" y="200"/>
                    </a:lnTo>
                    <a:lnTo>
                      <a:pt x="239" y="204"/>
                    </a:lnTo>
                    <a:lnTo>
                      <a:pt x="249" y="208"/>
                    </a:lnTo>
                    <a:lnTo>
                      <a:pt x="256" y="211"/>
                    </a:lnTo>
                    <a:lnTo>
                      <a:pt x="265" y="214"/>
                    </a:lnTo>
                    <a:lnTo>
                      <a:pt x="258" y="215"/>
                    </a:lnTo>
                    <a:lnTo>
                      <a:pt x="251" y="215"/>
                    </a:lnTo>
                    <a:lnTo>
                      <a:pt x="244" y="213"/>
                    </a:lnTo>
                    <a:lnTo>
                      <a:pt x="236" y="211"/>
                    </a:lnTo>
                    <a:lnTo>
                      <a:pt x="226" y="207"/>
                    </a:lnTo>
                    <a:lnTo>
                      <a:pt x="219" y="206"/>
                    </a:lnTo>
                    <a:lnTo>
                      <a:pt x="213" y="204"/>
                    </a:lnTo>
                    <a:lnTo>
                      <a:pt x="204" y="202"/>
                    </a:lnTo>
                    <a:lnTo>
                      <a:pt x="195" y="201"/>
                    </a:lnTo>
                    <a:lnTo>
                      <a:pt x="184" y="200"/>
                    </a:lnTo>
                    <a:lnTo>
                      <a:pt x="173" y="199"/>
                    </a:lnTo>
                    <a:lnTo>
                      <a:pt x="162" y="198"/>
                    </a:lnTo>
                    <a:lnTo>
                      <a:pt x="152" y="198"/>
                    </a:lnTo>
                    <a:lnTo>
                      <a:pt x="142" y="198"/>
                    </a:lnTo>
                    <a:lnTo>
                      <a:pt x="134" y="197"/>
                    </a:lnTo>
                    <a:lnTo>
                      <a:pt x="124" y="197"/>
                    </a:lnTo>
                    <a:lnTo>
                      <a:pt x="114" y="195"/>
                    </a:lnTo>
                    <a:lnTo>
                      <a:pt x="102" y="192"/>
                    </a:lnTo>
                    <a:lnTo>
                      <a:pt x="92" y="189"/>
                    </a:lnTo>
                    <a:lnTo>
                      <a:pt x="80" y="188"/>
                    </a:lnTo>
                    <a:lnTo>
                      <a:pt x="84" y="195"/>
                    </a:lnTo>
                    <a:lnTo>
                      <a:pt x="88" y="203"/>
                    </a:lnTo>
                    <a:lnTo>
                      <a:pt x="93" y="215"/>
                    </a:lnTo>
                    <a:lnTo>
                      <a:pt x="94" y="223"/>
                    </a:lnTo>
                    <a:lnTo>
                      <a:pt x="95" y="233"/>
                    </a:lnTo>
                    <a:lnTo>
                      <a:pt x="94" y="241"/>
                    </a:lnTo>
                    <a:lnTo>
                      <a:pt x="93" y="248"/>
                    </a:lnTo>
                    <a:lnTo>
                      <a:pt x="93" y="259"/>
                    </a:lnTo>
                    <a:lnTo>
                      <a:pt x="92" y="273"/>
                    </a:lnTo>
                    <a:lnTo>
                      <a:pt x="92" y="285"/>
                    </a:lnTo>
                    <a:lnTo>
                      <a:pt x="93" y="297"/>
                    </a:lnTo>
                    <a:lnTo>
                      <a:pt x="93" y="307"/>
                    </a:lnTo>
                    <a:lnTo>
                      <a:pt x="92" y="316"/>
                    </a:lnTo>
                    <a:lnTo>
                      <a:pt x="89" y="326"/>
                    </a:lnTo>
                    <a:lnTo>
                      <a:pt x="85" y="338"/>
                    </a:lnTo>
                    <a:lnTo>
                      <a:pt x="82" y="346"/>
                    </a:lnTo>
                    <a:lnTo>
                      <a:pt x="77" y="354"/>
                    </a:lnTo>
                    <a:lnTo>
                      <a:pt x="73" y="363"/>
                    </a:lnTo>
                    <a:lnTo>
                      <a:pt x="69" y="369"/>
                    </a:lnTo>
                    <a:lnTo>
                      <a:pt x="62" y="376"/>
                    </a:lnTo>
                    <a:lnTo>
                      <a:pt x="53" y="382"/>
                    </a:lnTo>
                    <a:lnTo>
                      <a:pt x="46" y="390"/>
                    </a:lnTo>
                    <a:lnTo>
                      <a:pt x="45" y="382"/>
                    </a:lnTo>
                    <a:lnTo>
                      <a:pt x="46" y="372"/>
                    </a:lnTo>
                    <a:lnTo>
                      <a:pt x="47" y="362"/>
                    </a:lnTo>
                    <a:lnTo>
                      <a:pt x="48" y="353"/>
                    </a:lnTo>
                    <a:lnTo>
                      <a:pt x="50" y="346"/>
                    </a:lnTo>
                    <a:lnTo>
                      <a:pt x="53" y="337"/>
                    </a:lnTo>
                    <a:lnTo>
                      <a:pt x="56" y="328"/>
                    </a:lnTo>
                    <a:lnTo>
                      <a:pt x="58" y="320"/>
                    </a:lnTo>
                    <a:lnTo>
                      <a:pt x="59" y="313"/>
                    </a:lnTo>
                    <a:lnTo>
                      <a:pt x="61" y="299"/>
                    </a:lnTo>
                    <a:lnTo>
                      <a:pt x="62" y="285"/>
                    </a:lnTo>
                    <a:lnTo>
                      <a:pt x="63" y="273"/>
                    </a:lnTo>
                    <a:lnTo>
                      <a:pt x="65" y="260"/>
                    </a:lnTo>
                    <a:lnTo>
                      <a:pt x="67" y="247"/>
                    </a:lnTo>
                    <a:lnTo>
                      <a:pt x="67" y="238"/>
                    </a:lnTo>
                    <a:lnTo>
                      <a:pt x="67" y="231"/>
                    </a:lnTo>
                    <a:lnTo>
                      <a:pt x="68" y="222"/>
                    </a:lnTo>
                    <a:lnTo>
                      <a:pt x="67" y="212"/>
                    </a:lnTo>
                    <a:lnTo>
                      <a:pt x="66" y="206"/>
                    </a:lnTo>
                    <a:lnTo>
                      <a:pt x="64" y="198"/>
                    </a:lnTo>
                    <a:lnTo>
                      <a:pt x="62" y="187"/>
                    </a:lnTo>
                    <a:lnTo>
                      <a:pt x="58" y="195"/>
                    </a:lnTo>
                    <a:lnTo>
                      <a:pt x="54" y="203"/>
                    </a:lnTo>
                    <a:lnTo>
                      <a:pt x="50" y="212"/>
                    </a:lnTo>
                    <a:lnTo>
                      <a:pt x="48" y="221"/>
                    </a:lnTo>
                    <a:lnTo>
                      <a:pt x="46" y="232"/>
                    </a:lnTo>
                    <a:lnTo>
                      <a:pt x="44" y="239"/>
                    </a:lnTo>
                    <a:lnTo>
                      <a:pt x="43" y="249"/>
                    </a:lnTo>
                    <a:lnTo>
                      <a:pt x="41" y="260"/>
                    </a:lnTo>
                    <a:lnTo>
                      <a:pt x="39" y="273"/>
                    </a:lnTo>
                    <a:lnTo>
                      <a:pt x="38" y="283"/>
                    </a:lnTo>
                    <a:lnTo>
                      <a:pt x="37" y="295"/>
                    </a:lnTo>
                    <a:lnTo>
                      <a:pt x="36" y="305"/>
                    </a:lnTo>
                    <a:lnTo>
                      <a:pt x="33" y="315"/>
                    </a:lnTo>
                    <a:lnTo>
                      <a:pt x="32" y="325"/>
                    </a:lnTo>
                    <a:lnTo>
                      <a:pt x="30" y="333"/>
                    </a:lnTo>
                    <a:lnTo>
                      <a:pt x="26" y="340"/>
                    </a:lnTo>
                    <a:lnTo>
                      <a:pt x="21" y="348"/>
                    </a:lnTo>
                    <a:lnTo>
                      <a:pt x="15" y="356"/>
                    </a:lnTo>
                    <a:lnTo>
                      <a:pt x="10" y="364"/>
                    </a:lnTo>
                    <a:lnTo>
                      <a:pt x="5" y="368"/>
                    </a:lnTo>
                    <a:lnTo>
                      <a:pt x="2" y="364"/>
                    </a:lnTo>
                    <a:lnTo>
                      <a:pt x="2" y="344"/>
                    </a:lnTo>
                    <a:lnTo>
                      <a:pt x="2" y="364"/>
                    </a:lnTo>
                    <a:lnTo>
                      <a:pt x="2" y="344"/>
                    </a:lnTo>
                    <a:lnTo>
                      <a:pt x="2" y="324"/>
                    </a:lnTo>
                    <a:lnTo>
                      <a:pt x="5" y="316"/>
                    </a:lnTo>
                    <a:lnTo>
                      <a:pt x="9" y="306"/>
                    </a:lnTo>
                    <a:lnTo>
                      <a:pt x="13" y="297"/>
                    </a:lnTo>
                    <a:lnTo>
                      <a:pt x="17" y="287"/>
                    </a:lnTo>
                    <a:lnTo>
                      <a:pt x="21" y="278"/>
                    </a:lnTo>
                    <a:lnTo>
                      <a:pt x="25" y="268"/>
                    </a:lnTo>
                    <a:lnTo>
                      <a:pt x="28" y="259"/>
                    </a:lnTo>
                    <a:lnTo>
                      <a:pt x="31" y="249"/>
                    </a:lnTo>
                    <a:lnTo>
                      <a:pt x="34" y="239"/>
                    </a:lnTo>
                    <a:lnTo>
                      <a:pt x="36" y="233"/>
                    </a:lnTo>
                    <a:lnTo>
                      <a:pt x="38" y="225"/>
                    </a:lnTo>
                    <a:lnTo>
                      <a:pt x="41" y="216"/>
                    </a:lnTo>
                    <a:lnTo>
                      <a:pt x="44" y="210"/>
                    </a:lnTo>
                    <a:lnTo>
                      <a:pt x="42" y="204"/>
                    </a:lnTo>
                    <a:lnTo>
                      <a:pt x="41" y="197"/>
                    </a:lnTo>
                    <a:lnTo>
                      <a:pt x="42" y="192"/>
                    </a:lnTo>
                    <a:lnTo>
                      <a:pt x="43" y="185"/>
                    </a:lnTo>
                    <a:lnTo>
                      <a:pt x="36" y="184"/>
                    </a:lnTo>
                    <a:lnTo>
                      <a:pt x="26" y="182"/>
                    </a:lnTo>
                    <a:lnTo>
                      <a:pt x="18" y="187"/>
                    </a:lnTo>
                    <a:lnTo>
                      <a:pt x="11" y="191"/>
                    </a:lnTo>
                    <a:lnTo>
                      <a:pt x="3" y="195"/>
                    </a:lnTo>
                    <a:lnTo>
                      <a:pt x="2" y="184"/>
                    </a:lnTo>
                    <a:lnTo>
                      <a:pt x="2" y="164"/>
                    </a:lnTo>
                    <a:lnTo>
                      <a:pt x="2" y="184"/>
                    </a:lnTo>
                    <a:lnTo>
                      <a:pt x="2" y="164"/>
                    </a:lnTo>
                    <a:lnTo>
                      <a:pt x="5" y="164"/>
                    </a:lnTo>
                    <a:lnTo>
                      <a:pt x="13" y="161"/>
                    </a:lnTo>
                    <a:lnTo>
                      <a:pt x="15" y="156"/>
                    </a:lnTo>
                    <a:lnTo>
                      <a:pt x="17" y="151"/>
                    </a:lnTo>
                    <a:lnTo>
                      <a:pt x="19" y="146"/>
                    </a:lnTo>
                    <a:lnTo>
                      <a:pt x="18" y="144"/>
                    </a:lnTo>
                    <a:lnTo>
                      <a:pt x="13" y="138"/>
                    </a:lnTo>
                    <a:lnTo>
                      <a:pt x="6" y="132"/>
                    </a:lnTo>
                    <a:lnTo>
                      <a:pt x="0" y="125"/>
                    </a:lnTo>
                    <a:lnTo>
                      <a:pt x="2" y="124"/>
                    </a:lnTo>
                    <a:lnTo>
                      <a:pt x="2" y="105"/>
                    </a:lnTo>
                    <a:lnTo>
                      <a:pt x="1" y="103"/>
                    </a:lnTo>
                    <a:lnTo>
                      <a:pt x="11" y="110"/>
                    </a:lnTo>
                    <a:lnTo>
                      <a:pt x="19" y="117"/>
                    </a:lnTo>
                    <a:lnTo>
                      <a:pt x="24" y="122"/>
                    </a:lnTo>
                    <a:lnTo>
                      <a:pt x="28" y="128"/>
                    </a:lnTo>
                    <a:lnTo>
                      <a:pt x="35" y="137"/>
                    </a:lnTo>
                    <a:lnTo>
                      <a:pt x="40" y="143"/>
                    </a:lnTo>
                    <a:lnTo>
                      <a:pt x="46" y="150"/>
                    </a:lnTo>
                    <a:lnTo>
                      <a:pt x="53" y="157"/>
                    </a:lnTo>
                    <a:lnTo>
                      <a:pt x="55" y="155"/>
                    </a:lnTo>
                    <a:lnTo>
                      <a:pt x="59" y="148"/>
                    </a:lnTo>
                    <a:lnTo>
                      <a:pt x="62" y="143"/>
                    </a:lnTo>
                    <a:lnTo>
                      <a:pt x="60" y="138"/>
                    </a:lnTo>
                    <a:lnTo>
                      <a:pt x="55" y="130"/>
                    </a:lnTo>
                    <a:lnTo>
                      <a:pt x="51" y="123"/>
                    </a:lnTo>
                    <a:lnTo>
                      <a:pt x="46" y="115"/>
                    </a:lnTo>
                    <a:lnTo>
                      <a:pt x="40" y="109"/>
                    </a:lnTo>
                    <a:lnTo>
                      <a:pt x="31" y="100"/>
                    </a:lnTo>
                    <a:lnTo>
                      <a:pt x="24" y="91"/>
                    </a:lnTo>
                    <a:lnTo>
                      <a:pt x="17" y="84"/>
                    </a:lnTo>
                    <a:lnTo>
                      <a:pt x="12" y="78"/>
                    </a:lnTo>
                    <a:lnTo>
                      <a:pt x="6" y="70"/>
                    </a:lnTo>
                    <a:lnTo>
                      <a:pt x="2" y="65"/>
                    </a:lnTo>
                    <a:lnTo>
                      <a:pt x="2" y="44"/>
                    </a:lnTo>
                    <a:lnTo>
                      <a:pt x="2" y="65"/>
                    </a:lnTo>
                    <a:lnTo>
                      <a:pt x="2" y="44"/>
                    </a:lnTo>
                    <a:lnTo>
                      <a:pt x="2" y="53"/>
                    </a:lnTo>
                    <a:lnTo>
                      <a:pt x="2" y="48"/>
                    </a:lnTo>
                    <a:lnTo>
                      <a:pt x="4" y="55"/>
                    </a:lnTo>
                    <a:lnTo>
                      <a:pt x="11" y="63"/>
                    </a:lnTo>
                    <a:lnTo>
                      <a:pt x="17" y="70"/>
                    </a:lnTo>
                    <a:lnTo>
                      <a:pt x="25" y="80"/>
                    </a:lnTo>
                    <a:lnTo>
                      <a:pt x="30" y="87"/>
                    </a:lnTo>
                    <a:lnTo>
                      <a:pt x="37" y="95"/>
                    </a:lnTo>
                    <a:lnTo>
                      <a:pt x="43" y="106"/>
                    </a:lnTo>
                    <a:lnTo>
                      <a:pt x="48" y="115"/>
                    </a:lnTo>
                    <a:lnTo>
                      <a:pt x="54" y="124"/>
                    </a:lnTo>
                    <a:lnTo>
                      <a:pt x="61" y="138"/>
                    </a:lnTo>
                    <a:lnTo>
                      <a:pt x="64" y="146"/>
                    </a:lnTo>
                    <a:lnTo>
                      <a:pt x="66" y="151"/>
                    </a:lnTo>
                    <a:lnTo>
                      <a:pt x="70" y="143"/>
                    </a:lnTo>
                    <a:lnTo>
                      <a:pt x="75" y="135"/>
                    </a:lnTo>
                    <a:lnTo>
                      <a:pt x="80" y="127"/>
                    </a:lnTo>
                    <a:lnTo>
                      <a:pt x="85" y="118"/>
                    </a:lnTo>
                    <a:lnTo>
                      <a:pt x="90" y="110"/>
                    </a:lnTo>
                    <a:lnTo>
                      <a:pt x="94" y="103"/>
                    </a:lnTo>
                    <a:lnTo>
                      <a:pt x="100" y="96"/>
                    </a:lnTo>
                    <a:lnTo>
                      <a:pt x="106" y="87"/>
                    </a:lnTo>
                    <a:lnTo>
                      <a:pt x="113" y="78"/>
                    </a:lnTo>
                    <a:lnTo>
                      <a:pt x="120" y="68"/>
                    </a:lnTo>
                    <a:lnTo>
                      <a:pt x="127" y="58"/>
                    </a:lnTo>
                    <a:lnTo>
                      <a:pt x="132" y="50"/>
                    </a:lnTo>
                    <a:lnTo>
                      <a:pt x="139" y="39"/>
                    </a:lnTo>
                    <a:lnTo>
                      <a:pt x="144" y="33"/>
                    </a:lnTo>
                    <a:lnTo>
                      <a:pt x="150" y="26"/>
                    </a:lnTo>
                    <a:lnTo>
                      <a:pt x="156" y="21"/>
                    </a:lnTo>
                    <a:lnTo>
                      <a:pt x="161" y="15"/>
                    </a:lnTo>
                    <a:lnTo>
                      <a:pt x="165" y="6"/>
                    </a:lnTo>
                    <a:lnTo>
                      <a:pt x="170" y="0"/>
                    </a:lnTo>
                    <a:lnTo>
                      <a:pt x="169" y="5"/>
                    </a:lnTo>
                    <a:lnTo>
                      <a:pt x="168" y="13"/>
                    </a:lnTo>
                    <a:lnTo>
                      <a:pt x="166" y="21"/>
                    </a:lnTo>
                    <a:lnTo>
                      <a:pt x="163" y="29"/>
                    </a:lnTo>
                    <a:lnTo>
                      <a:pt x="159" y="37"/>
                    </a:lnTo>
                    <a:lnTo>
                      <a:pt x="153" y="47"/>
                    </a:lnTo>
                    <a:lnTo>
                      <a:pt x="148" y="56"/>
                    </a:lnTo>
                    <a:lnTo>
                      <a:pt x="143" y="67"/>
                    </a:lnTo>
                    <a:lnTo>
                      <a:pt x="137" y="76"/>
                    </a:lnTo>
                    <a:lnTo>
                      <a:pt x="130" y="87"/>
                    </a:lnTo>
                    <a:lnTo>
                      <a:pt x="124" y="95"/>
                    </a:lnTo>
                  </a:path>
                </a:pathLst>
              </a:custGeom>
              <a:solidFill>
                <a:srgbClr val="037C03">
                  <a:alpha val="50195"/>
                </a:srgbClr>
              </a:solidFill>
              <a:ln w="9525">
                <a:noFill/>
              </a:ln>
            </p:spPr>
            <p:txBody>
              <a:bodyPr/>
              <a:lstStyle/>
              <a:p>
                <a:endParaRPr lang="zh-CN" altLang="en-US"/>
              </a:p>
            </p:txBody>
          </p:sp>
          <p:grpSp>
            <p:nvGrpSpPr>
              <p:cNvPr id="89141" name="Group 194"/>
              <p:cNvGrpSpPr/>
              <p:nvPr/>
            </p:nvGrpSpPr>
            <p:grpSpPr>
              <a:xfrm>
                <a:off x="1707" y="1466"/>
                <a:ext cx="484" cy="368"/>
                <a:chOff x="1707" y="1466"/>
                <a:chExt cx="484" cy="368"/>
              </a:xfrm>
            </p:grpSpPr>
            <p:sp>
              <p:nvSpPr>
                <p:cNvPr id="89143" name="Freeform 195"/>
                <p:cNvSpPr/>
                <p:nvPr/>
              </p:nvSpPr>
              <p:spPr>
                <a:xfrm>
                  <a:off x="1751" y="1466"/>
                  <a:ext cx="440" cy="342"/>
                </a:xfrm>
                <a:custGeom>
                  <a:avLst/>
                  <a:gdLst>
                    <a:gd name="txL" fmla="*/ 0 w 440"/>
                    <a:gd name="txT" fmla="*/ 0 h 342"/>
                    <a:gd name="txR" fmla="*/ 440 w 440"/>
                    <a:gd name="txB" fmla="*/ 342 h 342"/>
                  </a:gdLst>
                  <a:ahLst/>
                  <a:cxnLst>
                    <a:cxn ang="0">
                      <a:pos x="167" y="42"/>
                    </a:cxn>
                    <a:cxn ang="0">
                      <a:pos x="202" y="14"/>
                    </a:cxn>
                    <a:cxn ang="0">
                      <a:pos x="245" y="3"/>
                    </a:cxn>
                    <a:cxn ang="0">
                      <a:pos x="292" y="2"/>
                    </a:cxn>
                    <a:cxn ang="0">
                      <a:pos x="304" y="7"/>
                    </a:cxn>
                    <a:cxn ang="0">
                      <a:pos x="272" y="15"/>
                    </a:cxn>
                    <a:cxn ang="0">
                      <a:pos x="236" y="26"/>
                    </a:cxn>
                    <a:cxn ang="0">
                      <a:pos x="195" y="55"/>
                    </a:cxn>
                    <a:cxn ang="0">
                      <a:pos x="191" y="94"/>
                    </a:cxn>
                    <a:cxn ang="0">
                      <a:pos x="252" y="70"/>
                    </a:cxn>
                    <a:cxn ang="0">
                      <a:pos x="301" y="67"/>
                    </a:cxn>
                    <a:cxn ang="0">
                      <a:pos x="354" y="72"/>
                    </a:cxn>
                    <a:cxn ang="0">
                      <a:pos x="416" y="79"/>
                    </a:cxn>
                    <a:cxn ang="0">
                      <a:pos x="417" y="80"/>
                    </a:cxn>
                    <a:cxn ang="0">
                      <a:pos x="357" y="83"/>
                    </a:cxn>
                    <a:cxn ang="0">
                      <a:pos x="302" y="84"/>
                    </a:cxn>
                    <a:cxn ang="0">
                      <a:pos x="254" y="90"/>
                    </a:cxn>
                    <a:cxn ang="0">
                      <a:pos x="200" y="103"/>
                    </a:cxn>
                    <a:cxn ang="0">
                      <a:pos x="222" y="123"/>
                    </a:cxn>
                    <a:cxn ang="0">
                      <a:pos x="238" y="142"/>
                    </a:cxn>
                    <a:cxn ang="0">
                      <a:pos x="184" y="125"/>
                    </a:cxn>
                    <a:cxn ang="0">
                      <a:pos x="173" y="136"/>
                    </a:cxn>
                    <a:cxn ang="0">
                      <a:pos x="232" y="145"/>
                    </a:cxn>
                    <a:cxn ang="0">
                      <a:pos x="282" y="157"/>
                    </a:cxn>
                    <a:cxn ang="0">
                      <a:pos x="321" y="190"/>
                    </a:cxn>
                    <a:cxn ang="0">
                      <a:pos x="351" y="234"/>
                    </a:cxn>
                    <a:cxn ang="0">
                      <a:pos x="344" y="242"/>
                    </a:cxn>
                    <a:cxn ang="0">
                      <a:pos x="304" y="214"/>
                    </a:cxn>
                    <a:cxn ang="0">
                      <a:pos x="259" y="183"/>
                    </a:cxn>
                    <a:cxn ang="0">
                      <a:pos x="211" y="162"/>
                    </a:cxn>
                    <a:cxn ang="0">
                      <a:pos x="180" y="155"/>
                    </a:cxn>
                    <a:cxn ang="0">
                      <a:pos x="206" y="189"/>
                    </a:cxn>
                    <a:cxn ang="0">
                      <a:pos x="238" y="234"/>
                    </a:cxn>
                    <a:cxn ang="0">
                      <a:pos x="256" y="275"/>
                    </a:cxn>
                    <a:cxn ang="0">
                      <a:pos x="255" y="313"/>
                    </a:cxn>
                    <a:cxn ang="0">
                      <a:pos x="232" y="271"/>
                    </a:cxn>
                    <a:cxn ang="0">
                      <a:pos x="208" y="226"/>
                    </a:cxn>
                    <a:cxn ang="0">
                      <a:pos x="181" y="185"/>
                    </a:cxn>
                    <a:cxn ang="0">
                      <a:pos x="157" y="149"/>
                    </a:cxn>
                    <a:cxn ang="0">
                      <a:pos x="115" y="170"/>
                    </a:cxn>
                    <a:cxn ang="0">
                      <a:pos x="80" y="221"/>
                    </a:cxn>
                    <a:cxn ang="0">
                      <a:pos x="51" y="273"/>
                    </a:cxn>
                    <a:cxn ang="0">
                      <a:pos x="18" y="321"/>
                    </a:cxn>
                    <a:cxn ang="0">
                      <a:pos x="8" y="315"/>
                    </a:cxn>
                    <a:cxn ang="0">
                      <a:pos x="47" y="255"/>
                    </a:cxn>
                    <a:cxn ang="0">
                      <a:pos x="82" y="208"/>
                    </a:cxn>
                    <a:cxn ang="0">
                      <a:pos x="112" y="162"/>
                    </a:cxn>
                    <a:cxn ang="0">
                      <a:pos x="139" y="126"/>
                    </a:cxn>
                    <a:cxn ang="0">
                      <a:pos x="99" y="83"/>
                    </a:cxn>
                    <a:cxn ang="0">
                      <a:pos x="43" y="60"/>
                    </a:cxn>
                    <a:cxn ang="0">
                      <a:pos x="20" y="47"/>
                    </a:cxn>
                    <a:cxn ang="0">
                      <a:pos x="63" y="61"/>
                    </a:cxn>
                    <a:cxn ang="0">
                      <a:pos x="122" y="90"/>
                    </a:cxn>
                  </a:cxnLst>
                  <a:rect l="txL" t="txT" r="txR" b="txB"/>
                  <a:pathLst>
                    <a:path w="440" h="342">
                      <a:moveTo>
                        <a:pt x="138" y="87"/>
                      </a:moveTo>
                      <a:lnTo>
                        <a:pt x="141" y="78"/>
                      </a:lnTo>
                      <a:lnTo>
                        <a:pt x="146" y="69"/>
                      </a:lnTo>
                      <a:lnTo>
                        <a:pt x="153" y="59"/>
                      </a:lnTo>
                      <a:lnTo>
                        <a:pt x="160" y="51"/>
                      </a:lnTo>
                      <a:lnTo>
                        <a:pt x="167" y="42"/>
                      </a:lnTo>
                      <a:lnTo>
                        <a:pt x="172" y="36"/>
                      </a:lnTo>
                      <a:lnTo>
                        <a:pt x="178" y="31"/>
                      </a:lnTo>
                      <a:lnTo>
                        <a:pt x="184" y="26"/>
                      </a:lnTo>
                      <a:lnTo>
                        <a:pt x="190" y="21"/>
                      </a:lnTo>
                      <a:lnTo>
                        <a:pt x="196" y="17"/>
                      </a:lnTo>
                      <a:lnTo>
                        <a:pt x="202" y="14"/>
                      </a:lnTo>
                      <a:lnTo>
                        <a:pt x="208" y="11"/>
                      </a:lnTo>
                      <a:lnTo>
                        <a:pt x="215" y="8"/>
                      </a:lnTo>
                      <a:lnTo>
                        <a:pt x="222" y="7"/>
                      </a:lnTo>
                      <a:lnTo>
                        <a:pt x="230" y="5"/>
                      </a:lnTo>
                      <a:lnTo>
                        <a:pt x="237" y="3"/>
                      </a:lnTo>
                      <a:lnTo>
                        <a:pt x="245" y="3"/>
                      </a:lnTo>
                      <a:lnTo>
                        <a:pt x="252" y="2"/>
                      </a:lnTo>
                      <a:lnTo>
                        <a:pt x="260" y="2"/>
                      </a:lnTo>
                      <a:lnTo>
                        <a:pt x="270" y="1"/>
                      </a:lnTo>
                      <a:lnTo>
                        <a:pt x="278" y="2"/>
                      </a:lnTo>
                      <a:lnTo>
                        <a:pt x="285" y="2"/>
                      </a:lnTo>
                      <a:lnTo>
                        <a:pt x="292" y="2"/>
                      </a:lnTo>
                      <a:lnTo>
                        <a:pt x="299" y="2"/>
                      </a:lnTo>
                      <a:lnTo>
                        <a:pt x="307" y="1"/>
                      </a:lnTo>
                      <a:lnTo>
                        <a:pt x="314" y="0"/>
                      </a:lnTo>
                      <a:lnTo>
                        <a:pt x="310" y="2"/>
                      </a:lnTo>
                      <a:lnTo>
                        <a:pt x="307" y="4"/>
                      </a:lnTo>
                      <a:lnTo>
                        <a:pt x="304" y="7"/>
                      </a:lnTo>
                      <a:lnTo>
                        <a:pt x="301" y="10"/>
                      </a:lnTo>
                      <a:lnTo>
                        <a:pt x="295" y="10"/>
                      </a:lnTo>
                      <a:lnTo>
                        <a:pt x="288" y="11"/>
                      </a:lnTo>
                      <a:lnTo>
                        <a:pt x="284" y="12"/>
                      </a:lnTo>
                      <a:lnTo>
                        <a:pt x="278" y="13"/>
                      </a:lnTo>
                      <a:lnTo>
                        <a:pt x="272" y="15"/>
                      </a:lnTo>
                      <a:lnTo>
                        <a:pt x="266" y="16"/>
                      </a:lnTo>
                      <a:lnTo>
                        <a:pt x="260" y="17"/>
                      </a:lnTo>
                      <a:lnTo>
                        <a:pt x="254" y="19"/>
                      </a:lnTo>
                      <a:lnTo>
                        <a:pt x="248" y="21"/>
                      </a:lnTo>
                      <a:lnTo>
                        <a:pt x="241" y="23"/>
                      </a:lnTo>
                      <a:lnTo>
                        <a:pt x="236" y="26"/>
                      </a:lnTo>
                      <a:lnTo>
                        <a:pt x="229" y="29"/>
                      </a:lnTo>
                      <a:lnTo>
                        <a:pt x="222" y="32"/>
                      </a:lnTo>
                      <a:lnTo>
                        <a:pt x="215" y="36"/>
                      </a:lnTo>
                      <a:lnTo>
                        <a:pt x="208" y="41"/>
                      </a:lnTo>
                      <a:lnTo>
                        <a:pt x="201" y="47"/>
                      </a:lnTo>
                      <a:lnTo>
                        <a:pt x="195" y="55"/>
                      </a:lnTo>
                      <a:lnTo>
                        <a:pt x="189" y="64"/>
                      </a:lnTo>
                      <a:lnTo>
                        <a:pt x="181" y="77"/>
                      </a:lnTo>
                      <a:lnTo>
                        <a:pt x="175" y="90"/>
                      </a:lnTo>
                      <a:lnTo>
                        <a:pt x="167" y="106"/>
                      </a:lnTo>
                      <a:lnTo>
                        <a:pt x="180" y="99"/>
                      </a:lnTo>
                      <a:lnTo>
                        <a:pt x="191" y="94"/>
                      </a:lnTo>
                      <a:lnTo>
                        <a:pt x="206" y="86"/>
                      </a:lnTo>
                      <a:lnTo>
                        <a:pt x="222" y="78"/>
                      </a:lnTo>
                      <a:lnTo>
                        <a:pt x="229" y="77"/>
                      </a:lnTo>
                      <a:lnTo>
                        <a:pt x="236" y="74"/>
                      </a:lnTo>
                      <a:lnTo>
                        <a:pt x="243" y="72"/>
                      </a:lnTo>
                      <a:lnTo>
                        <a:pt x="252" y="70"/>
                      </a:lnTo>
                      <a:lnTo>
                        <a:pt x="261" y="68"/>
                      </a:lnTo>
                      <a:lnTo>
                        <a:pt x="269" y="68"/>
                      </a:lnTo>
                      <a:lnTo>
                        <a:pt x="275" y="67"/>
                      </a:lnTo>
                      <a:lnTo>
                        <a:pt x="285" y="66"/>
                      </a:lnTo>
                      <a:lnTo>
                        <a:pt x="294" y="66"/>
                      </a:lnTo>
                      <a:lnTo>
                        <a:pt x="301" y="67"/>
                      </a:lnTo>
                      <a:lnTo>
                        <a:pt x="311" y="68"/>
                      </a:lnTo>
                      <a:lnTo>
                        <a:pt x="319" y="69"/>
                      </a:lnTo>
                      <a:lnTo>
                        <a:pt x="328" y="69"/>
                      </a:lnTo>
                      <a:lnTo>
                        <a:pt x="336" y="70"/>
                      </a:lnTo>
                      <a:lnTo>
                        <a:pt x="345" y="71"/>
                      </a:lnTo>
                      <a:lnTo>
                        <a:pt x="354" y="72"/>
                      </a:lnTo>
                      <a:lnTo>
                        <a:pt x="363" y="73"/>
                      </a:lnTo>
                      <a:lnTo>
                        <a:pt x="371" y="74"/>
                      </a:lnTo>
                      <a:lnTo>
                        <a:pt x="381" y="75"/>
                      </a:lnTo>
                      <a:lnTo>
                        <a:pt x="392" y="76"/>
                      </a:lnTo>
                      <a:lnTo>
                        <a:pt x="401" y="77"/>
                      </a:lnTo>
                      <a:lnTo>
                        <a:pt x="416" y="79"/>
                      </a:lnTo>
                      <a:lnTo>
                        <a:pt x="421" y="79"/>
                      </a:lnTo>
                      <a:lnTo>
                        <a:pt x="425" y="79"/>
                      </a:lnTo>
                      <a:lnTo>
                        <a:pt x="430" y="81"/>
                      </a:lnTo>
                      <a:lnTo>
                        <a:pt x="439" y="84"/>
                      </a:lnTo>
                      <a:lnTo>
                        <a:pt x="424" y="81"/>
                      </a:lnTo>
                      <a:lnTo>
                        <a:pt x="417" y="80"/>
                      </a:lnTo>
                      <a:lnTo>
                        <a:pt x="411" y="80"/>
                      </a:lnTo>
                      <a:lnTo>
                        <a:pt x="397" y="81"/>
                      </a:lnTo>
                      <a:lnTo>
                        <a:pt x="388" y="82"/>
                      </a:lnTo>
                      <a:lnTo>
                        <a:pt x="377" y="82"/>
                      </a:lnTo>
                      <a:lnTo>
                        <a:pt x="367" y="82"/>
                      </a:lnTo>
                      <a:lnTo>
                        <a:pt x="357" y="83"/>
                      </a:lnTo>
                      <a:lnTo>
                        <a:pt x="348" y="83"/>
                      </a:lnTo>
                      <a:lnTo>
                        <a:pt x="340" y="82"/>
                      </a:lnTo>
                      <a:lnTo>
                        <a:pt x="330" y="82"/>
                      </a:lnTo>
                      <a:lnTo>
                        <a:pt x="319" y="82"/>
                      </a:lnTo>
                      <a:lnTo>
                        <a:pt x="310" y="83"/>
                      </a:lnTo>
                      <a:lnTo>
                        <a:pt x="302" y="84"/>
                      </a:lnTo>
                      <a:lnTo>
                        <a:pt x="292" y="84"/>
                      </a:lnTo>
                      <a:lnTo>
                        <a:pt x="285" y="84"/>
                      </a:lnTo>
                      <a:lnTo>
                        <a:pt x="276" y="85"/>
                      </a:lnTo>
                      <a:lnTo>
                        <a:pt x="269" y="87"/>
                      </a:lnTo>
                      <a:lnTo>
                        <a:pt x="261" y="88"/>
                      </a:lnTo>
                      <a:lnTo>
                        <a:pt x="254" y="90"/>
                      </a:lnTo>
                      <a:lnTo>
                        <a:pt x="246" y="92"/>
                      </a:lnTo>
                      <a:lnTo>
                        <a:pt x="238" y="94"/>
                      </a:lnTo>
                      <a:lnTo>
                        <a:pt x="229" y="96"/>
                      </a:lnTo>
                      <a:lnTo>
                        <a:pt x="222" y="98"/>
                      </a:lnTo>
                      <a:lnTo>
                        <a:pt x="208" y="102"/>
                      </a:lnTo>
                      <a:lnTo>
                        <a:pt x="200" y="103"/>
                      </a:lnTo>
                      <a:lnTo>
                        <a:pt x="189" y="108"/>
                      </a:lnTo>
                      <a:lnTo>
                        <a:pt x="172" y="115"/>
                      </a:lnTo>
                      <a:lnTo>
                        <a:pt x="189" y="117"/>
                      </a:lnTo>
                      <a:lnTo>
                        <a:pt x="209" y="118"/>
                      </a:lnTo>
                      <a:lnTo>
                        <a:pt x="213" y="118"/>
                      </a:lnTo>
                      <a:lnTo>
                        <a:pt x="222" y="123"/>
                      </a:lnTo>
                      <a:lnTo>
                        <a:pt x="228" y="126"/>
                      </a:lnTo>
                      <a:lnTo>
                        <a:pt x="234" y="129"/>
                      </a:lnTo>
                      <a:lnTo>
                        <a:pt x="235" y="131"/>
                      </a:lnTo>
                      <a:lnTo>
                        <a:pt x="238" y="137"/>
                      </a:lnTo>
                      <a:lnTo>
                        <a:pt x="245" y="146"/>
                      </a:lnTo>
                      <a:lnTo>
                        <a:pt x="238" y="142"/>
                      </a:lnTo>
                      <a:lnTo>
                        <a:pt x="229" y="137"/>
                      </a:lnTo>
                      <a:lnTo>
                        <a:pt x="222" y="135"/>
                      </a:lnTo>
                      <a:lnTo>
                        <a:pt x="209" y="132"/>
                      </a:lnTo>
                      <a:lnTo>
                        <a:pt x="199" y="129"/>
                      </a:lnTo>
                      <a:lnTo>
                        <a:pt x="189" y="126"/>
                      </a:lnTo>
                      <a:lnTo>
                        <a:pt x="184" y="125"/>
                      </a:lnTo>
                      <a:lnTo>
                        <a:pt x="172" y="126"/>
                      </a:lnTo>
                      <a:lnTo>
                        <a:pt x="165" y="127"/>
                      </a:lnTo>
                      <a:lnTo>
                        <a:pt x="155" y="129"/>
                      </a:lnTo>
                      <a:lnTo>
                        <a:pt x="160" y="131"/>
                      </a:lnTo>
                      <a:lnTo>
                        <a:pt x="166" y="132"/>
                      </a:lnTo>
                      <a:lnTo>
                        <a:pt x="173" y="136"/>
                      </a:lnTo>
                      <a:lnTo>
                        <a:pt x="181" y="135"/>
                      </a:lnTo>
                      <a:lnTo>
                        <a:pt x="195" y="136"/>
                      </a:lnTo>
                      <a:lnTo>
                        <a:pt x="203" y="137"/>
                      </a:lnTo>
                      <a:lnTo>
                        <a:pt x="215" y="140"/>
                      </a:lnTo>
                      <a:lnTo>
                        <a:pt x="222" y="143"/>
                      </a:lnTo>
                      <a:lnTo>
                        <a:pt x="232" y="145"/>
                      </a:lnTo>
                      <a:lnTo>
                        <a:pt x="242" y="148"/>
                      </a:lnTo>
                      <a:lnTo>
                        <a:pt x="251" y="151"/>
                      </a:lnTo>
                      <a:lnTo>
                        <a:pt x="259" y="152"/>
                      </a:lnTo>
                      <a:lnTo>
                        <a:pt x="266" y="153"/>
                      </a:lnTo>
                      <a:lnTo>
                        <a:pt x="273" y="155"/>
                      </a:lnTo>
                      <a:lnTo>
                        <a:pt x="282" y="157"/>
                      </a:lnTo>
                      <a:lnTo>
                        <a:pt x="291" y="161"/>
                      </a:lnTo>
                      <a:lnTo>
                        <a:pt x="299" y="165"/>
                      </a:lnTo>
                      <a:lnTo>
                        <a:pt x="303" y="169"/>
                      </a:lnTo>
                      <a:lnTo>
                        <a:pt x="309" y="175"/>
                      </a:lnTo>
                      <a:lnTo>
                        <a:pt x="316" y="183"/>
                      </a:lnTo>
                      <a:lnTo>
                        <a:pt x="321" y="190"/>
                      </a:lnTo>
                      <a:lnTo>
                        <a:pt x="326" y="197"/>
                      </a:lnTo>
                      <a:lnTo>
                        <a:pt x="331" y="204"/>
                      </a:lnTo>
                      <a:lnTo>
                        <a:pt x="335" y="212"/>
                      </a:lnTo>
                      <a:lnTo>
                        <a:pt x="340" y="218"/>
                      </a:lnTo>
                      <a:lnTo>
                        <a:pt x="345" y="226"/>
                      </a:lnTo>
                      <a:lnTo>
                        <a:pt x="351" y="234"/>
                      </a:lnTo>
                      <a:lnTo>
                        <a:pt x="356" y="243"/>
                      </a:lnTo>
                      <a:lnTo>
                        <a:pt x="361" y="250"/>
                      </a:lnTo>
                      <a:lnTo>
                        <a:pt x="368" y="258"/>
                      </a:lnTo>
                      <a:lnTo>
                        <a:pt x="359" y="251"/>
                      </a:lnTo>
                      <a:lnTo>
                        <a:pt x="353" y="247"/>
                      </a:lnTo>
                      <a:lnTo>
                        <a:pt x="344" y="242"/>
                      </a:lnTo>
                      <a:lnTo>
                        <a:pt x="336" y="236"/>
                      </a:lnTo>
                      <a:lnTo>
                        <a:pt x="330" y="231"/>
                      </a:lnTo>
                      <a:lnTo>
                        <a:pt x="323" y="226"/>
                      </a:lnTo>
                      <a:lnTo>
                        <a:pt x="317" y="222"/>
                      </a:lnTo>
                      <a:lnTo>
                        <a:pt x="311" y="218"/>
                      </a:lnTo>
                      <a:lnTo>
                        <a:pt x="304" y="214"/>
                      </a:lnTo>
                      <a:lnTo>
                        <a:pt x="297" y="210"/>
                      </a:lnTo>
                      <a:lnTo>
                        <a:pt x="291" y="205"/>
                      </a:lnTo>
                      <a:lnTo>
                        <a:pt x="284" y="200"/>
                      </a:lnTo>
                      <a:lnTo>
                        <a:pt x="275" y="195"/>
                      </a:lnTo>
                      <a:lnTo>
                        <a:pt x="267" y="189"/>
                      </a:lnTo>
                      <a:lnTo>
                        <a:pt x="259" y="183"/>
                      </a:lnTo>
                      <a:lnTo>
                        <a:pt x="252" y="179"/>
                      </a:lnTo>
                      <a:lnTo>
                        <a:pt x="245" y="174"/>
                      </a:lnTo>
                      <a:lnTo>
                        <a:pt x="237" y="170"/>
                      </a:lnTo>
                      <a:lnTo>
                        <a:pt x="229" y="167"/>
                      </a:lnTo>
                      <a:lnTo>
                        <a:pt x="222" y="165"/>
                      </a:lnTo>
                      <a:lnTo>
                        <a:pt x="211" y="162"/>
                      </a:lnTo>
                      <a:lnTo>
                        <a:pt x="201" y="159"/>
                      </a:lnTo>
                      <a:lnTo>
                        <a:pt x="194" y="157"/>
                      </a:lnTo>
                      <a:lnTo>
                        <a:pt x="186" y="155"/>
                      </a:lnTo>
                      <a:lnTo>
                        <a:pt x="175" y="149"/>
                      </a:lnTo>
                      <a:lnTo>
                        <a:pt x="163" y="144"/>
                      </a:lnTo>
                      <a:lnTo>
                        <a:pt x="180" y="155"/>
                      </a:lnTo>
                      <a:lnTo>
                        <a:pt x="182" y="157"/>
                      </a:lnTo>
                      <a:lnTo>
                        <a:pt x="186" y="162"/>
                      </a:lnTo>
                      <a:lnTo>
                        <a:pt x="190" y="168"/>
                      </a:lnTo>
                      <a:lnTo>
                        <a:pt x="195" y="175"/>
                      </a:lnTo>
                      <a:lnTo>
                        <a:pt x="201" y="182"/>
                      </a:lnTo>
                      <a:lnTo>
                        <a:pt x="206" y="189"/>
                      </a:lnTo>
                      <a:lnTo>
                        <a:pt x="212" y="197"/>
                      </a:lnTo>
                      <a:lnTo>
                        <a:pt x="217" y="204"/>
                      </a:lnTo>
                      <a:lnTo>
                        <a:pt x="222" y="210"/>
                      </a:lnTo>
                      <a:lnTo>
                        <a:pt x="227" y="217"/>
                      </a:lnTo>
                      <a:lnTo>
                        <a:pt x="233" y="227"/>
                      </a:lnTo>
                      <a:lnTo>
                        <a:pt x="238" y="234"/>
                      </a:lnTo>
                      <a:lnTo>
                        <a:pt x="242" y="241"/>
                      </a:lnTo>
                      <a:lnTo>
                        <a:pt x="246" y="248"/>
                      </a:lnTo>
                      <a:lnTo>
                        <a:pt x="250" y="255"/>
                      </a:lnTo>
                      <a:lnTo>
                        <a:pt x="252" y="262"/>
                      </a:lnTo>
                      <a:lnTo>
                        <a:pt x="254" y="267"/>
                      </a:lnTo>
                      <a:lnTo>
                        <a:pt x="256" y="275"/>
                      </a:lnTo>
                      <a:lnTo>
                        <a:pt x="257" y="285"/>
                      </a:lnTo>
                      <a:lnTo>
                        <a:pt x="258" y="294"/>
                      </a:lnTo>
                      <a:lnTo>
                        <a:pt x="259" y="304"/>
                      </a:lnTo>
                      <a:lnTo>
                        <a:pt x="261" y="313"/>
                      </a:lnTo>
                      <a:lnTo>
                        <a:pt x="262" y="323"/>
                      </a:lnTo>
                      <a:lnTo>
                        <a:pt x="255" y="313"/>
                      </a:lnTo>
                      <a:lnTo>
                        <a:pt x="249" y="307"/>
                      </a:lnTo>
                      <a:lnTo>
                        <a:pt x="245" y="300"/>
                      </a:lnTo>
                      <a:lnTo>
                        <a:pt x="241" y="295"/>
                      </a:lnTo>
                      <a:lnTo>
                        <a:pt x="238" y="288"/>
                      </a:lnTo>
                      <a:lnTo>
                        <a:pt x="236" y="280"/>
                      </a:lnTo>
                      <a:lnTo>
                        <a:pt x="232" y="271"/>
                      </a:lnTo>
                      <a:lnTo>
                        <a:pt x="228" y="263"/>
                      </a:lnTo>
                      <a:lnTo>
                        <a:pt x="224" y="254"/>
                      </a:lnTo>
                      <a:lnTo>
                        <a:pt x="221" y="246"/>
                      </a:lnTo>
                      <a:lnTo>
                        <a:pt x="217" y="238"/>
                      </a:lnTo>
                      <a:lnTo>
                        <a:pt x="212" y="232"/>
                      </a:lnTo>
                      <a:lnTo>
                        <a:pt x="208" y="226"/>
                      </a:lnTo>
                      <a:lnTo>
                        <a:pt x="202" y="218"/>
                      </a:lnTo>
                      <a:lnTo>
                        <a:pt x="196" y="211"/>
                      </a:lnTo>
                      <a:lnTo>
                        <a:pt x="191" y="205"/>
                      </a:lnTo>
                      <a:lnTo>
                        <a:pt x="186" y="199"/>
                      </a:lnTo>
                      <a:lnTo>
                        <a:pt x="185" y="194"/>
                      </a:lnTo>
                      <a:lnTo>
                        <a:pt x="181" y="185"/>
                      </a:lnTo>
                      <a:lnTo>
                        <a:pt x="177" y="179"/>
                      </a:lnTo>
                      <a:lnTo>
                        <a:pt x="174" y="171"/>
                      </a:lnTo>
                      <a:lnTo>
                        <a:pt x="172" y="169"/>
                      </a:lnTo>
                      <a:lnTo>
                        <a:pt x="165" y="162"/>
                      </a:lnTo>
                      <a:lnTo>
                        <a:pt x="161" y="155"/>
                      </a:lnTo>
                      <a:lnTo>
                        <a:pt x="157" y="149"/>
                      </a:lnTo>
                      <a:lnTo>
                        <a:pt x="153" y="143"/>
                      </a:lnTo>
                      <a:lnTo>
                        <a:pt x="145" y="146"/>
                      </a:lnTo>
                      <a:lnTo>
                        <a:pt x="137" y="151"/>
                      </a:lnTo>
                      <a:lnTo>
                        <a:pt x="129" y="158"/>
                      </a:lnTo>
                      <a:lnTo>
                        <a:pt x="121" y="164"/>
                      </a:lnTo>
                      <a:lnTo>
                        <a:pt x="115" y="170"/>
                      </a:lnTo>
                      <a:lnTo>
                        <a:pt x="110" y="176"/>
                      </a:lnTo>
                      <a:lnTo>
                        <a:pt x="104" y="185"/>
                      </a:lnTo>
                      <a:lnTo>
                        <a:pt x="97" y="195"/>
                      </a:lnTo>
                      <a:lnTo>
                        <a:pt x="92" y="203"/>
                      </a:lnTo>
                      <a:lnTo>
                        <a:pt x="85" y="212"/>
                      </a:lnTo>
                      <a:lnTo>
                        <a:pt x="80" y="221"/>
                      </a:lnTo>
                      <a:lnTo>
                        <a:pt x="76" y="229"/>
                      </a:lnTo>
                      <a:lnTo>
                        <a:pt x="71" y="237"/>
                      </a:lnTo>
                      <a:lnTo>
                        <a:pt x="67" y="245"/>
                      </a:lnTo>
                      <a:lnTo>
                        <a:pt x="62" y="254"/>
                      </a:lnTo>
                      <a:lnTo>
                        <a:pt x="58" y="263"/>
                      </a:lnTo>
                      <a:lnTo>
                        <a:pt x="51" y="273"/>
                      </a:lnTo>
                      <a:lnTo>
                        <a:pt x="45" y="283"/>
                      </a:lnTo>
                      <a:lnTo>
                        <a:pt x="38" y="294"/>
                      </a:lnTo>
                      <a:lnTo>
                        <a:pt x="33" y="303"/>
                      </a:lnTo>
                      <a:lnTo>
                        <a:pt x="28" y="309"/>
                      </a:lnTo>
                      <a:lnTo>
                        <a:pt x="24" y="315"/>
                      </a:lnTo>
                      <a:lnTo>
                        <a:pt x="18" y="321"/>
                      </a:lnTo>
                      <a:lnTo>
                        <a:pt x="13" y="327"/>
                      </a:lnTo>
                      <a:lnTo>
                        <a:pt x="7" y="333"/>
                      </a:lnTo>
                      <a:lnTo>
                        <a:pt x="0" y="341"/>
                      </a:lnTo>
                      <a:lnTo>
                        <a:pt x="2" y="331"/>
                      </a:lnTo>
                      <a:lnTo>
                        <a:pt x="5" y="324"/>
                      </a:lnTo>
                      <a:lnTo>
                        <a:pt x="8" y="315"/>
                      </a:lnTo>
                      <a:lnTo>
                        <a:pt x="13" y="309"/>
                      </a:lnTo>
                      <a:lnTo>
                        <a:pt x="20" y="298"/>
                      </a:lnTo>
                      <a:lnTo>
                        <a:pt x="27" y="287"/>
                      </a:lnTo>
                      <a:lnTo>
                        <a:pt x="35" y="275"/>
                      </a:lnTo>
                      <a:lnTo>
                        <a:pt x="41" y="265"/>
                      </a:lnTo>
                      <a:lnTo>
                        <a:pt x="47" y="255"/>
                      </a:lnTo>
                      <a:lnTo>
                        <a:pt x="54" y="246"/>
                      </a:lnTo>
                      <a:lnTo>
                        <a:pt x="59" y="238"/>
                      </a:lnTo>
                      <a:lnTo>
                        <a:pt x="64" y="231"/>
                      </a:lnTo>
                      <a:lnTo>
                        <a:pt x="69" y="224"/>
                      </a:lnTo>
                      <a:lnTo>
                        <a:pt x="76" y="216"/>
                      </a:lnTo>
                      <a:lnTo>
                        <a:pt x="82" y="208"/>
                      </a:lnTo>
                      <a:lnTo>
                        <a:pt x="88" y="199"/>
                      </a:lnTo>
                      <a:lnTo>
                        <a:pt x="95" y="190"/>
                      </a:lnTo>
                      <a:lnTo>
                        <a:pt x="100" y="183"/>
                      </a:lnTo>
                      <a:lnTo>
                        <a:pt x="105" y="175"/>
                      </a:lnTo>
                      <a:lnTo>
                        <a:pt x="110" y="167"/>
                      </a:lnTo>
                      <a:lnTo>
                        <a:pt x="112" y="162"/>
                      </a:lnTo>
                      <a:lnTo>
                        <a:pt x="114" y="156"/>
                      </a:lnTo>
                      <a:lnTo>
                        <a:pt x="118" y="151"/>
                      </a:lnTo>
                      <a:lnTo>
                        <a:pt x="122" y="145"/>
                      </a:lnTo>
                      <a:lnTo>
                        <a:pt x="129" y="138"/>
                      </a:lnTo>
                      <a:lnTo>
                        <a:pt x="134" y="131"/>
                      </a:lnTo>
                      <a:lnTo>
                        <a:pt x="139" y="126"/>
                      </a:lnTo>
                      <a:lnTo>
                        <a:pt x="143" y="119"/>
                      </a:lnTo>
                      <a:lnTo>
                        <a:pt x="141" y="114"/>
                      </a:lnTo>
                      <a:lnTo>
                        <a:pt x="139" y="106"/>
                      </a:lnTo>
                      <a:lnTo>
                        <a:pt x="127" y="102"/>
                      </a:lnTo>
                      <a:lnTo>
                        <a:pt x="113" y="92"/>
                      </a:lnTo>
                      <a:lnTo>
                        <a:pt x="99" y="83"/>
                      </a:lnTo>
                      <a:lnTo>
                        <a:pt x="92" y="78"/>
                      </a:lnTo>
                      <a:lnTo>
                        <a:pt x="86" y="74"/>
                      </a:lnTo>
                      <a:lnTo>
                        <a:pt x="75" y="70"/>
                      </a:lnTo>
                      <a:lnTo>
                        <a:pt x="64" y="66"/>
                      </a:lnTo>
                      <a:lnTo>
                        <a:pt x="52" y="63"/>
                      </a:lnTo>
                      <a:lnTo>
                        <a:pt x="43" y="60"/>
                      </a:lnTo>
                      <a:lnTo>
                        <a:pt x="33" y="56"/>
                      </a:lnTo>
                      <a:lnTo>
                        <a:pt x="24" y="53"/>
                      </a:lnTo>
                      <a:lnTo>
                        <a:pt x="15" y="51"/>
                      </a:lnTo>
                      <a:lnTo>
                        <a:pt x="8" y="49"/>
                      </a:lnTo>
                      <a:lnTo>
                        <a:pt x="15" y="49"/>
                      </a:lnTo>
                      <a:lnTo>
                        <a:pt x="20" y="47"/>
                      </a:lnTo>
                      <a:lnTo>
                        <a:pt x="25" y="47"/>
                      </a:lnTo>
                      <a:lnTo>
                        <a:pt x="29" y="46"/>
                      </a:lnTo>
                      <a:lnTo>
                        <a:pt x="34" y="47"/>
                      </a:lnTo>
                      <a:lnTo>
                        <a:pt x="45" y="51"/>
                      </a:lnTo>
                      <a:lnTo>
                        <a:pt x="53" y="56"/>
                      </a:lnTo>
                      <a:lnTo>
                        <a:pt x="63" y="61"/>
                      </a:lnTo>
                      <a:lnTo>
                        <a:pt x="72" y="66"/>
                      </a:lnTo>
                      <a:lnTo>
                        <a:pt x="84" y="71"/>
                      </a:lnTo>
                      <a:lnTo>
                        <a:pt x="93" y="77"/>
                      </a:lnTo>
                      <a:lnTo>
                        <a:pt x="101" y="81"/>
                      </a:lnTo>
                      <a:lnTo>
                        <a:pt x="115" y="88"/>
                      </a:lnTo>
                      <a:lnTo>
                        <a:pt x="122" y="90"/>
                      </a:lnTo>
                      <a:lnTo>
                        <a:pt x="128" y="89"/>
                      </a:lnTo>
                      <a:lnTo>
                        <a:pt x="133" y="88"/>
                      </a:lnTo>
                      <a:lnTo>
                        <a:pt x="138" y="87"/>
                      </a:lnTo>
                    </a:path>
                  </a:pathLst>
                </a:custGeom>
                <a:solidFill>
                  <a:srgbClr val="037C03">
                    <a:alpha val="50195"/>
                  </a:srgbClr>
                </a:solidFill>
                <a:ln w="9525">
                  <a:noFill/>
                </a:ln>
              </p:spPr>
              <p:txBody>
                <a:bodyPr/>
                <a:lstStyle/>
                <a:p>
                  <a:endParaRPr lang="zh-CN" altLang="en-US"/>
                </a:p>
              </p:txBody>
            </p:sp>
            <p:sp>
              <p:nvSpPr>
                <p:cNvPr id="89144" name="Freeform 196"/>
                <p:cNvSpPr/>
                <p:nvPr/>
              </p:nvSpPr>
              <p:spPr>
                <a:xfrm>
                  <a:off x="1900" y="1641"/>
                  <a:ext cx="39" cy="193"/>
                </a:xfrm>
                <a:custGeom>
                  <a:avLst/>
                  <a:gdLst>
                    <a:gd name="txL" fmla="*/ 0 w 39"/>
                    <a:gd name="txT" fmla="*/ 0 h 193"/>
                    <a:gd name="txR" fmla="*/ 39 w 39"/>
                    <a:gd name="txB" fmla="*/ 193 h 193"/>
                  </a:gdLst>
                  <a:ahLst/>
                  <a:cxnLst>
                    <a:cxn ang="0">
                      <a:pos x="20" y="0"/>
                    </a:cxn>
                    <a:cxn ang="0">
                      <a:pos x="25" y="9"/>
                    </a:cxn>
                    <a:cxn ang="0">
                      <a:pos x="28" y="15"/>
                    </a:cxn>
                    <a:cxn ang="0">
                      <a:pos x="34" y="24"/>
                    </a:cxn>
                    <a:cxn ang="0">
                      <a:pos x="36" y="33"/>
                    </a:cxn>
                    <a:cxn ang="0">
                      <a:pos x="37" y="43"/>
                    </a:cxn>
                    <a:cxn ang="0">
                      <a:pos x="37" y="56"/>
                    </a:cxn>
                    <a:cxn ang="0">
                      <a:pos x="38" y="64"/>
                    </a:cxn>
                    <a:cxn ang="0">
                      <a:pos x="37" y="75"/>
                    </a:cxn>
                    <a:cxn ang="0">
                      <a:pos x="36" y="86"/>
                    </a:cxn>
                    <a:cxn ang="0">
                      <a:pos x="34" y="97"/>
                    </a:cxn>
                    <a:cxn ang="0">
                      <a:pos x="31" y="113"/>
                    </a:cxn>
                    <a:cxn ang="0">
                      <a:pos x="29" y="122"/>
                    </a:cxn>
                    <a:cxn ang="0">
                      <a:pos x="24" y="132"/>
                    </a:cxn>
                    <a:cxn ang="0">
                      <a:pos x="18" y="144"/>
                    </a:cxn>
                    <a:cxn ang="0">
                      <a:pos x="12" y="155"/>
                    </a:cxn>
                    <a:cxn ang="0">
                      <a:pos x="7" y="165"/>
                    </a:cxn>
                    <a:cxn ang="0">
                      <a:pos x="3" y="174"/>
                    </a:cxn>
                    <a:cxn ang="0">
                      <a:pos x="0" y="192"/>
                    </a:cxn>
                    <a:cxn ang="0">
                      <a:pos x="1" y="174"/>
                    </a:cxn>
                    <a:cxn ang="0">
                      <a:pos x="3" y="162"/>
                    </a:cxn>
                    <a:cxn ang="0">
                      <a:pos x="4" y="151"/>
                    </a:cxn>
                    <a:cxn ang="0">
                      <a:pos x="5" y="139"/>
                    </a:cxn>
                    <a:cxn ang="0">
                      <a:pos x="7" y="124"/>
                    </a:cxn>
                    <a:cxn ang="0">
                      <a:pos x="10" y="113"/>
                    </a:cxn>
                    <a:cxn ang="0">
                      <a:pos x="12" y="102"/>
                    </a:cxn>
                    <a:cxn ang="0">
                      <a:pos x="15" y="93"/>
                    </a:cxn>
                    <a:cxn ang="0">
                      <a:pos x="18" y="82"/>
                    </a:cxn>
                    <a:cxn ang="0">
                      <a:pos x="20" y="72"/>
                    </a:cxn>
                    <a:cxn ang="0">
                      <a:pos x="22" y="61"/>
                    </a:cxn>
                    <a:cxn ang="0">
                      <a:pos x="23" y="52"/>
                    </a:cxn>
                    <a:cxn ang="0">
                      <a:pos x="24" y="41"/>
                    </a:cxn>
                    <a:cxn ang="0">
                      <a:pos x="24" y="30"/>
                    </a:cxn>
                    <a:cxn ang="0">
                      <a:pos x="24" y="15"/>
                    </a:cxn>
                    <a:cxn ang="0">
                      <a:pos x="22" y="8"/>
                    </a:cxn>
                    <a:cxn ang="0">
                      <a:pos x="20" y="0"/>
                    </a:cxn>
                  </a:cxnLst>
                  <a:rect l="txL" t="txT" r="txR" b="txB"/>
                  <a:pathLst>
                    <a:path w="39" h="193">
                      <a:moveTo>
                        <a:pt x="20" y="0"/>
                      </a:moveTo>
                      <a:lnTo>
                        <a:pt x="25" y="9"/>
                      </a:lnTo>
                      <a:lnTo>
                        <a:pt x="28" y="15"/>
                      </a:lnTo>
                      <a:lnTo>
                        <a:pt x="34" y="24"/>
                      </a:lnTo>
                      <a:lnTo>
                        <a:pt x="36" y="33"/>
                      </a:lnTo>
                      <a:lnTo>
                        <a:pt x="37" y="43"/>
                      </a:lnTo>
                      <a:lnTo>
                        <a:pt x="37" y="56"/>
                      </a:lnTo>
                      <a:lnTo>
                        <a:pt x="38" y="64"/>
                      </a:lnTo>
                      <a:lnTo>
                        <a:pt x="37" y="75"/>
                      </a:lnTo>
                      <a:lnTo>
                        <a:pt x="36" y="86"/>
                      </a:lnTo>
                      <a:lnTo>
                        <a:pt x="34" y="97"/>
                      </a:lnTo>
                      <a:lnTo>
                        <a:pt x="31" y="113"/>
                      </a:lnTo>
                      <a:lnTo>
                        <a:pt x="29" y="122"/>
                      </a:lnTo>
                      <a:lnTo>
                        <a:pt x="24" y="132"/>
                      </a:lnTo>
                      <a:lnTo>
                        <a:pt x="18" y="144"/>
                      </a:lnTo>
                      <a:lnTo>
                        <a:pt x="12" y="155"/>
                      </a:lnTo>
                      <a:lnTo>
                        <a:pt x="7" y="165"/>
                      </a:lnTo>
                      <a:lnTo>
                        <a:pt x="3" y="174"/>
                      </a:lnTo>
                      <a:lnTo>
                        <a:pt x="0" y="192"/>
                      </a:lnTo>
                      <a:lnTo>
                        <a:pt x="1" y="174"/>
                      </a:lnTo>
                      <a:lnTo>
                        <a:pt x="3" y="162"/>
                      </a:lnTo>
                      <a:lnTo>
                        <a:pt x="4" y="151"/>
                      </a:lnTo>
                      <a:lnTo>
                        <a:pt x="5" y="139"/>
                      </a:lnTo>
                      <a:lnTo>
                        <a:pt x="7" y="124"/>
                      </a:lnTo>
                      <a:lnTo>
                        <a:pt x="10" y="113"/>
                      </a:lnTo>
                      <a:lnTo>
                        <a:pt x="12" y="102"/>
                      </a:lnTo>
                      <a:lnTo>
                        <a:pt x="15" y="93"/>
                      </a:lnTo>
                      <a:lnTo>
                        <a:pt x="18" y="82"/>
                      </a:lnTo>
                      <a:lnTo>
                        <a:pt x="20" y="72"/>
                      </a:lnTo>
                      <a:lnTo>
                        <a:pt x="22" y="61"/>
                      </a:lnTo>
                      <a:lnTo>
                        <a:pt x="23" y="52"/>
                      </a:lnTo>
                      <a:lnTo>
                        <a:pt x="24" y="41"/>
                      </a:lnTo>
                      <a:lnTo>
                        <a:pt x="24" y="30"/>
                      </a:lnTo>
                      <a:lnTo>
                        <a:pt x="24" y="15"/>
                      </a:lnTo>
                      <a:lnTo>
                        <a:pt x="22" y="8"/>
                      </a:lnTo>
                      <a:lnTo>
                        <a:pt x="20" y="0"/>
                      </a:lnTo>
                    </a:path>
                  </a:pathLst>
                </a:custGeom>
                <a:solidFill>
                  <a:srgbClr val="037C03">
                    <a:alpha val="50195"/>
                  </a:srgbClr>
                </a:solidFill>
                <a:ln w="9525">
                  <a:noFill/>
                </a:ln>
              </p:spPr>
              <p:txBody>
                <a:bodyPr/>
                <a:lstStyle/>
                <a:p>
                  <a:endParaRPr lang="zh-CN" altLang="en-US"/>
                </a:p>
              </p:txBody>
            </p:sp>
            <p:sp>
              <p:nvSpPr>
                <p:cNvPr id="89145" name="Freeform 197"/>
                <p:cNvSpPr/>
                <p:nvPr/>
              </p:nvSpPr>
              <p:spPr>
                <a:xfrm>
                  <a:off x="1716" y="1535"/>
                  <a:ext cx="171" cy="50"/>
                </a:xfrm>
                <a:custGeom>
                  <a:avLst/>
                  <a:gdLst>
                    <a:gd name="txL" fmla="*/ 0 w 171"/>
                    <a:gd name="txT" fmla="*/ 0 h 50"/>
                    <a:gd name="txR" fmla="*/ 171 w 171"/>
                    <a:gd name="txB" fmla="*/ 50 h 50"/>
                  </a:gdLst>
                  <a:ahLst/>
                  <a:cxnLst>
                    <a:cxn ang="0">
                      <a:pos x="170" y="49"/>
                    </a:cxn>
                    <a:cxn ang="0">
                      <a:pos x="167" y="40"/>
                    </a:cxn>
                    <a:cxn ang="0">
                      <a:pos x="163" y="33"/>
                    </a:cxn>
                    <a:cxn ang="0">
                      <a:pos x="160" y="31"/>
                    </a:cxn>
                    <a:cxn ang="0">
                      <a:pos x="153" y="29"/>
                    </a:cxn>
                    <a:cxn ang="0">
                      <a:pos x="147" y="27"/>
                    </a:cxn>
                    <a:cxn ang="0">
                      <a:pos x="140" y="29"/>
                    </a:cxn>
                    <a:cxn ang="0">
                      <a:pos x="132" y="30"/>
                    </a:cxn>
                    <a:cxn ang="0">
                      <a:pos x="123" y="27"/>
                    </a:cxn>
                    <a:cxn ang="0">
                      <a:pos x="111" y="22"/>
                    </a:cxn>
                    <a:cxn ang="0">
                      <a:pos x="100" y="18"/>
                    </a:cxn>
                    <a:cxn ang="0">
                      <a:pos x="92" y="16"/>
                    </a:cxn>
                    <a:cxn ang="0">
                      <a:pos x="80" y="12"/>
                    </a:cxn>
                    <a:cxn ang="0">
                      <a:pos x="67" y="8"/>
                    </a:cxn>
                    <a:cxn ang="0">
                      <a:pos x="55" y="5"/>
                    </a:cxn>
                    <a:cxn ang="0">
                      <a:pos x="42" y="1"/>
                    </a:cxn>
                    <a:cxn ang="0">
                      <a:pos x="28" y="1"/>
                    </a:cxn>
                    <a:cxn ang="0">
                      <a:pos x="15" y="0"/>
                    </a:cxn>
                    <a:cxn ang="0">
                      <a:pos x="12" y="1"/>
                    </a:cxn>
                    <a:cxn ang="0">
                      <a:pos x="7" y="4"/>
                    </a:cxn>
                    <a:cxn ang="0">
                      <a:pos x="3" y="7"/>
                    </a:cxn>
                    <a:cxn ang="0">
                      <a:pos x="0" y="11"/>
                    </a:cxn>
                    <a:cxn ang="0">
                      <a:pos x="5" y="11"/>
                    </a:cxn>
                    <a:cxn ang="0">
                      <a:pos x="12" y="12"/>
                    </a:cxn>
                    <a:cxn ang="0">
                      <a:pos x="19" y="12"/>
                    </a:cxn>
                    <a:cxn ang="0">
                      <a:pos x="23" y="11"/>
                    </a:cxn>
                    <a:cxn ang="0">
                      <a:pos x="30" y="11"/>
                    </a:cxn>
                    <a:cxn ang="0">
                      <a:pos x="39" y="11"/>
                    </a:cxn>
                    <a:cxn ang="0">
                      <a:pos x="51" y="11"/>
                    </a:cxn>
                    <a:cxn ang="0">
                      <a:pos x="61" y="12"/>
                    </a:cxn>
                    <a:cxn ang="0">
                      <a:pos x="71" y="14"/>
                    </a:cxn>
                    <a:cxn ang="0">
                      <a:pos x="81" y="15"/>
                    </a:cxn>
                    <a:cxn ang="0">
                      <a:pos x="91" y="16"/>
                    </a:cxn>
                    <a:cxn ang="0">
                      <a:pos x="99" y="19"/>
                    </a:cxn>
                    <a:cxn ang="0">
                      <a:pos x="108" y="23"/>
                    </a:cxn>
                    <a:cxn ang="0">
                      <a:pos x="116" y="27"/>
                    </a:cxn>
                    <a:cxn ang="0">
                      <a:pos x="125" y="31"/>
                    </a:cxn>
                    <a:cxn ang="0">
                      <a:pos x="129" y="32"/>
                    </a:cxn>
                    <a:cxn ang="0">
                      <a:pos x="134" y="31"/>
                    </a:cxn>
                    <a:cxn ang="0">
                      <a:pos x="140" y="34"/>
                    </a:cxn>
                    <a:cxn ang="0">
                      <a:pos x="146" y="37"/>
                    </a:cxn>
                    <a:cxn ang="0">
                      <a:pos x="152" y="40"/>
                    </a:cxn>
                    <a:cxn ang="0">
                      <a:pos x="161" y="44"/>
                    </a:cxn>
                    <a:cxn ang="0">
                      <a:pos x="167" y="46"/>
                    </a:cxn>
                    <a:cxn ang="0">
                      <a:pos x="170" y="49"/>
                    </a:cxn>
                  </a:cxnLst>
                  <a:rect l="txL" t="txT" r="txR" b="txB"/>
                  <a:pathLst>
                    <a:path w="171" h="50">
                      <a:moveTo>
                        <a:pt x="170" y="49"/>
                      </a:moveTo>
                      <a:lnTo>
                        <a:pt x="167" y="40"/>
                      </a:lnTo>
                      <a:lnTo>
                        <a:pt x="163" y="33"/>
                      </a:lnTo>
                      <a:lnTo>
                        <a:pt x="160" y="31"/>
                      </a:lnTo>
                      <a:lnTo>
                        <a:pt x="153" y="29"/>
                      </a:lnTo>
                      <a:lnTo>
                        <a:pt x="147" y="27"/>
                      </a:lnTo>
                      <a:lnTo>
                        <a:pt x="140" y="29"/>
                      </a:lnTo>
                      <a:lnTo>
                        <a:pt x="132" y="30"/>
                      </a:lnTo>
                      <a:lnTo>
                        <a:pt x="123" y="27"/>
                      </a:lnTo>
                      <a:lnTo>
                        <a:pt x="111" y="22"/>
                      </a:lnTo>
                      <a:lnTo>
                        <a:pt x="100" y="18"/>
                      </a:lnTo>
                      <a:lnTo>
                        <a:pt x="92" y="16"/>
                      </a:lnTo>
                      <a:lnTo>
                        <a:pt x="80" y="12"/>
                      </a:lnTo>
                      <a:lnTo>
                        <a:pt x="67" y="8"/>
                      </a:lnTo>
                      <a:lnTo>
                        <a:pt x="55" y="5"/>
                      </a:lnTo>
                      <a:lnTo>
                        <a:pt x="42" y="1"/>
                      </a:lnTo>
                      <a:lnTo>
                        <a:pt x="28" y="1"/>
                      </a:lnTo>
                      <a:lnTo>
                        <a:pt x="15" y="0"/>
                      </a:lnTo>
                      <a:lnTo>
                        <a:pt x="12" y="1"/>
                      </a:lnTo>
                      <a:lnTo>
                        <a:pt x="7" y="4"/>
                      </a:lnTo>
                      <a:lnTo>
                        <a:pt x="3" y="7"/>
                      </a:lnTo>
                      <a:lnTo>
                        <a:pt x="0" y="11"/>
                      </a:lnTo>
                      <a:lnTo>
                        <a:pt x="5" y="11"/>
                      </a:lnTo>
                      <a:lnTo>
                        <a:pt x="12" y="12"/>
                      </a:lnTo>
                      <a:lnTo>
                        <a:pt x="19" y="12"/>
                      </a:lnTo>
                      <a:lnTo>
                        <a:pt x="23" y="11"/>
                      </a:lnTo>
                      <a:lnTo>
                        <a:pt x="30" y="11"/>
                      </a:lnTo>
                      <a:lnTo>
                        <a:pt x="39" y="11"/>
                      </a:lnTo>
                      <a:lnTo>
                        <a:pt x="51" y="11"/>
                      </a:lnTo>
                      <a:lnTo>
                        <a:pt x="61" y="12"/>
                      </a:lnTo>
                      <a:lnTo>
                        <a:pt x="71" y="14"/>
                      </a:lnTo>
                      <a:lnTo>
                        <a:pt x="81" y="15"/>
                      </a:lnTo>
                      <a:lnTo>
                        <a:pt x="91" y="16"/>
                      </a:lnTo>
                      <a:lnTo>
                        <a:pt x="99" y="19"/>
                      </a:lnTo>
                      <a:lnTo>
                        <a:pt x="108" y="23"/>
                      </a:lnTo>
                      <a:lnTo>
                        <a:pt x="116" y="27"/>
                      </a:lnTo>
                      <a:lnTo>
                        <a:pt x="125" y="31"/>
                      </a:lnTo>
                      <a:lnTo>
                        <a:pt x="129" y="32"/>
                      </a:lnTo>
                      <a:lnTo>
                        <a:pt x="134" y="31"/>
                      </a:lnTo>
                      <a:lnTo>
                        <a:pt x="140" y="34"/>
                      </a:lnTo>
                      <a:lnTo>
                        <a:pt x="146" y="37"/>
                      </a:lnTo>
                      <a:lnTo>
                        <a:pt x="152" y="40"/>
                      </a:lnTo>
                      <a:lnTo>
                        <a:pt x="161" y="44"/>
                      </a:lnTo>
                      <a:lnTo>
                        <a:pt x="167" y="46"/>
                      </a:lnTo>
                      <a:lnTo>
                        <a:pt x="170" y="49"/>
                      </a:lnTo>
                    </a:path>
                  </a:pathLst>
                </a:custGeom>
                <a:solidFill>
                  <a:srgbClr val="037C03">
                    <a:alpha val="50195"/>
                  </a:srgbClr>
                </a:solidFill>
                <a:ln w="9525">
                  <a:noFill/>
                </a:ln>
              </p:spPr>
              <p:txBody>
                <a:bodyPr/>
                <a:lstStyle/>
                <a:p>
                  <a:endParaRPr lang="zh-CN" altLang="en-US"/>
                </a:p>
              </p:txBody>
            </p:sp>
            <p:sp>
              <p:nvSpPr>
                <p:cNvPr id="89146" name="Freeform 198"/>
                <p:cNvSpPr/>
                <p:nvPr/>
              </p:nvSpPr>
              <p:spPr>
                <a:xfrm>
                  <a:off x="1707" y="1563"/>
                  <a:ext cx="177" cy="21"/>
                </a:xfrm>
                <a:custGeom>
                  <a:avLst/>
                  <a:gdLst>
                    <a:gd name="txL" fmla="*/ 0 w 177"/>
                    <a:gd name="txT" fmla="*/ 0 h 21"/>
                    <a:gd name="txR" fmla="*/ 177 w 177"/>
                    <a:gd name="txB" fmla="*/ 21 h 21"/>
                  </a:gdLst>
                  <a:ahLst/>
                  <a:cxnLst>
                    <a:cxn ang="0">
                      <a:pos x="176" y="20"/>
                    </a:cxn>
                    <a:cxn ang="0">
                      <a:pos x="171" y="18"/>
                    </a:cxn>
                    <a:cxn ang="0">
                      <a:pos x="166" y="16"/>
                    </a:cxn>
                    <a:cxn ang="0">
                      <a:pos x="161" y="13"/>
                    </a:cxn>
                    <a:cxn ang="0">
                      <a:pos x="155" y="12"/>
                    </a:cxn>
                    <a:cxn ang="0">
                      <a:pos x="149" y="10"/>
                    </a:cxn>
                    <a:cxn ang="0">
                      <a:pos x="141" y="6"/>
                    </a:cxn>
                    <a:cxn ang="0">
                      <a:pos x="134" y="3"/>
                    </a:cxn>
                    <a:cxn ang="0">
                      <a:pos x="128" y="2"/>
                    </a:cxn>
                    <a:cxn ang="0">
                      <a:pos x="120" y="3"/>
                    </a:cxn>
                    <a:cxn ang="0">
                      <a:pos x="110" y="5"/>
                    </a:cxn>
                    <a:cxn ang="0">
                      <a:pos x="106" y="5"/>
                    </a:cxn>
                    <a:cxn ang="0">
                      <a:pos x="93" y="3"/>
                    </a:cxn>
                    <a:cxn ang="0">
                      <a:pos x="78" y="1"/>
                    </a:cxn>
                    <a:cxn ang="0">
                      <a:pos x="69" y="0"/>
                    </a:cxn>
                    <a:cxn ang="0">
                      <a:pos x="57" y="0"/>
                    </a:cxn>
                    <a:cxn ang="0">
                      <a:pos x="44" y="0"/>
                    </a:cxn>
                    <a:cxn ang="0">
                      <a:pos x="36" y="1"/>
                    </a:cxn>
                    <a:cxn ang="0">
                      <a:pos x="27" y="2"/>
                    </a:cxn>
                    <a:cxn ang="0">
                      <a:pos x="18" y="3"/>
                    </a:cxn>
                    <a:cxn ang="0">
                      <a:pos x="9" y="4"/>
                    </a:cxn>
                    <a:cxn ang="0">
                      <a:pos x="8" y="8"/>
                    </a:cxn>
                    <a:cxn ang="0">
                      <a:pos x="7" y="11"/>
                    </a:cxn>
                    <a:cxn ang="0">
                      <a:pos x="4" y="15"/>
                    </a:cxn>
                    <a:cxn ang="0">
                      <a:pos x="0" y="17"/>
                    </a:cxn>
                    <a:cxn ang="0">
                      <a:pos x="7" y="16"/>
                    </a:cxn>
                    <a:cxn ang="0">
                      <a:pos x="15" y="14"/>
                    </a:cxn>
                    <a:cxn ang="0">
                      <a:pos x="22" y="12"/>
                    </a:cxn>
                    <a:cxn ang="0">
                      <a:pos x="29" y="11"/>
                    </a:cxn>
                    <a:cxn ang="0">
                      <a:pos x="37" y="10"/>
                    </a:cxn>
                    <a:cxn ang="0">
                      <a:pos x="50" y="10"/>
                    </a:cxn>
                    <a:cxn ang="0">
                      <a:pos x="63" y="8"/>
                    </a:cxn>
                    <a:cxn ang="0">
                      <a:pos x="79" y="8"/>
                    </a:cxn>
                    <a:cxn ang="0">
                      <a:pos x="94" y="7"/>
                    </a:cxn>
                    <a:cxn ang="0">
                      <a:pos x="108" y="6"/>
                    </a:cxn>
                    <a:cxn ang="0">
                      <a:pos x="120" y="7"/>
                    </a:cxn>
                    <a:cxn ang="0">
                      <a:pos x="129" y="10"/>
                    </a:cxn>
                    <a:cxn ang="0">
                      <a:pos x="138" y="12"/>
                    </a:cxn>
                    <a:cxn ang="0">
                      <a:pos x="148" y="14"/>
                    </a:cxn>
                    <a:cxn ang="0">
                      <a:pos x="159" y="17"/>
                    </a:cxn>
                    <a:cxn ang="0">
                      <a:pos x="167" y="18"/>
                    </a:cxn>
                    <a:cxn ang="0">
                      <a:pos x="176" y="20"/>
                    </a:cxn>
                  </a:cxnLst>
                  <a:rect l="txL" t="txT" r="txR" b="txB"/>
                  <a:pathLst>
                    <a:path w="177" h="21">
                      <a:moveTo>
                        <a:pt x="176" y="20"/>
                      </a:moveTo>
                      <a:lnTo>
                        <a:pt x="171" y="18"/>
                      </a:lnTo>
                      <a:lnTo>
                        <a:pt x="166" y="16"/>
                      </a:lnTo>
                      <a:lnTo>
                        <a:pt x="161" y="13"/>
                      </a:lnTo>
                      <a:lnTo>
                        <a:pt x="155" y="12"/>
                      </a:lnTo>
                      <a:lnTo>
                        <a:pt x="149" y="10"/>
                      </a:lnTo>
                      <a:lnTo>
                        <a:pt x="141" y="6"/>
                      </a:lnTo>
                      <a:lnTo>
                        <a:pt x="134" y="3"/>
                      </a:lnTo>
                      <a:lnTo>
                        <a:pt x="128" y="2"/>
                      </a:lnTo>
                      <a:lnTo>
                        <a:pt x="120" y="3"/>
                      </a:lnTo>
                      <a:lnTo>
                        <a:pt x="110" y="5"/>
                      </a:lnTo>
                      <a:lnTo>
                        <a:pt x="106" y="5"/>
                      </a:lnTo>
                      <a:lnTo>
                        <a:pt x="93" y="3"/>
                      </a:lnTo>
                      <a:lnTo>
                        <a:pt x="78" y="1"/>
                      </a:lnTo>
                      <a:lnTo>
                        <a:pt x="69" y="0"/>
                      </a:lnTo>
                      <a:lnTo>
                        <a:pt x="57" y="0"/>
                      </a:lnTo>
                      <a:lnTo>
                        <a:pt x="44" y="0"/>
                      </a:lnTo>
                      <a:lnTo>
                        <a:pt x="36" y="1"/>
                      </a:lnTo>
                      <a:lnTo>
                        <a:pt x="27" y="2"/>
                      </a:lnTo>
                      <a:lnTo>
                        <a:pt x="18" y="3"/>
                      </a:lnTo>
                      <a:lnTo>
                        <a:pt x="9" y="4"/>
                      </a:lnTo>
                      <a:lnTo>
                        <a:pt x="8" y="8"/>
                      </a:lnTo>
                      <a:lnTo>
                        <a:pt x="7" y="11"/>
                      </a:lnTo>
                      <a:lnTo>
                        <a:pt x="4" y="15"/>
                      </a:lnTo>
                      <a:lnTo>
                        <a:pt x="0" y="17"/>
                      </a:lnTo>
                      <a:lnTo>
                        <a:pt x="7" y="16"/>
                      </a:lnTo>
                      <a:lnTo>
                        <a:pt x="15" y="14"/>
                      </a:lnTo>
                      <a:lnTo>
                        <a:pt x="22" y="12"/>
                      </a:lnTo>
                      <a:lnTo>
                        <a:pt x="29" y="11"/>
                      </a:lnTo>
                      <a:lnTo>
                        <a:pt x="37" y="10"/>
                      </a:lnTo>
                      <a:lnTo>
                        <a:pt x="50" y="10"/>
                      </a:lnTo>
                      <a:lnTo>
                        <a:pt x="63" y="8"/>
                      </a:lnTo>
                      <a:lnTo>
                        <a:pt x="79" y="8"/>
                      </a:lnTo>
                      <a:lnTo>
                        <a:pt x="94" y="7"/>
                      </a:lnTo>
                      <a:lnTo>
                        <a:pt x="108" y="6"/>
                      </a:lnTo>
                      <a:lnTo>
                        <a:pt x="120" y="7"/>
                      </a:lnTo>
                      <a:lnTo>
                        <a:pt x="129" y="10"/>
                      </a:lnTo>
                      <a:lnTo>
                        <a:pt x="138" y="12"/>
                      </a:lnTo>
                      <a:lnTo>
                        <a:pt x="148" y="14"/>
                      </a:lnTo>
                      <a:lnTo>
                        <a:pt x="159" y="17"/>
                      </a:lnTo>
                      <a:lnTo>
                        <a:pt x="167" y="18"/>
                      </a:lnTo>
                      <a:lnTo>
                        <a:pt x="176" y="20"/>
                      </a:lnTo>
                    </a:path>
                  </a:pathLst>
                </a:custGeom>
                <a:solidFill>
                  <a:srgbClr val="037C03">
                    <a:alpha val="50195"/>
                  </a:srgbClr>
                </a:solidFill>
                <a:ln w="9525">
                  <a:noFill/>
                </a:ln>
              </p:spPr>
              <p:txBody>
                <a:bodyPr/>
                <a:lstStyle/>
                <a:p>
                  <a:endParaRPr lang="zh-CN" altLang="en-US"/>
                </a:p>
              </p:txBody>
            </p:sp>
          </p:grpSp>
          <p:sp>
            <p:nvSpPr>
              <p:cNvPr id="89142" name="Freeform 199"/>
              <p:cNvSpPr/>
              <p:nvPr/>
            </p:nvSpPr>
            <p:spPr>
              <a:xfrm>
                <a:off x="1691" y="1023"/>
                <a:ext cx="261" cy="374"/>
              </a:xfrm>
              <a:custGeom>
                <a:avLst/>
                <a:gdLst>
                  <a:gd name="txL" fmla="*/ 0 w 261"/>
                  <a:gd name="txT" fmla="*/ 0 h 374"/>
                  <a:gd name="txR" fmla="*/ 261 w 261"/>
                  <a:gd name="txB" fmla="*/ 374 h 374"/>
                </a:gdLst>
                <a:ahLst/>
                <a:cxnLst>
                  <a:cxn ang="0">
                    <a:pos x="82" y="162"/>
                  </a:cxn>
                  <a:cxn ang="0">
                    <a:pos x="90" y="154"/>
                  </a:cxn>
                  <a:cxn ang="0">
                    <a:pos x="76" y="104"/>
                  </a:cxn>
                  <a:cxn ang="0">
                    <a:pos x="54" y="56"/>
                  </a:cxn>
                  <a:cxn ang="0">
                    <a:pos x="31" y="33"/>
                  </a:cxn>
                  <a:cxn ang="0">
                    <a:pos x="51" y="45"/>
                  </a:cxn>
                  <a:cxn ang="0">
                    <a:pos x="72" y="84"/>
                  </a:cxn>
                  <a:cxn ang="0">
                    <a:pos x="92" y="126"/>
                  </a:cxn>
                  <a:cxn ang="0">
                    <a:pos x="106" y="168"/>
                  </a:cxn>
                  <a:cxn ang="0">
                    <a:pos x="118" y="150"/>
                  </a:cxn>
                  <a:cxn ang="0">
                    <a:pos x="121" y="114"/>
                  </a:cxn>
                  <a:cxn ang="0">
                    <a:pos x="125" y="65"/>
                  </a:cxn>
                  <a:cxn ang="0">
                    <a:pos x="136" y="26"/>
                  </a:cxn>
                  <a:cxn ang="0">
                    <a:pos x="143" y="12"/>
                  </a:cxn>
                  <a:cxn ang="0">
                    <a:pos x="136" y="53"/>
                  </a:cxn>
                  <a:cxn ang="0">
                    <a:pos x="132" y="106"/>
                  </a:cxn>
                  <a:cxn ang="0">
                    <a:pos x="130" y="155"/>
                  </a:cxn>
                  <a:cxn ang="0">
                    <a:pos x="136" y="183"/>
                  </a:cxn>
                  <a:cxn ang="0">
                    <a:pos x="166" y="177"/>
                  </a:cxn>
                  <a:cxn ang="0">
                    <a:pos x="205" y="178"/>
                  </a:cxn>
                  <a:cxn ang="0">
                    <a:pos x="236" y="193"/>
                  </a:cxn>
                  <a:cxn ang="0">
                    <a:pos x="260" y="227"/>
                  </a:cxn>
                  <a:cxn ang="0">
                    <a:pos x="231" y="222"/>
                  </a:cxn>
                  <a:cxn ang="0">
                    <a:pos x="200" y="211"/>
                  </a:cxn>
                  <a:cxn ang="0">
                    <a:pos x="159" y="204"/>
                  </a:cxn>
                  <a:cxn ang="0">
                    <a:pos x="132" y="208"/>
                  </a:cxn>
                  <a:cxn ang="0">
                    <a:pos x="147" y="224"/>
                  </a:cxn>
                  <a:cxn ang="0">
                    <a:pos x="182" y="233"/>
                  </a:cxn>
                  <a:cxn ang="0">
                    <a:pos x="217" y="240"/>
                  </a:cxn>
                  <a:cxn ang="0">
                    <a:pos x="243" y="264"/>
                  </a:cxn>
                  <a:cxn ang="0">
                    <a:pos x="256" y="297"/>
                  </a:cxn>
                  <a:cxn ang="0">
                    <a:pos x="224" y="277"/>
                  </a:cxn>
                  <a:cxn ang="0">
                    <a:pos x="191" y="256"/>
                  </a:cxn>
                  <a:cxn ang="0">
                    <a:pos x="160" y="238"/>
                  </a:cxn>
                  <a:cxn ang="0">
                    <a:pos x="136" y="230"/>
                  </a:cxn>
                  <a:cxn ang="0">
                    <a:pos x="121" y="246"/>
                  </a:cxn>
                  <a:cxn ang="0">
                    <a:pos x="135" y="290"/>
                  </a:cxn>
                  <a:cxn ang="0">
                    <a:pos x="145" y="342"/>
                  </a:cxn>
                  <a:cxn ang="0">
                    <a:pos x="127" y="346"/>
                  </a:cxn>
                  <a:cxn ang="0">
                    <a:pos x="116" y="290"/>
                  </a:cxn>
                  <a:cxn ang="0">
                    <a:pos x="101" y="256"/>
                  </a:cxn>
                  <a:cxn ang="0">
                    <a:pos x="83" y="274"/>
                  </a:cxn>
                  <a:cxn ang="0">
                    <a:pos x="64" y="309"/>
                  </a:cxn>
                  <a:cxn ang="0">
                    <a:pos x="44" y="360"/>
                  </a:cxn>
                  <a:cxn ang="0">
                    <a:pos x="51" y="314"/>
                  </a:cxn>
                  <a:cxn ang="0">
                    <a:pos x="69" y="272"/>
                  </a:cxn>
                  <a:cxn ang="0">
                    <a:pos x="91" y="238"/>
                  </a:cxn>
                  <a:cxn ang="0">
                    <a:pos x="99" y="212"/>
                  </a:cxn>
                  <a:cxn ang="0">
                    <a:pos x="77" y="226"/>
                  </a:cxn>
                  <a:cxn ang="0">
                    <a:pos x="52" y="261"/>
                  </a:cxn>
                  <a:cxn ang="0">
                    <a:pos x="28" y="301"/>
                  </a:cxn>
                  <a:cxn ang="0">
                    <a:pos x="24" y="288"/>
                  </a:cxn>
                  <a:cxn ang="0">
                    <a:pos x="42" y="262"/>
                  </a:cxn>
                  <a:cxn ang="0">
                    <a:pos x="71" y="229"/>
                  </a:cxn>
                  <a:cxn ang="0">
                    <a:pos x="101" y="206"/>
                  </a:cxn>
                  <a:cxn ang="0">
                    <a:pos x="73" y="180"/>
                  </a:cxn>
                  <a:cxn ang="0">
                    <a:pos x="46" y="148"/>
                  </a:cxn>
                  <a:cxn ang="0">
                    <a:pos x="17" y="118"/>
                  </a:cxn>
                  <a:cxn ang="0">
                    <a:pos x="3" y="98"/>
                  </a:cxn>
                  <a:cxn ang="0">
                    <a:pos x="32" y="115"/>
                  </a:cxn>
                  <a:cxn ang="0">
                    <a:pos x="64" y="145"/>
                  </a:cxn>
                </a:cxnLst>
                <a:rect l="txL" t="txT" r="txR" b="txB"/>
                <a:pathLst>
                  <a:path w="261" h="374">
                    <a:moveTo>
                      <a:pt x="64" y="145"/>
                    </a:moveTo>
                    <a:lnTo>
                      <a:pt x="68" y="150"/>
                    </a:lnTo>
                    <a:lnTo>
                      <a:pt x="72" y="154"/>
                    </a:lnTo>
                    <a:lnTo>
                      <a:pt x="77" y="157"/>
                    </a:lnTo>
                    <a:lnTo>
                      <a:pt x="82" y="162"/>
                    </a:lnTo>
                    <a:lnTo>
                      <a:pt x="86" y="165"/>
                    </a:lnTo>
                    <a:lnTo>
                      <a:pt x="91" y="168"/>
                    </a:lnTo>
                    <a:lnTo>
                      <a:pt x="94" y="170"/>
                    </a:lnTo>
                    <a:lnTo>
                      <a:pt x="92" y="162"/>
                    </a:lnTo>
                    <a:lnTo>
                      <a:pt x="90" y="154"/>
                    </a:lnTo>
                    <a:lnTo>
                      <a:pt x="87" y="143"/>
                    </a:lnTo>
                    <a:lnTo>
                      <a:pt x="85" y="134"/>
                    </a:lnTo>
                    <a:lnTo>
                      <a:pt x="82" y="124"/>
                    </a:lnTo>
                    <a:lnTo>
                      <a:pt x="80" y="114"/>
                    </a:lnTo>
                    <a:lnTo>
                      <a:pt x="76" y="104"/>
                    </a:lnTo>
                    <a:lnTo>
                      <a:pt x="72" y="93"/>
                    </a:lnTo>
                    <a:lnTo>
                      <a:pt x="68" y="84"/>
                    </a:lnTo>
                    <a:lnTo>
                      <a:pt x="63" y="71"/>
                    </a:lnTo>
                    <a:lnTo>
                      <a:pt x="59" y="63"/>
                    </a:lnTo>
                    <a:lnTo>
                      <a:pt x="54" y="56"/>
                    </a:lnTo>
                    <a:lnTo>
                      <a:pt x="50" y="48"/>
                    </a:lnTo>
                    <a:lnTo>
                      <a:pt x="44" y="42"/>
                    </a:lnTo>
                    <a:lnTo>
                      <a:pt x="39" y="38"/>
                    </a:lnTo>
                    <a:lnTo>
                      <a:pt x="34" y="35"/>
                    </a:lnTo>
                    <a:lnTo>
                      <a:pt x="31" y="33"/>
                    </a:lnTo>
                    <a:lnTo>
                      <a:pt x="35" y="32"/>
                    </a:lnTo>
                    <a:lnTo>
                      <a:pt x="37" y="33"/>
                    </a:lnTo>
                    <a:lnTo>
                      <a:pt x="41" y="34"/>
                    </a:lnTo>
                    <a:lnTo>
                      <a:pt x="45" y="39"/>
                    </a:lnTo>
                    <a:lnTo>
                      <a:pt x="51" y="45"/>
                    </a:lnTo>
                    <a:lnTo>
                      <a:pt x="55" y="50"/>
                    </a:lnTo>
                    <a:lnTo>
                      <a:pt x="58" y="56"/>
                    </a:lnTo>
                    <a:lnTo>
                      <a:pt x="63" y="64"/>
                    </a:lnTo>
                    <a:lnTo>
                      <a:pt x="68" y="75"/>
                    </a:lnTo>
                    <a:lnTo>
                      <a:pt x="72" y="84"/>
                    </a:lnTo>
                    <a:lnTo>
                      <a:pt x="77" y="94"/>
                    </a:lnTo>
                    <a:lnTo>
                      <a:pt x="81" y="101"/>
                    </a:lnTo>
                    <a:lnTo>
                      <a:pt x="86" y="109"/>
                    </a:lnTo>
                    <a:lnTo>
                      <a:pt x="89" y="117"/>
                    </a:lnTo>
                    <a:lnTo>
                      <a:pt x="92" y="126"/>
                    </a:lnTo>
                    <a:lnTo>
                      <a:pt x="95" y="135"/>
                    </a:lnTo>
                    <a:lnTo>
                      <a:pt x="99" y="143"/>
                    </a:lnTo>
                    <a:lnTo>
                      <a:pt x="101" y="151"/>
                    </a:lnTo>
                    <a:lnTo>
                      <a:pt x="104" y="161"/>
                    </a:lnTo>
                    <a:lnTo>
                      <a:pt x="106" y="168"/>
                    </a:lnTo>
                    <a:lnTo>
                      <a:pt x="107" y="171"/>
                    </a:lnTo>
                    <a:lnTo>
                      <a:pt x="110" y="168"/>
                    </a:lnTo>
                    <a:lnTo>
                      <a:pt x="113" y="164"/>
                    </a:lnTo>
                    <a:lnTo>
                      <a:pt x="117" y="159"/>
                    </a:lnTo>
                    <a:lnTo>
                      <a:pt x="118" y="150"/>
                    </a:lnTo>
                    <a:lnTo>
                      <a:pt x="119" y="143"/>
                    </a:lnTo>
                    <a:lnTo>
                      <a:pt x="120" y="133"/>
                    </a:lnTo>
                    <a:lnTo>
                      <a:pt x="121" y="124"/>
                    </a:lnTo>
                    <a:lnTo>
                      <a:pt x="120" y="124"/>
                    </a:lnTo>
                    <a:lnTo>
                      <a:pt x="121" y="114"/>
                    </a:lnTo>
                    <a:lnTo>
                      <a:pt x="121" y="103"/>
                    </a:lnTo>
                    <a:lnTo>
                      <a:pt x="122" y="92"/>
                    </a:lnTo>
                    <a:lnTo>
                      <a:pt x="122" y="82"/>
                    </a:lnTo>
                    <a:lnTo>
                      <a:pt x="123" y="75"/>
                    </a:lnTo>
                    <a:lnTo>
                      <a:pt x="125" y="65"/>
                    </a:lnTo>
                    <a:lnTo>
                      <a:pt x="127" y="58"/>
                    </a:lnTo>
                    <a:lnTo>
                      <a:pt x="128" y="50"/>
                    </a:lnTo>
                    <a:lnTo>
                      <a:pt x="131" y="44"/>
                    </a:lnTo>
                    <a:lnTo>
                      <a:pt x="133" y="36"/>
                    </a:lnTo>
                    <a:lnTo>
                      <a:pt x="136" y="26"/>
                    </a:lnTo>
                    <a:lnTo>
                      <a:pt x="139" y="16"/>
                    </a:lnTo>
                    <a:lnTo>
                      <a:pt x="140" y="7"/>
                    </a:lnTo>
                    <a:lnTo>
                      <a:pt x="143" y="0"/>
                    </a:lnTo>
                    <a:lnTo>
                      <a:pt x="144" y="6"/>
                    </a:lnTo>
                    <a:lnTo>
                      <a:pt x="143" y="12"/>
                    </a:lnTo>
                    <a:lnTo>
                      <a:pt x="142" y="21"/>
                    </a:lnTo>
                    <a:lnTo>
                      <a:pt x="140" y="28"/>
                    </a:lnTo>
                    <a:lnTo>
                      <a:pt x="138" y="40"/>
                    </a:lnTo>
                    <a:lnTo>
                      <a:pt x="137" y="47"/>
                    </a:lnTo>
                    <a:lnTo>
                      <a:pt x="136" y="53"/>
                    </a:lnTo>
                    <a:lnTo>
                      <a:pt x="135" y="62"/>
                    </a:lnTo>
                    <a:lnTo>
                      <a:pt x="134" y="72"/>
                    </a:lnTo>
                    <a:lnTo>
                      <a:pt x="134" y="83"/>
                    </a:lnTo>
                    <a:lnTo>
                      <a:pt x="133" y="94"/>
                    </a:lnTo>
                    <a:lnTo>
                      <a:pt x="132" y="106"/>
                    </a:lnTo>
                    <a:lnTo>
                      <a:pt x="132" y="116"/>
                    </a:lnTo>
                    <a:lnTo>
                      <a:pt x="132" y="126"/>
                    </a:lnTo>
                    <a:lnTo>
                      <a:pt x="131" y="134"/>
                    </a:lnTo>
                    <a:lnTo>
                      <a:pt x="131" y="145"/>
                    </a:lnTo>
                    <a:lnTo>
                      <a:pt x="130" y="155"/>
                    </a:lnTo>
                    <a:lnTo>
                      <a:pt x="128" y="168"/>
                    </a:lnTo>
                    <a:lnTo>
                      <a:pt x="127" y="178"/>
                    </a:lnTo>
                    <a:lnTo>
                      <a:pt x="125" y="190"/>
                    </a:lnTo>
                    <a:lnTo>
                      <a:pt x="130" y="187"/>
                    </a:lnTo>
                    <a:lnTo>
                      <a:pt x="136" y="183"/>
                    </a:lnTo>
                    <a:lnTo>
                      <a:pt x="143" y="178"/>
                    </a:lnTo>
                    <a:lnTo>
                      <a:pt x="149" y="176"/>
                    </a:lnTo>
                    <a:lnTo>
                      <a:pt x="156" y="176"/>
                    </a:lnTo>
                    <a:lnTo>
                      <a:pt x="160" y="176"/>
                    </a:lnTo>
                    <a:lnTo>
                      <a:pt x="166" y="177"/>
                    </a:lnTo>
                    <a:lnTo>
                      <a:pt x="173" y="178"/>
                    </a:lnTo>
                    <a:lnTo>
                      <a:pt x="182" y="179"/>
                    </a:lnTo>
                    <a:lnTo>
                      <a:pt x="190" y="178"/>
                    </a:lnTo>
                    <a:lnTo>
                      <a:pt x="198" y="178"/>
                    </a:lnTo>
                    <a:lnTo>
                      <a:pt x="205" y="178"/>
                    </a:lnTo>
                    <a:lnTo>
                      <a:pt x="211" y="179"/>
                    </a:lnTo>
                    <a:lnTo>
                      <a:pt x="217" y="182"/>
                    </a:lnTo>
                    <a:lnTo>
                      <a:pt x="225" y="185"/>
                    </a:lnTo>
                    <a:lnTo>
                      <a:pt x="231" y="189"/>
                    </a:lnTo>
                    <a:lnTo>
                      <a:pt x="236" y="193"/>
                    </a:lnTo>
                    <a:lnTo>
                      <a:pt x="242" y="199"/>
                    </a:lnTo>
                    <a:lnTo>
                      <a:pt x="245" y="202"/>
                    </a:lnTo>
                    <a:lnTo>
                      <a:pt x="251" y="210"/>
                    </a:lnTo>
                    <a:lnTo>
                      <a:pt x="255" y="218"/>
                    </a:lnTo>
                    <a:lnTo>
                      <a:pt x="260" y="227"/>
                    </a:lnTo>
                    <a:lnTo>
                      <a:pt x="254" y="227"/>
                    </a:lnTo>
                    <a:lnTo>
                      <a:pt x="248" y="226"/>
                    </a:lnTo>
                    <a:lnTo>
                      <a:pt x="241" y="224"/>
                    </a:lnTo>
                    <a:lnTo>
                      <a:pt x="235" y="224"/>
                    </a:lnTo>
                    <a:lnTo>
                      <a:pt x="231" y="222"/>
                    </a:lnTo>
                    <a:lnTo>
                      <a:pt x="224" y="218"/>
                    </a:lnTo>
                    <a:lnTo>
                      <a:pt x="218" y="216"/>
                    </a:lnTo>
                    <a:lnTo>
                      <a:pt x="213" y="213"/>
                    </a:lnTo>
                    <a:lnTo>
                      <a:pt x="209" y="212"/>
                    </a:lnTo>
                    <a:lnTo>
                      <a:pt x="200" y="211"/>
                    </a:lnTo>
                    <a:lnTo>
                      <a:pt x="190" y="210"/>
                    </a:lnTo>
                    <a:lnTo>
                      <a:pt x="182" y="208"/>
                    </a:lnTo>
                    <a:lnTo>
                      <a:pt x="173" y="206"/>
                    </a:lnTo>
                    <a:lnTo>
                      <a:pt x="165" y="205"/>
                    </a:lnTo>
                    <a:lnTo>
                      <a:pt x="159" y="204"/>
                    </a:lnTo>
                    <a:lnTo>
                      <a:pt x="154" y="204"/>
                    </a:lnTo>
                    <a:lnTo>
                      <a:pt x="148" y="203"/>
                    </a:lnTo>
                    <a:lnTo>
                      <a:pt x="142" y="204"/>
                    </a:lnTo>
                    <a:lnTo>
                      <a:pt x="137" y="205"/>
                    </a:lnTo>
                    <a:lnTo>
                      <a:pt x="132" y="208"/>
                    </a:lnTo>
                    <a:lnTo>
                      <a:pt x="125" y="210"/>
                    </a:lnTo>
                    <a:lnTo>
                      <a:pt x="130" y="213"/>
                    </a:lnTo>
                    <a:lnTo>
                      <a:pt x="136" y="217"/>
                    </a:lnTo>
                    <a:lnTo>
                      <a:pt x="141" y="222"/>
                    </a:lnTo>
                    <a:lnTo>
                      <a:pt x="147" y="224"/>
                    </a:lnTo>
                    <a:lnTo>
                      <a:pt x="154" y="227"/>
                    </a:lnTo>
                    <a:lnTo>
                      <a:pt x="160" y="229"/>
                    </a:lnTo>
                    <a:lnTo>
                      <a:pt x="166" y="229"/>
                    </a:lnTo>
                    <a:lnTo>
                      <a:pt x="173" y="231"/>
                    </a:lnTo>
                    <a:lnTo>
                      <a:pt x="182" y="233"/>
                    </a:lnTo>
                    <a:lnTo>
                      <a:pt x="189" y="235"/>
                    </a:lnTo>
                    <a:lnTo>
                      <a:pt x="197" y="235"/>
                    </a:lnTo>
                    <a:lnTo>
                      <a:pt x="203" y="237"/>
                    </a:lnTo>
                    <a:lnTo>
                      <a:pt x="210" y="239"/>
                    </a:lnTo>
                    <a:lnTo>
                      <a:pt x="217" y="240"/>
                    </a:lnTo>
                    <a:lnTo>
                      <a:pt x="222" y="243"/>
                    </a:lnTo>
                    <a:lnTo>
                      <a:pt x="227" y="247"/>
                    </a:lnTo>
                    <a:lnTo>
                      <a:pt x="232" y="252"/>
                    </a:lnTo>
                    <a:lnTo>
                      <a:pt x="238" y="257"/>
                    </a:lnTo>
                    <a:lnTo>
                      <a:pt x="243" y="264"/>
                    </a:lnTo>
                    <a:lnTo>
                      <a:pt x="245" y="268"/>
                    </a:lnTo>
                    <a:lnTo>
                      <a:pt x="248" y="275"/>
                    </a:lnTo>
                    <a:lnTo>
                      <a:pt x="250" y="283"/>
                    </a:lnTo>
                    <a:lnTo>
                      <a:pt x="253" y="291"/>
                    </a:lnTo>
                    <a:lnTo>
                      <a:pt x="256" y="297"/>
                    </a:lnTo>
                    <a:lnTo>
                      <a:pt x="250" y="293"/>
                    </a:lnTo>
                    <a:lnTo>
                      <a:pt x="243" y="289"/>
                    </a:lnTo>
                    <a:lnTo>
                      <a:pt x="238" y="286"/>
                    </a:lnTo>
                    <a:lnTo>
                      <a:pt x="231" y="281"/>
                    </a:lnTo>
                    <a:lnTo>
                      <a:pt x="224" y="277"/>
                    </a:lnTo>
                    <a:lnTo>
                      <a:pt x="218" y="273"/>
                    </a:lnTo>
                    <a:lnTo>
                      <a:pt x="211" y="269"/>
                    </a:lnTo>
                    <a:lnTo>
                      <a:pt x="204" y="264"/>
                    </a:lnTo>
                    <a:lnTo>
                      <a:pt x="198" y="260"/>
                    </a:lnTo>
                    <a:lnTo>
                      <a:pt x="191" y="256"/>
                    </a:lnTo>
                    <a:lnTo>
                      <a:pt x="186" y="252"/>
                    </a:lnTo>
                    <a:lnTo>
                      <a:pt x="179" y="248"/>
                    </a:lnTo>
                    <a:lnTo>
                      <a:pt x="173" y="245"/>
                    </a:lnTo>
                    <a:lnTo>
                      <a:pt x="166" y="241"/>
                    </a:lnTo>
                    <a:lnTo>
                      <a:pt x="160" y="238"/>
                    </a:lnTo>
                    <a:lnTo>
                      <a:pt x="155" y="237"/>
                    </a:lnTo>
                    <a:lnTo>
                      <a:pt x="150" y="234"/>
                    </a:lnTo>
                    <a:lnTo>
                      <a:pt x="144" y="231"/>
                    </a:lnTo>
                    <a:lnTo>
                      <a:pt x="140" y="229"/>
                    </a:lnTo>
                    <a:lnTo>
                      <a:pt x="136" y="230"/>
                    </a:lnTo>
                    <a:lnTo>
                      <a:pt x="131" y="231"/>
                    </a:lnTo>
                    <a:lnTo>
                      <a:pt x="128" y="231"/>
                    </a:lnTo>
                    <a:lnTo>
                      <a:pt x="123" y="229"/>
                    </a:lnTo>
                    <a:lnTo>
                      <a:pt x="123" y="237"/>
                    </a:lnTo>
                    <a:lnTo>
                      <a:pt x="121" y="246"/>
                    </a:lnTo>
                    <a:lnTo>
                      <a:pt x="124" y="254"/>
                    </a:lnTo>
                    <a:lnTo>
                      <a:pt x="127" y="263"/>
                    </a:lnTo>
                    <a:lnTo>
                      <a:pt x="130" y="271"/>
                    </a:lnTo>
                    <a:lnTo>
                      <a:pt x="132" y="280"/>
                    </a:lnTo>
                    <a:lnTo>
                      <a:pt x="135" y="290"/>
                    </a:lnTo>
                    <a:lnTo>
                      <a:pt x="138" y="302"/>
                    </a:lnTo>
                    <a:lnTo>
                      <a:pt x="139" y="311"/>
                    </a:lnTo>
                    <a:lnTo>
                      <a:pt x="142" y="321"/>
                    </a:lnTo>
                    <a:lnTo>
                      <a:pt x="143" y="330"/>
                    </a:lnTo>
                    <a:lnTo>
                      <a:pt x="145" y="342"/>
                    </a:lnTo>
                    <a:lnTo>
                      <a:pt x="148" y="355"/>
                    </a:lnTo>
                    <a:lnTo>
                      <a:pt x="150" y="373"/>
                    </a:lnTo>
                    <a:lnTo>
                      <a:pt x="130" y="373"/>
                    </a:lnTo>
                    <a:lnTo>
                      <a:pt x="128" y="357"/>
                    </a:lnTo>
                    <a:lnTo>
                      <a:pt x="127" y="346"/>
                    </a:lnTo>
                    <a:lnTo>
                      <a:pt x="124" y="332"/>
                    </a:lnTo>
                    <a:lnTo>
                      <a:pt x="122" y="319"/>
                    </a:lnTo>
                    <a:lnTo>
                      <a:pt x="120" y="308"/>
                    </a:lnTo>
                    <a:lnTo>
                      <a:pt x="118" y="298"/>
                    </a:lnTo>
                    <a:lnTo>
                      <a:pt x="116" y="290"/>
                    </a:lnTo>
                    <a:lnTo>
                      <a:pt x="113" y="279"/>
                    </a:lnTo>
                    <a:lnTo>
                      <a:pt x="109" y="269"/>
                    </a:lnTo>
                    <a:lnTo>
                      <a:pt x="107" y="260"/>
                    </a:lnTo>
                    <a:lnTo>
                      <a:pt x="104" y="258"/>
                    </a:lnTo>
                    <a:lnTo>
                      <a:pt x="101" y="256"/>
                    </a:lnTo>
                    <a:lnTo>
                      <a:pt x="98" y="254"/>
                    </a:lnTo>
                    <a:lnTo>
                      <a:pt x="96" y="255"/>
                    </a:lnTo>
                    <a:lnTo>
                      <a:pt x="93" y="260"/>
                    </a:lnTo>
                    <a:lnTo>
                      <a:pt x="87" y="268"/>
                    </a:lnTo>
                    <a:lnTo>
                      <a:pt x="83" y="274"/>
                    </a:lnTo>
                    <a:lnTo>
                      <a:pt x="79" y="280"/>
                    </a:lnTo>
                    <a:lnTo>
                      <a:pt x="76" y="288"/>
                    </a:lnTo>
                    <a:lnTo>
                      <a:pt x="72" y="293"/>
                    </a:lnTo>
                    <a:lnTo>
                      <a:pt x="68" y="301"/>
                    </a:lnTo>
                    <a:lnTo>
                      <a:pt x="64" y="309"/>
                    </a:lnTo>
                    <a:lnTo>
                      <a:pt x="61" y="318"/>
                    </a:lnTo>
                    <a:lnTo>
                      <a:pt x="57" y="327"/>
                    </a:lnTo>
                    <a:lnTo>
                      <a:pt x="53" y="337"/>
                    </a:lnTo>
                    <a:lnTo>
                      <a:pt x="49" y="348"/>
                    </a:lnTo>
                    <a:lnTo>
                      <a:pt x="44" y="360"/>
                    </a:lnTo>
                    <a:lnTo>
                      <a:pt x="46" y="346"/>
                    </a:lnTo>
                    <a:lnTo>
                      <a:pt x="47" y="336"/>
                    </a:lnTo>
                    <a:lnTo>
                      <a:pt x="48" y="325"/>
                    </a:lnTo>
                    <a:lnTo>
                      <a:pt x="50" y="319"/>
                    </a:lnTo>
                    <a:lnTo>
                      <a:pt x="51" y="314"/>
                    </a:lnTo>
                    <a:lnTo>
                      <a:pt x="54" y="305"/>
                    </a:lnTo>
                    <a:lnTo>
                      <a:pt x="57" y="295"/>
                    </a:lnTo>
                    <a:lnTo>
                      <a:pt x="59" y="288"/>
                    </a:lnTo>
                    <a:lnTo>
                      <a:pt x="64" y="280"/>
                    </a:lnTo>
                    <a:lnTo>
                      <a:pt x="69" y="272"/>
                    </a:lnTo>
                    <a:lnTo>
                      <a:pt x="73" y="263"/>
                    </a:lnTo>
                    <a:lnTo>
                      <a:pt x="78" y="254"/>
                    </a:lnTo>
                    <a:lnTo>
                      <a:pt x="81" y="249"/>
                    </a:lnTo>
                    <a:lnTo>
                      <a:pt x="86" y="244"/>
                    </a:lnTo>
                    <a:lnTo>
                      <a:pt x="91" y="238"/>
                    </a:lnTo>
                    <a:lnTo>
                      <a:pt x="95" y="232"/>
                    </a:lnTo>
                    <a:lnTo>
                      <a:pt x="100" y="226"/>
                    </a:lnTo>
                    <a:lnTo>
                      <a:pt x="105" y="218"/>
                    </a:lnTo>
                    <a:lnTo>
                      <a:pt x="103" y="216"/>
                    </a:lnTo>
                    <a:lnTo>
                      <a:pt x="99" y="212"/>
                    </a:lnTo>
                    <a:lnTo>
                      <a:pt x="96" y="210"/>
                    </a:lnTo>
                    <a:lnTo>
                      <a:pt x="93" y="211"/>
                    </a:lnTo>
                    <a:lnTo>
                      <a:pt x="87" y="216"/>
                    </a:lnTo>
                    <a:lnTo>
                      <a:pt x="82" y="221"/>
                    </a:lnTo>
                    <a:lnTo>
                      <a:pt x="77" y="226"/>
                    </a:lnTo>
                    <a:lnTo>
                      <a:pt x="72" y="232"/>
                    </a:lnTo>
                    <a:lnTo>
                      <a:pt x="67" y="241"/>
                    </a:lnTo>
                    <a:lnTo>
                      <a:pt x="61" y="249"/>
                    </a:lnTo>
                    <a:lnTo>
                      <a:pt x="56" y="255"/>
                    </a:lnTo>
                    <a:lnTo>
                      <a:pt x="52" y="261"/>
                    </a:lnTo>
                    <a:lnTo>
                      <a:pt x="47" y="268"/>
                    </a:lnTo>
                    <a:lnTo>
                      <a:pt x="42" y="276"/>
                    </a:lnTo>
                    <a:lnTo>
                      <a:pt x="38" y="284"/>
                    </a:lnTo>
                    <a:lnTo>
                      <a:pt x="33" y="293"/>
                    </a:lnTo>
                    <a:lnTo>
                      <a:pt x="28" y="301"/>
                    </a:lnTo>
                    <a:lnTo>
                      <a:pt x="24" y="310"/>
                    </a:lnTo>
                    <a:lnTo>
                      <a:pt x="18" y="321"/>
                    </a:lnTo>
                    <a:lnTo>
                      <a:pt x="21" y="307"/>
                    </a:lnTo>
                    <a:lnTo>
                      <a:pt x="22" y="297"/>
                    </a:lnTo>
                    <a:lnTo>
                      <a:pt x="24" y="288"/>
                    </a:lnTo>
                    <a:lnTo>
                      <a:pt x="25" y="286"/>
                    </a:lnTo>
                    <a:lnTo>
                      <a:pt x="28" y="281"/>
                    </a:lnTo>
                    <a:lnTo>
                      <a:pt x="32" y="275"/>
                    </a:lnTo>
                    <a:lnTo>
                      <a:pt x="37" y="269"/>
                    </a:lnTo>
                    <a:lnTo>
                      <a:pt x="42" y="262"/>
                    </a:lnTo>
                    <a:lnTo>
                      <a:pt x="47" y="256"/>
                    </a:lnTo>
                    <a:lnTo>
                      <a:pt x="54" y="248"/>
                    </a:lnTo>
                    <a:lnTo>
                      <a:pt x="58" y="243"/>
                    </a:lnTo>
                    <a:lnTo>
                      <a:pt x="64" y="236"/>
                    </a:lnTo>
                    <a:lnTo>
                      <a:pt x="71" y="229"/>
                    </a:lnTo>
                    <a:lnTo>
                      <a:pt x="77" y="224"/>
                    </a:lnTo>
                    <a:lnTo>
                      <a:pt x="83" y="218"/>
                    </a:lnTo>
                    <a:lnTo>
                      <a:pt x="93" y="210"/>
                    </a:lnTo>
                    <a:lnTo>
                      <a:pt x="98" y="208"/>
                    </a:lnTo>
                    <a:lnTo>
                      <a:pt x="101" y="206"/>
                    </a:lnTo>
                    <a:lnTo>
                      <a:pt x="95" y="202"/>
                    </a:lnTo>
                    <a:lnTo>
                      <a:pt x="90" y="196"/>
                    </a:lnTo>
                    <a:lnTo>
                      <a:pt x="84" y="190"/>
                    </a:lnTo>
                    <a:lnTo>
                      <a:pt x="79" y="185"/>
                    </a:lnTo>
                    <a:lnTo>
                      <a:pt x="73" y="180"/>
                    </a:lnTo>
                    <a:lnTo>
                      <a:pt x="69" y="176"/>
                    </a:lnTo>
                    <a:lnTo>
                      <a:pt x="65" y="170"/>
                    </a:lnTo>
                    <a:lnTo>
                      <a:pt x="58" y="163"/>
                    </a:lnTo>
                    <a:lnTo>
                      <a:pt x="52" y="156"/>
                    </a:lnTo>
                    <a:lnTo>
                      <a:pt x="46" y="148"/>
                    </a:lnTo>
                    <a:lnTo>
                      <a:pt x="39" y="141"/>
                    </a:lnTo>
                    <a:lnTo>
                      <a:pt x="33" y="136"/>
                    </a:lnTo>
                    <a:lnTo>
                      <a:pt x="26" y="129"/>
                    </a:lnTo>
                    <a:lnTo>
                      <a:pt x="22" y="125"/>
                    </a:lnTo>
                    <a:lnTo>
                      <a:pt x="17" y="118"/>
                    </a:lnTo>
                    <a:lnTo>
                      <a:pt x="14" y="112"/>
                    </a:lnTo>
                    <a:lnTo>
                      <a:pt x="10" y="108"/>
                    </a:lnTo>
                    <a:lnTo>
                      <a:pt x="4" y="102"/>
                    </a:lnTo>
                    <a:lnTo>
                      <a:pt x="0" y="98"/>
                    </a:lnTo>
                    <a:lnTo>
                      <a:pt x="3" y="98"/>
                    </a:lnTo>
                    <a:lnTo>
                      <a:pt x="9" y="100"/>
                    </a:lnTo>
                    <a:lnTo>
                      <a:pt x="14" y="101"/>
                    </a:lnTo>
                    <a:lnTo>
                      <a:pt x="20" y="104"/>
                    </a:lnTo>
                    <a:lnTo>
                      <a:pt x="25" y="109"/>
                    </a:lnTo>
                    <a:lnTo>
                      <a:pt x="32" y="115"/>
                    </a:lnTo>
                    <a:lnTo>
                      <a:pt x="38" y="120"/>
                    </a:lnTo>
                    <a:lnTo>
                      <a:pt x="45" y="125"/>
                    </a:lnTo>
                    <a:lnTo>
                      <a:pt x="51" y="132"/>
                    </a:lnTo>
                    <a:lnTo>
                      <a:pt x="58" y="139"/>
                    </a:lnTo>
                    <a:lnTo>
                      <a:pt x="64" y="145"/>
                    </a:lnTo>
                  </a:path>
                </a:pathLst>
              </a:custGeom>
              <a:solidFill>
                <a:srgbClr val="037C03">
                  <a:alpha val="50195"/>
                </a:srgbClr>
              </a:solidFill>
              <a:ln w="9525">
                <a:noFill/>
              </a:ln>
            </p:spPr>
            <p:txBody>
              <a:bodyPr/>
              <a:lstStyle/>
              <a:p>
                <a:endParaRPr lang="zh-CN" altLang="en-US"/>
              </a:p>
            </p:txBody>
          </p:sp>
        </p:grpSp>
        <p:grpSp>
          <p:nvGrpSpPr>
            <p:cNvPr id="89126" name="Group 200"/>
            <p:cNvGrpSpPr/>
            <p:nvPr/>
          </p:nvGrpSpPr>
          <p:grpSpPr>
            <a:xfrm>
              <a:off x="300" y="3360"/>
              <a:ext cx="508" cy="820"/>
              <a:chOff x="1985" y="1201"/>
              <a:chExt cx="508" cy="820"/>
            </a:xfrm>
          </p:grpSpPr>
          <p:grpSp>
            <p:nvGrpSpPr>
              <p:cNvPr id="89127" name="Group 201"/>
              <p:cNvGrpSpPr/>
              <p:nvPr/>
            </p:nvGrpSpPr>
            <p:grpSpPr>
              <a:xfrm>
                <a:off x="2247" y="1201"/>
                <a:ext cx="246" cy="810"/>
                <a:chOff x="2247" y="1201"/>
                <a:chExt cx="246" cy="810"/>
              </a:xfrm>
            </p:grpSpPr>
            <p:sp>
              <p:nvSpPr>
                <p:cNvPr id="89136" name="Freeform 202"/>
                <p:cNvSpPr/>
                <p:nvPr/>
              </p:nvSpPr>
              <p:spPr>
                <a:xfrm>
                  <a:off x="2392" y="1373"/>
                  <a:ext cx="92" cy="638"/>
                </a:xfrm>
                <a:custGeom>
                  <a:avLst/>
                  <a:gdLst>
                    <a:gd name="txL" fmla="*/ 0 w 92"/>
                    <a:gd name="txT" fmla="*/ 0 h 638"/>
                    <a:gd name="txR" fmla="*/ 92 w 92"/>
                    <a:gd name="txB" fmla="*/ 638 h 638"/>
                  </a:gdLst>
                  <a:ahLst/>
                  <a:cxnLst>
                    <a:cxn ang="0">
                      <a:pos x="91" y="296"/>
                    </a:cxn>
                    <a:cxn ang="0">
                      <a:pos x="83" y="425"/>
                    </a:cxn>
                    <a:cxn ang="0">
                      <a:pos x="75" y="529"/>
                    </a:cxn>
                    <a:cxn ang="0">
                      <a:pos x="70" y="606"/>
                    </a:cxn>
                    <a:cxn ang="0">
                      <a:pos x="71" y="637"/>
                    </a:cxn>
                    <a:cxn ang="0">
                      <a:pos x="60" y="637"/>
                    </a:cxn>
                    <a:cxn ang="0">
                      <a:pos x="57" y="592"/>
                    </a:cxn>
                    <a:cxn ang="0">
                      <a:pos x="55" y="524"/>
                    </a:cxn>
                    <a:cxn ang="0">
                      <a:pos x="51" y="461"/>
                    </a:cxn>
                    <a:cxn ang="0">
                      <a:pos x="49" y="414"/>
                    </a:cxn>
                    <a:cxn ang="0">
                      <a:pos x="45" y="345"/>
                    </a:cxn>
                    <a:cxn ang="0">
                      <a:pos x="40" y="285"/>
                    </a:cxn>
                    <a:cxn ang="0">
                      <a:pos x="35" y="233"/>
                    </a:cxn>
                    <a:cxn ang="0">
                      <a:pos x="31" y="177"/>
                    </a:cxn>
                    <a:cxn ang="0">
                      <a:pos x="24" y="121"/>
                    </a:cxn>
                    <a:cxn ang="0">
                      <a:pos x="17" y="74"/>
                    </a:cxn>
                    <a:cxn ang="0">
                      <a:pos x="4" y="28"/>
                    </a:cxn>
                    <a:cxn ang="0">
                      <a:pos x="0" y="10"/>
                    </a:cxn>
                    <a:cxn ang="0">
                      <a:pos x="5" y="0"/>
                    </a:cxn>
                    <a:cxn ang="0">
                      <a:pos x="13" y="18"/>
                    </a:cxn>
                    <a:cxn ang="0">
                      <a:pos x="24" y="61"/>
                    </a:cxn>
                    <a:cxn ang="0">
                      <a:pos x="33" y="104"/>
                    </a:cxn>
                    <a:cxn ang="0">
                      <a:pos x="40" y="150"/>
                    </a:cxn>
                    <a:cxn ang="0">
                      <a:pos x="44" y="208"/>
                    </a:cxn>
                    <a:cxn ang="0">
                      <a:pos x="48" y="263"/>
                    </a:cxn>
                    <a:cxn ang="0">
                      <a:pos x="55" y="337"/>
                    </a:cxn>
                    <a:cxn ang="0">
                      <a:pos x="59" y="398"/>
                    </a:cxn>
                    <a:cxn ang="0">
                      <a:pos x="61" y="447"/>
                    </a:cxn>
                    <a:cxn ang="0">
                      <a:pos x="63" y="498"/>
                    </a:cxn>
                    <a:cxn ang="0">
                      <a:pos x="68" y="550"/>
                    </a:cxn>
                    <a:cxn ang="0">
                      <a:pos x="73" y="460"/>
                    </a:cxn>
                    <a:cxn ang="0">
                      <a:pos x="80" y="376"/>
                    </a:cxn>
                    <a:cxn ang="0">
                      <a:pos x="91" y="296"/>
                    </a:cxn>
                  </a:cxnLst>
                  <a:rect l="txL" t="txT" r="txR" b="txB"/>
                  <a:pathLst>
                    <a:path w="92" h="638">
                      <a:moveTo>
                        <a:pt x="91" y="296"/>
                      </a:moveTo>
                      <a:lnTo>
                        <a:pt x="83" y="425"/>
                      </a:lnTo>
                      <a:lnTo>
                        <a:pt x="75" y="529"/>
                      </a:lnTo>
                      <a:lnTo>
                        <a:pt x="70" y="606"/>
                      </a:lnTo>
                      <a:lnTo>
                        <a:pt x="71" y="637"/>
                      </a:lnTo>
                      <a:lnTo>
                        <a:pt x="60" y="637"/>
                      </a:lnTo>
                      <a:lnTo>
                        <a:pt x="57" y="592"/>
                      </a:lnTo>
                      <a:lnTo>
                        <a:pt x="55" y="524"/>
                      </a:lnTo>
                      <a:lnTo>
                        <a:pt x="51" y="461"/>
                      </a:lnTo>
                      <a:lnTo>
                        <a:pt x="49" y="414"/>
                      </a:lnTo>
                      <a:lnTo>
                        <a:pt x="45" y="345"/>
                      </a:lnTo>
                      <a:lnTo>
                        <a:pt x="40" y="285"/>
                      </a:lnTo>
                      <a:lnTo>
                        <a:pt x="35" y="233"/>
                      </a:lnTo>
                      <a:lnTo>
                        <a:pt x="31" y="177"/>
                      </a:lnTo>
                      <a:lnTo>
                        <a:pt x="24" y="121"/>
                      </a:lnTo>
                      <a:lnTo>
                        <a:pt x="17" y="74"/>
                      </a:lnTo>
                      <a:lnTo>
                        <a:pt x="4" y="28"/>
                      </a:lnTo>
                      <a:lnTo>
                        <a:pt x="0" y="10"/>
                      </a:lnTo>
                      <a:lnTo>
                        <a:pt x="5" y="0"/>
                      </a:lnTo>
                      <a:lnTo>
                        <a:pt x="13" y="18"/>
                      </a:lnTo>
                      <a:lnTo>
                        <a:pt x="24" y="61"/>
                      </a:lnTo>
                      <a:lnTo>
                        <a:pt x="33" y="104"/>
                      </a:lnTo>
                      <a:lnTo>
                        <a:pt x="40" y="150"/>
                      </a:lnTo>
                      <a:lnTo>
                        <a:pt x="44" y="208"/>
                      </a:lnTo>
                      <a:lnTo>
                        <a:pt x="48" y="263"/>
                      </a:lnTo>
                      <a:lnTo>
                        <a:pt x="55" y="337"/>
                      </a:lnTo>
                      <a:lnTo>
                        <a:pt x="59" y="398"/>
                      </a:lnTo>
                      <a:lnTo>
                        <a:pt x="61" y="447"/>
                      </a:lnTo>
                      <a:lnTo>
                        <a:pt x="63" y="498"/>
                      </a:lnTo>
                      <a:lnTo>
                        <a:pt x="68" y="550"/>
                      </a:lnTo>
                      <a:lnTo>
                        <a:pt x="73" y="460"/>
                      </a:lnTo>
                      <a:lnTo>
                        <a:pt x="80" y="376"/>
                      </a:lnTo>
                      <a:lnTo>
                        <a:pt x="91" y="296"/>
                      </a:lnTo>
                    </a:path>
                  </a:pathLst>
                </a:custGeom>
                <a:solidFill>
                  <a:srgbClr val="3C0023">
                    <a:alpha val="50195"/>
                  </a:srgbClr>
                </a:solidFill>
                <a:ln w="9525">
                  <a:noFill/>
                </a:ln>
              </p:spPr>
              <p:txBody>
                <a:bodyPr/>
                <a:lstStyle/>
                <a:p>
                  <a:endParaRPr lang="zh-CN" altLang="en-US"/>
                </a:p>
              </p:txBody>
            </p:sp>
            <p:sp>
              <p:nvSpPr>
                <p:cNvPr id="89137" name="Freeform 203"/>
                <p:cNvSpPr/>
                <p:nvPr/>
              </p:nvSpPr>
              <p:spPr>
                <a:xfrm>
                  <a:off x="2247" y="1201"/>
                  <a:ext cx="246" cy="466"/>
                </a:xfrm>
                <a:custGeom>
                  <a:avLst/>
                  <a:gdLst>
                    <a:gd name="txL" fmla="*/ 0 w 246"/>
                    <a:gd name="txT" fmla="*/ 0 h 466"/>
                    <a:gd name="txR" fmla="*/ 246 w 246"/>
                    <a:gd name="txB" fmla="*/ 466 h 466"/>
                  </a:gdLst>
                  <a:ahLst/>
                  <a:cxnLst>
                    <a:cxn ang="0">
                      <a:pos x="136" y="67"/>
                    </a:cxn>
                    <a:cxn ang="0">
                      <a:pos x="105" y="12"/>
                    </a:cxn>
                    <a:cxn ang="0">
                      <a:pos x="55" y="1"/>
                    </a:cxn>
                    <a:cxn ang="0">
                      <a:pos x="58" y="12"/>
                    </a:cxn>
                    <a:cxn ang="0">
                      <a:pos x="96" y="39"/>
                    </a:cxn>
                    <a:cxn ang="0">
                      <a:pos x="130" y="134"/>
                    </a:cxn>
                    <a:cxn ang="0">
                      <a:pos x="73" y="85"/>
                    </a:cxn>
                    <a:cxn ang="0">
                      <a:pos x="32" y="75"/>
                    </a:cxn>
                    <a:cxn ang="0">
                      <a:pos x="7" y="103"/>
                    </a:cxn>
                    <a:cxn ang="0">
                      <a:pos x="38" y="103"/>
                    </a:cxn>
                    <a:cxn ang="0">
                      <a:pos x="108" y="129"/>
                    </a:cxn>
                    <a:cxn ang="0">
                      <a:pos x="104" y="146"/>
                    </a:cxn>
                    <a:cxn ang="0">
                      <a:pos x="92" y="171"/>
                    </a:cxn>
                    <a:cxn ang="0">
                      <a:pos x="126" y="170"/>
                    </a:cxn>
                    <a:cxn ang="0">
                      <a:pos x="69" y="193"/>
                    </a:cxn>
                    <a:cxn ang="0">
                      <a:pos x="37" y="233"/>
                    </a:cxn>
                    <a:cxn ang="0">
                      <a:pos x="6" y="325"/>
                    </a:cxn>
                    <a:cxn ang="0">
                      <a:pos x="72" y="231"/>
                    </a:cxn>
                    <a:cxn ang="0">
                      <a:pos x="118" y="194"/>
                    </a:cxn>
                    <a:cxn ang="0">
                      <a:pos x="94" y="269"/>
                    </a:cxn>
                    <a:cxn ang="0">
                      <a:pos x="76" y="338"/>
                    </a:cxn>
                    <a:cxn ang="0">
                      <a:pos x="71" y="408"/>
                    </a:cxn>
                    <a:cxn ang="0">
                      <a:pos x="98" y="303"/>
                    </a:cxn>
                    <a:cxn ang="0">
                      <a:pos x="124" y="236"/>
                    </a:cxn>
                    <a:cxn ang="0">
                      <a:pos x="125" y="214"/>
                    </a:cxn>
                    <a:cxn ang="0">
                      <a:pos x="118" y="323"/>
                    </a:cxn>
                    <a:cxn ang="0">
                      <a:pos x="138" y="439"/>
                    </a:cxn>
                    <a:cxn ang="0">
                      <a:pos x="128" y="313"/>
                    </a:cxn>
                    <a:cxn ang="0">
                      <a:pos x="127" y="223"/>
                    </a:cxn>
                    <a:cxn ang="0">
                      <a:pos x="147" y="189"/>
                    </a:cxn>
                    <a:cxn ang="0">
                      <a:pos x="188" y="298"/>
                    </a:cxn>
                    <a:cxn ang="0">
                      <a:pos x="223" y="411"/>
                    </a:cxn>
                    <a:cxn ang="0">
                      <a:pos x="193" y="292"/>
                    </a:cxn>
                    <a:cxn ang="0">
                      <a:pos x="160" y="190"/>
                    </a:cxn>
                    <a:cxn ang="0">
                      <a:pos x="164" y="121"/>
                    </a:cxn>
                    <a:cxn ang="0">
                      <a:pos x="194" y="130"/>
                    </a:cxn>
                    <a:cxn ang="0">
                      <a:pos x="240" y="125"/>
                    </a:cxn>
                    <a:cxn ang="0">
                      <a:pos x="216" y="122"/>
                    </a:cxn>
                    <a:cxn ang="0">
                      <a:pos x="163" y="144"/>
                    </a:cxn>
                    <a:cxn ang="0">
                      <a:pos x="194" y="109"/>
                    </a:cxn>
                    <a:cxn ang="0">
                      <a:pos x="244" y="101"/>
                    </a:cxn>
                    <a:cxn ang="0">
                      <a:pos x="229" y="88"/>
                    </a:cxn>
                    <a:cxn ang="0">
                      <a:pos x="163" y="138"/>
                    </a:cxn>
                    <a:cxn ang="0">
                      <a:pos x="172" y="99"/>
                    </a:cxn>
                    <a:cxn ang="0">
                      <a:pos x="226" y="61"/>
                    </a:cxn>
                    <a:cxn ang="0">
                      <a:pos x="188" y="82"/>
                    </a:cxn>
                    <a:cxn ang="0">
                      <a:pos x="147" y="109"/>
                    </a:cxn>
                  </a:cxnLst>
                  <a:rect l="txL" t="txT" r="txR" b="txB"/>
                  <a:pathLst>
                    <a:path w="246" h="466">
                      <a:moveTo>
                        <a:pt x="147" y="109"/>
                      </a:moveTo>
                      <a:lnTo>
                        <a:pt x="143" y="88"/>
                      </a:lnTo>
                      <a:lnTo>
                        <a:pt x="136" y="67"/>
                      </a:lnTo>
                      <a:lnTo>
                        <a:pt x="127" y="44"/>
                      </a:lnTo>
                      <a:lnTo>
                        <a:pt x="117" y="27"/>
                      </a:lnTo>
                      <a:lnTo>
                        <a:pt x="105" y="12"/>
                      </a:lnTo>
                      <a:lnTo>
                        <a:pt x="89" y="5"/>
                      </a:lnTo>
                      <a:lnTo>
                        <a:pt x="69" y="0"/>
                      </a:lnTo>
                      <a:lnTo>
                        <a:pt x="55" y="1"/>
                      </a:lnTo>
                      <a:lnTo>
                        <a:pt x="39" y="0"/>
                      </a:lnTo>
                      <a:lnTo>
                        <a:pt x="49" y="11"/>
                      </a:lnTo>
                      <a:lnTo>
                        <a:pt x="58" y="12"/>
                      </a:lnTo>
                      <a:lnTo>
                        <a:pt x="69" y="19"/>
                      </a:lnTo>
                      <a:lnTo>
                        <a:pt x="80" y="25"/>
                      </a:lnTo>
                      <a:lnTo>
                        <a:pt x="96" y="39"/>
                      </a:lnTo>
                      <a:lnTo>
                        <a:pt x="109" y="58"/>
                      </a:lnTo>
                      <a:lnTo>
                        <a:pt x="118" y="82"/>
                      </a:lnTo>
                      <a:lnTo>
                        <a:pt x="130" y="134"/>
                      </a:lnTo>
                      <a:lnTo>
                        <a:pt x="96" y="99"/>
                      </a:lnTo>
                      <a:lnTo>
                        <a:pt x="85" y="91"/>
                      </a:lnTo>
                      <a:lnTo>
                        <a:pt x="73" y="85"/>
                      </a:lnTo>
                      <a:lnTo>
                        <a:pt x="61" y="83"/>
                      </a:lnTo>
                      <a:lnTo>
                        <a:pt x="54" y="80"/>
                      </a:lnTo>
                      <a:lnTo>
                        <a:pt x="32" y="75"/>
                      </a:lnTo>
                      <a:lnTo>
                        <a:pt x="0" y="72"/>
                      </a:lnTo>
                      <a:lnTo>
                        <a:pt x="0" y="103"/>
                      </a:lnTo>
                      <a:lnTo>
                        <a:pt x="7" y="103"/>
                      </a:lnTo>
                      <a:lnTo>
                        <a:pt x="17" y="104"/>
                      </a:lnTo>
                      <a:lnTo>
                        <a:pt x="29" y="103"/>
                      </a:lnTo>
                      <a:lnTo>
                        <a:pt x="38" y="103"/>
                      </a:lnTo>
                      <a:lnTo>
                        <a:pt x="62" y="107"/>
                      </a:lnTo>
                      <a:lnTo>
                        <a:pt x="72" y="111"/>
                      </a:lnTo>
                      <a:lnTo>
                        <a:pt x="108" y="129"/>
                      </a:lnTo>
                      <a:lnTo>
                        <a:pt x="127" y="144"/>
                      </a:lnTo>
                      <a:lnTo>
                        <a:pt x="113" y="146"/>
                      </a:lnTo>
                      <a:lnTo>
                        <a:pt x="104" y="146"/>
                      </a:lnTo>
                      <a:lnTo>
                        <a:pt x="89" y="161"/>
                      </a:lnTo>
                      <a:lnTo>
                        <a:pt x="82" y="183"/>
                      </a:lnTo>
                      <a:lnTo>
                        <a:pt x="92" y="171"/>
                      </a:lnTo>
                      <a:lnTo>
                        <a:pt x="120" y="155"/>
                      </a:lnTo>
                      <a:lnTo>
                        <a:pt x="137" y="162"/>
                      </a:lnTo>
                      <a:lnTo>
                        <a:pt x="126" y="170"/>
                      </a:lnTo>
                      <a:lnTo>
                        <a:pt x="113" y="171"/>
                      </a:lnTo>
                      <a:lnTo>
                        <a:pt x="79" y="189"/>
                      </a:lnTo>
                      <a:lnTo>
                        <a:pt x="69" y="193"/>
                      </a:lnTo>
                      <a:lnTo>
                        <a:pt x="57" y="199"/>
                      </a:lnTo>
                      <a:lnTo>
                        <a:pt x="48" y="209"/>
                      </a:lnTo>
                      <a:lnTo>
                        <a:pt x="37" y="233"/>
                      </a:lnTo>
                      <a:lnTo>
                        <a:pt x="31" y="251"/>
                      </a:lnTo>
                      <a:lnTo>
                        <a:pt x="13" y="310"/>
                      </a:lnTo>
                      <a:lnTo>
                        <a:pt x="6" y="325"/>
                      </a:lnTo>
                      <a:lnTo>
                        <a:pt x="36" y="281"/>
                      </a:lnTo>
                      <a:lnTo>
                        <a:pt x="50" y="265"/>
                      </a:lnTo>
                      <a:lnTo>
                        <a:pt x="72" y="231"/>
                      </a:lnTo>
                      <a:lnTo>
                        <a:pt x="83" y="218"/>
                      </a:lnTo>
                      <a:lnTo>
                        <a:pt x="92" y="209"/>
                      </a:lnTo>
                      <a:lnTo>
                        <a:pt x="118" y="194"/>
                      </a:lnTo>
                      <a:lnTo>
                        <a:pt x="132" y="181"/>
                      </a:lnTo>
                      <a:lnTo>
                        <a:pt x="121" y="195"/>
                      </a:lnTo>
                      <a:lnTo>
                        <a:pt x="94" y="269"/>
                      </a:lnTo>
                      <a:lnTo>
                        <a:pt x="84" y="302"/>
                      </a:lnTo>
                      <a:lnTo>
                        <a:pt x="79" y="320"/>
                      </a:lnTo>
                      <a:lnTo>
                        <a:pt x="76" y="338"/>
                      </a:lnTo>
                      <a:lnTo>
                        <a:pt x="75" y="359"/>
                      </a:lnTo>
                      <a:lnTo>
                        <a:pt x="74" y="375"/>
                      </a:lnTo>
                      <a:lnTo>
                        <a:pt x="71" y="408"/>
                      </a:lnTo>
                      <a:lnTo>
                        <a:pt x="84" y="375"/>
                      </a:lnTo>
                      <a:lnTo>
                        <a:pt x="92" y="330"/>
                      </a:lnTo>
                      <a:lnTo>
                        <a:pt x="98" y="303"/>
                      </a:lnTo>
                      <a:lnTo>
                        <a:pt x="104" y="286"/>
                      </a:lnTo>
                      <a:lnTo>
                        <a:pt x="118" y="252"/>
                      </a:lnTo>
                      <a:lnTo>
                        <a:pt x="124" y="236"/>
                      </a:lnTo>
                      <a:lnTo>
                        <a:pt x="128" y="216"/>
                      </a:lnTo>
                      <a:lnTo>
                        <a:pt x="137" y="188"/>
                      </a:lnTo>
                      <a:lnTo>
                        <a:pt x="125" y="214"/>
                      </a:lnTo>
                      <a:lnTo>
                        <a:pt x="119" y="243"/>
                      </a:lnTo>
                      <a:lnTo>
                        <a:pt x="117" y="302"/>
                      </a:lnTo>
                      <a:lnTo>
                        <a:pt x="118" y="323"/>
                      </a:lnTo>
                      <a:lnTo>
                        <a:pt x="120" y="362"/>
                      </a:lnTo>
                      <a:lnTo>
                        <a:pt x="123" y="377"/>
                      </a:lnTo>
                      <a:lnTo>
                        <a:pt x="138" y="439"/>
                      </a:lnTo>
                      <a:lnTo>
                        <a:pt x="141" y="465"/>
                      </a:lnTo>
                      <a:lnTo>
                        <a:pt x="137" y="379"/>
                      </a:lnTo>
                      <a:lnTo>
                        <a:pt x="128" y="313"/>
                      </a:lnTo>
                      <a:lnTo>
                        <a:pt x="126" y="291"/>
                      </a:lnTo>
                      <a:lnTo>
                        <a:pt x="125" y="238"/>
                      </a:lnTo>
                      <a:lnTo>
                        <a:pt x="127" y="223"/>
                      </a:lnTo>
                      <a:lnTo>
                        <a:pt x="133" y="196"/>
                      </a:lnTo>
                      <a:lnTo>
                        <a:pt x="138" y="179"/>
                      </a:lnTo>
                      <a:lnTo>
                        <a:pt x="147" y="189"/>
                      </a:lnTo>
                      <a:lnTo>
                        <a:pt x="161" y="212"/>
                      </a:lnTo>
                      <a:lnTo>
                        <a:pt x="177" y="259"/>
                      </a:lnTo>
                      <a:lnTo>
                        <a:pt x="188" y="298"/>
                      </a:lnTo>
                      <a:lnTo>
                        <a:pt x="197" y="333"/>
                      </a:lnTo>
                      <a:lnTo>
                        <a:pt x="213" y="384"/>
                      </a:lnTo>
                      <a:lnTo>
                        <a:pt x="223" y="411"/>
                      </a:lnTo>
                      <a:lnTo>
                        <a:pt x="232" y="429"/>
                      </a:lnTo>
                      <a:lnTo>
                        <a:pt x="228" y="403"/>
                      </a:lnTo>
                      <a:lnTo>
                        <a:pt x="193" y="292"/>
                      </a:lnTo>
                      <a:lnTo>
                        <a:pt x="171" y="232"/>
                      </a:lnTo>
                      <a:lnTo>
                        <a:pt x="165" y="210"/>
                      </a:lnTo>
                      <a:lnTo>
                        <a:pt x="160" y="190"/>
                      </a:lnTo>
                      <a:lnTo>
                        <a:pt x="144" y="150"/>
                      </a:lnTo>
                      <a:lnTo>
                        <a:pt x="147" y="132"/>
                      </a:lnTo>
                      <a:lnTo>
                        <a:pt x="164" y="121"/>
                      </a:lnTo>
                      <a:lnTo>
                        <a:pt x="172" y="125"/>
                      </a:lnTo>
                      <a:lnTo>
                        <a:pt x="183" y="126"/>
                      </a:lnTo>
                      <a:lnTo>
                        <a:pt x="194" y="130"/>
                      </a:lnTo>
                      <a:lnTo>
                        <a:pt x="239" y="136"/>
                      </a:lnTo>
                      <a:lnTo>
                        <a:pt x="236" y="136"/>
                      </a:lnTo>
                      <a:lnTo>
                        <a:pt x="240" y="125"/>
                      </a:lnTo>
                      <a:lnTo>
                        <a:pt x="242" y="125"/>
                      </a:lnTo>
                      <a:lnTo>
                        <a:pt x="230" y="122"/>
                      </a:lnTo>
                      <a:lnTo>
                        <a:pt x="216" y="122"/>
                      </a:lnTo>
                      <a:lnTo>
                        <a:pt x="199" y="127"/>
                      </a:lnTo>
                      <a:lnTo>
                        <a:pt x="180" y="135"/>
                      </a:lnTo>
                      <a:lnTo>
                        <a:pt x="163" y="144"/>
                      </a:lnTo>
                      <a:lnTo>
                        <a:pt x="150" y="149"/>
                      </a:lnTo>
                      <a:lnTo>
                        <a:pt x="168" y="129"/>
                      </a:lnTo>
                      <a:lnTo>
                        <a:pt x="194" y="109"/>
                      </a:lnTo>
                      <a:lnTo>
                        <a:pt x="220" y="100"/>
                      </a:lnTo>
                      <a:lnTo>
                        <a:pt x="232" y="100"/>
                      </a:lnTo>
                      <a:lnTo>
                        <a:pt x="244" y="101"/>
                      </a:lnTo>
                      <a:lnTo>
                        <a:pt x="239" y="101"/>
                      </a:lnTo>
                      <a:lnTo>
                        <a:pt x="245" y="85"/>
                      </a:lnTo>
                      <a:lnTo>
                        <a:pt x="229" y="88"/>
                      </a:lnTo>
                      <a:lnTo>
                        <a:pt x="212" y="97"/>
                      </a:lnTo>
                      <a:lnTo>
                        <a:pt x="193" y="111"/>
                      </a:lnTo>
                      <a:lnTo>
                        <a:pt x="163" y="138"/>
                      </a:lnTo>
                      <a:lnTo>
                        <a:pt x="150" y="149"/>
                      </a:lnTo>
                      <a:lnTo>
                        <a:pt x="157" y="114"/>
                      </a:lnTo>
                      <a:lnTo>
                        <a:pt x="172" y="99"/>
                      </a:lnTo>
                      <a:lnTo>
                        <a:pt x="190" y="85"/>
                      </a:lnTo>
                      <a:lnTo>
                        <a:pt x="214" y="67"/>
                      </a:lnTo>
                      <a:lnTo>
                        <a:pt x="226" y="61"/>
                      </a:lnTo>
                      <a:lnTo>
                        <a:pt x="212" y="57"/>
                      </a:lnTo>
                      <a:lnTo>
                        <a:pt x="200" y="67"/>
                      </a:lnTo>
                      <a:lnTo>
                        <a:pt x="188" y="82"/>
                      </a:lnTo>
                      <a:lnTo>
                        <a:pt x="178" y="93"/>
                      </a:lnTo>
                      <a:lnTo>
                        <a:pt x="163" y="115"/>
                      </a:lnTo>
                      <a:lnTo>
                        <a:pt x="147" y="109"/>
                      </a:lnTo>
                    </a:path>
                  </a:pathLst>
                </a:custGeom>
                <a:solidFill>
                  <a:srgbClr val="037C03">
                    <a:alpha val="50195"/>
                  </a:srgbClr>
                </a:solidFill>
                <a:ln w="9525">
                  <a:noFill/>
                </a:ln>
              </p:spPr>
              <p:txBody>
                <a:bodyPr/>
                <a:lstStyle/>
                <a:p>
                  <a:endParaRPr lang="zh-CN" altLang="en-US"/>
                </a:p>
              </p:txBody>
            </p:sp>
          </p:grpSp>
          <p:grpSp>
            <p:nvGrpSpPr>
              <p:cNvPr id="89128" name="Group 204"/>
              <p:cNvGrpSpPr/>
              <p:nvPr/>
            </p:nvGrpSpPr>
            <p:grpSpPr>
              <a:xfrm>
                <a:off x="1985" y="1419"/>
                <a:ext cx="465" cy="602"/>
                <a:chOff x="1985" y="1419"/>
                <a:chExt cx="465" cy="602"/>
              </a:xfrm>
            </p:grpSpPr>
            <p:sp>
              <p:nvSpPr>
                <p:cNvPr id="89129" name="Freeform 205"/>
                <p:cNvSpPr/>
                <p:nvPr/>
              </p:nvSpPr>
              <p:spPr>
                <a:xfrm>
                  <a:off x="2164" y="1525"/>
                  <a:ext cx="130" cy="496"/>
                </a:xfrm>
                <a:custGeom>
                  <a:avLst/>
                  <a:gdLst>
                    <a:gd name="txL" fmla="*/ 0 w 130"/>
                    <a:gd name="txT" fmla="*/ 0 h 496"/>
                    <a:gd name="txR" fmla="*/ 130 w 130"/>
                    <a:gd name="txB" fmla="*/ 496 h 496"/>
                  </a:gdLst>
                  <a:ahLst/>
                  <a:cxnLst>
                    <a:cxn ang="0">
                      <a:pos x="129" y="230"/>
                    </a:cxn>
                    <a:cxn ang="0">
                      <a:pos x="118" y="330"/>
                    </a:cxn>
                    <a:cxn ang="0">
                      <a:pos x="107" y="411"/>
                    </a:cxn>
                    <a:cxn ang="0">
                      <a:pos x="100" y="471"/>
                    </a:cxn>
                    <a:cxn ang="0">
                      <a:pos x="101" y="495"/>
                    </a:cxn>
                    <a:cxn ang="0">
                      <a:pos x="86" y="495"/>
                    </a:cxn>
                    <a:cxn ang="0">
                      <a:pos x="81" y="460"/>
                    </a:cxn>
                    <a:cxn ang="0">
                      <a:pos x="79" y="408"/>
                    </a:cxn>
                    <a:cxn ang="0">
                      <a:pos x="73" y="358"/>
                    </a:cxn>
                    <a:cxn ang="0">
                      <a:pos x="70" y="321"/>
                    </a:cxn>
                    <a:cxn ang="0">
                      <a:pos x="64" y="268"/>
                    </a:cxn>
                    <a:cxn ang="0">
                      <a:pos x="56" y="222"/>
                    </a:cxn>
                    <a:cxn ang="0">
                      <a:pos x="51" y="181"/>
                    </a:cxn>
                    <a:cxn ang="0">
                      <a:pos x="45" y="137"/>
                    </a:cxn>
                    <a:cxn ang="0">
                      <a:pos x="35" y="94"/>
                    </a:cxn>
                    <a:cxn ang="0">
                      <a:pos x="24" y="57"/>
                    </a:cxn>
                    <a:cxn ang="0">
                      <a:pos x="6" y="21"/>
                    </a:cxn>
                    <a:cxn ang="0">
                      <a:pos x="0" y="8"/>
                    </a:cxn>
                    <a:cxn ang="0">
                      <a:pos x="7" y="0"/>
                    </a:cxn>
                    <a:cxn ang="0">
                      <a:pos x="19" y="14"/>
                    </a:cxn>
                    <a:cxn ang="0">
                      <a:pos x="35" y="47"/>
                    </a:cxn>
                    <a:cxn ang="0">
                      <a:pos x="47" y="81"/>
                    </a:cxn>
                    <a:cxn ang="0">
                      <a:pos x="56" y="116"/>
                    </a:cxn>
                    <a:cxn ang="0">
                      <a:pos x="63" y="161"/>
                    </a:cxn>
                    <a:cxn ang="0">
                      <a:pos x="69" y="204"/>
                    </a:cxn>
                    <a:cxn ang="0">
                      <a:pos x="77" y="262"/>
                    </a:cxn>
                    <a:cxn ang="0">
                      <a:pos x="84" y="309"/>
                    </a:cxn>
                    <a:cxn ang="0">
                      <a:pos x="87" y="347"/>
                    </a:cxn>
                    <a:cxn ang="0">
                      <a:pos x="90" y="386"/>
                    </a:cxn>
                    <a:cxn ang="0">
                      <a:pos x="96" y="427"/>
                    </a:cxn>
                    <a:cxn ang="0">
                      <a:pos x="104" y="357"/>
                    </a:cxn>
                    <a:cxn ang="0">
                      <a:pos x="114" y="292"/>
                    </a:cxn>
                    <a:cxn ang="0">
                      <a:pos x="129" y="230"/>
                    </a:cxn>
                  </a:cxnLst>
                  <a:rect l="txL" t="txT" r="txR" b="txB"/>
                  <a:pathLst>
                    <a:path w="130" h="496">
                      <a:moveTo>
                        <a:pt x="129" y="230"/>
                      </a:moveTo>
                      <a:lnTo>
                        <a:pt x="118" y="330"/>
                      </a:lnTo>
                      <a:lnTo>
                        <a:pt x="107" y="411"/>
                      </a:lnTo>
                      <a:lnTo>
                        <a:pt x="100" y="471"/>
                      </a:lnTo>
                      <a:lnTo>
                        <a:pt x="101" y="495"/>
                      </a:lnTo>
                      <a:lnTo>
                        <a:pt x="86" y="495"/>
                      </a:lnTo>
                      <a:lnTo>
                        <a:pt x="81" y="460"/>
                      </a:lnTo>
                      <a:lnTo>
                        <a:pt x="79" y="408"/>
                      </a:lnTo>
                      <a:lnTo>
                        <a:pt x="73" y="358"/>
                      </a:lnTo>
                      <a:lnTo>
                        <a:pt x="70" y="321"/>
                      </a:lnTo>
                      <a:lnTo>
                        <a:pt x="64" y="268"/>
                      </a:lnTo>
                      <a:lnTo>
                        <a:pt x="56" y="222"/>
                      </a:lnTo>
                      <a:lnTo>
                        <a:pt x="51" y="181"/>
                      </a:lnTo>
                      <a:lnTo>
                        <a:pt x="45" y="137"/>
                      </a:lnTo>
                      <a:lnTo>
                        <a:pt x="35" y="94"/>
                      </a:lnTo>
                      <a:lnTo>
                        <a:pt x="24" y="57"/>
                      </a:lnTo>
                      <a:lnTo>
                        <a:pt x="6" y="21"/>
                      </a:lnTo>
                      <a:lnTo>
                        <a:pt x="0" y="8"/>
                      </a:lnTo>
                      <a:lnTo>
                        <a:pt x="7" y="0"/>
                      </a:lnTo>
                      <a:lnTo>
                        <a:pt x="19" y="14"/>
                      </a:lnTo>
                      <a:lnTo>
                        <a:pt x="35" y="47"/>
                      </a:lnTo>
                      <a:lnTo>
                        <a:pt x="47" y="81"/>
                      </a:lnTo>
                      <a:lnTo>
                        <a:pt x="56" y="116"/>
                      </a:lnTo>
                      <a:lnTo>
                        <a:pt x="63" y="161"/>
                      </a:lnTo>
                      <a:lnTo>
                        <a:pt x="69" y="204"/>
                      </a:lnTo>
                      <a:lnTo>
                        <a:pt x="77" y="262"/>
                      </a:lnTo>
                      <a:lnTo>
                        <a:pt x="84" y="309"/>
                      </a:lnTo>
                      <a:lnTo>
                        <a:pt x="87" y="347"/>
                      </a:lnTo>
                      <a:lnTo>
                        <a:pt x="90" y="386"/>
                      </a:lnTo>
                      <a:lnTo>
                        <a:pt x="96" y="427"/>
                      </a:lnTo>
                      <a:lnTo>
                        <a:pt x="104" y="357"/>
                      </a:lnTo>
                      <a:lnTo>
                        <a:pt x="114" y="292"/>
                      </a:lnTo>
                      <a:lnTo>
                        <a:pt x="129" y="230"/>
                      </a:lnTo>
                    </a:path>
                  </a:pathLst>
                </a:custGeom>
                <a:solidFill>
                  <a:srgbClr val="3C0023">
                    <a:alpha val="50195"/>
                  </a:srgbClr>
                </a:solidFill>
                <a:ln w="9525">
                  <a:noFill/>
                </a:ln>
              </p:spPr>
              <p:txBody>
                <a:bodyPr/>
                <a:lstStyle/>
                <a:p>
                  <a:endParaRPr lang="zh-CN" altLang="en-US"/>
                </a:p>
              </p:txBody>
            </p:sp>
            <p:sp>
              <p:nvSpPr>
                <p:cNvPr id="89130" name="Freeform 206"/>
                <p:cNvSpPr/>
                <p:nvPr/>
              </p:nvSpPr>
              <p:spPr>
                <a:xfrm>
                  <a:off x="2204" y="1606"/>
                  <a:ext cx="229" cy="358"/>
                </a:xfrm>
                <a:custGeom>
                  <a:avLst/>
                  <a:gdLst>
                    <a:gd name="txL" fmla="*/ 0 w 229"/>
                    <a:gd name="txT" fmla="*/ 0 h 358"/>
                    <a:gd name="txR" fmla="*/ 229 w 229"/>
                    <a:gd name="txB" fmla="*/ 358 h 358"/>
                  </a:gdLst>
                  <a:ahLst/>
                  <a:cxnLst>
                    <a:cxn ang="0">
                      <a:pos x="60" y="58"/>
                    </a:cxn>
                    <a:cxn ang="0">
                      <a:pos x="67" y="44"/>
                    </a:cxn>
                    <a:cxn ang="0">
                      <a:pos x="64" y="5"/>
                    </a:cxn>
                    <a:cxn ang="0">
                      <a:pos x="64" y="5"/>
                    </a:cxn>
                    <a:cxn ang="0">
                      <a:pos x="64" y="5"/>
                    </a:cxn>
                    <a:cxn ang="0">
                      <a:pos x="64" y="5"/>
                    </a:cxn>
                    <a:cxn ang="0">
                      <a:pos x="64" y="5"/>
                    </a:cxn>
                    <a:cxn ang="0">
                      <a:pos x="70" y="2"/>
                    </a:cxn>
                    <a:cxn ang="0">
                      <a:pos x="82" y="66"/>
                    </a:cxn>
                    <a:cxn ang="0">
                      <a:pos x="94" y="39"/>
                    </a:cxn>
                    <a:cxn ang="0">
                      <a:pos x="101" y="5"/>
                    </a:cxn>
                    <a:cxn ang="0">
                      <a:pos x="104" y="5"/>
                    </a:cxn>
                    <a:cxn ang="0">
                      <a:pos x="103" y="5"/>
                    </a:cxn>
                    <a:cxn ang="0">
                      <a:pos x="104" y="5"/>
                    </a:cxn>
                    <a:cxn ang="0">
                      <a:pos x="102" y="5"/>
                    </a:cxn>
                    <a:cxn ang="0">
                      <a:pos x="103" y="5"/>
                    </a:cxn>
                    <a:cxn ang="0">
                      <a:pos x="105" y="47"/>
                    </a:cxn>
                    <a:cxn ang="0">
                      <a:pos x="111" y="88"/>
                    </a:cxn>
                    <a:cxn ang="0">
                      <a:pos x="139" y="79"/>
                    </a:cxn>
                    <a:cxn ang="0">
                      <a:pos x="176" y="81"/>
                    </a:cxn>
                    <a:cxn ang="0">
                      <a:pos x="205" y="104"/>
                    </a:cxn>
                    <a:cxn ang="0">
                      <a:pos x="228" y="155"/>
                    </a:cxn>
                    <a:cxn ang="0">
                      <a:pos x="200" y="147"/>
                    </a:cxn>
                    <a:cxn ang="0">
                      <a:pos x="171" y="131"/>
                    </a:cxn>
                    <a:cxn ang="0">
                      <a:pos x="132" y="121"/>
                    </a:cxn>
                    <a:cxn ang="0">
                      <a:pos x="107" y="125"/>
                    </a:cxn>
                    <a:cxn ang="0">
                      <a:pos x="122" y="150"/>
                    </a:cxn>
                    <a:cxn ang="0">
                      <a:pos x="154" y="165"/>
                    </a:cxn>
                    <a:cxn ang="0">
                      <a:pos x="187" y="175"/>
                    </a:cxn>
                    <a:cxn ang="0">
                      <a:pos x="212" y="212"/>
                    </a:cxn>
                    <a:cxn ang="0">
                      <a:pos x="224" y="262"/>
                    </a:cxn>
                    <a:cxn ang="0">
                      <a:pos x="194" y="231"/>
                    </a:cxn>
                    <a:cxn ang="0">
                      <a:pos x="163" y="199"/>
                    </a:cxn>
                    <a:cxn ang="0">
                      <a:pos x="133" y="172"/>
                    </a:cxn>
                    <a:cxn ang="0">
                      <a:pos x="111" y="159"/>
                    </a:cxn>
                    <a:cxn ang="0">
                      <a:pos x="97" y="185"/>
                    </a:cxn>
                    <a:cxn ang="0">
                      <a:pos x="115" y="245"/>
                    </a:cxn>
                    <a:cxn ang="0">
                      <a:pos x="132" y="312"/>
                    </a:cxn>
                    <a:cxn ang="0">
                      <a:pos x="114" y="328"/>
                    </a:cxn>
                    <a:cxn ang="0">
                      <a:pos x="95" y="236"/>
                    </a:cxn>
                    <a:cxn ang="0">
                      <a:pos x="78" y="179"/>
                    </a:cxn>
                    <a:cxn ang="0">
                      <a:pos x="73" y="197"/>
                    </a:cxn>
                    <a:cxn ang="0">
                      <a:pos x="74" y="186"/>
                    </a:cxn>
                    <a:cxn ang="0">
                      <a:pos x="70" y="206"/>
                    </a:cxn>
                    <a:cxn ang="0">
                      <a:pos x="51" y="257"/>
                    </a:cxn>
                    <a:cxn ang="0">
                      <a:pos x="32" y="322"/>
                    </a:cxn>
                    <a:cxn ang="0">
                      <a:pos x="28" y="304"/>
                    </a:cxn>
                    <a:cxn ang="0">
                      <a:pos x="38" y="249"/>
                    </a:cxn>
                    <a:cxn ang="0">
                      <a:pos x="59" y="189"/>
                    </a:cxn>
                    <a:cxn ang="0">
                      <a:pos x="82" y="143"/>
                    </a:cxn>
                    <a:cxn ang="0">
                      <a:pos x="65" y="139"/>
                    </a:cxn>
                    <a:cxn ang="0">
                      <a:pos x="40" y="189"/>
                    </a:cxn>
                    <a:cxn ang="0">
                      <a:pos x="18" y="243"/>
                    </a:cxn>
                    <a:cxn ang="0">
                      <a:pos x="2" y="278"/>
                    </a:cxn>
                    <a:cxn ang="0">
                      <a:pos x="13" y="229"/>
                    </a:cxn>
                    <a:cxn ang="0">
                      <a:pos x="37" y="179"/>
                    </a:cxn>
                    <a:cxn ang="0">
                      <a:pos x="70" y="130"/>
                    </a:cxn>
                    <a:cxn ang="0">
                      <a:pos x="62" y="99"/>
                    </a:cxn>
                    <a:cxn ang="0">
                      <a:pos x="37" y="59"/>
                    </a:cxn>
                    <a:cxn ang="0">
                      <a:pos x="11" y="12"/>
                    </a:cxn>
                    <a:cxn ang="0">
                      <a:pos x="14" y="5"/>
                    </a:cxn>
                    <a:cxn ang="0">
                      <a:pos x="27" y="5"/>
                    </a:cxn>
                    <a:cxn ang="0">
                      <a:pos x="31" y="10"/>
                    </a:cxn>
                  </a:cxnLst>
                  <a:rect l="txL" t="txT" r="txR" b="txB"/>
                  <a:pathLst>
                    <a:path w="229" h="358">
                      <a:moveTo>
                        <a:pt x="43" y="31"/>
                      </a:moveTo>
                      <a:lnTo>
                        <a:pt x="47" y="39"/>
                      </a:lnTo>
                      <a:lnTo>
                        <a:pt x="51" y="44"/>
                      </a:lnTo>
                      <a:lnTo>
                        <a:pt x="55" y="51"/>
                      </a:lnTo>
                      <a:lnTo>
                        <a:pt x="60" y="58"/>
                      </a:lnTo>
                      <a:lnTo>
                        <a:pt x="64" y="63"/>
                      </a:lnTo>
                      <a:lnTo>
                        <a:pt x="68" y="66"/>
                      </a:lnTo>
                      <a:lnTo>
                        <a:pt x="72" y="69"/>
                      </a:lnTo>
                      <a:lnTo>
                        <a:pt x="70" y="58"/>
                      </a:lnTo>
                      <a:lnTo>
                        <a:pt x="67" y="44"/>
                      </a:lnTo>
                      <a:lnTo>
                        <a:pt x="65" y="30"/>
                      </a:lnTo>
                      <a:lnTo>
                        <a:pt x="63" y="15"/>
                      </a:lnTo>
                      <a:lnTo>
                        <a:pt x="64" y="5"/>
                      </a:lnTo>
                      <a:lnTo>
                        <a:pt x="69" y="5"/>
                      </a:lnTo>
                      <a:lnTo>
                        <a:pt x="70" y="5"/>
                      </a:lnTo>
                      <a:lnTo>
                        <a:pt x="70" y="2"/>
                      </a:lnTo>
                      <a:lnTo>
                        <a:pt x="73" y="16"/>
                      </a:lnTo>
                      <a:lnTo>
                        <a:pt x="76" y="30"/>
                      </a:lnTo>
                      <a:lnTo>
                        <a:pt x="78" y="41"/>
                      </a:lnTo>
                      <a:lnTo>
                        <a:pt x="81" y="56"/>
                      </a:lnTo>
                      <a:lnTo>
                        <a:pt x="82" y="66"/>
                      </a:lnTo>
                      <a:lnTo>
                        <a:pt x="84" y="71"/>
                      </a:lnTo>
                      <a:lnTo>
                        <a:pt x="87" y="66"/>
                      </a:lnTo>
                      <a:lnTo>
                        <a:pt x="89" y="59"/>
                      </a:lnTo>
                      <a:lnTo>
                        <a:pt x="93" y="52"/>
                      </a:lnTo>
                      <a:lnTo>
                        <a:pt x="94" y="39"/>
                      </a:lnTo>
                      <a:lnTo>
                        <a:pt x="95" y="30"/>
                      </a:lnTo>
                      <a:lnTo>
                        <a:pt x="96" y="14"/>
                      </a:lnTo>
                      <a:lnTo>
                        <a:pt x="96" y="0"/>
                      </a:lnTo>
                      <a:lnTo>
                        <a:pt x="101" y="5"/>
                      </a:lnTo>
                      <a:lnTo>
                        <a:pt x="102" y="5"/>
                      </a:lnTo>
                      <a:lnTo>
                        <a:pt x="103" y="5"/>
                      </a:lnTo>
                      <a:lnTo>
                        <a:pt x="104" y="5"/>
                      </a:lnTo>
                      <a:lnTo>
                        <a:pt x="105" y="5"/>
                      </a:lnTo>
                      <a:lnTo>
                        <a:pt x="104" y="5"/>
                      </a:lnTo>
                      <a:lnTo>
                        <a:pt x="102" y="5"/>
                      </a:lnTo>
                      <a:lnTo>
                        <a:pt x="103" y="5"/>
                      </a:lnTo>
                      <a:lnTo>
                        <a:pt x="105" y="5"/>
                      </a:lnTo>
                      <a:lnTo>
                        <a:pt x="103" y="5"/>
                      </a:lnTo>
                      <a:lnTo>
                        <a:pt x="101" y="5"/>
                      </a:lnTo>
                      <a:lnTo>
                        <a:pt x="102" y="5"/>
                      </a:lnTo>
                      <a:lnTo>
                        <a:pt x="101" y="5"/>
                      </a:lnTo>
                      <a:lnTo>
                        <a:pt x="104" y="5"/>
                      </a:lnTo>
                      <a:lnTo>
                        <a:pt x="103" y="5"/>
                      </a:lnTo>
                      <a:lnTo>
                        <a:pt x="100" y="5"/>
                      </a:lnTo>
                      <a:lnTo>
                        <a:pt x="101" y="5"/>
                      </a:lnTo>
                      <a:lnTo>
                        <a:pt x="103" y="5"/>
                      </a:lnTo>
                      <a:lnTo>
                        <a:pt x="102" y="5"/>
                      </a:lnTo>
                      <a:lnTo>
                        <a:pt x="104" y="5"/>
                      </a:lnTo>
                      <a:lnTo>
                        <a:pt x="102" y="5"/>
                      </a:lnTo>
                      <a:lnTo>
                        <a:pt x="107" y="5"/>
                      </a:lnTo>
                      <a:lnTo>
                        <a:pt x="103" y="5"/>
                      </a:lnTo>
                      <a:lnTo>
                        <a:pt x="104" y="5"/>
                      </a:lnTo>
                      <a:lnTo>
                        <a:pt x="107" y="2"/>
                      </a:lnTo>
                      <a:lnTo>
                        <a:pt x="107" y="15"/>
                      </a:lnTo>
                      <a:lnTo>
                        <a:pt x="106" y="31"/>
                      </a:lnTo>
                      <a:lnTo>
                        <a:pt x="105" y="47"/>
                      </a:lnTo>
                      <a:lnTo>
                        <a:pt x="103" y="66"/>
                      </a:lnTo>
                      <a:lnTo>
                        <a:pt x="102" y="83"/>
                      </a:lnTo>
                      <a:lnTo>
                        <a:pt x="101" y="100"/>
                      </a:lnTo>
                      <a:lnTo>
                        <a:pt x="105" y="95"/>
                      </a:lnTo>
                      <a:lnTo>
                        <a:pt x="111" y="88"/>
                      </a:lnTo>
                      <a:lnTo>
                        <a:pt x="118" y="80"/>
                      </a:lnTo>
                      <a:lnTo>
                        <a:pt x="123" y="78"/>
                      </a:lnTo>
                      <a:lnTo>
                        <a:pt x="129" y="76"/>
                      </a:lnTo>
                      <a:lnTo>
                        <a:pt x="134" y="79"/>
                      </a:lnTo>
                      <a:lnTo>
                        <a:pt x="139" y="79"/>
                      </a:lnTo>
                      <a:lnTo>
                        <a:pt x="146" y="81"/>
                      </a:lnTo>
                      <a:lnTo>
                        <a:pt x="154" y="83"/>
                      </a:lnTo>
                      <a:lnTo>
                        <a:pt x="162" y="83"/>
                      </a:lnTo>
                      <a:lnTo>
                        <a:pt x="169" y="81"/>
                      </a:lnTo>
                      <a:lnTo>
                        <a:pt x="176" y="81"/>
                      </a:lnTo>
                      <a:lnTo>
                        <a:pt x="182" y="83"/>
                      </a:lnTo>
                      <a:lnTo>
                        <a:pt x="188" y="88"/>
                      </a:lnTo>
                      <a:lnTo>
                        <a:pt x="195" y="93"/>
                      </a:lnTo>
                      <a:lnTo>
                        <a:pt x="200" y="98"/>
                      </a:lnTo>
                      <a:lnTo>
                        <a:pt x="205" y="104"/>
                      </a:lnTo>
                      <a:lnTo>
                        <a:pt x="211" y="112"/>
                      </a:lnTo>
                      <a:lnTo>
                        <a:pt x="214" y="117"/>
                      </a:lnTo>
                      <a:lnTo>
                        <a:pt x="220" y="129"/>
                      </a:lnTo>
                      <a:lnTo>
                        <a:pt x="223" y="142"/>
                      </a:lnTo>
                      <a:lnTo>
                        <a:pt x="228" y="155"/>
                      </a:lnTo>
                      <a:lnTo>
                        <a:pt x="223" y="156"/>
                      </a:lnTo>
                      <a:lnTo>
                        <a:pt x="217" y="154"/>
                      </a:lnTo>
                      <a:lnTo>
                        <a:pt x="210" y="152"/>
                      </a:lnTo>
                      <a:lnTo>
                        <a:pt x="205" y="150"/>
                      </a:lnTo>
                      <a:lnTo>
                        <a:pt x="200" y="147"/>
                      </a:lnTo>
                      <a:lnTo>
                        <a:pt x="195" y="143"/>
                      </a:lnTo>
                      <a:lnTo>
                        <a:pt x="189" y="138"/>
                      </a:lnTo>
                      <a:lnTo>
                        <a:pt x="184" y="135"/>
                      </a:lnTo>
                      <a:lnTo>
                        <a:pt x="179" y="133"/>
                      </a:lnTo>
                      <a:lnTo>
                        <a:pt x="171" y="131"/>
                      </a:lnTo>
                      <a:lnTo>
                        <a:pt x="162" y="129"/>
                      </a:lnTo>
                      <a:lnTo>
                        <a:pt x="154" y="126"/>
                      </a:lnTo>
                      <a:lnTo>
                        <a:pt x="146" y="124"/>
                      </a:lnTo>
                      <a:lnTo>
                        <a:pt x="138" y="122"/>
                      </a:lnTo>
                      <a:lnTo>
                        <a:pt x="132" y="121"/>
                      </a:lnTo>
                      <a:lnTo>
                        <a:pt x="128" y="120"/>
                      </a:lnTo>
                      <a:lnTo>
                        <a:pt x="122" y="120"/>
                      </a:lnTo>
                      <a:lnTo>
                        <a:pt x="116" y="121"/>
                      </a:lnTo>
                      <a:lnTo>
                        <a:pt x="112" y="122"/>
                      </a:lnTo>
                      <a:lnTo>
                        <a:pt x="107" y="125"/>
                      </a:lnTo>
                      <a:lnTo>
                        <a:pt x="100" y="129"/>
                      </a:lnTo>
                      <a:lnTo>
                        <a:pt x="105" y="135"/>
                      </a:lnTo>
                      <a:lnTo>
                        <a:pt x="111" y="140"/>
                      </a:lnTo>
                      <a:lnTo>
                        <a:pt x="116" y="147"/>
                      </a:lnTo>
                      <a:lnTo>
                        <a:pt x="122" y="150"/>
                      </a:lnTo>
                      <a:lnTo>
                        <a:pt x="129" y="155"/>
                      </a:lnTo>
                      <a:lnTo>
                        <a:pt x="133" y="158"/>
                      </a:lnTo>
                      <a:lnTo>
                        <a:pt x="139" y="159"/>
                      </a:lnTo>
                      <a:lnTo>
                        <a:pt x="147" y="162"/>
                      </a:lnTo>
                      <a:lnTo>
                        <a:pt x="154" y="165"/>
                      </a:lnTo>
                      <a:lnTo>
                        <a:pt x="161" y="167"/>
                      </a:lnTo>
                      <a:lnTo>
                        <a:pt x="168" y="169"/>
                      </a:lnTo>
                      <a:lnTo>
                        <a:pt x="174" y="170"/>
                      </a:lnTo>
                      <a:lnTo>
                        <a:pt x="181" y="174"/>
                      </a:lnTo>
                      <a:lnTo>
                        <a:pt x="187" y="175"/>
                      </a:lnTo>
                      <a:lnTo>
                        <a:pt x="191" y="179"/>
                      </a:lnTo>
                      <a:lnTo>
                        <a:pt x="197" y="186"/>
                      </a:lnTo>
                      <a:lnTo>
                        <a:pt x="202" y="193"/>
                      </a:lnTo>
                      <a:lnTo>
                        <a:pt x="206" y="202"/>
                      </a:lnTo>
                      <a:lnTo>
                        <a:pt x="212" y="212"/>
                      </a:lnTo>
                      <a:lnTo>
                        <a:pt x="214" y="218"/>
                      </a:lnTo>
                      <a:lnTo>
                        <a:pt x="217" y="229"/>
                      </a:lnTo>
                      <a:lnTo>
                        <a:pt x="219" y="240"/>
                      </a:lnTo>
                      <a:lnTo>
                        <a:pt x="221" y="253"/>
                      </a:lnTo>
                      <a:lnTo>
                        <a:pt x="224" y="262"/>
                      </a:lnTo>
                      <a:lnTo>
                        <a:pt x="219" y="257"/>
                      </a:lnTo>
                      <a:lnTo>
                        <a:pt x="212" y="250"/>
                      </a:lnTo>
                      <a:lnTo>
                        <a:pt x="206" y="245"/>
                      </a:lnTo>
                      <a:lnTo>
                        <a:pt x="200" y="238"/>
                      </a:lnTo>
                      <a:lnTo>
                        <a:pt x="194" y="231"/>
                      </a:lnTo>
                      <a:lnTo>
                        <a:pt x="188" y="226"/>
                      </a:lnTo>
                      <a:lnTo>
                        <a:pt x="182" y="219"/>
                      </a:lnTo>
                      <a:lnTo>
                        <a:pt x="176" y="213"/>
                      </a:lnTo>
                      <a:lnTo>
                        <a:pt x="169" y="206"/>
                      </a:lnTo>
                      <a:lnTo>
                        <a:pt x="163" y="199"/>
                      </a:lnTo>
                      <a:lnTo>
                        <a:pt x="158" y="194"/>
                      </a:lnTo>
                      <a:lnTo>
                        <a:pt x="151" y="187"/>
                      </a:lnTo>
                      <a:lnTo>
                        <a:pt x="145" y="182"/>
                      </a:lnTo>
                      <a:lnTo>
                        <a:pt x="139" y="177"/>
                      </a:lnTo>
                      <a:lnTo>
                        <a:pt x="133" y="172"/>
                      </a:lnTo>
                      <a:lnTo>
                        <a:pt x="129" y="170"/>
                      </a:lnTo>
                      <a:lnTo>
                        <a:pt x="125" y="166"/>
                      </a:lnTo>
                      <a:lnTo>
                        <a:pt x="119" y="162"/>
                      </a:lnTo>
                      <a:lnTo>
                        <a:pt x="115" y="158"/>
                      </a:lnTo>
                      <a:lnTo>
                        <a:pt x="111" y="159"/>
                      </a:lnTo>
                      <a:lnTo>
                        <a:pt x="107" y="162"/>
                      </a:lnTo>
                      <a:lnTo>
                        <a:pt x="103" y="161"/>
                      </a:lnTo>
                      <a:lnTo>
                        <a:pt x="99" y="158"/>
                      </a:lnTo>
                      <a:lnTo>
                        <a:pt x="98" y="170"/>
                      </a:lnTo>
                      <a:lnTo>
                        <a:pt x="97" y="185"/>
                      </a:lnTo>
                      <a:lnTo>
                        <a:pt x="100" y="197"/>
                      </a:lnTo>
                      <a:lnTo>
                        <a:pt x="102" y="211"/>
                      </a:lnTo>
                      <a:lnTo>
                        <a:pt x="107" y="220"/>
                      </a:lnTo>
                      <a:lnTo>
                        <a:pt x="111" y="231"/>
                      </a:lnTo>
                      <a:lnTo>
                        <a:pt x="115" y="245"/>
                      </a:lnTo>
                      <a:lnTo>
                        <a:pt x="119" y="259"/>
                      </a:lnTo>
                      <a:lnTo>
                        <a:pt x="123" y="268"/>
                      </a:lnTo>
                      <a:lnTo>
                        <a:pt x="127" y="278"/>
                      </a:lnTo>
                      <a:lnTo>
                        <a:pt x="131" y="297"/>
                      </a:lnTo>
                      <a:lnTo>
                        <a:pt x="132" y="312"/>
                      </a:lnTo>
                      <a:lnTo>
                        <a:pt x="135" y="331"/>
                      </a:lnTo>
                      <a:lnTo>
                        <a:pt x="138" y="349"/>
                      </a:lnTo>
                      <a:lnTo>
                        <a:pt x="125" y="349"/>
                      </a:lnTo>
                      <a:lnTo>
                        <a:pt x="122" y="349"/>
                      </a:lnTo>
                      <a:lnTo>
                        <a:pt x="114" y="328"/>
                      </a:lnTo>
                      <a:lnTo>
                        <a:pt x="108" y="307"/>
                      </a:lnTo>
                      <a:lnTo>
                        <a:pt x="103" y="290"/>
                      </a:lnTo>
                      <a:lnTo>
                        <a:pt x="100" y="273"/>
                      </a:lnTo>
                      <a:lnTo>
                        <a:pt x="98" y="255"/>
                      </a:lnTo>
                      <a:lnTo>
                        <a:pt x="95" y="236"/>
                      </a:lnTo>
                      <a:lnTo>
                        <a:pt x="90" y="209"/>
                      </a:lnTo>
                      <a:lnTo>
                        <a:pt x="87" y="200"/>
                      </a:lnTo>
                      <a:lnTo>
                        <a:pt x="84" y="184"/>
                      </a:lnTo>
                      <a:lnTo>
                        <a:pt x="81" y="177"/>
                      </a:lnTo>
                      <a:lnTo>
                        <a:pt x="78" y="179"/>
                      </a:lnTo>
                      <a:lnTo>
                        <a:pt x="75" y="181"/>
                      </a:lnTo>
                      <a:lnTo>
                        <a:pt x="74" y="191"/>
                      </a:lnTo>
                      <a:lnTo>
                        <a:pt x="74" y="186"/>
                      </a:lnTo>
                      <a:lnTo>
                        <a:pt x="74" y="192"/>
                      </a:lnTo>
                      <a:lnTo>
                        <a:pt x="73" y="197"/>
                      </a:lnTo>
                      <a:lnTo>
                        <a:pt x="72" y="198"/>
                      </a:lnTo>
                      <a:lnTo>
                        <a:pt x="74" y="197"/>
                      </a:lnTo>
                      <a:lnTo>
                        <a:pt x="73" y="194"/>
                      </a:lnTo>
                      <a:lnTo>
                        <a:pt x="74" y="189"/>
                      </a:lnTo>
                      <a:lnTo>
                        <a:pt x="74" y="186"/>
                      </a:lnTo>
                      <a:lnTo>
                        <a:pt x="74" y="187"/>
                      </a:lnTo>
                      <a:lnTo>
                        <a:pt x="74" y="192"/>
                      </a:lnTo>
                      <a:lnTo>
                        <a:pt x="75" y="197"/>
                      </a:lnTo>
                      <a:lnTo>
                        <a:pt x="73" y="198"/>
                      </a:lnTo>
                      <a:lnTo>
                        <a:pt x="70" y="206"/>
                      </a:lnTo>
                      <a:lnTo>
                        <a:pt x="65" y="218"/>
                      </a:lnTo>
                      <a:lnTo>
                        <a:pt x="61" y="227"/>
                      </a:lnTo>
                      <a:lnTo>
                        <a:pt x="58" y="236"/>
                      </a:lnTo>
                      <a:lnTo>
                        <a:pt x="54" y="248"/>
                      </a:lnTo>
                      <a:lnTo>
                        <a:pt x="51" y="257"/>
                      </a:lnTo>
                      <a:lnTo>
                        <a:pt x="47" y="268"/>
                      </a:lnTo>
                      <a:lnTo>
                        <a:pt x="43" y="280"/>
                      </a:lnTo>
                      <a:lnTo>
                        <a:pt x="40" y="293"/>
                      </a:lnTo>
                      <a:lnTo>
                        <a:pt x="36" y="307"/>
                      </a:lnTo>
                      <a:lnTo>
                        <a:pt x="32" y="322"/>
                      </a:lnTo>
                      <a:lnTo>
                        <a:pt x="29" y="339"/>
                      </a:lnTo>
                      <a:lnTo>
                        <a:pt x="24" y="357"/>
                      </a:lnTo>
                      <a:lnTo>
                        <a:pt x="26" y="335"/>
                      </a:lnTo>
                      <a:lnTo>
                        <a:pt x="27" y="321"/>
                      </a:lnTo>
                      <a:lnTo>
                        <a:pt x="28" y="304"/>
                      </a:lnTo>
                      <a:lnTo>
                        <a:pt x="29" y="295"/>
                      </a:lnTo>
                      <a:lnTo>
                        <a:pt x="31" y="287"/>
                      </a:lnTo>
                      <a:lnTo>
                        <a:pt x="33" y="273"/>
                      </a:lnTo>
                      <a:lnTo>
                        <a:pt x="36" y="260"/>
                      </a:lnTo>
                      <a:lnTo>
                        <a:pt x="38" y="249"/>
                      </a:lnTo>
                      <a:lnTo>
                        <a:pt x="43" y="236"/>
                      </a:lnTo>
                      <a:lnTo>
                        <a:pt x="47" y="224"/>
                      </a:lnTo>
                      <a:lnTo>
                        <a:pt x="52" y="211"/>
                      </a:lnTo>
                      <a:lnTo>
                        <a:pt x="56" y="197"/>
                      </a:lnTo>
                      <a:lnTo>
                        <a:pt x="59" y="189"/>
                      </a:lnTo>
                      <a:lnTo>
                        <a:pt x="63" y="181"/>
                      </a:lnTo>
                      <a:lnTo>
                        <a:pt x="68" y="172"/>
                      </a:lnTo>
                      <a:lnTo>
                        <a:pt x="73" y="164"/>
                      </a:lnTo>
                      <a:lnTo>
                        <a:pt x="77" y="154"/>
                      </a:lnTo>
                      <a:lnTo>
                        <a:pt x="82" y="143"/>
                      </a:lnTo>
                      <a:lnTo>
                        <a:pt x="80" y="139"/>
                      </a:lnTo>
                      <a:lnTo>
                        <a:pt x="76" y="133"/>
                      </a:lnTo>
                      <a:lnTo>
                        <a:pt x="73" y="129"/>
                      </a:lnTo>
                      <a:lnTo>
                        <a:pt x="70" y="132"/>
                      </a:lnTo>
                      <a:lnTo>
                        <a:pt x="65" y="139"/>
                      </a:lnTo>
                      <a:lnTo>
                        <a:pt x="60" y="147"/>
                      </a:lnTo>
                      <a:lnTo>
                        <a:pt x="55" y="154"/>
                      </a:lnTo>
                      <a:lnTo>
                        <a:pt x="51" y="164"/>
                      </a:lnTo>
                      <a:lnTo>
                        <a:pt x="45" y="177"/>
                      </a:lnTo>
                      <a:lnTo>
                        <a:pt x="40" y="189"/>
                      </a:lnTo>
                      <a:lnTo>
                        <a:pt x="36" y="199"/>
                      </a:lnTo>
                      <a:lnTo>
                        <a:pt x="31" y="207"/>
                      </a:lnTo>
                      <a:lnTo>
                        <a:pt x="27" y="218"/>
                      </a:lnTo>
                      <a:lnTo>
                        <a:pt x="22" y="230"/>
                      </a:lnTo>
                      <a:lnTo>
                        <a:pt x="18" y="243"/>
                      </a:lnTo>
                      <a:lnTo>
                        <a:pt x="14" y="255"/>
                      </a:lnTo>
                      <a:lnTo>
                        <a:pt x="9" y="268"/>
                      </a:lnTo>
                      <a:lnTo>
                        <a:pt x="5" y="282"/>
                      </a:lnTo>
                      <a:lnTo>
                        <a:pt x="0" y="298"/>
                      </a:lnTo>
                      <a:lnTo>
                        <a:pt x="2" y="278"/>
                      </a:lnTo>
                      <a:lnTo>
                        <a:pt x="4" y="262"/>
                      </a:lnTo>
                      <a:lnTo>
                        <a:pt x="5" y="248"/>
                      </a:lnTo>
                      <a:lnTo>
                        <a:pt x="6" y="244"/>
                      </a:lnTo>
                      <a:lnTo>
                        <a:pt x="9" y="238"/>
                      </a:lnTo>
                      <a:lnTo>
                        <a:pt x="13" y="229"/>
                      </a:lnTo>
                      <a:lnTo>
                        <a:pt x="17" y="219"/>
                      </a:lnTo>
                      <a:lnTo>
                        <a:pt x="22" y="209"/>
                      </a:lnTo>
                      <a:lnTo>
                        <a:pt x="27" y="199"/>
                      </a:lnTo>
                      <a:lnTo>
                        <a:pt x="33" y="187"/>
                      </a:lnTo>
                      <a:lnTo>
                        <a:pt x="37" y="179"/>
                      </a:lnTo>
                      <a:lnTo>
                        <a:pt x="43" y="170"/>
                      </a:lnTo>
                      <a:lnTo>
                        <a:pt x="49" y="159"/>
                      </a:lnTo>
                      <a:lnTo>
                        <a:pt x="55" y="149"/>
                      </a:lnTo>
                      <a:lnTo>
                        <a:pt x="60" y="142"/>
                      </a:lnTo>
                      <a:lnTo>
                        <a:pt x="70" y="130"/>
                      </a:lnTo>
                      <a:lnTo>
                        <a:pt x="75" y="125"/>
                      </a:lnTo>
                      <a:lnTo>
                        <a:pt x="78" y="123"/>
                      </a:lnTo>
                      <a:lnTo>
                        <a:pt x="73" y="117"/>
                      </a:lnTo>
                      <a:lnTo>
                        <a:pt x="67" y="108"/>
                      </a:lnTo>
                      <a:lnTo>
                        <a:pt x="62" y="99"/>
                      </a:lnTo>
                      <a:lnTo>
                        <a:pt x="57" y="92"/>
                      </a:lnTo>
                      <a:lnTo>
                        <a:pt x="52" y="85"/>
                      </a:lnTo>
                      <a:lnTo>
                        <a:pt x="47" y="78"/>
                      </a:lnTo>
                      <a:lnTo>
                        <a:pt x="43" y="71"/>
                      </a:lnTo>
                      <a:lnTo>
                        <a:pt x="37" y="59"/>
                      </a:lnTo>
                      <a:lnTo>
                        <a:pt x="32" y="48"/>
                      </a:lnTo>
                      <a:lnTo>
                        <a:pt x="26" y="38"/>
                      </a:lnTo>
                      <a:lnTo>
                        <a:pt x="19" y="26"/>
                      </a:lnTo>
                      <a:lnTo>
                        <a:pt x="14" y="19"/>
                      </a:lnTo>
                      <a:lnTo>
                        <a:pt x="11" y="12"/>
                      </a:lnTo>
                      <a:lnTo>
                        <a:pt x="7" y="4"/>
                      </a:lnTo>
                      <a:lnTo>
                        <a:pt x="14" y="5"/>
                      </a:lnTo>
                      <a:lnTo>
                        <a:pt x="27" y="5"/>
                      </a:lnTo>
                      <a:lnTo>
                        <a:pt x="31" y="10"/>
                      </a:lnTo>
                      <a:lnTo>
                        <a:pt x="37" y="22"/>
                      </a:lnTo>
                      <a:lnTo>
                        <a:pt x="43" y="31"/>
                      </a:lnTo>
                    </a:path>
                  </a:pathLst>
                </a:custGeom>
                <a:solidFill>
                  <a:srgbClr val="037C03">
                    <a:alpha val="50195"/>
                  </a:srgbClr>
                </a:solidFill>
                <a:ln w="9525">
                  <a:noFill/>
                </a:ln>
              </p:spPr>
              <p:txBody>
                <a:bodyPr/>
                <a:lstStyle/>
                <a:p>
                  <a:endParaRPr lang="zh-CN" altLang="en-US"/>
                </a:p>
              </p:txBody>
            </p:sp>
            <p:grpSp>
              <p:nvGrpSpPr>
                <p:cNvPr id="89131" name="Group 207"/>
                <p:cNvGrpSpPr/>
                <p:nvPr/>
              </p:nvGrpSpPr>
              <p:grpSpPr>
                <a:xfrm>
                  <a:off x="1985" y="1419"/>
                  <a:ext cx="465" cy="349"/>
                  <a:chOff x="1985" y="1419"/>
                  <a:chExt cx="465" cy="349"/>
                </a:xfrm>
              </p:grpSpPr>
              <p:sp>
                <p:nvSpPr>
                  <p:cNvPr id="89132" name="Freeform 208"/>
                  <p:cNvSpPr/>
                  <p:nvPr/>
                </p:nvSpPr>
                <p:spPr>
                  <a:xfrm>
                    <a:off x="2030" y="1419"/>
                    <a:ext cx="420" cy="326"/>
                  </a:xfrm>
                  <a:custGeom>
                    <a:avLst/>
                    <a:gdLst>
                      <a:gd name="txL" fmla="*/ 0 w 420"/>
                      <a:gd name="txT" fmla="*/ 0 h 326"/>
                      <a:gd name="txR" fmla="*/ 420 w 420"/>
                      <a:gd name="txB" fmla="*/ 326 h 326"/>
                    </a:gdLst>
                    <a:ahLst/>
                    <a:cxnLst>
                      <a:cxn ang="0">
                        <a:pos x="159" y="41"/>
                      </a:cxn>
                      <a:cxn ang="0">
                        <a:pos x="193" y="13"/>
                      </a:cxn>
                      <a:cxn ang="0">
                        <a:pos x="233" y="2"/>
                      </a:cxn>
                      <a:cxn ang="0">
                        <a:pos x="279" y="2"/>
                      </a:cxn>
                      <a:cxn ang="0">
                        <a:pos x="290" y="6"/>
                      </a:cxn>
                      <a:cxn ang="0">
                        <a:pos x="260" y="14"/>
                      </a:cxn>
                      <a:cxn ang="0">
                        <a:pos x="225" y="25"/>
                      </a:cxn>
                      <a:cxn ang="0">
                        <a:pos x="186" y="52"/>
                      </a:cxn>
                      <a:cxn ang="0">
                        <a:pos x="183" y="89"/>
                      </a:cxn>
                      <a:cxn ang="0">
                        <a:pos x="240" y="66"/>
                      </a:cxn>
                      <a:cxn ang="0">
                        <a:pos x="288" y="64"/>
                      </a:cxn>
                      <a:cxn ang="0">
                        <a:pos x="338" y="69"/>
                      </a:cxn>
                      <a:cxn ang="0">
                        <a:pos x="397" y="75"/>
                      </a:cxn>
                      <a:cxn ang="0">
                        <a:pos x="398" y="76"/>
                      </a:cxn>
                      <a:cxn ang="0">
                        <a:pos x="341" y="79"/>
                      </a:cxn>
                      <a:cxn ang="0">
                        <a:pos x="288" y="80"/>
                      </a:cxn>
                      <a:cxn ang="0">
                        <a:pos x="242" y="86"/>
                      </a:cxn>
                      <a:cxn ang="0">
                        <a:pos x="191" y="98"/>
                      </a:cxn>
                      <a:cxn ang="0">
                        <a:pos x="212" y="118"/>
                      </a:cxn>
                      <a:cxn ang="0">
                        <a:pos x="227" y="136"/>
                      </a:cxn>
                      <a:cxn ang="0">
                        <a:pos x="175" y="119"/>
                      </a:cxn>
                      <a:cxn ang="0">
                        <a:pos x="165" y="129"/>
                      </a:cxn>
                      <a:cxn ang="0">
                        <a:pos x="221" y="138"/>
                      </a:cxn>
                      <a:cxn ang="0">
                        <a:pos x="269" y="150"/>
                      </a:cxn>
                      <a:cxn ang="0">
                        <a:pos x="306" y="181"/>
                      </a:cxn>
                      <a:cxn ang="0">
                        <a:pos x="335" y="223"/>
                      </a:cxn>
                      <a:cxn ang="0">
                        <a:pos x="329" y="231"/>
                      </a:cxn>
                      <a:cxn ang="0">
                        <a:pos x="290" y="204"/>
                      </a:cxn>
                      <a:cxn ang="0">
                        <a:pos x="248" y="174"/>
                      </a:cxn>
                      <a:cxn ang="0">
                        <a:pos x="202" y="154"/>
                      </a:cxn>
                      <a:cxn ang="0">
                        <a:pos x="173" y="148"/>
                      </a:cxn>
                      <a:cxn ang="0">
                        <a:pos x="196" y="181"/>
                      </a:cxn>
                      <a:cxn ang="0">
                        <a:pos x="227" y="223"/>
                      </a:cxn>
                      <a:cxn ang="0">
                        <a:pos x="244" y="262"/>
                      </a:cxn>
                      <a:cxn ang="0">
                        <a:pos x="243" y="299"/>
                      </a:cxn>
                      <a:cxn ang="0">
                        <a:pos x="222" y="259"/>
                      </a:cxn>
                      <a:cxn ang="0">
                        <a:pos x="199" y="215"/>
                      </a:cxn>
                      <a:cxn ang="0">
                        <a:pos x="173" y="177"/>
                      </a:cxn>
                      <a:cxn ang="0">
                        <a:pos x="150" y="142"/>
                      </a:cxn>
                      <a:cxn ang="0">
                        <a:pos x="109" y="162"/>
                      </a:cxn>
                      <a:cxn ang="0">
                        <a:pos x="77" y="210"/>
                      </a:cxn>
                      <a:cxn ang="0">
                        <a:pos x="49" y="260"/>
                      </a:cxn>
                      <a:cxn ang="0">
                        <a:pos x="18" y="306"/>
                      </a:cxn>
                      <a:cxn ang="0">
                        <a:pos x="8" y="301"/>
                      </a:cxn>
                      <a:cxn ang="0">
                        <a:pos x="45" y="243"/>
                      </a:cxn>
                      <a:cxn ang="0">
                        <a:pos x="78" y="198"/>
                      </a:cxn>
                      <a:cxn ang="0">
                        <a:pos x="107" y="154"/>
                      </a:cxn>
                      <a:cxn ang="0">
                        <a:pos x="132" y="120"/>
                      </a:cxn>
                      <a:cxn ang="0">
                        <a:pos x="95" y="79"/>
                      </a:cxn>
                      <a:cxn ang="0">
                        <a:pos x="42" y="57"/>
                      </a:cxn>
                      <a:cxn ang="0">
                        <a:pos x="19" y="45"/>
                      </a:cxn>
                      <a:cxn ang="0">
                        <a:pos x="60" y="58"/>
                      </a:cxn>
                      <a:cxn ang="0">
                        <a:pos x="116" y="86"/>
                      </a:cxn>
                    </a:cxnLst>
                    <a:rect l="txL" t="txT" r="txR" b="txB"/>
                    <a:pathLst>
                      <a:path w="420" h="326">
                        <a:moveTo>
                          <a:pt x="132" y="83"/>
                        </a:moveTo>
                        <a:lnTo>
                          <a:pt x="135" y="74"/>
                        </a:lnTo>
                        <a:lnTo>
                          <a:pt x="140" y="65"/>
                        </a:lnTo>
                        <a:lnTo>
                          <a:pt x="146" y="57"/>
                        </a:lnTo>
                        <a:lnTo>
                          <a:pt x="152" y="48"/>
                        </a:lnTo>
                        <a:lnTo>
                          <a:pt x="159" y="41"/>
                        </a:lnTo>
                        <a:lnTo>
                          <a:pt x="164" y="34"/>
                        </a:lnTo>
                        <a:lnTo>
                          <a:pt x="170" y="29"/>
                        </a:lnTo>
                        <a:lnTo>
                          <a:pt x="176" y="25"/>
                        </a:lnTo>
                        <a:lnTo>
                          <a:pt x="181" y="20"/>
                        </a:lnTo>
                        <a:lnTo>
                          <a:pt x="187" y="17"/>
                        </a:lnTo>
                        <a:lnTo>
                          <a:pt x="193" y="13"/>
                        </a:lnTo>
                        <a:lnTo>
                          <a:pt x="199" y="10"/>
                        </a:lnTo>
                        <a:lnTo>
                          <a:pt x="204" y="8"/>
                        </a:lnTo>
                        <a:lnTo>
                          <a:pt x="212" y="6"/>
                        </a:lnTo>
                        <a:lnTo>
                          <a:pt x="220" y="5"/>
                        </a:lnTo>
                        <a:lnTo>
                          <a:pt x="226" y="3"/>
                        </a:lnTo>
                        <a:lnTo>
                          <a:pt x="233" y="2"/>
                        </a:lnTo>
                        <a:lnTo>
                          <a:pt x="241" y="2"/>
                        </a:lnTo>
                        <a:lnTo>
                          <a:pt x="248" y="1"/>
                        </a:lnTo>
                        <a:lnTo>
                          <a:pt x="258" y="1"/>
                        </a:lnTo>
                        <a:lnTo>
                          <a:pt x="265" y="1"/>
                        </a:lnTo>
                        <a:lnTo>
                          <a:pt x="272" y="2"/>
                        </a:lnTo>
                        <a:lnTo>
                          <a:pt x="279" y="2"/>
                        </a:lnTo>
                        <a:lnTo>
                          <a:pt x="285" y="1"/>
                        </a:lnTo>
                        <a:lnTo>
                          <a:pt x="293" y="1"/>
                        </a:lnTo>
                        <a:lnTo>
                          <a:pt x="300" y="0"/>
                        </a:lnTo>
                        <a:lnTo>
                          <a:pt x="296" y="2"/>
                        </a:lnTo>
                        <a:lnTo>
                          <a:pt x="293" y="3"/>
                        </a:lnTo>
                        <a:lnTo>
                          <a:pt x="290" y="6"/>
                        </a:lnTo>
                        <a:lnTo>
                          <a:pt x="287" y="10"/>
                        </a:lnTo>
                        <a:lnTo>
                          <a:pt x="281" y="10"/>
                        </a:lnTo>
                        <a:lnTo>
                          <a:pt x="275" y="10"/>
                        </a:lnTo>
                        <a:lnTo>
                          <a:pt x="270" y="11"/>
                        </a:lnTo>
                        <a:lnTo>
                          <a:pt x="265" y="12"/>
                        </a:lnTo>
                        <a:lnTo>
                          <a:pt x="260" y="14"/>
                        </a:lnTo>
                        <a:lnTo>
                          <a:pt x="254" y="15"/>
                        </a:lnTo>
                        <a:lnTo>
                          <a:pt x="248" y="17"/>
                        </a:lnTo>
                        <a:lnTo>
                          <a:pt x="242" y="19"/>
                        </a:lnTo>
                        <a:lnTo>
                          <a:pt x="236" y="20"/>
                        </a:lnTo>
                        <a:lnTo>
                          <a:pt x="231" y="22"/>
                        </a:lnTo>
                        <a:lnTo>
                          <a:pt x="225" y="25"/>
                        </a:lnTo>
                        <a:lnTo>
                          <a:pt x="218" y="28"/>
                        </a:lnTo>
                        <a:lnTo>
                          <a:pt x="212" y="31"/>
                        </a:lnTo>
                        <a:lnTo>
                          <a:pt x="205" y="35"/>
                        </a:lnTo>
                        <a:lnTo>
                          <a:pt x="199" y="39"/>
                        </a:lnTo>
                        <a:lnTo>
                          <a:pt x="192" y="45"/>
                        </a:lnTo>
                        <a:lnTo>
                          <a:pt x="186" y="52"/>
                        </a:lnTo>
                        <a:lnTo>
                          <a:pt x="180" y="61"/>
                        </a:lnTo>
                        <a:lnTo>
                          <a:pt x="173" y="73"/>
                        </a:lnTo>
                        <a:lnTo>
                          <a:pt x="167" y="86"/>
                        </a:lnTo>
                        <a:lnTo>
                          <a:pt x="159" y="101"/>
                        </a:lnTo>
                        <a:lnTo>
                          <a:pt x="172" y="95"/>
                        </a:lnTo>
                        <a:lnTo>
                          <a:pt x="183" y="89"/>
                        </a:lnTo>
                        <a:lnTo>
                          <a:pt x="197" y="82"/>
                        </a:lnTo>
                        <a:lnTo>
                          <a:pt x="212" y="75"/>
                        </a:lnTo>
                        <a:lnTo>
                          <a:pt x="218" y="73"/>
                        </a:lnTo>
                        <a:lnTo>
                          <a:pt x="225" y="70"/>
                        </a:lnTo>
                        <a:lnTo>
                          <a:pt x="232" y="69"/>
                        </a:lnTo>
                        <a:lnTo>
                          <a:pt x="240" y="66"/>
                        </a:lnTo>
                        <a:lnTo>
                          <a:pt x="249" y="65"/>
                        </a:lnTo>
                        <a:lnTo>
                          <a:pt x="256" y="64"/>
                        </a:lnTo>
                        <a:lnTo>
                          <a:pt x="263" y="64"/>
                        </a:lnTo>
                        <a:lnTo>
                          <a:pt x="272" y="63"/>
                        </a:lnTo>
                        <a:lnTo>
                          <a:pt x="281" y="64"/>
                        </a:lnTo>
                        <a:lnTo>
                          <a:pt x="288" y="64"/>
                        </a:lnTo>
                        <a:lnTo>
                          <a:pt x="297" y="65"/>
                        </a:lnTo>
                        <a:lnTo>
                          <a:pt x="305" y="65"/>
                        </a:lnTo>
                        <a:lnTo>
                          <a:pt x="313" y="66"/>
                        </a:lnTo>
                        <a:lnTo>
                          <a:pt x="321" y="67"/>
                        </a:lnTo>
                        <a:lnTo>
                          <a:pt x="329" y="68"/>
                        </a:lnTo>
                        <a:lnTo>
                          <a:pt x="338" y="69"/>
                        </a:lnTo>
                        <a:lnTo>
                          <a:pt x="346" y="69"/>
                        </a:lnTo>
                        <a:lnTo>
                          <a:pt x="354" y="70"/>
                        </a:lnTo>
                        <a:lnTo>
                          <a:pt x="364" y="71"/>
                        </a:lnTo>
                        <a:lnTo>
                          <a:pt x="374" y="72"/>
                        </a:lnTo>
                        <a:lnTo>
                          <a:pt x="383" y="74"/>
                        </a:lnTo>
                        <a:lnTo>
                          <a:pt x="397" y="75"/>
                        </a:lnTo>
                        <a:lnTo>
                          <a:pt x="402" y="75"/>
                        </a:lnTo>
                        <a:lnTo>
                          <a:pt x="406" y="75"/>
                        </a:lnTo>
                        <a:lnTo>
                          <a:pt x="411" y="77"/>
                        </a:lnTo>
                        <a:lnTo>
                          <a:pt x="419" y="80"/>
                        </a:lnTo>
                        <a:lnTo>
                          <a:pt x="404" y="77"/>
                        </a:lnTo>
                        <a:lnTo>
                          <a:pt x="398" y="76"/>
                        </a:lnTo>
                        <a:lnTo>
                          <a:pt x="392" y="76"/>
                        </a:lnTo>
                        <a:lnTo>
                          <a:pt x="379" y="77"/>
                        </a:lnTo>
                        <a:lnTo>
                          <a:pt x="370" y="78"/>
                        </a:lnTo>
                        <a:lnTo>
                          <a:pt x="360" y="78"/>
                        </a:lnTo>
                        <a:lnTo>
                          <a:pt x="350" y="78"/>
                        </a:lnTo>
                        <a:lnTo>
                          <a:pt x="341" y="79"/>
                        </a:lnTo>
                        <a:lnTo>
                          <a:pt x="332" y="79"/>
                        </a:lnTo>
                        <a:lnTo>
                          <a:pt x="325" y="78"/>
                        </a:lnTo>
                        <a:lnTo>
                          <a:pt x="315" y="78"/>
                        </a:lnTo>
                        <a:lnTo>
                          <a:pt x="305" y="78"/>
                        </a:lnTo>
                        <a:lnTo>
                          <a:pt x="296" y="79"/>
                        </a:lnTo>
                        <a:lnTo>
                          <a:pt x="288" y="80"/>
                        </a:lnTo>
                        <a:lnTo>
                          <a:pt x="279" y="80"/>
                        </a:lnTo>
                        <a:lnTo>
                          <a:pt x="272" y="80"/>
                        </a:lnTo>
                        <a:lnTo>
                          <a:pt x="264" y="81"/>
                        </a:lnTo>
                        <a:lnTo>
                          <a:pt x="256" y="83"/>
                        </a:lnTo>
                        <a:lnTo>
                          <a:pt x="249" y="84"/>
                        </a:lnTo>
                        <a:lnTo>
                          <a:pt x="242" y="86"/>
                        </a:lnTo>
                        <a:lnTo>
                          <a:pt x="235" y="87"/>
                        </a:lnTo>
                        <a:lnTo>
                          <a:pt x="227" y="89"/>
                        </a:lnTo>
                        <a:lnTo>
                          <a:pt x="219" y="92"/>
                        </a:lnTo>
                        <a:lnTo>
                          <a:pt x="212" y="93"/>
                        </a:lnTo>
                        <a:lnTo>
                          <a:pt x="199" y="97"/>
                        </a:lnTo>
                        <a:lnTo>
                          <a:pt x="191" y="98"/>
                        </a:lnTo>
                        <a:lnTo>
                          <a:pt x="180" y="104"/>
                        </a:lnTo>
                        <a:lnTo>
                          <a:pt x="164" y="109"/>
                        </a:lnTo>
                        <a:lnTo>
                          <a:pt x="180" y="111"/>
                        </a:lnTo>
                        <a:lnTo>
                          <a:pt x="199" y="112"/>
                        </a:lnTo>
                        <a:lnTo>
                          <a:pt x="203" y="113"/>
                        </a:lnTo>
                        <a:lnTo>
                          <a:pt x="212" y="118"/>
                        </a:lnTo>
                        <a:lnTo>
                          <a:pt x="217" y="120"/>
                        </a:lnTo>
                        <a:lnTo>
                          <a:pt x="223" y="123"/>
                        </a:lnTo>
                        <a:lnTo>
                          <a:pt x="224" y="125"/>
                        </a:lnTo>
                        <a:lnTo>
                          <a:pt x="227" y="130"/>
                        </a:lnTo>
                        <a:lnTo>
                          <a:pt x="233" y="140"/>
                        </a:lnTo>
                        <a:lnTo>
                          <a:pt x="227" y="136"/>
                        </a:lnTo>
                        <a:lnTo>
                          <a:pt x="219" y="131"/>
                        </a:lnTo>
                        <a:lnTo>
                          <a:pt x="212" y="129"/>
                        </a:lnTo>
                        <a:lnTo>
                          <a:pt x="199" y="125"/>
                        </a:lnTo>
                        <a:lnTo>
                          <a:pt x="190" y="123"/>
                        </a:lnTo>
                        <a:lnTo>
                          <a:pt x="180" y="120"/>
                        </a:lnTo>
                        <a:lnTo>
                          <a:pt x="175" y="119"/>
                        </a:lnTo>
                        <a:lnTo>
                          <a:pt x="165" y="120"/>
                        </a:lnTo>
                        <a:lnTo>
                          <a:pt x="158" y="122"/>
                        </a:lnTo>
                        <a:lnTo>
                          <a:pt x="148" y="123"/>
                        </a:lnTo>
                        <a:lnTo>
                          <a:pt x="153" y="125"/>
                        </a:lnTo>
                        <a:lnTo>
                          <a:pt x="158" y="127"/>
                        </a:lnTo>
                        <a:lnTo>
                          <a:pt x="165" y="129"/>
                        </a:lnTo>
                        <a:lnTo>
                          <a:pt x="173" y="129"/>
                        </a:lnTo>
                        <a:lnTo>
                          <a:pt x="186" y="129"/>
                        </a:lnTo>
                        <a:lnTo>
                          <a:pt x="194" y="131"/>
                        </a:lnTo>
                        <a:lnTo>
                          <a:pt x="204" y="133"/>
                        </a:lnTo>
                        <a:lnTo>
                          <a:pt x="212" y="136"/>
                        </a:lnTo>
                        <a:lnTo>
                          <a:pt x="221" y="138"/>
                        </a:lnTo>
                        <a:lnTo>
                          <a:pt x="231" y="141"/>
                        </a:lnTo>
                        <a:lnTo>
                          <a:pt x="240" y="143"/>
                        </a:lnTo>
                        <a:lnTo>
                          <a:pt x="248" y="145"/>
                        </a:lnTo>
                        <a:lnTo>
                          <a:pt x="254" y="146"/>
                        </a:lnTo>
                        <a:lnTo>
                          <a:pt x="261" y="148"/>
                        </a:lnTo>
                        <a:lnTo>
                          <a:pt x="269" y="150"/>
                        </a:lnTo>
                        <a:lnTo>
                          <a:pt x="277" y="154"/>
                        </a:lnTo>
                        <a:lnTo>
                          <a:pt x="285" y="158"/>
                        </a:lnTo>
                        <a:lnTo>
                          <a:pt x="289" y="160"/>
                        </a:lnTo>
                        <a:lnTo>
                          <a:pt x="295" y="167"/>
                        </a:lnTo>
                        <a:lnTo>
                          <a:pt x="302" y="174"/>
                        </a:lnTo>
                        <a:lnTo>
                          <a:pt x="306" y="181"/>
                        </a:lnTo>
                        <a:lnTo>
                          <a:pt x="311" y="188"/>
                        </a:lnTo>
                        <a:lnTo>
                          <a:pt x="316" y="195"/>
                        </a:lnTo>
                        <a:lnTo>
                          <a:pt x="320" y="202"/>
                        </a:lnTo>
                        <a:lnTo>
                          <a:pt x="325" y="208"/>
                        </a:lnTo>
                        <a:lnTo>
                          <a:pt x="329" y="215"/>
                        </a:lnTo>
                        <a:lnTo>
                          <a:pt x="335" y="223"/>
                        </a:lnTo>
                        <a:lnTo>
                          <a:pt x="339" y="232"/>
                        </a:lnTo>
                        <a:lnTo>
                          <a:pt x="345" y="238"/>
                        </a:lnTo>
                        <a:lnTo>
                          <a:pt x="351" y="246"/>
                        </a:lnTo>
                        <a:lnTo>
                          <a:pt x="343" y="240"/>
                        </a:lnTo>
                        <a:lnTo>
                          <a:pt x="337" y="236"/>
                        </a:lnTo>
                        <a:lnTo>
                          <a:pt x="329" y="231"/>
                        </a:lnTo>
                        <a:lnTo>
                          <a:pt x="321" y="225"/>
                        </a:lnTo>
                        <a:lnTo>
                          <a:pt x="315" y="220"/>
                        </a:lnTo>
                        <a:lnTo>
                          <a:pt x="309" y="215"/>
                        </a:lnTo>
                        <a:lnTo>
                          <a:pt x="303" y="212"/>
                        </a:lnTo>
                        <a:lnTo>
                          <a:pt x="297" y="208"/>
                        </a:lnTo>
                        <a:lnTo>
                          <a:pt x="290" y="204"/>
                        </a:lnTo>
                        <a:lnTo>
                          <a:pt x="284" y="200"/>
                        </a:lnTo>
                        <a:lnTo>
                          <a:pt x="278" y="196"/>
                        </a:lnTo>
                        <a:lnTo>
                          <a:pt x="271" y="191"/>
                        </a:lnTo>
                        <a:lnTo>
                          <a:pt x="263" y="186"/>
                        </a:lnTo>
                        <a:lnTo>
                          <a:pt x="255" y="179"/>
                        </a:lnTo>
                        <a:lnTo>
                          <a:pt x="248" y="174"/>
                        </a:lnTo>
                        <a:lnTo>
                          <a:pt x="241" y="170"/>
                        </a:lnTo>
                        <a:lnTo>
                          <a:pt x="234" y="166"/>
                        </a:lnTo>
                        <a:lnTo>
                          <a:pt x="226" y="162"/>
                        </a:lnTo>
                        <a:lnTo>
                          <a:pt x="219" y="159"/>
                        </a:lnTo>
                        <a:lnTo>
                          <a:pt x="212" y="157"/>
                        </a:lnTo>
                        <a:lnTo>
                          <a:pt x="202" y="154"/>
                        </a:lnTo>
                        <a:lnTo>
                          <a:pt x="192" y="151"/>
                        </a:lnTo>
                        <a:lnTo>
                          <a:pt x="185" y="150"/>
                        </a:lnTo>
                        <a:lnTo>
                          <a:pt x="178" y="147"/>
                        </a:lnTo>
                        <a:lnTo>
                          <a:pt x="167" y="142"/>
                        </a:lnTo>
                        <a:lnTo>
                          <a:pt x="156" y="137"/>
                        </a:lnTo>
                        <a:lnTo>
                          <a:pt x="173" y="148"/>
                        </a:lnTo>
                        <a:lnTo>
                          <a:pt x="174" y="150"/>
                        </a:lnTo>
                        <a:lnTo>
                          <a:pt x="178" y="155"/>
                        </a:lnTo>
                        <a:lnTo>
                          <a:pt x="182" y="160"/>
                        </a:lnTo>
                        <a:lnTo>
                          <a:pt x="187" y="167"/>
                        </a:lnTo>
                        <a:lnTo>
                          <a:pt x="192" y="173"/>
                        </a:lnTo>
                        <a:lnTo>
                          <a:pt x="196" y="181"/>
                        </a:lnTo>
                        <a:lnTo>
                          <a:pt x="202" y="188"/>
                        </a:lnTo>
                        <a:lnTo>
                          <a:pt x="207" y="194"/>
                        </a:lnTo>
                        <a:lnTo>
                          <a:pt x="212" y="200"/>
                        </a:lnTo>
                        <a:lnTo>
                          <a:pt x="216" y="207"/>
                        </a:lnTo>
                        <a:lnTo>
                          <a:pt x="223" y="216"/>
                        </a:lnTo>
                        <a:lnTo>
                          <a:pt x="227" y="223"/>
                        </a:lnTo>
                        <a:lnTo>
                          <a:pt x="231" y="229"/>
                        </a:lnTo>
                        <a:lnTo>
                          <a:pt x="235" y="236"/>
                        </a:lnTo>
                        <a:lnTo>
                          <a:pt x="238" y="243"/>
                        </a:lnTo>
                        <a:lnTo>
                          <a:pt x="241" y="250"/>
                        </a:lnTo>
                        <a:lnTo>
                          <a:pt x="243" y="255"/>
                        </a:lnTo>
                        <a:lnTo>
                          <a:pt x="244" y="262"/>
                        </a:lnTo>
                        <a:lnTo>
                          <a:pt x="245" y="272"/>
                        </a:lnTo>
                        <a:lnTo>
                          <a:pt x="246" y="281"/>
                        </a:lnTo>
                        <a:lnTo>
                          <a:pt x="247" y="290"/>
                        </a:lnTo>
                        <a:lnTo>
                          <a:pt x="249" y="299"/>
                        </a:lnTo>
                        <a:lnTo>
                          <a:pt x="250" y="308"/>
                        </a:lnTo>
                        <a:lnTo>
                          <a:pt x="243" y="299"/>
                        </a:lnTo>
                        <a:lnTo>
                          <a:pt x="238" y="292"/>
                        </a:lnTo>
                        <a:lnTo>
                          <a:pt x="233" y="286"/>
                        </a:lnTo>
                        <a:lnTo>
                          <a:pt x="231" y="281"/>
                        </a:lnTo>
                        <a:lnTo>
                          <a:pt x="227" y="274"/>
                        </a:lnTo>
                        <a:lnTo>
                          <a:pt x="225" y="267"/>
                        </a:lnTo>
                        <a:lnTo>
                          <a:pt x="222" y="259"/>
                        </a:lnTo>
                        <a:lnTo>
                          <a:pt x="218" y="251"/>
                        </a:lnTo>
                        <a:lnTo>
                          <a:pt x="214" y="242"/>
                        </a:lnTo>
                        <a:lnTo>
                          <a:pt x="211" y="235"/>
                        </a:lnTo>
                        <a:lnTo>
                          <a:pt x="207" y="227"/>
                        </a:lnTo>
                        <a:lnTo>
                          <a:pt x="202" y="220"/>
                        </a:lnTo>
                        <a:lnTo>
                          <a:pt x="199" y="215"/>
                        </a:lnTo>
                        <a:lnTo>
                          <a:pt x="193" y="208"/>
                        </a:lnTo>
                        <a:lnTo>
                          <a:pt x="187" y="201"/>
                        </a:lnTo>
                        <a:lnTo>
                          <a:pt x="182" y="196"/>
                        </a:lnTo>
                        <a:lnTo>
                          <a:pt x="177" y="190"/>
                        </a:lnTo>
                        <a:lnTo>
                          <a:pt x="176" y="184"/>
                        </a:lnTo>
                        <a:lnTo>
                          <a:pt x="173" y="177"/>
                        </a:lnTo>
                        <a:lnTo>
                          <a:pt x="169" y="170"/>
                        </a:lnTo>
                        <a:lnTo>
                          <a:pt x="166" y="163"/>
                        </a:lnTo>
                        <a:lnTo>
                          <a:pt x="164" y="161"/>
                        </a:lnTo>
                        <a:lnTo>
                          <a:pt x="158" y="154"/>
                        </a:lnTo>
                        <a:lnTo>
                          <a:pt x="154" y="148"/>
                        </a:lnTo>
                        <a:lnTo>
                          <a:pt x="150" y="142"/>
                        </a:lnTo>
                        <a:lnTo>
                          <a:pt x="145" y="136"/>
                        </a:lnTo>
                        <a:lnTo>
                          <a:pt x="138" y="140"/>
                        </a:lnTo>
                        <a:lnTo>
                          <a:pt x="131" y="144"/>
                        </a:lnTo>
                        <a:lnTo>
                          <a:pt x="123" y="151"/>
                        </a:lnTo>
                        <a:lnTo>
                          <a:pt x="115" y="156"/>
                        </a:lnTo>
                        <a:lnTo>
                          <a:pt x="109" y="162"/>
                        </a:lnTo>
                        <a:lnTo>
                          <a:pt x="105" y="168"/>
                        </a:lnTo>
                        <a:lnTo>
                          <a:pt x="99" y="176"/>
                        </a:lnTo>
                        <a:lnTo>
                          <a:pt x="93" y="186"/>
                        </a:lnTo>
                        <a:lnTo>
                          <a:pt x="87" y="193"/>
                        </a:lnTo>
                        <a:lnTo>
                          <a:pt x="81" y="202"/>
                        </a:lnTo>
                        <a:lnTo>
                          <a:pt x="77" y="210"/>
                        </a:lnTo>
                        <a:lnTo>
                          <a:pt x="72" y="218"/>
                        </a:lnTo>
                        <a:lnTo>
                          <a:pt x="67" y="226"/>
                        </a:lnTo>
                        <a:lnTo>
                          <a:pt x="64" y="233"/>
                        </a:lnTo>
                        <a:lnTo>
                          <a:pt x="59" y="242"/>
                        </a:lnTo>
                        <a:lnTo>
                          <a:pt x="55" y="250"/>
                        </a:lnTo>
                        <a:lnTo>
                          <a:pt x="49" y="260"/>
                        </a:lnTo>
                        <a:lnTo>
                          <a:pt x="43" y="269"/>
                        </a:lnTo>
                        <a:lnTo>
                          <a:pt x="37" y="280"/>
                        </a:lnTo>
                        <a:lnTo>
                          <a:pt x="31" y="289"/>
                        </a:lnTo>
                        <a:lnTo>
                          <a:pt x="27" y="294"/>
                        </a:lnTo>
                        <a:lnTo>
                          <a:pt x="22" y="300"/>
                        </a:lnTo>
                        <a:lnTo>
                          <a:pt x="18" y="306"/>
                        </a:lnTo>
                        <a:lnTo>
                          <a:pt x="12" y="312"/>
                        </a:lnTo>
                        <a:lnTo>
                          <a:pt x="7" y="317"/>
                        </a:lnTo>
                        <a:lnTo>
                          <a:pt x="0" y="325"/>
                        </a:lnTo>
                        <a:lnTo>
                          <a:pt x="2" y="316"/>
                        </a:lnTo>
                        <a:lnTo>
                          <a:pt x="4" y="309"/>
                        </a:lnTo>
                        <a:lnTo>
                          <a:pt x="8" y="301"/>
                        </a:lnTo>
                        <a:lnTo>
                          <a:pt x="12" y="294"/>
                        </a:lnTo>
                        <a:lnTo>
                          <a:pt x="19" y="284"/>
                        </a:lnTo>
                        <a:lnTo>
                          <a:pt x="26" y="274"/>
                        </a:lnTo>
                        <a:lnTo>
                          <a:pt x="33" y="262"/>
                        </a:lnTo>
                        <a:lnTo>
                          <a:pt x="39" y="253"/>
                        </a:lnTo>
                        <a:lnTo>
                          <a:pt x="45" y="243"/>
                        </a:lnTo>
                        <a:lnTo>
                          <a:pt x="51" y="235"/>
                        </a:lnTo>
                        <a:lnTo>
                          <a:pt x="56" y="227"/>
                        </a:lnTo>
                        <a:lnTo>
                          <a:pt x="61" y="220"/>
                        </a:lnTo>
                        <a:lnTo>
                          <a:pt x="66" y="214"/>
                        </a:lnTo>
                        <a:lnTo>
                          <a:pt x="72" y="206"/>
                        </a:lnTo>
                        <a:lnTo>
                          <a:pt x="78" y="198"/>
                        </a:lnTo>
                        <a:lnTo>
                          <a:pt x="84" y="190"/>
                        </a:lnTo>
                        <a:lnTo>
                          <a:pt x="90" y="181"/>
                        </a:lnTo>
                        <a:lnTo>
                          <a:pt x="95" y="174"/>
                        </a:lnTo>
                        <a:lnTo>
                          <a:pt x="101" y="166"/>
                        </a:lnTo>
                        <a:lnTo>
                          <a:pt x="104" y="160"/>
                        </a:lnTo>
                        <a:lnTo>
                          <a:pt x="107" y="154"/>
                        </a:lnTo>
                        <a:lnTo>
                          <a:pt x="109" y="149"/>
                        </a:lnTo>
                        <a:lnTo>
                          <a:pt x="112" y="143"/>
                        </a:lnTo>
                        <a:lnTo>
                          <a:pt x="116" y="138"/>
                        </a:lnTo>
                        <a:lnTo>
                          <a:pt x="122" y="131"/>
                        </a:lnTo>
                        <a:lnTo>
                          <a:pt x="128" y="125"/>
                        </a:lnTo>
                        <a:lnTo>
                          <a:pt x="132" y="120"/>
                        </a:lnTo>
                        <a:lnTo>
                          <a:pt x="137" y="114"/>
                        </a:lnTo>
                        <a:lnTo>
                          <a:pt x="135" y="109"/>
                        </a:lnTo>
                        <a:lnTo>
                          <a:pt x="133" y="101"/>
                        </a:lnTo>
                        <a:lnTo>
                          <a:pt x="121" y="97"/>
                        </a:lnTo>
                        <a:lnTo>
                          <a:pt x="108" y="88"/>
                        </a:lnTo>
                        <a:lnTo>
                          <a:pt x="95" y="79"/>
                        </a:lnTo>
                        <a:lnTo>
                          <a:pt x="87" y="74"/>
                        </a:lnTo>
                        <a:lnTo>
                          <a:pt x="81" y="71"/>
                        </a:lnTo>
                        <a:lnTo>
                          <a:pt x="71" y="66"/>
                        </a:lnTo>
                        <a:lnTo>
                          <a:pt x="61" y="63"/>
                        </a:lnTo>
                        <a:lnTo>
                          <a:pt x="50" y="60"/>
                        </a:lnTo>
                        <a:lnTo>
                          <a:pt x="42" y="57"/>
                        </a:lnTo>
                        <a:lnTo>
                          <a:pt x="32" y="53"/>
                        </a:lnTo>
                        <a:lnTo>
                          <a:pt x="23" y="51"/>
                        </a:lnTo>
                        <a:lnTo>
                          <a:pt x="14" y="49"/>
                        </a:lnTo>
                        <a:lnTo>
                          <a:pt x="7" y="47"/>
                        </a:lnTo>
                        <a:lnTo>
                          <a:pt x="14" y="46"/>
                        </a:lnTo>
                        <a:lnTo>
                          <a:pt x="19" y="45"/>
                        </a:lnTo>
                        <a:lnTo>
                          <a:pt x="23" y="44"/>
                        </a:lnTo>
                        <a:lnTo>
                          <a:pt x="28" y="44"/>
                        </a:lnTo>
                        <a:lnTo>
                          <a:pt x="33" y="44"/>
                        </a:lnTo>
                        <a:lnTo>
                          <a:pt x="43" y="49"/>
                        </a:lnTo>
                        <a:lnTo>
                          <a:pt x="51" y="53"/>
                        </a:lnTo>
                        <a:lnTo>
                          <a:pt x="60" y="58"/>
                        </a:lnTo>
                        <a:lnTo>
                          <a:pt x="69" y="63"/>
                        </a:lnTo>
                        <a:lnTo>
                          <a:pt x="79" y="68"/>
                        </a:lnTo>
                        <a:lnTo>
                          <a:pt x="89" y="74"/>
                        </a:lnTo>
                        <a:lnTo>
                          <a:pt x="96" y="77"/>
                        </a:lnTo>
                        <a:lnTo>
                          <a:pt x="109" y="84"/>
                        </a:lnTo>
                        <a:lnTo>
                          <a:pt x="116" y="86"/>
                        </a:lnTo>
                        <a:lnTo>
                          <a:pt x="122" y="85"/>
                        </a:lnTo>
                        <a:lnTo>
                          <a:pt x="127" y="84"/>
                        </a:lnTo>
                        <a:lnTo>
                          <a:pt x="132" y="83"/>
                        </a:lnTo>
                      </a:path>
                    </a:pathLst>
                  </a:custGeom>
                  <a:solidFill>
                    <a:srgbClr val="037C03">
                      <a:alpha val="50195"/>
                    </a:srgbClr>
                  </a:solidFill>
                  <a:ln w="9525">
                    <a:noFill/>
                  </a:ln>
                </p:spPr>
                <p:txBody>
                  <a:bodyPr/>
                  <a:lstStyle/>
                  <a:p>
                    <a:endParaRPr lang="zh-CN" altLang="en-US"/>
                  </a:p>
                </p:txBody>
              </p:sp>
              <p:sp>
                <p:nvSpPr>
                  <p:cNvPr id="89133" name="Freeform 209"/>
                  <p:cNvSpPr/>
                  <p:nvPr/>
                </p:nvSpPr>
                <p:spPr>
                  <a:xfrm>
                    <a:off x="2175" y="1587"/>
                    <a:ext cx="38" cy="181"/>
                  </a:xfrm>
                  <a:custGeom>
                    <a:avLst/>
                    <a:gdLst>
                      <a:gd name="txL" fmla="*/ 0 w 38"/>
                      <a:gd name="txT" fmla="*/ 0 h 181"/>
                      <a:gd name="txR" fmla="*/ 38 w 38"/>
                      <a:gd name="txB" fmla="*/ 181 h 181"/>
                    </a:gdLst>
                    <a:ahLst/>
                    <a:cxnLst>
                      <a:cxn ang="0">
                        <a:pos x="20" y="0"/>
                      </a:cxn>
                      <a:cxn ang="0">
                        <a:pos x="24" y="8"/>
                      </a:cxn>
                      <a:cxn ang="0">
                        <a:pos x="27" y="14"/>
                      </a:cxn>
                      <a:cxn ang="0">
                        <a:pos x="33" y="22"/>
                      </a:cxn>
                      <a:cxn ang="0">
                        <a:pos x="35" y="30"/>
                      </a:cxn>
                      <a:cxn ang="0">
                        <a:pos x="36" y="41"/>
                      </a:cxn>
                      <a:cxn ang="0">
                        <a:pos x="36" y="53"/>
                      </a:cxn>
                      <a:cxn ang="0">
                        <a:pos x="37" y="61"/>
                      </a:cxn>
                      <a:cxn ang="0">
                        <a:pos x="36" y="70"/>
                      </a:cxn>
                      <a:cxn ang="0">
                        <a:pos x="35" y="81"/>
                      </a:cxn>
                      <a:cxn ang="0">
                        <a:pos x="33" y="91"/>
                      </a:cxn>
                      <a:cxn ang="0">
                        <a:pos x="30" y="106"/>
                      </a:cxn>
                      <a:cxn ang="0">
                        <a:pos x="28" y="114"/>
                      </a:cxn>
                      <a:cxn ang="0">
                        <a:pos x="23" y="124"/>
                      </a:cxn>
                      <a:cxn ang="0">
                        <a:pos x="17" y="135"/>
                      </a:cxn>
                      <a:cxn ang="0">
                        <a:pos x="12" y="145"/>
                      </a:cxn>
                      <a:cxn ang="0">
                        <a:pos x="7" y="155"/>
                      </a:cxn>
                      <a:cxn ang="0">
                        <a:pos x="3" y="163"/>
                      </a:cxn>
                      <a:cxn ang="0">
                        <a:pos x="0" y="180"/>
                      </a:cxn>
                      <a:cxn ang="0">
                        <a:pos x="1" y="163"/>
                      </a:cxn>
                      <a:cxn ang="0">
                        <a:pos x="3" y="152"/>
                      </a:cxn>
                      <a:cxn ang="0">
                        <a:pos x="4" y="141"/>
                      </a:cxn>
                      <a:cxn ang="0">
                        <a:pos x="5" y="130"/>
                      </a:cxn>
                      <a:cxn ang="0">
                        <a:pos x="7" y="116"/>
                      </a:cxn>
                      <a:cxn ang="0">
                        <a:pos x="9" y="106"/>
                      </a:cxn>
                      <a:cxn ang="0">
                        <a:pos x="12" y="96"/>
                      </a:cxn>
                      <a:cxn ang="0">
                        <a:pos x="15" y="87"/>
                      </a:cxn>
                      <a:cxn ang="0">
                        <a:pos x="17" y="77"/>
                      </a:cxn>
                      <a:cxn ang="0">
                        <a:pos x="20" y="67"/>
                      </a:cxn>
                      <a:cxn ang="0">
                        <a:pos x="21" y="57"/>
                      </a:cxn>
                      <a:cxn ang="0">
                        <a:pos x="22" y="49"/>
                      </a:cxn>
                      <a:cxn ang="0">
                        <a:pos x="23" y="39"/>
                      </a:cxn>
                      <a:cxn ang="0">
                        <a:pos x="23" y="28"/>
                      </a:cxn>
                      <a:cxn ang="0">
                        <a:pos x="23" y="14"/>
                      </a:cxn>
                      <a:cxn ang="0">
                        <a:pos x="22" y="8"/>
                      </a:cxn>
                      <a:cxn ang="0">
                        <a:pos x="20" y="0"/>
                      </a:cxn>
                    </a:cxnLst>
                    <a:rect l="txL" t="txT" r="txR" b="txB"/>
                    <a:pathLst>
                      <a:path w="38" h="181">
                        <a:moveTo>
                          <a:pt x="20" y="0"/>
                        </a:moveTo>
                        <a:lnTo>
                          <a:pt x="24" y="8"/>
                        </a:lnTo>
                        <a:lnTo>
                          <a:pt x="27" y="14"/>
                        </a:lnTo>
                        <a:lnTo>
                          <a:pt x="33" y="22"/>
                        </a:lnTo>
                        <a:lnTo>
                          <a:pt x="35" y="30"/>
                        </a:lnTo>
                        <a:lnTo>
                          <a:pt x="36" y="41"/>
                        </a:lnTo>
                        <a:lnTo>
                          <a:pt x="36" y="53"/>
                        </a:lnTo>
                        <a:lnTo>
                          <a:pt x="37" y="61"/>
                        </a:lnTo>
                        <a:lnTo>
                          <a:pt x="36" y="70"/>
                        </a:lnTo>
                        <a:lnTo>
                          <a:pt x="35" y="81"/>
                        </a:lnTo>
                        <a:lnTo>
                          <a:pt x="33" y="91"/>
                        </a:lnTo>
                        <a:lnTo>
                          <a:pt x="30" y="106"/>
                        </a:lnTo>
                        <a:lnTo>
                          <a:pt x="28" y="114"/>
                        </a:lnTo>
                        <a:lnTo>
                          <a:pt x="23" y="124"/>
                        </a:lnTo>
                        <a:lnTo>
                          <a:pt x="17" y="135"/>
                        </a:lnTo>
                        <a:lnTo>
                          <a:pt x="12" y="145"/>
                        </a:lnTo>
                        <a:lnTo>
                          <a:pt x="7" y="155"/>
                        </a:lnTo>
                        <a:lnTo>
                          <a:pt x="3" y="163"/>
                        </a:lnTo>
                        <a:lnTo>
                          <a:pt x="0" y="180"/>
                        </a:lnTo>
                        <a:lnTo>
                          <a:pt x="1" y="163"/>
                        </a:lnTo>
                        <a:lnTo>
                          <a:pt x="3" y="152"/>
                        </a:lnTo>
                        <a:lnTo>
                          <a:pt x="4" y="141"/>
                        </a:lnTo>
                        <a:lnTo>
                          <a:pt x="5" y="130"/>
                        </a:lnTo>
                        <a:lnTo>
                          <a:pt x="7" y="116"/>
                        </a:lnTo>
                        <a:lnTo>
                          <a:pt x="9" y="106"/>
                        </a:lnTo>
                        <a:lnTo>
                          <a:pt x="12" y="96"/>
                        </a:lnTo>
                        <a:lnTo>
                          <a:pt x="15" y="87"/>
                        </a:lnTo>
                        <a:lnTo>
                          <a:pt x="17" y="77"/>
                        </a:lnTo>
                        <a:lnTo>
                          <a:pt x="20" y="67"/>
                        </a:lnTo>
                        <a:lnTo>
                          <a:pt x="21" y="57"/>
                        </a:lnTo>
                        <a:lnTo>
                          <a:pt x="22" y="49"/>
                        </a:lnTo>
                        <a:lnTo>
                          <a:pt x="23" y="39"/>
                        </a:lnTo>
                        <a:lnTo>
                          <a:pt x="23" y="28"/>
                        </a:lnTo>
                        <a:lnTo>
                          <a:pt x="23" y="14"/>
                        </a:lnTo>
                        <a:lnTo>
                          <a:pt x="22" y="8"/>
                        </a:lnTo>
                        <a:lnTo>
                          <a:pt x="20" y="0"/>
                        </a:lnTo>
                      </a:path>
                    </a:pathLst>
                  </a:custGeom>
                  <a:solidFill>
                    <a:srgbClr val="037C03">
                      <a:alpha val="50195"/>
                    </a:srgbClr>
                  </a:solidFill>
                  <a:ln w="9525">
                    <a:noFill/>
                  </a:ln>
                </p:spPr>
                <p:txBody>
                  <a:bodyPr/>
                  <a:lstStyle/>
                  <a:p>
                    <a:endParaRPr lang="zh-CN" altLang="en-US"/>
                  </a:p>
                </p:txBody>
              </p:sp>
              <p:sp>
                <p:nvSpPr>
                  <p:cNvPr id="89134" name="Freeform 210"/>
                  <p:cNvSpPr/>
                  <p:nvPr/>
                </p:nvSpPr>
                <p:spPr>
                  <a:xfrm>
                    <a:off x="1991" y="1486"/>
                    <a:ext cx="168" cy="48"/>
                  </a:xfrm>
                  <a:custGeom>
                    <a:avLst/>
                    <a:gdLst>
                      <a:gd name="txL" fmla="*/ 0 w 168"/>
                      <a:gd name="txT" fmla="*/ 0 h 48"/>
                      <a:gd name="txR" fmla="*/ 168 w 168"/>
                      <a:gd name="txB" fmla="*/ 48 h 48"/>
                    </a:gdLst>
                    <a:ahLst/>
                    <a:cxnLst>
                      <a:cxn ang="0">
                        <a:pos x="167" y="47"/>
                      </a:cxn>
                      <a:cxn ang="0">
                        <a:pos x="164" y="38"/>
                      </a:cxn>
                      <a:cxn ang="0">
                        <a:pos x="160" y="31"/>
                      </a:cxn>
                      <a:cxn ang="0">
                        <a:pos x="157" y="30"/>
                      </a:cxn>
                      <a:cxn ang="0">
                        <a:pos x="150" y="28"/>
                      </a:cxn>
                      <a:cxn ang="0">
                        <a:pos x="144" y="26"/>
                      </a:cxn>
                      <a:cxn ang="0">
                        <a:pos x="137" y="28"/>
                      </a:cxn>
                      <a:cxn ang="0">
                        <a:pos x="130" y="29"/>
                      </a:cxn>
                      <a:cxn ang="0">
                        <a:pos x="121" y="25"/>
                      </a:cxn>
                      <a:cxn ang="0">
                        <a:pos x="109" y="21"/>
                      </a:cxn>
                      <a:cxn ang="0">
                        <a:pos x="98" y="17"/>
                      </a:cxn>
                      <a:cxn ang="0">
                        <a:pos x="91" y="15"/>
                      </a:cxn>
                      <a:cxn ang="0">
                        <a:pos x="78" y="12"/>
                      </a:cxn>
                      <a:cxn ang="0">
                        <a:pos x="66" y="8"/>
                      </a:cxn>
                      <a:cxn ang="0">
                        <a:pos x="54" y="4"/>
                      </a:cxn>
                      <a:cxn ang="0">
                        <a:pos x="41" y="1"/>
                      </a:cxn>
                      <a:cxn ang="0">
                        <a:pos x="28" y="0"/>
                      </a:cxn>
                      <a:cxn ang="0">
                        <a:pos x="15" y="0"/>
                      </a:cxn>
                      <a:cxn ang="0">
                        <a:pos x="12" y="1"/>
                      </a:cxn>
                      <a:cxn ang="0">
                        <a:pos x="7" y="4"/>
                      </a:cxn>
                      <a:cxn ang="0">
                        <a:pos x="3" y="7"/>
                      </a:cxn>
                      <a:cxn ang="0">
                        <a:pos x="0" y="10"/>
                      </a:cxn>
                      <a:cxn ang="0">
                        <a:pos x="5" y="10"/>
                      </a:cxn>
                      <a:cxn ang="0">
                        <a:pos x="12" y="11"/>
                      </a:cxn>
                      <a:cxn ang="0">
                        <a:pos x="18" y="12"/>
                      </a:cxn>
                      <a:cxn ang="0">
                        <a:pos x="23" y="11"/>
                      </a:cxn>
                      <a:cxn ang="0">
                        <a:pos x="29" y="10"/>
                      </a:cxn>
                      <a:cxn ang="0">
                        <a:pos x="38" y="10"/>
                      </a:cxn>
                      <a:cxn ang="0">
                        <a:pos x="50" y="10"/>
                      </a:cxn>
                      <a:cxn ang="0">
                        <a:pos x="60" y="12"/>
                      </a:cxn>
                      <a:cxn ang="0">
                        <a:pos x="70" y="13"/>
                      </a:cxn>
                      <a:cxn ang="0">
                        <a:pos x="79" y="15"/>
                      </a:cxn>
                      <a:cxn ang="0">
                        <a:pos x="89" y="16"/>
                      </a:cxn>
                      <a:cxn ang="0">
                        <a:pos x="98" y="18"/>
                      </a:cxn>
                      <a:cxn ang="0">
                        <a:pos x="106" y="22"/>
                      </a:cxn>
                      <a:cxn ang="0">
                        <a:pos x="114" y="26"/>
                      </a:cxn>
                      <a:cxn ang="0">
                        <a:pos x="123" y="30"/>
                      </a:cxn>
                      <a:cxn ang="0">
                        <a:pos x="127" y="30"/>
                      </a:cxn>
                      <a:cxn ang="0">
                        <a:pos x="131" y="30"/>
                      </a:cxn>
                      <a:cxn ang="0">
                        <a:pos x="137" y="33"/>
                      </a:cxn>
                      <a:cxn ang="0">
                        <a:pos x="144" y="36"/>
                      </a:cxn>
                      <a:cxn ang="0">
                        <a:pos x="150" y="38"/>
                      </a:cxn>
                      <a:cxn ang="0">
                        <a:pos x="158" y="42"/>
                      </a:cxn>
                      <a:cxn ang="0">
                        <a:pos x="164" y="45"/>
                      </a:cxn>
                      <a:cxn ang="0">
                        <a:pos x="167" y="47"/>
                      </a:cxn>
                    </a:cxnLst>
                    <a:rect l="txL" t="txT" r="txR" b="txB"/>
                    <a:pathLst>
                      <a:path w="168" h="48">
                        <a:moveTo>
                          <a:pt x="167" y="47"/>
                        </a:moveTo>
                        <a:lnTo>
                          <a:pt x="164" y="38"/>
                        </a:lnTo>
                        <a:lnTo>
                          <a:pt x="160" y="31"/>
                        </a:lnTo>
                        <a:lnTo>
                          <a:pt x="157" y="30"/>
                        </a:lnTo>
                        <a:lnTo>
                          <a:pt x="150" y="28"/>
                        </a:lnTo>
                        <a:lnTo>
                          <a:pt x="144" y="26"/>
                        </a:lnTo>
                        <a:lnTo>
                          <a:pt x="137" y="28"/>
                        </a:lnTo>
                        <a:lnTo>
                          <a:pt x="130" y="29"/>
                        </a:lnTo>
                        <a:lnTo>
                          <a:pt x="121" y="25"/>
                        </a:lnTo>
                        <a:lnTo>
                          <a:pt x="109" y="21"/>
                        </a:lnTo>
                        <a:lnTo>
                          <a:pt x="98" y="17"/>
                        </a:lnTo>
                        <a:lnTo>
                          <a:pt x="91" y="15"/>
                        </a:lnTo>
                        <a:lnTo>
                          <a:pt x="78" y="12"/>
                        </a:lnTo>
                        <a:lnTo>
                          <a:pt x="66" y="8"/>
                        </a:lnTo>
                        <a:lnTo>
                          <a:pt x="54" y="4"/>
                        </a:lnTo>
                        <a:lnTo>
                          <a:pt x="41" y="1"/>
                        </a:lnTo>
                        <a:lnTo>
                          <a:pt x="28" y="0"/>
                        </a:lnTo>
                        <a:lnTo>
                          <a:pt x="15" y="0"/>
                        </a:lnTo>
                        <a:lnTo>
                          <a:pt x="12" y="1"/>
                        </a:lnTo>
                        <a:lnTo>
                          <a:pt x="7" y="4"/>
                        </a:lnTo>
                        <a:lnTo>
                          <a:pt x="3" y="7"/>
                        </a:lnTo>
                        <a:lnTo>
                          <a:pt x="0" y="10"/>
                        </a:lnTo>
                        <a:lnTo>
                          <a:pt x="5" y="10"/>
                        </a:lnTo>
                        <a:lnTo>
                          <a:pt x="12" y="11"/>
                        </a:lnTo>
                        <a:lnTo>
                          <a:pt x="18" y="12"/>
                        </a:lnTo>
                        <a:lnTo>
                          <a:pt x="23" y="11"/>
                        </a:lnTo>
                        <a:lnTo>
                          <a:pt x="29" y="10"/>
                        </a:lnTo>
                        <a:lnTo>
                          <a:pt x="38" y="10"/>
                        </a:lnTo>
                        <a:lnTo>
                          <a:pt x="50" y="10"/>
                        </a:lnTo>
                        <a:lnTo>
                          <a:pt x="60" y="12"/>
                        </a:lnTo>
                        <a:lnTo>
                          <a:pt x="70" y="13"/>
                        </a:lnTo>
                        <a:lnTo>
                          <a:pt x="79" y="15"/>
                        </a:lnTo>
                        <a:lnTo>
                          <a:pt x="89" y="16"/>
                        </a:lnTo>
                        <a:lnTo>
                          <a:pt x="98" y="18"/>
                        </a:lnTo>
                        <a:lnTo>
                          <a:pt x="106" y="22"/>
                        </a:lnTo>
                        <a:lnTo>
                          <a:pt x="114" y="26"/>
                        </a:lnTo>
                        <a:lnTo>
                          <a:pt x="123" y="30"/>
                        </a:lnTo>
                        <a:lnTo>
                          <a:pt x="127" y="30"/>
                        </a:lnTo>
                        <a:lnTo>
                          <a:pt x="131" y="30"/>
                        </a:lnTo>
                        <a:lnTo>
                          <a:pt x="137" y="33"/>
                        </a:lnTo>
                        <a:lnTo>
                          <a:pt x="144" y="36"/>
                        </a:lnTo>
                        <a:lnTo>
                          <a:pt x="150" y="38"/>
                        </a:lnTo>
                        <a:lnTo>
                          <a:pt x="158" y="42"/>
                        </a:lnTo>
                        <a:lnTo>
                          <a:pt x="164" y="45"/>
                        </a:lnTo>
                        <a:lnTo>
                          <a:pt x="167" y="47"/>
                        </a:lnTo>
                      </a:path>
                    </a:pathLst>
                  </a:custGeom>
                  <a:solidFill>
                    <a:srgbClr val="037C03">
                      <a:alpha val="50195"/>
                    </a:srgbClr>
                  </a:solidFill>
                  <a:ln w="9525">
                    <a:noFill/>
                  </a:ln>
                </p:spPr>
                <p:txBody>
                  <a:bodyPr/>
                  <a:lstStyle/>
                  <a:p>
                    <a:endParaRPr lang="zh-CN" altLang="en-US"/>
                  </a:p>
                </p:txBody>
              </p:sp>
              <p:sp>
                <p:nvSpPr>
                  <p:cNvPr id="89135" name="Freeform 211"/>
                  <p:cNvSpPr/>
                  <p:nvPr/>
                </p:nvSpPr>
                <p:spPr>
                  <a:xfrm>
                    <a:off x="1985" y="1514"/>
                    <a:ext cx="173" cy="20"/>
                  </a:xfrm>
                  <a:custGeom>
                    <a:avLst/>
                    <a:gdLst>
                      <a:gd name="txL" fmla="*/ 0 w 173"/>
                      <a:gd name="txT" fmla="*/ 0 h 20"/>
                      <a:gd name="txR" fmla="*/ 173 w 173"/>
                      <a:gd name="txB" fmla="*/ 20 h 20"/>
                    </a:gdLst>
                    <a:ahLst/>
                    <a:cxnLst>
                      <a:cxn ang="0">
                        <a:pos x="172" y="19"/>
                      </a:cxn>
                      <a:cxn ang="0">
                        <a:pos x="167" y="17"/>
                      </a:cxn>
                      <a:cxn ang="0">
                        <a:pos x="163" y="15"/>
                      </a:cxn>
                      <a:cxn ang="0">
                        <a:pos x="157" y="13"/>
                      </a:cxn>
                      <a:cxn ang="0">
                        <a:pos x="152" y="11"/>
                      </a:cxn>
                      <a:cxn ang="0">
                        <a:pos x="146" y="9"/>
                      </a:cxn>
                      <a:cxn ang="0">
                        <a:pos x="138" y="6"/>
                      </a:cxn>
                      <a:cxn ang="0">
                        <a:pos x="131" y="2"/>
                      </a:cxn>
                      <a:cxn ang="0">
                        <a:pos x="125" y="2"/>
                      </a:cxn>
                      <a:cxn ang="0">
                        <a:pos x="118" y="3"/>
                      </a:cxn>
                      <a:cxn ang="0">
                        <a:pos x="108" y="5"/>
                      </a:cxn>
                      <a:cxn ang="0">
                        <a:pos x="103" y="5"/>
                      </a:cxn>
                      <a:cxn ang="0">
                        <a:pos x="91" y="3"/>
                      </a:cxn>
                      <a:cxn ang="0">
                        <a:pos x="77" y="1"/>
                      </a:cxn>
                      <a:cxn ang="0">
                        <a:pos x="67" y="0"/>
                      </a:cxn>
                      <a:cxn ang="0">
                        <a:pos x="55" y="0"/>
                      </a:cxn>
                      <a:cxn ang="0">
                        <a:pos x="43" y="0"/>
                      </a:cxn>
                      <a:cxn ang="0">
                        <a:pos x="35" y="1"/>
                      </a:cxn>
                      <a:cxn ang="0">
                        <a:pos x="26" y="2"/>
                      </a:cxn>
                      <a:cxn ang="0">
                        <a:pos x="18" y="3"/>
                      </a:cxn>
                      <a:cxn ang="0">
                        <a:pos x="9" y="4"/>
                      </a:cxn>
                      <a:cxn ang="0">
                        <a:pos x="8" y="8"/>
                      </a:cxn>
                      <a:cxn ang="0">
                        <a:pos x="6" y="11"/>
                      </a:cxn>
                      <a:cxn ang="0">
                        <a:pos x="4" y="14"/>
                      </a:cxn>
                      <a:cxn ang="0">
                        <a:pos x="0" y="16"/>
                      </a:cxn>
                      <a:cxn ang="0">
                        <a:pos x="7" y="15"/>
                      </a:cxn>
                      <a:cxn ang="0">
                        <a:pos x="15" y="13"/>
                      </a:cxn>
                      <a:cxn ang="0">
                        <a:pos x="21" y="12"/>
                      </a:cxn>
                      <a:cxn ang="0">
                        <a:pos x="29" y="11"/>
                      </a:cxn>
                      <a:cxn ang="0">
                        <a:pos x="36" y="10"/>
                      </a:cxn>
                      <a:cxn ang="0">
                        <a:pos x="49" y="9"/>
                      </a:cxn>
                      <a:cxn ang="0">
                        <a:pos x="62" y="8"/>
                      </a:cxn>
                      <a:cxn ang="0">
                        <a:pos x="77" y="7"/>
                      </a:cxn>
                      <a:cxn ang="0">
                        <a:pos x="92" y="6"/>
                      </a:cxn>
                      <a:cxn ang="0">
                        <a:pos x="106" y="6"/>
                      </a:cxn>
                      <a:cxn ang="0">
                        <a:pos x="118" y="7"/>
                      </a:cxn>
                      <a:cxn ang="0">
                        <a:pos x="126" y="9"/>
                      </a:cxn>
                      <a:cxn ang="0">
                        <a:pos x="135" y="11"/>
                      </a:cxn>
                      <a:cxn ang="0">
                        <a:pos x="145" y="13"/>
                      </a:cxn>
                      <a:cxn ang="0">
                        <a:pos x="155" y="16"/>
                      </a:cxn>
                      <a:cxn ang="0">
                        <a:pos x="163" y="17"/>
                      </a:cxn>
                      <a:cxn ang="0">
                        <a:pos x="172" y="19"/>
                      </a:cxn>
                    </a:cxnLst>
                    <a:rect l="txL" t="txT" r="txR" b="txB"/>
                    <a:pathLst>
                      <a:path w="173" h="20">
                        <a:moveTo>
                          <a:pt x="172" y="19"/>
                        </a:moveTo>
                        <a:lnTo>
                          <a:pt x="167" y="17"/>
                        </a:lnTo>
                        <a:lnTo>
                          <a:pt x="163" y="15"/>
                        </a:lnTo>
                        <a:lnTo>
                          <a:pt x="157" y="13"/>
                        </a:lnTo>
                        <a:lnTo>
                          <a:pt x="152" y="11"/>
                        </a:lnTo>
                        <a:lnTo>
                          <a:pt x="146" y="9"/>
                        </a:lnTo>
                        <a:lnTo>
                          <a:pt x="138" y="6"/>
                        </a:lnTo>
                        <a:lnTo>
                          <a:pt x="131" y="2"/>
                        </a:lnTo>
                        <a:lnTo>
                          <a:pt x="125" y="2"/>
                        </a:lnTo>
                        <a:lnTo>
                          <a:pt x="118" y="3"/>
                        </a:lnTo>
                        <a:lnTo>
                          <a:pt x="108" y="5"/>
                        </a:lnTo>
                        <a:lnTo>
                          <a:pt x="103" y="5"/>
                        </a:lnTo>
                        <a:lnTo>
                          <a:pt x="91" y="3"/>
                        </a:lnTo>
                        <a:lnTo>
                          <a:pt x="77" y="1"/>
                        </a:lnTo>
                        <a:lnTo>
                          <a:pt x="67" y="0"/>
                        </a:lnTo>
                        <a:lnTo>
                          <a:pt x="55" y="0"/>
                        </a:lnTo>
                        <a:lnTo>
                          <a:pt x="43" y="0"/>
                        </a:lnTo>
                        <a:lnTo>
                          <a:pt x="35" y="1"/>
                        </a:lnTo>
                        <a:lnTo>
                          <a:pt x="26" y="2"/>
                        </a:lnTo>
                        <a:lnTo>
                          <a:pt x="18" y="3"/>
                        </a:lnTo>
                        <a:lnTo>
                          <a:pt x="9" y="4"/>
                        </a:lnTo>
                        <a:lnTo>
                          <a:pt x="8" y="8"/>
                        </a:lnTo>
                        <a:lnTo>
                          <a:pt x="6" y="11"/>
                        </a:lnTo>
                        <a:lnTo>
                          <a:pt x="4" y="14"/>
                        </a:lnTo>
                        <a:lnTo>
                          <a:pt x="0" y="16"/>
                        </a:lnTo>
                        <a:lnTo>
                          <a:pt x="7" y="15"/>
                        </a:lnTo>
                        <a:lnTo>
                          <a:pt x="15" y="13"/>
                        </a:lnTo>
                        <a:lnTo>
                          <a:pt x="21" y="12"/>
                        </a:lnTo>
                        <a:lnTo>
                          <a:pt x="29" y="11"/>
                        </a:lnTo>
                        <a:lnTo>
                          <a:pt x="36" y="10"/>
                        </a:lnTo>
                        <a:lnTo>
                          <a:pt x="49" y="9"/>
                        </a:lnTo>
                        <a:lnTo>
                          <a:pt x="62" y="8"/>
                        </a:lnTo>
                        <a:lnTo>
                          <a:pt x="77" y="7"/>
                        </a:lnTo>
                        <a:lnTo>
                          <a:pt x="92" y="6"/>
                        </a:lnTo>
                        <a:lnTo>
                          <a:pt x="106" y="6"/>
                        </a:lnTo>
                        <a:lnTo>
                          <a:pt x="118" y="7"/>
                        </a:lnTo>
                        <a:lnTo>
                          <a:pt x="126" y="9"/>
                        </a:lnTo>
                        <a:lnTo>
                          <a:pt x="135" y="11"/>
                        </a:lnTo>
                        <a:lnTo>
                          <a:pt x="145" y="13"/>
                        </a:lnTo>
                        <a:lnTo>
                          <a:pt x="155" y="16"/>
                        </a:lnTo>
                        <a:lnTo>
                          <a:pt x="163" y="17"/>
                        </a:lnTo>
                        <a:lnTo>
                          <a:pt x="172" y="19"/>
                        </a:lnTo>
                      </a:path>
                    </a:pathLst>
                  </a:custGeom>
                  <a:solidFill>
                    <a:srgbClr val="037C03">
                      <a:alpha val="50195"/>
                    </a:srgbClr>
                  </a:solidFill>
                  <a:ln w="9525">
                    <a:noFill/>
                  </a:ln>
                </p:spPr>
                <p:txBody>
                  <a:bodyPr/>
                  <a:lstStyle/>
                  <a:p>
                    <a:endParaRPr lang="zh-CN" altLang="en-US"/>
                  </a:p>
                </p:txBody>
              </p:sp>
            </p:grpSp>
          </p:grpSp>
        </p:grpSp>
      </p:grpSp>
      <p:grpSp>
        <p:nvGrpSpPr>
          <p:cNvPr id="89102" name="Group 212"/>
          <p:cNvGrpSpPr/>
          <p:nvPr/>
        </p:nvGrpSpPr>
        <p:grpSpPr>
          <a:xfrm>
            <a:off x="7380288" y="3644900"/>
            <a:ext cx="1371600" cy="1600200"/>
            <a:chOff x="0" y="3182"/>
            <a:chExt cx="808" cy="998"/>
          </a:xfrm>
        </p:grpSpPr>
        <p:grpSp>
          <p:nvGrpSpPr>
            <p:cNvPr id="89103" name="Group 213"/>
            <p:cNvGrpSpPr/>
            <p:nvPr/>
          </p:nvGrpSpPr>
          <p:grpSpPr>
            <a:xfrm>
              <a:off x="0" y="3182"/>
              <a:ext cx="506" cy="927"/>
              <a:chOff x="1685" y="1023"/>
              <a:chExt cx="506" cy="927"/>
            </a:xfrm>
          </p:grpSpPr>
          <p:sp>
            <p:nvSpPr>
              <p:cNvPr id="89116" name="Freeform 214"/>
              <p:cNvSpPr/>
              <p:nvPr/>
            </p:nvSpPr>
            <p:spPr>
              <a:xfrm>
                <a:off x="1733" y="1329"/>
                <a:ext cx="76" cy="621"/>
              </a:xfrm>
              <a:custGeom>
                <a:avLst/>
                <a:gdLst>
                  <a:gd name="txL" fmla="*/ 0 w 76"/>
                  <a:gd name="txT" fmla="*/ 0 h 621"/>
                  <a:gd name="txR" fmla="*/ 76 w 76"/>
                  <a:gd name="txB" fmla="*/ 621 h 621"/>
                </a:gdLst>
                <a:ahLst/>
                <a:cxnLst>
                  <a:cxn ang="0">
                    <a:pos x="0" y="54"/>
                  </a:cxn>
                  <a:cxn ang="0">
                    <a:pos x="11" y="269"/>
                  </a:cxn>
                  <a:cxn ang="0">
                    <a:pos x="22" y="442"/>
                  </a:cxn>
                  <a:cxn ang="0">
                    <a:pos x="30" y="570"/>
                  </a:cxn>
                  <a:cxn ang="0">
                    <a:pos x="28" y="620"/>
                  </a:cxn>
                  <a:cxn ang="0">
                    <a:pos x="44" y="620"/>
                  </a:cxn>
                  <a:cxn ang="0">
                    <a:pos x="49" y="546"/>
                  </a:cxn>
                  <a:cxn ang="0">
                    <a:pos x="52" y="434"/>
                  </a:cxn>
                  <a:cxn ang="0">
                    <a:pos x="58" y="329"/>
                  </a:cxn>
                  <a:cxn ang="0">
                    <a:pos x="61" y="250"/>
                  </a:cxn>
                  <a:cxn ang="0">
                    <a:pos x="67" y="135"/>
                  </a:cxn>
                  <a:cxn ang="0">
                    <a:pos x="75" y="36"/>
                  </a:cxn>
                  <a:cxn ang="0">
                    <a:pos x="70" y="11"/>
                  </a:cxn>
                  <a:cxn ang="0">
                    <a:pos x="62" y="0"/>
                  </a:cxn>
                  <a:cxn ang="0">
                    <a:pos x="53" y="121"/>
                  </a:cxn>
                  <a:cxn ang="0">
                    <a:pos x="45" y="224"/>
                  </a:cxn>
                  <a:cxn ang="0">
                    <a:pos x="43" y="305"/>
                  </a:cxn>
                  <a:cxn ang="0">
                    <a:pos x="40" y="390"/>
                  </a:cxn>
                  <a:cxn ang="0">
                    <a:pos x="34" y="475"/>
                  </a:cxn>
                  <a:cxn ang="0">
                    <a:pos x="25" y="327"/>
                  </a:cxn>
                  <a:cxn ang="0">
                    <a:pos x="15" y="187"/>
                  </a:cxn>
                  <a:cxn ang="0">
                    <a:pos x="0" y="54"/>
                  </a:cxn>
                </a:cxnLst>
                <a:rect l="txL" t="txT" r="txR" b="txB"/>
                <a:pathLst>
                  <a:path w="76" h="621">
                    <a:moveTo>
                      <a:pt x="0" y="54"/>
                    </a:moveTo>
                    <a:lnTo>
                      <a:pt x="11" y="269"/>
                    </a:lnTo>
                    <a:lnTo>
                      <a:pt x="22" y="442"/>
                    </a:lnTo>
                    <a:lnTo>
                      <a:pt x="30" y="570"/>
                    </a:lnTo>
                    <a:lnTo>
                      <a:pt x="28" y="620"/>
                    </a:lnTo>
                    <a:lnTo>
                      <a:pt x="44" y="620"/>
                    </a:lnTo>
                    <a:lnTo>
                      <a:pt x="49" y="546"/>
                    </a:lnTo>
                    <a:lnTo>
                      <a:pt x="52" y="434"/>
                    </a:lnTo>
                    <a:lnTo>
                      <a:pt x="58" y="329"/>
                    </a:lnTo>
                    <a:lnTo>
                      <a:pt x="61" y="250"/>
                    </a:lnTo>
                    <a:lnTo>
                      <a:pt x="67" y="135"/>
                    </a:lnTo>
                    <a:lnTo>
                      <a:pt x="75" y="36"/>
                    </a:lnTo>
                    <a:lnTo>
                      <a:pt x="70" y="11"/>
                    </a:lnTo>
                    <a:lnTo>
                      <a:pt x="62" y="0"/>
                    </a:lnTo>
                    <a:lnTo>
                      <a:pt x="53" y="121"/>
                    </a:lnTo>
                    <a:lnTo>
                      <a:pt x="45" y="224"/>
                    </a:lnTo>
                    <a:lnTo>
                      <a:pt x="43" y="305"/>
                    </a:lnTo>
                    <a:lnTo>
                      <a:pt x="40" y="390"/>
                    </a:lnTo>
                    <a:lnTo>
                      <a:pt x="34" y="475"/>
                    </a:lnTo>
                    <a:lnTo>
                      <a:pt x="25" y="327"/>
                    </a:lnTo>
                    <a:lnTo>
                      <a:pt x="15" y="187"/>
                    </a:lnTo>
                    <a:lnTo>
                      <a:pt x="0" y="54"/>
                    </a:lnTo>
                  </a:path>
                </a:pathLst>
              </a:custGeom>
              <a:solidFill>
                <a:srgbClr val="3C0023">
                  <a:alpha val="50195"/>
                </a:srgbClr>
              </a:solidFill>
              <a:ln w="9525">
                <a:noFill/>
              </a:ln>
            </p:spPr>
            <p:txBody>
              <a:bodyPr/>
              <a:lstStyle/>
              <a:p>
                <a:endParaRPr lang="zh-CN" altLang="en-US"/>
              </a:p>
            </p:txBody>
          </p:sp>
          <p:sp>
            <p:nvSpPr>
              <p:cNvPr id="89117" name="Freeform 215"/>
              <p:cNvSpPr/>
              <p:nvPr/>
            </p:nvSpPr>
            <p:spPr>
              <a:xfrm>
                <a:off x="1790" y="1583"/>
                <a:ext cx="120" cy="349"/>
              </a:xfrm>
              <a:custGeom>
                <a:avLst/>
                <a:gdLst>
                  <a:gd name="txL" fmla="*/ 0 w 120"/>
                  <a:gd name="txT" fmla="*/ 0 h 349"/>
                  <a:gd name="txR" fmla="*/ 120 w 120"/>
                  <a:gd name="txB" fmla="*/ 349 h 349"/>
                </a:gdLst>
                <a:ahLst/>
                <a:cxnLst>
                  <a:cxn ang="0">
                    <a:pos x="0" y="161"/>
                  </a:cxn>
                  <a:cxn ang="0">
                    <a:pos x="10" y="232"/>
                  </a:cxn>
                  <a:cxn ang="0">
                    <a:pos x="20" y="289"/>
                  </a:cxn>
                  <a:cxn ang="0">
                    <a:pos x="26" y="331"/>
                  </a:cxn>
                  <a:cxn ang="0">
                    <a:pos x="25" y="348"/>
                  </a:cxn>
                  <a:cxn ang="0">
                    <a:pos x="39" y="348"/>
                  </a:cxn>
                  <a:cxn ang="0">
                    <a:pos x="43" y="323"/>
                  </a:cxn>
                  <a:cxn ang="0">
                    <a:pos x="45" y="286"/>
                  </a:cxn>
                  <a:cxn ang="0">
                    <a:pos x="51" y="252"/>
                  </a:cxn>
                  <a:cxn ang="0">
                    <a:pos x="54" y="226"/>
                  </a:cxn>
                  <a:cxn ang="0">
                    <a:pos x="59" y="188"/>
                  </a:cxn>
                  <a:cxn ang="0">
                    <a:pos x="66" y="156"/>
                  </a:cxn>
                  <a:cxn ang="0">
                    <a:pos x="71" y="127"/>
                  </a:cxn>
                  <a:cxn ang="0">
                    <a:pos x="77" y="96"/>
                  </a:cxn>
                  <a:cxn ang="0">
                    <a:pos x="86" y="66"/>
                  </a:cxn>
                  <a:cxn ang="0">
                    <a:pos x="96" y="40"/>
                  </a:cxn>
                  <a:cxn ang="0">
                    <a:pos x="113" y="15"/>
                  </a:cxn>
                  <a:cxn ang="0">
                    <a:pos x="119" y="5"/>
                  </a:cxn>
                  <a:cxn ang="0">
                    <a:pos x="112" y="0"/>
                  </a:cxn>
                  <a:cxn ang="0">
                    <a:pos x="101" y="10"/>
                  </a:cxn>
                  <a:cxn ang="0">
                    <a:pos x="86" y="33"/>
                  </a:cxn>
                  <a:cxn ang="0">
                    <a:pos x="75" y="57"/>
                  </a:cxn>
                  <a:cxn ang="0">
                    <a:pos x="66" y="81"/>
                  </a:cxn>
                  <a:cxn ang="0">
                    <a:pos x="60" y="113"/>
                  </a:cxn>
                  <a:cxn ang="0">
                    <a:pos x="55" y="144"/>
                  </a:cxn>
                  <a:cxn ang="0">
                    <a:pos x="47" y="184"/>
                  </a:cxn>
                  <a:cxn ang="0">
                    <a:pos x="40" y="217"/>
                  </a:cxn>
                  <a:cxn ang="0">
                    <a:pos x="37" y="244"/>
                  </a:cxn>
                  <a:cxn ang="0">
                    <a:pos x="36" y="272"/>
                  </a:cxn>
                  <a:cxn ang="0">
                    <a:pos x="30" y="300"/>
                  </a:cxn>
                  <a:cxn ang="0">
                    <a:pos x="22" y="251"/>
                  </a:cxn>
                  <a:cxn ang="0">
                    <a:pos x="13" y="205"/>
                  </a:cxn>
                  <a:cxn ang="0">
                    <a:pos x="0" y="161"/>
                  </a:cxn>
                </a:cxnLst>
                <a:rect l="txL" t="txT" r="txR" b="txB"/>
                <a:pathLst>
                  <a:path w="120" h="349">
                    <a:moveTo>
                      <a:pt x="0" y="161"/>
                    </a:moveTo>
                    <a:lnTo>
                      <a:pt x="10" y="232"/>
                    </a:lnTo>
                    <a:lnTo>
                      <a:pt x="20" y="289"/>
                    </a:lnTo>
                    <a:lnTo>
                      <a:pt x="26" y="331"/>
                    </a:lnTo>
                    <a:lnTo>
                      <a:pt x="25" y="348"/>
                    </a:lnTo>
                    <a:lnTo>
                      <a:pt x="39" y="348"/>
                    </a:lnTo>
                    <a:lnTo>
                      <a:pt x="43" y="323"/>
                    </a:lnTo>
                    <a:lnTo>
                      <a:pt x="45" y="286"/>
                    </a:lnTo>
                    <a:lnTo>
                      <a:pt x="51" y="252"/>
                    </a:lnTo>
                    <a:lnTo>
                      <a:pt x="54" y="226"/>
                    </a:lnTo>
                    <a:lnTo>
                      <a:pt x="59" y="188"/>
                    </a:lnTo>
                    <a:lnTo>
                      <a:pt x="66" y="156"/>
                    </a:lnTo>
                    <a:lnTo>
                      <a:pt x="71" y="127"/>
                    </a:lnTo>
                    <a:lnTo>
                      <a:pt x="77" y="96"/>
                    </a:lnTo>
                    <a:lnTo>
                      <a:pt x="86" y="66"/>
                    </a:lnTo>
                    <a:lnTo>
                      <a:pt x="96" y="40"/>
                    </a:lnTo>
                    <a:lnTo>
                      <a:pt x="113" y="15"/>
                    </a:lnTo>
                    <a:lnTo>
                      <a:pt x="119" y="5"/>
                    </a:lnTo>
                    <a:lnTo>
                      <a:pt x="112" y="0"/>
                    </a:lnTo>
                    <a:lnTo>
                      <a:pt x="101" y="10"/>
                    </a:lnTo>
                    <a:lnTo>
                      <a:pt x="86" y="33"/>
                    </a:lnTo>
                    <a:lnTo>
                      <a:pt x="75" y="57"/>
                    </a:lnTo>
                    <a:lnTo>
                      <a:pt x="66" y="81"/>
                    </a:lnTo>
                    <a:lnTo>
                      <a:pt x="60" y="113"/>
                    </a:lnTo>
                    <a:lnTo>
                      <a:pt x="55" y="144"/>
                    </a:lnTo>
                    <a:lnTo>
                      <a:pt x="47" y="184"/>
                    </a:lnTo>
                    <a:lnTo>
                      <a:pt x="40" y="217"/>
                    </a:lnTo>
                    <a:lnTo>
                      <a:pt x="37" y="244"/>
                    </a:lnTo>
                    <a:lnTo>
                      <a:pt x="36" y="272"/>
                    </a:lnTo>
                    <a:lnTo>
                      <a:pt x="30" y="300"/>
                    </a:lnTo>
                    <a:lnTo>
                      <a:pt x="22" y="251"/>
                    </a:lnTo>
                    <a:lnTo>
                      <a:pt x="13" y="205"/>
                    </a:lnTo>
                    <a:lnTo>
                      <a:pt x="0" y="161"/>
                    </a:lnTo>
                  </a:path>
                </a:pathLst>
              </a:custGeom>
              <a:solidFill>
                <a:srgbClr val="3C0023">
                  <a:alpha val="50195"/>
                </a:srgbClr>
              </a:solidFill>
              <a:ln w="9525">
                <a:noFill/>
              </a:ln>
            </p:spPr>
            <p:txBody>
              <a:bodyPr/>
              <a:lstStyle/>
              <a:p>
                <a:endParaRPr lang="zh-CN" altLang="en-US"/>
              </a:p>
            </p:txBody>
          </p:sp>
          <p:sp>
            <p:nvSpPr>
              <p:cNvPr id="89118" name="Freeform 216"/>
              <p:cNvSpPr/>
              <p:nvPr/>
            </p:nvSpPr>
            <p:spPr>
              <a:xfrm>
                <a:off x="1685" y="1239"/>
                <a:ext cx="266" cy="391"/>
              </a:xfrm>
              <a:custGeom>
                <a:avLst/>
                <a:gdLst>
                  <a:gd name="txL" fmla="*/ 0 w 266"/>
                  <a:gd name="txT" fmla="*/ 0 h 391"/>
                  <a:gd name="txR" fmla="*/ 266 w 266"/>
                  <a:gd name="txB" fmla="*/ 391 h 391"/>
                </a:gdLst>
                <a:ahLst/>
                <a:cxnLst>
                  <a:cxn ang="0">
                    <a:pos x="107" y="123"/>
                  </a:cxn>
                  <a:cxn ang="0">
                    <a:pos x="116" y="135"/>
                  </a:cxn>
                  <a:cxn ang="0">
                    <a:pos x="163" y="114"/>
                  </a:cxn>
                  <a:cxn ang="0">
                    <a:pos x="211" y="81"/>
                  </a:cxn>
                  <a:cxn ang="0">
                    <a:pos x="233" y="46"/>
                  </a:cxn>
                  <a:cxn ang="0">
                    <a:pos x="220" y="76"/>
                  </a:cxn>
                  <a:cxn ang="0">
                    <a:pos x="183" y="109"/>
                  </a:cxn>
                  <a:cxn ang="0">
                    <a:pos x="142" y="138"/>
                  </a:cxn>
                  <a:cxn ang="0">
                    <a:pos x="102" y="159"/>
                  </a:cxn>
                  <a:cxn ang="0">
                    <a:pos x="119" y="178"/>
                  </a:cxn>
                  <a:cxn ang="0">
                    <a:pos x="155" y="180"/>
                  </a:cxn>
                  <a:cxn ang="0">
                    <a:pos x="202" y="187"/>
                  </a:cxn>
                  <a:cxn ang="0">
                    <a:pos x="239" y="204"/>
                  </a:cxn>
                  <a:cxn ang="0">
                    <a:pos x="251" y="215"/>
                  </a:cxn>
                  <a:cxn ang="0">
                    <a:pos x="213" y="204"/>
                  </a:cxn>
                  <a:cxn ang="0">
                    <a:pos x="162" y="198"/>
                  </a:cxn>
                  <a:cxn ang="0">
                    <a:pos x="114" y="195"/>
                  </a:cxn>
                  <a:cxn ang="0">
                    <a:pos x="88" y="203"/>
                  </a:cxn>
                  <a:cxn ang="0">
                    <a:pos x="93" y="248"/>
                  </a:cxn>
                  <a:cxn ang="0">
                    <a:pos x="93" y="307"/>
                  </a:cxn>
                  <a:cxn ang="0">
                    <a:pos x="77" y="354"/>
                  </a:cxn>
                  <a:cxn ang="0">
                    <a:pos x="46" y="390"/>
                  </a:cxn>
                  <a:cxn ang="0">
                    <a:pos x="50" y="346"/>
                  </a:cxn>
                  <a:cxn ang="0">
                    <a:pos x="61" y="299"/>
                  </a:cxn>
                  <a:cxn ang="0">
                    <a:pos x="67" y="238"/>
                  </a:cxn>
                  <a:cxn ang="0">
                    <a:pos x="64" y="198"/>
                  </a:cxn>
                  <a:cxn ang="0">
                    <a:pos x="48" y="221"/>
                  </a:cxn>
                  <a:cxn ang="0">
                    <a:pos x="39" y="273"/>
                  </a:cxn>
                  <a:cxn ang="0">
                    <a:pos x="32" y="325"/>
                  </a:cxn>
                  <a:cxn ang="0">
                    <a:pos x="10" y="364"/>
                  </a:cxn>
                  <a:cxn ang="0">
                    <a:pos x="2" y="364"/>
                  </a:cxn>
                  <a:cxn ang="0">
                    <a:pos x="2" y="324"/>
                  </a:cxn>
                  <a:cxn ang="0">
                    <a:pos x="17" y="287"/>
                  </a:cxn>
                  <a:cxn ang="0">
                    <a:pos x="34" y="239"/>
                  </a:cxn>
                  <a:cxn ang="0">
                    <a:pos x="42" y="204"/>
                  </a:cxn>
                  <a:cxn ang="0">
                    <a:pos x="26" y="182"/>
                  </a:cxn>
                  <a:cxn ang="0">
                    <a:pos x="2" y="184"/>
                  </a:cxn>
                  <a:cxn ang="0">
                    <a:pos x="2" y="184"/>
                  </a:cxn>
                  <a:cxn ang="0">
                    <a:pos x="2" y="184"/>
                  </a:cxn>
                  <a:cxn ang="0">
                    <a:pos x="2" y="184"/>
                  </a:cxn>
                  <a:cxn ang="0">
                    <a:pos x="2" y="184"/>
                  </a:cxn>
                  <a:cxn ang="0">
                    <a:pos x="2" y="184"/>
                  </a:cxn>
                  <a:cxn ang="0">
                    <a:pos x="13" y="161"/>
                  </a:cxn>
                  <a:cxn ang="0">
                    <a:pos x="13" y="138"/>
                  </a:cxn>
                  <a:cxn ang="0">
                    <a:pos x="2" y="105"/>
                  </a:cxn>
                  <a:cxn ang="0">
                    <a:pos x="2" y="105"/>
                  </a:cxn>
                  <a:cxn ang="0">
                    <a:pos x="2" y="105"/>
                  </a:cxn>
                  <a:cxn ang="0">
                    <a:pos x="2" y="105"/>
                  </a:cxn>
                  <a:cxn ang="0">
                    <a:pos x="24" y="122"/>
                  </a:cxn>
                  <a:cxn ang="0">
                    <a:pos x="53" y="157"/>
                  </a:cxn>
                  <a:cxn ang="0">
                    <a:pos x="55" y="130"/>
                  </a:cxn>
                  <a:cxn ang="0">
                    <a:pos x="24" y="91"/>
                  </a:cxn>
                  <a:cxn ang="0">
                    <a:pos x="2" y="65"/>
                  </a:cxn>
                  <a:cxn ang="0">
                    <a:pos x="2" y="65"/>
                  </a:cxn>
                  <a:cxn ang="0">
                    <a:pos x="2" y="48"/>
                  </a:cxn>
                  <a:cxn ang="0">
                    <a:pos x="30" y="87"/>
                  </a:cxn>
                  <a:cxn ang="0">
                    <a:pos x="61" y="138"/>
                  </a:cxn>
                  <a:cxn ang="0">
                    <a:pos x="80" y="127"/>
                  </a:cxn>
                  <a:cxn ang="0">
                    <a:pos x="106" y="87"/>
                  </a:cxn>
                  <a:cxn ang="0">
                    <a:pos x="139" y="39"/>
                  </a:cxn>
                  <a:cxn ang="0">
                    <a:pos x="165" y="6"/>
                  </a:cxn>
                  <a:cxn ang="0">
                    <a:pos x="163" y="29"/>
                  </a:cxn>
                  <a:cxn ang="0">
                    <a:pos x="137" y="76"/>
                  </a:cxn>
                </a:cxnLst>
                <a:rect l="txL" t="txT" r="txR" b="txB"/>
                <a:pathLst>
                  <a:path w="266" h="391">
                    <a:moveTo>
                      <a:pt x="124" y="95"/>
                    </a:moveTo>
                    <a:lnTo>
                      <a:pt x="119" y="101"/>
                    </a:lnTo>
                    <a:lnTo>
                      <a:pt x="115" y="108"/>
                    </a:lnTo>
                    <a:lnTo>
                      <a:pt x="111" y="115"/>
                    </a:lnTo>
                    <a:lnTo>
                      <a:pt x="107" y="123"/>
                    </a:lnTo>
                    <a:lnTo>
                      <a:pt x="104" y="129"/>
                    </a:lnTo>
                    <a:lnTo>
                      <a:pt x="102" y="136"/>
                    </a:lnTo>
                    <a:lnTo>
                      <a:pt x="100" y="142"/>
                    </a:lnTo>
                    <a:lnTo>
                      <a:pt x="107" y="138"/>
                    </a:lnTo>
                    <a:lnTo>
                      <a:pt x="116" y="135"/>
                    </a:lnTo>
                    <a:lnTo>
                      <a:pt x="125" y="131"/>
                    </a:lnTo>
                    <a:lnTo>
                      <a:pt x="134" y="127"/>
                    </a:lnTo>
                    <a:lnTo>
                      <a:pt x="144" y="124"/>
                    </a:lnTo>
                    <a:lnTo>
                      <a:pt x="154" y="119"/>
                    </a:lnTo>
                    <a:lnTo>
                      <a:pt x="163" y="114"/>
                    </a:lnTo>
                    <a:lnTo>
                      <a:pt x="175" y="107"/>
                    </a:lnTo>
                    <a:lnTo>
                      <a:pt x="184" y="101"/>
                    </a:lnTo>
                    <a:lnTo>
                      <a:pt x="195" y="93"/>
                    </a:lnTo>
                    <a:lnTo>
                      <a:pt x="203" y="89"/>
                    </a:lnTo>
                    <a:lnTo>
                      <a:pt x="211" y="81"/>
                    </a:lnTo>
                    <a:lnTo>
                      <a:pt x="218" y="75"/>
                    </a:lnTo>
                    <a:lnTo>
                      <a:pt x="224" y="66"/>
                    </a:lnTo>
                    <a:lnTo>
                      <a:pt x="227" y="59"/>
                    </a:lnTo>
                    <a:lnTo>
                      <a:pt x="230" y="51"/>
                    </a:lnTo>
                    <a:lnTo>
                      <a:pt x="233" y="46"/>
                    </a:lnTo>
                    <a:lnTo>
                      <a:pt x="233" y="52"/>
                    </a:lnTo>
                    <a:lnTo>
                      <a:pt x="233" y="56"/>
                    </a:lnTo>
                    <a:lnTo>
                      <a:pt x="231" y="61"/>
                    </a:lnTo>
                    <a:lnTo>
                      <a:pt x="227" y="67"/>
                    </a:lnTo>
                    <a:lnTo>
                      <a:pt x="220" y="76"/>
                    </a:lnTo>
                    <a:lnTo>
                      <a:pt x="217" y="83"/>
                    </a:lnTo>
                    <a:lnTo>
                      <a:pt x="210" y="88"/>
                    </a:lnTo>
                    <a:lnTo>
                      <a:pt x="202" y="94"/>
                    </a:lnTo>
                    <a:lnTo>
                      <a:pt x="192" y="101"/>
                    </a:lnTo>
                    <a:lnTo>
                      <a:pt x="183" y="109"/>
                    </a:lnTo>
                    <a:lnTo>
                      <a:pt x="173" y="116"/>
                    </a:lnTo>
                    <a:lnTo>
                      <a:pt x="167" y="122"/>
                    </a:lnTo>
                    <a:lnTo>
                      <a:pt x="159" y="129"/>
                    </a:lnTo>
                    <a:lnTo>
                      <a:pt x="151" y="133"/>
                    </a:lnTo>
                    <a:lnTo>
                      <a:pt x="142" y="138"/>
                    </a:lnTo>
                    <a:lnTo>
                      <a:pt x="133" y="143"/>
                    </a:lnTo>
                    <a:lnTo>
                      <a:pt x="125" y="148"/>
                    </a:lnTo>
                    <a:lnTo>
                      <a:pt x="118" y="152"/>
                    </a:lnTo>
                    <a:lnTo>
                      <a:pt x="109" y="156"/>
                    </a:lnTo>
                    <a:lnTo>
                      <a:pt x="102" y="159"/>
                    </a:lnTo>
                    <a:lnTo>
                      <a:pt x="100" y="161"/>
                    </a:lnTo>
                    <a:lnTo>
                      <a:pt x="102" y="165"/>
                    </a:lnTo>
                    <a:lnTo>
                      <a:pt x="106" y="170"/>
                    </a:lnTo>
                    <a:lnTo>
                      <a:pt x="110" y="176"/>
                    </a:lnTo>
                    <a:lnTo>
                      <a:pt x="119" y="178"/>
                    </a:lnTo>
                    <a:lnTo>
                      <a:pt x="125" y="178"/>
                    </a:lnTo>
                    <a:lnTo>
                      <a:pt x="135" y="180"/>
                    </a:lnTo>
                    <a:lnTo>
                      <a:pt x="144" y="180"/>
                    </a:lnTo>
                    <a:lnTo>
                      <a:pt x="155" y="180"/>
                    </a:lnTo>
                    <a:lnTo>
                      <a:pt x="165" y="182"/>
                    </a:lnTo>
                    <a:lnTo>
                      <a:pt x="175" y="182"/>
                    </a:lnTo>
                    <a:lnTo>
                      <a:pt x="185" y="184"/>
                    </a:lnTo>
                    <a:lnTo>
                      <a:pt x="193" y="185"/>
                    </a:lnTo>
                    <a:lnTo>
                      <a:pt x="202" y="187"/>
                    </a:lnTo>
                    <a:lnTo>
                      <a:pt x="208" y="189"/>
                    </a:lnTo>
                    <a:lnTo>
                      <a:pt x="215" y="193"/>
                    </a:lnTo>
                    <a:lnTo>
                      <a:pt x="221" y="196"/>
                    </a:lnTo>
                    <a:lnTo>
                      <a:pt x="229" y="200"/>
                    </a:lnTo>
                    <a:lnTo>
                      <a:pt x="239" y="204"/>
                    </a:lnTo>
                    <a:lnTo>
                      <a:pt x="249" y="208"/>
                    </a:lnTo>
                    <a:lnTo>
                      <a:pt x="256" y="211"/>
                    </a:lnTo>
                    <a:lnTo>
                      <a:pt x="265" y="214"/>
                    </a:lnTo>
                    <a:lnTo>
                      <a:pt x="258" y="215"/>
                    </a:lnTo>
                    <a:lnTo>
                      <a:pt x="251" y="215"/>
                    </a:lnTo>
                    <a:lnTo>
                      <a:pt x="244" y="213"/>
                    </a:lnTo>
                    <a:lnTo>
                      <a:pt x="236" y="211"/>
                    </a:lnTo>
                    <a:lnTo>
                      <a:pt x="226" y="207"/>
                    </a:lnTo>
                    <a:lnTo>
                      <a:pt x="219" y="206"/>
                    </a:lnTo>
                    <a:lnTo>
                      <a:pt x="213" y="204"/>
                    </a:lnTo>
                    <a:lnTo>
                      <a:pt x="204" y="202"/>
                    </a:lnTo>
                    <a:lnTo>
                      <a:pt x="195" y="201"/>
                    </a:lnTo>
                    <a:lnTo>
                      <a:pt x="184" y="200"/>
                    </a:lnTo>
                    <a:lnTo>
                      <a:pt x="173" y="199"/>
                    </a:lnTo>
                    <a:lnTo>
                      <a:pt x="162" y="198"/>
                    </a:lnTo>
                    <a:lnTo>
                      <a:pt x="152" y="198"/>
                    </a:lnTo>
                    <a:lnTo>
                      <a:pt x="142" y="198"/>
                    </a:lnTo>
                    <a:lnTo>
                      <a:pt x="134" y="197"/>
                    </a:lnTo>
                    <a:lnTo>
                      <a:pt x="124" y="197"/>
                    </a:lnTo>
                    <a:lnTo>
                      <a:pt x="114" y="195"/>
                    </a:lnTo>
                    <a:lnTo>
                      <a:pt x="102" y="192"/>
                    </a:lnTo>
                    <a:lnTo>
                      <a:pt x="92" y="189"/>
                    </a:lnTo>
                    <a:lnTo>
                      <a:pt x="80" y="188"/>
                    </a:lnTo>
                    <a:lnTo>
                      <a:pt x="84" y="195"/>
                    </a:lnTo>
                    <a:lnTo>
                      <a:pt x="88" y="203"/>
                    </a:lnTo>
                    <a:lnTo>
                      <a:pt x="93" y="215"/>
                    </a:lnTo>
                    <a:lnTo>
                      <a:pt x="94" y="223"/>
                    </a:lnTo>
                    <a:lnTo>
                      <a:pt x="95" y="233"/>
                    </a:lnTo>
                    <a:lnTo>
                      <a:pt x="94" y="241"/>
                    </a:lnTo>
                    <a:lnTo>
                      <a:pt x="93" y="248"/>
                    </a:lnTo>
                    <a:lnTo>
                      <a:pt x="93" y="259"/>
                    </a:lnTo>
                    <a:lnTo>
                      <a:pt x="92" y="273"/>
                    </a:lnTo>
                    <a:lnTo>
                      <a:pt x="92" y="285"/>
                    </a:lnTo>
                    <a:lnTo>
                      <a:pt x="93" y="297"/>
                    </a:lnTo>
                    <a:lnTo>
                      <a:pt x="93" y="307"/>
                    </a:lnTo>
                    <a:lnTo>
                      <a:pt x="92" y="316"/>
                    </a:lnTo>
                    <a:lnTo>
                      <a:pt x="89" y="326"/>
                    </a:lnTo>
                    <a:lnTo>
                      <a:pt x="85" y="338"/>
                    </a:lnTo>
                    <a:lnTo>
                      <a:pt x="82" y="346"/>
                    </a:lnTo>
                    <a:lnTo>
                      <a:pt x="77" y="354"/>
                    </a:lnTo>
                    <a:lnTo>
                      <a:pt x="73" y="363"/>
                    </a:lnTo>
                    <a:lnTo>
                      <a:pt x="69" y="369"/>
                    </a:lnTo>
                    <a:lnTo>
                      <a:pt x="62" y="376"/>
                    </a:lnTo>
                    <a:lnTo>
                      <a:pt x="53" y="382"/>
                    </a:lnTo>
                    <a:lnTo>
                      <a:pt x="46" y="390"/>
                    </a:lnTo>
                    <a:lnTo>
                      <a:pt x="45" y="382"/>
                    </a:lnTo>
                    <a:lnTo>
                      <a:pt x="46" y="372"/>
                    </a:lnTo>
                    <a:lnTo>
                      <a:pt x="47" y="362"/>
                    </a:lnTo>
                    <a:lnTo>
                      <a:pt x="48" y="353"/>
                    </a:lnTo>
                    <a:lnTo>
                      <a:pt x="50" y="346"/>
                    </a:lnTo>
                    <a:lnTo>
                      <a:pt x="53" y="337"/>
                    </a:lnTo>
                    <a:lnTo>
                      <a:pt x="56" y="328"/>
                    </a:lnTo>
                    <a:lnTo>
                      <a:pt x="58" y="320"/>
                    </a:lnTo>
                    <a:lnTo>
                      <a:pt x="59" y="313"/>
                    </a:lnTo>
                    <a:lnTo>
                      <a:pt x="61" y="299"/>
                    </a:lnTo>
                    <a:lnTo>
                      <a:pt x="62" y="285"/>
                    </a:lnTo>
                    <a:lnTo>
                      <a:pt x="63" y="273"/>
                    </a:lnTo>
                    <a:lnTo>
                      <a:pt x="65" y="260"/>
                    </a:lnTo>
                    <a:lnTo>
                      <a:pt x="67" y="247"/>
                    </a:lnTo>
                    <a:lnTo>
                      <a:pt x="67" y="238"/>
                    </a:lnTo>
                    <a:lnTo>
                      <a:pt x="67" y="231"/>
                    </a:lnTo>
                    <a:lnTo>
                      <a:pt x="68" y="222"/>
                    </a:lnTo>
                    <a:lnTo>
                      <a:pt x="67" y="212"/>
                    </a:lnTo>
                    <a:lnTo>
                      <a:pt x="66" y="206"/>
                    </a:lnTo>
                    <a:lnTo>
                      <a:pt x="64" y="198"/>
                    </a:lnTo>
                    <a:lnTo>
                      <a:pt x="62" y="187"/>
                    </a:lnTo>
                    <a:lnTo>
                      <a:pt x="58" y="195"/>
                    </a:lnTo>
                    <a:lnTo>
                      <a:pt x="54" y="203"/>
                    </a:lnTo>
                    <a:lnTo>
                      <a:pt x="50" y="212"/>
                    </a:lnTo>
                    <a:lnTo>
                      <a:pt x="48" y="221"/>
                    </a:lnTo>
                    <a:lnTo>
                      <a:pt x="46" y="232"/>
                    </a:lnTo>
                    <a:lnTo>
                      <a:pt x="44" y="239"/>
                    </a:lnTo>
                    <a:lnTo>
                      <a:pt x="43" y="249"/>
                    </a:lnTo>
                    <a:lnTo>
                      <a:pt x="41" y="260"/>
                    </a:lnTo>
                    <a:lnTo>
                      <a:pt x="39" y="273"/>
                    </a:lnTo>
                    <a:lnTo>
                      <a:pt x="38" y="283"/>
                    </a:lnTo>
                    <a:lnTo>
                      <a:pt x="37" y="295"/>
                    </a:lnTo>
                    <a:lnTo>
                      <a:pt x="36" y="305"/>
                    </a:lnTo>
                    <a:lnTo>
                      <a:pt x="33" y="315"/>
                    </a:lnTo>
                    <a:lnTo>
                      <a:pt x="32" y="325"/>
                    </a:lnTo>
                    <a:lnTo>
                      <a:pt x="30" y="333"/>
                    </a:lnTo>
                    <a:lnTo>
                      <a:pt x="26" y="340"/>
                    </a:lnTo>
                    <a:lnTo>
                      <a:pt x="21" y="348"/>
                    </a:lnTo>
                    <a:lnTo>
                      <a:pt x="15" y="356"/>
                    </a:lnTo>
                    <a:lnTo>
                      <a:pt x="10" y="364"/>
                    </a:lnTo>
                    <a:lnTo>
                      <a:pt x="5" y="368"/>
                    </a:lnTo>
                    <a:lnTo>
                      <a:pt x="2" y="364"/>
                    </a:lnTo>
                    <a:lnTo>
                      <a:pt x="2" y="344"/>
                    </a:lnTo>
                    <a:lnTo>
                      <a:pt x="2" y="364"/>
                    </a:lnTo>
                    <a:lnTo>
                      <a:pt x="2" y="344"/>
                    </a:lnTo>
                    <a:lnTo>
                      <a:pt x="2" y="324"/>
                    </a:lnTo>
                    <a:lnTo>
                      <a:pt x="5" y="316"/>
                    </a:lnTo>
                    <a:lnTo>
                      <a:pt x="9" y="306"/>
                    </a:lnTo>
                    <a:lnTo>
                      <a:pt x="13" y="297"/>
                    </a:lnTo>
                    <a:lnTo>
                      <a:pt x="17" y="287"/>
                    </a:lnTo>
                    <a:lnTo>
                      <a:pt x="21" y="278"/>
                    </a:lnTo>
                    <a:lnTo>
                      <a:pt x="25" y="268"/>
                    </a:lnTo>
                    <a:lnTo>
                      <a:pt x="28" y="259"/>
                    </a:lnTo>
                    <a:lnTo>
                      <a:pt x="31" y="249"/>
                    </a:lnTo>
                    <a:lnTo>
                      <a:pt x="34" y="239"/>
                    </a:lnTo>
                    <a:lnTo>
                      <a:pt x="36" y="233"/>
                    </a:lnTo>
                    <a:lnTo>
                      <a:pt x="38" y="225"/>
                    </a:lnTo>
                    <a:lnTo>
                      <a:pt x="41" y="216"/>
                    </a:lnTo>
                    <a:lnTo>
                      <a:pt x="44" y="210"/>
                    </a:lnTo>
                    <a:lnTo>
                      <a:pt x="42" y="204"/>
                    </a:lnTo>
                    <a:lnTo>
                      <a:pt x="41" y="197"/>
                    </a:lnTo>
                    <a:lnTo>
                      <a:pt x="42" y="192"/>
                    </a:lnTo>
                    <a:lnTo>
                      <a:pt x="43" y="185"/>
                    </a:lnTo>
                    <a:lnTo>
                      <a:pt x="36" y="184"/>
                    </a:lnTo>
                    <a:lnTo>
                      <a:pt x="26" y="182"/>
                    </a:lnTo>
                    <a:lnTo>
                      <a:pt x="18" y="187"/>
                    </a:lnTo>
                    <a:lnTo>
                      <a:pt x="11" y="191"/>
                    </a:lnTo>
                    <a:lnTo>
                      <a:pt x="3" y="195"/>
                    </a:lnTo>
                    <a:lnTo>
                      <a:pt x="2" y="184"/>
                    </a:lnTo>
                    <a:lnTo>
                      <a:pt x="2" y="164"/>
                    </a:lnTo>
                    <a:lnTo>
                      <a:pt x="2" y="184"/>
                    </a:lnTo>
                    <a:lnTo>
                      <a:pt x="2" y="164"/>
                    </a:lnTo>
                    <a:lnTo>
                      <a:pt x="5" y="164"/>
                    </a:lnTo>
                    <a:lnTo>
                      <a:pt x="13" y="161"/>
                    </a:lnTo>
                    <a:lnTo>
                      <a:pt x="15" y="156"/>
                    </a:lnTo>
                    <a:lnTo>
                      <a:pt x="17" y="151"/>
                    </a:lnTo>
                    <a:lnTo>
                      <a:pt x="19" y="146"/>
                    </a:lnTo>
                    <a:lnTo>
                      <a:pt x="18" y="144"/>
                    </a:lnTo>
                    <a:lnTo>
                      <a:pt x="13" y="138"/>
                    </a:lnTo>
                    <a:lnTo>
                      <a:pt x="6" y="132"/>
                    </a:lnTo>
                    <a:lnTo>
                      <a:pt x="0" y="125"/>
                    </a:lnTo>
                    <a:lnTo>
                      <a:pt x="2" y="124"/>
                    </a:lnTo>
                    <a:lnTo>
                      <a:pt x="2" y="105"/>
                    </a:lnTo>
                    <a:lnTo>
                      <a:pt x="1" y="103"/>
                    </a:lnTo>
                    <a:lnTo>
                      <a:pt x="11" y="110"/>
                    </a:lnTo>
                    <a:lnTo>
                      <a:pt x="19" y="117"/>
                    </a:lnTo>
                    <a:lnTo>
                      <a:pt x="24" y="122"/>
                    </a:lnTo>
                    <a:lnTo>
                      <a:pt x="28" y="128"/>
                    </a:lnTo>
                    <a:lnTo>
                      <a:pt x="35" y="137"/>
                    </a:lnTo>
                    <a:lnTo>
                      <a:pt x="40" y="143"/>
                    </a:lnTo>
                    <a:lnTo>
                      <a:pt x="46" y="150"/>
                    </a:lnTo>
                    <a:lnTo>
                      <a:pt x="53" y="157"/>
                    </a:lnTo>
                    <a:lnTo>
                      <a:pt x="55" y="155"/>
                    </a:lnTo>
                    <a:lnTo>
                      <a:pt x="59" y="148"/>
                    </a:lnTo>
                    <a:lnTo>
                      <a:pt x="62" y="143"/>
                    </a:lnTo>
                    <a:lnTo>
                      <a:pt x="60" y="138"/>
                    </a:lnTo>
                    <a:lnTo>
                      <a:pt x="55" y="130"/>
                    </a:lnTo>
                    <a:lnTo>
                      <a:pt x="51" y="123"/>
                    </a:lnTo>
                    <a:lnTo>
                      <a:pt x="46" y="115"/>
                    </a:lnTo>
                    <a:lnTo>
                      <a:pt x="40" y="109"/>
                    </a:lnTo>
                    <a:lnTo>
                      <a:pt x="31" y="100"/>
                    </a:lnTo>
                    <a:lnTo>
                      <a:pt x="24" y="91"/>
                    </a:lnTo>
                    <a:lnTo>
                      <a:pt x="17" y="84"/>
                    </a:lnTo>
                    <a:lnTo>
                      <a:pt x="12" y="78"/>
                    </a:lnTo>
                    <a:lnTo>
                      <a:pt x="6" y="70"/>
                    </a:lnTo>
                    <a:lnTo>
                      <a:pt x="2" y="65"/>
                    </a:lnTo>
                    <a:lnTo>
                      <a:pt x="2" y="44"/>
                    </a:lnTo>
                    <a:lnTo>
                      <a:pt x="2" y="65"/>
                    </a:lnTo>
                    <a:lnTo>
                      <a:pt x="2" y="44"/>
                    </a:lnTo>
                    <a:lnTo>
                      <a:pt x="2" y="53"/>
                    </a:lnTo>
                    <a:lnTo>
                      <a:pt x="2" y="48"/>
                    </a:lnTo>
                    <a:lnTo>
                      <a:pt x="4" y="55"/>
                    </a:lnTo>
                    <a:lnTo>
                      <a:pt x="11" y="63"/>
                    </a:lnTo>
                    <a:lnTo>
                      <a:pt x="17" y="70"/>
                    </a:lnTo>
                    <a:lnTo>
                      <a:pt x="25" y="80"/>
                    </a:lnTo>
                    <a:lnTo>
                      <a:pt x="30" y="87"/>
                    </a:lnTo>
                    <a:lnTo>
                      <a:pt x="37" y="95"/>
                    </a:lnTo>
                    <a:lnTo>
                      <a:pt x="43" y="106"/>
                    </a:lnTo>
                    <a:lnTo>
                      <a:pt x="48" y="115"/>
                    </a:lnTo>
                    <a:lnTo>
                      <a:pt x="54" y="124"/>
                    </a:lnTo>
                    <a:lnTo>
                      <a:pt x="61" y="138"/>
                    </a:lnTo>
                    <a:lnTo>
                      <a:pt x="64" y="146"/>
                    </a:lnTo>
                    <a:lnTo>
                      <a:pt x="66" y="151"/>
                    </a:lnTo>
                    <a:lnTo>
                      <a:pt x="70" y="143"/>
                    </a:lnTo>
                    <a:lnTo>
                      <a:pt x="75" y="135"/>
                    </a:lnTo>
                    <a:lnTo>
                      <a:pt x="80" y="127"/>
                    </a:lnTo>
                    <a:lnTo>
                      <a:pt x="85" y="118"/>
                    </a:lnTo>
                    <a:lnTo>
                      <a:pt x="90" y="110"/>
                    </a:lnTo>
                    <a:lnTo>
                      <a:pt x="94" y="103"/>
                    </a:lnTo>
                    <a:lnTo>
                      <a:pt x="100" y="96"/>
                    </a:lnTo>
                    <a:lnTo>
                      <a:pt x="106" y="87"/>
                    </a:lnTo>
                    <a:lnTo>
                      <a:pt x="113" y="78"/>
                    </a:lnTo>
                    <a:lnTo>
                      <a:pt x="120" y="68"/>
                    </a:lnTo>
                    <a:lnTo>
                      <a:pt x="127" y="58"/>
                    </a:lnTo>
                    <a:lnTo>
                      <a:pt x="132" y="50"/>
                    </a:lnTo>
                    <a:lnTo>
                      <a:pt x="139" y="39"/>
                    </a:lnTo>
                    <a:lnTo>
                      <a:pt x="144" y="33"/>
                    </a:lnTo>
                    <a:lnTo>
                      <a:pt x="150" y="26"/>
                    </a:lnTo>
                    <a:lnTo>
                      <a:pt x="156" y="21"/>
                    </a:lnTo>
                    <a:lnTo>
                      <a:pt x="161" y="15"/>
                    </a:lnTo>
                    <a:lnTo>
                      <a:pt x="165" y="6"/>
                    </a:lnTo>
                    <a:lnTo>
                      <a:pt x="170" y="0"/>
                    </a:lnTo>
                    <a:lnTo>
                      <a:pt x="169" y="5"/>
                    </a:lnTo>
                    <a:lnTo>
                      <a:pt x="168" y="13"/>
                    </a:lnTo>
                    <a:lnTo>
                      <a:pt x="166" y="21"/>
                    </a:lnTo>
                    <a:lnTo>
                      <a:pt x="163" y="29"/>
                    </a:lnTo>
                    <a:lnTo>
                      <a:pt x="159" y="37"/>
                    </a:lnTo>
                    <a:lnTo>
                      <a:pt x="153" y="47"/>
                    </a:lnTo>
                    <a:lnTo>
                      <a:pt x="148" y="56"/>
                    </a:lnTo>
                    <a:lnTo>
                      <a:pt x="143" y="67"/>
                    </a:lnTo>
                    <a:lnTo>
                      <a:pt x="137" y="76"/>
                    </a:lnTo>
                    <a:lnTo>
                      <a:pt x="130" y="87"/>
                    </a:lnTo>
                    <a:lnTo>
                      <a:pt x="124" y="95"/>
                    </a:lnTo>
                  </a:path>
                </a:pathLst>
              </a:custGeom>
              <a:solidFill>
                <a:srgbClr val="037C03">
                  <a:alpha val="50195"/>
                </a:srgbClr>
              </a:solidFill>
              <a:ln w="9525">
                <a:noFill/>
              </a:ln>
            </p:spPr>
            <p:txBody>
              <a:bodyPr/>
              <a:lstStyle/>
              <a:p>
                <a:endParaRPr lang="zh-CN" altLang="en-US"/>
              </a:p>
            </p:txBody>
          </p:sp>
          <p:grpSp>
            <p:nvGrpSpPr>
              <p:cNvPr id="89119" name="Group 217"/>
              <p:cNvGrpSpPr/>
              <p:nvPr/>
            </p:nvGrpSpPr>
            <p:grpSpPr>
              <a:xfrm>
                <a:off x="1707" y="1466"/>
                <a:ext cx="484" cy="368"/>
                <a:chOff x="1707" y="1466"/>
                <a:chExt cx="484" cy="368"/>
              </a:xfrm>
            </p:grpSpPr>
            <p:sp>
              <p:nvSpPr>
                <p:cNvPr id="89121" name="Freeform 218"/>
                <p:cNvSpPr/>
                <p:nvPr/>
              </p:nvSpPr>
              <p:spPr>
                <a:xfrm>
                  <a:off x="1751" y="1466"/>
                  <a:ext cx="440" cy="342"/>
                </a:xfrm>
                <a:custGeom>
                  <a:avLst/>
                  <a:gdLst>
                    <a:gd name="txL" fmla="*/ 0 w 440"/>
                    <a:gd name="txT" fmla="*/ 0 h 342"/>
                    <a:gd name="txR" fmla="*/ 440 w 440"/>
                    <a:gd name="txB" fmla="*/ 342 h 342"/>
                  </a:gdLst>
                  <a:ahLst/>
                  <a:cxnLst>
                    <a:cxn ang="0">
                      <a:pos x="167" y="42"/>
                    </a:cxn>
                    <a:cxn ang="0">
                      <a:pos x="202" y="14"/>
                    </a:cxn>
                    <a:cxn ang="0">
                      <a:pos x="245" y="3"/>
                    </a:cxn>
                    <a:cxn ang="0">
                      <a:pos x="292" y="2"/>
                    </a:cxn>
                    <a:cxn ang="0">
                      <a:pos x="304" y="7"/>
                    </a:cxn>
                    <a:cxn ang="0">
                      <a:pos x="272" y="15"/>
                    </a:cxn>
                    <a:cxn ang="0">
                      <a:pos x="236" y="26"/>
                    </a:cxn>
                    <a:cxn ang="0">
                      <a:pos x="195" y="55"/>
                    </a:cxn>
                    <a:cxn ang="0">
                      <a:pos x="191" y="94"/>
                    </a:cxn>
                    <a:cxn ang="0">
                      <a:pos x="252" y="70"/>
                    </a:cxn>
                    <a:cxn ang="0">
                      <a:pos x="301" y="67"/>
                    </a:cxn>
                    <a:cxn ang="0">
                      <a:pos x="354" y="72"/>
                    </a:cxn>
                    <a:cxn ang="0">
                      <a:pos x="416" y="79"/>
                    </a:cxn>
                    <a:cxn ang="0">
                      <a:pos x="417" y="80"/>
                    </a:cxn>
                    <a:cxn ang="0">
                      <a:pos x="357" y="83"/>
                    </a:cxn>
                    <a:cxn ang="0">
                      <a:pos x="302" y="84"/>
                    </a:cxn>
                    <a:cxn ang="0">
                      <a:pos x="254" y="90"/>
                    </a:cxn>
                    <a:cxn ang="0">
                      <a:pos x="200" y="103"/>
                    </a:cxn>
                    <a:cxn ang="0">
                      <a:pos x="222" y="123"/>
                    </a:cxn>
                    <a:cxn ang="0">
                      <a:pos x="238" y="142"/>
                    </a:cxn>
                    <a:cxn ang="0">
                      <a:pos x="184" y="125"/>
                    </a:cxn>
                    <a:cxn ang="0">
                      <a:pos x="173" y="136"/>
                    </a:cxn>
                    <a:cxn ang="0">
                      <a:pos x="232" y="145"/>
                    </a:cxn>
                    <a:cxn ang="0">
                      <a:pos x="282" y="157"/>
                    </a:cxn>
                    <a:cxn ang="0">
                      <a:pos x="321" y="190"/>
                    </a:cxn>
                    <a:cxn ang="0">
                      <a:pos x="351" y="234"/>
                    </a:cxn>
                    <a:cxn ang="0">
                      <a:pos x="344" y="242"/>
                    </a:cxn>
                    <a:cxn ang="0">
                      <a:pos x="304" y="214"/>
                    </a:cxn>
                    <a:cxn ang="0">
                      <a:pos x="259" y="183"/>
                    </a:cxn>
                    <a:cxn ang="0">
                      <a:pos x="211" y="162"/>
                    </a:cxn>
                    <a:cxn ang="0">
                      <a:pos x="180" y="155"/>
                    </a:cxn>
                    <a:cxn ang="0">
                      <a:pos x="206" y="189"/>
                    </a:cxn>
                    <a:cxn ang="0">
                      <a:pos x="238" y="234"/>
                    </a:cxn>
                    <a:cxn ang="0">
                      <a:pos x="256" y="275"/>
                    </a:cxn>
                    <a:cxn ang="0">
                      <a:pos x="255" y="313"/>
                    </a:cxn>
                    <a:cxn ang="0">
                      <a:pos x="232" y="271"/>
                    </a:cxn>
                    <a:cxn ang="0">
                      <a:pos x="208" y="226"/>
                    </a:cxn>
                    <a:cxn ang="0">
                      <a:pos x="181" y="185"/>
                    </a:cxn>
                    <a:cxn ang="0">
                      <a:pos x="157" y="149"/>
                    </a:cxn>
                    <a:cxn ang="0">
                      <a:pos x="115" y="170"/>
                    </a:cxn>
                    <a:cxn ang="0">
                      <a:pos x="80" y="221"/>
                    </a:cxn>
                    <a:cxn ang="0">
                      <a:pos x="51" y="273"/>
                    </a:cxn>
                    <a:cxn ang="0">
                      <a:pos x="18" y="321"/>
                    </a:cxn>
                    <a:cxn ang="0">
                      <a:pos x="8" y="315"/>
                    </a:cxn>
                    <a:cxn ang="0">
                      <a:pos x="47" y="255"/>
                    </a:cxn>
                    <a:cxn ang="0">
                      <a:pos x="82" y="208"/>
                    </a:cxn>
                    <a:cxn ang="0">
                      <a:pos x="112" y="162"/>
                    </a:cxn>
                    <a:cxn ang="0">
                      <a:pos x="139" y="126"/>
                    </a:cxn>
                    <a:cxn ang="0">
                      <a:pos x="99" y="83"/>
                    </a:cxn>
                    <a:cxn ang="0">
                      <a:pos x="43" y="60"/>
                    </a:cxn>
                    <a:cxn ang="0">
                      <a:pos x="20" y="47"/>
                    </a:cxn>
                    <a:cxn ang="0">
                      <a:pos x="63" y="61"/>
                    </a:cxn>
                    <a:cxn ang="0">
                      <a:pos x="122" y="90"/>
                    </a:cxn>
                  </a:cxnLst>
                  <a:rect l="txL" t="txT" r="txR" b="txB"/>
                  <a:pathLst>
                    <a:path w="440" h="342">
                      <a:moveTo>
                        <a:pt x="138" y="87"/>
                      </a:moveTo>
                      <a:lnTo>
                        <a:pt x="141" y="78"/>
                      </a:lnTo>
                      <a:lnTo>
                        <a:pt x="146" y="69"/>
                      </a:lnTo>
                      <a:lnTo>
                        <a:pt x="153" y="59"/>
                      </a:lnTo>
                      <a:lnTo>
                        <a:pt x="160" y="51"/>
                      </a:lnTo>
                      <a:lnTo>
                        <a:pt x="167" y="42"/>
                      </a:lnTo>
                      <a:lnTo>
                        <a:pt x="172" y="36"/>
                      </a:lnTo>
                      <a:lnTo>
                        <a:pt x="178" y="31"/>
                      </a:lnTo>
                      <a:lnTo>
                        <a:pt x="184" y="26"/>
                      </a:lnTo>
                      <a:lnTo>
                        <a:pt x="190" y="21"/>
                      </a:lnTo>
                      <a:lnTo>
                        <a:pt x="196" y="17"/>
                      </a:lnTo>
                      <a:lnTo>
                        <a:pt x="202" y="14"/>
                      </a:lnTo>
                      <a:lnTo>
                        <a:pt x="208" y="11"/>
                      </a:lnTo>
                      <a:lnTo>
                        <a:pt x="215" y="8"/>
                      </a:lnTo>
                      <a:lnTo>
                        <a:pt x="222" y="7"/>
                      </a:lnTo>
                      <a:lnTo>
                        <a:pt x="230" y="5"/>
                      </a:lnTo>
                      <a:lnTo>
                        <a:pt x="237" y="3"/>
                      </a:lnTo>
                      <a:lnTo>
                        <a:pt x="245" y="3"/>
                      </a:lnTo>
                      <a:lnTo>
                        <a:pt x="252" y="2"/>
                      </a:lnTo>
                      <a:lnTo>
                        <a:pt x="260" y="2"/>
                      </a:lnTo>
                      <a:lnTo>
                        <a:pt x="270" y="1"/>
                      </a:lnTo>
                      <a:lnTo>
                        <a:pt x="278" y="2"/>
                      </a:lnTo>
                      <a:lnTo>
                        <a:pt x="285" y="2"/>
                      </a:lnTo>
                      <a:lnTo>
                        <a:pt x="292" y="2"/>
                      </a:lnTo>
                      <a:lnTo>
                        <a:pt x="299" y="2"/>
                      </a:lnTo>
                      <a:lnTo>
                        <a:pt x="307" y="1"/>
                      </a:lnTo>
                      <a:lnTo>
                        <a:pt x="314" y="0"/>
                      </a:lnTo>
                      <a:lnTo>
                        <a:pt x="310" y="2"/>
                      </a:lnTo>
                      <a:lnTo>
                        <a:pt x="307" y="4"/>
                      </a:lnTo>
                      <a:lnTo>
                        <a:pt x="304" y="7"/>
                      </a:lnTo>
                      <a:lnTo>
                        <a:pt x="301" y="10"/>
                      </a:lnTo>
                      <a:lnTo>
                        <a:pt x="295" y="10"/>
                      </a:lnTo>
                      <a:lnTo>
                        <a:pt x="288" y="11"/>
                      </a:lnTo>
                      <a:lnTo>
                        <a:pt x="284" y="12"/>
                      </a:lnTo>
                      <a:lnTo>
                        <a:pt x="278" y="13"/>
                      </a:lnTo>
                      <a:lnTo>
                        <a:pt x="272" y="15"/>
                      </a:lnTo>
                      <a:lnTo>
                        <a:pt x="266" y="16"/>
                      </a:lnTo>
                      <a:lnTo>
                        <a:pt x="260" y="17"/>
                      </a:lnTo>
                      <a:lnTo>
                        <a:pt x="254" y="19"/>
                      </a:lnTo>
                      <a:lnTo>
                        <a:pt x="248" y="21"/>
                      </a:lnTo>
                      <a:lnTo>
                        <a:pt x="241" y="23"/>
                      </a:lnTo>
                      <a:lnTo>
                        <a:pt x="236" y="26"/>
                      </a:lnTo>
                      <a:lnTo>
                        <a:pt x="229" y="29"/>
                      </a:lnTo>
                      <a:lnTo>
                        <a:pt x="222" y="32"/>
                      </a:lnTo>
                      <a:lnTo>
                        <a:pt x="215" y="36"/>
                      </a:lnTo>
                      <a:lnTo>
                        <a:pt x="208" y="41"/>
                      </a:lnTo>
                      <a:lnTo>
                        <a:pt x="201" y="47"/>
                      </a:lnTo>
                      <a:lnTo>
                        <a:pt x="195" y="55"/>
                      </a:lnTo>
                      <a:lnTo>
                        <a:pt x="189" y="64"/>
                      </a:lnTo>
                      <a:lnTo>
                        <a:pt x="181" y="77"/>
                      </a:lnTo>
                      <a:lnTo>
                        <a:pt x="175" y="90"/>
                      </a:lnTo>
                      <a:lnTo>
                        <a:pt x="167" y="106"/>
                      </a:lnTo>
                      <a:lnTo>
                        <a:pt x="180" y="99"/>
                      </a:lnTo>
                      <a:lnTo>
                        <a:pt x="191" y="94"/>
                      </a:lnTo>
                      <a:lnTo>
                        <a:pt x="206" y="86"/>
                      </a:lnTo>
                      <a:lnTo>
                        <a:pt x="222" y="78"/>
                      </a:lnTo>
                      <a:lnTo>
                        <a:pt x="229" y="77"/>
                      </a:lnTo>
                      <a:lnTo>
                        <a:pt x="236" y="74"/>
                      </a:lnTo>
                      <a:lnTo>
                        <a:pt x="243" y="72"/>
                      </a:lnTo>
                      <a:lnTo>
                        <a:pt x="252" y="70"/>
                      </a:lnTo>
                      <a:lnTo>
                        <a:pt x="261" y="68"/>
                      </a:lnTo>
                      <a:lnTo>
                        <a:pt x="269" y="68"/>
                      </a:lnTo>
                      <a:lnTo>
                        <a:pt x="275" y="67"/>
                      </a:lnTo>
                      <a:lnTo>
                        <a:pt x="285" y="66"/>
                      </a:lnTo>
                      <a:lnTo>
                        <a:pt x="294" y="66"/>
                      </a:lnTo>
                      <a:lnTo>
                        <a:pt x="301" y="67"/>
                      </a:lnTo>
                      <a:lnTo>
                        <a:pt x="311" y="68"/>
                      </a:lnTo>
                      <a:lnTo>
                        <a:pt x="319" y="69"/>
                      </a:lnTo>
                      <a:lnTo>
                        <a:pt x="328" y="69"/>
                      </a:lnTo>
                      <a:lnTo>
                        <a:pt x="336" y="70"/>
                      </a:lnTo>
                      <a:lnTo>
                        <a:pt x="345" y="71"/>
                      </a:lnTo>
                      <a:lnTo>
                        <a:pt x="354" y="72"/>
                      </a:lnTo>
                      <a:lnTo>
                        <a:pt x="363" y="73"/>
                      </a:lnTo>
                      <a:lnTo>
                        <a:pt x="371" y="74"/>
                      </a:lnTo>
                      <a:lnTo>
                        <a:pt x="381" y="75"/>
                      </a:lnTo>
                      <a:lnTo>
                        <a:pt x="392" y="76"/>
                      </a:lnTo>
                      <a:lnTo>
                        <a:pt x="401" y="77"/>
                      </a:lnTo>
                      <a:lnTo>
                        <a:pt x="416" y="79"/>
                      </a:lnTo>
                      <a:lnTo>
                        <a:pt x="421" y="79"/>
                      </a:lnTo>
                      <a:lnTo>
                        <a:pt x="425" y="79"/>
                      </a:lnTo>
                      <a:lnTo>
                        <a:pt x="430" y="81"/>
                      </a:lnTo>
                      <a:lnTo>
                        <a:pt x="439" y="84"/>
                      </a:lnTo>
                      <a:lnTo>
                        <a:pt x="424" y="81"/>
                      </a:lnTo>
                      <a:lnTo>
                        <a:pt x="417" y="80"/>
                      </a:lnTo>
                      <a:lnTo>
                        <a:pt x="411" y="80"/>
                      </a:lnTo>
                      <a:lnTo>
                        <a:pt x="397" y="81"/>
                      </a:lnTo>
                      <a:lnTo>
                        <a:pt x="388" y="82"/>
                      </a:lnTo>
                      <a:lnTo>
                        <a:pt x="377" y="82"/>
                      </a:lnTo>
                      <a:lnTo>
                        <a:pt x="367" y="82"/>
                      </a:lnTo>
                      <a:lnTo>
                        <a:pt x="357" y="83"/>
                      </a:lnTo>
                      <a:lnTo>
                        <a:pt x="348" y="83"/>
                      </a:lnTo>
                      <a:lnTo>
                        <a:pt x="340" y="82"/>
                      </a:lnTo>
                      <a:lnTo>
                        <a:pt x="330" y="82"/>
                      </a:lnTo>
                      <a:lnTo>
                        <a:pt x="319" y="82"/>
                      </a:lnTo>
                      <a:lnTo>
                        <a:pt x="310" y="83"/>
                      </a:lnTo>
                      <a:lnTo>
                        <a:pt x="302" y="84"/>
                      </a:lnTo>
                      <a:lnTo>
                        <a:pt x="292" y="84"/>
                      </a:lnTo>
                      <a:lnTo>
                        <a:pt x="285" y="84"/>
                      </a:lnTo>
                      <a:lnTo>
                        <a:pt x="276" y="85"/>
                      </a:lnTo>
                      <a:lnTo>
                        <a:pt x="269" y="87"/>
                      </a:lnTo>
                      <a:lnTo>
                        <a:pt x="261" y="88"/>
                      </a:lnTo>
                      <a:lnTo>
                        <a:pt x="254" y="90"/>
                      </a:lnTo>
                      <a:lnTo>
                        <a:pt x="246" y="92"/>
                      </a:lnTo>
                      <a:lnTo>
                        <a:pt x="238" y="94"/>
                      </a:lnTo>
                      <a:lnTo>
                        <a:pt x="229" y="96"/>
                      </a:lnTo>
                      <a:lnTo>
                        <a:pt x="222" y="98"/>
                      </a:lnTo>
                      <a:lnTo>
                        <a:pt x="208" y="102"/>
                      </a:lnTo>
                      <a:lnTo>
                        <a:pt x="200" y="103"/>
                      </a:lnTo>
                      <a:lnTo>
                        <a:pt x="189" y="108"/>
                      </a:lnTo>
                      <a:lnTo>
                        <a:pt x="172" y="115"/>
                      </a:lnTo>
                      <a:lnTo>
                        <a:pt x="189" y="117"/>
                      </a:lnTo>
                      <a:lnTo>
                        <a:pt x="209" y="118"/>
                      </a:lnTo>
                      <a:lnTo>
                        <a:pt x="213" y="118"/>
                      </a:lnTo>
                      <a:lnTo>
                        <a:pt x="222" y="123"/>
                      </a:lnTo>
                      <a:lnTo>
                        <a:pt x="228" y="126"/>
                      </a:lnTo>
                      <a:lnTo>
                        <a:pt x="234" y="129"/>
                      </a:lnTo>
                      <a:lnTo>
                        <a:pt x="235" y="131"/>
                      </a:lnTo>
                      <a:lnTo>
                        <a:pt x="238" y="137"/>
                      </a:lnTo>
                      <a:lnTo>
                        <a:pt x="245" y="146"/>
                      </a:lnTo>
                      <a:lnTo>
                        <a:pt x="238" y="142"/>
                      </a:lnTo>
                      <a:lnTo>
                        <a:pt x="229" y="137"/>
                      </a:lnTo>
                      <a:lnTo>
                        <a:pt x="222" y="135"/>
                      </a:lnTo>
                      <a:lnTo>
                        <a:pt x="209" y="132"/>
                      </a:lnTo>
                      <a:lnTo>
                        <a:pt x="199" y="129"/>
                      </a:lnTo>
                      <a:lnTo>
                        <a:pt x="189" y="126"/>
                      </a:lnTo>
                      <a:lnTo>
                        <a:pt x="184" y="125"/>
                      </a:lnTo>
                      <a:lnTo>
                        <a:pt x="172" y="126"/>
                      </a:lnTo>
                      <a:lnTo>
                        <a:pt x="165" y="127"/>
                      </a:lnTo>
                      <a:lnTo>
                        <a:pt x="155" y="129"/>
                      </a:lnTo>
                      <a:lnTo>
                        <a:pt x="160" y="131"/>
                      </a:lnTo>
                      <a:lnTo>
                        <a:pt x="166" y="132"/>
                      </a:lnTo>
                      <a:lnTo>
                        <a:pt x="173" y="136"/>
                      </a:lnTo>
                      <a:lnTo>
                        <a:pt x="181" y="135"/>
                      </a:lnTo>
                      <a:lnTo>
                        <a:pt x="195" y="136"/>
                      </a:lnTo>
                      <a:lnTo>
                        <a:pt x="203" y="137"/>
                      </a:lnTo>
                      <a:lnTo>
                        <a:pt x="215" y="140"/>
                      </a:lnTo>
                      <a:lnTo>
                        <a:pt x="222" y="143"/>
                      </a:lnTo>
                      <a:lnTo>
                        <a:pt x="232" y="145"/>
                      </a:lnTo>
                      <a:lnTo>
                        <a:pt x="242" y="148"/>
                      </a:lnTo>
                      <a:lnTo>
                        <a:pt x="251" y="151"/>
                      </a:lnTo>
                      <a:lnTo>
                        <a:pt x="259" y="152"/>
                      </a:lnTo>
                      <a:lnTo>
                        <a:pt x="266" y="153"/>
                      </a:lnTo>
                      <a:lnTo>
                        <a:pt x="273" y="155"/>
                      </a:lnTo>
                      <a:lnTo>
                        <a:pt x="282" y="157"/>
                      </a:lnTo>
                      <a:lnTo>
                        <a:pt x="291" y="161"/>
                      </a:lnTo>
                      <a:lnTo>
                        <a:pt x="299" y="165"/>
                      </a:lnTo>
                      <a:lnTo>
                        <a:pt x="303" y="169"/>
                      </a:lnTo>
                      <a:lnTo>
                        <a:pt x="309" y="175"/>
                      </a:lnTo>
                      <a:lnTo>
                        <a:pt x="316" y="183"/>
                      </a:lnTo>
                      <a:lnTo>
                        <a:pt x="321" y="190"/>
                      </a:lnTo>
                      <a:lnTo>
                        <a:pt x="326" y="197"/>
                      </a:lnTo>
                      <a:lnTo>
                        <a:pt x="331" y="204"/>
                      </a:lnTo>
                      <a:lnTo>
                        <a:pt x="335" y="212"/>
                      </a:lnTo>
                      <a:lnTo>
                        <a:pt x="340" y="218"/>
                      </a:lnTo>
                      <a:lnTo>
                        <a:pt x="345" y="226"/>
                      </a:lnTo>
                      <a:lnTo>
                        <a:pt x="351" y="234"/>
                      </a:lnTo>
                      <a:lnTo>
                        <a:pt x="356" y="243"/>
                      </a:lnTo>
                      <a:lnTo>
                        <a:pt x="361" y="250"/>
                      </a:lnTo>
                      <a:lnTo>
                        <a:pt x="368" y="258"/>
                      </a:lnTo>
                      <a:lnTo>
                        <a:pt x="359" y="251"/>
                      </a:lnTo>
                      <a:lnTo>
                        <a:pt x="353" y="247"/>
                      </a:lnTo>
                      <a:lnTo>
                        <a:pt x="344" y="242"/>
                      </a:lnTo>
                      <a:lnTo>
                        <a:pt x="336" y="236"/>
                      </a:lnTo>
                      <a:lnTo>
                        <a:pt x="330" y="231"/>
                      </a:lnTo>
                      <a:lnTo>
                        <a:pt x="323" y="226"/>
                      </a:lnTo>
                      <a:lnTo>
                        <a:pt x="317" y="222"/>
                      </a:lnTo>
                      <a:lnTo>
                        <a:pt x="311" y="218"/>
                      </a:lnTo>
                      <a:lnTo>
                        <a:pt x="304" y="214"/>
                      </a:lnTo>
                      <a:lnTo>
                        <a:pt x="297" y="210"/>
                      </a:lnTo>
                      <a:lnTo>
                        <a:pt x="291" y="205"/>
                      </a:lnTo>
                      <a:lnTo>
                        <a:pt x="284" y="200"/>
                      </a:lnTo>
                      <a:lnTo>
                        <a:pt x="275" y="195"/>
                      </a:lnTo>
                      <a:lnTo>
                        <a:pt x="267" y="189"/>
                      </a:lnTo>
                      <a:lnTo>
                        <a:pt x="259" y="183"/>
                      </a:lnTo>
                      <a:lnTo>
                        <a:pt x="252" y="179"/>
                      </a:lnTo>
                      <a:lnTo>
                        <a:pt x="245" y="174"/>
                      </a:lnTo>
                      <a:lnTo>
                        <a:pt x="237" y="170"/>
                      </a:lnTo>
                      <a:lnTo>
                        <a:pt x="229" y="167"/>
                      </a:lnTo>
                      <a:lnTo>
                        <a:pt x="222" y="165"/>
                      </a:lnTo>
                      <a:lnTo>
                        <a:pt x="211" y="162"/>
                      </a:lnTo>
                      <a:lnTo>
                        <a:pt x="201" y="159"/>
                      </a:lnTo>
                      <a:lnTo>
                        <a:pt x="194" y="157"/>
                      </a:lnTo>
                      <a:lnTo>
                        <a:pt x="186" y="155"/>
                      </a:lnTo>
                      <a:lnTo>
                        <a:pt x="175" y="149"/>
                      </a:lnTo>
                      <a:lnTo>
                        <a:pt x="163" y="144"/>
                      </a:lnTo>
                      <a:lnTo>
                        <a:pt x="180" y="155"/>
                      </a:lnTo>
                      <a:lnTo>
                        <a:pt x="182" y="157"/>
                      </a:lnTo>
                      <a:lnTo>
                        <a:pt x="186" y="162"/>
                      </a:lnTo>
                      <a:lnTo>
                        <a:pt x="190" y="168"/>
                      </a:lnTo>
                      <a:lnTo>
                        <a:pt x="195" y="175"/>
                      </a:lnTo>
                      <a:lnTo>
                        <a:pt x="201" y="182"/>
                      </a:lnTo>
                      <a:lnTo>
                        <a:pt x="206" y="189"/>
                      </a:lnTo>
                      <a:lnTo>
                        <a:pt x="212" y="197"/>
                      </a:lnTo>
                      <a:lnTo>
                        <a:pt x="217" y="204"/>
                      </a:lnTo>
                      <a:lnTo>
                        <a:pt x="222" y="210"/>
                      </a:lnTo>
                      <a:lnTo>
                        <a:pt x="227" y="217"/>
                      </a:lnTo>
                      <a:lnTo>
                        <a:pt x="233" y="227"/>
                      </a:lnTo>
                      <a:lnTo>
                        <a:pt x="238" y="234"/>
                      </a:lnTo>
                      <a:lnTo>
                        <a:pt x="242" y="241"/>
                      </a:lnTo>
                      <a:lnTo>
                        <a:pt x="246" y="248"/>
                      </a:lnTo>
                      <a:lnTo>
                        <a:pt x="250" y="255"/>
                      </a:lnTo>
                      <a:lnTo>
                        <a:pt x="252" y="262"/>
                      </a:lnTo>
                      <a:lnTo>
                        <a:pt x="254" y="267"/>
                      </a:lnTo>
                      <a:lnTo>
                        <a:pt x="256" y="275"/>
                      </a:lnTo>
                      <a:lnTo>
                        <a:pt x="257" y="285"/>
                      </a:lnTo>
                      <a:lnTo>
                        <a:pt x="258" y="294"/>
                      </a:lnTo>
                      <a:lnTo>
                        <a:pt x="259" y="304"/>
                      </a:lnTo>
                      <a:lnTo>
                        <a:pt x="261" y="313"/>
                      </a:lnTo>
                      <a:lnTo>
                        <a:pt x="262" y="323"/>
                      </a:lnTo>
                      <a:lnTo>
                        <a:pt x="255" y="313"/>
                      </a:lnTo>
                      <a:lnTo>
                        <a:pt x="249" y="307"/>
                      </a:lnTo>
                      <a:lnTo>
                        <a:pt x="245" y="300"/>
                      </a:lnTo>
                      <a:lnTo>
                        <a:pt x="241" y="295"/>
                      </a:lnTo>
                      <a:lnTo>
                        <a:pt x="238" y="288"/>
                      </a:lnTo>
                      <a:lnTo>
                        <a:pt x="236" y="280"/>
                      </a:lnTo>
                      <a:lnTo>
                        <a:pt x="232" y="271"/>
                      </a:lnTo>
                      <a:lnTo>
                        <a:pt x="228" y="263"/>
                      </a:lnTo>
                      <a:lnTo>
                        <a:pt x="224" y="254"/>
                      </a:lnTo>
                      <a:lnTo>
                        <a:pt x="221" y="246"/>
                      </a:lnTo>
                      <a:lnTo>
                        <a:pt x="217" y="238"/>
                      </a:lnTo>
                      <a:lnTo>
                        <a:pt x="212" y="232"/>
                      </a:lnTo>
                      <a:lnTo>
                        <a:pt x="208" y="226"/>
                      </a:lnTo>
                      <a:lnTo>
                        <a:pt x="202" y="218"/>
                      </a:lnTo>
                      <a:lnTo>
                        <a:pt x="196" y="211"/>
                      </a:lnTo>
                      <a:lnTo>
                        <a:pt x="191" y="205"/>
                      </a:lnTo>
                      <a:lnTo>
                        <a:pt x="186" y="199"/>
                      </a:lnTo>
                      <a:lnTo>
                        <a:pt x="185" y="194"/>
                      </a:lnTo>
                      <a:lnTo>
                        <a:pt x="181" y="185"/>
                      </a:lnTo>
                      <a:lnTo>
                        <a:pt x="177" y="179"/>
                      </a:lnTo>
                      <a:lnTo>
                        <a:pt x="174" y="171"/>
                      </a:lnTo>
                      <a:lnTo>
                        <a:pt x="172" y="169"/>
                      </a:lnTo>
                      <a:lnTo>
                        <a:pt x="165" y="162"/>
                      </a:lnTo>
                      <a:lnTo>
                        <a:pt x="161" y="155"/>
                      </a:lnTo>
                      <a:lnTo>
                        <a:pt x="157" y="149"/>
                      </a:lnTo>
                      <a:lnTo>
                        <a:pt x="153" y="143"/>
                      </a:lnTo>
                      <a:lnTo>
                        <a:pt x="145" y="146"/>
                      </a:lnTo>
                      <a:lnTo>
                        <a:pt x="137" y="151"/>
                      </a:lnTo>
                      <a:lnTo>
                        <a:pt x="129" y="158"/>
                      </a:lnTo>
                      <a:lnTo>
                        <a:pt x="121" y="164"/>
                      </a:lnTo>
                      <a:lnTo>
                        <a:pt x="115" y="170"/>
                      </a:lnTo>
                      <a:lnTo>
                        <a:pt x="110" y="176"/>
                      </a:lnTo>
                      <a:lnTo>
                        <a:pt x="104" y="185"/>
                      </a:lnTo>
                      <a:lnTo>
                        <a:pt x="97" y="195"/>
                      </a:lnTo>
                      <a:lnTo>
                        <a:pt x="92" y="203"/>
                      </a:lnTo>
                      <a:lnTo>
                        <a:pt x="85" y="212"/>
                      </a:lnTo>
                      <a:lnTo>
                        <a:pt x="80" y="221"/>
                      </a:lnTo>
                      <a:lnTo>
                        <a:pt x="76" y="229"/>
                      </a:lnTo>
                      <a:lnTo>
                        <a:pt x="71" y="237"/>
                      </a:lnTo>
                      <a:lnTo>
                        <a:pt x="67" y="245"/>
                      </a:lnTo>
                      <a:lnTo>
                        <a:pt x="62" y="254"/>
                      </a:lnTo>
                      <a:lnTo>
                        <a:pt x="58" y="263"/>
                      </a:lnTo>
                      <a:lnTo>
                        <a:pt x="51" y="273"/>
                      </a:lnTo>
                      <a:lnTo>
                        <a:pt x="45" y="283"/>
                      </a:lnTo>
                      <a:lnTo>
                        <a:pt x="38" y="294"/>
                      </a:lnTo>
                      <a:lnTo>
                        <a:pt x="33" y="303"/>
                      </a:lnTo>
                      <a:lnTo>
                        <a:pt x="28" y="309"/>
                      </a:lnTo>
                      <a:lnTo>
                        <a:pt x="24" y="315"/>
                      </a:lnTo>
                      <a:lnTo>
                        <a:pt x="18" y="321"/>
                      </a:lnTo>
                      <a:lnTo>
                        <a:pt x="13" y="327"/>
                      </a:lnTo>
                      <a:lnTo>
                        <a:pt x="7" y="333"/>
                      </a:lnTo>
                      <a:lnTo>
                        <a:pt x="0" y="341"/>
                      </a:lnTo>
                      <a:lnTo>
                        <a:pt x="2" y="331"/>
                      </a:lnTo>
                      <a:lnTo>
                        <a:pt x="5" y="324"/>
                      </a:lnTo>
                      <a:lnTo>
                        <a:pt x="8" y="315"/>
                      </a:lnTo>
                      <a:lnTo>
                        <a:pt x="13" y="309"/>
                      </a:lnTo>
                      <a:lnTo>
                        <a:pt x="20" y="298"/>
                      </a:lnTo>
                      <a:lnTo>
                        <a:pt x="27" y="287"/>
                      </a:lnTo>
                      <a:lnTo>
                        <a:pt x="35" y="275"/>
                      </a:lnTo>
                      <a:lnTo>
                        <a:pt x="41" y="265"/>
                      </a:lnTo>
                      <a:lnTo>
                        <a:pt x="47" y="255"/>
                      </a:lnTo>
                      <a:lnTo>
                        <a:pt x="54" y="246"/>
                      </a:lnTo>
                      <a:lnTo>
                        <a:pt x="59" y="238"/>
                      </a:lnTo>
                      <a:lnTo>
                        <a:pt x="64" y="231"/>
                      </a:lnTo>
                      <a:lnTo>
                        <a:pt x="69" y="224"/>
                      </a:lnTo>
                      <a:lnTo>
                        <a:pt x="76" y="216"/>
                      </a:lnTo>
                      <a:lnTo>
                        <a:pt x="82" y="208"/>
                      </a:lnTo>
                      <a:lnTo>
                        <a:pt x="88" y="199"/>
                      </a:lnTo>
                      <a:lnTo>
                        <a:pt x="95" y="190"/>
                      </a:lnTo>
                      <a:lnTo>
                        <a:pt x="100" y="183"/>
                      </a:lnTo>
                      <a:lnTo>
                        <a:pt x="105" y="175"/>
                      </a:lnTo>
                      <a:lnTo>
                        <a:pt x="110" y="167"/>
                      </a:lnTo>
                      <a:lnTo>
                        <a:pt x="112" y="162"/>
                      </a:lnTo>
                      <a:lnTo>
                        <a:pt x="114" y="156"/>
                      </a:lnTo>
                      <a:lnTo>
                        <a:pt x="118" y="151"/>
                      </a:lnTo>
                      <a:lnTo>
                        <a:pt x="122" y="145"/>
                      </a:lnTo>
                      <a:lnTo>
                        <a:pt x="129" y="138"/>
                      </a:lnTo>
                      <a:lnTo>
                        <a:pt x="134" y="131"/>
                      </a:lnTo>
                      <a:lnTo>
                        <a:pt x="139" y="126"/>
                      </a:lnTo>
                      <a:lnTo>
                        <a:pt x="143" y="119"/>
                      </a:lnTo>
                      <a:lnTo>
                        <a:pt x="141" y="114"/>
                      </a:lnTo>
                      <a:lnTo>
                        <a:pt x="139" y="106"/>
                      </a:lnTo>
                      <a:lnTo>
                        <a:pt x="127" y="102"/>
                      </a:lnTo>
                      <a:lnTo>
                        <a:pt x="113" y="92"/>
                      </a:lnTo>
                      <a:lnTo>
                        <a:pt x="99" y="83"/>
                      </a:lnTo>
                      <a:lnTo>
                        <a:pt x="92" y="78"/>
                      </a:lnTo>
                      <a:lnTo>
                        <a:pt x="86" y="74"/>
                      </a:lnTo>
                      <a:lnTo>
                        <a:pt x="75" y="70"/>
                      </a:lnTo>
                      <a:lnTo>
                        <a:pt x="64" y="66"/>
                      </a:lnTo>
                      <a:lnTo>
                        <a:pt x="52" y="63"/>
                      </a:lnTo>
                      <a:lnTo>
                        <a:pt x="43" y="60"/>
                      </a:lnTo>
                      <a:lnTo>
                        <a:pt x="33" y="56"/>
                      </a:lnTo>
                      <a:lnTo>
                        <a:pt x="24" y="53"/>
                      </a:lnTo>
                      <a:lnTo>
                        <a:pt x="15" y="51"/>
                      </a:lnTo>
                      <a:lnTo>
                        <a:pt x="8" y="49"/>
                      </a:lnTo>
                      <a:lnTo>
                        <a:pt x="15" y="49"/>
                      </a:lnTo>
                      <a:lnTo>
                        <a:pt x="20" y="47"/>
                      </a:lnTo>
                      <a:lnTo>
                        <a:pt x="25" y="47"/>
                      </a:lnTo>
                      <a:lnTo>
                        <a:pt x="29" y="46"/>
                      </a:lnTo>
                      <a:lnTo>
                        <a:pt x="34" y="47"/>
                      </a:lnTo>
                      <a:lnTo>
                        <a:pt x="45" y="51"/>
                      </a:lnTo>
                      <a:lnTo>
                        <a:pt x="53" y="56"/>
                      </a:lnTo>
                      <a:lnTo>
                        <a:pt x="63" y="61"/>
                      </a:lnTo>
                      <a:lnTo>
                        <a:pt x="72" y="66"/>
                      </a:lnTo>
                      <a:lnTo>
                        <a:pt x="84" y="71"/>
                      </a:lnTo>
                      <a:lnTo>
                        <a:pt x="93" y="77"/>
                      </a:lnTo>
                      <a:lnTo>
                        <a:pt x="101" y="81"/>
                      </a:lnTo>
                      <a:lnTo>
                        <a:pt x="115" y="88"/>
                      </a:lnTo>
                      <a:lnTo>
                        <a:pt x="122" y="90"/>
                      </a:lnTo>
                      <a:lnTo>
                        <a:pt x="128" y="89"/>
                      </a:lnTo>
                      <a:lnTo>
                        <a:pt x="133" y="88"/>
                      </a:lnTo>
                      <a:lnTo>
                        <a:pt x="138" y="87"/>
                      </a:lnTo>
                    </a:path>
                  </a:pathLst>
                </a:custGeom>
                <a:solidFill>
                  <a:srgbClr val="037C03">
                    <a:alpha val="50195"/>
                  </a:srgbClr>
                </a:solidFill>
                <a:ln w="9525">
                  <a:noFill/>
                </a:ln>
              </p:spPr>
              <p:txBody>
                <a:bodyPr/>
                <a:lstStyle/>
                <a:p>
                  <a:endParaRPr lang="zh-CN" altLang="en-US"/>
                </a:p>
              </p:txBody>
            </p:sp>
            <p:sp>
              <p:nvSpPr>
                <p:cNvPr id="89122" name="Freeform 219"/>
                <p:cNvSpPr/>
                <p:nvPr/>
              </p:nvSpPr>
              <p:spPr>
                <a:xfrm>
                  <a:off x="1900" y="1641"/>
                  <a:ext cx="39" cy="193"/>
                </a:xfrm>
                <a:custGeom>
                  <a:avLst/>
                  <a:gdLst>
                    <a:gd name="txL" fmla="*/ 0 w 39"/>
                    <a:gd name="txT" fmla="*/ 0 h 193"/>
                    <a:gd name="txR" fmla="*/ 39 w 39"/>
                    <a:gd name="txB" fmla="*/ 193 h 193"/>
                  </a:gdLst>
                  <a:ahLst/>
                  <a:cxnLst>
                    <a:cxn ang="0">
                      <a:pos x="20" y="0"/>
                    </a:cxn>
                    <a:cxn ang="0">
                      <a:pos x="25" y="9"/>
                    </a:cxn>
                    <a:cxn ang="0">
                      <a:pos x="28" y="15"/>
                    </a:cxn>
                    <a:cxn ang="0">
                      <a:pos x="34" y="24"/>
                    </a:cxn>
                    <a:cxn ang="0">
                      <a:pos x="36" y="33"/>
                    </a:cxn>
                    <a:cxn ang="0">
                      <a:pos x="37" y="43"/>
                    </a:cxn>
                    <a:cxn ang="0">
                      <a:pos x="37" y="56"/>
                    </a:cxn>
                    <a:cxn ang="0">
                      <a:pos x="38" y="64"/>
                    </a:cxn>
                    <a:cxn ang="0">
                      <a:pos x="37" y="75"/>
                    </a:cxn>
                    <a:cxn ang="0">
                      <a:pos x="36" y="86"/>
                    </a:cxn>
                    <a:cxn ang="0">
                      <a:pos x="34" y="97"/>
                    </a:cxn>
                    <a:cxn ang="0">
                      <a:pos x="31" y="113"/>
                    </a:cxn>
                    <a:cxn ang="0">
                      <a:pos x="29" y="122"/>
                    </a:cxn>
                    <a:cxn ang="0">
                      <a:pos x="24" y="132"/>
                    </a:cxn>
                    <a:cxn ang="0">
                      <a:pos x="18" y="144"/>
                    </a:cxn>
                    <a:cxn ang="0">
                      <a:pos x="12" y="155"/>
                    </a:cxn>
                    <a:cxn ang="0">
                      <a:pos x="7" y="165"/>
                    </a:cxn>
                    <a:cxn ang="0">
                      <a:pos x="3" y="174"/>
                    </a:cxn>
                    <a:cxn ang="0">
                      <a:pos x="0" y="192"/>
                    </a:cxn>
                    <a:cxn ang="0">
                      <a:pos x="1" y="174"/>
                    </a:cxn>
                    <a:cxn ang="0">
                      <a:pos x="3" y="162"/>
                    </a:cxn>
                    <a:cxn ang="0">
                      <a:pos x="4" y="151"/>
                    </a:cxn>
                    <a:cxn ang="0">
                      <a:pos x="5" y="139"/>
                    </a:cxn>
                    <a:cxn ang="0">
                      <a:pos x="7" y="124"/>
                    </a:cxn>
                    <a:cxn ang="0">
                      <a:pos x="10" y="113"/>
                    </a:cxn>
                    <a:cxn ang="0">
                      <a:pos x="12" y="102"/>
                    </a:cxn>
                    <a:cxn ang="0">
                      <a:pos x="15" y="93"/>
                    </a:cxn>
                    <a:cxn ang="0">
                      <a:pos x="18" y="82"/>
                    </a:cxn>
                    <a:cxn ang="0">
                      <a:pos x="20" y="72"/>
                    </a:cxn>
                    <a:cxn ang="0">
                      <a:pos x="22" y="61"/>
                    </a:cxn>
                    <a:cxn ang="0">
                      <a:pos x="23" y="52"/>
                    </a:cxn>
                    <a:cxn ang="0">
                      <a:pos x="24" y="41"/>
                    </a:cxn>
                    <a:cxn ang="0">
                      <a:pos x="24" y="30"/>
                    </a:cxn>
                    <a:cxn ang="0">
                      <a:pos x="24" y="15"/>
                    </a:cxn>
                    <a:cxn ang="0">
                      <a:pos x="22" y="8"/>
                    </a:cxn>
                    <a:cxn ang="0">
                      <a:pos x="20" y="0"/>
                    </a:cxn>
                  </a:cxnLst>
                  <a:rect l="txL" t="txT" r="txR" b="txB"/>
                  <a:pathLst>
                    <a:path w="39" h="193">
                      <a:moveTo>
                        <a:pt x="20" y="0"/>
                      </a:moveTo>
                      <a:lnTo>
                        <a:pt x="25" y="9"/>
                      </a:lnTo>
                      <a:lnTo>
                        <a:pt x="28" y="15"/>
                      </a:lnTo>
                      <a:lnTo>
                        <a:pt x="34" y="24"/>
                      </a:lnTo>
                      <a:lnTo>
                        <a:pt x="36" y="33"/>
                      </a:lnTo>
                      <a:lnTo>
                        <a:pt x="37" y="43"/>
                      </a:lnTo>
                      <a:lnTo>
                        <a:pt x="37" y="56"/>
                      </a:lnTo>
                      <a:lnTo>
                        <a:pt x="38" y="64"/>
                      </a:lnTo>
                      <a:lnTo>
                        <a:pt x="37" y="75"/>
                      </a:lnTo>
                      <a:lnTo>
                        <a:pt x="36" y="86"/>
                      </a:lnTo>
                      <a:lnTo>
                        <a:pt x="34" y="97"/>
                      </a:lnTo>
                      <a:lnTo>
                        <a:pt x="31" y="113"/>
                      </a:lnTo>
                      <a:lnTo>
                        <a:pt x="29" y="122"/>
                      </a:lnTo>
                      <a:lnTo>
                        <a:pt x="24" y="132"/>
                      </a:lnTo>
                      <a:lnTo>
                        <a:pt x="18" y="144"/>
                      </a:lnTo>
                      <a:lnTo>
                        <a:pt x="12" y="155"/>
                      </a:lnTo>
                      <a:lnTo>
                        <a:pt x="7" y="165"/>
                      </a:lnTo>
                      <a:lnTo>
                        <a:pt x="3" y="174"/>
                      </a:lnTo>
                      <a:lnTo>
                        <a:pt x="0" y="192"/>
                      </a:lnTo>
                      <a:lnTo>
                        <a:pt x="1" y="174"/>
                      </a:lnTo>
                      <a:lnTo>
                        <a:pt x="3" y="162"/>
                      </a:lnTo>
                      <a:lnTo>
                        <a:pt x="4" y="151"/>
                      </a:lnTo>
                      <a:lnTo>
                        <a:pt x="5" y="139"/>
                      </a:lnTo>
                      <a:lnTo>
                        <a:pt x="7" y="124"/>
                      </a:lnTo>
                      <a:lnTo>
                        <a:pt x="10" y="113"/>
                      </a:lnTo>
                      <a:lnTo>
                        <a:pt x="12" y="102"/>
                      </a:lnTo>
                      <a:lnTo>
                        <a:pt x="15" y="93"/>
                      </a:lnTo>
                      <a:lnTo>
                        <a:pt x="18" y="82"/>
                      </a:lnTo>
                      <a:lnTo>
                        <a:pt x="20" y="72"/>
                      </a:lnTo>
                      <a:lnTo>
                        <a:pt x="22" y="61"/>
                      </a:lnTo>
                      <a:lnTo>
                        <a:pt x="23" y="52"/>
                      </a:lnTo>
                      <a:lnTo>
                        <a:pt x="24" y="41"/>
                      </a:lnTo>
                      <a:lnTo>
                        <a:pt x="24" y="30"/>
                      </a:lnTo>
                      <a:lnTo>
                        <a:pt x="24" y="15"/>
                      </a:lnTo>
                      <a:lnTo>
                        <a:pt x="22" y="8"/>
                      </a:lnTo>
                      <a:lnTo>
                        <a:pt x="20" y="0"/>
                      </a:lnTo>
                    </a:path>
                  </a:pathLst>
                </a:custGeom>
                <a:solidFill>
                  <a:srgbClr val="037C03">
                    <a:alpha val="50195"/>
                  </a:srgbClr>
                </a:solidFill>
                <a:ln w="9525">
                  <a:noFill/>
                </a:ln>
              </p:spPr>
              <p:txBody>
                <a:bodyPr/>
                <a:lstStyle/>
                <a:p>
                  <a:endParaRPr lang="zh-CN" altLang="en-US"/>
                </a:p>
              </p:txBody>
            </p:sp>
            <p:sp>
              <p:nvSpPr>
                <p:cNvPr id="89123" name="Freeform 220"/>
                <p:cNvSpPr/>
                <p:nvPr/>
              </p:nvSpPr>
              <p:spPr>
                <a:xfrm>
                  <a:off x="1716" y="1535"/>
                  <a:ext cx="171" cy="50"/>
                </a:xfrm>
                <a:custGeom>
                  <a:avLst/>
                  <a:gdLst>
                    <a:gd name="txL" fmla="*/ 0 w 171"/>
                    <a:gd name="txT" fmla="*/ 0 h 50"/>
                    <a:gd name="txR" fmla="*/ 171 w 171"/>
                    <a:gd name="txB" fmla="*/ 50 h 50"/>
                  </a:gdLst>
                  <a:ahLst/>
                  <a:cxnLst>
                    <a:cxn ang="0">
                      <a:pos x="170" y="49"/>
                    </a:cxn>
                    <a:cxn ang="0">
                      <a:pos x="167" y="40"/>
                    </a:cxn>
                    <a:cxn ang="0">
                      <a:pos x="163" y="33"/>
                    </a:cxn>
                    <a:cxn ang="0">
                      <a:pos x="160" y="31"/>
                    </a:cxn>
                    <a:cxn ang="0">
                      <a:pos x="153" y="29"/>
                    </a:cxn>
                    <a:cxn ang="0">
                      <a:pos x="147" y="27"/>
                    </a:cxn>
                    <a:cxn ang="0">
                      <a:pos x="140" y="29"/>
                    </a:cxn>
                    <a:cxn ang="0">
                      <a:pos x="132" y="30"/>
                    </a:cxn>
                    <a:cxn ang="0">
                      <a:pos x="123" y="27"/>
                    </a:cxn>
                    <a:cxn ang="0">
                      <a:pos x="111" y="22"/>
                    </a:cxn>
                    <a:cxn ang="0">
                      <a:pos x="100" y="18"/>
                    </a:cxn>
                    <a:cxn ang="0">
                      <a:pos x="92" y="16"/>
                    </a:cxn>
                    <a:cxn ang="0">
                      <a:pos x="80" y="12"/>
                    </a:cxn>
                    <a:cxn ang="0">
                      <a:pos x="67" y="8"/>
                    </a:cxn>
                    <a:cxn ang="0">
                      <a:pos x="55" y="5"/>
                    </a:cxn>
                    <a:cxn ang="0">
                      <a:pos x="42" y="1"/>
                    </a:cxn>
                    <a:cxn ang="0">
                      <a:pos x="28" y="1"/>
                    </a:cxn>
                    <a:cxn ang="0">
                      <a:pos x="15" y="0"/>
                    </a:cxn>
                    <a:cxn ang="0">
                      <a:pos x="12" y="1"/>
                    </a:cxn>
                    <a:cxn ang="0">
                      <a:pos x="7" y="4"/>
                    </a:cxn>
                    <a:cxn ang="0">
                      <a:pos x="3" y="7"/>
                    </a:cxn>
                    <a:cxn ang="0">
                      <a:pos x="0" y="11"/>
                    </a:cxn>
                    <a:cxn ang="0">
                      <a:pos x="5" y="11"/>
                    </a:cxn>
                    <a:cxn ang="0">
                      <a:pos x="12" y="12"/>
                    </a:cxn>
                    <a:cxn ang="0">
                      <a:pos x="19" y="12"/>
                    </a:cxn>
                    <a:cxn ang="0">
                      <a:pos x="23" y="11"/>
                    </a:cxn>
                    <a:cxn ang="0">
                      <a:pos x="30" y="11"/>
                    </a:cxn>
                    <a:cxn ang="0">
                      <a:pos x="39" y="11"/>
                    </a:cxn>
                    <a:cxn ang="0">
                      <a:pos x="51" y="11"/>
                    </a:cxn>
                    <a:cxn ang="0">
                      <a:pos x="61" y="12"/>
                    </a:cxn>
                    <a:cxn ang="0">
                      <a:pos x="71" y="14"/>
                    </a:cxn>
                    <a:cxn ang="0">
                      <a:pos x="81" y="15"/>
                    </a:cxn>
                    <a:cxn ang="0">
                      <a:pos x="91" y="16"/>
                    </a:cxn>
                    <a:cxn ang="0">
                      <a:pos x="99" y="19"/>
                    </a:cxn>
                    <a:cxn ang="0">
                      <a:pos x="108" y="23"/>
                    </a:cxn>
                    <a:cxn ang="0">
                      <a:pos x="116" y="27"/>
                    </a:cxn>
                    <a:cxn ang="0">
                      <a:pos x="125" y="31"/>
                    </a:cxn>
                    <a:cxn ang="0">
                      <a:pos x="129" y="32"/>
                    </a:cxn>
                    <a:cxn ang="0">
                      <a:pos x="134" y="31"/>
                    </a:cxn>
                    <a:cxn ang="0">
                      <a:pos x="140" y="34"/>
                    </a:cxn>
                    <a:cxn ang="0">
                      <a:pos x="146" y="37"/>
                    </a:cxn>
                    <a:cxn ang="0">
                      <a:pos x="152" y="40"/>
                    </a:cxn>
                    <a:cxn ang="0">
                      <a:pos x="161" y="44"/>
                    </a:cxn>
                    <a:cxn ang="0">
                      <a:pos x="167" y="46"/>
                    </a:cxn>
                    <a:cxn ang="0">
                      <a:pos x="170" y="49"/>
                    </a:cxn>
                  </a:cxnLst>
                  <a:rect l="txL" t="txT" r="txR" b="txB"/>
                  <a:pathLst>
                    <a:path w="171" h="50">
                      <a:moveTo>
                        <a:pt x="170" y="49"/>
                      </a:moveTo>
                      <a:lnTo>
                        <a:pt x="167" y="40"/>
                      </a:lnTo>
                      <a:lnTo>
                        <a:pt x="163" y="33"/>
                      </a:lnTo>
                      <a:lnTo>
                        <a:pt x="160" y="31"/>
                      </a:lnTo>
                      <a:lnTo>
                        <a:pt x="153" y="29"/>
                      </a:lnTo>
                      <a:lnTo>
                        <a:pt x="147" y="27"/>
                      </a:lnTo>
                      <a:lnTo>
                        <a:pt x="140" y="29"/>
                      </a:lnTo>
                      <a:lnTo>
                        <a:pt x="132" y="30"/>
                      </a:lnTo>
                      <a:lnTo>
                        <a:pt x="123" y="27"/>
                      </a:lnTo>
                      <a:lnTo>
                        <a:pt x="111" y="22"/>
                      </a:lnTo>
                      <a:lnTo>
                        <a:pt x="100" y="18"/>
                      </a:lnTo>
                      <a:lnTo>
                        <a:pt x="92" y="16"/>
                      </a:lnTo>
                      <a:lnTo>
                        <a:pt x="80" y="12"/>
                      </a:lnTo>
                      <a:lnTo>
                        <a:pt x="67" y="8"/>
                      </a:lnTo>
                      <a:lnTo>
                        <a:pt x="55" y="5"/>
                      </a:lnTo>
                      <a:lnTo>
                        <a:pt x="42" y="1"/>
                      </a:lnTo>
                      <a:lnTo>
                        <a:pt x="28" y="1"/>
                      </a:lnTo>
                      <a:lnTo>
                        <a:pt x="15" y="0"/>
                      </a:lnTo>
                      <a:lnTo>
                        <a:pt x="12" y="1"/>
                      </a:lnTo>
                      <a:lnTo>
                        <a:pt x="7" y="4"/>
                      </a:lnTo>
                      <a:lnTo>
                        <a:pt x="3" y="7"/>
                      </a:lnTo>
                      <a:lnTo>
                        <a:pt x="0" y="11"/>
                      </a:lnTo>
                      <a:lnTo>
                        <a:pt x="5" y="11"/>
                      </a:lnTo>
                      <a:lnTo>
                        <a:pt x="12" y="12"/>
                      </a:lnTo>
                      <a:lnTo>
                        <a:pt x="19" y="12"/>
                      </a:lnTo>
                      <a:lnTo>
                        <a:pt x="23" y="11"/>
                      </a:lnTo>
                      <a:lnTo>
                        <a:pt x="30" y="11"/>
                      </a:lnTo>
                      <a:lnTo>
                        <a:pt x="39" y="11"/>
                      </a:lnTo>
                      <a:lnTo>
                        <a:pt x="51" y="11"/>
                      </a:lnTo>
                      <a:lnTo>
                        <a:pt x="61" y="12"/>
                      </a:lnTo>
                      <a:lnTo>
                        <a:pt x="71" y="14"/>
                      </a:lnTo>
                      <a:lnTo>
                        <a:pt x="81" y="15"/>
                      </a:lnTo>
                      <a:lnTo>
                        <a:pt x="91" y="16"/>
                      </a:lnTo>
                      <a:lnTo>
                        <a:pt x="99" y="19"/>
                      </a:lnTo>
                      <a:lnTo>
                        <a:pt x="108" y="23"/>
                      </a:lnTo>
                      <a:lnTo>
                        <a:pt x="116" y="27"/>
                      </a:lnTo>
                      <a:lnTo>
                        <a:pt x="125" y="31"/>
                      </a:lnTo>
                      <a:lnTo>
                        <a:pt x="129" y="32"/>
                      </a:lnTo>
                      <a:lnTo>
                        <a:pt x="134" y="31"/>
                      </a:lnTo>
                      <a:lnTo>
                        <a:pt x="140" y="34"/>
                      </a:lnTo>
                      <a:lnTo>
                        <a:pt x="146" y="37"/>
                      </a:lnTo>
                      <a:lnTo>
                        <a:pt x="152" y="40"/>
                      </a:lnTo>
                      <a:lnTo>
                        <a:pt x="161" y="44"/>
                      </a:lnTo>
                      <a:lnTo>
                        <a:pt x="167" y="46"/>
                      </a:lnTo>
                      <a:lnTo>
                        <a:pt x="170" y="49"/>
                      </a:lnTo>
                    </a:path>
                  </a:pathLst>
                </a:custGeom>
                <a:solidFill>
                  <a:srgbClr val="037C03">
                    <a:alpha val="50195"/>
                  </a:srgbClr>
                </a:solidFill>
                <a:ln w="9525">
                  <a:noFill/>
                </a:ln>
              </p:spPr>
              <p:txBody>
                <a:bodyPr/>
                <a:lstStyle/>
                <a:p>
                  <a:endParaRPr lang="zh-CN" altLang="en-US"/>
                </a:p>
              </p:txBody>
            </p:sp>
            <p:sp>
              <p:nvSpPr>
                <p:cNvPr id="89124" name="Freeform 221"/>
                <p:cNvSpPr/>
                <p:nvPr/>
              </p:nvSpPr>
              <p:spPr>
                <a:xfrm>
                  <a:off x="1707" y="1563"/>
                  <a:ext cx="177" cy="21"/>
                </a:xfrm>
                <a:custGeom>
                  <a:avLst/>
                  <a:gdLst>
                    <a:gd name="txL" fmla="*/ 0 w 177"/>
                    <a:gd name="txT" fmla="*/ 0 h 21"/>
                    <a:gd name="txR" fmla="*/ 177 w 177"/>
                    <a:gd name="txB" fmla="*/ 21 h 21"/>
                  </a:gdLst>
                  <a:ahLst/>
                  <a:cxnLst>
                    <a:cxn ang="0">
                      <a:pos x="176" y="20"/>
                    </a:cxn>
                    <a:cxn ang="0">
                      <a:pos x="171" y="18"/>
                    </a:cxn>
                    <a:cxn ang="0">
                      <a:pos x="166" y="16"/>
                    </a:cxn>
                    <a:cxn ang="0">
                      <a:pos x="161" y="13"/>
                    </a:cxn>
                    <a:cxn ang="0">
                      <a:pos x="155" y="12"/>
                    </a:cxn>
                    <a:cxn ang="0">
                      <a:pos x="149" y="10"/>
                    </a:cxn>
                    <a:cxn ang="0">
                      <a:pos x="141" y="6"/>
                    </a:cxn>
                    <a:cxn ang="0">
                      <a:pos x="134" y="3"/>
                    </a:cxn>
                    <a:cxn ang="0">
                      <a:pos x="128" y="2"/>
                    </a:cxn>
                    <a:cxn ang="0">
                      <a:pos x="120" y="3"/>
                    </a:cxn>
                    <a:cxn ang="0">
                      <a:pos x="110" y="5"/>
                    </a:cxn>
                    <a:cxn ang="0">
                      <a:pos x="106" y="5"/>
                    </a:cxn>
                    <a:cxn ang="0">
                      <a:pos x="93" y="3"/>
                    </a:cxn>
                    <a:cxn ang="0">
                      <a:pos x="78" y="1"/>
                    </a:cxn>
                    <a:cxn ang="0">
                      <a:pos x="69" y="0"/>
                    </a:cxn>
                    <a:cxn ang="0">
                      <a:pos x="57" y="0"/>
                    </a:cxn>
                    <a:cxn ang="0">
                      <a:pos x="44" y="0"/>
                    </a:cxn>
                    <a:cxn ang="0">
                      <a:pos x="36" y="1"/>
                    </a:cxn>
                    <a:cxn ang="0">
                      <a:pos x="27" y="2"/>
                    </a:cxn>
                    <a:cxn ang="0">
                      <a:pos x="18" y="3"/>
                    </a:cxn>
                    <a:cxn ang="0">
                      <a:pos x="9" y="4"/>
                    </a:cxn>
                    <a:cxn ang="0">
                      <a:pos x="8" y="8"/>
                    </a:cxn>
                    <a:cxn ang="0">
                      <a:pos x="7" y="11"/>
                    </a:cxn>
                    <a:cxn ang="0">
                      <a:pos x="4" y="15"/>
                    </a:cxn>
                    <a:cxn ang="0">
                      <a:pos x="0" y="17"/>
                    </a:cxn>
                    <a:cxn ang="0">
                      <a:pos x="7" y="16"/>
                    </a:cxn>
                    <a:cxn ang="0">
                      <a:pos x="15" y="14"/>
                    </a:cxn>
                    <a:cxn ang="0">
                      <a:pos x="22" y="12"/>
                    </a:cxn>
                    <a:cxn ang="0">
                      <a:pos x="29" y="11"/>
                    </a:cxn>
                    <a:cxn ang="0">
                      <a:pos x="37" y="10"/>
                    </a:cxn>
                    <a:cxn ang="0">
                      <a:pos x="50" y="10"/>
                    </a:cxn>
                    <a:cxn ang="0">
                      <a:pos x="63" y="8"/>
                    </a:cxn>
                    <a:cxn ang="0">
                      <a:pos x="79" y="8"/>
                    </a:cxn>
                    <a:cxn ang="0">
                      <a:pos x="94" y="7"/>
                    </a:cxn>
                    <a:cxn ang="0">
                      <a:pos x="108" y="6"/>
                    </a:cxn>
                    <a:cxn ang="0">
                      <a:pos x="120" y="7"/>
                    </a:cxn>
                    <a:cxn ang="0">
                      <a:pos x="129" y="10"/>
                    </a:cxn>
                    <a:cxn ang="0">
                      <a:pos x="138" y="12"/>
                    </a:cxn>
                    <a:cxn ang="0">
                      <a:pos x="148" y="14"/>
                    </a:cxn>
                    <a:cxn ang="0">
                      <a:pos x="159" y="17"/>
                    </a:cxn>
                    <a:cxn ang="0">
                      <a:pos x="167" y="18"/>
                    </a:cxn>
                    <a:cxn ang="0">
                      <a:pos x="176" y="20"/>
                    </a:cxn>
                  </a:cxnLst>
                  <a:rect l="txL" t="txT" r="txR" b="txB"/>
                  <a:pathLst>
                    <a:path w="177" h="21">
                      <a:moveTo>
                        <a:pt x="176" y="20"/>
                      </a:moveTo>
                      <a:lnTo>
                        <a:pt x="171" y="18"/>
                      </a:lnTo>
                      <a:lnTo>
                        <a:pt x="166" y="16"/>
                      </a:lnTo>
                      <a:lnTo>
                        <a:pt x="161" y="13"/>
                      </a:lnTo>
                      <a:lnTo>
                        <a:pt x="155" y="12"/>
                      </a:lnTo>
                      <a:lnTo>
                        <a:pt x="149" y="10"/>
                      </a:lnTo>
                      <a:lnTo>
                        <a:pt x="141" y="6"/>
                      </a:lnTo>
                      <a:lnTo>
                        <a:pt x="134" y="3"/>
                      </a:lnTo>
                      <a:lnTo>
                        <a:pt x="128" y="2"/>
                      </a:lnTo>
                      <a:lnTo>
                        <a:pt x="120" y="3"/>
                      </a:lnTo>
                      <a:lnTo>
                        <a:pt x="110" y="5"/>
                      </a:lnTo>
                      <a:lnTo>
                        <a:pt x="106" y="5"/>
                      </a:lnTo>
                      <a:lnTo>
                        <a:pt x="93" y="3"/>
                      </a:lnTo>
                      <a:lnTo>
                        <a:pt x="78" y="1"/>
                      </a:lnTo>
                      <a:lnTo>
                        <a:pt x="69" y="0"/>
                      </a:lnTo>
                      <a:lnTo>
                        <a:pt x="57" y="0"/>
                      </a:lnTo>
                      <a:lnTo>
                        <a:pt x="44" y="0"/>
                      </a:lnTo>
                      <a:lnTo>
                        <a:pt x="36" y="1"/>
                      </a:lnTo>
                      <a:lnTo>
                        <a:pt x="27" y="2"/>
                      </a:lnTo>
                      <a:lnTo>
                        <a:pt x="18" y="3"/>
                      </a:lnTo>
                      <a:lnTo>
                        <a:pt x="9" y="4"/>
                      </a:lnTo>
                      <a:lnTo>
                        <a:pt x="8" y="8"/>
                      </a:lnTo>
                      <a:lnTo>
                        <a:pt x="7" y="11"/>
                      </a:lnTo>
                      <a:lnTo>
                        <a:pt x="4" y="15"/>
                      </a:lnTo>
                      <a:lnTo>
                        <a:pt x="0" y="17"/>
                      </a:lnTo>
                      <a:lnTo>
                        <a:pt x="7" y="16"/>
                      </a:lnTo>
                      <a:lnTo>
                        <a:pt x="15" y="14"/>
                      </a:lnTo>
                      <a:lnTo>
                        <a:pt x="22" y="12"/>
                      </a:lnTo>
                      <a:lnTo>
                        <a:pt x="29" y="11"/>
                      </a:lnTo>
                      <a:lnTo>
                        <a:pt x="37" y="10"/>
                      </a:lnTo>
                      <a:lnTo>
                        <a:pt x="50" y="10"/>
                      </a:lnTo>
                      <a:lnTo>
                        <a:pt x="63" y="8"/>
                      </a:lnTo>
                      <a:lnTo>
                        <a:pt x="79" y="8"/>
                      </a:lnTo>
                      <a:lnTo>
                        <a:pt x="94" y="7"/>
                      </a:lnTo>
                      <a:lnTo>
                        <a:pt x="108" y="6"/>
                      </a:lnTo>
                      <a:lnTo>
                        <a:pt x="120" y="7"/>
                      </a:lnTo>
                      <a:lnTo>
                        <a:pt x="129" y="10"/>
                      </a:lnTo>
                      <a:lnTo>
                        <a:pt x="138" y="12"/>
                      </a:lnTo>
                      <a:lnTo>
                        <a:pt x="148" y="14"/>
                      </a:lnTo>
                      <a:lnTo>
                        <a:pt x="159" y="17"/>
                      </a:lnTo>
                      <a:lnTo>
                        <a:pt x="167" y="18"/>
                      </a:lnTo>
                      <a:lnTo>
                        <a:pt x="176" y="20"/>
                      </a:lnTo>
                    </a:path>
                  </a:pathLst>
                </a:custGeom>
                <a:solidFill>
                  <a:srgbClr val="037C03">
                    <a:alpha val="50195"/>
                  </a:srgbClr>
                </a:solidFill>
                <a:ln w="9525">
                  <a:noFill/>
                </a:ln>
              </p:spPr>
              <p:txBody>
                <a:bodyPr/>
                <a:lstStyle/>
                <a:p>
                  <a:endParaRPr lang="zh-CN" altLang="en-US"/>
                </a:p>
              </p:txBody>
            </p:sp>
          </p:grpSp>
          <p:sp>
            <p:nvSpPr>
              <p:cNvPr id="89120" name="Freeform 222"/>
              <p:cNvSpPr/>
              <p:nvPr/>
            </p:nvSpPr>
            <p:spPr>
              <a:xfrm>
                <a:off x="1691" y="1023"/>
                <a:ext cx="261" cy="374"/>
              </a:xfrm>
              <a:custGeom>
                <a:avLst/>
                <a:gdLst>
                  <a:gd name="txL" fmla="*/ 0 w 261"/>
                  <a:gd name="txT" fmla="*/ 0 h 374"/>
                  <a:gd name="txR" fmla="*/ 261 w 261"/>
                  <a:gd name="txB" fmla="*/ 374 h 374"/>
                </a:gdLst>
                <a:ahLst/>
                <a:cxnLst>
                  <a:cxn ang="0">
                    <a:pos x="82" y="162"/>
                  </a:cxn>
                  <a:cxn ang="0">
                    <a:pos x="90" y="154"/>
                  </a:cxn>
                  <a:cxn ang="0">
                    <a:pos x="76" y="104"/>
                  </a:cxn>
                  <a:cxn ang="0">
                    <a:pos x="54" y="56"/>
                  </a:cxn>
                  <a:cxn ang="0">
                    <a:pos x="31" y="33"/>
                  </a:cxn>
                  <a:cxn ang="0">
                    <a:pos x="51" y="45"/>
                  </a:cxn>
                  <a:cxn ang="0">
                    <a:pos x="72" y="84"/>
                  </a:cxn>
                  <a:cxn ang="0">
                    <a:pos x="92" y="126"/>
                  </a:cxn>
                  <a:cxn ang="0">
                    <a:pos x="106" y="168"/>
                  </a:cxn>
                  <a:cxn ang="0">
                    <a:pos x="118" y="150"/>
                  </a:cxn>
                  <a:cxn ang="0">
                    <a:pos x="121" y="114"/>
                  </a:cxn>
                  <a:cxn ang="0">
                    <a:pos x="125" y="65"/>
                  </a:cxn>
                  <a:cxn ang="0">
                    <a:pos x="136" y="26"/>
                  </a:cxn>
                  <a:cxn ang="0">
                    <a:pos x="143" y="12"/>
                  </a:cxn>
                  <a:cxn ang="0">
                    <a:pos x="136" y="53"/>
                  </a:cxn>
                  <a:cxn ang="0">
                    <a:pos x="132" y="106"/>
                  </a:cxn>
                  <a:cxn ang="0">
                    <a:pos x="130" y="155"/>
                  </a:cxn>
                  <a:cxn ang="0">
                    <a:pos x="136" y="183"/>
                  </a:cxn>
                  <a:cxn ang="0">
                    <a:pos x="166" y="177"/>
                  </a:cxn>
                  <a:cxn ang="0">
                    <a:pos x="205" y="178"/>
                  </a:cxn>
                  <a:cxn ang="0">
                    <a:pos x="236" y="193"/>
                  </a:cxn>
                  <a:cxn ang="0">
                    <a:pos x="260" y="227"/>
                  </a:cxn>
                  <a:cxn ang="0">
                    <a:pos x="231" y="222"/>
                  </a:cxn>
                  <a:cxn ang="0">
                    <a:pos x="200" y="211"/>
                  </a:cxn>
                  <a:cxn ang="0">
                    <a:pos x="159" y="204"/>
                  </a:cxn>
                  <a:cxn ang="0">
                    <a:pos x="132" y="208"/>
                  </a:cxn>
                  <a:cxn ang="0">
                    <a:pos x="147" y="224"/>
                  </a:cxn>
                  <a:cxn ang="0">
                    <a:pos x="182" y="233"/>
                  </a:cxn>
                  <a:cxn ang="0">
                    <a:pos x="217" y="240"/>
                  </a:cxn>
                  <a:cxn ang="0">
                    <a:pos x="243" y="264"/>
                  </a:cxn>
                  <a:cxn ang="0">
                    <a:pos x="256" y="297"/>
                  </a:cxn>
                  <a:cxn ang="0">
                    <a:pos x="224" y="277"/>
                  </a:cxn>
                  <a:cxn ang="0">
                    <a:pos x="191" y="256"/>
                  </a:cxn>
                  <a:cxn ang="0">
                    <a:pos x="160" y="238"/>
                  </a:cxn>
                  <a:cxn ang="0">
                    <a:pos x="136" y="230"/>
                  </a:cxn>
                  <a:cxn ang="0">
                    <a:pos x="121" y="246"/>
                  </a:cxn>
                  <a:cxn ang="0">
                    <a:pos x="135" y="290"/>
                  </a:cxn>
                  <a:cxn ang="0">
                    <a:pos x="145" y="342"/>
                  </a:cxn>
                  <a:cxn ang="0">
                    <a:pos x="127" y="346"/>
                  </a:cxn>
                  <a:cxn ang="0">
                    <a:pos x="116" y="290"/>
                  </a:cxn>
                  <a:cxn ang="0">
                    <a:pos x="101" y="256"/>
                  </a:cxn>
                  <a:cxn ang="0">
                    <a:pos x="83" y="274"/>
                  </a:cxn>
                  <a:cxn ang="0">
                    <a:pos x="64" y="309"/>
                  </a:cxn>
                  <a:cxn ang="0">
                    <a:pos x="44" y="360"/>
                  </a:cxn>
                  <a:cxn ang="0">
                    <a:pos x="51" y="314"/>
                  </a:cxn>
                  <a:cxn ang="0">
                    <a:pos x="69" y="272"/>
                  </a:cxn>
                  <a:cxn ang="0">
                    <a:pos x="91" y="238"/>
                  </a:cxn>
                  <a:cxn ang="0">
                    <a:pos x="99" y="212"/>
                  </a:cxn>
                  <a:cxn ang="0">
                    <a:pos x="77" y="226"/>
                  </a:cxn>
                  <a:cxn ang="0">
                    <a:pos x="52" y="261"/>
                  </a:cxn>
                  <a:cxn ang="0">
                    <a:pos x="28" y="301"/>
                  </a:cxn>
                  <a:cxn ang="0">
                    <a:pos x="24" y="288"/>
                  </a:cxn>
                  <a:cxn ang="0">
                    <a:pos x="42" y="262"/>
                  </a:cxn>
                  <a:cxn ang="0">
                    <a:pos x="71" y="229"/>
                  </a:cxn>
                  <a:cxn ang="0">
                    <a:pos x="101" y="206"/>
                  </a:cxn>
                  <a:cxn ang="0">
                    <a:pos x="73" y="180"/>
                  </a:cxn>
                  <a:cxn ang="0">
                    <a:pos x="46" y="148"/>
                  </a:cxn>
                  <a:cxn ang="0">
                    <a:pos x="17" y="118"/>
                  </a:cxn>
                  <a:cxn ang="0">
                    <a:pos x="3" y="98"/>
                  </a:cxn>
                  <a:cxn ang="0">
                    <a:pos x="32" y="115"/>
                  </a:cxn>
                  <a:cxn ang="0">
                    <a:pos x="64" y="145"/>
                  </a:cxn>
                </a:cxnLst>
                <a:rect l="txL" t="txT" r="txR" b="txB"/>
                <a:pathLst>
                  <a:path w="261" h="374">
                    <a:moveTo>
                      <a:pt x="64" y="145"/>
                    </a:moveTo>
                    <a:lnTo>
                      <a:pt x="68" y="150"/>
                    </a:lnTo>
                    <a:lnTo>
                      <a:pt x="72" y="154"/>
                    </a:lnTo>
                    <a:lnTo>
                      <a:pt x="77" y="157"/>
                    </a:lnTo>
                    <a:lnTo>
                      <a:pt x="82" y="162"/>
                    </a:lnTo>
                    <a:lnTo>
                      <a:pt x="86" y="165"/>
                    </a:lnTo>
                    <a:lnTo>
                      <a:pt x="91" y="168"/>
                    </a:lnTo>
                    <a:lnTo>
                      <a:pt x="94" y="170"/>
                    </a:lnTo>
                    <a:lnTo>
                      <a:pt x="92" y="162"/>
                    </a:lnTo>
                    <a:lnTo>
                      <a:pt x="90" y="154"/>
                    </a:lnTo>
                    <a:lnTo>
                      <a:pt x="87" y="143"/>
                    </a:lnTo>
                    <a:lnTo>
                      <a:pt x="85" y="134"/>
                    </a:lnTo>
                    <a:lnTo>
                      <a:pt x="82" y="124"/>
                    </a:lnTo>
                    <a:lnTo>
                      <a:pt x="80" y="114"/>
                    </a:lnTo>
                    <a:lnTo>
                      <a:pt x="76" y="104"/>
                    </a:lnTo>
                    <a:lnTo>
                      <a:pt x="72" y="93"/>
                    </a:lnTo>
                    <a:lnTo>
                      <a:pt x="68" y="84"/>
                    </a:lnTo>
                    <a:lnTo>
                      <a:pt x="63" y="71"/>
                    </a:lnTo>
                    <a:lnTo>
                      <a:pt x="59" y="63"/>
                    </a:lnTo>
                    <a:lnTo>
                      <a:pt x="54" y="56"/>
                    </a:lnTo>
                    <a:lnTo>
                      <a:pt x="50" y="48"/>
                    </a:lnTo>
                    <a:lnTo>
                      <a:pt x="44" y="42"/>
                    </a:lnTo>
                    <a:lnTo>
                      <a:pt x="39" y="38"/>
                    </a:lnTo>
                    <a:lnTo>
                      <a:pt x="34" y="35"/>
                    </a:lnTo>
                    <a:lnTo>
                      <a:pt x="31" y="33"/>
                    </a:lnTo>
                    <a:lnTo>
                      <a:pt x="35" y="32"/>
                    </a:lnTo>
                    <a:lnTo>
                      <a:pt x="37" y="33"/>
                    </a:lnTo>
                    <a:lnTo>
                      <a:pt x="41" y="34"/>
                    </a:lnTo>
                    <a:lnTo>
                      <a:pt x="45" y="39"/>
                    </a:lnTo>
                    <a:lnTo>
                      <a:pt x="51" y="45"/>
                    </a:lnTo>
                    <a:lnTo>
                      <a:pt x="55" y="50"/>
                    </a:lnTo>
                    <a:lnTo>
                      <a:pt x="58" y="56"/>
                    </a:lnTo>
                    <a:lnTo>
                      <a:pt x="63" y="64"/>
                    </a:lnTo>
                    <a:lnTo>
                      <a:pt x="68" y="75"/>
                    </a:lnTo>
                    <a:lnTo>
                      <a:pt x="72" y="84"/>
                    </a:lnTo>
                    <a:lnTo>
                      <a:pt x="77" y="94"/>
                    </a:lnTo>
                    <a:lnTo>
                      <a:pt x="81" y="101"/>
                    </a:lnTo>
                    <a:lnTo>
                      <a:pt x="86" y="109"/>
                    </a:lnTo>
                    <a:lnTo>
                      <a:pt x="89" y="117"/>
                    </a:lnTo>
                    <a:lnTo>
                      <a:pt x="92" y="126"/>
                    </a:lnTo>
                    <a:lnTo>
                      <a:pt x="95" y="135"/>
                    </a:lnTo>
                    <a:lnTo>
                      <a:pt x="99" y="143"/>
                    </a:lnTo>
                    <a:lnTo>
                      <a:pt x="101" y="151"/>
                    </a:lnTo>
                    <a:lnTo>
                      <a:pt x="104" y="161"/>
                    </a:lnTo>
                    <a:lnTo>
                      <a:pt x="106" y="168"/>
                    </a:lnTo>
                    <a:lnTo>
                      <a:pt x="107" y="171"/>
                    </a:lnTo>
                    <a:lnTo>
                      <a:pt x="110" y="168"/>
                    </a:lnTo>
                    <a:lnTo>
                      <a:pt x="113" y="164"/>
                    </a:lnTo>
                    <a:lnTo>
                      <a:pt x="117" y="159"/>
                    </a:lnTo>
                    <a:lnTo>
                      <a:pt x="118" y="150"/>
                    </a:lnTo>
                    <a:lnTo>
                      <a:pt x="119" y="143"/>
                    </a:lnTo>
                    <a:lnTo>
                      <a:pt x="120" y="133"/>
                    </a:lnTo>
                    <a:lnTo>
                      <a:pt x="121" y="124"/>
                    </a:lnTo>
                    <a:lnTo>
                      <a:pt x="120" y="124"/>
                    </a:lnTo>
                    <a:lnTo>
                      <a:pt x="121" y="114"/>
                    </a:lnTo>
                    <a:lnTo>
                      <a:pt x="121" y="103"/>
                    </a:lnTo>
                    <a:lnTo>
                      <a:pt x="122" y="92"/>
                    </a:lnTo>
                    <a:lnTo>
                      <a:pt x="122" y="82"/>
                    </a:lnTo>
                    <a:lnTo>
                      <a:pt x="123" y="75"/>
                    </a:lnTo>
                    <a:lnTo>
                      <a:pt x="125" y="65"/>
                    </a:lnTo>
                    <a:lnTo>
                      <a:pt x="127" y="58"/>
                    </a:lnTo>
                    <a:lnTo>
                      <a:pt x="128" y="50"/>
                    </a:lnTo>
                    <a:lnTo>
                      <a:pt x="131" y="44"/>
                    </a:lnTo>
                    <a:lnTo>
                      <a:pt x="133" y="36"/>
                    </a:lnTo>
                    <a:lnTo>
                      <a:pt x="136" y="26"/>
                    </a:lnTo>
                    <a:lnTo>
                      <a:pt x="139" y="16"/>
                    </a:lnTo>
                    <a:lnTo>
                      <a:pt x="140" y="7"/>
                    </a:lnTo>
                    <a:lnTo>
                      <a:pt x="143" y="0"/>
                    </a:lnTo>
                    <a:lnTo>
                      <a:pt x="144" y="6"/>
                    </a:lnTo>
                    <a:lnTo>
                      <a:pt x="143" y="12"/>
                    </a:lnTo>
                    <a:lnTo>
                      <a:pt x="142" y="21"/>
                    </a:lnTo>
                    <a:lnTo>
                      <a:pt x="140" y="28"/>
                    </a:lnTo>
                    <a:lnTo>
                      <a:pt x="138" y="40"/>
                    </a:lnTo>
                    <a:lnTo>
                      <a:pt x="137" y="47"/>
                    </a:lnTo>
                    <a:lnTo>
                      <a:pt x="136" y="53"/>
                    </a:lnTo>
                    <a:lnTo>
                      <a:pt x="135" y="62"/>
                    </a:lnTo>
                    <a:lnTo>
                      <a:pt x="134" y="72"/>
                    </a:lnTo>
                    <a:lnTo>
                      <a:pt x="134" y="83"/>
                    </a:lnTo>
                    <a:lnTo>
                      <a:pt x="133" y="94"/>
                    </a:lnTo>
                    <a:lnTo>
                      <a:pt x="132" y="106"/>
                    </a:lnTo>
                    <a:lnTo>
                      <a:pt x="132" y="116"/>
                    </a:lnTo>
                    <a:lnTo>
                      <a:pt x="132" y="126"/>
                    </a:lnTo>
                    <a:lnTo>
                      <a:pt x="131" y="134"/>
                    </a:lnTo>
                    <a:lnTo>
                      <a:pt x="131" y="145"/>
                    </a:lnTo>
                    <a:lnTo>
                      <a:pt x="130" y="155"/>
                    </a:lnTo>
                    <a:lnTo>
                      <a:pt x="128" y="168"/>
                    </a:lnTo>
                    <a:lnTo>
                      <a:pt x="127" y="178"/>
                    </a:lnTo>
                    <a:lnTo>
                      <a:pt x="125" y="190"/>
                    </a:lnTo>
                    <a:lnTo>
                      <a:pt x="130" y="187"/>
                    </a:lnTo>
                    <a:lnTo>
                      <a:pt x="136" y="183"/>
                    </a:lnTo>
                    <a:lnTo>
                      <a:pt x="143" y="178"/>
                    </a:lnTo>
                    <a:lnTo>
                      <a:pt x="149" y="176"/>
                    </a:lnTo>
                    <a:lnTo>
                      <a:pt x="156" y="176"/>
                    </a:lnTo>
                    <a:lnTo>
                      <a:pt x="160" y="176"/>
                    </a:lnTo>
                    <a:lnTo>
                      <a:pt x="166" y="177"/>
                    </a:lnTo>
                    <a:lnTo>
                      <a:pt x="173" y="178"/>
                    </a:lnTo>
                    <a:lnTo>
                      <a:pt x="182" y="179"/>
                    </a:lnTo>
                    <a:lnTo>
                      <a:pt x="190" y="178"/>
                    </a:lnTo>
                    <a:lnTo>
                      <a:pt x="198" y="178"/>
                    </a:lnTo>
                    <a:lnTo>
                      <a:pt x="205" y="178"/>
                    </a:lnTo>
                    <a:lnTo>
                      <a:pt x="211" y="179"/>
                    </a:lnTo>
                    <a:lnTo>
                      <a:pt x="217" y="182"/>
                    </a:lnTo>
                    <a:lnTo>
                      <a:pt x="225" y="185"/>
                    </a:lnTo>
                    <a:lnTo>
                      <a:pt x="231" y="189"/>
                    </a:lnTo>
                    <a:lnTo>
                      <a:pt x="236" y="193"/>
                    </a:lnTo>
                    <a:lnTo>
                      <a:pt x="242" y="199"/>
                    </a:lnTo>
                    <a:lnTo>
                      <a:pt x="245" y="202"/>
                    </a:lnTo>
                    <a:lnTo>
                      <a:pt x="251" y="210"/>
                    </a:lnTo>
                    <a:lnTo>
                      <a:pt x="255" y="218"/>
                    </a:lnTo>
                    <a:lnTo>
                      <a:pt x="260" y="227"/>
                    </a:lnTo>
                    <a:lnTo>
                      <a:pt x="254" y="227"/>
                    </a:lnTo>
                    <a:lnTo>
                      <a:pt x="248" y="226"/>
                    </a:lnTo>
                    <a:lnTo>
                      <a:pt x="241" y="224"/>
                    </a:lnTo>
                    <a:lnTo>
                      <a:pt x="235" y="224"/>
                    </a:lnTo>
                    <a:lnTo>
                      <a:pt x="231" y="222"/>
                    </a:lnTo>
                    <a:lnTo>
                      <a:pt x="224" y="218"/>
                    </a:lnTo>
                    <a:lnTo>
                      <a:pt x="218" y="216"/>
                    </a:lnTo>
                    <a:lnTo>
                      <a:pt x="213" y="213"/>
                    </a:lnTo>
                    <a:lnTo>
                      <a:pt x="209" y="212"/>
                    </a:lnTo>
                    <a:lnTo>
                      <a:pt x="200" y="211"/>
                    </a:lnTo>
                    <a:lnTo>
                      <a:pt x="190" y="210"/>
                    </a:lnTo>
                    <a:lnTo>
                      <a:pt x="182" y="208"/>
                    </a:lnTo>
                    <a:lnTo>
                      <a:pt x="173" y="206"/>
                    </a:lnTo>
                    <a:lnTo>
                      <a:pt x="165" y="205"/>
                    </a:lnTo>
                    <a:lnTo>
                      <a:pt x="159" y="204"/>
                    </a:lnTo>
                    <a:lnTo>
                      <a:pt x="154" y="204"/>
                    </a:lnTo>
                    <a:lnTo>
                      <a:pt x="148" y="203"/>
                    </a:lnTo>
                    <a:lnTo>
                      <a:pt x="142" y="204"/>
                    </a:lnTo>
                    <a:lnTo>
                      <a:pt x="137" y="205"/>
                    </a:lnTo>
                    <a:lnTo>
                      <a:pt x="132" y="208"/>
                    </a:lnTo>
                    <a:lnTo>
                      <a:pt x="125" y="210"/>
                    </a:lnTo>
                    <a:lnTo>
                      <a:pt x="130" y="213"/>
                    </a:lnTo>
                    <a:lnTo>
                      <a:pt x="136" y="217"/>
                    </a:lnTo>
                    <a:lnTo>
                      <a:pt x="141" y="222"/>
                    </a:lnTo>
                    <a:lnTo>
                      <a:pt x="147" y="224"/>
                    </a:lnTo>
                    <a:lnTo>
                      <a:pt x="154" y="227"/>
                    </a:lnTo>
                    <a:lnTo>
                      <a:pt x="160" y="229"/>
                    </a:lnTo>
                    <a:lnTo>
                      <a:pt x="166" y="229"/>
                    </a:lnTo>
                    <a:lnTo>
                      <a:pt x="173" y="231"/>
                    </a:lnTo>
                    <a:lnTo>
                      <a:pt x="182" y="233"/>
                    </a:lnTo>
                    <a:lnTo>
                      <a:pt x="189" y="235"/>
                    </a:lnTo>
                    <a:lnTo>
                      <a:pt x="197" y="235"/>
                    </a:lnTo>
                    <a:lnTo>
                      <a:pt x="203" y="237"/>
                    </a:lnTo>
                    <a:lnTo>
                      <a:pt x="210" y="239"/>
                    </a:lnTo>
                    <a:lnTo>
                      <a:pt x="217" y="240"/>
                    </a:lnTo>
                    <a:lnTo>
                      <a:pt x="222" y="243"/>
                    </a:lnTo>
                    <a:lnTo>
                      <a:pt x="227" y="247"/>
                    </a:lnTo>
                    <a:lnTo>
                      <a:pt x="232" y="252"/>
                    </a:lnTo>
                    <a:lnTo>
                      <a:pt x="238" y="257"/>
                    </a:lnTo>
                    <a:lnTo>
                      <a:pt x="243" y="264"/>
                    </a:lnTo>
                    <a:lnTo>
                      <a:pt x="245" y="268"/>
                    </a:lnTo>
                    <a:lnTo>
                      <a:pt x="248" y="275"/>
                    </a:lnTo>
                    <a:lnTo>
                      <a:pt x="250" y="283"/>
                    </a:lnTo>
                    <a:lnTo>
                      <a:pt x="253" y="291"/>
                    </a:lnTo>
                    <a:lnTo>
                      <a:pt x="256" y="297"/>
                    </a:lnTo>
                    <a:lnTo>
                      <a:pt x="250" y="293"/>
                    </a:lnTo>
                    <a:lnTo>
                      <a:pt x="243" y="289"/>
                    </a:lnTo>
                    <a:lnTo>
                      <a:pt x="238" y="286"/>
                    </a:lnTo>
                    <a:lnTo>
                      <a:pt x="231" y="281"/>
                    </a:lnTo>
                    <a:lnTo>
                      <a:pt x="224" y="277"/>
                    </a:lnTo>
                    <a:lnTo>
                      <a:pt x="218" y="273"/>
                    </a:lnTo>
                    <a:lnTo>
                      <a:pt x="211" y="269"/>
                    </a:lnTo>
                    <a:lnTo>
                      <a:pt x="204" y="264"/>
                    </a:lnTo>
                    <a:lnTo>
                      <a:pt x="198" y="260"/>
                    </a:lnTo>
                    <a:lnTo>
                      <a:pt x="191" y="256"/>
                    </a:lnTo>
                    <a:lnTo>
                      <a:pt x="186" y="252"/>
                    </a:lnTo>
                    <a:lnTo>
                      <a:pt x="179" y="248"/>
                    </a:lnTo>
                    <a:lnTo>
                      <a:pt x="173" y="245"/>
                    </a:lnTo>
                    <a:lnTo>
                      <a:pt x="166" y="241"/>
                    </a:lnTo>
                    <a:lnTo>
                      <a:pt x="160" y="238"/>
                    </a:lnTo>
                    <a:lnTo>
                      <a:pt x="155" y="237"/>
                    </a:lnTo>
                    <a:lnTo>
                      <a:pt x="150" y="234"/>
                    </a:lnTo>
                    <a:lnTo>
                      <a:pt x="144" y="231"/>
                    </a:lnTo>
                    <a:lnTo>
                      <a:pt x="140" y="229"/>
                    </a:lnTo>
                    <a:lnTo>
                      <a:pt x="136" y="230"/>
                    </a:lnTo>
                    <a:lnTo>
                      <a:pt x="131" y="231"/>
                    </a:lnTo>
                    <a:lnTo>
                      <a:pt x="128" y="231"/>
                    </a:lnTo>
                    <a:lnTo>
                      <a:pt x="123" y="229"/>
                    </a:lnTo>
                    <a:lnTo>
                      <a:pt x="123" y="237"/>
                    </a:lnTo>
                    <a:lnTo>
                      <a:pt x="121" y="246"/>
                    </a:lnTo>
                    <a:lnTo>
                      <a:pt x="124" y="254"/>
                    </a:lnTo>
                    <a:lnTo>
                      <a:pt x="127" y="263"/>
                    </a:lnTo>
                    <a:lnTo>
                      <a:pt x="130" y="271"/>
                    </a:lnTo>
                    <a:lnTo>
                      <a:pt x="132" y="280"/>
                    </a:lnTo>
                    <a:lnTo>
                      <a:pt x="135" y="290"/>
                    </a:lnTo>
                    <a:lnTo>
                      <a:pt x="138" y="302"/>
                    </a:lnTo>
                    <a:lnTo>
                      <a:pt x="139" y="311"/>
                    </a:lnTo>
                    <a:lnTo>
                      <a:pt x="142" y="321"/>
                    </a:lnTo>
                    <a:lnTo>
                      <a:pt x="143" y="330"/>
                    </a:lnTo>
                    <a:lnTo>
                      <a:pt x="145" y="342"/>
                    </a:lnTo>
                    <a:lnTo>
                      <a:pt x="148" y="355"/>
                    </a:lnTo>
                    <a:lnTo>
                      <a:pt x="150" y="373"/>
                    </a:lnTo>
                    <a:lnTo>
                      <a:pt x="130" y="373"/>
                    </a:lnTo>
                    <a:lnTo>
                      <a:pt x="128" y="357"/>
                    </a:lnTo>
                    <a:lnTo>
                      <a:pt x="127" y="346"/>
                    </a:lnTo>
                    <a:lnTo>
                      <a:pt x="124" y="332"/>
                    </a:lnTo>
                    <a:lnTo>
                      <a:pt x="122" y="319"/>
                    </a:lnTo>
                    <a:lnTo>
                      <a:pt x="120" y="308"/>
                    </a:lnTo>
                    <a:lnTo>
                      <a:pt x="118" y="298"/>
                    </a:lnTo>
                    <a:lnTo>
                      <a:pt x="116" y="290"/>
                    </a:lnTo>
                    <a:lnTo>
                      <a:pt x="113" y="279"/>
                    </a:lnTo>
                    <a:lnTo>
                      <a:pt x="109" y="269"/>
                    </a:lnTo>
                    <a:lnTo>
                      <a:pt x="107" y="260"/>
                    </a:lnTo>
                    <a:lnTo>
                      <a:pt x="104" y="258"/>
                    </a:lnTo>
                    <a:lnTo>
                      <a:pt x="101" y="256"/>
                    </a:lnTo>
                    <a:lnTo>
                      <a:pt x="98" y="254"/>
                    </a:lnTo>
                    <a:lnTo>
                      <a:pt x="96" y="255"/>
                    </a:lnTo>
                    <a:lnTo>
                      <a:pt x="93" y="260"/>
                    </a:lnTo>
                    <a:lnTo>
                      <a:pt x="87" y="268"/>
                    </a:lnTo>
                    <a:lnTo>
                      <a:pt x="83" y="274"/>
                    </a:lnTo>
                    <a:lnTo>
                      <a:pt x="79" y="280"/>
                    </a:lnTo>
                    <a:lnTo>
                      <a:pt x="76" y="288"/>
                    </a:lnTo>
                    <a:lnTo>
                      <a:pt x="72" y="293"/>
                    </a:lnTo>
                    <a:lnTo>
                      <a:pt x="68" y="301"/>
                    </a:lnTo>
                    <a:lnTo>
                      <a:pt x="64" y="309"/>
                    </a:lnTo>
                    <a:lnTo>
                      <a:pt x="61" y="318"/>
                    </a:lnTo>
                    <a:lnTo>
                      <a:pt x="57" y="327"/>
                    </a:lnTo>
                    <a:lnTo>
                      <a:pt x="53" y="337"/>
                    </a:lnTo>
                    <a:lnTo>
                      <a:pt x="49" y="348"/>
                    </a:lnTo>
                    <a:lnTo>
                      <a:pt x="44" y="360"/>
                    </a:lnTo>
                    <a:lnTo>
                      <a:pt x="46" y="346"/>
                    </a:lnTo>
                    <a:lnTo>
                      <a:pt x="47" y="336"/>
                    </a:lnTo>
                    <a:lnTo>
                      <a:pt x="48" y="325"/>
                    </a:lnTo>
                    <a:lnTo>
                      <a:pt x="50" y="319"/>
                    </a:lnTo>
                    <a:lnTo>
                      <a:pt x="51" y="314"/>
                    </a:lnTo>
                    <a:lnTo>
                      <a:pt x="54" y="305"/>
                    </a:lnTo>
                    <a:lnTo>
                      <a:pt x="57" y="295"/>
                    </a:lnTo>
                    <a:lnTo>
                      <a:pt x="59" y="288"/>
                    </a:lnTo>
                    <a:lnTo>
                      <a:pt x="64" y="280"/>
                    </a:lnTo>
                    <a:lnTo>
                      <a:pt x="69" y="272"/>
                    </a:lnTo>
                    <a:lnTo>
                      <a:pt x="73" y="263"/>
                    </a:lnTo>
                    <a:lnTo>
                      <a:pt x="78" y="254"/>
                    </a:lnTo>
                    <a:lnTo>
                      <a:pt x="81" y="249"/>
                    </a:lnTo>
                    <a:lnTo>
                      <a:pt x="86" y="244"/>
                    </a:lnTo>
                    <a:lnTo>
                      <a:pt x="91" y="238"/>
                    </a:lnTo>
                    <a:lnTo>
                      <a:pt x="95" y="232"/>
                    </a:lnTo>
                    <a:lnTo>
                      <a:pt x="100" y="226"/>
                    </a:lnTo>
                    <a:lnTo>
                      <a:pt x="105" y="218"/>
                    </a:lnTo>
                    <a:lnTo>
                      <a:pt x="103" y="216"/>
                    </a:lnTo>
                    <a:lnTo>
                      <a:pt x="99" y="212"/>
                    </a:lnTo>
                    <a:lnTo>
                      <a:pt x="96" y="210"/>
                    </a:lnTo>
                    <a:lnTo>
                      <a:pt x="93" y="211"/>
                    </a:lnTo>
                    <a:lnTo>
                      <a:pt x="87" y="216"/>
                    </a:lnTo>
                    <a:lnTo>
                      <a:pt x="82" y="221"/>
                    </a:lnTo>
                    <a:lnTo>
                      <a:pt x="77" y="226"/>
                    </a:lnTo>
                    <a:lnTo>
                      <a:pt x="72" y="232"/>
                    </a:lnTo>
                    <a:lnTo>
                      <a:pt x="67" y="241"/>
                    </a:lnTo>
                    <a:lnTo>
                      <a:pt x="61" y="249"/>
                    </a:lnTo>
                    <a:lnTo>
                      <a:pt x="56" y="255"/>
                    </a:lnTo>
                    <a:lnTo>
                      <a:pt x="52" y="261"/>
                    </a:lnTo>
                    <a:lnTo>
                      <a:pt x="47" y="268"/>
                    </a:lnTo>
                    <a:lnTo>
                      <a:pt x="42" y="276"/>
                    </a:lnTo>
                    <a:lnTo>
                      <a:pt x="38" y="284"/>
                    </a:lnTo>
                    <a:lnTo>
                      <a:pt x="33" y="293"/>
                    </a:lnTo>
                    <a:lnTo>
                      <a:pt x="28" y="301"/>
                    </a:lnTo>
                    <a:lnTo>
                      <a:pt x="24" y="310"/>
                    </a:lnTo>
                    <a:lnTo>
                      <a:pt x="18" y="321"/>
                    </a:lnTo>
                    <a:lnTo>
                      <a:pt x="21" y="307"/>
                    </a:lnTo>
                    <a:lnTo>
                      <a:pt x="22" y="297"/>
                    </a:lnTo>
                    <a:lnTo>
                      <a:pt x="24" y="288"/>
                    </a:lnTo>
                    <a:lnTo>
                      <a:pt x="25" y="286"/>
                    </a:lnTo>
                    <a:lnTo>
                      <a:pt x="28" y="281"/>
                    </a:lnTo>
                    <a:lnTo>
                      <a:pt x="32" y="275"/>
                    </a:lnTo>
                    <a:lnTo>
                      <a:pt x="37" y="269"/>
                    </a:lnTo>
                    <a:lnTo>
                      <a:pt x="42" y="262"/>
                    </a:lnTo>
                    <a:lnTo>
                      <a:pt x="47" y="256"/>
                    </a:lnTo>
                    <a:lnTo>
                      <a:pt x="54" y="248"/>
                    </a:lnTo>
                    <a:lnTo>
                      <a:pt x="58" y="243"/>
                    </a:lnTo>
                    <a:lnTo>
                      <a:pt x="64" y="236"/>
                    </a:lnTo>
                    <a:lnTo>
                      <a:pt x="71" y="229"/>
                    </a:lnTo>
                    <a:lnTo>
                      <a:pt x="77" y="224"/>
                    </a:lnTo>
                    <a:lnTo>
                      <a:pt x="83" y="218"/>
                    </a:lnTo>
                    <a:lnTo>
                      <a:pt x="93" y="210"/>
                    </a:lnTo>
                    <a:lnTo>
                      <a:pt x="98" y="208"/>
                    </a:lnTo>
                    <a:lnTo>
                      <a:pt x="101" y="206"/>
                    </a:lnTo>
                    <a:lnTo>
                      <a:pt x="95" y="202"/>
                    </a:lnTo>
                    <a:lnTo>
                      <a:pt x="90" y="196"/>
                    </a:lnTo>
                    <a:lnTo>
                      <a:pt x="84" y="190"/>
                    </a:lnTo>
                    <a:lnTo>
                      <a:pt x="79" y="185"/>
                    </a:lnTo>
                    <a:lnTo>
                      <a:pt x="73" y="180"/>
                    </a:lnTo>
                    <a:lnTo>
                      <a:pt x="69" y="176"/>
                    </a:lnTo>
                    <a:lnTo>
                      <a:pt x="65" y="170"/>
                    </a:lnTo>
                    <a:lnTo>
                      <a:pt x="58" y="163"/>
                    </a:lnTo>
                    <a:lnTo>
                      <a:pt x="52" y="156"/>
                    </a:lnTo>
                    <a:lnTo>
                      <a:pt x="46" y="148"/>
                    </a:lnTo>
                    <a:lnTo>
                      <a:pt x="39" y="141"/>
                    </a:lnTo>
                    <a:lnTo>
                      <a:pt x="33" y="136"/>
                    </a:lnTo>
                    <a:lnTo>
                      <a:pt x="26" y="129"/>
                    </a:lnTo>
                    <a:lnTo>
                      <a:pt x="22" y="125"/>
                    </a:lnTo>
                    <a:lnTo>
                      <a:pt x="17" y="118"/>
                    </a:lnTo>
                    <a:lnTo>
                      <a:pt x="14" y="112"/>
                    </a:lnTo>
                    <a:lnTo>
                      <a:pt x="10" y="108"/>
                    </a:lnTo>
                    <a:lnTo>
                      <a:pt x="4" y="102"/>
                    </a:lnTo>
                    <a:lnTo>
                      <a:pt x="0" y="98"/>
                    </a:lnTo>
                    <a:lnTo>
                      <a:pt x="3" y="98"/>
                    </a:lnTo>
                    <a:lnTo>
                      <a:pt x="9" y="100"/>
                    </a:lnTo>
                    <a:lnTo>
                      <a:pt x="14" y="101"/>
                    </a:lnTo>
                    <a:lnTo>
                      <a:pt x="20" y="104"/>
                    </a:lnTo>
                    <a:lnTo>
                      <a:pt x="25" y="109"/>
                    </a:lnTo>
                    <a:lnTo>
                      <a:pt x="32" y="115"/>
                    </a:lnTo>
                    <a:lnTo>
                      <a:pt x="38" y="120"/>
                    </a:lnTo>
                    <a:lnTo>
                      <a:pt x="45" y="125"/>
                    </a:lnTo>
                    <a:lnTo>
                      <a:pt x="51" y="132"/>
                    </a:lnTo>
                    <a:lnTo>
                      <a:pt x="58" y="139"/>
                    </a:lnTo>
                    <a:lnTo>
                      <a:pt x="64" y="145"/>
                    </a:lnTo>
                  </a:path>
                </a:pathLst>
              </a:custGeom>
              <a:solidFill>
                <a:srgbClr val="037C03">
                  <a:alpha val="50195"/>
                </a:srgbClr>
              </a:solidFill>
              <a:ln w="9525">
                <a:noFill/>
              </a:ln>
            </p:spPr>
            <p:txBody>
              <a:bodyPr/>
              <a:lstStyle/>
              <a:p>
                <a:endParaRPr lang="zh-CN" altLang="en-US"/>
              </a:p>
            </p:txBody>
          </p:sp>
        </p:grpSp>
        <p:grpSp>
          <p:nvGrpSpPr>
            <p:cNvPr id="89104" name="Group 223"/>
            <p:cNvGrpSpPr/>
            <p:nvPr/>
          </p:nvGrpSpPr>
          <p:grpSpPr>
            <a:xfrm>
              <a:off x="300" y="3360"/>
              <a:ext cx="508" cy="820"/>
              <a:chOff x="1985" y="1201"/>
              <a:chExt cx="508" cy="820"/>
            </a:xfrm>
          </p:grpSpPr>
          <p:grpSp>
            <p:nvGrpSpPr>
              <p:cNvPr id="89105" name="Group 224"/>
              <p:cNvGrpSpPr/>
              <p:nvPr/>
            </p:nvGrpSpPr>
            <p:grpSpPr>
              <a:xfrm>
                <a:off x="2247" y="1201"/>
                <a:ext cx="246" cy="810"/>
                <a:chOff x="2247" y="1201"/>
                <a:chExt cx="246" cy="810"/>
              </a:xfrm>
            </p:grpSpPr>
            <p:sp>
              <p:nvSpPr>
                <p:cNvPr id="89114" name="Freeform 225"/>
                <p:cNvSpPr/>
                <p:nvPr/>
              </p:nvSpPr>
              <p:spPr>
                <a:xfrm>
                  <a:off x="2392" y="1373"/>
                  <a:ext cx="92" cy="638"/>
                </a:xfrm>
                <a:custGeom>
                  <a:avLst/>
                  <a:gdLst>
                    <a:gd name="txL" fmla="*/ 0 w 92"/>
                    <a:gd name="txT" fmla="*/ 0 h 638"/>
                    <a:gd name="txR" fmla="*/ 92 w 92"/>
                    <a:gd name="txB" fmla="*/ 638 h 638"/>
                  </a:gdLst>
                  <a:ahLst/>
                  <a:cxnLst>
                    <a:cxn ang="0">
                      <a:pos x="91" y="296"/>
                    </a:cxn>
                    <a:cxn ang="0">
                      <a:pos x="83" y="425"/>
                    </a:cxn>
                    <a:cxn ang="0">
                      <a:pos x="75" y="529"/>
                    </a:cxn>
                    <a:cxn ang="0">
                      <a:pos x="70" y="606"/>
                    </a:cxn>
                    <a:cxn ang="0">
                      <a:pos x="71" y="637"/>
                    </a:cxn>
                    <a:cxn ang="0">
                      <a:pos x="60" y="637"/>
                    </a:cxn>
                    <a:cxn ang="0">
                      <a:pos x="57" y="592"/>
                    </a:cxn>
                    <a:cxn ang="0">
                      <a:pos x="55" y="524"/>
                    </a:cxn>
                    <a:cxn ang="0">
                      <a:pos x="51" y="461"/>
                    </a:cxn>
                    <a:cxn ang="0">
                      <a:pos x="49" y="414"/>
                    </a:cxn>
                    <a:cxn ang="0">
                      <a:pos x="45" y="345"/>
                    </a:cxn>
                    <a:cxn ang="0">
                      <a:pos x="40" y="285"/>
                    </a:cxn>
                    <a:cxn ang="0">
                      <a:pos x="35" y="233"/>
                    </a:cxn>
                    <a:cxn ang="0">
                      <a:pos x="31" y="177"/>
                    </a:cxn>
                    <a:cxn ang="0">
                      <a:pos x="24" y="121"/>
                    </a:cxn>
                    <a:cxn ang="0">
                      <a:pos x="17" y="74"/>
                    </a:cxn>
                    <a:cxn ang="0">
                      <a:pos x="4" y="28"/>
                    </a:cxn>
                    <a:cxn ang="0">
                      <a:pos x="0" y="10"/>
                    </a:cxn>
                    <a:cxn ang="0">
                      <a:pos x="5" y="0"/>
                    </a:cxn>
                    <a:cxn ang="0">
                      <a:pos x="13" y="18"/>
                    </a:cxn>
                    <a:cxn ang="0">
                      <a:pos x="24" y="61"/>
                    </a:cxn>
                    <a:cxn ang="0">
                      <a:pos x="33" y="104"/>
                    </a:cxn>
                    <a:cxn ang="0">
                      <a:pos x="40" y="150"/>
                    </a:cxn>
                    <a:cxn ang="0">
                      <a:pos x="44" y="208"/>
                    </a:cxn>
                    <a:cxn ang="0">
                      <a:pos x="48" y="263"/>
                    </a:cxn>
                    <a:cxn ang="0">
                      <a:pos x="55" y="337"/>
                    </a:cxn>
                    <a:cxn ang="0">
                      <a:pos x="59" y="398"/>
                    </a:cxn>
                    <a:cxn ang="0">
                      <a:pos x="61" y="447"/>
                    </a:cxn>
                    <a:cxn ang="0">
                      <a:pos x="63" y="498"/>
                    </a:cxn>
                    <a:cxn ang="0">
                      <a:pos x="68" y="550"/>
                    </a:cxn>
                    <a:cxn ang="0">
                      <a:pos x="73" y="460"/>
                    </a:cxn>
                    <a:cxn ang="0">
                      <a:pos x="80" y="376"/>
                    </a:cxn>
                    <a:cxn ang="0">
                      <a:pos x="91" y="296"/>
                    </a:cxn>
                  </a:cxnLst>
                  <a:rect l="txL" t="txT" r="txR" b="txB"/>
                  <a:pathLst>
                    <a:path w="92" h="638">
                      <a:moveTo>
                        <a:pt x="91" y="296"/>
                      </a:moveTo>
                      <a:lnTo>
                        <a:pt x="83" y="425"/>
                      </a:lnTo>
                      <a:lnTo>
                        <a:pt x="75" y="529"/>
                      </a:lnTo>
                      <a:lnTo>
                        <a:pt x="70" y="606"/>
                      </a:lnTo>
                      <a:lnTo>
                        <a:pt x="71" y="637"/>
                      </a:lnTo>
                      <a:lnTo>
                        <a:pt x="60" y="637"/>
                      </a:lnTo>
                      <a:lnTo>
                        <a:pt x="57" y="592"/>
                      </a:lnTo>
                      <a:lnTo>
                        <a:pt x="55" y="524"/>
                      </a:lnTo>
                      <a:lnTo>
                        <a:pt x="51" y="461"/>
                      </a:lnTo>
                      <a:lnTo>
                        <a:pt x="49" y="414"/>
                      </a:lnTo>
                      <a:lnTo>
                        <a:pt x="45" y="345"/>
                      </a:lnTo>
                      <a:lnTo>
                        <a:pt x="40" y="285"/>
                      </a:lnTo>
                      <a:lnTo>
                        <a:pt x="35" y="233"/>
                      </a:lnTo>
                      <a:lnTo>
                        <a:pt x="31" y="177"/>
                      </a:lnTo>
                      <a:lnTo>
                        <a:pt x="24" y="121"/>
                      </a:lnTo>
                      <a:lnTo>
                        <a:pt x="17" y="74"/>
                      </a:lnTo>
                      <a:lnTo>
                        <a:pt x="4" y="28"/>
                      </a:lnTo>
                      <a:lnTo>
                        <a:pt x="0" y="10"/>
                      </a:lnTo>
                      <a:lnTo>
                        <a:pt x="5" y="0"/>
                      </a:lnTo>
                      <a:lnTo>
                        <a:pt x="13" y="18"/>
                      </a:lnTo>
                      <a:lnTo>
                        <a:pt x="24" y="61"/>
                      </a:lnTo>
                      <a:lnTo>
                        <a:pt x="33" y="104"/>
                      </a:lnTo>
                      <a:lnTo>
                        <a:pt x="40" y="150"/>
                      </a:lnTo>
                      <a:lnTo>
                        <a:pt x="44" y="208"/>
                      </a:lnTo>
                      <a:lnTo>
                        <a:pt x="48" y="263"/>
                      </a:lnTo>
                      <a:lnTo>
                        <a:pt x="55" y="337"/>
                      </a:lnTo>
                      <a:lnTo>
                        <a:pt x="59" y="398"/>
                      </a:lnTo>
                      <a:lnTo>
                        <a:pt x="61" y="447"/>
                      </a:lnTo>
                      <a:lnTo>
                        <a:pt x="63" y="498"/>
                      </a:lnTo>
                      <a:lnTo>
                        <a:pt x="68" y="550"/>
                      </a:lnTo>
                      <a:lnTo>
                        <a:pt x="73" y="460"/>
                      </a:lnTo>
                      <a:lnTo>
                        <a:pt x="80" y="376"/>
                      </a:lnTo>
                      <a:lnTo>
                        <a:pt x="91" y="296"/>
                      </a:lnTo>
                    </a:path>
                  </a:pathLst>
                </a:custGeom>
                <a:solidFill>
                  <a:srgbClr val="3C0023">
                    <a:alpha val="50195"/>
                  </a:srgbClr>
                </a:solidFill>
                <a:ln w="9525">
                  <a:noFill/>
                </a:ln>
              </p:spPr>
              <p:txBody>
                <a:bodyPr/>
                <a:lstStyle/>
                <a:p>
                  <a:endParaRPr lang="zh-CN" altLang="en-US"/>
                </a:p>
              </p:txBody>
            </p:sp>
            <p:sp>
              <p:nvSpPr>
                <p:cNvPr id="89115" name="Freeform 226"/>
                <p:cNvSpPr/>
                <p:nvPr/>
              </p:nvSpPr>
              <p:spPr>
                <a:xfrm>
                  <a:off x="2247" y="1201"/>
                  <a:ext cx="246" cy="466"/>
                </a:xfrm>
                <a:custGeom>
                  <a:avLst/>
                  <a:gdLst>
                    <a:gd name="txL" fmla="*/ 0 w 246"/>
                    <a:gd name="txT" fmla="*/ 0 h 466"/>
                    <a:gd name="txR" fmla="*/ 246 w 246"/>
                    <a:gd name="txB" fmla="*/ 466 h 466"/>
                  </a:gdLst>
                  <a:ahLst/>
                  <a:cxnLst>
                    <a:cxn ang="0">
                      <a:pos x="136" y="67"/>
                    </a:cxn>
                    <a:cxn ang="0">
                      <a:pos x="105" y="12"/>
                    </a:cxn>
                    <a:cxn ang="0">
                      <a:pos x="55" y="1"/>
                    </a:cxn>
                    <a:cxn ang="0">
                      <a:pos x="58" y="12"/>
                    </a:cxn>
                    <a:cxn ang="0">
                      <a:pos x="96" y="39"/>
                    </a:cxn>
                    <a:cxn ang="0">
                      <a:pos x="130" y="134"/>
                    </a:cxn>
                    <a:cxn ang="0">
                      <a:pos x="73" y="85"/>
                    </a:cxn>
                    <a:cxn ang="0">
                      <a:pos x="32" y="75"/>
                    </a:cxn>
                    <a:cxn ang="0">
                      <a:pos x="7" y="103"/>
                    </a:cxn>
                    <a:cxn ang="0">
                      <a:pos x="38" y="103"/>
                    </a:cxn>
                    <a:cxn ang="0">
                      <a:pos x="108" y="129"/>
                    </a:cxn>
                    <a:cxn ang="0">
                      <a:pos x="104" y="146"/>
                    </a:cxn>
                    <a:cxn ang="0">
                      <a:pos x="92" y="171"/>
                    </a:cxn>
                    <a:cxn ang="0">
                      <a:pos x="126" y="170"/>
                    </a:cxn>
                    <a:cxn ang="0">
                      <a:pos x="69" y="193"/>
                    </a:cxn>
                    <a:cxn ang="0">
                      <a:pos x="37" y="233"/>
                    </a:cxn>
                    <a:cxn ang="0">
                      <a:pos x="6" y="325"/>
                    </a:cxn>
                    <a:cxn ang="0">
                      <a:pos x="72" y="231"/>
                    </a:cxn>
                    <a:cxn ang="0">
                      <a:pos x="118" y="194"/>
                    </a:cxn>
                    <a:cxn ang="0">
                      <a:pos x="94" y="269"/>
                    </a:cxn>
                    <a:cxn ang="0">
                      <a:pos x="76" y="338"/>
                    </a:cxn>
                    <a:cxn ang="0">
                      <a:pos x="71" y="408"/>
                    </a:cxn>
                    <a:cxn ang="0">
                      <a:pos x="98" y="303"/>
                    </a:cxn>
                    <a:cxn ang="0">
                      <a:pos x="124" y="236"/>
                    </a:cxn>
                    <a:cxn ang="0">
                      <a:pos x="125" y="214"/>
                    </a:cxn>
                    <a:cxn ang="0">
                      <a:pos x="118" y="323"/>
                    </a:cxn>
                    <a:cxn ang="0">
                      <a:pos x="138" y="439"/>
                    </a:cxn>
                    <a:cxn ang="0">
                      <a:pos x="128" y="313"/>
                    </a:cxn>
                    <a:cxn ang="0">
                      <a:pos x="127" y="223"/>
                    </a:cxn>
                    <a:cxn ang="0">
                      <a:pos x="147" y="189"/>
                    </a:cxn>
                    <a:cxn ang="0">
                      <a:pos x="188" y="298"/>
                    </a:cxn>
                    <a:cxn ang="0">
                      <a:pos x="223" y="411"/>
                    </a:cxn>
                    <a:cxn ang="0">
                      <a:pos x="193" y="292"/>
                    </a:cxn>
                    <a:cxn ang="0">
                      <a:pos x="160" y="190"/>
                    </a:cxn>
                    <a:cxn ang="0">
                      <a:pos x="164" y="121"/>
                    </a:cxn>
                    <a:cxn ang="0">
                      <a:pos x="194" y="130"/>
                    </a:cxn>
                    <a:cxn ang="0">
                      <a:pos x="240" y="125"/>
                    </a:cxn>
                    <a:cxn ang="0">
                      <a:pos x="216" y="122"/>
                    </a:cxn>
                    <a:cxn ang="0">
                      <a:pos x="163" y="144"/>
                    </a:cxn>
                    <a:cxn ang="0">
                      <a:pos x="194" y="109"/>
                    </a:cxn>
                    <a:cxn ang="0">
                      <a:pos x="244" y="101"/>
                    </a:cxn>
                    <a:cxn ang="0">
                      <a:pos x="229" y="88"/>
                    </a:cxn>
                    <a:cxn ang="0">
                      <a:pos x="163" y="138"/>
                    </a:cxn>
                    <a:cxn ang="0">
                      <a:pos x="172" y="99"/>
                    </a:cxn>
                    <a:cxn ang="0">
                      <a:pos x="226" y="61"/>
                    </a:cxn>
                    <a:cxn ang="0">
                      <a:pos x="188" y="82"/>
                    </a:cxn>
                    <a:cxn ang="0">
                      <a:pos x="147" y="109"/>
                    </a:cxn>
                  </a:cxnLst>
                  <a:rect l="txL" t="txT" r="txR" b="txB"/>
                  <a:pathLst>
                    <a:path w="246" h="466">
                      <a:moveTo>
                        <a:pt x="147" y="109"/>
                      </a:moveTo>
                      <a:lnTo>
                        <a:pt x="143" y="88"/>
                      </a:lnTo>
                      <a:lnTo>
                        <a:pt x="136" y="67"/>
                      </a:lnTo>
                      <a:lnTo>
                        <a:pt x="127" y="44"/>
                      </a:lnTo>
                      <a:lnTo>
                        <a:pt x="117" y="27"/>
                      </a:lnTo>
                      <a:lnTo>
                        <a:pt x="105" y="12"/>
                      </a:lnTo>
                      <a:lnTo>
                        <a:pt x="89" y="5"/>
                      </a:lnTo>
                      <a:lnTo>
                        <a:pt x="69" y="0"/>
                      </a:lnTo>
                      <a:lnTo>
                        <a:pt x="55" y="1"/>
                      </a:lnTo>
                      <a:lnTo>
                        <a:pt x="39" y="0"/>
                      </a:lnTo>
                      <a:lnTo>
                        <a:pt x="49" y="11"/>
                      </a:lnTo>
                      <a:lnTo>
                        <a:pt x="58" y="12"/>
                      </a:lnTo>
                      <a:lnTo>
                        <a:pt x="69" y="19"/>
                      </a:lnTo>
                      <a:lnTo>
                        <a:pt x="80" y="25"/>
                      </a:lnTo>
                      <a:lnTo>
                        <a:pt x="96" y="39"/>
                      </a:lnTo>
                      <a:lnTo>
                        <a:pt x="109" y="58"/>
                      </a:lnTo>
                      <a:lnTo>
                        <a:pt x="118" y="82"/>
                      </a:lnTo>
                      <a:lnTo>
                        <a:pt x="130" y="134"/>
                      </a:lnTo>
                      <a:lnTo>
                        <a:pt x="96" y="99"/>
                      </a:lnTo>
                      <a:lnTo>
                        <a:pt x="85" y="91"/>
                      </a:lnTo>
                      <a:lnTo>
                        <a:pt x="73" y="85"/>
                      </a:lnTo>
                      <a:lnTo>
                        <a:pt x="61" y="83"/>
                      </a:lnTo>
                      <a:lnTo>
                        <a:pt x="54" y="80"/>
                      </a:lnTo>
                      <a:lnTo>
                        <a:pt x="32" y="75"/>
                      </a:lnTo>
                      <a:lnTo>
                        <a:pt x="0" y="72"/>
                      </a:lnTo>
                      <a:lnTo>
                        <a:pt x="0" y="103"/>
                      </a:lnTo>
                      <a:lnTo>
                        <a:pt x="7" y="103"/>
                      </a:lnTo>
                      <a:lnTo>
                        <a:pt x="17" y="104"/>
                      </a:lnTo>
                      <a:lnTo>
                        <a:pt x="29" y="103"/>
                      </a:lnTo>
                      <a:lnTo>
                        <a:pt x="38" y="103"/>
                      </a:lnTo>
                      <a:lnTo>
                        <a:pt x="62" y="107"/>
                      </a:lnTo>
                      <a:lnTo>
                        <a:pt x="72" y="111"/>
                      </a:lnTo>
                      <a:lnTo>
                        <a:pt x="108" y="129"/>
                      </a:lnTo>
                      <a:lnTo>
                        <a:pt x="127" y="144"/>
                      </a:lnTo>
                      <a:lnTo>
                        <a:pt x="113" y="146"/>
                      </a:lnTo>
                      <a:lnTo>
                        <a:pt x="104" y="146"/>
                      </a:lnTo>
                      <a:lnTo>
                        <a:pt x="89" y="161"/>
                      </a:lnTo>
                      <a:lnTo>
                        <a:pt x="82" y="183"/>
                      </a:lnTo>
                      <a:lnTo>
                        <a:pt x="92" y="171"/>
                      </a:lnTo>
                      <a:lnTo>
                        <a:pt x="120" y="155"/>
                      </a:lnTo>
                      <a:lnTo>
                        <a:pt x="137" y="162"/>
                      </a:lnTo>
                      <a:lnTo>
                        <a:pt x="126" y="170"/>
                      </a:lnTo>
                      <a:lnTo>
                        <a:pt x="113" y="171"/>
                      </a:lnTo>
                      <a:lnTo>
                        <a:pt x="79" y="189"/>
                      </a:lnTo>
                      <a:lnTo>
                        <a:pt x="69" y="193"/>
                      </a:lnTo>
                      <a:lnTo>
                        <a:pt x="57" y="199"/>
                      </a:lnTo>
                      <a:lnTo>
                        <a:pt x="48" y="209"/>
                      </a:lnTo>
                      <a:lnTo>
                        <a:pt x="37" y="233"/>
                      </a:lnTo>
                      <a:lnTo>
                        <a:pt x="31" y="251"/>
                      </a:lnTo>
                      <a:lnTo>
                        <a:pt x="13" y="310"/>
                      </a:lnTo>
                      <a:lnTo>
                        <a:pt x="6" y="325"/>
                      </a:lnTo>
                      <a:lnTo>
                        <a:pt x="36" y="281"/>
                      </a:lnTo>
                      <a:lnTo>
                        <a:pt x="50" y="265"/>
                      </a:lnTo>
                      <a:lnTo>
                        <a:pt x="72" y="231"/>
                      </a:lnTo>
                      <a:lnTo>
                        <a:pt x="83" y="218"/>
                      </a:lnTo>
                      <a:lnTo>
                        <a:pt x="92" y="209"/>
                      </a:lnTo>
                      <a:lnTo>
                        <a:pt x="118" y="194"/>
                      </a:lnTo>
                      <a:lnTo>
                        <a:pt x="132" y="181"/>
                      </a:lnTo>
                      <a:lnTo>
                        <a:pt x="121" y="195"/>
                      </a:lnTo>
                      <a:lnTo>
                        <a:pt x="94" y="269"/>
                      </a:lnTo>
                      <a:lnTo>
                        <a:pt x="84" y="302"/>
                      </a:lnTo>
                      <a:lnTo>
                        <a:pt x="79" y="320"/>
                      </a:lnTo>
                      <a:lnTo>
                        <a:pt x="76" y="338"/>
                      </a:lnTo>
                      <a:lnTo>
                        <a:pt x="75" y="359"/>
                      </a:lnTo>
                      <a:lnTo>
                        <a:pt x="74" y="375"/>
                      </a:lnTo>
                      <a:lnTo>
                        <a:pt x="71" y="408"/>
                      </a:lnTo>
                      <a:lnTo>
                        <a:pt x="84" y="375"/>
                      </a:lnTo>
                      <a:lnTo>
                        <a:pt x="92" y="330"/>
                      </a:lnTo>
                      <a:lnTo>
                        <a:pt x="98" y="303"/>
                      </a:lnTo>
                      <a:lnTo>
                        <a:pt x="104" y="286"/>
                      </a:lnTo>
                      <a:lnTo>
                        <a:pt x="118" y="252"/>
                      </a:lnTo>
                      <a:lnTo>
                        <a:pt x="124" y="236"/>
                      </a:lnTo>
                      <a:lnTo>
                        <a:pt x="128" y="216"/>
                      </a:lnTo>
                      <a:lnTo>
                        <a:pt x="137" y="188"/>
                      </a:lnTo>
                      <a:lnTo>
                        <a:pt x="125" y="214"/>
                      </a:lnTo>
                      <a:lnTo>
                        <a:pt x="119" y="243"/>
                      </a:lnTo>
                      <a:lnTo>
                        <a:pt x="117" y="302"/>
                      </a:lnTo>
                      <a:lnTo>
                        <a:pt x="118" y="323"/>
                      </a:lnTo>
                      <a:lnTo>
                        <a:pt x="120" y="362"/>
                      </a:lnTo>
                      <a:lnTo>
                        <a:pt x="123" y="377"/>
                      </a:lnTo>
                      <a:lnTo>
                        <a:pt x="138" y="439"/>
                      </a:lnTo>
                      <a:lnTo>
                        <a:pt x="141" y="465"/>
                      </a:lnTo>
                      <a:lnTo>
                        <a:pt x="137" y="379"/>
                      </a:lnTo>
                      <a:lnTo>
                        <a:pt x="128" y="313"/>
                      </a:lnTo>
                      <a:lnTo>
                        <a:pt x="126" y="291"/>
                      </a:lnTo>
                      <a:lnTo>
                        <a:pt x="125" y="238"/>
                      </a:lnTo>
                      <a:lnTo>
                        <a:pt x="127" y="223"/>
                      </a:lnTo>
                      <a:lnTo>
                        <a:pt x="133" y="196"/>
                      </a:lnTo>
                      <a:lnTo>
                        <a:pt x="138" y="179"/>
                      </a:lnTo>
                      <a:lnTo>
                        <a:pt x="147" y="189"/>
                      </a:lnTo>
                      <a:lnTo>
                        <a:pt x="161" y="212"/>
                      </a:lnTo>
                      <a:lnTo>
                        <a:pt x="177" y="259"/>
                      </a:lnTo>
                      <a:lnTo>
                        <a:pt x="188" y="298"/>
                      </a:lnTo>
                      <a:lnTo>
                        <a:pt x="197" y="333"/>
                      </a:lnTo>
                      <a:lnTo>
                        <a:pt x="213" y="384"/>
                      </a:lnTo>
                      <a:lnTo>
                        <a:pt x="223" y="411"/>
                      </a:lnTo>
                      <a:lnTo>
                        <a:pt x="232" y="429"/>
                      </a:lnTo>
                      <a:lnTo>
                        <a:pt x="228" y="403"/>
                      </a:lnTo>
                      <a:lnTo>
                        <a:pt x="193" y="292"/>
                      </a:lnTo>
                      <a:lnTo>
                        <a:pt x="171" y="232"/>
                      </a:lnTo>
                      <a:lnTo>
                        <a:pt x="165" y="210"/>
                      </a:lnTo>
                      <a:lnTo>
                        <a:pt x="160" y="190"/>
                      </a:lnTo>
                      <a:lnTo>
                        <a:pt x="144" y="150"/>
                      </a:lnTo>
                      <a:lnTo>
                        <a:pt x="147" y="132"/>
                      </a:lnTo>
                      <a:lnTo>
                        <a:pt x="164" y="121"/>
                      </a:lnTo>
                      <a:lnTo>
                        <a:pt x="172" y="125"/>
                      </a:lnTo>
                      <a:lnTo>
                        <a:pt x="183" y="126"/>
                      </a:lnTo>
                      <a:lnTo>
                        <a:pt x="194" y="130"/>
                      </a:lnTo>
                      <a:lnTo>
                        <a:pt x="239" y="136"/>
                      </a:lnTo>
                      <a:lnTo>
                        <a:pt x="236" y="136"/>
                      </a:lnTo>
                      <a:lnTo>
                        <a:pt x="240" y="125"/>
                      </a:lnTo>
                      <a:lnTo>
                        <a:pt x="242" y="125"/>
                      </a:lnTo>
                      <a:lnTo>
                        <a:pt x="230" y="122"/>
                      </a:lnTo>
                      <a:lnTo>
                        <a:pt x="216" y="122"/>
                      </a:lnTo>
                      <a:lnTo>
                        <a:pt x="199" y="127"/>
                      </a:lnTo>
                      <a:lnTo>
                        <a:pt x="180" y="135"/>
                      </a:lnTo>
                      <a:lnTo>
                        <a:pt x="163" y="144"/>
                      </a:lnTo>
                      <a:lnTo>
                        <a:pt x="150" y="149"/>
                      </a:lnTo>
                      <a:lnTo>
                        <a:pt x="168" y="129"/>
                      </a:lnTo>
                      <a:lnTo>
                        <a:pt x="194" y="109"/>
                      </a:lnTo>
                      <a:lnTo>
                        <a:pt x="220" y="100"/>
                      </a:lnTo>
                      <a:lnTo>
                        <a:pt x="232" y="100"/>
                      </a:lnTo>
                      <a:lnTo>
                        <a:pt x="244" y="101"/>
                      </a:lnTo>
                      <a:lnTo>
                        <a:pt x="239" y="101"/>
                      </a:lnTo>
                      <a:lnTo>
                        <a:pt x="245" y="85"/>
                      </a:lnTo>
                      <a:lnTo>
                        <a:pt x="229" y="88"/>
                      </a:lnTo>
                      <a:lnTo>
                        <a:pt x="212" y="97"/>
                      </a:lnTo>
                      <a:lnTo>
                        <a:pt x="193" y="111"/>
                      </a:lnTo>
                      <a:lnTo>
                        <a:pt x="163" y="138"/>
                      </a:lnTo>
                      <a:lnTo>
                        <a:pt x="150" y="149"/>
                      </a:lnTo>
                      <a:lnTo>
                        <a:pt x="157" y="114"/>
                      </a:lnTo>
                      <a:lnTo>
                        <a:pt x="172" y="99"/>
                      </a:lnTo>
                      <a:lnTo>
                        <a:pt x="190" y="85"/>
                      </a:lnTo>
                      <a:lnTo>
                        <a:pt x="214" y="67"/>
                      </a:lnTo>
                      <a:lnTo>
                        <a:pt x="226" y="61"/>
                      </a:lnTo>
                      <a:lnTo>
                        <a:pt x="212" y="57"/>
                      </a:lnTo>
                      <a:lnTo>
                        <a:pt x="200" y="67"/>
                      </a:lnTo>
                      <a:lnTo>
                        <a:pt x="188" y="82"/>
                      </a:lnTo>
                      <a:lnTo>
                        <a:pt x="178" y="93"/>
                      </a:lnTo>
                      <a:lnTo>
                        <a:pt x="163" y="115"/>
                      </a:lnTo>
                      <a:lnTo>
                        <a:pt x="147" y="109"/>
                      </a:lnTo>
                    </a:path>
                  </a:pathLst>
                </a:custGeom>
                <a:solidFill>
                  <a:srgbClr val="037C03">
                    <a:alpha val="50195"/>
                  </a:srgbClr>
                </a:solidFill>
                <a:ln w="9525">
                  <a:noFill/>
                </a:ln>
              </p:spPr>
              <p:txBody>
                <a:bodyPr/>
                <a:lstStyle/>
                <a:p>
                  <a:endParaRPr lang="zh-CN" altLang="en-US"/>
                </a:p>
              </p:txBody>
            </p:sp>
          </p:grpSp>
          <p:grpSp>
            <p:nvGrpSpPr>
              <p:cNvPr id="89106" name="Group 227"/>
              <p:cNvGrpSpPr/>
              <p:nvPr/>
            </p:nvGrpSpPr>
            <p:grpSpPr>
              <a:xfrm>
                <a:off x="1985" y="1419"/>
                <a:ext cx="465" cy="602"/>
                <a:chOff x="1985" y="1419"/>
                <a:chExt cx="465" cy="602"/>
              </a:xfrm>
            </p:grpSpPr>
            <p:sp>
              <p:nvSpPr>
                <p:cNvPr id="89107" name="Freeform 228"/>
                <p:cNvSpPr/>
                <p:nvPr/>
              </p:nvSpPr>
              <p:spPr>
                <a:xfrm>
                  <a:off x="2164" y="1525"/>
                  <a:ext cx="130" cy="496"/>
                </a:xfrm>
                <a:custGeom>
                  <a:avLst/>
                  <a:gdLst>
                    <a:gd name="txL" fmla="*/ 0 w 130"/>
                    <a:gd name="txT" fmla="*/ 0 h 496"/>
                    <a:gd name="txR" fmla="*/ 130 w 130"/>
                    <a:gd name="txB" fmla="*/ 496 h 496"/>
                  </a:gdLst>
                  <a:ahLst/>
                  <a:cxnLst>
                    <a:cxn ang="0">
                      <a:pos x="129" y="230"/>
                    </a:cxn>
                    <a:cxn ang="0">
                      <a:pos x="118" y="330"/>
                    </a:cxn>
                    <a:cxn ang="0">
                      <a:pos x="107" y="411"/>
                    </a:cxn>
                    <a:cxn ang="0">
                      <a:pos x="100" y="471"/>
                    </a:cxn>
                    <a:cxn ang="0">
                      <a:pos x="101" y="495"/>
                    </a:cxn>
                    <a:cxn ang="0">
                      <a:pos x="86" y="495"/>
                    </a:cxn>
                    <a:cxn ang="0">
                      <a:pos x="81" y="460"/>
                    </a:cxn>
                    <a:cxn ang="0">
                      <a:pos x="79" y="408"/>
                    </a:cxn>
                    <a:cxn ang="0">
                      <a:pos x="73" y="358"/>
                    </a:cxn>
                    <a:cxn ang="0">
                      <a:pos x="70" y="321"/>
                    </a:cxn>
                    <a:cxn ang="0">
                      <a:pos x="64" y="268"/>
                    </a:cxn>
                    <a:cxn ang="0">
                      <a:pos x="56" y="222"/>
                    </a:cxn>
                    <a:cxn ang="0">
                      <a:pos x="51" y="181"/>
                    </a:cxn>
                    <a:cxn ang="0">
                      <a:pos x="45" y="137"/>
                    </a:cxn>
                    <a:cxn ang="0">
                      <a:pos x="35" y="94"/>
                    </a:cxn>
                    <a:cxn ang="0">
                      <a:pos x="24" y="57"/>
                    </a:cxn>
                    <a:cxn ang="0">
                      <a:pos x="6" y="21"/>
                    </a:cxn>
                    <a:cxn ang="0">
                      <a:pos x="0" y="8"/>
                    </a:cxn>
                    <a:cxn ang="0">
                      <a:pos x="7" y="0"/>
                    </a:cxn>
                    <a:cxn ang="0">
                      <a:pos x="19" y="14"/>
                    </a:cxn>
                    <a:cxn ang="0">
                      <a:pos x="35" y="47"/>
                    </a:cxn>
                    <a:cxn ang="0">
                      <a:pos x="47" y="81"/>
                    </a:cxn>
                    <a:cxn ang="0">
                      <a:pos x="56" y="116"/>
                    </a:cxn>
                    <a:cxn ang="0">
                      <a:pos x="63" y="161"/>
                    </a:cxn>
                    <a:cxn ang="0">
                      <a:pos x="69" y="204"/>
                    </a:cxn>
                    <a:cxn ang="0">
                      <a:pos x="77" y="262"/>
                    </a:cxn>
                    <a:cxn ang="0">
                      <a:pos x="84" y="309"/>
                    </a:cxn>
                    <a:cxn ang="0">
                      <a:pos x="87" y="347"/>
                    </a:cxn>
                    <a:cxn ang="0">
                      <a:pos x="90" y="386"/>
                    </a:cxn>
                    <a:cxn ang="0">
                      <a:pos x="96" y="427"/>
                    </a:cxn>
                    <a:cxn ang="0">
                      <a:pos x="104" y="357"/>
                    </a:cxn>
                    <a:cxn ang="0">
                      <a:pos x="114" y="292"/>
                    </a:cxn>
                    <a:cxn ang="0">
                      <a:pos x="129" y="230"/>
                    </a:cxn>
                  </a:cxnLst>
                  <a:rect l="txL" t="txT" r="txR" b="txB"/>
                  <a:pathLst>
                    <a:path w="130" h="496">
                      <a:moveTo>
                        <a:pt x="129" y="230"/>
                      </a:moveTo>
                      <a:lnTo>
                        <a:pt x="118" y="330"/>
                      </a:lnTo>
                      <a:lnTo>
                        <a:pt x="107" y="411"/>
                      </a:lnTo>
                      <a:lnTo>
                        <a:pt x="100" y="471"/>
                      </a:lnTo>
                      <a:lnTo>
                        <a:pt x="101" y="495"/>
                      </a:lnTo>
                      <a:lnTo>
                        <a:pt x="86" y="495"/>
                      </a:lnTo>
                      <a:lnTo>
                        <a:pt x="81" y="460"/>
                      </a:lnTo>
                      <a:lnTo>
                        <a:pt x="79" y="408"/>
                      </a:lnTo>
                      <a:lnTo>
                        <a:pt x="73" y="358"/>
                      </a:lnTo>
                      <a:lnTo>
                        <a:pt x="70" y="321"/>
                      </a:lnTo>
                      <a:lnTo>
                        <a:pt x="64" y="268"/>
                      </a:lnTo>
                      <a:lnTo>
                        <a:pt x="56" y="222"/>
                      </a:lnTo>
                      <a:lnTo>
                        <a:pt x="51" y="181"/>
                      </a:lnTo>
                      <a:lnTo>
                        <a:pt x="45" y="137"/>
                      </a:lnTo>
                      <a:lnTo>
                        <a:pt x="35" y="94"/>
                      </a:lnTo>
                      <a:lnTo>
                        <a:pt x="24" y="57"/>
                      </a:lnTo>
                      <a:lnTo>
                        <a:pt x="6" y="21"/>
                      </a:lnTo>
                      <a:lnTo>
                        <a:pt x="0" y="8"/>
                      </a:lnTo>
                      <a:lnTo>
                        <a:pt x="7" y="0"/>
                      </a:lnTo>
                      <a:lnTo>
                        <a:pt x="19" y="14"/>
                      </a:lnTo>
                      <a:lnTo>
                        <a:pt x="35" y="47"/>
                      </a:lnTo>
                      <a:lnTo>
                        <a:pt x="47" y="81"/>
                      </a:lnTo>
                      <a:lnTo>
                        <a:pt x="56" y="116"/>
                      </a:lnTo>
                      <a:lnTo>
                        <a:pt x="63" y="161"/>
                      </a:lnTo>
                      <a:lnTo>
                        <a:pt x="69" y="204"/>
                      </a:lnTo>
                      <a:lnTo>
                        <a:pt x="77" y="262"/>
                      </a:lnTo>
                      <a:lnTo>
                        <a:pt x="84" y="309"/>
                      </a:lnTo>
                      <a:lnTo>
                        <a:pt x="87" y="347"/>
                      </a:lnTo>
                      <a:lnTo>
                        <a:pt x="90" y="386"/>
                      </a:lnTo>
                      <a:lnTo>
                        <a:pt x="96" y="427"/>
                      </a:lnTo>
                      <a:lnTo>
                        <a:pt x="104" y="357"/>
                      </a:lnTo>
                      <a:lnTo>
                        <a:pt x="114" y="292"/>
                      </a:lnTo>
                      <a:lnTo>
                        <a:pt x="129" y="230"/>
                      </a:lnTo>
                    </a:path>
                  </a:pathLst>
                </a:custGeom>
                <a:solidFill>
                  <a:srgbClr val="3C0023">
                    <a:alpha val="50195"/>
                  </a:srgbClr>
                </a:solidFill>
                <a:ln w="9525">
                  <a:noFill/>
                </a:ln>
              </p:spPr>
              <p:txBody>
                <a:bodyPr/>
                <a:lstStyle/>
                <a:p>
                  <a:endParaRPr lang="zh-CN" altLang="en-US"/>
                </a:p>
              </p:txBody>
            </p:sp>
            <p:sp>
              <p:nvSpPr>
                <p:cNvPr id="89108" name="Freeform 229"/>
                <p:cNvSpPr/>
                <p:nvPr/>
              </p:nvSpPr>
              <p:spPr>
                <a:xfrm>
                  <a:off x="2204" y="1606"/>
                  <a:ext cx="229" cy="358"/>
                </a:xfrm>
                <a:custGeom>
                  <a:avLst/>
                  <a:gdLst>
                    <a:gd name="txL" fmla="*/ 0 w 229"/>
                    <a:gd name="txT" fmla="*/ 0 h 358"/>
                    <a:gd name="txR" fmla="*/ 229 w 229"/>
                    <a:gd name="txB" fmla="*/ 358 h 358"/>
                  </a:gdLst>
                  <a:ahLst/>
                  <a:cxnLst>
                    <a:cxn ang="0">
                      <a:pos x="60" y="58"/>
                    </a:cxn>
                    <a:cxn ang="0">
                      <a:pos x="67" y="44"/>
                    </a:cxn>
                    <a:cxn ang="0">
                      <a:pos x="64" y="5"/>
                    </a:cxn>
                    <a:cxn ang="0">
                      <a:pos x="64" y="5"/>
                    </a:cxn>
                    <a:cxn ang="0">
                      <a:pos x="64" y="5"/>
                    </a:cxn>
                    <a:cxn ang="0">
                      <a:pos x="64" y="5"/>
                    </a:cxn>
                    <a:cxn ang="0">
                      <a:pos x="64" y="5"/>
                    </a:cxn>
                    <a:cxn ang="0">
                      <a:pos x="70" y="2"/>
                    </a:cxn>
                    <a:cxn ang="0">
                      <a:pos x="82" y="66"/>
                    </a:cxn>
                    <a:cxn ang="0">
                      <a:pos x="94" y="39"/>
                    </a:cxn>
                    <a:cxn ang="0">
                      <a:pos x="101" y="5"/>
                    </a:cxn>
                    <a:cxn ang="0">
                      <a:pos x="104" y="5"/>
                    </a:cxn>
                    <a:cxn ang="0">
                      <a:pos x="103" y="5"/>
                    </a:cxn>
                    <a:cxn ang="0">
                      <a:pos x="104" y="5"/>
                    </a:cxn>
                    <a:cxn ang="0">
                      <a:pos x="102" y="5"/>
                    </a:cxn>
                    <a:cxn ang="0">
                      <a:pos x="103" y="5"/>
                    </a:cxn>
                    <a:cxn ang="0">
                      <a:pos x="105" y="47"/>
                    </a:cxn>
                    <a:cxn ang="0">
                      <a:pos x="111" y="88"/>
                    </a:cxn>
                    <a:cxn ang="0">
                      <a:pos x="139" y="79"/>
                    </a:cxn>
                    <a:cxn ang="0">
                      <a:pos x="176" y="81"/>
                    </a:cxn>
                    <a:cxn ang="0">
                      <a:pos x="205" y="104"/>
                    </a:cxn>
                    <a:cxn ang="0">
                      <a:pos x="228" y="155"/>
                    </a:cxn>
                    <a:cxn ang="0">
                      <a:pos x="200" y="147"/>
                    </a:cxn>
                    <a:cxn ang="0">
                      <a:pos x="171" y="131"/>
                    </a:cxn>
                    <a:cxn ang="0">
                      <a:pos x="132" y="121"/>
                    </a:cxn>
                    <a:cxn ang="0">
                      <a:pos x="107" y="125"/>
                    </a:cxn>
                    <a:cxn ang="0">
                      <a:pos x="122" y="150"/>
                    </a:cxn>
                    <a:cxn ang="0">
                      <a:pos x="154" y="165"/>
                    </a:cxn>
                    <a:cxn ang="0">
                      <a:pos x="187" y="175"/>
                    </a:cxn>
                    <a:cxn ang="0">
                      <a:pos x="212" y="212"/>
                    </a:cxn>
                    <a:cxn ang="0">
                      <a:pos x="224" y="262"/>
                    </a:cxn>
                    <a:cxn ang="0">
                      <a:pos x="194" y="231"/>
                    </a:cxn>
                    <a:cxn ang="0">
                      <a:pos x="163" y="199"/>
                    </a:cxn>
                    <a:cxn ang="0">
                      <a:pos x="133" y="172"/>
                    </a:cxn>
                    <a:cxn ang="0">
                      <a:pos x="111" y="159"/>
                    </a:cxn>
                    <a:cxn ang="0">
                      <a:pos x="97" y="185"/>
                    </a:cxn>
                    <a:cxn ang="0">
                      <a:pos x="115" y="245"/>
                    </a:cxn>
                    <a:cxn ang="0">
                      <a:pos x="132" y="312"/>
                    </a:cxn>
                    <a:cxn ang="0">
                      <a:pos x="114" y="328"/>
                    </a:cxn>
                    <a:cxn ang="0">
                      <a:pos x="95" y="236"/>
                    </a:cxn>
                    <a:cxn ang="0">
                      <a:pos x="78" y="179"/>
                    </a:cxn>
                    <a:cxn ang="0">
                      <a:pos x="73" y="197"/>
                    </a:cxn>
                    <a:cxn ang="0">
                      <a:pos x="74" y="186"/>
                    </a:cxn>
                    <a:cxn ang="0">
                      <a:pos x="70" y="206"/>
                    </a:cxn>
                    <a:cxn ang="0">
                      <a:pos x="51" y="257"/>
                    </a:cxn>
                    <a:cxn ang="0">
                      <a:pos x="32" y="322"/>
                    </a:cxn>
                    <a:cxn ang="0">
                      <a:pos x="28" y="304"/>
                    </a:cxn>
                    <a:cxn ang="0">
                      <a:pos x="38" y="249"/>
                    </a:cxn>
                    <a:cxn ang="0">
                      <a:pos x="59" y="189"/>
                    </a:cxn>
                    <a:cxn ang="0">
                      <a:pos x="82" y="143"/>
                    </a:cxn>
                    <a:cxn ang="0">
                      <a:pos x="65" y="139"/>
                    </a:cxn>
                    <a:cxn ang="0">
                      <a:pos x="40" y="189"/>
                    </a:cxn>
                    <a:cxn ang="0">
                      <a:pos x="18" y="243"/>
                    </a:cxn>
                    <a:cxn ang="0">
                      <a:pos x="2" y="278"/>
                    </a:cxn>
                    <a:cxn ang="0">
                      <a:pos x="13" y="229"/>
                    </a:cxn>
                    <a:cxn ang="0">
                      <a:pos x="37" y="179"/>
                    </a:cxn>
                    <a:cxn ang="0">
                      <a:pos x="70" y="130"/>
                    </a:cxn>
                    <a:cxn ang="0">
                      <a:pos x="62" y="99"/>
                    </a:cxn>
                    <a:cxn ang="0">
                      <a:pos x="37" y="59"/>
                    </a:cxn>
                    <a:cxn ang="0">
                      <a:pos x="11" y="12"/>
                    </a:cxn>
                    <a:cxn ang="0">
                      <a:pos x="14" y="5"/>
                    </a:cxn>
                    <a:cxn ang="0">
                      <a:pos x="27" y="5"/>
                    </a:cxn>
                    <a:cxn ang="0">
                      <a:pos x="31" y="10"/>
                    </a:cxn>
                  </a:cxnLst>
                  <a:rect l="txL" t="txT" r="txR" b="txB"/>
                  <a:pathLst>
                    <a:path w="229" h="358">
                      <a:moveTo>
                        <a:pt x="43" y="31"/>
                      </a:moveTo>
                      <a:lnTo>
                        <a:pt x="47" y="39"/>
                      </a:lnTo>
                      <a:lnTo>
                        <a:pt x="51" y="44"/>
                      </a:lnTo>
                      <a:lnTo>
                        <a:pt x="55" y="51"/>
                      </a:lnTo>
                      <a:lnTo>
                        <a:pt x="60" y="58"/>
                      </a:lnTo>
                      <a:lnTo>
                        <a:pt x="64" y="63"/>
                      </a:lnTo>
                      <a:lnTo>
                        <a:pt x="68" y="66"/>
                      </a:lnTo>
                      <a:lnTo>
                        <a:pt x="72" y="69"/>
                      </a:lnTo>
                      <a:lnTo>
                        <a:pt x="70" y="58"/>
                      </a:lnTo>
                      <a:lnTo>
                        <a:pt x="67" y="44"/>
                      </a:lnTo>
                      <a:lnTo>
                        <a:pt x="65" y="30"/>
                      </a:lnTo>
                      <a:lnTo>
                        <a:pt x="63" y="15"/>
                      </a:lnTo>
                      <a:lnTo>
                        <a:pt x="64" y="5"/>
                      </a:lnTo>
                      <a:lnTo>
                        <a:pt x="69" y="5"/>
                      </a:lnTo>
                      <a:lnTo>
                        <a:pt x="70" y="5"/>
                      </a:lnTo>
                      <a:lnTo>
                        <a:pt x="70" y="2"/>
                      </a:lnTo>
                      <a:lnTo>
                        <a:pt x="73" y="16"/>
                      </a:lnTo>
                      <a:lnTo>
                        <a:pt x="76" y="30"/>
                      </a:lnTo>
                      <a:lnTo>
                        <a:pt x="78" y="41"/>
                      </a:lnTo>
                      <a:lnTo>
                        <a:pt x="81" y="56"/>
                      </a:lnTo>
                      <a:lnTo>
                        <a:pt x="82" y="66"/>
                      </a:lnTo>
                      <a:lnTo>
                        <a:pt x="84" y="71"/>
                      </a:lnTo>
                      <a:lnTo>
                        <a:pt x="87" y="66"/>
                      </a:lnTo>
                      <a:lnTo>
                        <a:pt x="89" y="59"/>
                      </a:lnTo>
                      <a:lnTo>
                        <a:pt x="93" y="52"/>
                      </a:lnTo>
                      <a:lnTo>
                        <a:pt x="94" y="39"/>
                      </a:lnTo>
                      <a:lnTo>
                        <a:pt x="95" y="30"/>
                      </a:lnTo>
                      <a:lnTo>
                        <a:pt x="96" y="14"/>
                      </a:lnTo>
                      <a:lnTo>
                        <a:pt x="96" y="0"/>
                      </a:lnTo>
                      <a:lnTo>
                        <a:pt x="101" y="5"/>
                      </a:lnTo>
                      <a:lnTo>
                        <a:pt x="102" y="5"/>
                      </a:lnTo>
                      <a:lnTo>
                        <a:pt x="103" y="5"/>
                      </a:lnTo>
                      <a:lnTo>
                        <a:pt x="104" y="5"/>
                      </a:lnTo>
                      <a:lnTo>
                        <a:pt x="105" y="5"/>
                      </a:lnTo>
                      <a:lnTo>
                        <a:pt x="104" y="5"/>
                      </a:lnTo>
                      <a:lnTo>
                        <a:pt x="102" y="5"/>
                      </a:lnTo>
                      <a:lnTo>
                        <a:pt x="103" y="5"/>
                      </a:lnTo>
                      <a:lnTo>
                        <a:pt x="105" y="5"/>
                      </a:lnTo>
                      <a:lnTo>
                        <a:pt x="103" y="5"/>
                      </a:lnTo>
                      <a:lnTo>
                        <a:pt x="101" y="5"/>
                      </a:lnTo>
                      <a:lnTo>
                        <a:pt x="102" y="5"/>
                      </a:lnTo>
                      <a:lnTo>
                        <a:pt x="101" y="5"/>
                      </a:lnTo>
                      <a:lnTo>
                        <a:pt x="104" y="5"/>
                      </a:lnTo>
                      <a:lnTo>
                        <a:pt x="103" y="5"/>
                      </a:lnTo>
                      <a:lnTo>
                        <a:pt x="100" y="5"/>
                      </a:lnTo>
                      <a:lnTo>
                        <a:pt x="101" y="5"/>
                      </a:lnTo>
                      <a:lnTo>
                        <a:pt x="103" y="5"/>
                      </a:lnTo>
                      <a:lnTo>
                        <a:pt x="102" y="5"/>
                      </a:lnTo>
                      <a:lnTo>
                        <a:pt x="104" y="5"/>
                      </a:lnTo>
                      <a:lnTo>
                        <a:pt x="102" y="5"/>
                      </a:lnTo>
                      <a:lnTo>
                        <a:pt x="107" y="5"/>
                      </a:lnTo>
                      <a:lnTo>
                        <a:pt x="103" y="5"/>
                      </a:lnTo>
                      <a:lnTo>
                        <a:pt x="104" y="5"/>
                      </a:lnTo>
                      <a:lnTo>
                        <a:pt x="107" y="2"/>
                      </a:lnTo>
                      <a:lnTo>
                        <a:pt x="107" y="15"/>
                      </a:lnTo>
                      <a:lnTo>
                        <a:pt x="106" y="31"/>
                      </a:lnTo>
                      <a:lnTo>
                        <a:pt x="105" y="47"/>
                      </a:lnTo>
                      <a:lnTo>
                        <a:pt x="103" y="66"/>
                      </a:lnTo>
                      <a:lnTo>
                        <a:pt x="102" y="83"/>
                      </a:lnTo>
                      <a:lnTo>
                        <a:pt x="101" y="100"/>
                      </a:lnTo>
                      <a:lnTo>
                        <a:pt x="105" y="95"/>
                      </a:lnTo>
                      <a:lnTo>
                        <a:pt x="111" y="88"/>
                      </a:lnTo>
                      <a:lnTo>
                        <a:pt x="118" y="80"/>
                      </a:lnTo>
                      <a:lnTo>
                        <a:pt x="123" y="78"/>
                      </a:lnTo>
                      <a:lnTo>
                        <a:pt x="129" y="76"/>
                      </a:lnTo>
                      <a:lnTo>
                        <a:pt x="134" y="79"/>
                      </a:lnTo>
                      <a:lnTo>
                        <a:pt x="139" y="79"/>
                      </a:lnTo>
                      <a:lnTo>
                        <a:pt x="146" y="81"/>
                      </a:lnTo>
                      <a:lnTo>
                        <a:pt x="154" y="83"/>
                      </a:lnTo>
                      <a:lnTo>
                        <a:pt x="162" y="83"/>
                      </a:lnTo>
                      <a:lnTo>
                        <a:pt x="169" y="81"/>
                      </a:lnTo>
                      <a:lnTo>
                        <a:pt x="176" y="81"/>
                      </a:lnTo>
                      <a:lnTo>
                        <a:pt x="182" y="83"/>
                      </a:lnTo>
                      <a:lnTo>
                        <a:pt x="188" y="88"/>
                      </a:lnTo>
                      <a:lnTo>
                        <a:pt x="195" y="93"/>
                      </a:lnTo>
                      <a:lnTo>
                        <a:pt x="200" y="98"/>
                      </a:lnTo>
                      <a:lnTo>
                        <a:pt x="205" y="104"/>
                      </a:lnTo>
                      <a:lnTo>
                        <a:pt x="211" y="112"/>
                      </a:lnTo>
                      <a:lnTo>
                        <a:pt x="214" y="117"/>
                      </a:lnTo>
                      <a:lnTo>
                        <a:pt x="220" y="129"/>
                      </a:lnTo>
                      <a:lnTo>
                        <a:pt x="223" y="142"/>
                      </a:lnTo>
                      <a:lnTo>
                        <a:pt x="228" y="155"/>
                      </a:lnTo>
                      <a:lnTo>
                        <a:pt x="223" y="156"/>
                      </a:lnTo>
                      <a:lnTo>
                        <a:pt x="217" y="154"/>
                      </a:lnTo>
                      <a:lnTo>
                        <a:pt x="210" y="152"/>
                      </a:lnTo>
                      <a:lnTo>
                        <a:pt x="205" y="150"/>
                      </a:lnTo>
                      <a:lnTo>
                        <a:pt x="200" y="147"/>
                      </a:lnTo>
                      <a:lnTo>
                        <a:pt x="195" y="143"/>
                      </a:lnTo>
                      <a:lnTo>
                        <a:pt x="189" y="138"/>
                      </a:lnTo>
                      <a:lnTo>
                        <a:pt x="184" y="135"/>
                      </a:lnTo>
                      <a:lnTo>
                        <a:pt x="179" y="133"/>
                      </a:lnTo>
                      <a:lnTo>
                        <a:pt x="171" y="131"/>
                      </a:lnTo>
                      <a:lnTo>
                        <a:pt x="162" y="129"/>
                      </a:lnTo>
                      <a:lnTo>
                        <a:pt x="154" y="126"/>
                      </a:lnTo>
                      <a:lnTo>
                        <a:pt x="146" y="124"/>
                      </a:lnTo>
                      <a:lnTo>
                        <a:pt x="138" y="122"/>
                      </a:lnTo>
                      <a:lnTo>
                        <a:pt x="132" y="121"/>
                      </a:lnTo>
                      <a:lnTo>
                        <a:pt x="128" y="120"/>
                      </a:lnTo>
                      <a:lnTo>
                        <a:pt x="122" y="120"/>
                      </a:lnTo>
                      <a:lnTo>
                        <a:pt x="116" y="121"/>
                      </a:lnTo>
                      <a:lnTo>
                        <a:pt x="112" y="122"/>
                      </a:lnTo>
                      <a:lnTo>
                        <a:pt x="107" y="125"/>
                      </a:lnTo>
                      <a:lnTo>
                        <a:pt x="100" y="129"/>
                      </a:lnTo>
                      <a:lnTo>
                        <a:pt x="105" y="135"/>
                      </a:lnTo>
                      <a:lnTo>
                        <a:pt x="111" y="140"/>
                      </a:lnTo>
                      <a:lnTo>
                        <a:pt x="116" y="147"/>
                      </a:lnTo>
                      <a:lnTo>
                        <a:pt x="122" y="150"/>
                      </a:lnTo>
                      <a:lnTo>
                        <a:pt x="129" y="155"/>
                      </a:lnTo>
                      <a:lnTo>
                        <a:pt x="133" y="158"/>
                      </a:lnTo>
                      <a:lnTo>
                        <a:pt x="139" y="159"/>
                      </a:lnTo>
                      <a:lnTo>
                        <a:pt x="147" y="162"/>
                      </a:lnTo>
                      <a:lnTo>
                        <a:pt x="154" y="165"/>
                      </a:lnTo>
                      <a:lnTo>
                        <a:pt x="161" y="167"/>
                      </a:lnTo>
                      <a:lnTo>
                        <a:pt x="168" y="169"/>
                      </a:lnTo>
                      <a:lnTo>
                        <a:pt x="174" y="170"/>
                      </a:lnTo>
                      <a:lnTo>
                        <a:pt x="181" y="174"/>
                      </a:lnTo>
                      <a:lnTo>
                        <a:pt x="187" y="175"/>
                      </a:lnTo>
                      <a:lnTo>
                        <a:pt x="191" y="179"/>
                      </a:lnTo>
                      <a:lnTo>
                        <a:pt x="197" y="186"/>
                      </a:lnTo>
                      <a:lnTo>
                        <a:pt x="202" y="193"/>
                      </a:lnTo>
                      <a:lnTo>
                        <a:pt x="206" y="202"/>
                      </a:lnTo>
                      <a:lnTo>
                        <a:pt x="212" y="212"/>
                      </a:lnTo>
                      <a:lnTo>
                        <a:pt x="214" y="218"/>
                      </a:lnTo>
                      <a:lnTo>
                        <a:pt x="217" y="229"/>
                      </a:lnTo>
                      <a:lnTo>
                        <a:pt x="219" y="240"/>
                      </a:lnTo>
                      <a:lnTo>
                        <a:pt x="221" y="253"/>
                      </a:lnTo>
                      <a:lnTo>
                        <a:pt x="224" y="262"/>
                      </a:lnTo>
                      <a:lnTo>
                        <a:pt x="219" y="257"/>
                      </a:lnTo>
                      <a:lnTo>
                        <a:pt x="212" y="250"/>
                      </a:lnTo>
                      <a:lnTo>
                        <a:pt x="206" y="245"/>
                      </a:lnTo>
                      <a:lnTo>
                        <a:pt x="200" y="238"/>
                      </a:lnTo>
                      <a:lnTo>
                        <a:pt x="194" y="231"/>
                      </a:lnTo>
                      <a:lnTo>
                        <a:pt x="188" y="226"/>
                      </a:lnTo>
                      <a:lnTo>
                        <a:pt x="182" y="219"/>
                      </a:lnTo>
                      <a:lnTo>
                        <a:pt x="176" y="213"/>
                      </a:lnTo>
                      <a:lnTo>
                        <a:pt x="169" y="206"/>
                      </a:lnTo>
                      <a:lnTo>
                        <a:pt x="163" y="199"/>
                      </a:lnTo>
                      <a:lnTo>
                        <a:pt x="158" y="194"/>
                      </a:lnTo>
                      <a:lnTo>
                        <a:pt x="151" y="187"/>
                      </a:lnTo>
                      <a:lnTo>
                        <a:pt x="145" y="182"/>
                      </a:lnTo>
                      <a:lnTo>
                        <a:pt x="139" y="177"/>
                      </a:lnTo>
                      <a:lnTo>
                        <a:pt x="133" y="172"/>
                      </a:lnTo>
                      <a:lnTo>
                        <a:pt x="129" y="170"/>
                      </a:lnTo>
                      <a:lnTo>
                        <a:pt x="125" y="166"/>
                      </a:lnTo>
                      <a:lnTo>
                        <a:pt x="119" y="162"/>
                      </a:lnTo>
                      <a:lnTo>
                        <a:pt x="115" y="158"/>
                      </a:lnTo>
                      <a:lnTo>
                        <a:pt x="111" y="159"/>
                      </a:lnTo>
                      <a:lnTo>
                        <a:pt x="107" y="162"/>
                      </a:lnTo>
                      <a:lnTo>
                        <a:pt x="103" y="161"/>
                      </a:lnTo>
                      <a:lnTo>
                        <a:pt x="99" y="158"/>
                      </a:lnTo>
                      <a:lnTo>
                        <a:pt x="98" y="170"/>
                      </a:lnTo>
                      <a:lnTo>
                        <a:pt x="97" y="185"/>
                      </a:lnTo>
                      <a:lnTo>
                        <a:pt x="100" y="197"/>
                      </a:lnTo>
                      <a:lnTo>
                        <a:pt x="102" y="211"/>
                      </a:lnTo>
                      <a:lnTo>
                        <a:pt x="107" y="220"/>
                      </a:lnTo>
                      <a:lnTo>
                        <a:pt x="111" y="231"/>
                      </a:lnTo>
                      <a:lnTo>
                        <a:pt x="115" y="245"/>
                      </a:lnTo>
                      <a:lnTo>
                        <a:pt x="119" y="259"/>
                      </a:lnTo>
                      <a:lnTo>
                        <a:pt x="123" y="268"/>
                      </a:lnTo>
                      <a:lnTo>
                        <a:pt x="127" y="278"/>
                      </a:lnTo>
                      <a:lnTo>
                        <a:pt x="131" y="297"/>
                      </a:lnTo>
                      <a:lnTo>
                        <a:pt x="132" y="312"/>
                      </a:lnTo>
                      <a:lnTo>
                        <a:pt x="135" y="331"/>
                      </a:lnTo>
                      <a:lnTo>
                        <a:pt x="138" y="349"/>
                      </a:lnTo>
                      <a:lnTo>
                        <a:pt x="125" y="349"/>
                      </a:lnTo>
                      <a:lnTo>
                        <a:pt x="122" y="349"/>
                      </a:lnTo>
                      <a:lnTo>
                        <a:pt x="114" y="328"/>
                      </a:lnTo>
                      <a:lnTo>
                        <a:pt x="108" y="307"/>
                      </a:lnTo>
                      <a:lnTo>
                        <a:pt x="103" y="290"/>
                      </a:lnTo>
                      <a:lnTo>
                        <a:pt x="100" y="273"/>
                      </a:lnTo>
                      <a:lnTo>
                        <a:pt x="98" y="255"/>
                      </a:lnTo>
                      <a:lnTo>
                        <a:pt x="95" y="236"/>
                      </a:lnTo>
                      <a:lnTo>
                        <a:pt x="90" y="209"/>
                      </a:lnTo>
                      <a:lnTo>
                        <a:pt x="87" y="200"/>
                      </a:lnTo>
                      <a:lnTo>
                        <a:pt x="84" y="184"/>
                      </a:lnTo>
                      <a:lnTo>
                        <a:pt x="81" y="177"/>
                      </a:lnTo>
                      <a:lnTo>
                        <a:pt x="78" y="179"/>
                      </a:lnTo>
                      <a:lnTo>
                        <a:pt x="75" y="181"/>
                      </a:lnTo>
                      <a:lnTo>
                        <a:pt x="74" y="191"/>
                      </a:lnTo>
                      <a:lnTo>
                        <a:pt x="74" y="186"/>
                      </a:lnTo>
                      <a:lnTo>
                        <a:pt x="74" y="192"/>
                      </a:lnTo>
                      <a:lnTo>
                        <a:pt x="73" y="197"/>
                      </a:lnTo>
                      <a:lnTo>
                        <a:pt x="72" y="198"/>
                      </a:lnTo>
                      <a:lnTo>
                        <a:pt x="74" y="197"/>
                      </a:lnTo>
                      <a:lnTo>
                        <a:pt x="73" y="194"/>
                      </a:lnTo>
                      <a:lnTo>
                        <a:pt x="74" y="189"/>
                      </a:lnTo>
                      <a:lnTo>
                        <a:pt x="74" y="186"/>
                      </a:lnTo>
                      <a:lnTo>
                        <a:pt x="74" y="187"/>
                      </a:lnTo>
                      <a:lnTo>
                        <a:pt x="74" y="192"/>
                      </a:lnTo>
                      <a:lnTo>
                        <a:pt x="75" y="197"/>
                      </a:lnTo>
                      <a:lnTo>
                        <a:pt x="73" y="198"/>
                      </a:lnTo>
                      <a:lnTo>
                        <a:pt x="70" y="206"/>
                      </a:lnTo>
                      <a:lnTo>
                        <a:pt x="65" y="218"/>
                      </a:lnTo>
                      <a:lnTo>
                        <a:pt x="61" y="227"/>
                      </a:lnTo>
                      <a:lnTo>
                        <a:pt x="58" y="236"/>
                      </a:lnTo>
                      <a:lnTo>
                        <a:pt x="54" y="248"/>
                      </a:lnTo>
                      <a:lnTo>
                        <a:pt x="51" y="257"/>
                      </a:lnTo>
                      <a:lnTo>
                        <a:pt x="47" y="268"/>
                      </a:lnTo>
                      <a:lnTo>
                        <a:pt x="43" y="280"/>
                      </a:lnTo>
                      <a:lnTo>
                        <a:pt x="40" y="293"/>
                      </a:lnTo>
                      <a:lnTo>
                        <a:pt x="36" y="307"/>
                      </a:lnTo>
                      <a:lnTo>
                        <a:pt x="32" y="322"/>
                      </a:lnTo>
                      <a:lnTo>
                        <a:pt x="29" y="339"/>
                      </a:lnTo>
                      <a:lnTo>
                        <a:pt x="24" y="357"/>
                      </a:lnTo>
                      <a:lnTo>
                        <a:pt x="26" y="335"/>
                      </a:lnTo>
                      <a:lnTo>
                        <a:pt x="27" y="321"/>
                      </a:lnTo>
                      <a:lnTo>
                        <a:pt x="28" y="304"/>
                      </a:lnTo>
                      <a:lnTo>
                        <a:pt x="29" y="295"/>
                      </a:lnTo>
                      <a:lnTo>
                        <a:pt x="31" y="287"/>
                      </a:lnTo>
                      <a:lnTo>
                        <a:pt x="33" y="273"/>
                      </a:lnTo>
                      <a:lnTo>
                        <a:pt x="36" y="260"/>
                      </a:lnTo>
                      <a:lnTo>
                        <a:pt x="38" y="249"/>
                      </a:lnTo>
                      <a:lnTo>
                        <a:pt x="43" y="236"/>
                      </a:lnTo>
                      <a:lnTo>
                        <a:pt x="47" y="224"/>
                      </a:lnTo>
                      <a:lnTo>
                        <a:pt x="52" y="211"/>
                      </a:lnTo>
                      <a:lnTo>
                        <a:pt x="56" y="197"/>
                      </a:lnTo>
                      <a:lnTo>
                        <a:pt x="59" y="189"/>
                      </a:lnTo>
                      <a:lnTo>
                        <a:pt x="63" y="181"/>
                      </a:lnTo>
                      <a:lnTo>
                        <a:pt x="68" y="172"/>
                      </a:lnTo>
                      <a:lnTo>
                        <a:pt x="73" y="164"/>
                      </a:lnTo>
                      <a:lnTo>
                        <a:pt x="77" y="154"/>
                      </a:lnTo>
                      <a:lnTo>
                        <a:pt x="82" y="143"/>
                      </a:lnTo>
                      <a:lnTo>
                        <a:pt x="80" y="139"/>
                      </a:lnTo>
                      <a:lnTo>
                        <a:pt x="76" y="133"/>
                      </a:lnTo>
                      <a:lnTo>
                        <a:pt x="73" y="129"/>
                      </a:lnTo>
                      <a:lnTo>
                        <a:pt x="70" y="132"/>
                      </a:lnTo>
                      <a:lnTo>
                        <a:pt x="65" y="139"/>
                      </a:lnTo>
                      <a:lnTo>
                        <a:pt x="60" y="147"/>
                      </a:lnTo>
                      <a:lnTo>
                        <a:pt x="55" y="154"/>
                      </a:lnTo>
                      <a:lnTo>
                        <a:pt x="51" y="164"/>
                      </a:lnTo>
                      <a:lnTo>
                        <a:pt x="45" y="177"/>
                      </a:lnTo>
                      <a:lnTo>
                        <a:pt x="40" y="189"/>
                      </a:lnTo>
                      <a:lnTo>
                        <a:pt x="36" y="199"/>
                      </a:lnTo>
                      <a:lnTo>
                        <a:pt x="31" y="207"/>
                      </a:lnTo>
                      <a:lnTo>
                        <a:pt x="27" y="218"/>
                      </a:lnTo>
                      <a:lnTo>
                        <a:pt x="22" y="230"/>
                      </a:lnTo>
                      <a:lnTo>
                        <a:pt x="18" y="243"/>
                      </a:lnTo>
                      <a:lnTo>
                        <a:pt x="14" y="255"/>
                      </a:lnTo>
                      <a:lnTo>
                        <a:pt x="9" y="268"/>
                      </a:lnTo>
                      <a:lnTo>
                        <a:pt x="5" y="282"/>
                      </a:lnTo>
                      <a:lnTo>
                        <a:pt x="0" y="298"/>
                      </a:lnTo>
                      <a:lnTo>
                        <a:pt x="2" y="278"/>
                      </a:lnTo>
                      <a:lnTo>
                        <a:pt x="4" y="262"/>
                      </a:lnTo>
                      <a:lnTo>
                        <a:pt x="5" y="248"/>
                      </a:lnTo>
                      <a:lnTo>
                        <a:pt x="6" y="244"/>
                      </a:lnTo>
                      <a:lnTo>
                        <a:pt x="9" y="238"/>
                      </a:lnTo>
                      <a:lnTo>
                        <a:pt x="13" y="229"/>
                      </a:lnTo>
                      <a:lnTo>
                        <a:pt x="17" y="219"/>
                      </a:lnTo>
                      <a:lnTo>
                        <a:pt x="22" y="209"/>
                      </a:lnTo>
                      <a:lnTo>
                        <a:pt x="27" y="199"/>
                      </a:lnTo>
                      <a:lnTo>
                        <a:pt x="33" y="187"/>
                      </a:lnTo>
                      <a:lnTo>
                        <a:pt x="37" y="179"/>
                      </a:lnTo>
                      <a:lnTo>
                        <a:pt x="43" y="170"/>
                      </a:lnTo>
                      <a:lnTo>
                        <a:pt x="49" y="159"/>
                      </a:lnTo>
                      <a:lnTo>
                        <a:pt x="55" y="149"/>
                      </a:lnTo>
                      <a:lnTo>
                        <a:pt x="60" y="142"/>
                      </a:lnTo>
                      <a:lnTo>
                        <a:pt x="70" y="130"/>
                      </a:lnTo>
                      <a:lnTo>
                        <a:pt x="75" y="125"/>
                      </a:lnTo>
                      <a:lnTo>
                        <a:pt x="78" y="123"/>
                      </a:lnTo>
                      <a:lnTo>
                        <a:pt x="73" y="117"/>
                      </a:lnTo>
                      <a:lnTo>
                        <a:pt x="67" y="108"/>
                      </a:lnTo>
                      <a:lnTo>
                        <a:pt x="62" y="99"/>
                      </a:lnTo>
                      <a:lnTo>
                        <a:pt x="57" y="92"/>
                      </a:lnTo>
                      <a:lnTo>
                        <a:pt x="52" y="85"/>
                      </a:lnTo>
                      <a:lnTo>
                        <a:pt x="47" y="78"/>
                      </a:lnTo>
                      <a:lnTo>
                        <a:pt x="43" y="71"/>
                      </a:lnTo>
                      <a:lnTo>
                        <a:pt x="37" y="59"/>
                      </a:lnTo>
                      <a:lnTo>
                        <a:pt x="32" y="48"/>
                      </a:lnTo>
                      <a:lnTo>
                        <a:pt x="26" y="38"/>
                      </a:lnTo>
                      <a:lnTo>
                        <a:pt x="19" y="26"/>
                      </a:lnTo>
                      <a:lnTo>
                        <a:pt x="14" y="19"/>
                      </a:lnTo>
                      <a:lnTo>
                        <a:pt x="11" y="12"/>
                      </a:lnTo>
                      <a:lnTo>
                        <a:pt x="7" y="4"/>
                      </a:lnTo>
                      <a:lnTo>
                        <a:pt x="14" y="5"/>
                      </a:lnTo>
                      <a:lnTo>
                        <a:pt x="27" y="5"/>
                      </a:lnTo>
                      <a:lnTo>
                        <a:pt x="31" y="10"/>
                      </a:lnTo>
                      <a:lnTo>
                        <a:pt x="37" y="22"/>
                      </a:lnTo>
                      <a:lnTo>
                        <a:pt x="43" y="31"/>
                      </a:lnTo>
                    </a:path>
                  </a:pathLst>
                </a:custGeom>
                <a:solidFill>
                  <a:srgbClr val="037C03">
                    <a:alpha val="50195"/>
                  </a:srgbClr>
                </a:solidFill>
                <a:ln w="9525">
                  <a:noFill/>
                </a:ln>
              </p:spPr>
              <p:txBody>
                <a:bodyPr/>
                <a:lstStyle/>
                <a:p>
                  <a:endParaRPr lang="zh-CN" altLang="en-US"/>
                </a:p>
              </p:txBody>
            </p:sp>
            <p:grpSp>
              <p:nvGrpSpPr>
                <p:cNvPr id="89109" name="Group 230"/>
                <p:cNvGrpSpPr/>
                <p:nvPr/>
              </p:nvGrpSpPr>
              <p:grpSpPr>
                <a:xfrm>
                  <a:off x="1985" y="1419"/>
                  <a:ext cx="465" cy="349"/>
                  <a:chOff x="1985" y="1419"/>
                  <a:chExt cx="465" cy="349"/>
                </a:xfrm>
              </p:grpSpPr>
              <p:sp>
                <p:nvSpPr>
                  <p:cNvPr id="89110" name="Freeform 231"/>
                  <p:cNvSpPr/>
                  <p:nvPr/>
                </p:nvSpPr>
                <p:spPr>
                  <a:xfrm>
                    <a:off x="2030" y="1419"/>
                    <a:ext cx="420" cy="326"/>
                  </a:xfrm>
                  <a:custGeom>
                    <a:avLst/>
                    <a:gdLst>
                      <a:gd name="txL" fmla="*/ 0 w 420"/>
                      <a:gd name="txT" fmla="*/ 0 h 326"/>
                      <a:gd name="txR" fmla="*/ 420 w 420"/>
                      <a:gd name="txB" fmla="*/ 326 h 326"/>
                    </a:gdLst>
                    <a:ahLst/>
                    <a:cxnLst>
                      <a:cxn ang="0">
                        <a:pos x="159" y="41"/>
                      </a:cxn>
                      <a:cxn ang="0">
                        <a:pos x="193" y="13"/>
                      </a:cxn>
                      <a:cxn ang="0">
                        <a:pos x="233" y="2"/>
                      </a:cxn>
                      <a:cxn ang="0">
                        <a:pos x="279" y="2"/>
                      </a:cxn>
                      <a:cxn ang="0">
                        <a:pos x="290" y="6"/>
                      </a:cxn>
                      <a:cxn ang="0">
                        <a:pos x="260" y="14"/>
                      </a:cxn>
                      <a:cxn ang="0">
                        <a:pos x="225" y="25"/>
                      </a:cxn>
                      <a:cxn ang="0">
                        <a:pos x="186" y="52"/>
                      </a:cxn>
                      <a:cxn ang="0">
                        <a:pos x="183" y="89"/>
                      </a:cxn>
                      <a:cxn ang="0">
                        <a:pos x="240" y="66"/>
                      </a:cxn>
                      <a:cxn ang="0">
                        <a:pos x="288" y="64"/>
                      </a:cxn>
                      <a:cxn ang="0">
                        <a:pos x="338" y="69"/>
                      </a:cxn>
                      <a:cxn ang="0">
                        <a:pos x="397" y="75"/>
                      </a:cxn>
                      <a:cxn ang="0">
                        <a:pos x="398" y="76"/>
                      </a:cxn>
                      <a:cxn ang="0">
                        <a:pos x="341" y="79"/>
                      </a:cxn>
                      <a:cxn ang="0">
                        <a:pos x="288" y="80"/>
                      </a:cxn>
                      <a:cxn ang="0">
                        <a:pos x="242" y="86"/>
                      </a:cxn>
                      <a:cxn ang="0">
                        <a:pos x="191" y="98"/>
                      </a:cxn>
                      <a:cxn ang="0">
                        <a:pos x="212" y="118"/>
                      </a:cxn>
                      <a:cxn ang="0">
                        <a:pos x="227" y="136"/>
                      </a:cxn>
                      <a:cxn ang="0">
                        <a:pos x="175" y="119"/>
                      </a:cxn>
                      <a:cxn ang="0">
                        <a:pos x="165" y="129"/>
                      </a:cxn>
                      <a:cxn ang="0">
                        <a:pos x="221" y="138"/>
                      </a:cxn>
                      <a:cxn ang="0">
                        <a:pos x="269" y="150"/>
                      </a:cxn>
                      <a:cxn ang="0">
                        <a:pos x="306" y="181"/>
                      </a:cxn>
                      <a:cxn ang="0">
                        <a:pos x="335" y="223"/>
                      </a:cxn>
                      <a:cxn ang="0">
                        <a:pos x="329" y="231"/>
                      </a:cxn>
                      <a:cxn ang="0">
                        <a:pos x="290" y="204"/>
                      </a:cxn>
                      <a:cxn ang="0">
                        <a:pos x="248" y="174"/>
                      </a:cxn>
                      <a:cxn ang="0">
                        <a:pos x="202" y="154"/>
                      </a:cxn>
                      <a:cxn ang="0">
                        <a:pos x="173" y="148"/>
                      </a:cxn>
                      <a:cxn ang="0">
                        <a:pos x="196" y="181"/>
                      </a:cxn>
                      <a:cxn ang="0">
                        <a:pos x="227" y="223"/>
                      </a:cxn>
                      <a:cxn ang="0">
                        <a:pos x="244" y="262"/>
                      </a:cxn>
                      <a:cxn ang="0">
                        <a:pos x="243" y="299"/>
                      </a:cxn>
                      <a:cxn ang="0">
                        <a:pos x="222" y="259"/>
                      </a:cxn>
                      <a:cxn ang="0">
                        <a:pos x="199" y="215"/>
                      </a:cxn>
                      <a:cxn ang="0">
                        <a:pos x="173" y="177"/>
                      </a:cxn>
                      <a:cxn ang="0">
                        <a:pos x="150" y="142"/>
                      </a:cxn>
                      <a:cxn ang="0">
                        <a:pos x="109" y="162"/>
                      </a:cxn>
                      <a:cxn ang="0">
                        <a:pos x="77" y="210"/>
                      </a:cxn>
                      <a:cxn ang="0">
                        <a:pos x="49" y="260"/>
                      </a:cxn>
                      <a:cxn ang="0">
                        <a:pos x="18" y="306"/>
                      </a:cxn>
                      <a:cxn ang="0">
                        <a:pos x="8" y="301"/>
                      </a:cxn>
                      <a:cxn ang="0">
                        <a:pos x="45" y="243"/>
                      </a:cxn>
                      <a:cxn ang="0">
                        <a:pos x="78" y="198"/>
                      </a:cxn>
                      <a:cxn ang="0">
                        <a:pos x="107" y="154"/>
                      </a:cxn>
                      <a:cxn ang="0">
                        <a:pos x="132" y="120"/>
                      </a:cxn>
                      <a:cxn ang="0">
                        <a:pos x="95" y="79"/>
                      </a:cxn>
                      <a:cxn ang="0">
                        <a:pos x="42" y="57"/>
                      </a:cxn>
                      <a:cxn ang="0">
                        <a:pos x="19" y="45"/>
                      </a:cxn>
                      <a:cxn ang="0">
                        <a:pos x="60" y="58"/>
                      </a:cxn>
                      <a:cxn ang="0">
                        <a:pos x="116" y="86"/>
                      </a:cxn>
                    </a:cxnLst>
                    <a:rect l="txL" t="txT" r="txR" b="txB"/>
                    <a:pathLst>
                      <a:path w="420" h="326">
                        <a:moveTo>
                          <a:pt x="132" y="83"/>
                        </a:moveTo>
                        <a:lnTo>
                          <a:pt x="135" y="74"/>
                        </a:lnTo>
                        <a:lnTo>
                          <a:pt x="140" y="65"/>
                        </a:lnTo>
                        <a:lnTo>
                          <a:pt x="146" y="57"/>
                        </a:lnTo>
                        <a:lnTo>
                          <a:pt x="152" y="48"/>
                        </a:lnTo>
                        <a:lnTo>
                          <a:pt x="159" y="41"/>
                        </a:lnTo>
                        <a:lnTo>
                          <a:pt x="164" y="34"/>
                        </a:lnTo>
                        <a:lnTo>
                          <a:pt x="170" y="29"/>
                        </a:lnTo>
                        <a:lnTo>
                          <a:pt x="176" y="25"/>
                        </a:lnTo>
                        <a:lnTo>
                          <a:pt x="181" y="20"/>
                        </a:lnTo>
                        <a:lnTo>
                          <a:pt x="187" y="17"/>
                        </a:lnTo>
                        <a:lnTo>
                          <a:pt x="193" y="13"/>
                        </a:lnTo>
                        <a:lnTo>
                          <a:pt x="199" y="10"/>
                        </a:lnTo>
                        <a:lnTo>
                          <a:pt x="204" y="8"/>
                        </a:lnTo>
                        <a:lnTo>
                          <a:pt x="212" y="6"/>
                        </a:lnTo>
                        <a:lnTo>
                          <a:pt x="220" y="5"/>
                        </a:lnTo>
                        <a:lnTo>
                          <a:pt x="226" y="3"/>
                        </a:lnTo>
                        <a:lnTo>
                          <a:pt x="233" y="2"/>
                        </a:lnTo>
                        <a:lnTo>
                          <a:pt x="241" y="2"/>
                        </a:lnTo>
                        <a:lnTo>
                          <a:pt x="248" y="1"/>
                        </a:lnTo>
                        <a:lnTo>
                          <a:pt x="258" y="1"/>
                        </a:lnTo>
                        <a:lnTo>
                          <a:pt x="265" y="1"/>
                        </a:lnTo>
                        <a:lnTo>
                          <a:pt x="272" y="2"/>
                        </a:lnTo>
                        <a:lnTo>
                          <a:pt x="279" y="2"/>
                        </a:lnTo>
                        <a:lnTo>
                          <a:pt x="285" y="1"/>
                        </a:lnTo>
                        <a:lnTo>
                          <a:pt x="293" y="1"/>
                        </a:lnTo>
                        <a:lnTo>
                          <a:pt x="300" y="0"/>
                        </a:lnTo>
                        <a:lnTo>
                          <a:pt x="296" y="2"/>
                        </a:lnTo>
                        <a:lnTo>
                          <a:pt x="293" y="3"/>
                        </a:lnTo>
                        <a:lnTo>
                          <a:pt x="290" y="6"/>
                        </a:lnTo>
                        <a:lnTo>
                          <a:pt x="287" y="10"/>
                        </a:lnTo>
                        <a:lnTo>
                          <a:pt x="281" y="10"/>
                        </a:lnTo>
                        <a:lnTo>
                          <a:pt x="275" y="10"/>
                        </a:lnTo>
                        <a:lnTo>
                          <a:pt x="270" y="11"/>
                        </a:lnTo>
                        <a:lnTo>
                          <a:pt x="265" y="12"/>
                        </a:lnTo>
                        <a:lnTo>
                          <a:pt x="260" y="14"/>
                        </a:lnTo>
                        <a:lnTo>
                          <a:pt x="254" y="15"/>
                        </a:lnTo>
                        <a:lnTo>
                          <a:pt x="248" y="17"/>
                        </a:lnTo>
                        <a:lnTo>
                          <a:pt x="242" y="19"/>
                        </a:lnTo>
                        <a:lnTo>
                          <a:pt x="236" y="20"/>
                        </a:lnTo>
                        <a:lnTo>
                          <a:pt x="231" y="22"/>
                        </a:lnTo>
                        <a:lnTo>
                          <a:pt x="225" y="25"/>
                        </a:lnTo>
                        <a:lnTo>
                          <a:pt x="218" y="28"/>
                        </a:lnTo>
                        <a:lnTo>
                          <a:pt x="212" y="31"/>
                        </a:lnTo>
                        <a:lnTo>
                          <a:pt x="205" y="35"/>
                        </a:lnTo>
                        <a:lnTo>
                          <a:pt x="199" y="39"/>
                        </a:lnTo>
                        <a:lnTo>
                          <a:pt x="192" y="45"/>
                        </a:lnTo>
                        <a:lnTo>
                          <a:pt x="186" y="52"/>
                        </a:lnTo>
                        <a:lnTo>
                          <a:pt x="180" y="61"/>
                        </a:lnTo>
                        <a:lnTo>
                          <a:pt x="173" y="73"/>
                        </a:lnTo>
                        <a:lnTo>
                          <a:pt x="167" y="86"/>
                        </a:lnTo>
                        <a:lnTo>
                          <a:pt x="159" y="101"/>
                        </a:lnTo>
                        <a:lnTo>
                          <a:pt x="172" y="95"/>
                        </a:lnTo>
                        <a:lnTo>
                          <a:pt x="183" y="89"/>
                        </a:lnTo>
                        <a:lnTo>
                          <a:pt x="197" y="82"/>
                        </a:lnTo>
                        <a:lnTo>
                          <a:pt x="212" y="75"/>
                        </a:lnTo>
                        <a:lnTo>
                          <a:pt x="218" y="73"/>
                        </a:lnTo>
                        <a:lnTo>
                          <a:pt x="225" y="70"/>
                        </a:lnTo>
                        <a:lnTo>
                          <a:pt x="232" y="69"/>
                        </a:lnTo>
                        <a:lnTo>
                          <a:pt x="240" y="66"/>
                        </a:lnTo>
                        <a:lnTo>
                          <a:pt x="249" y="65"/>
                        </a:lnTo>
                        <a:lnTo>
                          <a:pt x="256" y="64"/>
                        </a:lnTo>
                        <a:lnTo>
                          <a:pt x="263" y="64"/>
                        </a:lnTo>
                        <a:lnTo>
                          <a:pt x="272" y="63"/>
                        </a:lnTo>
                        <a:lnTo>
                          <a:pt x="281" y="64"/>
                        </a:lnTo>
                        <a:lnTo>
                          <a:pt x="288" y="64"/>
                        </a:lnTo>
                        <a:lnTo>
                          <a:pt x="297" y="65"/>
                        </a:lnTo>
                        <a:lnTo>
                          <a:pt x="305" y="65"/>
                        </a:lnTo>
                        <a:lnTo>
                          <a:pt x="313" y="66"/>
                        </a:lnTo>
                        <a:lnTo>
                          <a:pt x="321" y="67"/>
                        </a:lnTo>
                        <a:lnTo>
                          <a:pt x="329" y="68"/>
                        </a:lnTo>
                        <a:lnTo>
                          <a:pt x="338" y="69"/>
                        </a:lnTo>
                        <a:lnTo>
                          <a:pt x="346" y="69"/>
                        </a:lnTo>
                        <a:lnTo>
                          <a:pt x="354" y="70"/>
                        </a:lnTo>
                        <a:lnTo>
                          <a:pt x="364" y="71"/>
                        </a:lnTo>
                        <a:lnTo>
                          <a:pt x="374" y="72"/>
                        </a:lnTo>
                        <a:lnTo>
                          <a:pt x="383" y="74"/>
                        </a:lnTo>
                        <a:lnTo>
                          <a:pt x="397" y="75"/>
                        </a:lnTo>
                        <a:lnTo>
                          <a:pt x="402" y="75"/>
                        </a:lnTo>
                        <a:lnTo>
                          <a:pt x="406" y="75"/>
                        </a:lnTo>
                        <a:lnTo>
                          <a:pt x="411" y="77"/>
                        </a:lnTo>
                        <a:lnTo>
                          <a:pt x="419" y="80"/>
                        </a:lnTo>
                        <a:lnTo>
                          <a:pt x="404" y="77"/>
                        </a:lnTo>
                        <a:lnTo>
                          <a:pt x="398" y="76"/>
                        </a:lnTo>
                        <a:lnTo>
                          <a:pt x="392" y="76"/>
                        </a:lnTo>
                        <a:lnTo>
                          <a:pt x="379" y="77"/>
                        </a:lnTo>
                        <a:lnTo>
                          <a:pt x="370" y="78"/>
                        </a:lnTo>
                        <a:lnTo>
                          <a:pt x="360" y="78"/>
                        </a:lnTo>
                        <a:lnTo>
                          <a:pt x="350" y="78"/>
                        </a:lnTo>
                        <a:lnTo>
                          <a:pt x="341" y="79"/>
                        </a:lnTo>
                        <a:lnTo>
                          <a:pt x="332" y="79"/>
                        </a:lnTo>
                        <a:lnTo>
                          <a:pt x="325" y="78"/>
                        </a:lnTo>
                        <a:lnTo>
                          <a:pt x="315" y="78"/>
                        </a:lnTo>
                        <a:lnTo>
                          <a:pt x="305" y="78"/>
                        </a:lnTo>
                        <a:lnTo>
                          <a:pt x="296" y="79"/>
                        </a:lnTo>
                        <a:lnTo>
                          <a:pt x="288" y="80"/>
                        </a:lnTo>
                        <a:lnTo>
                          <a:pt x="279" y="80"/>
                        </a:lnTo>
                        <a:lnTo>
                          <a:pt x="272" y="80"/>
                        </a:lnTo>
                        <a:lnTo>
                          <a:pt x="264" y="81"/>
                        </a:lnTo>
                        <a:lnTo>
                          <a:pt x="256" y="83"/>
                        </a:lnTo>
                        <a:lnTo>
                          <a:pt x="249" y="84"/>
                        </a:lnTo>
                        <a:lnTo>
                          <a:pt x="242" y="86"/>
                        </a:lnTo>
                        <a:lnTo>
                          <a:pt x="235" y="87"/>
                        </a:lnTo>
                        <a:lnTo>
                          <a:pt x="227" y="89"/>
                        </a:lnTo>
                        <a:lnTo>
                          <a:pt x="219" y="92"/>
                        </a:lnTo>
                        <a:lnTo>
                          <a:pt x="212" y="93"/>
                        </a:lnTo>
                        <a:lnTo>
                          <a:pt x="199" y="97"/>
                        </a:lnTo>
                        <a:lnTo>
                          <a:pt x="191" y="98"/>
                        </a:lnTo>
                        <a:lnTo>
                          <a:pt x="180" y="104"/>
                        </a:lnTo>
                        <a:lnTo>
                          <a:pt x="164" y="109"/>
                        </a:lnTo>
                        <a:lnTo>
                          <a:pt x="180" y="111"/>
                        </a:lnTo>
                        <a:lnTo>
                          <a:pt x="199" y="112"/>
                        </a:lnTo>
                        <a:lnTo>
                          <a:pt x="203" y="113"/>
                        </a:lnTo>
                        <a:lnTo>
                          <a:pt x="212" y="118"/>
                        </a:lnTo>
                        <a:lnTo>
                          <a:pt x="217" y="120"/>
                        </a:lnTo>
                        <a:lnTo>
                          <a:pt x="223" y="123"/>
                        </a:lnTo>
                        <a:lnTo>
                          <a:pt x="224" y="125"/>
                        </a:lnTo>
                        <a:lnTo>
                          <a:pt x="227" y="130"/>
                        </a:lnTo>
                        <a:lnTo>
                          <a:pt x="233" y="140"/>
                        </a:lnTo>
                        <a:lnTo>
                          <a:pt x="227" y="136"/>
                        </a:lnTo>
                        <a:lnTo>
                          <a:pt x="219" y="131"/>
                        </a:lnTo>
                        <a:lnTo>
                          <a:pt x="212" y="129"/>
                        </a:lnTo>
                        <a:lnTo>
                          <a:pt x="199" y="125"/>
                        </a:lnTo>
                        <a:lnTo>
                          <a:pt x="190" y="123"/>
                        </a:lnTo>
                        <a:lnTo>
                          <a:pt x="180" y="120"/>
                        </a:lnTo>
                        <a:lnTo>
                          <a:pt x="175" y="119"/>
                        </a:lnTo>
                        <a:lnTo>
                          <a:pt x="165" y="120"/>
                        </a:lnTo>
                        <a:lnTo>
                          <a:pt x="158" y="122"/>
                        </a:lnTo>
                        <a:lnTo>
                          <a:pt x="148" y="123"/>
                        </a:lnTo>
                        <a:lnTo>
                          <a:pt x="153" y="125"/>
                        </a:lnTo>
                        <a:lnTo>
                          <a:pt x="158" y="127"/>
                        </a:lnTo>
                        <a:lnTo>
                          <a:pt x="165" y="129"/>
                        </a:lnTo>
                        <a:lnTo>
                          <a:pt x="173" y="129"/>
                        </a:lnTo>
                        <a:lnTo>
                          <a:pt x="186" y="129"/>
                        </a:lnTo>
                        <a:lnTo>
                          <a:pt x="194" y="131"/>
                        </a:lnTo>
                        <a:lnTo>
                          <a:pt x="204" y="133"/>
                        </a:lnTo>
                        <a:lnTo>
                          <a:pt x="212" y="136"/>
                        </a:lnTo>
                        <a:lnTo>
                          <a:pt x="221" y="138"/>
                        </a:lnTo>
                        <a:lnTo>
                          <a:pt x="231" y="141"/>
                        </a:lnTo>
                        <a:lnTo>
                          <a:pt x="240" y="143"/>
                        </a:lnTo>
                        <a:lnTo>
                          <a:pt x="248" y="145"/>
                        </a:lnTo>
                        <a:lnTo>
                          <a:pt x="254" y="146"/>
                        </a:lnTo>
                        <a:lnTo>
                          <a:pt x="261" y="148"/>
                        </a:lnTo>
                        <a:lnTo>
                          <a:pt x="269" y="150"/>
                        </a:lnTo>
                        <a:lnTo>
                          <a:pt x="277" y="154"/>
                        </a:lnTo>
                        <a:lnTo>
                          <a:pt x="285" y="158"/>
                        </a:lnTo>
                        <a:lnTo>
                          <a:pt x="289" y="160"/>
                        </a:lnTo>
                        <a:lnTo>
                          <a:pt x="295" y="167"/>
                        </a:lnTo>
                        <a:lnTo>
                          <a:pt x="302" y="174"/>
                        </a:lnTo>
                        <a:lnTo>
                          <a:pt x="306" y="181"/>
                        </a:lnTo>
                        <a:lnTo>
                          <a:pt x="311" y="188"/>
                        </a:lnTo>
                        <a:lnTo>
                          <a:pt x="316" y="195"/>
                        </a:lnTo>
                        <a:lnTo>
                          <a:pt x="320" y="202"/>
                        </a:lnTo>
                        <a:lnTo>
                          <a:pt x="325" y="208"/>
                        </a:lnTo>
                        <a:lnTo>
                          <a:pt x="329" y="215"/>
                        </a:lnTo>
                        <a:lnTo>
                          <a:pt x="335" y="223"/>
                        </a:lnTo>
                        <a:lnTo>
                          <a:pt x="339" y="232"/>
                        </a:lnTo>
                        <a:lnTo>
                          <a:pt x="345" y="238"/>
                        </a:lnTo>
                        <a:lnTo>
                          <a:pt x="351" y="246"/>
                        </a:lnTo>
                        <a:lnTo>
                          <a:pt x="343" y="240"/>
                        </a:lnTo>
                        <a:lnTo>
                          <a:pt x="337" y="236"/>
                        </a:lnTo>
                        <a:lnTo>
                          <a:pt x="329" y="231"/>
                        </a:lnTo>
                        <a:lnTo>
                          <a:pt x="321" y="225"/>
                        </a:lnTo>
                        <a:lnTo>
                          <a:pt x="315" y="220"/>
                        </a:lnTo>
                        <a:lnTo>
                          <a:pt x="309" y="215"/>
                        </a:lnTo>
                        <a:lnTo>
                          <a:pt x="303" y="212"/>
                        </a:lnTo>
                        <a:lnTo>
                          <a:pt x="297" y="208"/>
                        </a:lnTo>
                        <a:lnTo>
                          <a:pt x="290" y="204"/>
                        </a:lnTo>
                        <a:lnTo>
                          <a:pt x="284" y="200"/>
                        </a:lnTo>
                        <a:lnTo>
                          <a:pt x="278" y="196"/>
                        </a:lnTo>
                        <a:lnTo>
                          <a:pt x="271" y="191"/>
                        </a:lnTo>
                        <a:lnTo>
                          <a:pt x="263" y="186"/>
                        </a:lnTo>
                        <a:lnTo>
                          <a:pt x="255" y="179"/>
                        </a:lnTo>
                        <a:lnTo>
                          <a:pt x="248" y="174"/>
                        </a:lnTo>
                        <a:lnTo>
                          <a:pt x="241" y="170"/>
                        </a:lnTo>
                        <a:lnTo>
                          <a:pt x="234" y="166"/>
                        </a:lnTo>
                        <a:lnTo>
                          <a:pt x="226" y="162"/>
                        </a:lnTo>
                        <a:lnTo>
                          <a:pt x="219" y="159"/>
                        </a:lnTo>
                        <a:lnTo>
                          <a:pt x="212" y="157"/>
                        </a:lnTo>
                        <a:lnTo>
                          <a:pt x="202" y="154"/>
                        </a:lnTo>
                        <a:lnTo>
                          <a:pt x="192" y="151"/>
                        </a:lnTo>
                        <a:lnTo>
                          <a:pt x="185" y="150"/>
                        </a:lnTo>
                        <a:lnTo>
                          <a:pt x="178" y="147"/>
                        </a:lnTo>
                        <a:lnTo>
                          <a:pt x="167" y="142"/>
                        </a:lnTo>
                        <a:lnTo>
                          <a:pt x="156" y="137"/>
                        </a:lnTo>
                        <a:lnTo>
                          <a:pt x="173" y="148"/>
                        </a:lnTo>
                        <a:lnTo>
                          <a:pt x="174" y="150"/>
                        </a:lnTo>
                        <a:lnTo>
                          <a:pt x="178" y="155"/>
                        </a:lnTo>
                        <a:lnTo>
                          <a:pt x="182" y="160"/>
                        </a:lnTo>
                        <a:lnTo>
                          <a:pt x="187" y="167"/>
                        </a:lnTo>
                        <a:lnTo>
                          <a:pt x="192" y="173"/>
                        </a:lnTo>
                        <a:lnTo>
                          <a:pt x="196" y="181"/>
                        </a:lnTo>
                        <a:lnTo>
                          <a:pt x="202" y="188"/>
                        </a:lnTo>
                        <a:lnTo>
                          <a:pt x="207" y="194"/>
                        </a:lnTo>
                        <a:lnTo>
                          <a:pt x="212" y="200"/>
                        </a:lnTo>
                        <a:lnTo>
                          <a:pt x="216" y="207"/>
                        </a:lnTo>
                        <a:lnTo>
                          <a:pt x="223" y="216"/>
                        </a:lnTo>
                        <a:lnTo>
                          <a:pt x="227" y="223"/>
                        </a:lnTo>
                        <a:lnTo>
                          <a:pt x="231" y="229"/>
                        </a:lnTo>
                        <a:lnTo>
                          <a:pt x="235" y="236"/>
                        </a:lnTo>
                        <a:lnTo>
                          <a:pt x="238" y="243"/>
                        </a:lnTo>
                        <a:lnTo>
                          <a:pt x="241" y="250"/>
                        </a:lnTo>
                        <a:lnTo>
                          <a:pt x="243" y="255"/>
                        </a:lnTo>
                        <a:lnTo>
                          <a:pt x="244" y="262"/>
                        </a:lnTo>
                        <a:lnTo>
                          <a:pt x="245" y="272"/>
                        </a:lnTo>
                        <a:lnTo>
                          <a:pt x="246" y="281"/>
                        </a:lnTo>
                        <a:lnTo>
                          <a:pt x="247" y="290"/>
                        </a:lnTo>
                        <a:lnTo>
                          <a:pt x="249" y="299"/>
                        </a:lnTo>
                        <a:lnTo>
                          <a:pt x="250" y="308"/>
                        </a:lnTo>
                        <a:lnTo>
                          <a:pt x="243" y="299"/>
                        </a:lnTo>
                        <a:lnTo>
                          <a:pt x="238" y="292"/>
                        </a:lnTo>
                        <a:lnTo>
                          <a:pt x="233" y="286"/>
                        </a:lnTo>
                        <a:lnTo>
                          <a:pt x="231" y="281"/>
                        </a:lnTo>
                        <a:lnTo>
                          <a:pt x="227" y="274"/>
                        </a:lnTo>
                        <a:lnTo>
                          <a:pt x="225" y="267"/>
                        </a:lnTo>
                        <a:lnTo>
                          <a:pt x="222" y="259"/>
                        </a:lnTo>
                        <a:lnTo>
                          <a:pt x="218" y="251"/>
                        </a:lnTo>
                        <a:lnTo>
                          <a:pt x="214" y="242"/>
                        </a:lnTo>
                        <a:lnTo>
                          <a:pt x="211" y="235"/>
                        </a:lnTo>
                        <a:lnTo>
                          <a:pt x="207" y="227"/>
                        </a:lnTo>
                        <a:lnTo>
                          <a:pt x="202" y="220"/>
                        </a:lnTo>
                        <a:lnTo>
                          <a:pt x="199" y="215"/>
                        </a:lnTo>
                        <a:lnTo>
                          <a:pt x="193" y="208"/>
                        </a:lnTo>
                        <a:lnTo>
                          <a:pt x="187" y="201"/>
                        </a:lnTo>
                        <a:lnTo>
                          <a:pt x="182" y="196"/>
                        </a:lnTo>
                        <a:lnTo>
                          <a:pt x="177" y="190"/>
                        </a:lnTo>
                        <a:lnTo>
                          <a:pt x="176" y="184"/>
                        </a:lnTo>
                        <a:lnTo>
                          <a:pt x="173" y="177"/>
                        </a:lnTo>
                        <a:lnTo>
                          <a:pt x="169" y="170"/>
                        </a:lnTo>
                        <a:lnTo>
                          <a:pt x="166" y="163"/>
                        </a:lnTo>
                        <a:lnTo>
                          <a:pt x="164" y="161"/>
                        </a:lnTo>
                        <a:lnTo>
                          <a:pt x="158" y="154"/>
                        </a:lnTo>
                        <a:lnTo>
                          <a:pt x="154" y="148"/>
                        </a:lnTo>
                        <a:lnTo>
                          <a:pt x="150" y="142"/>
                        </a:lnTo>
                        <a:lnTo>
                          <a:pt x="145" y="136"/>
                        </a:lnTo>
                        <a:lnTo>
                          <a:pt x="138" y="140"/>
                        </a:lnTo>
                        <a:lnTo>
                          <a:pt x="131" y="144"/>
                        </a:lnTo>
                        <a:lnTo>
                          <a:pt x="123" y="151"/>
                        </a:lnTo>
                        <a:lnTo>
                          <a:pt x="115" y="156"/>
                        </a:lnTo>
                        <a:lnTo>
                          <a:pt x="109" y="162"/>
                        </a:lnTo>
                        <a:lnTo>
                          <a:pt x="105" y="168"/>
                        </a:lnTo>
                        <a:lnTo>
                          <a:pt x="99" y="176"/>
                        </a:lnTo>
                        <a:lnTo>
                          <a:pt x="93" y="186"/>
                        </a:lnTo>
                        <a:lnTo>
                          <a:pt x="87" y="193"/>
                        </a:lnTo>
                        <a:lnTo>
                          <a:pt x="81" y="202"/>
                        </a:lnTo>
                        <a:lnTo>
                          <a:pt x="77" y="210"/>
                        </a:lnTo>
                        <a:lnTo>
                          <a:pt x="72" y="218"/>
                        </a:lnTo>
                        <a:lnTo>
                          <a:pt x="67" y="226"/>
                        </a:lnTo>
                        <a:lnTo>
                          <a:pt x="64" y="233"/>
                        </a:lnTo>
                        <a:lnTo>
                          <a:pt x="59" y="242"/>
                        </a:lnTo>
                        <a:lnTo>
                          <a:pt x="55" y="250"/>
                        </a:lnTo>
                        <a:lnTo>
                          <a:pt x="49" y="260"/>
                        </a:lnTo>
                        <a:lnTo>
                          <a:pt x="43" y="269"/>
                        </a:lnTo>
                        <a:lnTo>
                          <a:pt x="37" y="280"/>
                        </a:lnTo>
                        <a:lnTo>
                          <a:pt x="31" y="289"/>
                        </a:lnTo>
                        <a:lnTo>
                          <a:pt x="27" y="294"/>
                        </a:lnTo>
                        <a:lnTo>
                          <a:pt x="22" y="300"/>
                        </a:lnTo>
                        <a:lnTo>
                          <a:pt x="18" y="306"/>
                        </a:lnTo>
                        <a:lnTo>
                          <a:pt x="12" y="312"/>
                        </a:lnTo>
                        <a:lnTo>
                          <a:pt x="7" y="317"/>
                        </a:lnTo>
                        <a:lnTo>
                          <a:pt x="0" y="325"/>
                        </a:lnTo>
                        <a:lnTo>
                          <a:pt x="2" y="316"/>
                        </a:lnTo>
                        <a:lnTo>
                          <a:pt x="4" y="309"/>
                        </a:lnTo>
                        <a:lnTo>
                          <a:pt x="8" y="301"/>
                        </a:lnTo>
                        <a:lnTo>
                          <a:pt x="12" y="294"/>
                        </a:lnTo>
                        <a:lnTo>
                          <a:pt x="19" y="284"/>
                        </a:lnTo>
                        <a:lnTo>
                          <a:pt x="26" y="274"/>
                        </a:lnTo>
                        <a:lnTo>
                          <a:pt x="33" y="262"/>
                        </a:lnTo>
                        <a:lnTo>
                          <a:pt x="39" y="253"/>
                        </a:lnTo>
                        <a:lnTo>
                          <a:pt x="45" y="243"/>
                        </a:lnTo>
                        <a:lnTo>
                          <a:pt x="51" y="235"/>
                        </a:lnTo>
                        <a:lnTo>
                          <a:pt x="56" y="227"/>
                        </a:lnTo>
                        <a:lnTo>
                          <a:pt x="61" y="220"/>
                        </a:lnTo>
                        <a:lnTo>
                          <a:pt x="66" y="214"/>
                        </a:lnTo>
                        <a:lnTo>
                          <a:pt x="72" y="206"/>
                        </a:lnTo>
                        <a:lnTo>
                          <a:pt x="78" y="198"/>
                        </a:lnTo>
                        <a:lnTo>
                          <a:pt x="84" y="190"/>
                        </a:lnTo>
                        <a:lnTo>
                          <a:pt x="90" y="181"/>
                        </a:lnTo>
                        <a:lnTo>
                          <a:pt x="95" y="174"/>
                        </a:lnTo>
                        <a:lnTo>
                          <a:pt x="101" y="166"/>
                        </a:lnTo>
                        <a:lnTo>
                          <a:pt x="104" y="160"/>
                        </a:lnTo>
                        <a:lnTo>
                          <a:pt x="107" y="154"/>
                        </a:lnTo>
                        <a:lnTo>
                          <a:pt x="109" y="149"/>
                        </a:lnTo>
                        <a:lnTo>
                          <a:pt x="112" y="143"/>
                        </a:lnTo>
                        <a:lnTo>
                          <a:pt x="116" y="138"/>
                        </a:lnTo>
                        <a:lnTo>
                          <a:pt x="122" y="131"/>
                        </a:lnTo>
                        <a:lnTo>
                          <a:pt x="128" y="125"/>
                        </a:lnTo>
                        <a:lnTo>
                          <a:pt x="132" y="120"/>
                        </a:lnTo>
                        <a:lnTo>
                          <a:pt x="137" y="114"/>
                        </a:lnTo>
                        <a:lnTo>
                          <a:pt x="135" y="109"/>
                        </a:lnTo>
                        <a:lnTo>
                          <a:pt x="133" y="101"/>
                        </a:lnTo>
                        <a:lnTo>
                          <a:pt x="121" y="97"/>
                        </a:lnTo>
                        <a:lnTo>
                          <a:pt x="108" y="88"/>
                        </a:lnTo>
                        <a:lnTo>
                          <a:pt x="95" y="79"/>
                        </a:lnTo>
                        <a:lnTo>
                          <a:pt x="87" y="74"/>
                        </a:lnTo>
                        <a:lnTo>
                          <a:pt x="81" y="71"/>
                        </a:lnTo>
                        <a:lnTo>
                          <a:pt x="71" y="66"/>
                        </a:lnTo>
                        <a:lnTo>
                          <a:pt x="61" y="63"/>
                        </a:lnTo>
                        <a:lnTo>
                          <a:pt x="50" y="60"/>
                        </a:lnTo>
                        <a:lnTo>
                          <a:pt x="42" y="57"/>
                        </a:lnTo>
                        <a:lnTo>
                          <a:pt x="32" y="53"/>
                        </a:lnTo>
                        <a:lnTo>
                          <a:pt x="23" y="51"/>
                        </a:lnTo>
                        <a:lnTo>
                          <a:pt x="14" y="49"/>
                        </a:lnTo>
                        <a:lnTo>
                          <a:pt x="7" y="47"/>
                        </a:lnTo>
                        <a:lnTo>
                          <a:pt x="14" y="46"/>
                        </a:lnTo>
                        <a:lnTo>
                          <a:pt x="19" y="45"/>
                        </a:lnTo>
                        <a:lnTo>
                          <a:pt x="23" y="44"/>
                        </a:lnTo>
                        <a:lnTo>
                          <a:pt x="28" y="44"/>
                        </a:lnTo>
                        <a:lnTo>
                          <a:pt x="33" y="44"/>
                        </a:lnTo>
                        <a:lnTo>
                          <a:pt x="43" y="49"/>
                        </a:lnTo>
                        <a:lnTo>
                          <a:pt x="51" y="53"/>
                        </a:lnTo>
                        <a:lnTo>
                          <a:pt x="60" y="58"/>
                        </a:lnTo>
                        <a:lnTo>
                          <a:pt x="69" y="63"/>
                        </a:lnTo>
                        <a:lnTo>
                          <a:pt x="79" y="68"/>
                        </a:lnTo>
                        <a:lnTo>
                          <a:pt x="89" y="74"/>
                        </a:lnTo>
                        <a:lnTo>
                          <a:pt x="96" y="77"/>
                        </a:lnTo>
                        <a:lnTo>
                          <a:pt x="109" y="84"/>
                        </a:lnTo>
                        <a:lnTo>
                          <a:pt x="116" y="86"/>
                        </a:lnTo>
                        <a:lnTo>
                          <a:pt x="122" y="85"/>
                        </a:lnTo>
                        <a:lnTo>
                          <a:pt x="127" y="84"/>
                        </a:lnTo>
                        <a:lnTo>
                          <a:pt x="132" y="83"/>
                        </a:lnTo>
                      </a:path>
                    </a:pathLst>
                  </a:custGeom>
                  <a:solidFill>
                    <a:srgbClr val="037C03">
                      <a:alpha val="50195"/>
                    </a:srgbClr>
                  </a:solidFill>
                  <a:ln w="9525">
                    <a:noFill/>
                  </a:ln>
                </p:spPr>
                <p:txBody>
                  <a:bodyPr/>
                  <a:lstStyle/>
                  <a:p>
                    <a:endParaRPr lang="zh-CN" altLang="en-US"/>
                  </a:p>
                </p:txBody>
              </p:sp>
              <p:sp>
                <p:nvSpPr>
                  <p:cNvPr id="89111" name="Freeform 232"/>
                  <p:cNvSpPr/>
                  <p:nvPr/>
                </p:nvSpPr>
                <p:spPr>
                  <a:xfrm>
                    <a:off x="2175" y="1587"/>
                    <a:ext cx="38" cy="181"/>
                  </a:xfrm>
                  <a:custGeom>
                    <a:avLst/>
                    <a:gdLst>
                      <a:gd name="txL" fmla="*/ 0 w 38"/>
                      <a:gd name="txT" fmla="*/ 0 h 181"/>
                      <a:gd name="txR" fmla="*/ 38 w 38"/>
                      <a:gd name="txB" fmla="*/ 181 h 181"/>
                    </a:gdLst>
                    <a:ahLst/>
                    <a:cxnLst>
                      <a:cxn ang="0">
                        <a:pos x="20" y="0"/>
                      </a:cxn>
                      <a:cxn ang="0">
                        <a:pos x="24" y="8"/>
                      </a:cxn>
                      <a:cxn ang="0">
                        <a:pos x="27" y="14"/>
                      </a:cxn>
                      <a:cxn ang="0">
                        <a:pos x="33" y="22"/>
                      </a:cxn>
                      <a:cxn ang="0">
                        <a:pos x="35" y="30"/>
                      </a:cxn>
                      <a:cxn ang="0">
                        <a:pos x="36" y="41"/>
                      </a:cxn>
                      <a:cxn ang="0">
                        <a:pos x="36" y="53"/>
                      </a:cxn>
                      <a:cxn ang="0">
                        <a:pos x="37" y="61"/>
                      </a:cxn>
                      <a:cxn ang="0">
                        <a:pos x="36" y="70"/>
                      </a:cxn>
                      <a:cxn ang="0">
                        <a:pos x="35" y="81"/>
                      </a:cxn>
                      <a:cxn ang="0">
                        <a:pos x="33" y="91"/>
                      </a:cxn>
                      <a:cxn ang="0">
                        <a:pos x="30" y="106"/>
                      </a:cxn>
                      <a:cxn ang="0">
                        <a:pos x="28" y="114"/>
                      </a:cxn>
                      <a:cxn ang="0">
                        <a:pos x="23" y="124"/>
                      </a:cxn>
                      <a:cxn ang="0">
                        <a:pos x="17" y="135"/>
                      </a:cxn>
                      <a:cxn ang="0">
                        <a:pos x="12" y="145"/>
                      </a:cxn>
                      <a:cxn ang="0">
                        <a:pos x="7" y="155"/>
                      </a:cxn>
                      <a:cxn ang="0">
                        <a:pos x="3" y="163"/>
                      </a:cxn>
                      <a:cxn ang="0">
                        <a:pos x="0" y="180"/>
                      </a:cxn>
                      <a:cxn ang="0">
                        <a:pos x="1" y="163"/>
                      </a:cxn>
                      <a:cxn ang="0">
                        <a:pos x="3" y="152"/>
                      </a:cxn>
                      <a:cxn ang="0">
                        <a:pos x="4" y="141"/>
                      </a:cxn>
                      <a:cxn ang="0">
                        <a:pos x="5" y="130"/>
                      </a:cxn>
                      <a:cxn ang="0">
                        <a:pos x="7" y="116"/>
                      </a:cxn>
                      <a:cxn ang="0">
                        <a:pos x="9" y="106"/>
                      </a:cxn>
                      <a:cxn ang="0">
                        <a:pos x="12" y="96"/>
                      </a:cxn>
                      <a:cxn ang="0">
                        <a:pos x="15" y="87"/>
                      </a:cxn>
                      <a:cxn ang="0">
                        <a:pos x="17" y="77"/>
                      </a:cxn>
                      <a:cxn ang="0">
                        <a:pos x="20" y="67"/>
                      </a:cxn>
                      <a:cxn ang="0">
                        <a:pos x="21" y="57"/>
                      </a:cxn>
                      <a:cxn ang="0">
                        <a:pos x="22" y="49"/>
                      </a:cxn>
                      <a:cxn ang="0">
                        <a:pos x="23" y="39"/>
                      </a:cxn>
                      <a:cxn ang="0">
                        <a:pos x="23" y="28"/>
                      </a:cxn>
                      <a:cxn ang="0">
                        <a:pos x="23" y="14"/>
                      </a:cxn>
                      <a:cxn ang="0">
                        <a:pos x="22" y="8"/>
                      </a:cxn>
                      <a:cxn ang="0">
                        <a:pos x="20" y="0"/>
                      </a:cxn>
                    </a:cxnLst>
                    <a:rect l="txL" t="txT" r="txR" b="txB"/>
                    <a:pathLst>
                      <a:path w="38" h="181">
                        <a:moveTo>
                          <a:pt x="20" y="0"/>
                        </a:moveTo>
                        <a:lnTo>
                          <a:pt x="24" y="8"/>
                        </a:lnTo>
                        <a:lnTo>
                          <a:pt x="27" y="14"/>
                        </a:lnTo>
                        <a:lnTo>
                          <a:pt x="33" y="22"/>
                        </a:lnTo>
                        <a:lnTo>
                          <a:pt x="35" y="30"/>
                        </a:lnTo>
                        <a:lnTo>
                          <a:pt x="36" y="41"/>
                        </a:lnTo>
                        <a:lnTo>
                          <a:pt x="36" y="53"/>
                        </a:lnTo>
                        <a:lnTo>
                          <a:pt x="37" y="61"/>
                        </a:lnTo>
                        <a:lnTo>
                          <a:pt x="36" y="70"/>
                        </a:lnTo>
                        <a:lnTo>
                          <a:pt x="35" y="81"/>
                        </a:lnTo>
                        <a:lnTo>
                          <a:pt x="33" y="91"/>
                        </a:lnTo>
                        <a:lnTo>
                          <a:pt x="30" y="106"/>
                        </a:lnTo>
                        <a:lnTo>
                          <a:pt x="28" y="114"/>
                        </a:lnTo>
                        <a:lnTo>
                          <a:pt x="23" y="124"/>
                        </a:lnTo>
                        <a:lnTo>
                          <a:pt x="17" y="135"/>
                        </a:lnTo>
                        <a:lnTo>
                          <a:pt x="12" y="145"/>
                        </a:lnTo>
                        <a:lnTo>
                          <a:pt x="7" y="155"/>
                        </a:lnTo>
                        <a:lnTo>
                          <a:pt x="3" y="163"/>
                        </a:lnTo>
                        <a:lnTo>
                          <a:pt x="0" y="180"/>
                        </a:lnTo>
                        <a:lnTo>
                          <a:pt x="1" y="163"/>
                        </a:lnTo>
                        <a:lnTo>
                          <a:pt x="3" y="152"/>
                        </a:lnTo>
                        <a:lnTo>
                          <a:pt x="4" y="141"/>
                        </a:lnTo>
                        <a:lnTo>
                          <a:pt x="5" y="130"/>
                        </a:lnTo>
                        <a:lnTo>
                          <a:pt x="7" y="116"/>
                        </a:lnTo>
                        <a:lnTo>
                          <a:pt x="9" y="106"/>
                        </a:lnTo>
                        <a:lnTo>
                          <a:pt x="12" y="96"/>
                        </a:lnTo>
                        <a:lnTo>
                          <a:pt x="15" y="87"/>
                        </a:lnTo>
                        <a:lnTo>
                          <a:pt x="17" y="77"/>
                        </a:lnTo>
                        <a:lnTo>
                          <a:pt x="20" y="67"/>
                        </a:lnTo>
                        <a:lnTo>
                          <a:pt x="21" y="57"/>
                        </a:lnTo>
                        <a:lnTo>
                          <a:pt x="22" y="49"/>
                        </a:lnTo>
                        <a:lnTo>
                          <a:pt x="23" y="39"/>
                        </a:lnTo>
                        <a:lnTo>
                          <a:pt x="23" y="28"/>
                        </a:lnTo>
                        <a:lnTo>
                          <a:pt x="23" y="14"/>
                        </a:lnTo>
                        <a:lnTo>
                          <a:pt x="22" y="8"/>
                        </a:lnTo>
                        <a:lnTo>
                          <a:pt x="20" y="0"/>
                        </a:lnTo>
                      </a:path>
                    </a:pathLst>
                  </a:custGeom>
                  <a:solidFill>
                    <a:srgbClr val="037C03">
                      <a:alpha val="50195"/>
                    </a:srgbClr>
                  </a:solidFill>
                  <a:ln w="9525">
                    <a:noFill/>
                  </a:ln>
                </p:spPr>
                <p:txBody>
                  <a:bodyPr/>
                  <a:lstStyle/>
                  <a:p>
                    <a:endParaRPr lang="zh-CN" altLang="en-US"/>
                  </a:p>
                </p:txBody>
              </p:sp>
              <p:sp>
                <p:nvSpPr>
                  <p:cNvPr id="89112" name="Freeform 233"/>
                  <p:cNvSpPr/>
                  <p:nvPr/>
                </p:nvSpPr>
                <p:spPr>
                  <a:xfrm>
                    <a:off x="1991" y="1486"/>
                    <a:ext cx="168" cy="48"/>
                  </a:xfrm>
                  <a:custGeom>
                    <a:avLst/>
                    <a:gdLst>
                      <a:gd name="txL" fmla="*/ 0 w 168"/>
                      <a:gd name="txT" fmla="*/ 0 h 48"/>
                      <a:gd name="txR" fmla="*/ 168 w 168"/>
                      <a:gd name="txB" fmla="*/ 48 h 48"/>
                    </a:gdLst>
                    <a:ahLst/>
                    <a:cxnLst>
                      <a:cxn ang="0">
                        <a:pos x="167" y="47"/>
                      </a:cxn>
                      <a:cxn ang="0">
                        <a:pos x="164" y="38"/>
                      </a:cxn>
                      <a:cxn ang="0">
                        <a:pos x="160" y="31"/>
                      </a:cxn>
                      <a:cxn ang="0">
                        <a:pos x="157" y="30"/>
                      </a:cxn>
                      <a:cxn ang="0">
                        <a:pos x="150" y="28"/>
                      </a:cxn>
                      <a:cxn ang="0">
                        <a:pos x="144" y="26"/>
                      </a:cxn>
                      <a:cxn ang="0">
                        <a:pos x="137" y="28"/>
                      </a:cxn>
                      <a:cxn ang="0">
                        <a:pos x="130" y="29"/>
                      </a:cxn>
                      <a:cxn ang="0">
                        <a:pos x="121" y="25"/>
                      </a:cxn>
                      <a:cxn ang="0">
                        <a:pos x="109" y="21"/>
                      </a:cxn>
                      <a:cxn ang="0">
                        <a:pos x="98" y="17"/>
                      </a:cxn>
                      <a:cxn ang="0">
                        <a:pos x="91" y="15"/>
                      </a:cxn>
                      <a:cxn ang="0">
                        <a:pos x="78" y="12"/>
                      </a:cxn>
                      <a:cxn ang="0">
                        <a:pos x="66" y="8"/>
                      </a:cxn>
                      <a:cxn ang="0">
                        <a:pos x="54" y="4"/>
                      </a:cxn>
                      <a:cxn ang="0">
                        <a:pos x="41" y="1"/>
                      </a:cxn>
                      <a:cxn ang="0">
                        <a:pos x="28" y="0"/>
                      </a:cxn>
                      <a:cxn ang="0">
                        <a:pos x="15" y="0"/>
                      </a:cxn>
                      <a:cxn ang="0">
                        <a:pos x="12" y="1"/>
                      </a:cxn>
                      <a:cxn ang="0">
                        <a:pos x="7" y="4"/>
                      </a:cxn>
                      <a:cxn ang="0">
                        <a:pos x="3" y="7"/>
                      </a:cxn>
                      <a:cxn ang="0">
                        <a:pos x="0" y="10"/>
                      </a:cxn>
                      <a:cxn ang="0">
                        <a:pos x="5" y="10"/>
                      </a:cxn>
                      <a:cxn ang="0">
                        <a:pos x="12" y="11"/>
                      </a:cxn>
                      <a:cxn ang="0">
                        <a:pos x="18" y="12"/>
                      </a:cxn>
                      <a:cxn ang="0">
                        <a:pos x="23" y="11"/>
                      </a:cxn>
                      <a:cxn ang="0">
                        <a:pos x="29" y="10"/>
                      </a:cxn>
                      <a:cxn ang="0">
                        <a:pos x="38" y="10"/>
                      </a:cxn>
                      <a:cxn ang="0">
                        <a:pos x="50" y="10"/>
                      </a:cxn>
                      <a:cxn ang="0">
                        <a:pos x="60" y="12"/>
                      </a:cxn>
                      <a:cxn ang="0">
                        <a:pos x="70" y="13"/>
                      </a:cxn>
                      <a:cxn ang="0">
                        <a:pos x="79" y="15"/>
                      </a:cxn>
                      <a:cxn ang="0">
                        <a:pos x="89" y="16"/>
                      </a:cxn>
                      <a:cxn ang="0">
                        <a:pos x="98" y="18"/>
                      </a:cxn>
                      <a:cxn ang="0">
                        <a:pos x="106" y="22"/>
                      </a:cxn>
                      <a:cxn ang="0">
                        <a:pos x="114" y="26"/>
                      </a:cxn>
                      <a:cxn ang="0">
                        <a:pos x="123" y="30"/>
                      </a:cxn>
                      <a:cxn ang="0">
                        <a:pos x="127" y="30"/>
                      </a:cxn>
                      <a:cxn ang="0">
                        <a:pos x="131" y="30"/>
                      </a:cxn>
                      <a:cxn ang="0">
                        <a:pos x="137" y="33"/>
                      </a:cxn>
                      <a:cxn ang="0">
                        <a:pos x="144" y="36"/>
                      </a:cxn>
                      <a:cxn ang="0">
                        <a:pos x="150" y="38"/>
                      </a:cxn>
                      <a:cxn ang="0">
                        <a:pos x="158" y="42"/>
                      </a:cxn>
                      <a:cxn ang="0">
                        <a:pos x="164" y="45"/>
                      </a:cxn>
                      <a:cxn ang="0">
                        <a:pos x="167" y="47"/>
                      </a:cxn>
                    </a:cxnLst>
                    <a:rect l="txL" t="txT" r="txR" b="txB"/>
                    <a:pathLst>
                      <a:path w="168" h="48">
                        <a:moveTo>
                          <a:pt x="167" y="47"/>
                        </a:moveTo>
                        <a:lnTo>
                          <a:pt x="164" y="38"/>
                        </a:lnTo>
                        <a:lnTo>
                          <a:pt x="160" y="31"/>
                        </a:lnTo>
                        <a:lnTo>
                          <a:pt x="157" y="30"/>
                        </a:lnTo>
                        <a:lnTo>
                          <a:pt x="150" y="28"/>
                        </a:lnTo>
                        <a:lnTo>
                          <a:pt x="144" y="26"/>
                        </a:lnTo>
                        <a:lnTo>
                          <a:pt x="137" y="28"/>
                        </a:lnTo>
                        <a:lnTo>
                          <a:pt x="130" y="29"/>
                        </a:lnTo>
                        <a:lnTo>
                          <a:pt x="121" y="25"/>
                        </a:lnTo>
                        <a:lnTo>
                          <a:pt x="109" y="21"/>
                        </a:lnTo>
                        <a:lnTo>
                          <a:pt x="98" y="17"/>
                        </a:lnTo>
                        <a:lnTo>
                          <a:pt x="91" y="15"/>
                        </a:lnTo>
                        <a:lnTo>
                          <a:pt x="78" y="12"/>
                        </a:lnTo>
                        <a:lnTo>
                          <a:pt x="66" y="8"/>
                        </a:lnTo>
                        <a:lnTo>
                          <a:pt x="54" y="4"/>
                        </a:lnTo>
                        <a:lnTo>
                          <a:pt x="41" y="1"/>
                        </a:lnTo>
                        <a:lnTo>
                          <a:pt x="28" y="0"/>
                        </a:lnTo>
                        <a:lnTo>
                          <a:pt x="15" y="0"/>
                        </a:lnTo>
                        <a:lnTo>
                          <a:pt x="12" y="1"/>
                        </a:lnTo>
                        <a:lnTo>
                          <a:pt x="7" y="4"/>
                        </a:lnTo>
                        <a:lnTo>
                          <a:pt x="3" y="7"/>
                        </a:lnTo>
                        <a:lnTo>
                          <a:pt x="0" y="10"/>
                        </a:lnTo>
                        <a:lnTo>
                          <a:pt x="5" y="10"/>
                        </a:lnTo>
                        <a:lnTo>
                          <a:pt x="12" y="11"/>
                        </a:lnTo>
                        <a:lnTo>
                          <a:pt x="18" y="12"/>
                        </a:lnTo>
                        <a:lnTo>
                          <a:pt x="23" y="11"/>
                        </a:lnTo>
                        <a:lnTo>
                          <a:pt x="29" y="10"/>
                        </a:lnTo>
                        <a:lnTo>
                          <a:pt x="38" y="10"/>
                        </a:lnTo>
                        <a:lnTo>
                          <a:pt x="50" y="10"/>
                        </a:lnTo>
                        <a:lnTo>
                          <a:pt x="60" y="12"/>
                        </a:lnTo>
                        <a:lnTo>
                          <a:pt x="70" y="13"/>
                        </a:lnTo>
                        <a:lnTo>
                          <a:pt x="79" y="15"/>
                        </a:lnTo>
                        <a:lnTo>
                          <a:pt x="89" y="16"/>
                        </a:lnTo>
                        <a:lnTo>
                          <a:pt x="98" y="18"/>
                        </a:lnTo>
                        <a:lnTo>
                          <a:pt x="106" y="22"/>
                        </a:lnTo>
                        <a:lnTo>
                          <a:pt x="114" y="26"/>
                        </a:lnTo>
                        <a:lnTo>
                          <a:pt x="123" y="30"/>
                        </a:lnTo>
                        <a:lnTo>
                          <a:pt x="127" y="30"/>
                        </a:lnTo>
                        <a:lnTo>
                          <a:pt x="131" y="30"/>
                        </a:lnTo>
                        <a:lnTo>
                          <a:pt x="137" y="33"/>
                        </a:lnTo>
                        <a:lnTo>
                          <a:pt x="144" y="36"/>
                        </a:lnTo>
                        <a:lnTo>
                          <a:pt x="150" y="38"/>
                        </a:lnTo>
                        <a:lnTo>
                          <a:pt x="158" y="42"/>
                        </a:lnTo>
                        <a:lnTo>
                          <a:pt x="164" y="45"/>
                        </a:lnTo>
                        <a:lnTo>
                          <a:pt x="167" y="47"/>
                        </a:lnTo>
                      </a:path>
                    </a:pathLst>
                  </a:custGeom>
                  <a:solidFill>
                    <a:srgbClr val="037C03">
                      <a:alpha val="50195"/>
                    </a:srgbClr>
                  </a:solidFill>
                  <a:ln w="9525">
                    <a:noFill/>
                  </a:ln>
                </p:spPr>
                <p:txBody>
                  <a:bodyPr/>
                  <a:lstStyle/>
                  <a:p>
                    <a:endParaRPr lang="zh-CN" altLang="en-US"/>
                  </a:p>
                </p:txBody>
              </p:sp>
              <p:sp>
                <p:nvSpPr>
                  <p:cNvPr id="89113" name="Freeform 234"/>
                  <p:cNvSpPr/>
                  <p:nvPr/>
                </p:nvSpPr>
                <p:spPr>
                  <a:xfrm>
                    <a:off x="1985" y="1514"/>
                    <a:ext cx="173" cy="20"/>
                  </a:xfrm>
                  <a:custGeom>
                    <a:avLst/>
                    <a:gdLst>
                      <a:gd name="txL" fmla="*/ 0 w 173"/>
                      <a:gd name="txT" fmla="*/ 0 h 20"/>
                      <a:gd name="txR" fmla="*/ 173 w 173"/>
                      <a:gd name="txB" fmla="*/ 20 h 20"/>
                    </a:gdLst>
                    <a:ahLst/>
                    <a:cxnLst>
                      <a:cxn ang="0">
                        <a:pos x="172" y="19"/>
                      </a:cxn>
                      <a:cxn ang="0">
                        <a:pos x="167" y="17"/>
                      </a:cxn>
                      <a:cxn ang="0">
                        <a:pos x="163" y="15"/>
                      </a:cxn>
                      <a:cxn ang="0">
                        <a:pos x="157" y="13"/>
                      </a:cxn>
                      <a:cxn ang="0">
                        <a:pos x="152" y="11"/>
                      </a:cxn>
                      <a:cxn ang="0">
                        <a:pos x="146" y="9"/>
                      </a:cxn>
                      <a:cxn ang="0">
                        <a:pos x="138" y="6"/>
                      </a:cxn>
                      <a:cxn ang="0">
                        <a:pos x="131" y="2"/>
                      </a:cxn>
                      <a:cxn ang="0">
                        <a:pos x="125" y="2"/>
                      </a:cxn>
                      <a:cxn ang="0">
                        <a:pos x="118" y="3"/>
                      </a:cxn>
                      <a:cxn ang="0">
                        <a:pos x="108" y="5"/>
                      </a:cxn>
                      <a:cxn ang="0">
                        <a:pos x="103" y="5"/>
                      </a:cxn>
                      <a:cxn ang="0">
                        <a:pos x="91" y="3"/>
                      </a:cxn>
                      <a:cxn ang="0">
                        <a:pos x="77" y="1"/>
                      </a:cxn>
                      <a:cxn ang="0">
                        <a:pos x="67" y="0"/>
                      </a:cxn>
                      <a:cxn ang="0">
                        <a:pos x="55" y="0"/>
                      </a:cxn>
                      <a:cxn ang="0">
                        <a:pos x="43" y="0"/>
                      </a:cxn>
                      <a:cxn ang="0">
                        <a:pos x="35" y="1"/>
                      </a:cxn>
                      <a:cxn ang="0">
                        <a:pos x="26" y="2"/>
                      </a:cxn>
                      <a:cxn ang="0">
                        <a:pos x="18" y="3"/>
                      </a:cxn>
                      <a:cxn ang="0">
                        <a:pos x="9" y="4"/>
                      </a:cxn>
                      <a:cxn ang="0">
                        <a:pos x="8" y="8"/>
                      </a:cxn>
                      <a:cxn ang="0">
                        <a:pos x="6" y="11"/>
                      </a:cxn>
                      <a:cxn ang="0">
                        <a:pos x="4" y="14"/>
                      </a:cxn>
                      <a:cxn ang="0">
                        <a:pos x="0" y="16"/>
                      </a:cxn>
                      <a:cxn ang="0">
                        <a:pos x="7" y="15"/>
                      </a:cxn>
                      <a:cxn ang="0">
                        <a:pos x="15" y="13"/>
                      </a:cxn>
                      <a:cxn ang="0">
                        <a:pos x="21" y="12"/>
                      </a:cxn>
                      <a:cxn ang="0">
                        <a:pos x="29" y="11"/>
                      </a:cxn>
                      <a:cxn ang="0">
                        <a:pos x="36" y="10"/>
                      </a:cxn>
                      <a:cxn ang="0">
                        <a:pos x="49" y="9"/>
                      </a:cxn>
                      <a:cxn ang="0">
                        <a:pos x="62" y="8"/>
                      </a:cxn>
                      <a:cxn ang="0">
                        <a:pos x="77" y="7"/>
                      </a:cxn>
                      <a:cxn ang="0">
                        <a:pos x="92" y="6"/>
                      </a:cxn>
                      <a:cxn ang="0">
                        <a:pos x="106" y="6"/>
                      </a:cxn>
                      <a:cxn ang="0">
                        <a:pos x="118" y="7"/>
                      </a:cxn>
                      <a:cxn ang="0">
                        <a:pos x="126" y="9"/>
                      </a:cxn>
                      <a:cxn ang="0">
                        <a:pos x="135" y="11"/>
                      </a:cxn>
                      <a:cxn ang="0">
                        <a:pos x="145" y="13"/>
                      </a:cxn>
                      <a:cxn ang="0">
                        <a:pos x="155" y="16"/>
                      </a:cxn>
                      <a:cxn ang="0">
                        <a:pos x="163" y="17"/>
                      </a:cxn>
                      <a:cxn ang="0">
                        <a:pos x="172" y="19"/>
                      </a:cxn>
                    </a:cxnLst>
                    <a:rect l="txL" t="txT" r="txR" b="txB"/>
                    <a:pathLst>
                      <a:path w="173" h="20">
                        <a:moveTo>
                          <a:pt x="172" y="19"/>
                        </a:moveTo>
                        <a:lnTo>
                          <a:pt x="167" y="17"/>
                        </a:lnTo>
                        <a:lnTo>
                          <a:pt x="163" y="15"/>
                        </a:lnTo>
                        <a:lnTo>
                          <a:pt x="157" y="13"/>
                        </a:lnTo>
                        <a:lnTo>
                          <a:pt x="152" y="11"/>
                        </a:lnTo>
                        <a:lnTo>
                          <a:pt x="146" y="9"/>
                        </a:lnTo>
                        <a:lnTo>
                          <a:pt x="138" y="6"/>
                        </a:lnTo>
                        <a:lnTo>
                          <a:pt x="131" y="2"/>
                        </a:lnTo>
                        <a:lnTo>
                          <a:pt x="125" y="2"/>
                        </a:lnTo>
                        <a:lnTo>
                          <a:pt x="118" y="3"/>
                        </a:lnTo>
                        <a:lnTo>
                          <a:pt x="108" y="5"/>
                        </a:lnTo>
                        <a:lnTo>
                          <a:pt x="103" y="5"/>
                        </a:lnTo>
                        <a:lnTo>
                          <a:pt x="91" y="3"/>
                        </a:lnTo>
                        <a:lnTo>
                          <a:pt x="77" y="1"/>
                        </a:lnTo>
                        <a:lnTo>
                          <a:pt x="67" y="0"/>
                        </a:lnTo>
                        <a:lnTo>
                          <a:pt x="55" y="0"/>
                        </a:lnTo>
                        <a:lnTo>
                          <a:pt x="43" y="0"/>
                        </a:lnTo>
                        <a:lnTo>
                          <a:pt x="35" y="1"/>
                        </a:lnTo>
                        <a:lnTo>
                          <a:pt x="26" y="2"/>
                        </a:lnTo>
                        <a:lnTo>
                          <a:pt x="18" y="3"/>
                        </a:lnTo>
                        <a:lnTo>
                          <a:pt x="9" y="4"/>
                        </a:lnTo>
                        <a:lnTo>
                          <a:pt x="8" y="8"/>
                        </a:lnTo>
                        <a:lnTo>
                          <a:pt x="6" y="11"/>
                        </a:lnTo>
                        <a:lnTo>
                          <a:pt x="4" y="14"/>
                        </a:lnTo>
                        <a:lnTo>
                          <a:pt x="0" y="16"/>
                        </a:lnTo>
                        <a:lnTo>
                          <a:pt x="7" y="15"/>
                        </a:lnTo>
                        <a:lnTo>
                          <a:pt x="15" y="13"/>
                        </a:lnTo>
                        <a:lnTo>
                          <a:pt x="21" y="12"/>
                        </a:lnTo>
                        <a:lnTo>
                          <a:pt x="29" y="11"/>
                        </a:lnTo>
                        <a:lnTo>
                          <a:pt x="36" y="10"/>
                        </a:lnTo>
                        <a:lnTo>
                          <a:pt x="49" y="9"/>
                        </a:lnTo>
                        <a:lnTo>
                          <a:pt x="62" y="8"/>
                        </a:lnTo>
                        <a:lnTo>
                          <a:pt x="77" y="7"/>
                        </a:lnTo>
                        <a:lnTo>
                          <a:pt x="92" y="6"/>
                        </a:lnTo>
                        <a:lnTo>
                          <a:pt x="106" y="6"/>
                        </a:lnTo>
                        <a:lnTo>
                          <a:pt x="118" y="7"/>
                        </a:lnTo>
                        <a:lnTo>
                          <a:pt x="126" y="9"/>
                        </a:lnTo>
                        <a:lnTo>
                          <a:pt x="135" y="11"/>
                        </a:lnTo>
                        <a:lnTo>
                          <a:pt x="145" y="13"/>
                        </a:lnTo>
                        <a:lnTo>
                          <a:pt x="155" y="16"/>
                        </a:lnTo>
                        <a:lnTo>
                          <a:pt x="163" y="17"/>
                        </a:lnTo>
                        <a:lnTo>
                          <a:pt x="172" y="19"/>
                        </a:lnTo>
                      </a:path>
                    </a:pathLst>
                  </a:custGeom>
                  <a:solidFill>
                    <a:srgbClr val="037C03">
                      <a:alpha val="50195"/>
                    </a:srgbClr>
                  </a:solidFill>
                  <a:ln w="9525">
                    <a:noFill/>
                  </a:ln>
                </p:spPr>
                <p:txBody>
                  <a:bodyPr/>
                  <a:lstStyle/>
                  <a:p>
                    <a:endParaRPr lang="zh-CN" altLang="en-US"/>
                  </a:p>
                </p:txBody>
              </p:sp>
            </p:grpSp>
          </p:grpSp>
        </p:grpSp>
      </p:grpSp>
    </p:spTree>
  </p:cSld>
  <p:clrMapOvr>
    <a:masterClrMapping/>
  </p:clrMapOvr>
  <p:transition>
    <p:blinds/>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UNIT_TABLE_BEAUTIFY" val="smartTable{492c576f-9541-45cf-9963-7101d4fb351e}"/>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PP_MARK_KEY" val="dfb8ed0b-a594-4127-b520-98754d6ecd40"/>
  <p:tag name="COMMONDATA" val="eyJoZGlkIjoiYmJlZThmOWRiNDdjN2U5ZmY0OTIzMjYyZTYzZDRiOTQifQ=="/>
</p:tagLst>
</file>

<file path=ppt/theme/theme1.xml><?xml version="1.0" encoding="utf-8"?>
<a:theme xmlns:a="http://schemas.openxmlformats.org/drawingml/2006/main" name="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CDESIGNK</Template>
  <TotalTime>0</TotalTime>
  <Words>13095</Words>
  <Application>WPS 演示</Application>
  <PresentationFormat>全屏显示(4:3)</PresentationFormat>
  <Paragraphs>1724</Paragraphs>
  <Slides>70</Slides>
  <Notes>19</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17</vt:i4>
      </vt:variant>
      <vt:variant>
        <vt:lpstr>幻灯片标题</vt:lpstr>
      </vt:variant>
      <vt:variant>
        <vt:i4>70</vt:i4>
      </vt:variant>
    </vt:vector>
  </HeadingPairs>
  <TitlesOfParts>
    <vt:vector size="106" baseType="lpstr">
      <vt:lpstr>Arial</vt:lpstr>
      <vt:lpstr>宋体</vt:lpstr>
      <vt:lpstr>Wingdings</vt:lpstr>
      <vt:lpstr>华文行楷</vt:lpstr>
      <vt:lpstr>Times New Roman</vt:lpstr>
      <vt:lpstr>华文新魏</vt:lpstr>
      <vt:lpstr>楷体</vt:lpstr>
      <vt:lpstr>微软雅黑</vt:lpstr>
      <vt:lpstr>Arial Unicode MS</vt:lpstr>
      <vt:lpstr>隶书</vt:lpstr>
      <vt:lpstr>楷体_GB2312</vt:lpstr>
      <vt:lpstr>新宋体</vt:lpstr>
      <vt:lpstr>-apple-system</vt:lpstr>
      <vt:lpstr>ksdb</vt:lpstr>
      <vt:lpstr>Calibri</vt:lpstr>
      <vt:lpstr>Times</vt:lpstr>
      <vt:lpstr>Wingdings</vt:lpstr>
      <vt:lpstr>古瓶荷花</vt:lpstr>
      <vt:lpstr>1_古瓶荷花</vt:lpstr>
      <vt:lpstr>Visio.Drawing.4</vt:lpstr>
      <vt:lpstr>Visio.Drawing.4</vt:lpstr>
      <vt:lpstr>Visio.Drawing.4</vt:lpstr>
      <vt:lpstr>Visio.Drawing.4</vt:lpstr>
      <vt:lpstr>Visio.Drawing.4</vt:lpstr>
      <vt:lpstr>Visio.Drawing.4</vt:lpstr>
      <vt:lpstr>Visio.Drawing.4</vt:lpstr>
      <vt:lpstr>Visio.Drawing.4</vt:lpstr>
      <vt:lpstr>MS_ClipArt_Gallery.2</vt:lpstr>
      <vt:lpstr>Visio.Drawing.4</vt:lpstr>
      <vt:lpstr>Equation.3</vt:lpstr>
      <vt:lpstr>Equation.3</vt:lpstr>
      <vt:lpstr>Equation.3</vt:lpstr>
      <vt:lpstr>Visio.Drawing.4</vt:lpstr>
      <vt:lpstr>Visio.Drawing.4</vt:lpstr>
      <vt:lpstr>Visio.Drawing.4</vt:lpstr>
      <vt:lpstr>Visio.Drawing.4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Any Question ?</vt:lpstr>
    </vt:vector>
  </TitlesOfParts>
  <Company>西安火炬电脑公司</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mwz2</dc:creator>
  <cp:lastModifiedBy>45830</cp:lastModifiedBy>
  <cp:revision>577</cp:revision>
  <dcterms:created xsi:type="dcterms:W3CDTF">2002-11-18T08:52:00Z</dcterms:created>
  <dcterms:modified xsi:type="dcterms:W3CDTF">2023-11-08T03:22:21Z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E9317CEBEFBB4CC1898ACAA59123F5A4</vt:lpwstr>
  </property>
  <property fmtid="{D5CDD505-2E9C-101B-9397-08002B2CF9AE}" pid="3" name="KSOProductBuildVer">
    <vt:lpwstr>2052-12.1.0.15712</vt:lpwstr>
  </property>
</Properties>
</file>